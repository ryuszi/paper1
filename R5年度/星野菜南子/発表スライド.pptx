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entation.xml" ContentType="application/vnd.openxmlformats-officedocument.presentationml.presentation.main+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6.xml" ContentType="application/vnd.openxmlformats-officedocument.presentationml.notesSlide+xml"/>
  <Override PartName="/ppt/notesSlides/notesSlide32.xml" ContentType="application/vnd.openxmlformats-officedocument.presentationml.notesSlide+xml"/>
  <Override PartName="/ppt/notesSlides/notesSlide25.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22.xml" ContentType="application/vnd.openxmlformats-officedocument.presentationml.notesSlide+xml"/>
  <Override PartName="/ppt/slideMasters/slideMaster1.xml" ContentType="application/vnd.openxmlformats-officedocument.presentationml.slideMaster+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6.xml" ContentType="application/inkml+xml"/>
  <Override PartName="/ppt/ink/ink5.xml" ContentType="application/inkml+xml"/>
  <Override PartName="/ppt/ink/ink4.xml" ContentType="application/inkml+xml"/>
  <Override PartName="/ppt/ink/ink3.xml" ContentType="application/inkml+xml"/>
  <Override PartName="/ppt/ink/ink2.xml" ContentType="application/inkml+xml"/>
  <Override PartName="/ppt/ink/ink1.xml" ContentType="application/inkml+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1" r:id="rId1"/>
  </p:sldMasterIdLst>
  <p:notesMasterIdLst>
    <p:notesMasterId r:id="rId51"/>
  </p:notesMasterIdLst>
  <p:sldIdLst>
    <p:sldId id="256" r:id="rId2"/>
    <p:sldId id="258" r:id="rId3"/>
    <p:sldId id="360" r:id="rId4"/>
    <p:sldId id="333" r:id="rId5"/>
    <p:sldId id="361" r:id="rId6"/>
    <p:sldId id="374" r:id="rId7"/>
    <p:sldId id="347" r:id="rId8"/>
    <p:sldId id="267" r:id="rId9"/>
    <p:sldId id="365" r:id="rId10"/>
    <p:sldId id="368" r:id="rId11"/>
    <p:sldId id="369" r:id="rId12"/>
    <p:sldId id="367" r:id="rId13"/>
    <p:sldId id="364" r:id="rId14"/>
    <p:sldId id="330" r:id="rId15"/>
    <p:sldId id="329" r:id="rId16"/>
    <p:sldId id="326" r:id="rId17"/>
    <p:sldId id="371" r:id="rId18"/>
    <p:sldId id="373" r:id="rId19"/>
    <p:sldId id="372" r:id="rId20"/>
    <p:sldId id="346" r:id="rId21"/>
    <p:sldId id="327" r:id="rId22"/>
    <p:sldId id="357" r:id="rId23"/>
    <p:sldId id="375" r:id="rId24"/>
    <p:sldId id="354" r:id="rId25"/>
    <p:sldId id="362" r:id="rId26"/>
    <p:sldId id="363" r:id="rId27"/>
    <p:sldId id="265" r:id="rId28"/>
    <p:sldId id="266" r:id="rId29"/>
    <p:sldId id="344" r:id="rId30"/>
    <p:sldId id="383" r:id="rId31"/>
    <p:sldId id="384" r:id="rId32"/>
    <p:sldId id="385" r:id="rId33"/>
    <p:sldId id="386" r:id="rId34"/>
    <p:sldId id="376" r:id="rId35"/>
    <p:sldId id="377" r:id="rId36"/>
    <p:sldId id="379" r:id="rId37"/>
    <p:sldId id="380" r:id="rId38"/>
    <p:sldId id="381" r:id="rId39"/>
    <p:sldId id="382" r:id="rId40"/>
    <p:sldId id="315" r:id="rId41"/>
    <p:sldId id="350" r:id="rId42"/>
    <p:sldId id="353" r:id="rId43"/>
    <p:sldId id="320" r:id="rId44"/>
    <p:sldId id="335" r:id="rId45"/>
    <p:sldId id="336" r:id="rId46"/>
    <p:sldId id="338" r:id="rId47"/>
    <p:sldId id="341" r:id="rId48"/>
    <p:sldId id="325" r:id="rId49"/>
    <p:sldId id="331"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88644560-A7C8-5849-92E9-BDECAF6F6617}">
          <p14:sldIdLst>
            <p14:sldId id="256"/>
            <p14:sldId id="258"/>
          </p14:sldIdLst>
        </p14:section>
        <p14:section name="1.研究背景" id="{17A99F09-7424-D042-9F16-81B94C362FFA}">
          <p14:sldIdLst>
            <p14:sldId id="360"/>
            <p14:sldId id="333"/>
            <p14:sldId id="361"/>
            <p14:sldId id="374"/>
            <p14:sldId id="347"/>
            <p14:sldId id="267"/>
          </p14:sldIdLst>
        </p14:section>
        <p14:section name="線形回帰モデルに対するKnockoff法" id="{176A58C2-948C-F049-93B5-1485C9828080}">
          <p14:sldIdLst>
            <p14:sldId id="365"/>
            <p14:sldId id="368"/>
            <p14:sldId id="369"/>
            <p14:sldId id="367"/>
          </p14:sldIdLst>
        </p14:section>
        <p14:section name="提案手法" id="{7784D34E-F1D3-B34C-88FF-FCD98EA1A0BF}">
          <p14:sldIdLst>
            <p14:sldId id="364"/>
            <p14:sldId id="330"/>
            <p14:sldId id="329"/>
            <p14:sldId id="326"/>
            <p14:sldId id="371"/>
            <p14:sldId id="373"/>
            <p14:sldId id="372"/>
            <p14:sldId id="346"/>
            <p14:sldId id="327"/>
          </p14:sldIdLst>
        </p14:section>
        <p14:section name="3. 数値実験" id="{BA6D3DF3-D62C-B647-8E84-C9EE887C9328}">
          <p14:sldIdLst>
            <p14:sldId id="357"/>
            <p14:sldId id="375"/>
            <p14:sldId id="354"/>
            <p14:sldId id="362"/>
            <p14:sldId id="363"/>
          </p14:sldIdLst>
        </p14:section>
        <p14:section name="4.まとめ,今後の課題" id="{F8E66BDF-1DD3-A246-9580-9AF9B8E66A66}">
          <p14:sldIdLst>
            <p14:sldId id="265"/>
            <p14:sldId id="266"/>
          </p14:sldIdLst>
        </p14:section>
        <p14:section name="補足" id="{64778F7A-8916-BB4E-87C0-7949EAFEB05D}">
          <p14:sldIdLst>
            <p14:sldId id="344"/>
            <p14:sldId id="383"/>
            <p14:sldId id="384"/>
            <p14:sldId id="385"/>
            <p14:sldId id="386"/>
          </p14:sldIdLst>
        </p14:section>
        <p14:section name="交換可能性の証明" id="{EAD9FA3A-1C12-2446-A727-C7CBC833F46D}">
          <p14:sldIdLst>
            <p14:sldId id="376"/>
            <p14:sldId id="377"/>
            <p14:sldId id="379"/>
            <p14:sldId id="380"/>
            <p14:sldId id="381"/>
            <p14:sldId id="382"/>
          </p14:sldIdLst>
        </p14:section>
        <p14:section name="線形回帰モデルにおけるKnockoff法" id="{68277E72-C755-0E40-BDD6-8797CA9FBAF9}">
          <p14:sldIdLst>
            <p14:sldId id="315"/>
            <p14:sldId id="350"/>
            <p14:sldId id="353"/>
            <p14:sldId id="320"/>
            <p14:sldId id="335"/>
            <p14:sldId id="336"/>
            <p14:sldId id="338"/>
            <p14:sldId id="341"/>
            <p14:sldId id="325"/>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2D2D2"/>
    <a:srgbClr val="A2A2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p:restoredTop sz="82746"/>
  </p:normalViewPr>
  <p:slideViewPr>
    <p:cSldViewPr snapToGrid="0" snapToObjects="1">
      <p:cViewPr varScale="1">
        <p:scale>
          <a:sx n="101" d="100"/>
          <a:sy n="101" d="100"/>
        </p:scale>
        <p:origin x="1040" y="18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10:51.565"/>
    </inkml:context>
    <inkml:brush xml:id="br0">
      <inkml:brushProperty name="width" value="0.1" units="cm"/>
      <inkml:brushProperty name="height" value="0.1" units="cm"/>
      <inkml:brushProperty name="color" value="#FFFFFF"/>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10:52.090"/>
    </inkml:context>
    <inkml:brush xml:id="br0">
      <inkml:brushProperty name="width" value="0.1" units="cm"/>
      <inkml:brushProperty name="height" value="0.1" units="cm"/>
      <inkml:brushProperty name="color" value="#FFFFFF"/>
    </inkml:brush>
  </inkml:definitions>
  <inkml:trace contextRef="#ctx0" brushRef="#br0">1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11:18.341"/>
    </inkml:context>
    <inkml:brush xml:id="br0">
      <inkml:brushProperty name="width" value="0.2" units="cm"/>
      <inkml:brushProperty name="height" value="0.2" units="cm"/>
      <inkml:brushProperty name="color" value="#FFFFFF"/>
    </inkml:brush>
  </inkml:definitions>
  <inkml:trace contextRef="#ctx0" brushRef="#br0">1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11:19.826"/>
    </inkml:context>
    <inkml:brush xml:id="br0">
      <inkml:brushProperty name="width" value="0.2" units="cm"/>
      <inkml:brushProperty name="height" value="0.2" units="cm"/>
      <inkml:brushProperty name="color" value="#FFFFFF"/>
    </inkml:brush>
  </inkml:definitions>
  <inkml:trace contextRef="#ctx0" brushRef="#br0">0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2T03:51:52.372"/>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2T03:52:03.735"/>
    </inkml:context>
    <inkml:brush xml:id="br0">
      <inkml:brushProperty name="width" value="0.35" units="cm"/>
      <inkml:brushProperty name="height" value="0.35" units="cm"/>
      <inkml:brushProperty name="color" value="#FFFFFF"/>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215A5-2F39-0E4E-9F6A-BCE41D515EC6}" type="datetimeFigureOut">
              <a:rPr kumimoji="1" lang="ja-JP" altLang="en-US" smtClean="0"/>
              <a:t>2024/2/15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AA1469-922B-5243-9CFC-ED99F2A55A38}" type="slidenum">
              <a:rPr kumimoji="1" lang="ja-JP" altLang="en-US" smtClean="0"/>
              <a:t>‹#›</a:t>
            </a:fld>
            <a:endParaRPr kumimoji="1" lang="ja-JP" altLang="en-US"/>
          </a:p>
        </p:txBody>
      </p:sp>
    </p:spTree>
    <p:extLst>
      <p:ext uri="{BB962C8B-B14F-4D97-AF65-F5344CB8AC3E}">
        <p14:creationId xmlns:p14="http://schemas.microsoft.com/office/powerpoint/2010/main" val="28523872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1</a:t>
            </a:fld>
            <a:endParaRPr kumimoji="1" lang="ja-JP" altLang="en-US"/>
          </a:p>
        </p:txBody>
      </p:sp>
    </p:spTree>
    <p:extLst>
      <p:ext uri="{BB962C8B-B14F-4D97-AF65-F5344CB8AC3E}">
        <p14:creationId xmlns:p14="http://schemas.microsoft.com/office/powerpoint/2010/main" val="870693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本発表の構成はこちらの通りとなっています。</a:t>
            </a:r>
            <a:endParaRPr kumimoji="1" lang="en-US" altLang="ja-JP" dirty="0"/>
          </a:p>
          <a:p>
            <a:r>
              <a:rPr kumimoji="1" lang="ja-JP" altLang="en-US"/>
              <a:t>まず、主成分分析の概要、線形回帰モデルに</a:t>
            </a:r>
            <a:r>
              <a:rPr kumimoji="1" lang="en-US" altLang="ja-JP" dirty="0"/>
              <a:t>Knockoff</a:t>
            </a:r>
            <a:r>
              <a:rPr kumimoji="1" lang="ja-JP" altLang="en-US"/>
              <a:t>法を用いた手法の紹介をお話したあとに、提案手法と数値実験について説明します。</a:t>
            </a:r>
            <a:endParaRPr kumimoji="1" lang="en-US" altLang="ja-JP" dirty="0"/>
          </a:p>
          <a:p>
            <a:r>
              <a:rPr kumimoji="1" lang="ja-JP" altLang="en-US"/>
              <a:t>さいごに、まとめ、今後の課題とさせていただきます。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a:t>
            </a:fld>
            <a:endParaRPr kumimoji="1" lang="ja-JP" altLang="en-US"/>
          </a:p>
        </p:txBody>
      </p:sp>
    </p:spTree>
    <p:extLst>
      <p:ext uri="{BB962C8B-B14F-4D97-AF65-F5344CB8AC3E}">
        <p14:creationId xmlns:p14="http://schemas.microsoft.com/office/powerpoint/2010/main" val="1059889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EC13B-0A29-4312-AC57-67D5152AFF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6C1BD7-EDB5-7246-90E6-70BF4824C9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039E918-8CE0-E3F7-85C5-879A688518CF}"/>
              </a:ext>
            </a:extLst>
          </p:cNvPr>
          <p:cNvSpPr>
            <a:spLocks noGrp="1"/>
          </p:cNvSpPr>
          <p:nvPr>
            <p:ph type="body" idx="1"/>
          </p:nvPr>
        </p:nvSpPr>
        <p:spPr/>
        <p:txBody>
          <a:bodyPr/>
          <a:lstStyle/>
          <a:p>
            <a:r>
              <a:rPr kumimoji="1" lang="ja-JP" altLang="en-US"/>
              <a:t>まず、主成分分析についてです。</a:t>
            </a:r>
            <a:endParaRPr kumimoji="1" lang="en-US" altLang="ja-JP" dirty="0"/>
          </a:p>
          <a:p>
            <a:r>
              <a:rPr kumimoji="1" lang="ja-JP" altLang="en-US"/>
              <a:t>主成分分析は次元縮小や重要な変数の抽出といったデータの要約を行う手法です。</a:t>
            </a:r>
            <a:endParaRPr kumimoji="1" lang="en-US" altLang="ja-JP" dirty="0"/>
          </a:p>
          <a:p>
            <a:r>
              <a:rPr kumimoji="1" lang="ja-JP" altLang="en-US"/>
              <a:t>例えば、</a:t>
            </a:r>
            <a:r>
              <a:rPr kumimoji="1" lang="en-US" altLang="ja-JP" dirty="0"/>
              <a:t>2</a:t>
            </a:r>
            <a:r>
              <a:rPr kumimoji="1" lang="ja-JP" altLang="en-US"/>
              <a:t>次元データに対して主成分分析を行うと、データを新たな変数結合で要約した直線が得られます。</a:t>
            </a:r>
            <a:endParaRPr kumimoji="1" lang="en-US" altLang="ja-JP" dirty="0"/>
          </a:p>
          <a:p>
            <a:r>
              <a:rPr kumimoji="1" lang="ja-JP" altLang="en-US"/>
              <a:t>この直線を主成分といい、主成分の重み</a:t>
            </a:r>
            <a:r>
              <a:rPr kumimoji="1" lang="en-US" altLang="ja-JP" dirty="0"/>
              <a:t>v</a:t>
            </a:r>
            <a:r>
              <a:rPr kumimoji="1" lang="ja-JP" altLang="en-US"/>
              <a:t>を主成分負荷量といいます。</a:t>
            </a:r>
            <a:endParaRPr kumimoji="1" lang="en-US" altLang="ja-JP" dirty="0"/>
          </a:p>
          <a:p>
            <a:r>
              <a:rPr kumimoji="1" lang="ja-JP" altLang="en-US"/>
              <a:t>主成分を軸と捉えれば、</a:t>
            </a:r>
            <a:r>
              <a:rPr kumimoji="1" lang="en-US" altLang="ja-JP" dirty="0"/>
              <a:t>2</a:t>
            </a:r>
            <a:r>
              <a:rPr kumimoji="1" lang="ja-JP" altLang="en-US"/>
              <a:t>次元データを</a:t>
            </a:r>
            <a:r>
              <a:rPr kumimoji="1" lang="en-US" altLang="ja-JP" dirty="0"/>
              <a:t>1</a:t>
            </a:r>
            <a:r>
              <a:rPr kumimoji="1" lang="ja-JP" altLang="en-US"/>
              <a:t>次元データに次元縮小することができました。</a:t>
            </a:r>
            <a:endParaRPr kumimoji="1" lang="en-US" altLang="ja-JP" dirty="0"/>
          </a:p>
          <a:p>
            <a:r>
              <a:rPr lang="ja-JP" altLang="en-US">
                <a:effectLst/>
                <a:latin typeface="Helvetica" pitchFamily="2" charset="0"/>
              </a:rPr>
              <a:t>また、この主成分負荷量は値が大きいほど主成分に強く寄与するため、主成分負荷量を選択することで主成分の構造を解釈することができます。</a:t>
            </a:r>
            <a:endParaRPr kumimoji="1" lang="en-US" altLang="ja-JP" dirty="0"/>
          </a:p>
        </p:txBody>
      </p:sp>
      <p:sp>
        <p:nvSpPr>
          <p:cNvPr id="4" name="スライド番号プレースホルダー 3">
            <a:extLst>
              <a:ext uri="{FF2B5EF4-FFF2-40B4-BE49-F238E27FC236}">
                <a16:creationId xmlns:a16="http://schemas.microsoft.com/office/drawing/2014/main" id="{D16173DC-776E-9EEE-FFD2-F7796F3D7C15}"/>
              </a:ext>
            </a:extLst>
          </p:cNvPr>
          <p:cNvSpPr>
            <a:spLocks noGrp="1"/>
          </p:cNvSpPr>
          <p:nvPr>
            <p:ph type="sldNum" sz="quarter" idx="5"/>
          </p:nvPr>
        </p:nvSpPr>
        <p:spPr/>
        <p:txBody>
          <a:bodyPr/>
          <a:lstStyle/>
          <a:p>
            <a:fld id="{C3AA1469-922B-5243-9CFC-ED99F2A55A38}" type="slidenum">
              <a:rPr kumimoji="1" lang="ja-JP" altLang="en-US" smtClean="0"/>
              <a:t>3</a:t>
            </a:fld>
            <a:endParaRPr kumimoji="1" lang="ja-JP" altLang="en-US"/>
          </a:p>
        </p:txBody>
      </p:sp>
    </p:spTree>
    <p:extLst>
      <p:ext uri="{BB962C8B-B14F-4D97-AF65-F5344CB8AC3E}">
        <p14:creationId xmlns:p14="http://schemas.microsoft.com/office/powerpoint/2010/main" val="2026085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effectLst/>
                <a:latin typeface="Helvetica" pitchFamily="2" charset="0"/>
              </a:rPr>
              <a:t>しかし、高次元データに主成分分析を適用すると，主成分負荷量の個数が多くなるため，重要な主成分負荷量を選択することが困難になります。</a:t>
            </a:r>
            <a:endParaRPr kumimoji="1" lang="en-US" altLang="ja-JP" dirty="0"/>
          </a:p>
          <a:p>
            <a:r>
              <a:rPr kumimoji="1" lang="ja-JP" altLang="en-US"/>
              <a:t>そこで、スパース主成分分析は、データの解釈に不要な主成分負荷量の値をちょうど</a:t>
            </a:r>
            <a:r>
              <a:rPr kumimoji="1" lang="en-US" altLang="ja-JP" dirty="0"/>
              <a:t>0</a:t>
            </a:r>
            <a:r>
              <a:rPr kumimoji="1" lang="ja-JP" altLang="en-US"/>
              <a:t>にスパース推定するため、</a:t>
            </a:r>
            <a:r>
              <a:rPr lang="ja-JP" altLang="en-US">
                <a:effectLst/>
                <a:latin typeface="Helvetica" pitchFamily="2" charset="0"/>
              </a:rPr>
              <a:t>重要な主成分負荷量を選択しやすくなります。</a:t>
            </a:r>
            <a:endParaRPr lang="en-US" altLang="ja-JP" dirty="0">
              <a:effectLst/>
              <a:latin typeface="Helvetica" pitchFamily="2" charset="0"/>
            </a:endParaRPr>
          </a:p>
          <a:p>
            <a:r>
              <a:rPr kumimoji="1" lang="ja-JP" altLang="en-US"/>
              <a:t>したがって、通常の主成分分析よりも、データの解釈が容易となる利点を持ちます。</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a:t>
            </a:fld>
            <a:endParaRPr kumimoji="1" lang="ja-JP" altLang="en-US"/>
          </a:p>
        </p:txBody>
      </p:sp>
    </p:spTree>
    <p:extLst>
      <p:ext uri="{BB962C8B-B14F-4D97-AF65-F5344CB8AC3E}">
        <p14:creationId xmlns:p14="http://schemas.microsoft.com/office/powerpoint/2010/main" val="288057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5B548-9DEF-12C2-D626-DEEAE7A7E5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8D5AF6-1FB4-41A8-75FF-D0B550DC08E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1B6B0A-83FA-6D5F-EA5B-9C0F138908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mn-ea"/>
              </a:rPr>
              <a:t>スパース主成分分析の一種</a:t>
            </a:r>
            <a:r>
              <a:rPr kumimoji="1" lang="ja-JP" altLang="en-US" sz="1200">
                <a:latin typeface="+mn-ea"/>
              </a:rPr>
              <a:t>に</a:t>
            </a:r>
            <a:r>
              <a:rPr kumimoji="1" lang="en-US" altLang="ja-JP" sz="1200" dirty="0" err="1">
                <a:latin typeface="+mn-ea"/>
              </a:rPr>
              <a:t>SCoTLASS</a:t>
            </a:r>
            <a:r>
              <a:rPr kumimoji="1" lang="ja-JP" altLang="en-US" sz="1200">
                <a:latin typeface="+mn-ea"/>
              </a:rPr>
              <a:t>があります。</a:t>
            </a:r>
            <a:endParaRPr kumimoji="1"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こちらの調整パラメータ</a:t>
            </a:r>
            <a:r>
              <a:rPr kumimoji="1" lang="en-US" altLang="ja-JP" sz="1200" dirty="0">
                <a:latin typeface="+mn-ea"/>
              </a:rPr>
              <a:t>c</a:t>
            </a:r>
            <a:r>
              <a:rPr kumimoji="1" lang="ja-JP" altLang="en-US" sz="1200">
                <a:latin typeface="+mn-ea"/>
              </a:rPr>
              <a:t>の値が大きくなると、ゼロと推定される主成分負荷量の個数が少なくなり、小さくなると、反対に、ゼロと推定される主成分負荷量の個数が多くなります。</a:t>
            </a:r>
            <a:endParaRPr kumimoji="1" lang="en-US" altLang="ja-JP" sz="1200" dirty="0">
              <a:latin typeface="+mn-ea"/>
            </a:endParaRPr>
          </a:p>
          <a:p>
            <a:r>
              <a:rPr kumimoji="1" lang="ja-JP" altLang="en-US" sz="1200">
                <a:latin typeface="+mn-ea"/>
              </a:rPr>
              <a:t>そのため、調整パラメータには</a:t>
            </a:r>
            <a:r>
              <a:rPr lang="ja-JP" altLang="en-US">
                <a:effectLst/>
                <a:latin typeface="Helvetica" pitchFamily="2" charset="0"/>
              </a:rPr>
              <a:t>，主成分負荷量の選択度合いと推定精度の</a:t>
            </a:r>
            <a:r>
              <a:rPr lang="en-US" altLang="ja-JP" dirty="0">
                <a:effectLst/>
                <a:latin typeface="Helvetica" pitchFamily="2" charset="0"/>
              </a:rPr>
              <a:t>2 </a:t>
            </a:r>
            <a:r>
              <a:rPr lang="ja-JP" altLang="en-US">
                <a:effectLst/>
                <a:latin typeface="Helvetica" pitchFamily="2" charset="0"/>
              </a:rPr>
              <a:t>点の釣り合いの釣り合いを調節する必要があります。</a:t>
            </a:r>
            <a:endParaRPr lang="en-US" altLang="ja-JP" dirty="0">
              <a:effectLst/>
              <a:latin typeface="Helvetica" pitchFamily="2" charset="0"/>
            </a:endParaRPr>
          </a:p>
          <a:p>
            <a:endParaRPr lang="en-US" altLang="ja-JP" dirty="0">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しかし、調整パラメータの値はあらかじめ設定する必要があるため</a:t>
            </a:r>
            <a:r>
              <a:rPr kumimoji="1" lang="ja-JP" altLang="en-US" sz="1200">
                <a:effectLst/>
                <a:latin typeface="+mn-ea"/>
              </a:rPr>
              <a:t>、</a:t>
            </a:r>
            <a:r>
              <a:rPr kumimoji="1" lang="ja-JP" altLang="en-US" sz="1200">
                <a:effectLst/>
                <a:latin typeface="Helvetica" pitchFamily="2" charset="0"/>
              </a:rPr>
              <a:t>調整</a:t>
            </a:r>
            <a:r>
              <a:rPr lang="ja-JP" altLang="en-US">
                <a:effectLst/>
                <a:latin typeface="Helvetica" pitchFamily="2" charset="0"/>
              </a:rPr>
              <a:t>パラメータの値と主成分負荷量の関係を測る評価指標を用意しなければなりません。</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p:txBody>
      </p:sp>
      <p:sp>
        <p:nvSpPr>
          <p:cNvPr id="4" name="スライド番号プレースホルダー 3">
            <a:extLst>
              <a:ext uri="{FF2B5EF4-FFF2-40B4-BE49-F238E27FC236}">
                <a16:creationId xmlns:a16="http://schemas.microsoft.com/office/drawing/2014/main" id="{9B38BBF3-B417-B8AF-D48B-DABF52B6334C}"/>
              </a:ext>
            </a:extLst>
          </p:cNvPr>
          <p:cNvSpPr>
            <a:spLocks noGrp="1"/>
          </p:cNvSpPr>
          <p:nvPr>
            <p:ph type="sldNum" sz="quarter" idx="5"/>
          </p:nvPr>
        </p:nvSpPr>
        <p:spPr/>
        <p:txBody>
          <a:bodyPr/>
          <a:lstStyle/>
          <a:p>
            <a:fld id="{C3AA1469-922B-5243-9CFC-ED99F2A55A38}" type="slidenum">
              <a:rPr kumimoji="1" lang="ja-JP" altLang="en-US" smtClean="0"/>
              <a:t>5</a:t>
            </a:fld>
            <a:endParaRPr kumimoji="1" lang="ja-JP" altLang="en-US"/>
          </a:p>
        </p:txBody>
      </p:sp>
    </p:spTree>
    <p:extLst>
      <p:ext uri="{BB962C8B-B14F-4D97-AF65-F5344CB8AC3E}">
        <p14:creationId xmlns:p14="http://schemas.microsoft.com/office/powerpoint/2010/main" val="1756051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評価指標に</a:t>
                </a:r>
                <a:r>
                  <a:rPr kumimoji="1" lang="en-US" altLang="ja-JP" dirty="0"/>
                  <a:t>FDR</a:t>
                </a:r>
                <a:r>
                  <a:rPr kumimoji="1" lang="ja-JP" altLang="en-US"/>
                  <a:t>があります。</a:t>
                </a:r>
                <a:endParaRPr kumimoji="1" lang="en-US" altLang="ja-JP" dirty="0"/>
              </a:p>
              <a:p>
                <a:r>
                  <a:rPr kumimoji="1" lang="ja-JP" altLang="en-US"/>
                  <a:t>まず、帰無仮説を真の</a:t>
                </a:r>
                <a:r>
                  <a:rPr lang="ja-JP" altLang="en-US" sz="1200">
                    <a:latin typeface="+mn-ea"/>
                  </a:rPr>
                  <a:t>主成分負荷量</a:t>
                </a:r>
                <a14:m>
                  <m:oMath xmlns:m="http://schemas.openxmlformats.org/officeDocument/2006/math">
                    <m:r>
                      <a:rPr lang="en-US" altLang="ja-JP" sz="1200" b="0" i="1" smtClean="0">
                        <a:latin typeface="Cambria Math" panose="02040503050406030204" pitchFamily="18" charset="0"/>
                      </a:rPr>
                      <m:t>𝑣</m:t>
                    </m:r>
                  </m:oMath>
                </a14:m>
                <a:r>
                  <a:rPr lang="ja-JP" altLang="en-US" sz="1200">
                    <a:latin typeface="+mn-ea"/>
                  </a:rPr>
                  <a:t>の値が</a:t>
                </a:r>
                <a:r>
                  <a:rPr lang="en-US" altLang="ja-JP" sz="1200" dirty="0">
                    <a:latin typeface="+mn-ea"/>
                  </a:rPr>
                  <a:t>0</a:t>
                </a:r>
                <a:r>
                  <a:rPr lang="ja-JP" altLang="en-US" sz="1200">
                    <a:latin typeface="+mn-ea"/>
                  </a:rPr>
                  <a:t>、対立仮説を</a:t>
                </a:r>
                <a:r>
                  <a:rPr kumimoji="1" lang="ja-JP" altLang="en-US"/>
                  <a:t>真の</a:t>
                </a:r>
                <a:r>
                  <a:rPr lang="ja-JP" altLang="en-US" sz="1200">
                    <a:latin typeface="+mn-ea"/>
                  </a:rPr>
                  <a:t>主成分負荷量の値が非ゼロと設定します。</a:t>
                </a:r>
                <a:endParaRPr kumimoji="1" lang="en-US" altLang="ja-JP" dirty="0"/>
              </a:p>
              <a:p>
                <a:r>
                  <a:rPr kumimoji="1" lang="ja-JP" altLang="en-US"/>
                  <a:t>推定した主成分負荷量を</a:t>
                </a:r>
                <a14:m>
                  <m:oMath xmlns:m="http://schemas.openxmlformats.org/officeDocument/2006/math">
                    <m:r>
                      <a:rPr kumimoji="1" lang="en-US" altLang="ja-JP" b="0" i="1" smtClean="0">
                        <a:latin typeface="Cambria Math" panose="02040503050406030204" pitchFamily="18" charset="0"/>
                      </a:rPr>
                      <m:t>𝑣</m:t>
                    </m:r>
                  </m:oMath>
                </a14:m>
                <a:r>
                  <a:rPr kumimoji="1" lang="ja-JP" altLang="en-US"/>
                  <a:t>ハットとすると、</a:t>
                </a:r>
                <a14:m>
                  <m:oMath xmlns:m="http://schemas.openxmlformats.org/officeDocument/2006/math">
                    <m:r>
                      <a:rPr lang="en-US" altLang="ja-JP" sz="1200" b="0" i="1" smtClean="0">
                        <a:latin typeface="Cambria Math" panose="02040503050406030204" pitchFamily="18" charset="0"/>
                      </a:rPr>
                      <m:t>𝑣</m:t>
                    </m:r>
                  </m:oMath>
                </a14:m>
                <a:r>
                  <a:rPr lang="ja-JP" altLang="en-US" sz="1200">
                    <a:latin typeface="+mn-ea"/>
                  </a:rPr>
                  <a:t>と</a:t>
                </a:r>
                <a14:m>
                  <m:oMath xmlns:m="http://schemas.openxmlformats.org/officeDocument/2006/math">
                    <m:r>
                      <a:rPr kumimoji="1" lang="en-US" altLang="ja-JP" b="0" i="1" smtClean="0">
                        <a:latin typeface="Cambria Math" panose="02040503050406030204" pitchFamily="18" charset="0"/>
                      </a:rPr>
                      <m:t>𝑣</m:t>
                    </m:r>
                  </m:oMath>
                </a14:m>
                <a:r>
                  <a:rPr kumimoji="1" lang="ja-JP" altLang="en-US"/>
                  <a:t>ハットの関係を</a:t>
                </a:r>
                <a:r>
                  <a:rPr lang="ja-JP" altLang="en-US" sz="1200">
                    <a:latin typeface="+mn-ea"/>
                  </a:rPr>
                  <a:t>、このように表すことができます。</a:t>
                </a:r>
                <a:endParaRPr lang="en-US" altLang="ja-JP" sz="1200" dirty="0">
                  <a:latin typeface="+mn-ea"/>
                </a:endParaRPr>
              </a:p>
            </p:txBody>
          </p:sp>
        </mc:Choice>
        <mc:Fallback xmlns="">
          <p:sp>
            <p:nvSpPr>
              <p:cNvPr id="3" name="ノート プレースホルダー 2"/>
              <p:cNvSpPr>
                <a:spLocks noGrp="1"/>
              </p:cNvSpPr>
              <p:nvPr>
                <p:ph type="body" idx="1"/>
              </p:nvPr>
            </p:nvSpPr>
            <p:spPr/>
            <p:txBody>
              <a:bodyPr/>
              <a:lstStyle/>
              <a:p>
                <a:r>
                  <a:rPr kumimoji="1" lang="ja-JP" altLang="en-US"/>
                  <a:t>評価指標に</a:t>
                </a:r>
                <a:r>
                  <a:rPr kumimoji="1" lang="en-US" altLang="ja-JP" dirty="0"/>
                  <a:t>FDR</a:t>
                </a:r>
                <a:r>
                  <a:rPr kumimoji="1" lang="ja-JP" altLang="en-US"/>
                  <a:t>があります。</a:t>
                </a:r>
                <a:endParaRPr kumimoji="1" lang="en-US" altLang="ja-JP" dirty="0"/>
              </a:p>
              <a:p>
                <a:endParaRPr kumimoji="1" lang="en-US" altLang="ja-JP" dirty="0"/>
              </a:p>
              <a:p>
                <a:r>
                  <a:rPr kumimoji="1" lang="ja-JP" altLang="en-US"/>
                  <a:t>まず、真の主成分負荷量を</a:t>
                </a:r>
                <a:r>
                  <a:rPr kumimoji="1" lang="en-US" altLang="ja-JP" b="0" i="0">
                    <a:latin typeface="Cambria Math" panose="02040503050406030204" pitchFamily="18" charset="0"/>
                  </a:rPr>
                  <a:t>𝑣</a:t>
                </a:r>
                <a:r>
                  <a:rPr kumimoji="1" lang="ja-JP" altLang="en-US"/>
                  <a:t>アスタ、推定された主成分負荷量を</a:t>
                </a:r>
                <a:r>
                  <a:rPr kumimoji="1" lang="en-US" altLang="ja-JP" b="0" i="0">
                    <a:latin typeface="Cambria Math" panose="02040503050406030204" pitchFamily="18" charset="0"/>
                  </a:rPr>
                  <a:t>𝑣</a:t>
                </a:r>
                <a:r>
                  <a:rPr kumimoji="1" lang="ja-JP" altLang="en-US"/>
                  <a:t>ハットとし、</a:t>
                </a:r>
                <a:endParaRPr kumimoji="1" lang="en-US" altLang="ja-JP" dirty="0"/>
              </a:p>
              <a:p>
                <a:r>
                  <a:rPr kumimoji="1" lang="ja-JP" altLang="en-US"/>
                  <a:t>真の主成分負荷量のうち、非ゼロとなる主成分負荷量の添字集合を</a:t>
                </a:r>
                <a:r>
                  <a:rPr kumimoji="1" lang="en-US" altLang="ja-JP" dirty="0"/>
                  <a:t>A</a:t>
                </a:r>
                <a:r>
                  <a:rPr kumimoji="1" lang="ja-JP" altLang="en-US"/>
                  <a:t>、ゼロとなる主成分負荷量の添字集合を</a:t>
                </a:r>
                <a:r>
                  <a:rPr kumimoji="1" lang="en-US" altLang="ja-JP" dirty="0"/>
                  <a:t>A</a:t>
                </a:r>
                <a:r>
                  <a:rPr kumimoji="1" lang="ja-JP" altLang="en-US"/>
                  <a:t>の補集合とします。</a:t>
                </a:r>
                <a:endParaRPr kumimoji="1" lang="en-US" altLang="ja-JP" dirty="0"/>
              </a:p>
              <a:p>
                <a:endParaRPr kumimoji="1" lang="en-US" altLang="ja-JP" dirty="0"/>
              </a:p>
              <a:p>
                <a:endParaRPr kumimoji="1" lang="en-US" altLang="ja-JP" dirty="0"/>
              </a:p>
              <a:p>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6</a:t>
            </a:fld>
            <a:endParaRPr kumimoji="1" lang="ja-JP" altLang="en-US"/>
          </a:p>
        </p:txBody>
      </p:sp>
    </p:spTree>
    <p:extLst>
      <p:ext uri="{BB962C8B-B14F-4D97-AF65-F5344CB8AC3E}">
        <p14:creationId xmlns:p14="http://schemas.microsoft.com/office/powerpoint/2010/main" val="2569177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sz="1200">
                    <a:latin typeface="+mn-ea"/>
                  </a:rPr>
                  <a:t>このとき、</a:t>
                </a:r>
                <a:r>
                  <a:rPr kumimoji="1" lang="en-US" altLang="ja-JP" sz="1200" dirty="0">
                    <a:latin typeface="+mn-ea"/>
                  </a:rPr>
                  <a:t>R</a:t>
                </a:r>
                <a:r>
                  <a:rPr kumimoji="1" lang="ja-JP" altLang="en-US" sz="1200">
                    <a:latin typeface="+mn-ea"/>
                  </a:rPr>
                  <a:t>を</a:t>
                </a:r>
                <a:r>
                  <a:rPr kumimoji="1" lang="ja-JP" altLang="en-US" sz="1200"/>
                  <a:t>推定した主成分負荷量の値が非ゼロとなる個数、</a:t>
                </a:r>
                <a:endParaRPr kumimoji="1" lang="en-US" altLang="ja-JP" sz="1200" dirty="0"/>
              </a:p>
              <a:p>
                <a:r>
                  <a:rPr kumimoji="1" lang="en-US" altLang="ja-JP" dirty="0"/>
                  <a:t>R</a:t>
                </a:r>
                <a:r>
                  <a:rPr kumimoji="1" lang="ja-JP" altLang="en-US"/>
                  <a:t>のうち、真の主成分負荷量の値がゼロとなるものの個数を</a:t>
                </a:r>
                <a:r>
                  <a:rPr kumimoji="1" lang="en-US" altLang="ja-JP" dirty="0"/>
                  <a:t>V</a:t>
                </a:r>
                <a:r>
                  <a:rPr kumimoji="1" lang="ja-JP" altLang="en-US"/>
                  <a:t>、非ゼロとなるものの個数を</a:t>
                </a:r>
                <a:r>
                  <a:rPr kumimoji="1" lang="en-US" altLang="ja-JP" dirty="0"/>
                  <a:t>S</a:t>
                </a:r>
                <a:r>
                  <a:rPr kumimoji="1" lang="ja-JP" altLang="en-US"/>
                  <a:t>とします。</a:t>
                </a:r>
                <a:endParaRPr kumimoji="1" lang="en-US" altLang="ja-JP" dirty="0"/>
              </a:p>
              <a:p>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a:t>評価指標に</a:t>
                </a:r>
                <a:r>
                  <a:rPr kumimoji="1" lang="en-US" altLang="ja-JP" dirty="0"/>
                  <a:t>FDR</a:t>
                </a:r>
                <a:r>
                  <a:rPr kumimoji="1" lang="ja-JP" altLang="en-US"/>
                  <a:t>があります。</a:t>
                </a:r>
                <a:endParaRPr kumimoji="1" lang="en-US" altLang="ja-JP" dirty="0"/>
              </a:p>
              <a:p>
                <a:endParaRPr kumimoji="1" lang="en-US" altLang="ja-JP" dirty="0"/>
              </a:p>
              <a:p>
                <a:r>
                  <a:rPr kumimoji="1" lang="ja-JP" altLang="en-US"/>
                  <a:t>まず、真の主成分負荷量を</a:t>
                </a:r>
                <a:r>
                  <a:rPr kumimoji="1" lang="en-US" altLang="ja-JP" b="0" i="0">
                    <a:latin typeface="Cambria Math" panose="02040503050406030204" pitchFamily="18" charset="0"/>
                  </a:rPr>
                  <a:t>𝑣</a:t>
                </a:r>
                <a:r>
                  <a:rPr kumimoji="1" lang="ja-JP" altLang="en-US"/>
                  <a:t>アスタ、推定された主成分負荷量を</a:t>
                </a:r>
                <a:r>
                  <a:rPr kumimoji="1" lang="en-US" altLang="ja-JP" b="0" i="0">
                    <a:latin typeface="Cambria Math" panose="02040503050406030204" pitchFamily="18" charset="0"/>
                  </a:rPr>
                  <a:t>𝑣</a:t>
                </a:r>
                <a:r>
                  <a:rPr kumimoji="1" lang="ja-JP" altLang="en-US"/>
                  <a:t>ハットとし、</a:t>
                </a:r>
                <a:endParaRPr kumimoji="1" lang="en-US" altLang="ja-JP" dirty="0"/>
              </a:p>
              <a:p>
                <a:r>
                  <a:rPr kumimoji="1" lang="ja-JP" altLang="en-US"/>
                  <a:t>真の主成分負荷量のうち、非ゼロとなる主成分負荷量の添字集合を</a:t>
                </a:r>
                <a:r>
                  <a:rPr kumimoji="1" lang="en-US" altLang="ja-JP" dirty="0"/>
                  <a:t>A</a:t>
                </a:r>
                <a:r>
                  <a:rPr kumimoji="1" lang="ja-JP" altLang="en-US"/>
                  <a:t>、ゼロとなる主成分負荷量の添字集合を</a:t>
                </a:r>
                <a:r>
                  <a:rPr kumimoji="1" lang="en-US" altLang="ja-JP" dirty="0"/>
                  <a:t>A</a:t>
                </a:r>
                <a:r>
                  <a:rPr kumimoji="1" lang="ja-JP" altLang="en-US"/>
                  <a:t>の補集合とします。</a:t>
                </a:r>
                <a:endParaRPr kumimoji="1" lang="en-US" altLang="ja-JP" dirty="0"/>
              </a:p>
              <a:p>
                <a:endParaRPr kumimoji="1" lang="en-US" altLang="ja-JP" dirty="0"/>
              </a:p>
              <a:p>
                <a:endParaRPr kumimoji="1" lang="en-US" altLang="ja-JP" dirty="0"/>
              </a:p>
              <a:p>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7</a:t>
            </a:fld>
            <a:endParaRPr kumimoji="1" lang="ja-JP" altLang="en-US"/>
          </a:p>
        </p:txBody>
      </p:sp>
    </p:spTree>
    <p:extLst>
      <p:ext uri="{BB962C8B-B14F-4D97-AF65-F5344CB8AC3E}">
        <p14:creationId xmlns:p14="http://schemas.microsoft.com/office/powerpoint/2010/main" val="414902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en-US" altLang="ja-JP" dirty="0"/>
                  <a:t>FDP</a:t>
                </a:r>
                <a:r>
                  <a:rPr kumimoji="1" lang="ja-JP" altLang="en-US"/>
                  <a:t>は、</a:t>
                </a:r>
                <a:r>
                  <a:rPr kumimoji="1" lang="en-US" altLang="ja-JP" dirty="0"/>
                  <a:t>R</a:t>
                </a:r>
                <a:r>
                  <a:rPr kumimoji="1" lang="ja-JP" altLang="en-US"/>
                  <a:t>のうち</a:t>
                </a:r>
                <a:r>
                  <a:rPr kumimoji="1" lang="en-US" altLang="ja-JP" dirty="0"/>
                  <a:t>V</a:t>
                </a:r>
                <a:r>
                  <a:rPr kumimoji="1" lang="ja-JP" altLang="en-US"/>
                  <a:t>を満たす割合であり、その期待値が</a:t>
                </a:r>
                <a:r>
                  <a:rPr kumimoji="1" lang="en-US" altLang="ja-JP" dirty="0"/>
                  <a:t>FDR</a:t>
                </a:r>
                <a:r>
                  <a:rPr kumimoji="1" lang="ja-JP" altLang="en-US"/>
                  <a:t>と定義されています。</a:t>
                </a:r>
                <a:endParaRPr kumimoji="1" lang="en-US" altLang="ja-JP" dirty="0"/>
              </a:p>
              <a:p>
                <a:r>
                  <a:rPr kumimoji="1" lang="ja-JP" altLang="en-US" u="sng"/>
                  <a:t>したがって、</a:t>
                </a:r>
                <a:r>
                  <a:rPr kumimoji="1" lang="en-US" altLang="ja-JP" u="sng" dirty="0"/>
                  <a:t>FDR</a:t>
                </a:r>
                <a:r>
                  <a:rPr kumimoji="1" lang="ja-JP" altLang="en-US" u="sng"/>
                  <a:t>を評価指標とし、あらかじめ設定した値</a:t>
                </a:r>
                <a14:m>
                  <m:oMath xmlns:m="http://schemas.openxmlformats.org/officeDocument/2006/math">
                    <m:r>
                      <a:rPr kumimoji="1" lang="en-US" altLang="ja-JP" b="0" i="1" u="sng" smtClean="0">
                        <a:latin typeface="Cambria Math" panose="02040503050406030204" pitchFamily="18" charset="0"/>
                      </a:rPr>
                      <m:t>𝑞</m:t>
                    </m:r>
                  </m:oMath>
                </a14:m>
                <a:r>
                  <a:rPr kumimoji="1" lang="ja-JP" altLang="en-US" u="sng"/>
                  <a:t>以下で制御することができれば、適切な調整パラメータの値を算出することができます。</a:t>
                </a:r>
                <a:endParaRPr kumimoji="1" lang="en-US" altLang="ja-JP" u="sng" dirty="0"/>
              </a:p>
              <a:p>
                <a:r>
                  <a:rPr kumimoji="1" lang="ja-JP" altLang="en-US"/>
                  <a:t>しかし、</a:t>
                </a:r>
                <a:r>
                  <a:rPr kumimoji="1" lang="en-US" altLang="ja-JP" dirty="0"/>
                  <a:t>FDP</a:t>
                </a:r>
                <a:r>
                  <a:rPr kumimoji="1" lang="ja-JP" altLang="en-US"/>
                  <a:t>の分子である</a:t>
                </a:r>
                <a:r>
                  <a:rPr kumimoji="1" lang="en-US" altLang="ja-JP" dirty="0"/>
                  <a:t>V</a:t>
                </a:r>
                <a:r>
                  <a:rPr kumimoji="1" lang="ja-JP" altLang="en-US"/>
                  <a:t>の値を求めるためには、こちらの真の値がゼロである主成分負荷量の情報が必要なため、</a:t>
                </a:r>
                <a:r>
                  <a:rPr kumimoji="1" lang="en-US" altLang="ja-JP" dirty="0"/>
                  <a:t>V</a:t>
                </a:r>
                <a:r>
                  <a:rPr kumimoji="1" lang="ja-JP" altLang="en-US"/>
                  <a:t>の値を直接計算することはできません。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そこで、</a:t>
                </a:r>
                <a:r>
                  <a:rPr kumimoji="1" lang="en-US" altLang="ja-JP" dirty="0"/>
                  <a:t>FDR</a:t>
                </a:r>
                <a:r>
                  <a:rPr kumimoji="1" lang="ja-JP" altLang="en-US"/>
                  <a:t>を制御する手法に関して、本発表では</a:t>
                </a:r>
                <a:r>
                  <a:rPr kumimoji="1" lang="en-US" altLang="ja-JP" dirty="0"/>
                  <a:t>knockoff</a:t>
                </a:r>
                <a:r>
                  <a:rPr kumimoji="1" lang="ja-JP" altLang="en-US"/>
                  <a:t>法を紹介します。</a:t>
                </a:r>
                <a:endParaRPr kumimoji="1" lang="en-US" altLang="ja-JP" dirty="0"/>
              </a:p>
              <a:p>
                <a:endParaRPr kumimoji="1" lang="ja-JP" altLang="en-US"/>
              </a:p>
            </p:txBody>
          </p:sp>
        </mc:Choice>
        <mc:Fallback xmlns="">
          <p:sp>
            <p:nvSpPr>
              <p:cNvPr id="3" name="ノート プレースホルダー 2"/>
              <p:cNvSpPr>
                <a:spLocks noGrp="1"/>
              </p:cNvSpPr>
              <p:nvPr>
                <p:ph type="body" idx="1"/>
              </p:nvPr>
            </p:nvSpPr>
            <p:spPr/>
            <p:txBody>
              <a:bodyPr/>
              <a:lstStyle/>
              <a:p>
                <a:r>
                  <a:rPr kumimoji="1" lang="en-US" altLang="ja-JP" dirty="0"/>
                  <a:t>FDP</a:t>
                </a:r>
                <a:r>
                  <a:rPr kumimoji="1" lang="ja-JP" altLang="en-US"/>
                  <a:t>は、</a:t>
                </a:r>
                <a:r>
                  <a:rPr kumimoji="1" lang="en-US" altLang="ja-JP" dirty="0"/>
                  <a:t>R</a:t>
                </a:r>
                <a:r>
                  <a:rPr kumimoji="1" lang="ja-JP" altLang="en-US"/>
                  <a:t>のうち</a:t>
                </a:r>
                <a:r>
                  <a:rPr kumimoji="1" lang="en-US" altLang="ja-JP" dirty="0"/>
                  <a:t>V</a:t>
                </a:r>
                <a:r>
                  <a:rPr kumimoji="1" lang="ja-JP" altLang="en-US"/>
                  <a:t>を満たす割合であり、その期待値が</a:t>
                </a:r>
                <a:r>
                  <a:rPr kumimoji="1" lang="en-US" altLang="ja-JP" dirty="0"/>
                  <a:t>FDR</a:t>
                </a:r>
                <a:r>
                  <a:rPr kumimoji="1" lang="ja-JP" altLang="en-US"/>
                  <a:t>と定義されています。</a:t>
                </a:r>
                <a:endParaRPr kumimoji="1" lang="en-US" altLang="ja-JP" dirty="0"/>
              </a:p>
              <a:p>
                <a:endParaRPr kumimoji="1" lang="en-US" altLang="ja-JP" dirty="0"/>
              </a:p>
              <a:p>
                <a:endParaRPr kumimoji="1" lang="en-US" altLang="ja-JP" dirty="0"/>
              </a:p>
              <a:p>
                <a:r>
                  <a:rPr kumimoji="1" lang="ja-JP" altLang="en-US"/>
                  <a:t>したがって、</a:t>
                </a:r>
                <a:r>
                  <a:rPr kumimoji="1" lang="en-US" altLang="ja-JP" dirty="0"/>
                  <a:t>FDR</a:t>
                </a:r>
                <a:r>
                  <a:rPr kumimoji="1" lang="ja-JP" altLang="en-US"/>
                  <a:t>を評価指標とし、あらかじめ設定した値</a:t>
                </a:r>
                <a:r>
                  <a:rPr kumimoji="1" lang="en-US" altLang="ja-JP" b="0" i="0">
                    <a:latin typeface="Cambria Math" panose="02040503050406030204" pitchFamily="18" charset="0"/>
                  </a:rPr>
                  <a:t>𝑞</a:t>
                </a:r>
                <a:r>
                  <a:rPr kumimoji="1" lang="ja-JP" altLang="en-US"/>
                  <a:t>以下で制御することができれば、適切な正則化パラメータの値を算出することができます。</a:t>
                </a:r>
                <a:endParaRPr kumimoji="1" lang="en-US" altLang="ja-JP" dirty="0"/>
              </a:p>
              <a:p>
                <a:endParaRPr kumimoji="1" lang="en-US" altLang="ja-JP" dirty="0"/>
              </a:p>
              <a:p>
                <a:r>
                  <a:rPr kumimoji="1" lang="ja-JP" altLang="en-US"/>
                  <a:t>しかし、</a:t>
                </a:r>
                <a:r>
                  <a:rPr kumimoji="1" lang="en-US" altLang="ja-JP" dirty="0"/>
                  <a:t>FDP</a:t>
                </a:r>
                <a:r>
                  <a:rPr kumimoji="1" lang="ja-JP" altLang="en-US"/>
                  <a:t>の分子である</a:t>
                </a:r>
                <a:r>
                  <a:rPr kumimoji="1" lang="en-US" altLang="ja-JP" dirty="0"/>
                  <a:t>V</a:t>
                </a:r>
                <a:r>
                  <a:rPr kumimoji="1" lang="ja-JP" altLang="en-US"/>
                  <a:t>の値を求めるためには、真の値がゼロであるものの個数が必要なため、</a:t>
                </a:r>
                <a:r>
                  <a:rPr kumimoji="1" lang="en-US" altLang="ja-JP" dirty="0"/>
                  <a:t>V</a:t>
                </a:r>
                <a:r>
                  <a:rPr kumimoji="1" lang="ja-JP" altLang="en-US"/>
                  <a:t>の値を直接計算することはできません。</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そこで、</a:t>
                </a:r>
                <a:r>
                  <a:rPr kumimoji="1" lang="en-US" altLang="ja-JP" dirty="0"/>
                  <a:t>FDR</a:t>
                </a:r>
                <a:r>
                  <a:rPr kumimoji="1" lang="ja-JP" altLang="en-US"/>
                  <a:t>を制御する手法に関して、本発表では</a:t>
                </a:r>
                <a:r>
                  <a:rPr kumimoji="1" lang="en-US" altLang="ja-JP" dirty="0"/>
                  <a:t>knockoff</a:t>
                </a:r>
                <a:r>
                  <a:rPr kumimoji="1" lang="ja-JP" altLang="en-US"/>
                  <a:t>法を適用します。</a:t>
                </a:r>
                <a:endParaRPr kumimoji="1" lang="en-US" altLang="ja-JP" dirty="0"/>
              </a:p>
              <a:p>
                <a:endParaRPr kumimoji="1" lang="ja-JP" altLang="en-US"/>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8</a:t>
            </a:fld>
            <a:endParaRPr kumimoji="1" lang="ja-JP" altLang="en-US"/>
          </a:p>
        </p:txBody>
      </p:sp>
    </p:spTree>
    <p:extLst>
      <p:ext uri="{BB962C8B-B14F-4D97-AF65-F5344CB8AC3E}">
        <p14:creationId xmlns:p14="http://schemas.microsoft.com/office/powerpoint/2010/main" val="155187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6767D-A6C2-8900-C3C6-0DDBA8C160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20D363-3E17-4D7B-E9D2-D60711B8E33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A35B6860-7CBC-E46B-F7C4-D6CCF46F28A1}"/>
                  </a:ext>
                </a:extLst>
              </p:cNvPr>
              <p:cNvSpPr>
                <a:spLocks noGrp="1"/>
              </p:cNvSpPr>
              <p:nvPr>
                <p:ph type="body" idx="1"/>
              </p:nvPr>
            </p:nvSpPr>
            <p:spPr/>
            <p:txBody>
              <a:bodyPr/>
              <a:lstStyle/>
              <a:p>
                <a:r>
                  <a:rPr kumimoji="1" lang="ja-JP" altLang="en-US"/>
                  <a:t>ここからは、先行研究である、線形回帰モデルを</a:t>
                </a:r>
                <a:r>
                  <a:rPr kumimoji="1" lang="en-US" altLang="ja-JP" dirty="0"/>
                  <a:t>Knockoff</a:t>
                </a:r>
                <a:r>
                  <a:rPr kumimoji="1" lang="ja-JP" altLang="en-US"/>
                  <a:t>法で</a:t>
                </a:r>
                <a:r>
                  <a:rPr kumimoji="1" lang="en-US" altLang="ja-JP" dirty="0"/>
                  <a:t>FDR</a:t>
                </a:r>
                <a:r>
                  <a:rPr kumimoji="1" lang="ja-JP" altLang="en-US"/>
                  <a:t>制御する手法について説明します。</a:t>
                </a:r>
                <a:endParaRPr kumimoji="1" lang="en-US" altLang="ja-JP" dirty="0"/>
              </a:p>
              <a:p>
                <a:r>
                  <a:rPr kumimoji="1" lang="en-US" altLang="ja-JP" dirty="0"/>
                  <a:t>lasso</a:t>
                </a:r>
                <a:r>
                  <a:rPr kumimoji="1" lang="ja-JP" altLang="en-US"/>
                  <a:t>は線形回帰モデルの回帰係数の推定方法の一つです。</a:t>
                </a:r>
                <a:endParaRPr kumimoji="1" lang="en-US" altLang="ja-JP" dirty="0"/>
              </a:p>
              <a:p>
                <a:r>
                  <a:rPr kumimoji="1" lang="ja-JP" altLang="en-US"/>
                  <a:t>推定値の一部が完全に</a:t>
                </a:r>
                <a:r>
                  <a:rPr kumimoji="1" lang="en-US" altLang="ja-JP" dirty="0"/>
                  <a:t>0</a:t>
                </a:r>
                <a:r>
                  <a:rPr kumimoji="1" lang="ja-JP" altLang="en-US"/>
                  <a:t>となるため、目的変数に影響を及ぼすパラメータのみが抽出される利点があります。</a:t>
                </a:r>
                <a:endParaRPr kumimoji="1" lang="en-US" altLang="ja-JP" dirty="0"/>
              </a:p>
              <a:p>
                <a:r>
                  <a:rPr kumimoji="1" lang="ja-JP" altLang="en-US" sz="1200">
                    <a:latin typeface="+mn-ea"/>
                  </a:rPr>
                  <a:t>正則化パラメータには、スパース主成分分析と同様、</a:t>
                </a:r>
                <a:r>
                  <a:rPr lang="ja-JP" altLang="en-US">
                    <a:effectLst/>
                    <a:latin typeface="Helvetica" pitchFamily="2" charset="0"/>
                  </a:rPr>
                  <a:t>回帰係数の選択度合いと推定精度の</a:t>
                </a:r>
                <a:r>
                  <a:rPr lang="en-US" altLang="ja-JP" dirty="0">
                    <a:effectLst/>
                    <a:latin typeface="Helvetica" pitchFamily="2" charset="0"/>
                  </a:rPr>
                  <a:t>2 </a:t>
                </a:r>
                <a:r>
                  <a:rPr lang="ja-JP" altLang="en-US">
                    <a:effectLst/>
                    <a:latin typeface="Helvetica" pitchFamily="2" charset="0"/>
                  </a:rPr>
                  <a:t>点の釣り合いを調節する働きがあります。</a:t>
                </a:r>
                <a:endParaRPr kumimoji="1" lang="en-US" altLang="ja-JP" u="sng" dirty="0"/>
              </a:p>
              <a:p>
                <a:r>
                  <a:rPr kumimoji="1" lang="en-US" altLang="ja-JP" u="sng" dirty="0"/>
                  <a:t>Barber</a:t>
                </a:r>
                <a:r>
                  <a:rPr kumimoji="1" lang="ja-JP" altLang="en-US" u="sng"/>
                  <a:t>らは正則化パラメータと回帰係数の関係を測る評価指標として</a:t>
                </a:r>
                <a:r>
                  <a:rPr kumimoji="1" lang="en-US" altLang="ja-JP" u="sng" dirty="0"/>
                  <a:t>FDR</a:t>
                </a:r>
                <a:r>
                  <a:rPr kumimoji="1" lang="ja-JP" altLang="en-US" u="sng"/>
                  <a:t>制御を行う</a:t>
                </a:r>
                <a:r>
                  <a:rPr kumimoji="1" lang="en-US" altLang="ja-JP" u="sng" dirty="0"/>
                  <a:t>Knockoff</a:t>
                </a:r>
                <a:r>
                  <a:rPr kumimoji="1" lang="ja-JP" altLang="en-US" u="sng"/>
                  <a:t>法を提案し、</a:t>
                </a:r>
                <a:r>
                  <a:rPr kumimoji="1" lang="en-US" altLang="ja-JP" u="sng" dirty="0"/>
                  <a:t>lasso</a:t>
                </a:r>
                <a:r>
                  <a:rPr kumimoji="1" lang="ja-JP" altLang="en-US" u="sng"/>
                  <a:t>の正則化パラメータの適切な値を決定しました。</a:t>
                </a:r>
                <a:endParaRPr kumimoji="1" lang="en-US" altLang="ja-JP" u="sng" dirty="0"/>
              </a:p>
            </p:txBody>
          </p:sp>
        </mc:Choice>
        <mc:Fallback xmlns="">
          <p:sp>
            <p:nvSpPr>
              <p:cNvPr id="3" name="ノート プレースホルダー 2"/>
              <p:cNvSpPr>
                <a:spLocks noGrp="1"/>
              </p:cNvSpPr>
              <p:nvPr>
                <p:ph type="body" idx="1"/>
              </p:nvPr>
            </p:nvSpPr>
            <p:spPr/>
            <p:txBody>
              <a:bodyPr/>
              <a:lstStyle/>
              <a:p>
                <a:r>
                  <a:rPr kumimoji="1" lang="ja-JP" altLang="en-US"/>
                  <a:t>線形回帰モデルを</a:t>
                </a:r>
                <a:r>
                  <a:rPr kumimoji="1" lang="en-US" altLang="ja-JP" dirty="0"/>
                  <a:t>Knockoff</a:t>
                </a:r>
                <a:r>
                  <a:rPr kumimoji="1" lang="ja-JP" altLang="en-US"/>
                  <a:t>法で</a:t>
                </a:r>
                <a:r>
                  <a:rPr kumimoji="1" lang="en-US" altLang="ja-JP" dirty="0"/>
                  <a:t>FDR</a:t>
                </a:r>
                <a:r>
                  <a:rPr kumimoji="1" lang="ja-JP" altLang="en-US"/>
                  <a:t>制御した先行研究があります。</a:t>
                </a:r>
                <a:endParaRPr kumimoji="1" lang="en-US" altLang="ja-JP" dirty="0"/>
              </a:p>
              <a:p>
                <a:endParaRPr kumimoji="1" lang="en-US" altLang="ja-JP" dirty="0"/>
              </a:p>
              <a:p>
                <a:r>
                  <a:rPr kumimoji="1" lang="en-US" altLang="ja-JP" dirty="0"/>
                  <a:t>lasso</a:t>
                </a:r>
                <a:r>
                  <a:rPr kumimoji="1" lang="ja-JP" altLang="en-US"/>
                  <a:t>は線形回帰モデルの回帰係数の推定方法の一つです。</a:t>
                </a:r>
                <a:endParaRPr kumimoji="1" lang="en-US" altLang="ja-JP" dirty="0"/>
              </a:p>
              <a:p>
                <a:r>
                  <a:rPr kumimoji="1" lang="ja-JP" altLang="en-US"/>
                  <a:t>推定値の一部が完全に</a:t>
                </a:r>
                <a:r>
                  <a:rPr kumimoji="1" lang="en-US" altLang="ja-JP" dirty="0"/>
                  <a:t>0</a:t>
                </a:r>
                <a:r>
                  <a:rPr kumimoji="1" lang="ja-JP" altLang="en-US"/>
                  <a:t>となるため、目的変数に影響を及ぼすパラメータのみが抽出される利点があります。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こちらの正則化パラメータ</a:t>
                </a:r>
                <a:r>
                  <a:rPr kumimoji="1" lang="en-US" altLang="ja-JP" sz="1200" b="0" i="0">
                    <a:latin typeface="Cambria Math" panose="02040503050406030204" pitchFamily="18" charset="0"/>
                    <a:ea typeface="Cambria Math" panose="02040503050406030204" pitchFamily="18" charset="0"/>
                  </a:rPr>
                  <a:t>𝜆</a:t>
                </a:r>
                <a:r>
                  <a:rPr kumimoji="1" lang="ja-JP" altLang="en-US" sz="1200">
                    <a:latin typeface="+mn-ea"/>
                  </a:rPr>
                  <a:t>の値が大きくなると、ゼロと推定される主成分負荷量の個数が多くなり、小さくなると、反対に、ゼロと推定される主成分負荷量の個数が少なくなります。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正則化パラメータには、スパース主成分分析と同様、変数</a:t>
                </a:r>
                <a:r>
                  <a:rPr lang="ja-JP" altLang="en-US">
                    <a:effectLst/>
                    <a:latin typeface="Helvetica" pitchFamily="2" charset="0"/>
                  </a:rPr>
                  <a:t>選択の度合いと、推定結果と観測データの当てはまりの程度、の</a:t>
                </a:r>
                <a:r>
                  <a:rPr lang="en-US" altLang="ja-JP" dirty="0">
                    <a:effectLst/>
                    <a:latin typeface="Helvetica" pitchFamily="2" charset="0"/>
                  </a:rPr>
                  <a:t>2 </a:t>
                </a:r>
                <a:r>
                  <a:rPr lang="ja-JP" altLang="en-US">
                    <a:effectLst/>
                    <a:latin typeface="Helvetica" pitchFamily="2" charset="0"/>
                  </a:rPr>
                  <a:t>点の釣り合いを調節する必要があります。</a:t>
                </a:r>
                <a:endParaRPr lang="en-US" altLang="ja-JP" dirty="0">
                  <a:effectLst/>
                  <a:latin typeface="Helvetica" pitchFamily="2" charset="0"/>
                </a:endParaRPr>
              </a:p>
              <a:p>
                <a:endParaRPr kumimoji="1" lang="en-US" altLang="ja-JP" dirty="0"/>
              </a:p>
              <a:p>
                <a:r>
                  <a:rPr kumimoji="1" lang="en-US" altLang="ja-JP" dirty="0"/>
                  <a:t>Barber</a:t>
                </a:r>
                <a:r>
                  <a:rPr kumimoji="1" lang="ja-JP" altLang="en-US"/>
                  <a:t>らは正則化パラメータと回帰係数の関係を測る評価指標として</a:t>
                </a:r>
                <a:r>
                  <a:rPr kumimoji="1" lang="en-US" altLang="ja-JP" dirty="0"/>
                  <a:t>Knockoff</a:t>
                </a:r>
                <a:r>
                  <a:rPr kumimoji="1" lang="ja-JP" altLang="en-US"/>
                  <a:t>法を提案し、</a:t>
                </a:r>
                <a:r>
                  <a:rPr kumimoji="1" lang="en-US" altLang="ja-JP" dirty="0"/>
                  <a:t>lasso</a:t>
                </a:r>
                <a:r>
                  <a:rPr kumimoji="1" lang="ja-JP" altLang="en-US"/>
                  <a:t>の正則化パラメータの適切な値を決定しました。</a:t>
                </a:r>
              </a:p>
            </p:txBody>
          </p:sp>
        </mc:Fallback>
      </mc:AlternateContent>
      <p:sp>
        <p:nvSpPr>
          <p:cNvPr id="4" name="スライド番号プレースホルダー 3">
            <a:extLst>
              <a:ext uri="{FF2B5EF4-FFF2-40B4-BE49-F238E27FC236}">
                <a16:creationId xmlns:a16="http://schemas.microsoft.com/office/drawing/2014/main" id="{86377B3F-7DBB-A149-E29C-8253D18BB8CC}"/>
              </a:ext>
            </a:extLst>
          </p:cNvPr>
          <p:cNvSpPr>
            <a:spLocks noGrp="1"/>
          </p:cNvSpPr>
          <p:nvPr>
            <p:ph type="sldNum" sz="quarter" idx="5"/>
          </p:nvPr>
        </p:nvSpPr>
        <p:spPr/>
        <p:txBody>
          <a:bodyPr/>
          <a:lstStyle/>
          <a:p>
            <a:fld id="{C3AA1469-922B-5243-9CFC-ED99F2A55A38}" type="slidenum">
              <a:rPr kumimoji="1" lang="ja-JP" altLang="en-US" smtClean="0"/>
              <a:t>9</a:t>
            </a:fld>
            <a:endParaRPr kumimoji="1" lang="ja-JP" altLang="en-US"/>
          </a:p>
        </p:txBody>
      </p:sp>
    </p:spTree>
    <p:extLst>
      <p:ext uri="{BB962C8B-B14F-4D97-AF65-F5344CB8AC3E}">
        <p14:creationId xmlns:p14="http://schemas.microsoft.com/office/powerpoint/2010/main" val="1875529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46D9-B227-7888-0B93-5A73AD5E159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F7FABD-68E8-2A9E-EFE4-498C1E874F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0D75F4B-9ED8-99F8-1F7D-472ACC8DA0FF}"/>
              </a:ext>
            </a:extLst>
          </p:cNvPr>
          <p:cNvSpPr>
            <a:spLocks noGrp="1"/>
          </p:cNvSpPr>
          <p:nvPr>
            <p:ph type="body" idx="1"/>
          </p:nvPr>
        </p:nvSpPr>
        <p:spPr/>
        <p:txBody>
          <a:bodyPr/>
          <a:lstStyle/>
          <a:p>
            <a:r>
              <a:rPr kumimoji="1" lang="en-US" altLang="ja-JP" dirty="0"/>
              <a:t>Knockoff</a:t>
            </a:r>
            <a:r>
              <a:rPr kumimoji="1" lang="ja-JP" altLang="en-US"/>
              <a:t>法による正則化パラメータの導出はこちらの</a:t>
            </a:r>
            <a:r>
              <a:rPr kumimoji="1" lang="en-US" altLang="ja-JP" dirty="0"/>
              <a:t>4</a:t>
            </a:r>
            <a:r>
              <a:rPr kumimoji="1" lang="ja-JP" altLang="en-US"/>
              <a:t>つの手順で構成されています。</a:t>
            </a:r>
            <a:endParaRPr kumimoji="1" lang="en-US" altLang="ja-JP" dirty="0"/>
          </a:p>
        </p:txBody>
      </p:sp>
      <p:sp>
        <p:nvSpPr>
          <p:cNvPr id="4" name="スライド番号プレースホルダー 3">
            <a:extLst>
              <a:ext uri="{FF2B5EF4-FFF2-40B4-BE49-F238E27FC236}">
                <a16:creationId xmlns:a16="http://schemas.microsoft.com/office/drawing/2014/main" id="{FE964D7B-9E79-EE8B-16C2-461E91224091}"/>
              </a:ext>
            </a:extLst>
          </p:cNvPr>
          <p:cNvSpPr>
            <a:spLocks noGrp="1"/>
          </p:cNvSpPr>
          <p:nvPr>
            <p:ph type="sldNum" sz="quarter" idx="5"/>
          </p:nvPr>
        </p:nvSpPr>
        <p:spPr/>
        <p:txBody>
          <a:bodyPr/>
          <a:lstStyle/>
          <a:p>
            <a:fld id="{C3AA1469-922B-5243-9CFC-ED99F2A55A38}" type="slidenum">
              <a:rPr kumimoji="1" lang="ja-JP" altLang="en-US" smtClean="0"/>
              <a:t>10</a:t>
            </a:fld>
            <a:endParaRPr kumimoji="1" lang="ja-JP" altLang="en-US"/>
          </a:p>
        </p:txBody>
      </p:sp>
    </p:spTree>
    <p:extLst>
      <p:ext uri="{BB962C8B-B14F-4D97-AF65-F5344CB8AC3E}">
        <p14:creationId xmlns:p14="http://schemas.microsoft.com/office/powerpoint/2010/main" val="390383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F49E1-9522-42E9-5C5C-1668685AD60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E27BE2-74E4-C0A6-52C9-A8399B81E0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8216A2E-E257-2141-B157-ED8F3B0074C7}"/>
              </a:ext>
            </a:extLst>
          </p:cNvPr>
          <p:cNvSpPr>
            <a:spLocks noGrp="1"/>
          </p:cNvSpPr>
          <p:nvPr>
            <p:ph type="body" idx="1"/>
          </p:nvPr>
        </p:nvSpPr>
        <p:spPr/>
        <p:txBody>
          <a:bodyPr/>
          <a:lstStyle/>
          <a:p>
            <a:r>
              <a:rPr kumimoji="1" lang="en-US" altLang="ja-JP" dirty="0"/>
              <a:t>Knockoff</a:t>
            </a:r>
            <a:r>
              <a:rPr kumimoji="1" lang="ja-JP" altLang="en-US"/>
              <a:t>法では「交換可能性」　という性質が成立した場合に、手順</a:t>
            </a:r>
            <a:r>
              <a:rPr kumimoji="1" lang="en-US" altLang="ja-JP" dirty="0"/>
              <a:t>3</a:t>
            </a:r>
            <a:r>
              <a:rPr kumimoji="1" lang="ja-JP" altLang="en-US"/>
              <a:t>で</a:t>
            </a:r>
            <a:r>
              <a:rPr kumimoji="1" lang="en-US" altLang="ja-JP" dirty="0"/>
              <a:t>FDR</a:t>
            </a:r>
            <a:r>
              <a:rPr kumimoji="1" lang="ja-JP" altLang="en-US"/>
              <a:t>制御を行うことが可能です。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u="none"/>
              <a:t>手順</a:t>
            </a:r>
            <a:r>
              <a:rPr kumimoji="1" lang="en-US" altLang="ja-JP" u="none" dirty="0"/>
              <a:t>1</a:t>
            </a:r>
            <a:r>
              <a:rPr kumimoji="1" lang="ja-JP" altLang="en-US" u="none"/>
              <a:t>で作成する</a:t>
            </a:r>
            <a:r>
              <a:rPr kumimoji="1" lang="en-US" altLang="ja-JP" u="none" dirty="0"/>
              <a:t>knockoff</a:t>
            </a:r>
            <a:r>
              <a:rPr kumimoji="1" lang="ja-JP" altLang="en-US" u="none"/>
              <a:t>変数と、手順</a:t>
            </a:r>
            <a:r>
              <a:rPr kumimoji="1" lang="en-US" altLang="ja-JP" u="none" dirty="0"/>
              <a:t>2</a:t>
            </a:r>
            <a:r>
              <a:rPr kumimoji="1" lang="ja-JP" altLang="en-US" u="none"/>
              <a:t>で計算する統計量</a:t>
            </a:r>
            <a:r>
              <a:rPr kumimoji="1" lang="en-US" altLang="ja-JP" u="none" dirty="0"/>
              <a:t>W</a:t>
            </a:r>
            <a:r>
              <a:rPr kumimoji="1" lang="ja-JP" altLang="en-US" u="none"/>
              <a:t>は、この交換可能性が成り立つように条件付けされています。</a:t>
            </a:r>
            <a:endParaRPr kumimoji="1" lang="en-US" altLang="ja-JP" u="none" dirty="0"/>
          </a:p>
          <a:p>
            <a:endParaRPr kumimoji="1" lang="en-US" altLang="ja-JP" dirty="0"/>
          </a:p>
        </p:txBody>
      </p:sp>
      <p:sp>
        <p:nvSpPr>
          <p:cNvPr id="4" name="スライド番号プレースホルダー 3">
            <a:extLst>
              <a:ext uri="{FF2B5EF4-FFF2-40B4-BE49-F238E27FC236}">
                <a16:creationId xmlns:a16="http://schemas.microsoft.com/office/drawing/2014/main" id="{16FF5F12-012D-7310-EFDF-98EC1C2118AB}"/>
              </a:ext>
            </a:extLst>
          </p:cNvPr>
          <p:cNvSpPr>
            <a:spLocks noGrp="1"/>
          </p:cNvSpPr>
          <p:nvPr>
            <p:ph type="sldNum" sz="quarter" idx="5"/>
          </p:nvPr>
        </p:nvSpPr>
        <p:spPr/>
        <p:txBody>
          <a:bodyPr/>
          <a:lstStyle/>
          <a:p>
            <a:fld id="{C3AA1469-922B-5243-9CFC-ED99F2A55A38}" type="slidenum">
              <a:rPr kumimoji="1" lang="ja-JP" altLang="en-US" smtClean="0"/>
              <a:t>11</a:t>
            </a:fld>
            <a:endParaRPr kumimoji="1" lang="ja-JP" altLang="en-US"/>
          </a:p>
        </p:txBody>
      </p:sp>
    </p:spTree>
    <p:extLst>
      <p:ext uri="{BB962C8B-B14F-4D97-AF65-F5344CB8AC3E}">
        <p14:creationId xmlns:p14="http://schemas.microsoft.com/office/powerpoint/2010/main" val="1359259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F057C-EE41-8873-F7DE-BFDC25BECD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9F3494-0560-4E6A-A47F-DCE215334F5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BC4FDBE5-D667-54C2-7BF3-C97E2E4A3A52}"/>
                  </a:ext>
                </a:extLst>
              </p:cNvPr>
              <p:cNvSpPr>
                <a:spLocks noGrp="1"/>
              </p:cNvSpPr>
              <p:nvPr>
                <p:ph type="body" idx="1"/>
              </p:nvPr>
            </p:nvSpPr>
            <p:spPr/>
            <p:txBody>
              <a:bodyPr/>
              <a:lstStyle/>
              <a:p>
                <a:r>
                  <a:rPr kumimoji="1" lang="ja-JP" altLang="en-US"/>
                  <a:t>交換可能性は</a:t>
                </a:r>
                <a:r>
                  <a:rPr kumimoji="1" lang="en-US" altLang="ja-JP" dirty="0"/>
                  <a:t>FDP</a:t>
                </a:r>
                <a:r>
                  <a:rPr kumimoji="1" lang="ja-JP" altLang="en-US"/>
                  <a:t>の分子の</a:t>
                </a:r>
                <a:r>
                  <a:rPr kumimoji="1" lang="en-US" altLang="ja-JP" dirty="0"/>
                  <a:t>V</a:t>
                </a:r>
                <a:r>
                  <a:rPr kumimoji="1" lang="ja-JP" altLang="en-US"/>
                  <a:t>を変形させるために必要な性質で、真の回帰係数の値が</a:t>
                </a:r>
                <a:r>
                  <a:rPr kumimoji="1" lang="en-US" altLang="ja-JP" dirty="0"/>
                  <a:t>0</a:t>
                </a:r>
                <a:r>
                  <a:rPr kumimoji="1" lang="ja-JP" altLang="en-US"/>
                  <a:t>のとき、統計量</a:t>
                </a:r>
                <a14:m>
                  <m:oMath xmlns:m="http://schemas.openxmlformats.org/officeDocument/2006/math">
                    <m:r>
                      <a:rPr kumimoji="1" lang="en-US" altLang="ja-JP" b="0" i="1" smtClean="0">
                        <a:latin typeface="Cambria Math" panose="02040503050406030204" pitchFamily="18" charset="0"/>
                      </a:rPr>
                      <m:t>𝑊</m:t>
                    </m:r>
                  </m:oMath>
                </a14:m>
                <a:r>
                  <a:rPr kumimoji="1" lang="ja-JP" altLang="en-US" dirty="0"/>
                  <a:t>の</a:t>
                </a:r>
                <a:r>
                  <a:rPr kumimoji="1" lang="ja-JP" altLang="en-US"/>
                  <a:t>値が</a:t>
                </a:r>
                <a14:m>
                  <m:oMath xmlns:m="http://schemas.openxmlformats.org/officeDocument/2006/math">
                    <m:r>
                      <a:rPr kumimoji="1" lang="en-US" altLang="ja-JP" b="0" i="1" smtClean="0">
                        <a:latin typeface="Cambria Math" panose="02040503050406030204" pitchFamily="18" charset="0"/>
                      </a:rPr>
                      <m:t>𝑡</m:t>
                    </m:r>
                  </m:oMath>
                </a14:m>
                <a:r>
                  <a:rPr kumimoji="1" lang="ja-JP" altLang="en-US" dirty="0"/>
                  <a:t>以上</a:t>
                </a:r>
                <a:r>
                  <a:rPr kumimoji="1" lang="ja-JP" altLang="en-US"/>
                  <a:t>である分布と</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m:t>
                    </m:r>
                  </m:oMath>
                </a14:m>
                <a:r>
                  <a:rPr kumimoji="1" lang="ja-JP" altLang="en-US" dirty="0"/>
                  <a:t>以下</a:t>
                </a:r>
                <a:r>
                  <a:rPr kumimoji="1" lang="ja-JP" altLang="en-US"/>
                  <a:t>である分布が等しいことを意味します。</a:t>
                </a:r>
                <a:endParaRPr kumimoji="1" lang="en-US" altLang="ja-JP" dirty="0"/>
              </a:p>
              <a:p>
                <a:r>
                  <a:rPr kumimoji="1" lang="ja-JP" altLang="en-US"/>
                  <a:t>交換可能性利用すると、下の式変形によって、</a:t>
                </a:r>
                <a:r>
                  <a:rPr kumimoji="1" lang="en-US" altLang="ja-JP" dirty="0"/>
                  <a:t>FDP</a:t>
                </a:r>
                <a:r>
                  <a:rPr kumimoji="1" lang="ja-JP" altLang="en-US"/>
                  <a:t>の上界を計算することができます。</a:t>
                </a:r>
                <a:endParaRPr kumimoji="1" lang="en-US" altLang="ja-JP" dirty="0"/>
              </a:p>
              <a:p>
                <a:endParaRPr kumimoji="1" lang="en-US" altLang="ja-JP" dirty="0"/>
              </a:p>
            </p:txBody>
          </p:sp>
        </mc:Choice>
        <mc:Fallback xmlns="">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手順</a:t>
                </a:r>
                <a:r>
                  <a:rPr kumimoji="1" lang="en-US" altLang="ja-JP" dirty="0"/>
                  <a:t>3</a:t>
                </a:r>
                <a:r>
                  <a:rPr kumimoji="1" lang="ja-JP" altLang="en-US"/>
                  <a:t>のしきい値</a:t>
                </a:r>
                <a:r>
                  <a:rPr kumimoji="1" lang="en-US" altLang="ja-JP" dirty="0"/>
                  <a:t>T</a:t>
                </a:r>
                <a:r>
                  <a:rPr kumimoji="1" lang="ja-JP" altLang="en-US"/>
                  <a:t>の導出では、先ほど算出した</a:t>
                </a:r>
                <a:r>
                  <a:rPr kumimoji="1" lang="en-US" altLang="ja-JP" dirty="0"/>
                  <a:t>W</a:t>
                </a:r>
                <a:r>
                  <a:rPr kumimoji="1" lang="ja-JP" altLang="en-US"/>
                  <a:t>を用いた式で、</a:t>
                </a:r>
                <a:r>
                  <a:rPr kumimoji="1" lang="en-US" altLang="ja-JP" dirty="0"/>
                  <a:t>FDR</a:t>
                </a:r>
                <a:r>
                  <a:rPr kumimoji="1" lang="ja-JP" altLang="en-US"/>
                  <a:t>制御を行っています。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en-US" altLang="ja-JP" dirty="0"/>
              </a:p>
              <a:p>
                <a:r>
                  <a:rPr kumimoji="1" lang="ja-JP" altLang="en-US"/>
                  <a:t>こちらの式は、交換可能性が成立した場合に限り、</a:t>
                </a:r>
                <a:r>
                  <a:rPr kumimoji="1" lang="en-US" altLang="ja-JP" dirty="0"/>
                  <a:t>FDP</a:t>
                </a:r>
                <a:r>
                  <a:rPr kumimoji="1" lang="ja-JP" altLang="en-US"/>
                  <a:t>と同等と見なすことができます。</a:t>
                </a:r>
                <a:endParaRPr kumimoji="1" lang="en-US" altLang="ja-JP" dirty="0"/>
              </a:p>
              <a:p>
                <a:endParaRPr kumimoji="1" lang="en-US" altLang="ja-JP" dirty="0"/>
              </a:p>
              <a:p>
                <a:r>
                  <a:rPr kumimoji="1" lang="ja-JP" altLang="en-US"/>
                  <a:t>交換可能性は</a:t>
                </a:r>
                <a:r>
                  <a:rPr kumimoji="1" lang="en-US" altLang="ja-JP" dirty="0"/>
                  <a:t>FDP</a:t>
                </a:r>
                <a:r>
                  <a:rPr kumimoji="1" lang="ja-JP" altLang="en-US"/>
                  <a:t>の分子の</a:t>
                </a:r>
                <a:r>
                  <a:rPr kumimoji="1" lang="en-US" altLang="ja-JP" dirty="0"/>
                  <a:t>V</a:t>
                </a:r>
                <a:r>
                  <a:rPr kumimoji="1" lang="ja-JP" altLang="en-US"/>
                  <a:t>を変形させるために必要で、真の回帰係数の値が</a:t>
                </a:r>
                <a:r>
                  <a:rPr kumimoji="1" lang="en-US" altLang="ja-JP" dirty="0"/>
                  <a:t>0</a:t>
                </a:r>
                <a:r>
                  <a:rPr kumimoji="1" lang="ja-JP" altLang="en-US"/>
                  <a:t>のとき、統計量</a:t>
                </a:r>
                <a:r>
                  <a:rPr kumimoji="1" lang="en-US" altLang="ja-JP" b="0" i="0">
                    <a:latin typeface="Cambria Math" panose="02040503050406030204" pitchFamily="18" charset="0"/>
                  </a:rPr>
                  <a:t>𝑊</a:t>
                </a:r>
                <a:r>
                  <a:rPr kumimoji="1" lang="ja-JP" altLang="en-US" dirty="0"/>
                  <a:t>の</a:t>
                </a:r>
                <a:r>
                  <a:rPr kumimoji="1" lang="ja-JP" altLang="en-US"/>
                  <a:t>値が</a:t>
                </a:r>
                <a:r>
                  <a:rPr kumimoji="1" lang="en-US" altLang="ja-JP" b="0" i="0">
                    <a:latin typeface="Cambria Math" panose="02040503050406030204" pitchFamily="18" charset="0"/>
                  </a:rPr>
                  <a:t>𝑡</a:t>
                </a:r>
                <a:r>
                  <a:rPr kumimoji="1" lang="ja-JP" altLang="en-US" dirty="0"/>
                  <a:t>以上</a:t>
                </a:r>
                <a:r>
                  <a:rPr kumimoji="1" lang="ja-JP" altLang="en-US"/>
                  <a:t>である分布と</a:t>
                </a:r>
                <a:r>
                  <a:rPr kumimoji="1" lang="en-US" altLang="ja-JP" b="0" i="0">
                    <a:latin typeface="Cambria Math" panose="02040503050406030204" pitchFamily="18" charset="0"/>
                  </a:rPr>
                  <a:t>−𝑡</a:t>
                </a:r>
                <a:r>
                  <a:rPr kumimoji="1" lang="ja-JP" altLang="en-US" dirty="0"/>
                  <a:t>以下</a:t>
                </a:r>
                <a:r>
                  <a:rPr kumimoji="1" lang="ja-JP" altLang="en-US"/>
                  <a:t>である分布が等しいことを利用すると、</a:t>
                </a:r>
                <a:r>
                  <a:rPr kumimoji="1" lang="en-US" altLang="ja-JP" dirty="0"/>
                  <a:t>FDP</a:t>
                </a:r>
                <a:r>
                  <a:rPr kumimoji="1" lang="ja-JP" altLang="en-US"/>
                  <a:t>を計算することができます。</a:t>
                </a:r>
                <a:endParaRPr kumimoji="1" lang="en-US" altLang="ja-JP" dirty="0"/>
              </a:p>
              <a:p>
                <a:r>
                  <a:rPr kumimoji="1" lang="ja-JP" altLang="en-US"/>
                  <a:t>先ほど説明した、手順</a:t>
                </a:r>
                <a:r>
                  <a:rPr kumimoji="1" lang="en-US" altLang="ja-JP" dirty="0"/>
                  <a:t>1</a:t>
                </a:r>
                <a:r>
                  <a:rPr kumimoji="1" lang="ja-JP" altLang="en-US"/>
                  <a:t>の</a:t>
                </a:r>
                <a:r>
                  <a:rPr kumimoji="1" lang="en-US" altLang="ja-JP" dirty="0"/>
                  <a:t>knockoff</a:t>
                </a:r>
                <a:r>
                  <a:rPr kumimoji="1" lang="ja-JP" altLang="en-US"/>
                  <a:t>変数と、手順</a:t>
                </a:r>
                <a:r>
                  <a:rPr kumimoji="1" lang="en-US" altLang="ja-JP" dirty="0"/>
                  <a:t>2</a:t>
                </a:r>
                <a:r>
                  <a:rPr kumimoji="1" lang="ja-JP" altLang="en-US"/>
                  <a:t>の統計量</a:t>
                </a:r>
                <a:r>
                  <a:rPr kumimoji="1" lang="en-US" altLang="ja-JP" dirty="0"/>
                  <a:t>W</a:t>
                </a:r>
                <a:r>
                  <a:rPr kumimoji="1" lang="ja-JP" altLang="en-US"/>
                  <a:t>は、この交換可能性が成り立つように条件付けされています。</a:t>
                </a:r>
                <a:endParaRPr kumimoji="1" lang="en-US" altLang="ja-JP" dirty="0"/>
              </a:p>
            </p:txBody>
          </p:sp>
        </mc:Fallback>
      </mc:AlternateContent>
      <p:sp>
        <p:nvSpPr>
          <p:cNvPr id="4" name="スライド番号プレースホルダー 3">
            <a:extLst>
              <a:ext uri="{FF2B5EF4-FFF2-40B4-BE49-F238E27FC236}">
                <a16:creationId xmlns:a16="http://schemas.microsoft.com/office/drawing/2014/main" id="{61F6EA47-93A0-569D-0192-A753309328A0}"/>
              </a:ext>
            </a:extLst>
          </p:cNvPr>
          <p:cNvSpPr>
            <a:spLocks noGrp="1"/>
          </p:cNvSpPr>
          <p:nvPr>
            <p:ph type="sldNum" sz="quarter" idx="5"/>
          </p:nvPr>
        </p:nvSpPr>
        <p:spPr/>
        <p:txBody>
          <a:bodyPr/>
          <a:lstStyle/>
          <a:p>
            <a:fld id="{C3AA1469-922B-5243-9CFC-ED99F2A55A38}" type="slidenum">
              <a:rPr kumimoji="1" lang="ja-JP" altLang="en-US" smtClean="0"/>
              <a:t>12</a:t>
            </a:fld>
            <a:endParaRPr kumimoji="1" lang="ja-JP" altLang="en-US"/>
          </a:p>
        </p:txBody>
      </p:sp>
    </p:spTree>
    <p:extLst>
      <p:ext uri="{BB962C8B-B14F-4D97-AF65-F5344CB8AC3E}">
        <p14:creationId xmlns:p14="http://schemas.microsoft.com/office/powerpoint/2010/main" val="663271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A4C7-8994-00ED-F2CB-F2122477F3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C978AB-ECFE-F9B2-D148-701227B6FC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E08605B-9FD2-1364-1CC1-DCAFC0D302D9}"/>
              </a:ext>
            </a:extLst>
          </p:cNvPr>
          <p:cNvSpPr>
            <a:spLocks noGrp="1"/>
          </p:cNvSpPr>
          <p:nvPr>
            <p:ph type="body" idx="1"/>
          </p:nvPr>
        </p:nvSpPr>
        <p:spPr/>
        <p:txBody>
          <a:bodyPr/>
          <a:lstStyle/>
          <a:p>
            <a:r>
              <a:rPr kumimoji="1" lang="ja-JP" altLang="en-US" u="none"/>
              <a:t>このような線形回帰モデルに対する</a:t>
            </a:r>
            <a:r>
              <a:rPr kumimoji="1" lang="en-US" altLang="ja-JP" u="none" dirty="0"/>
              <a:t>knockoff</a:t>
            </a:r>
            <a:r>
              <a:rPr kumimoji="1" lang="ja-JP" altLang="en-US" u="none"/>
              <a:t>法をはじめとして、他にも様々な手法に対する</a:t>
            </a:r>
            <a:r>
              <a:rPr kumimoji="1" lang="en-US" altLang="ja-JP" u="none" dirty="0"/>
              <a:t>Knockoff</a:t>
            </a:r>
            <a:r>
              <a:rPr kumimoji="1" lang="ja-JP" altLang="en-US" u="none"/>
              <a:t>法があります。</a:t>
            </a:r>
            <a:endParaRPr kumimoji="1" lang="en-US" altLang="ja-JP" u="none" dirty="0"/>
          </a:p>
          <a:p>
            <a:r>
              <a:rPr lang="ja-JP" altLang="en-US">
                <a:effectLst/>
                <a:latin typeface="Helvetica" pitchFamily="2" charset="0"/>
              </a:rPr>
              <a:t>しかし、主成分分析への拡張はいまだ定式化されていません．</a:t>
            </a:r>
            <a:endParaRPr lang="en-US" altLang="ja-JP" dirty="0">
              <a:effectLst/>
              <a:latin typeface="Helvetica" pitchFamily="2" charset="0"/>
            </a:endParaRPr>
          </a:p>
          <a:p>
            <a:endParaRPr lang="ja-JP" altLang="en-US">
              <a:effectLst/>
              <a:latin typeface="Helvetica" pitchFamily="2" charset="0"/>
            </a:endParaRPr>
          </a:p>
          <a:p>
            <a:r>
              <a:rPr lang="ja-JP" altLang="en-US">
                <a:effectLst/>
                <a:latin typeface="Helvetica" pitchFamily="2" charset="0"/>
              </a:rPr>
              <a:t>そこで本発表では，</a:t>
            </a:r>
            <a:r>
              <a:rPr lang="en-US" altLang="ja-JP" dirty="0">
                <a:effectLst/>
                <a:latin typeface="Helvetica" pitchFamily="2" charset="0"/>
              </a:rPr>
              <a:t>Knockoff</a:t>
            </a:r>
            <a:r>
              <a:rPr lang="ja-JP" altLang="en-US">
                <a:effectLst/>
                <a:latin typeface="Helvetica" pitchFamily="2" charset="0"/>
              </a:rPr>
              <a:t>法をスパース主成分分析に拡張することで，</a:t>
            </a:r>
            <a:r>
              <a:rPr lang="en-US" altLang="ja-JP" dirty="0">
                <a:effectLst/>
                <a:latin typeface="Helvetica" pitchFamily="2" charset="0"/>
              </a:rPr>
              <a:t>FDR </a:t>
            </a:r>
            <a:r>
              <a:rPr lang="ja-JP" altLang="en-US">
                <a:effectLst/>
                <a:latin typeface="Helvetica" pitchFamily="2" charset="0"/>
              </a:rPr>
              <a:t>制御の観点からスパース主成分分析内の調整パラメータを選択する手法を提案します．</a:t>
            </a:r>
          </a:p>
          <a:p>
            <a:endParaRPr kumimoji="1" lang="en-US" altLang="ja-JP" u="none" dirty="0"/>
          </a:p>
        </p:txBody>
      </p:sp>
      <p:sp>
        <p:nvSpPr>
          <p:cNvPr id="4" name="スライド番号プレースホルダー 3">
            <a:extLst>
              <a:ext uri="{FF2B5EF4-FFF2-40B4-BE49-F238E27FC236}">
                <a16:creationId xmlns:a16="http://schemas.microsoft.com/office/drawing/2014/main" id="{D8F5AA4F-1DED-43F4-EBC3-65FE94E3E76C}"/>
              </a:ext>
            </a:extLst>
          </p:cNvPr>
          <p:cNvSpPr>
            <a:spLocks noGrp="1"/>
          </p:cNvSpPr>
          <p:nvPr>
            <p:ph type="sldNum" sz="quarter" idx="5"/>
          </p:nvPr>
        </p:nvSpPr>
        <p:spPr/>
        <p:txBody>
          <a:bodyPr/>
          <a:lstStyle/>
          <a:p>
            <a:fld id="{C3AA1469-922B-5243-9CFC-ED99F2A55A38}" type="slidenum">
              <a:rPr kumimoji="1" lang="ja-JP" altLang="en-US" smtClean="0"/>
              <a:t>13</a:t>
            </a:fld>
            <a:endParaRPr kumimoji="1" lang="ja-JP" altLang="en-US"/>
          </a:p>
        </p:txBody>
      </p:sp>
    </p:spTree>
    <p:extLst>
      <p:ext uri="{BB962C8B-B14F-4D97-AF65-F5344CB8AC3E}">
        <p14:creationId xmlns:p14="http://schemas.microsoft.com/office/powerpoint/2010/main" val="760811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Knockoff</a:t>
            </a:r>
            <a:r>
              <a:rPr kumimoji="1" lang="ja-JP" altLang="en-US"/>
              <a:t>法による調整パラメータの導出手順は線形回帰モデルの場合と同様です。</a:t>
            </a:r>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14</a:t>
            </a:fld>
            <a:endParaRPr kumimoji="1" lang="ja-JP" altLang="en-US"/>
          </a:p>
        </p:txBody>
      </p:sp>
    </p:spTree>
    <p:extLst>
      <p:ext uri="{BB962C8B-B14F-4D97-AF65-F5344CB8AC3E}">
        <p14:creationId xmlns:p14="http://schemas.microsoft.com/office/powerpoint/2010/main" val="966593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はじめに、手順</a:t>
            </a:r>
            <a:r>
              <a:rPr kumimoji="1" lang="en-US" altLang="ja-JP" dirty="0"/>
              <a:t>1</a:t>
            </a:r>
            <a:r>
              <a:rPr kumimoji="1" lang="ja-JP" altLang="en-US"/>
              <a:t>の</a:t>
            </a:r>
            <a:r>
              <a:rPr kumimoji="1" lang="en-US" altLang="ja-JP" dirty="0"/>
              <a:t>knockoff</a:t>
            </a:r>
            <a:r>
              <a:rPr kumimoji="1" lang="ja-JP" altLang="en-US"/>
              <a:t>変数の作成について説明します。</a:t>
            </a:r>
            <a:endParaRPr kumimoji="1" lang="en-US" altLang="ja-JP" dirty="0"/>
          </a:p>
          <a:p>
            <a:r>
              <a:rPr kumimoji="1" lang="ja-JP" altLang="en-US"/>
              <a:t>まず、</a:t>
            </a:r>
            <a:r>
              <a:rPr kumimoji="1" lang="ja-JP" altLang="en-US" sz="1200">
                <a:latin typeface="+mn-ea"/>
                <a:cs typeface="ヒラギノ角ゴ Pro W3"/>
              </a:rPr>
              <a:t>母集団の相関係数が</a:t>
            </a:r>
            <a:r>
              <a:rPr kumimoji="1" lang="en-US" altLang="ja-JP" sz="1200" dirty="0">
                <a:latin typeface="+mn-ea"/>
                <a:cs typeface="ヒラギノ角ゴ Pro W3"/>
              </a:rPr>
              <a:t>0</a:t>
            </a:r>
            <a:r>
              <a:rPr lang="ja-JP" altLang="en-US" sz="1200">
                <a:latin typeface="+mn-ea"/>
                <a:cs typeface="ヒラギノ角ゴ Pro W3"/>
              </a:rPr>
              <a:t>という仮説のもとで、以下の値が自由度</a:t>
            </a:r>
            <a:r>
              <a:rPr lang="en-US" altLang="ja-JP" sz="1200" dirty="0">
                <a:latin typeface="+mn-ea"/>
                <a:cs typeface="ヒラギノ角ゴ Pro W3"/>
              </a:rPr>
              <a:t>n-2</a:t>
            </a:r>
            <a:r>
              <a:rPr lang="ja-JP" altLang="en-US" sz="1200">
                <a:latin typeface="+mn-ea"/>
                <a:cs typeface="ヒラギノ角ゴ Pro W3"/>
              </a:rPr>
              <a:t>の</a:t>
            </a:r>
            <a:r>
              <a:rPr lang="en-US" altLang="ja-JP" sz="1200" dirty="0">
                <a:latin typeface="+mn-ea"/>
                <a:cs typeface="ヒラギノ角ゴ Pro W3"/>
              </a:rPr>
              <a:t>t</a:t>
            </a:r>
            <a:r>
              <a:rPr lang="ja-JP" altLang="en-US" sz="1200">
                <a:latin typeface="+mn-ea"/>
                <a:cs typeface="ヒラギノ角ゴ Pro W3"/>
              </a:rPr>
              <a:t>分布に従うことが知られています。</a:t>
            </a:r>
            <a:endParaRPr lang="en-US" altLang="ja-JP" sz="1200" dirty="0">
              <a:latin typeface="+mn-ea"/>
              <a:cs typeface="ヒラギノ角ゴ Pro W3"/>
            </a:endParaRPr>
          </a:p>
          <a:p>
            <a:r>
              <a:rPr kumimoji="1" lang="ja-JP" altLang="en-US" sz="1200">
                <a:latin typeface="+mn-ea"/>
              </a:rPr>
              <a:t>この値を標本相関行列</a:t>
            </a:r>
            <a:r>
              <a:rPr kumimoji="1" lang="en-US" altLang="ja-JP" sz="1200" dirty="0">
                <a:latin typeface="+mn-ea"/>
              </a:rPr>
              <a:t>C</a:t>
            </a:r>
            <a:r>
              <a:rPr kumimoji="1" lang="ja-JP" altLang="en-US" sz="1200">
                <a:latin typeface="+mn-ea"/>
              </a:rPr>
              <a:t>について解いたものを、</a:t>
            </a:r>
            <a:r>
              <a:rPr kumimoji="1" lang="en-US" altLang="ja-JP" sz="1200" dirty="0">
                <a:latin typeface="+mn-ea"/>
              </a:rPr>
              <a:t>Knockoff</a:t>
            </a:r>
            <a:r>
              <a:rPr kumimoji="1" lang="ja-JP" altLang="en-US" sz="1200">
                <a:latin typeface="+mn-ea"/>
              </a:rPr>
              <a:t>相関行列の非対角成分に取り入れました。</a:t>
            </a:r>
            <a:endParaRPr kumimoji="1" lang="en-US" altLang="ja-JP" sz="1200" dirty="0">
              <a:latin typeface="+mn-ea"/>
            </a:endParaRPr>
          </a:p>
          <a:p>
            <a:r>
              <a:rPr kumimoji="1" lang="ja-JP" altLang="en-US" sz="1200">
                <a:latin typeface="+mn-ea"/>
              </a:rPr>
              <a:t>また、</a:t>
            </a:r>
            <a:r>
              <a:rPr kumimoji="1" lang="en-US" altLang="ja-JP" sz="1200" dirty="0">
                <a:latin typeface="+mn-ea"/>
              </a:rPr>
              <a:t>Knockoff</a:t>
            </a:r>
            <a:r>
              <a:rPr kumimoji="1" lang="ja-JP" altLang="en-US" sz="1200">
                <a:latin typeface="+mn-ea"/>
              </a:rPr>
              <a:t>相関行列の対角成分は</a:t>
            </a:r>
            <a:r>
              <a:rPr kumimoji="1" lang="en-US" altLang="ja-JP" sz="1200" dirty="0">
                <a:latin typeface="+mn-ea"/>
              </a:rPr>
              <a:t>1</a:t>
            </a:r>
            <a:r>
              <a:rPr kumimoji="1" lang="ja-JP" altLang="en-US" sz="1200">
                <a:latin typeface="+mn-ea"/>
              </a:rPr>
              <a:t>としました。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a:t>
            </a:r>
            <a:r>
              <a:rPr kumimoji="1" lang="en-US" altLang="ja-JP" dirty="0"/>
              <a:t>knockoff</a:t>
            </a:r>
            <a:r>
              <a:rPr kumimoji="1" lang="ja-JP" altLang="en-US" sz="1200">
                <a:latin typeface="+mn-ea"/>
              </a:rPr>
              <a:t>相関行列から、</a:t>
            </a:r>
            <a:r>
              <a:rPr kumimoji="1" lang="en-US" altLang="ja-JP" sz="1200" dirty="0">
                <a:latin typeface="+mn-ea"/>
              </a:rPr>
              <a:t>knockoff</a:t>
            </a:r>
            <a:r>
              <a:rPr kumimoji="1" lang="ja-JP" altLang="en-US" sz="1200">
                <a:latin typeface="+mn-ea"/>
              </a:rPr>
              <a:t>変数を抽出しました。</a:t>
            </a:r>
            <a:endParaRPr kumimoji="1" lang="en-US" altLang="ja-JP" sz="1200" dirty="0">
              <a:latin typeface="+mn-ea"/>
            </a:endParaRPr>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15</a:t>
            </a:fld>
            <a:endParaRPr kumimoji="1" lang="ja-JP" altLang="en-US"/>
          </a:p>
        </p:txBody>
      </p:sp>
    </p:spTree>
    <p:extLst>
      <p:ext uri="{BB962C8B-B14F-4D97-AF65-F5344CB8AC3E}">
        <p14:creationId xmlns:p14="http://schemas.microsoft.com/office/powerpoint/2010/main" val="1092378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次に、統計量</a:t>
                </a:r>
                <a14:m>
                  <m:oMath xmlns:m="http://schemas.openxmlformats.org/officeDocument/2006/math">
                    <m:r>
                      <a:rPr kumimoji="1" lang="en-US" altLang="ja-JP" b="0" i="1" smtClean="0">
                        <a:latin typeface="Cambria Math" panose="02040503050406030204" pitchFamily="18" charset="0"/>
                      </a:rPr>
                      <m:t>𝑊</m:t>
                    </m:r>
                  </m:oMath>
                </a14:m>
                <a:r>
                  <a:rPr kumimoji="1" lang="ja-JP" altLang="en-US"/>
                  <a:t>の導出です。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n-ea"/>
                    <a:cs typeface="ヒラギノ角ゴ Pro W3"/>
                  </a:rPr>
                  <a:t>説明の便宜上、</a:t>
                </a:r>
                <a:r>
                  <a:rPr lang="en-US" altLang="ja-JP" sz="1200" dirty="0">
                    <a:solidFill>
                      <a:schemeClr val="tx1"/>
                    </a:solidFill>
                    <a:latin typeface="+mn-ea"/>
                    <a:cs typeface="ヒラギノ角ゴ Pro W3"/>
                  </a:rPr>
                  <a:t>knockoff</a:t>
                </a:r>
                <a:r>
                  <a:rPr lang="ja-JP" altLang="en-US" sz="1200">
                    <a:solidFill>
                      <a:schemeClr val="tx1"/>
                    </a:solidFill>
                    <a:latin typeface="+mn-ea"/>
                    <a:cs typeface="ヒラギノ角ゴ Pro W3"/>
                  </a:rPr>
                  <a:t>変数と区別させるため、これ以降、観測データ</a:t>
                </a:r>
                <a:r>
                  <a:rPr lang="en-US" altLang="ja-JP" sz="1200" dirty="0">
                    <a:solidFill>
                      <a:schemeClr val="tx1"/>
                    </a:solidFill>
                    <a:latin typeface="+mn-ea"/>
                    <a:cs typeface="ヒラギノ角ゴ Pro W3"/>
                  </a:rPr>
                  <a:t>X</a:t>
                </a:r>
                <a:r>
                  <a:rPr lang="ja-JP" altLang="en-US" sz="1200">
                    <a:solidFill>
                      <a:schemeClr val="tx1"/>
                    </a:solidFill>
                    <a:latin typeface="+mn-ea"/>
                    <a:cs typeface="ヒラギノ角ゴ Pro W3"/>
                  </a:rPr>
                  <a:t>をオリジナル変数と呼びます。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まず、オリジナル変数と</a:t>
                </a:r>
                <a:r>
                  <a:rPr kumimoji="1" lang="en-US" altLang="ja-JP" dirty="0"/>
                  <a:t>knockoff</a:t>
                </a:r>
                <a:r>
                  <a:rPr kumimoji="1" lang="ja-JP" altLang="en-US"/>
                  <a:t>変数を結合した</a:t>
                </a:r>
                <a14:m>
                  <m:oMath xmlns:m="http://schemas.openxmlformats.org/officeDocument/2006/math">
                    <m:r>
                      <a:rPr kumimoji="1" lang="en-US" altLang="ja-JP" sz="1200" b="0" i="1" smtClean="0">
                        <a:solidFill>
                          <a:srgbClr val="FF0000"/>
                        </a:solidFill>
                        <a:latin typeface="Cambria Math" panose="02040503050406030204" pitchFamily="18" charset="0"/>
                      </a:rPr>
                      <m:t>𝑛</m:t>
                    </m:r>
                    <m:r>
                      <a:rPr kumimoji="1" lang="en-US" altLang="ja-JP" sz="1200" b="0" i="1" smtClean="0">
                        <a:solidFill>
                          <a:srgbClr val="FF0000"/>
                        </a:solidFill>
                        <a:latin typeface="Cambria Math" panose="02040503050406030204" pitchFamily="18" charset="0"/>
                        <a:ea typeface="Cambria Math" panose="02040503050406030204" pitchFamily="18" charset="0"/>
                      </a:rPr>
                      <m:t>×2</m:t>
                    </m:r>
                    <m:r>
                      <a:rPr kumimoji="1" lang="en-US" altLang="ja-JP" sz="12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1200">
                    <a:solidFill>
                      <a:srgbClr val="FF0000"/>
                    </a:solidFill>
                  </a:rPr>
                  <a:t>行列を用いて</a:t>
                </a:r>
                <a:r>
                  <a:rPr kumimoji="1" lang="en-US" altLang="ja-JP" sz="1200" dirty="0" err="1">
                    <a:solidFill>
                      <a:srgbClr val="FF0000"/>
                    </a:solidFill>
                  </a:rPr>
                  <a:t>SCoTLASS</a:t>
                </a:r>
                <a:r>
                  <a:rPr kumimoji="1" lang="ja-JP" altLang="en-US" sz="1200">
                    <a:solidFill>
                      <a:srgbClr val="FF0000"/>
                    </a:solidFill>
                  </a:rPr>
                  <a:t>を実行し、主成分負荷量と、そのときの調整パラメータを算出します。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err="1">
                    <a:solidFill>
                      <a:srgbClr val="FF0000"/>
                    </a:solidFill>
                  </a:rPr>
                  <a:t>SCoTLASS</a:t>
                </a:r>
                <a:r>
                  <a:rPr kumimoji="1" lang="ja-JP" altLang="en-US" sz="1200">
                    <a:solidFill>
                      <a:srgbClr val="FF0000"/>
                    </a:solidFill>
                  </a:rPr>
                  <a:t>を実行して、第一主成分の主成分負荷量と、そのときの正則化パラメータを算出します。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次に、主成分負荷量の値が非ゼロとなる正則化パラメータの最小値を</a:t>
                </a:r>
                <a:r>
                  <a:rPr kumimoji="1" lang="en-US" altLang="ja-JP" sz="1200" b="0" i="0">
                    <a:solidFill>
                      <a:srgbClr val="FF0000"/>
                    </a:solidFill>
                    <a:latin typeface="Cambria Math" panose="02040503050406030204" pitchFamily="18" charset="0"/>
                  </a:rPr>
                  <a:t>𝑍,𝑍 ̃</a:t>
                </a:r>
                <a:r>
                  <a:rPr kumimoji="1" lang="ja-JP" altLang="en-US" sz="1200">
                    <a:solidFill>
                      <a:srgbClr val="FF0000"/>
                    </a:solidFill>
                  </a:rPr>
                  <a:t>にそれぞれ格納します。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そして、</a:t>
                </a:r>
                <a:r>
                  <a:rPr kumimoji="1" lang="en-US" altLang="ja-JP" sz="1200" b="0" i="0">
                    <a:solidFill>
                      <a:srgbClr val="FF0000"/>
                    </a:solidFill>
                    <a:latin typeface="Cambria Math" panose="02040503050406030204" pitchFamily="18" charset="0"/>
                  </a:rPr>
                  <a:t>𝑍,𝑍 ̃</a:t>
                </a:r>
                <a:r>
                  <a:rPr kumimoji="1" lang="ja-JP" altLang="en-US" sz="1200"/>
                  <a:t>を比較し、元の変数の正則化パラメータ</a:t>
                </a:r>
                <a:r>
                  <a:rPr kumimoji="1" lang="en-US" altLang="ja-JP" sz="1200" b="0" i="0">
                    <a:solidFill>
                      <a:srgbClr val="FF0000"/>
                    </a:solidFill>
                    <a:latin typeface="Cambria Math" panose="02040503050406030204" pitchFamily="18" charset="0"/>
                  </a:rPr>
                  <a:t>𝑍</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1/𝑍</a:t>
                </a:r>
                <a:r>
                  <a:rPr kumimoji="1" lang="ja-JP" altLang="en-US" sz="1200">
                    <a:solidFill>
                      <a:srgbClr val="FF0000"/>
                    </a:solidFill>
                  </a:rPr>
                  <a:t>に、</a:t>
                </a:r>
                <a:r>
                  <a:rPr kumimoji="1" lang="en-US" altLang="ja-JP" sz="1200" dirty="0">
                    <a:solidFill>
                      <a:schemeClr val="tx1"/>
                    </a:solidFill>
                  </a:rPr>
                  <a:t>knockoff</a:t>
                </a:r>
                <a:r>
                  <a:rPr kumimoji="1" lang="ja-JP" altLang="en-US" sz="1200"/>
                  <a:t>変数の正則化パラメータ</a:t>
                </a:r>
                <a:r>
                  <a:rPr kumimoji="1" lang="en-US" altLang="ja-JP" sz="1200" b="0" i="0">
                    <a:solidFill>
                      <a:srgbClr val="FF0000"/>
                    </a:solidFill>
                    <a:latin typeface="Cambria Math" panose="02040503050406030204" pitchFamily="18" charset="0"/>
                  </a:rPr>
                  <a:t>𝑍 ̃</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a:t>
                </a:r>
                <a:r>
                  <a:rPr lang="en-US" altLang="ja-JP" sz="1200" i="0">
                    <a:latin typeface="Cambria Math" panose="02040503050406030204" pitchFamily="18" charset="0"/>
                  </a:rPr>
                  <a:t>𝑍 ̃</a:t>
                </a:r>
                <a:r>
                  <a:rPr kumimoji="1" lang="ja-JP" altLang="en-US" sz="1200">
                    <a:solidFill>
                      <a:srgbClr val="FF0000"/>
                    </a:solidFill>
                  </a:rPr>
                  <a:t>とします。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正則化パラメータの値の大きさと主成分負荷量の値が、ゼロとなる数の関係性が線形回帰モデルと逆のため、</a:t>
                </a:r>
                <a:r>
                  <a:rPr kumimoji="1" lang="en-US" altLang="ja-JP" sz="1200" dirty="0">
                    <a:solidFill>
                      <a:srgbClr val="FF0000"/>
                    </a:solidFill>
                  </a:rPr>
                  <a:t>W</a:t>
                </a:r>
                <a:r>
                  <a:rPr kumimoji="1" lang="ja-JP" altLang="en-US" sz="1200">
                    <a:solidFill>
                      <a:srgbClr val="FF0000"/>
                    </a:solidFill>
                  </a:rPr>
                  <a:t>に</a:t>
                </a:r>
                <a:r>
                  <a:rPr kumimoji="1" lang="en-US" altLang="ja-JP" sz="1200" dirty="0">
                    <a:solidFill>
                      <a:srgbClr val="FF0000"/>
                    </a:solidFill>
                  </a:rPr>
                  <a:t>Z</a:t>
                </a:r>
                <a:r>
                  <a:rPr kumimoji="1" lang="ja-JP" altLang="en-US" sz="1200">
                    <a:solidFill>
                      <a:srgbClr val="FF0000"/>
                    </a:solidFill>
                  </a:rPr>
                  <a:t>の逆数を格納することにより、手順</a:t>
                </a:r>
                <a:r>
                  <a:rPr kumimoji="1" lang="en-US" altLang="ja-JP" sz="1200" dirty="0">
                    <a:solidFill>
                      <a:srgbClr val="FF0000"/>
                    </a:solidFill>
                  </a:rPr>
                  <a:t>3</a:t>
                </a:r>
                <a:r>
                  <a:rPr kumimoji="1" lang="ja-JP" altLang="en-US" sz="1200">
                    <a:solidFill>
                      <a:srgbClr val="FF0000"/>
                    </a:solidFill>
                  </a:rPr>
                  <a:t>以降は先行研究と同様にすることができます。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16</a:t>
            </a:fld>
            <a:endParaRPr kumimoji="1" lang="ja-JP" altLang="en-US"/>
          </a:p>
        </p:txBody>
      </p:sp>
    </p:spTree>
    <p:extLst>
      <p:ext uri="{BB962C8B-B14F-4D97-AF65-F5344CB8AC3E}">
        <p14:creationId xmlns:p14="http://schemas.microsoft.com/office/powerpoint/2010/main" val="2905678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5856-EAB1-6C19-89DD-2138B79C7C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16FC7F-113A-D95A-A184-2C4FA59DA54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C1446722-AC74-50FE-7AEA-0AC0A90D993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次に、主成分負荷量の値が非ゼロとなる調整パラメータの最小値を</a:t>
                </a:r>
                <a14:m>
                  <m:oMath xmlns:m="http://schemas.openxmlformats.org/officeDocument/2006/math">
                    <m:r>
                      <a:rPr kumimoji="1" lang="en-US" altLang="ja-JP" sz="1200" b="0" i="1" smtClean="0">
                        <a:solidFill>
                          <a:srgbClr val="FF0000"/>
                        </a:solidFill>
                        <a:latin typeface="Cambria Math" panose="02040503050406030204" pitchFamily="18" charset="0"/>
                      </a:rPr>
                      <m:t>𝑍</m:t>
                    </m:r>
                    <m:r>
                      <a:rPr kumimoji="1" lang="en-US" altLang="ja-JP" sz="1200" b="0" i="1" smtClean="0">
                        <a:solidFill>
                          <a:srgbClr val="FF0000"/>
                        </a:solidFill>
                        <a:latin typeface="Cambria Math" panose="02040503050406030204" pitchFamily="18" charset="0"/>
                      </a:rPr>
                      <m:t>,</m:t>
                    </m:r>
                    <m:acc>
                      <m:accPr>
                        <m:chr m:val="̃"/>
                        <m:ctrlPr>
                          <a:rPr kumimoji="1" lang="en-US" altLang="ja-JP" sz="1200" b="0" i="1" smtClean="0">
                            <a:solidFill>
                              <a:srgbClr val="FF0000"/>
                            </a:solidFill>
                            <a:latin typeface="Cambria Math" panose="02040503050406030204" pitchFamily="18" charset="0"/>
                          </a:rPr>
                        </m:ctrlPr>
                      </m:accPr>
                      <m:e>
                        <m:r>
                          <a:rPr kumimoji="1" lang="en-US" altLang="ja-JP" sz="1200" b="0" i="1" smtClean="0">
                            <a:solidFill>
                              <a:srgbClr val="FF0000"/>
                            </a:solidFill>
                            <a:latin typeface="Cambria Math" panose="02040503050406030204" pitchFamily="18" charset="0"/>
                          </a:rPr>
                          <m:t>𝑍</m:t>
                        </m:r>
                      </m:e>
                    </m:acc>
                  </m:oMath>
                </a14:m>
                <a:r>
                  <a:rPr kumimoji="1" lang="ja-JP" altLang="en-US" sz="1200">
                    <a:solidFill>
                      <a:srgbClr val="FF0000"/>
                    </a:solidFill>
                  </a:rPr>
                  <a:t>にそれぞれ格納します。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err="1">
                    <a:solidFill>
                      <a:srgbClr val="FF0000"/>
                    </a:solidFill>
                  </a:rPr>
                  <a:t>SCoTLASS</a:t>
                </a:r>
                <a:r>
                  <a:rPr kumimoji="1" lang="ja-JP" altLang="en-US" sz="1200">
                    <a:solidFill>
                      <a:srgbClr val="FF0000"/>
                    </a:solidFill>
                  </a:rPr>
                  <a:t>を実行して、第一主成分の主成分負荷量と、そのときの正則化パラメータを算出します。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次に、主成分負荷量の値が非ゼロとなる正則化パラメータの最小値を</a:t>
                </a:r>
                <a:r>
                  <a:rPr kumimoji="1" lang="en-US" altLang="ja-JP" sz="1200" b="0" i="0">
                    <a:solidFill>
                      <a:srgbClr val="FF0000"/>
                    </a:solidFill>
                    <a:latin typeface="Cambria Math" panose="02040503050406030204" pitchFamily="18" charset="0"/>
                  </a:rPr>
                  <a:t>𝑍,𝑍 ̃</a:t>
                </a:r>
                <a:r>
                  <a:rPr kumimoji="1" lang="ja-JP" altLang="en-US" sz="1200">
                    <a:solidFill>
                      <a:srgbClr val="FF0000"/>
                    </a:solidFill>
                  </a:rPr>
                  <a:t>にそれぞれ格納します。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そして、</a:t>
                </a:r>
                <a:r>
                  <a:rPr kumimoji="1" lang="en-US" altLang="ja-JP" sz="1200" b="0" i="0">
                    <a:solidFill>
                      <a:srgbClr val="FF0000"/>
                    </a:solidFill>
                    <a:latin typeface="Cambria Math" panose="02040503050406030204" pitchFamily="18" charset="0"/>
                  </a:rPr>
                  <a:t>𝑍,𝑍 ̃</a:t>
                </a:r>
                <a:r>
                  <a:rPr kumimoji="1" lang="ja-JP" altLang="en-US" sz="1200"/>
                  <a:t>を比較し、元の変数の正則化パラメータ</a:t>
                </a:r>
                <a:r>
                  <a:rPr kumimoji="1" lang="en-US" altLang="ja-JP" sz="1200" b="0" i="0">
                    <a:solidFill>
                      <a:srgbClr val="FF0000"/>
                    </a:solidFill>
                    <a:latin typeface="Cambria Math" panose="02040503050406030204" pitchFamily="18" charset="0"/>
                  </a:rPr>
                  <a:t>𝑍</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1/𝑍</a:t>
                </a:r>
                <a:r>
                  <a:rPr kumimoji="1" lang="ja-JP" altLang="en-US" sz="1200">
                    <a:solidFill>
                      <a:srgbClr val="FF0000"/>
                    </a:solidFill>
                  </a:rPr>
                  <a:t>に、</a:t>
                </a:r>
                <a:r>
                  <a:rPr kumimoji="1" lang="en-US" altLang="ja-JP" sz="1200" dirty="0">
                    <a:solidFill>
                      <a:schemeClr val="tx1"/>
                    </a:solidFill>
                  </a:rPr>
                  <a:t>knockoff</a:t>
                </a:r>
                <a:r>
                  <a:rPr kumimoji="1" lang="ja-JP" altLang="en-US" sz="1200"/>
                  <a:t>変数の正則化パラメータ</a:t>
                </a:r>
                <a:r>
                  <a:rPr kumimoji="1" lang="en-US" altLang="ja-JP" sz="1200" b="0" i="0">
                    <a:solidFill>
                      <a:srgbClr val="FF0000"/>
                    </a:solidFill>
                    <a:latin typeface="Cambria Math" panose="02040503050406030204" pitchFamily="18" charset="0"/>
                  </a:rPr>
                  <a:t>𝑍 ̃</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a:t>
                </a:r>
                <a:r>
                  <a:rPr lang="en-US" altLang="ja-JP" sz="1200" i="0">
                    <a:latin typeface="Cambria Math" panose="02040503050406030204" pitchFamily="18" charset="0"/>
                  </a:rPr>
                  <a:t>𝑍 ̃</a:t>
                </a:r>
                <a:r>
                  <a:rPr kumimoji="1" lang="ja-JP" altLang="en-US" sz="1200">
                    <a:solidFill>
                      <a:srgbClr val="FF0000"/>
                    </a:solidFill>
                  </a:rPr>
                  <a:t>とします。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正則化パラメータの値の大きさと主成分負荷量の値が、ゼロとなる数の関係性が線形回帰モデルと逆のため、</a:t>
                </a:r>
                <a:r>
                  <a:rPr kumimoji="1" lang="en-US" altLang="ja-JP" sz="1200" dirty="0">
                    <a:solidFill>
                      <a:srgbClr val="FF0000"/>
                    </a:solidFill>
                  </a:rPr>
                  <a:t>W</a:t>
                </a:r>
                <a:r>
                  <a:rPr kumimoji="1" lang="ja-JP" altLang="en-US" sz="1200">
                    <a:solidFill>
                      <a:srgbClr val="FF0000"/>
                    </a:solidFill>
                  </a:rPr>
                  <a:t>に</a:t>
                </a:r>
                <a:r>
                  <a:rPr kumimoji="1" lang="en-US" altLang="ja-JP" sz="1200" dirty="0">
                    <a:solidFill>
                      <a:srgbClr val="FF0000"/>
                    </a:solidFill>
                  </a:rPr>
                  <a:t>Z</a:t>
                </a:r>
                <a:r>
                  <a:rPr kumimoji="1" lang="ja-JP" altLang="en-US" sz="1200">
                    <a:solidFill>
                      <a:srgbClr val="FF0000"/>
                    </a:solidFill>
                  </a:rPr>
                  <a:t>の逆数を格納することにより、手順</a:t>
                </a:r>
                <a:r>
                  <a:rPr kumimoji="1" lang="en-US" altLang="ja-JP" sz="1200" dirty="0">
                    <a:solidFill>
                      <a:srgbClr val="FF0000"/>
                    </a:solidFill>
                  </a:rPr>
                  <a:t>3</a:t>
                </a:r>
                <a:r>
                  <a:rPr kumimoji="1" lang="ja-JP" altLang="en-US" sz="1200">
                    <a:solidFill>
                      <a:srgbClr val="FF0000"/>
                    </a:solidFill>
                  </a:rPr>
                  <a:t>以降は先行研究と同様にすることができます。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Fallback>
      </mc:AlternateContent>
      <p:sp>
        <p:nvSpPr>
          <p:cNvPr id="4" name="スライド番号プレースホルダー 3">
            <a:extLst>
              <a:ext uri="{FF2B5EF4-FFF2-40B4-BE49-F238E27FC236}">
                <a16:creationId xmlns:a16="http://schemas.microsoft.com/office/drawing/2014/main" id="{BA36D366-854F-8E9E-C7E4-B774978CDBEE}"/>
              </a:ext>
            </a:extLst>
          </p:cNvPr>
          <p:cNvSpPr>
            <a:spLocks noGrp="1"/>
          </p:cNvSpPr>
          <p:nvPr>
            <p:ph type="sldNum" sz="quarter" idx="5"/>
          </p:nvPr>
        </p:nvSpPr>
        <p:spPr/>
        <p:txBody>
          <a:bodyPr/>
          <a:lstStyle/>
          <a:p>
            <a:fld id="{C3AA1469-922B-5243-9CFC-ED99F2A55A38}" type="slidenum">
              <a:rPr kumimoji="1" lang="ja-JP" altLang="en-US" smtClean="0"/>
              <a:t>17</a:t>
            </a:fld>
            <a:endParaRPr kumimoji="1" lang="ja-JP" altLang="en-US"/>
          </a:p>
        </p:txBody>
      </p:sp>
    </p:spTree>
    <p:extLst>
      <p:ext uri="{BB962C8B-B14F-4D97-AF65-F5344CB8AC3E}">
        <p14:creationId xmlns:p14="http://schemas.microsoft.com/office/powerpoint/2010/main" val="671261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29F6C-2CCB-7832-C823-5BB82637D1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B441FA-D5C7-DAAC-6121-BBC23375BF5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14750C8B-4655-F19D-794C-6A250F4A5D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このようにオリジナル変数と</a:t>
                </a:r>
                <a:r>
                  <a:rPr kumimoji="1" lang="en-US" altLang="ja-JP" sz="1200" dirty="0">
                    <a:solidFill>
                      <a:srgbClr val="FF0000"/>
                    </a:solidFill>
                  </a:rPr>
                  <a:t>knockoff</a:t>
                </a:r>
                <a:r>
                  <a:rPr kumimoji="1" lang="ja-JP" altLang="en-US" sz="1200">
                    <a:solidFill>
                      <a:srgbClr val="FF0000"/>
                    </a:solidFill>
                  </a:rPr>
                  <a:t>変数を合わせた形で</a:t>
                </a:r>
                <a:r>
                  <a:rPr kumimoji="1" lang="en-US" altLang="ja-JP" sz="1200" dirty="0" err="1">
                    <a:solidFill>
                      <a:srgbClr val="FF0000"/>
                    </a:solidFill>
                  </a:rPr>
                  <a:t>SCoTLASS</a:t>
                </a:r>
                <a:r>
                  <a:rPr kumimoji="1" lang="ja-JP" altLang="en-US" sz="1200">
                    <a:solidFill>
                      <a:srgbClr val="FF0000"/>
                    </a:solidFill>
                  </a:rPr>
                  <a:t>実行した結果、</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r>
                  <a:rPr lang="ja-JP" altLang="en-US" sz="1200"/>
                  <a:t>・オリジナル変数</a:t>
                </a:r>
                <a:r>
                  <a:rPr kumimoji="1" lang="ja-JP" altLang="en-US" sz="1200"/>
                  <a:t>が主成分に寄与するとき、すなわち真の主成分負荷量の値が非ゼロであるときは</a:t>
                </a:r>
                <a:endParaRPr kumimoji="1" lang="en-US" altLang="ja-JP" sz="1200" dirty="0"/>
              </a:p>
              <a:p>
                <a:r>
                  <a:rPr lang="ja-JP" altLang="en-US" sz="1200"/>
                  <a:t>　→</a:t>
                </a:r>
                <a:r>
                  <a:rPr lang="en-US" altLang="ja-JP" sz="1200" dirty="0"/>
                  <a:t>Z</a:t>
                </a:r>
                <a14:m>
                  <m:oMath xmlns:m="http://schemas.openxmlformats.org/officeDocument/2006/math">
                    <m:r>
                      <a:rPr lang="en-US" altLang="ja-JP" sz="1200" b="0" i="1" smtClean="0">
                        <a:solidFill>
                          <a:srgbClr val="FF0000"/>
                        </a:solidFill>
                        <a:latin typeface="Cambria Math" panose="02040503050406030204" pitchFamily="18" charset="0"/>
                      </a:rPr>
                      <m:t>&gt;</m:t>
                    </m:r>
                    <m:acc>
                      <m:accPr>
                        <m:chr m:val="̃"/>
                        <m:ctrlPr>
                          <a:rPr lang="en-US" altLang="ja-JP" sz="1200" b="0" i="1" smtClean="0">
                            <a:solidFill>
                              <a:srgbClr val="FF0000"/>
                            </a:solidFill>
                            <a:latin typeface="Cambria Math" panose="02040503050406030204" pitchFamily="18" charset="0"/>
                          </a:rPr>
                        </m:ctrlPr>
                      </m:accPr>
                      <m:e>
                        <m:r>
                          <a:rPr lang="en-US" altLang="ja-JP" sz="1200" b="0" i="1" smtClean="0">
                            <a:solidFill>
                              <a:srgbClr val="FF0000"/>
                            </a:solidFill>
                            <a:latin typeface="Cambria Math" panose="02040503050406030204" pitchFamily="18" charset="0"/>
                          </a:rPr>
                          <m:t>𝑍</m:t>
                        </m:r>
                      </m:e>
                    </m:acc>
                  </m:oMath>
                </a14:m>
                <a:endParaRPr kumimoji="1"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・オリジナル変数が</a:t>
                </a:r>
                <a:r>
                  <a:rPr kumimoji="1" lang="ja-JP" altLang="en-US" sz="1200"/>
                  <a:t>主成分に寄与しないとき、すなわち真の回帰係数の値がゼロであるときは</a:t>
                </a:r>
                <a:endParaRPr kumimoji="1" lang="en-US" altLang="ja-JP" sz="1200" dirty="0"/>
              </a:p>
              <a:p>
                <a:r>
                  <a:rPr kumimoji="1" lang="ja-JP" altLang="en-US" sz="1200">
                    <a:latin typeface="+mn-ea"/>
                  </a:rPr>
                  <a:t>　</a:t>
                </a:r>
                <a:r>
                  <a:rPr lang="ja-JP" altLang="en-US" sz="1200"/>
                  <a:t>→</a:t>
                </a:r>
                <a:r>
                  <a:rPr lang="en-US" altLang="ja-JP" sz="1200" dirty="0"/>
                  <a:t>Z</a:t>
                </a:r>
                <a14:m>
                  <m:oMath xmlns:m="http://schemas.openxmlformats.org/officeDocument/2006/math">
                    <m:r>
                      <a:rPr lang="en-US" altLang="ja-JP" sz="1200" b="0" i="1" smtClean="0">
                        <a:solidFill>
                          <a:srgbClr val="FF0000"/>
                        </a:solidFill>
                        <a:latin typeface="Cambria Math" panose="02040503050406030204" pitchFamily="18" charset="0"/>
                      </a:rPr>
                      <m:t>&gt;</m:t>
                    </m:r>
                    <m:acc>
                      <m:accPr>
                        <m:chr m:val="̃"/>
                        <m:ctrlPr>
                          <a:rPr lang="en-US" altLang="ja-JP" sz="1200" b="0" i="1" smtClean="0">
                            <a:solidFill>
                              <a:srgbClr val="FF0000"/>
                            </a:solidFill>
                            <a:latin typeface="Cambria Math" panose="02040503050406030204" pitchFamily="18" charset="0"/>
                          </a:rPr>
                        </m:ctrlPr>
                      </m:accPr>
                      <m:e>
                        <m:r>
                          <a:rPr lang="en-US" altLang="ja-JP" sz="1200" b="0" i="1" smtClean="0">
                            <a:solidFill>
                              <a:srgbClr val="FF0000"/>
                            </a:solidFill>
                            <a:latin typeface="Cambria Math" panose="02040503050406030204" pitchFamily="18" charset="0"/>
                          </a:rPr>
                          <m:t>𝑍</m:t>
                        </m:r>
                      </m:e>
                    </m:acc>
                  </m:oMath>
                </a14:m>
                <a:r>
                  <a:rPr kumimoji="1" lang="ja-JP" altLang="en-US" sz="1200">
                    <a:solidFill>
                      <a:srgbClr val="FF0000"/>
                    </a:solidFill>
                    <a:latin typeface="+mn-ea"/>
                  </a:rPr>
                  <a:t>または</a:t>
                </a:r>
                <a:r>
                  <a:rPr lang="en-US" altLang="ja-JP" sz="1200" dirty="0">
                    <a:solidFill>
                      <a:srgbClr val="FF0000"/>
                    </a:solidFill>
                  </a:rPr>
                  <a:t> </a:t>
                </a:r>
                <a:r>
                  <a:rPr lang="en-US" altLang="ja-JP" sz="1200" dirty="0"/>
                  <a:t>Z</a:t>
                </a:r>
                <a14:m>
                  <m:oMath xmlns:m="http://schemas.openxmlformats.org/officeDocument/2006/math">
                    <m:r>
                      <a:rPr lang="en-US" altLang="ja-JP" sz="1200" b="0" i="1" smtClean="0">
                        <a:solidFill>
                          <a:srgbClr val="FF0000"/>
                        </a:solidFill>
                        <a:latin typeface="Cambria Math" panose="02040503050406030204" pitchFamily="18" charset="0"/>
                      </a:rPr>
                      <m:t>&lt;</m:t>
                    </m:r>
                    <m:acc>
                      <m:accPr>
                        <m:chr m:val="̃"/>
                        <m:ctrlPr>
                          <a:rPr lang="en-US" altLang="ja-JP" sz="1200" b="0" i="1" smtClean="0">
                            <a:solidFill>
                              <a:srgbClr val="FF0000"/>
                            </a:solidFill>
                            <a:latin typeface="Cambria Math" panose="02040503050406030204" pitchFamily="18" charset="0"/>
                          </a:rPr>
                        </m:ctrlPr>
                      </m:accPr>
                      <m:e>
                        <m:r>
                          <a:rPr lang="en-US" altLang="ja-JP" sz="1200" b="0" i="1" smtClean="0">
                            <a:solidFill>
                              <a:srgbClr val="FF0000"/>
                            </a:solidFill>
                            <a:latin typeface="Cambria Math" panose="02040503050406030204" pitchFamily="18" charset="0"/>
                          </a:rPr>
                          <m:t>𝑍</m:t>
                        </m:r>
                      </m:e>
                    </m:acc>
                  </m:oMath>
                </a14:m>
                <a:r>
                  <a:rPr kumimoji="1" lang="ja-JP" altLang="en-US" sz="1200">
                    <a:solidFill>
                      <a:srgbClr val="FF0000"/>
                    </a:solidFill>
                    <a:latin typeface="+mn-ea"/>
                  </a:rPr>
                  <a:t>が等確率で起こります。</a:t>
                </a:r>
                <a:endParaRPr kumimoji="1" lang="en-US" altLang="ja-JP" sz="1200" dirty="0">
                  <a:solidFill>
                    <a:srgbClr val="FF0000"/>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sng">
                    <a:solidFill>
                      <a:srgbClr val="FF0000"/>
                    </a:solidFill>
                  </a:rPr>
                  <a:t>このように、調整パラメータの大小関係で、主成分と主成分負荷量の関係性を表現することができます。</a:t>
                </a:r>
                <a:endParaRPr kumimoji="1" lang="en-US" altLang="ja-JP" sz="1200" u="sng"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sng"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u="none" dirty="0">
                    <a:solidFill>
                      <a:srgbClr val="FF0000"/>
                    </a:solidFill>
                  </a:rPr>
                  <a:t>((</a:t>
                </a:r>
                <a:r>
                  <a:rPr lang="en-US" altLang="ja-JP" u="none" dirty="0" err="1">
                    <a:effectLst/>
                    <a:latin typeface="Helvetica" pitchFamily="2" charset="0"/>
                  </a:rPr>
                  <a:t>vkj</a:t>
                </a:r>
                <a:r>
                  <a:rPr lang="en-US" altLang="ja-JP" u="none" dirty="0">
                    <a:effectLst/>
                    <a:latin typeface="Helvetica" pitchFamily="2" charset="0"/>
                  </a:rPr>
                  <a:t> </a:t>
                </a:r>
                <a:r>
                  <a:rPr lang="ja-JP" altLang="en-US" u="none">
                    <a:effectLst/>
                    <a:latin typeface="Helvetica" pitchFamily="2" charset="0"/>
                  </a:rPr>
                  <a:t>が優先的に選択される</a:t>
                </a:r>
                <a:r>
                  <a:rPr lang="ja-JP" altLang="en-US">
                    <a:effectLst/>
                    <a:latin typeface="Helvetica" pitchFamily="2" charset="0"/>
                  </a:rPr>
                  <a:t>ので</a:t>
                </a:r>
                <a:r>
                  <a:rPr lang="en-US" altLang="ja-JP" dirty="0">
                    <a:effectLst/>
                    <a:latin typeface="Helvetica" pitchFamily="2" charset="0"/>
                  </a:rPr>
                  <a:t>))</a:t>
                </a:r>
                <a:endParaRPr lang="ja-JP" altLang="en-US">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sng"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err="1">
                    <a:solidFill>
                      <a:srgbClr val="FF0000"/>
                    </a:solidFill>
                  </a:rPr>
                  <a:t>SCoTLASS</a:t>
                </a:r>
                <a:r>
                  <a:rPr kumimoji="1" lang="ja-JP" altLang="en-US" sz="1200">
                    <a:solidFill>
                      <a:srgbClr val="FF0000"/>
                    </a:solidFill>
                  </a:rPr>
                  <a:t>を実行して、第一主成分の主成分負荷量と、そのときの正則化パラメータを算出します。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次に、主成分負荷量の値が非ゼロとなる正則化パラメータの最小値を</a:t>
                </a:r>
                <a:r>
                  <a:rPr kumimoji="1" lang="en-US" altLang="ja-JP" sz="1200" b="0" i="0">
                    <a:solidFill>
                      <a:srgbClr val="FF0000"/>
                    </a:solidFill>
                    <a:latin typeface="Cambria Math" panose="02040503050406030204" pitchFamily="18" charset="0"/>
                  </a:rPr>
                  <a:t>𝑍,𝑍 ̃</a:t>
                </a:r>
                <a:r>
                  <a:rPr kumimoji="1" lang="ja-JP" altLang="en-US" sz="1200">
                    <a:solidFill>
                      <a:srgbClr val="FF0000"/>
                    </a:solidFill>
                  </a:rPr>
                  <a:t>にそれぞれ格納します。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そして、</a:t>
                </a:r>
                <a:r>
                  <a:rPr kumimoji="1" lang="en-US" altLang="ja-JP" sz="1200" b="0" i="0">
                    <a:solidFill>
                      <a:srgbClr val="FF0000"/>
                    </a:solidFill>
                    <a:latin typeface="Cambria Math" panose="02040503050406030204" pitchFamily="18" charset="0"/>
                  </a:rPr>
                  <a:t>𝑍,𝑍 ̃</a:t>
                </a:r>
                <a:r>
                  <a:rPr kumimoji="1" lang="ja-JP" altLang="en-US" sz="1200"/>
                  <a:t>を比較し、元の変数の正則化パラメータ</a:t>
                </a:r>
                <a:r>
                  <a:rPr kumimoji="1" lang="en-US" altLang="ja-JP" sz="1200" b="0" i="0">
                    <a:solidFill>
                      <a:srgbClr val="FF0000"/>
                    </a:solidFill>
                    <a:latin typeface="Cambria Math" panose="02040503050406030204" pitchFamily="18" charset="0"/>
                  </a:rPr>
                  <a:t>𝑍</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1/𝑍</a:t>
                </a:r>
                <a:r>
                  <a:rPr kumimoji="1" lang="ja-JP" altLang="en-US" sz="1200">
                    <a:solidFill>
                      <a:srgbClr val="FF0000"/>
                    </a:solidFill>
                  </a:rPr>
                  <a:t>に、</a:t>
                </a:r>
                <a:r>
                  <a:rPr kumimoji="1" lang="en-US" altLang="ja-JP" sz="1200" dirty="0">
                    <a:solidFill>
                      <a:schemeClr val="tx1"/>
                    </a:solidFill>
                  </a:rPr>
                  <a:t>knockoff</a:t>
                </a:r>
                <a:r>
                  <a:rPr kumimoji="1" lang="ja-JP" altLang="en-US" sz="1200"/>
                  <a:t>変数の正則化パラメータ</a:t>
                </a:r>
                <a:r>
                  <a:rPr kumimoji="1" lang="en-US" altLang="ja-JP" sz="1200" b="0" i="0">
                    <a:solidFill>
                      <a:srgbClr val="FF0000"/>
                    </a:solidFill>
                    <a:latin typeface="Cambria Math" panose="02040503050406030204" pitchFamily="18" charset="0"/>
                  </a:rPr>
                  <a:t>𝑍 ̃</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a:t>
                </a:r>
                <a:r>
                  <a:rPr lang="en-US" altLang="ja-JP" sz="1200" i="0">
                    <a:latin typeface="Cambria Math" panose="02040503050406030204" pitchFamily="18" charset="0"/>
                  </a:rPr>
                  <a:t>𝑍 ̃</a:t>
                </a:r>
                <a:r>
                  <a:rPr kumimoji="1" lang="ja-JP" altLang="en-US" sz="1200">
                    <a:solidFill>
                      <a:srgbClr val="FF0000"/>
                    </a:solidFill>
                  </a:rPr>
                  <a:t>とします。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正則化パラメータの値の大きさと主成分負荷量の値が、ゼロとなる数の関係性が線形回帰モデルと逆のため、</a:t>
                </a:r>
                <a:r>
                  <a:rPr kumimoji="1" lang="en-US" altLang="ja-JP" sz="1200" dirty="0">
                    <a:solidFill>
                      <a:srgbClr val="FF0000"/>
                    </a:solidFill>
                  </a:rPr>
                  <a:t>W</a:t>
                </a:r>
                <a:r>
                  <a:rPr kumimoji="1" lang="ja-JP" altLang="en-US" sz="1200">
                    <a:solidFill>
                      <a:srgbClr val="FF0000"/>
                    </a:solidFill>
                  </a:rPr>
                  <a:t>に</a:t>
                </a:r>
                <a:r>
                  <a:rPr kumimoji="1" lang="en-US" altLang="ja-JP" sz="1200" dirty="0">
                    <a:solidFill>
                      <a:srgbClr val="FF0000"/>
                    </a:solidFill>
                  </a:rPr>
                  <a:t>Z</a:t>
                </a:r>
                <a:r>
                  <a:rPr kumimoji="1" lang="ja-JP" altLang="en-US" sz="1200">
                    <a:solidFill>
                      <a:srgbClr val="FF0000"/>
                    </a:solidFill>
                  </a:rPr>
                  <a:t>の逆数を格納することにより、手順</a:t>
                </a:r>
                <a:r>
                  <a:rPr kumimoji="1" lang="en-US" altLang="ja-JP" sz="1200" dirty="0">
                    <a:solidFill>
                      <a:srgbClr val="FF0000"/>
                    </a:solidFill>
                  </a:rPr>
                  <a:t>3</a:t>
                </a:r>
                <a:r>
                  <a:rPr kumimoji="1" lang="ja-JP" altLang="en-US" sz="1200">
                    <a:solidFill>
                      <a:srgbClr val="FF0000"/>
                    </a:solidFill>
                  </a:rPr>
                  <a:t>以降は先行研究と同様にすることができます。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Fallback>
      </mc:AlternateContent>
      <p:sp>
        <p:nvSpPr>
          <p:cNvPr id="4" name="スライド番号プレースホルダー 3">
            <a:extLst>
              <a:ext uri="{FF2B5EF4-FFF2-40B4-BE49-F238E27FC236}">
                <a16:creationId xmlns:a16="http://schemas.microsoft.com/office/drawing/2014/main" id="{8FA5C677-9290-40E9-025C-FCA907802D95}"/>
              </a:ext>
            </a:extLst>
          </p:cNvPr>
          <p:cNvSpPr>
            <a:spLocks noGrp="1"/>
          </p:cNvSpPr>
          <p:nvPr>
            <p:ph type="sldNum" sz="quarter" idx="5"/>
          </p:nvPr>
        </p:nvSpPr>
        <p:spPr/>
        <p:txBody>
          <a:bodyPr/>
          <a:lstStyle/>
          <a:p>
            <a:fld id="{C3AA1469-922B-5243-9CFC-ED99F2A55A38}" type="slidenum">
              <a:rPr kumimoji="1" lang="ja-JP" altLang="en-US" smtClean="0"/>
              <a:t>18</a:t>
            </a:fld>
            <a:endParaRPr kumimoji="1" lang="ja-JP" altLang="en-US"/>
          </a:p>
        </p:txBody>
      </p:sp>
    </p:spTree>
    <p:extLst>
      <p:ext uri="{BB962C8B-B14F-4D97-AF65-F5344CB8AC3E}">
        <p14:creationId xmlns:p14="http://schemas.microsoft.com/office/powerpoint/2010/main" val="263777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54EB6-7A44-2E62-A312-C08311ADD4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72AD5B-0FB3-254C-5D28-ADA8D45DB81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B3F59BBE-6074-2475-817A-41387FCB14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rgbClr val="FF0000"/>
                    </a:solidFill>
                  </a:rPr>
                  <a:t>最後に先ほどの場合分けを</a:t>
                </a:r>
                <a:r>
                  <a:rPr kumimoji="1" lang="en-US" altLang="ja-JP" sz="1200" b="0" dirty="0">
                    <a:solidFill>
                      <a:srgbClr val="FF0000"/>
                    </a:solidFill>
                  </a:rPr>
                  <a:t>W</a:t>
                </a:r>
                <a:r>
                  <a:rPr kumimoji="1" lang="ja-JP" altLang="en-US" sz="1200" b="0">
                    <a:solidFill>
                      <a:srgbClr val="FF0000"/>
                    </a:solidFill>
                  </a:rPr>
                  <a:t>で表します。</a:t>
                </a:r>
                <a:endParaRPr kumimoji="1" lang="en-US" altLang="ja-JP" sz="1200" b="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1" lang="en-US" altLang="ja-JP" sz="1200" b="0" i="1" smtClean="0">
                        <a:solidFill>
                          <a:srgbClr val="FF0000"/>
                        </a:solidFill>
                        <a:latin typeface="Cambria Math" panose="02040503050406030204" pitchFamily="18" charset="0"/>
                      </a:rPr>
                      <m:t>𝑍</m:t>
                    </m:r>
                    <m:r>
                      <a:rPr kumimoji="1" lang="en-US" altLang="ja-JP" sz="1200" b="0" i="1" smtClean="0">
                        <a:solidFill>
                          <a:srgbClr val="FF0000"/>
                        </a:solidFill>
                        <a:latin typeface="Cambria Math" panose="02040503050406030204" pitchFamily="18" charset="0"/>
                      </a:rPr>
                      <m:t>,</m:t>
                    </m:r>
                    <m:acc>
                      <m:accPr>
                        <m:chr m:val="̃"/>
                        <m:ctrlPr>
                          <a:rPr kumimoji="1" lang="en-US" altLang="ja-JP" sz="1200" b="0" i="1" smtClean="0">
                            <a:solidFill>
                              <a:srgbClr val="FF0000"/>
                            </a:solidFill>
                            <a:latin typeface="Cambria Math" panose="02040503050406030204" pitchFamily="18" charset="0"/>
                          </a:rPr>
                        </m:ctrlPr>
                      </m:accPr>
                      <m:e>
                        <m:r>
                          <a:rPr kumimoji="1" lang="en-US" altLang="ja-JP" sz="1200" b="0" i="1" smtClean="0">
                            <a:solidFill>
                              <a:srgbClr val="FF0000"/>
                            </a:solidFill>
                            <a:latin typeface="Cambria Math" panose="02040503050406030204" pitchFamily="18" charset="0"/>
                          </a:rPr>
                          <m:t>𝑍</m:t>
                        </m:r>
                      </m:e>
                    </m:acc>
                  </m:oMath>
                </a14:m>
                <a:r>
                  <a:rPr kumimoji="1" lang="ja-JP" altLang="en-US" sz="1200"/>
                  <a:t>を比較し、</a:t>
                </a:r>
                <a14:m>
                  <m:oMath xmlns:m="http://schemas.openxmlformats.org/officeDocument/2006/math">
                    <m:r>
                      <a:rPr kumimoji="1" lang="en-US" altLang="ja-JP" sz="1200" b="0" i="1" smtClean="0">
                        <a:solidFill>
                          <a:srgbClr val="FF0000"/>
                        </a:solidFill>
                        <a:latin typeface="Cambria Math" panose="02040503050406030204" pitchFamily="18" charset="0"/>
                      </a:rPr>
                      <m:t>𝑍</m:t>
                    </m:r>
                  </m:oMath>
                </a14:m>
                <a:r>
                  <a:rPr kumimoji="1" lang="ja-JP" altLang="en-US" sz="1200"/>
                  <a:t>の値が小さい場合は</a:t>
                </a:r>
                <a14:m>
                  <m:oMath xmlns:m="http://schemas.openxmlformats.org/officeDocument/2006/math">
                    <m:r>
                      <a:rPr kumimoji="1" lang="en-US" altLang="ja-JP" sz="1200" b="0" i="1" smtClean="0">
                        <a:latin typeface="Cambria Math" panose="02040503050406030204" pitchFamily="18" charset="0"/>
                        <a:cs typeface="ヒラギノ角ゴ Pro W3"/>
                      </a:rPr>
                      <m:t>𝑊</m:t>
                    </m:r>
                    <m:r>
                      <a:rPr kumimoji="1" lang="ja-JP" altLang="en-US" sz="1200" b="0" i="1" smtClean="0">
                        <a:latin typeface="Cambria Math" panose="02040503050406030204" pitchFamily="18" charset="0"/>
                        <a:cs typeface="ヒラギノ角ゴ Pro W3"/>
                      </a:rPr>
                      <m:t>を</m:t>
                    </m:r>
                    <m:r>
                      <a:rPr kumimoji="1" lang="en-US" altLang="ja-JP" sz="1200" b="0" i="1" smtClean="0">
                        <a:latin typeface="Cambria Math" panose="02040503050406030204" pitchFamily="18" charset="0"/>
                        <a:cs typeface="ヒラギノ角ゴ Pro W3"/>
                      </a:rPr>
                      <m:t>𝑍</m:t>
                    </m:r>
                  </m:oMath>
                </a14:m>
                <a:r>
                  <a:rPr kumimoji="1" lang="ja-JP" altLang="en-US" sz="1200">
                    <a:solidFill>
                      <a:srgbClr val="FF0000"/>
                    </a:solidFill>
                  </a:rPr>
                  <a:t>に、</a:t>
                </a:r>
                <a14:m>
                  <m:oMath xmlns:m="http://schemas.openxmlformats.org/officeDocument/2006/math">
                    <m:acc>
                      <m:accPr>
                        <m:chr m:val="̃"/>
                        <m:ctrlPr>
                          <a:rPr kumimoji="1" lang="en-US" altLang="ja-JP" sz="1200" b="0" i="1" smtClean="0">
                            <a:solidFill>
                              <a:srgbClr val="FF0000"/>
                            </a:solidFill>
                            <a:latin typeface="Cambria Math" panose="02040503050406030204" pitchFamily="18" charset="0"/>
                          </a:rPr>
                        </m:ctrlPr>
                      </m:accPr>
                      <m:e>
                        <m:r>
                          <a:rPr kumimoji="1" lang="en-US" altLang="ja-JP" sz="1200" b="0" i="1" smtClean="0">
                            <a:solidFill>
                              <a:srgbClr val="FF0000"/>
                            </a:solidFill>
                            <a:latin typeface="Cambria Math" panose="02040503050406030204" pitchFamily="18" charset="0"/>
                          </a:rPr>
                          <m:t>𝑍</m:t>
                        </m:r>
                      </m:e>
                    </m:acc>
                  </m:oMath>
                </a14:m>
                <a:r>
                  <a:rPr kumimoji="1" lang="ja-JP" altLang="en-US" sz="1200"/>
                  <a:t>の値が小さい場合は</a:t>
                </a:r>
                <a14:m>
                  <m:oMath xmlns:m="http://schemas.openxmlformats.org/officeDocument/2006/math">
                    <m:r>
                      <a:rPr kumimoji="1" lang="en-US" altLang="ja-JP" sz="1200" b="0" i="1" smtClean="0">
                        <a:latin typeface="Cambria Math" panose="02040503050406030204" pitchFamily="18" charset="0"/>
                        <a:cs typeface="ヒラギノ角ゴ Pro W3"/>
                      </a:rPr>
                      <m:t>𝑊</m:t>
                    </m:r>
                    <m:r>
                      <a:rPr kumimoji="1" lang="ja-JP" altLang="en-US" sz="1200" b="0" i="1" smtClean="0">
                        <a:latin typeface="Cambria Math" panose="02040503050406030204" pitchFamily="18" charset="0"/>
                        <a:cs typeface="ヒラギノ角ゴ Pro W3"/>
                      </a:rPr>
                      <m:t>を</m:t>
                    </m:r>
                    <m:r>
                      <a:rPr kumimoji="1" lang="en-US" altLang="ja-JP" sz="1200" b="0" i="1" smtClean="0">
                        <a:latin typeface="Cambria Math" panose="02040503050406030204" pitchFamily="18" charset="0"/>
                        <a:cs typeface="ヒラギノ角ゴ Pro W3"/>
                      </a:rPr>
                      <m:t>−</m:t>
                    </m:r>
                    <m:acc>
                      <m:accPr>
                        <m:chr m:val="̃"/>
                        <m:ctrlPr>
                          <a:rPr lang="en-US" altLang="ja-JP" sz="1200" i="1" smtClean="0">
                            <a:latin typeface="Cambria Math" panose="02040503050406030204" pitchFamily="18" charset="0"/>
                          </a:rPr>
                        </m:ctrlPr>
                      </m:accPr>
                      <m:e>
                        <m:r>
                          <a:rPr lang="en-US" altLang="ja-JP" sz="1200" i="1">
                            <a:latin typeface="Cambria Math" panose="02040503050406030204" pitchFamily="18" charset="0"/>
                          </a:rPr>
                          <m:t>𝑍</m:t>
                        </m:r>
                      </m:e>
                    </m:acc>
                  </m:oMath>
                </a14:m>
                <a:r>
                  <a:rPr kumimoji="1" lang="ja-JP" altLang="en-US" sz="1200">
                    <a:solidFill>
                      <a:srgbClr val="FF0000"/>
                    </a:solidFill>
                  </a:rPr>
                  <a:t>とします。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solidFill>
                      <a:srgbClr val="FF0000"/>
                    </a:solidFill>
                  </a:rPr>
                  <a:t>すなわち、主成分への寄与がより大きい主成分負荷量の調整パラメータ値を</a:t>
                </a:r>
                <a:r>
                  <a:rPr kumimoji="1" lang="en-US" altLang="ja-JP" sz="1200" u="none" dirty="0">
                    <a:solidFill>
                      <a:srgbClr val="FF0000"/>
                    </a:solidFill>
                  </a:rPr>
                  <a:t>W</a:t>
                </a:r>
                <a:r>
                  <a:rPr kumimoji="1" lang="ja-JP" altLang="en-US" sz="1200" u="none">
                    <a:solidFill>
                      <a:srgbClr val="FF0000"/>
                    </a:solidFill>
                  </a:rPr>
                  <a:t>に格納し、それがオリジナル変数の場合であるか</a:t>
                </a:r>
                <a:r>
                  <a:rPr kumimoji="1" lang="en-US" altLang="ja-JP" sz="1200" u="none" dirty="0">
                    <a:solidFill>
                      <a:srgbClr val="FF0000"/>
                    </a:solidFill>
                  </a:rPr>
                  <a:t>knockoff</a:t>
                </a:r>
                <a:r>
                  <a:rPr kumimoji="1" lang="ja-JP" altLang="en-US" sz="1200" u="none">
                    <a:solidFill>
                      <a:srgbClr val="FF0000"/>
                    </a:solidFill>
                  </a:rPr>
                  <a:t>変数の場合であるかを符号で区別しています。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err="1">
                    <a:solidFill>
                      <a:srgbClr val="FF0000"/>
                    </a:solidFill>
                  </a:rPr>
                  <a:t>SCoTLASS</a:t>
                </a:r>
                <a:r>
                  <a:rPr kumimoji="1" lang="ja-JP" altLang="en-US" sz="1200">
                    <a:solidFill>
                      <a:srgbClr val="FF0000"/>
                    </a:solidFill>
                  </a:rPr>
                  <a:t>を実行して、第一主成分の主成分負荷量と、そのときの正則化パラメータを算出します。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次に、主成分負荷量の値が非ゼロとなる正則化パラメータの最小値を</a:t>
                </a:r>
                <a:r>
                  <a:rPr kumimoji="1" lang="en-US" altLang="ja-JP" sz="1200" b="0" i="0">
                    <a:solidFill>
                      <a:srgbClr val="FF0000"/>
                    </a:solidFill>
                    <a:latin typeface="Cambria Math" panose="02040503050406030204" pitchFamily="18" charset="0"/>
                  </a:rPr>
                  <a:t>𝑍,𝑍 ̃</a:t>
                </a:r>
                <a:r>
                  <a:rPr kumimoji="1" lang="ja-JP" altLang="en-US" sz="1200">
                    <a:solidFill>
                      <a:srgbClr val="FF0000"/>
                    </a:solidFill>
                  </a:rPr>
                  <a:t>にそれぞれ格納します。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そして、</a:t>
                </a:r>
                <a:r>
                  <a:rPr kumimoji="1" lang="en-US" altLang="ja-JP" sz="1200" b="0" i="0">
                    <a:solidFill>
                      <a:srgbClr val="FF0000"/>
                    </a:solidFill>
                    <a:latin typeface="Cambria Math" panose="02040503050406030204" pitchFamily="18" charset="0"/>
                  </a:rPr>
                  <a:t>𝑍,𝑍 ̃</a:t>
                </a:r>
                <a:r>
                  <a:rPr kumimoji="1" lang="ja-JP" altLang="en-US" sz="1200"/>
                  <a:t>を比較し、元の変数の正則化パラメータ</a:t>
                </a:r>
                <a:r>
                  <a:rPr kumimoji="1" lang="en-US" altLang="ja-JP" sz="1200" b="0" i="0">
                    <a:solidFill>
                      <a:srgbClr val="FF0000"/>
                    </a:solidFill>
                    <a:latin typeface="Cambria Math" panose="02040503050406030204" pitchFamily="18" charset="0"/>
                  </a:rPr>
                  <a:t>𝑍</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1/𝑍</a:t>
                </a:r>
                <a:r>
                  <a:rPr kumimoji="1" lang="ja-JP" altLang="en-US" sz="1200">
                    <a:solidFill>
                      <a:srgbClr val="FF0000"/>
                    </a:solidFill>
                  </a:rPr>
                  <a:t>に、</a:t>
                </a:r>
                <a:r>
                  <a:rPr kumimoji="1" lang="en-US" altLang="ja-JP" sz="1200" dirty="0">
                    <a:solidFill>
                      <a:schemeClr val="tx1"/>
                    </a:solidFill>
                  </a:rPr>
                  <a:t>knockoff</a:t>
                </a:r>
                <a:r>
                  <a:rPr kumimoji="1" lang="ja-JP" altLang="en-US" sz="1200"/>
                  <a:t>変数の正則化パラメータ</a:t>
                </a:r>
                <a:r>
                  <a:rPr kumimoji="1" lang="en-US" altLang="ja-JP" sz="1200" b="0" i="0">
                    <a:solidFill>
                      <a:srgbClr val="FF0000"/>
                    </a:solidFill>
                    <a:latin typeface="Cambria Math" panose="02040503050406030204" pitchFamily="18" charset="0"/>
                  </a:rPr>
                  <a:t>𝑍 ̃</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a:t>
                </a:r>
                <a:r>
                  <a:rPr lang="en-US" altLang="ja-JP" sz="1200" i="0">
                    <a:latin typeface="Cambria Math" panose="02040503050406030204" pitchFamily="18" charset="0"/>
                  </a:rPr>
                  <a:t>𝑍 ̃</a:t>
                </a:r>
                <a:r>
                  <a:rPr kumimoji="1" lang="ja-JP" altLang="en-US" sz="1200">
                    <a:solidFill>
                      <a:srgbClr val="FF0000"/>
                    </a:solidFill>
                  </a:rPr>
                  <a:t>とします。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正則化パラメータの値の大きさと主成分負荷量の値が、ゼロとなる数の関係性が線形回帰モデルと逆のため、</a:t>
                </a:r>
                <a:r>
                  <a:rPr kumimoji="1" lang="en-US" altLang="ja-JP" sz="1200" dirty="0">
                    <a:solidFill>
                      <a:srgbClr val="FF0000"/>
                    </a:solidFill>
                  </a:rPr>
                  <a:t>W</a:t>
                </a:r>
                <a:r>
                  <a:rPr kumimoji="1" lang="ja-JP" altLang="en-US" sz="1200">
                    <a:solidFill>
                      <a:srgbClr val="FF0000"/>
                    </a:solidFill>
                  </a:rPr>
                  <a:t>に</a:t>
                </a:r>
                <a:r>
                  <a:rPr kumimoji="1" lang="en-US" altLang="ja-JP" sz="1200" dirty="0">
                    <a:solidFill>
                      <a:srgbClr val="FF0000"/>
                    </a:solidFill>
                  </a:rPr>
                  <a:t>Z</a:t>
                </a:r>
                <a:r>
                  <a:rPr kumimoji="1" lang="ja-JP" altLang="en-US" sz="1200">
                    <a:solidFill>
                      <a:srgbClr val="FF0000"/>
                    </a:solidFill>
                  </a:rPr>
                  <a:t>の逆数を格納することにより、手順</a:t>
                </a:r>
                <a:r>
                  <a:rPr kumimoji="1" lang="en-US" altLang="ja-JP" sz="1200" dirty="0">
                    <a:solidFill>
                      <a:srgbClr val="FF0000"/>
                    </a:solidFill>
                  </a:rPr>
                  <a:t>3</a:t>
                </a:r>
                <a:r>
                  <a:rPr kumimoji="1" lang="ja-JP" altLang="en-US" sz="1200">
                    <a:solidFill>
                      <a:srgbClr val="FF0000"/>
                    </a:solidFill>
                  </a:rPr>
                  <a:t>以降は先行研究と同様にすることができます。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Fallback>
      </mc:AlternateContent>
      <p:sp>
        <p:nvSpPr>
          <p:cNvPr id="4" name="スライド番号プレースホルダー 3">
            <a:extLst>
              <a:ext uri="{FF2B5EF4-FFF2-40B4-BE49-F238E27FC236}">
                <a16:creationId xmlns:a16="http://schemas.microsoft.com/office/drawing/2014/main" id="{3583CDDE-48A2-0DBC-E7B7-ABFE5E0B097C}"/>
              </a:ext>
            </a:extLst>
          </p:cNvPr>
          <p:cNvSpPr>
            <a:spLocks noGrp="1"/>
          </p:cNvSpPr>
          <p:nvPr>
            <p:ph type="sldNum" sz="quarter" idx="5"/>
          </p:nvPr>
        </p:nvSpPr>
        <p:spPr/>
        <p:txBody>
          <a:bodyPr/>
          <a:lstStyle/>
          <a:p>
            <a:fld id="{C3AA1469-922B-5243-9CFC-ED99F2A55A38}" type="slidenum">
              <a:rPr kumimoji="1" lang="ja-JP" altLang="en-US" smtClean="0"/>
              <a:t>19</a:t>
            </a:fld>
            <a:endParaRPr kumimoji="1" lang="ja-JP" altLang="en-US"/>
          </a:p>
        </p:txBody>
      </p:sp>
    </p:spTree>
    <p:extLst>
      <p:ext uri="{BB962C8B-B14F-4D97-AF65-F5344CB8AC3E}">
        <p14:creationId xmlns:p14="http://schemas.microsoft.com/office/powerpoint/2010/main" val="1909677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手順</a:t>
                </a:r>
                <a:r>
                  <a:rPr kumimoji="1" lang="en-US" altLang="ja-JP" dirty="0"/>
                  <a:t>3</a:t>
                </a:r>
                <a:r>
                  <a:rPr kumimoji="1" lang="ja-JP" altLang="en-US"/>
                  <a:t>のしきい値</a:t>
                </a:r>
                <a:r>
                  <a:rPr kumimoji="1" lang="en-US" altLang="ja-JP" dirty="0"/>
                  <a:t>T</a:t>
                </a:r>
                <a:r>
                  <a:rPr kumimoji="1" lang="ja-JP" altLang="en-US"/>
                  <a:t>の導出では、先ほど算出した</a:t>
                </a:r>
                <a:r>
                  <a:rPr kumimoji="1" lang="en-US" altLang="ja-JP" dirty="0"/>
                  <a:t>W</a:t>
                </a:r>
                <a:r>
                  <a:rPr kumimoji="1" lang="ja-JP" altLang="en-US"/>
                  <a:t>を用いた式で、</a:t>
                </a:r>
                <a:r>
                  <a:rPr kumimoji="1" lang="en-US" altLang="ja-JP" dirty="0"/>
                  <a:t>FDR</a:t>
                </a:r>
                <a:r>
                  <a:rPr kumimoji="1" lang="ja-JP" altLang="en-US"/>
                  <a:t>制御を行います。</a:t>
                </a:r>
                <a:endParaRPr kumimoji="1" lang="en-US" altLang="ja-JP" dirty="0"/>
              </a:p>
              <a:p>
                <a:endParaRPr kumimoji="1" lang="en-US" altLang="ja-JP" dirty="0"/>
              </a:p>
              <a:p>
                <a:r>
                  <a:rPr kumimoji="1" lang="ja-JP" altLang="en-US"/>
                  <a:t>スパース主成分分析における交換可能性は、真の主成分負荷量の値が</a:t>
                </a:r>
                <a:r>
                  <a:rPr kumimoji="1" lang="en-US" altLang="ja-JP" dirty="0"/>
                  <a:t>0</a:t>
                </a:r>
                <a:r>
                  <a:rPr kumimoji="1" lang="ja-JP" altLang="en-US"/>
                  <a:t>のとき、統計量</a:t>
                </a:r>
                <a14:m>
                  <m:oMath xmlns:m="http://schemas.openxmlformats.org/officeDocument/2006/math">
                    <m:r>
                      <a:rPr kumimoji="1" lang="en-US" altLang="ja-JP" b="0" i="1" smtClean="0">
                        <a:latin typeface="Cambria Math" panose="02040503050406030204" pitchFamily="18" charset="0"/>
                      </a:rPr>
                      <m:t>𝑊</m:t>
                    </m:r>
                  </m:oMath>
                </a14:m>
                <a:r>
                  <a:rPr kumimoji="1" lang="ja-JP" altLang="en-US" dirty="0"/>
                  <a:t>の</a:t>
                </a:r>
                <a:r>
                  <a:rPr kumimoji="1" lang="ja-JP" altLang="en-US"/>
                  <a:t>値が</a:t>
                </a:r>
                <a14:m>
                  <m:oMath xmlns:m="http://schemas.openxmlformats.org/officeDocument/2006/math">
                    <m:r>
                      <a:rPr kumimoji="1" lang="en-US" altLang="ja-JP" b="0" i="1" smtClean="0">
                        <a:latin typeface="Cambria Math" panose="02040503050406030204" pitchFamily="18" charset="0"/>
                      </a:rPr>
                      <m:t>0</m:t>
                    </m:r>
                  </m:oMath>
                </a14:m>
                <a:r>
                  <a:rPr kumimoji="1" lang="ja-JP" altLang="en-US"/>
                  <a:t>から</a:t>
                </a:r>
                <a:r>
                  <a:rPr kumimoji="1" lang="en-US" altLang="ja-JP" dirty="0"/>
                  <a:t>t</a:t>
                </a:r>
                <a:r>
                  <a:rPr kumimoji="1" lang="ja-JP" altLang="en-US"/>
                  <a:t>である分布と</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m:t>
                    </m:r>
                    <m:r>
                      <a:rPr kumimoji="1" lang="ja-JP" altLang="en-US" b="0" i="1" smtClean="0">
                        <a:latin typeface="Cambria Math" panose="02040503050406030204" pitchFamily="18" charset="0"/>
                      </a:rPr>
                      <m:t>から</m:t>
                    </m:r>
                  </m:oMath>
                </a14:m>
                <a:r>
                  <a:rPr kumimoji="1" lang="en-US" altLang="ja-JP" dirty="0"/>
                  <a:t>0</a:t>
                </a:r>
                <a:r>
                  <a:rPr kumimoji="1" lang="ja-JP" altLang="en-US"/>
                  <a:t>である分布が等しいといったもので、こちらは証明済みです。</a:t>
                </a:r>
                <a:endParaRPr kumimoji="1" lang="en-US" altLang="ja-JP" dirty="0"/>
              </a:p>
              <a:p>
                <a:r>
                  <a:rPr kumimoji="1" lang="ja-JP" altLang="en-US"/>
                  <a:t>この交換可能性を利用すると、</a:t>
                </a:r>
                <a:r>
                  <a:rPr kumimoji="1" lang="en-US" altLang="ja-JP" dirty="0"/>
                  <a:t>FDP</a:t>
                </a:r>
                <a:r>
                  <a:rPr kumimoji="1" lang="ja-JP" altLang="en-US"/>
                  <a:t>の上界のを計算することができます。</a:t>
                </a:r>
                <a:endParaRPr kumimoji="1" lang="en-US" altLang="ja-JP" dirty="0"/>
              </a:p>
              <a:p>
                <a:endParaRPr kumimoji="1" lang="en-US" altLang="ja-JP" dirty="0"/>
              </a:p>
              <a:p>
                <a:r>
                  <a:rPr kumimoji="1" lang="en-US" altLang="ja-JP" dirty="0"/>
                  <a:t>((</a:t>
                </a:r>
                <a:r>
                  <a:rPr kumimoji="1" lang="ja-JP" altLang="en-US"/>
                  <a:t>マルチンゲール理論の確率過程</a:t>
                </a:r>
                <a:r>
                  <a:rPr kumimoji="1" lang="en-US" altLang="ja-JP" dirty="0"/>
                  <a:t>)))</a:t>
                </a:r>
              </a:p>
              <a:p>
                <a:endParaRPr kumimoji="1" lang="en-US" altLang="ja-JP" dirty="0"/>
              </a:p>
            </p:txBody>
          </p:sp>
        </mc:Choice>
        <mc:Fallback xmlns="">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手順</a:t>
                </a:r>
                <a:r>
                  <a:rPr kumimoji="1" lang="en-US" altLang="ja-JP" dirty="0"/>
                  <a:t>3</a:t>
                </a:r>
                <a:r>
                  <a:rPr kumimoji="1" lang="ja-JP" altLang="en-US"/>
                  <a:t>のしきい値</a:t>
                </a:r>
                <a:r>
                  <a:rPr kumimoji="1" lang="en-US" altLang="ja-JP" dirty="0"/>
                  <a:t>T</a:t>
                </a:r>
                <a:r>
                  <a:rPr kumimoji="1" lang="ja-JP" altLang="en-US"/>
                  <a:t>の導出では、先ほど算出した</a:t>
                </a:r>
                <a:r>
                  <a:rPr kumimoji="1" lang="en-US" altLang="ja-JP" dirty="0"/>
                  <a:t>W</a:t>
                </a:r>
                <a:r>
                  <a:rPr kumimoji="1" lang="ja-JP" altLang="en-US"/>
                  <a:t>を用いた式で、</a:t>
                </a:r>
                <a:r>
                  <a:rPr kumimoji="1" lang="en-US" altLang="ja-JP" dirty="0"/>
                  <a:t>FDR</a:t>
                </a:r>
                <a:r>
                  <a:rPr kumimoji="1" lang="ja-JP" altLang="en-US"/>
                  <a:t>制御を行っています。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en-US" altLang="ja-JP" dirty="0"/>
              </a:p>
              <a:p>
                <a:r>
                  <a:rPr kumimoji="1" lang="ja-JP" altLang="en-US"/>
                  <a:t>こちらの式は、交換可能性が成立した場合に限り、</a:t>
                </a:r>
                <a:r>
                  <a:rPr kumimoji="1" lang="en-US" altLang="ja-JP" dirty="0"/>
                  <a:t>FDP</a:t>
                </a:r>
                <a:r>
                  <a:rPr kumimoji="1" lang="ja-JP" altLang="en-US"/>
                  <a:t>と同等と見なすことができます。</a:t>
                </a:r>
                <a:endParaRPr kumimoji="1" lang="en-US" altLang="ja-JP" dirty="0"/>
              </a:p>
              <a:p>
                <a:endParaRPr kumimoji="1" lang="en-US" altLang="ja-JP" dirty="0"/>
              </a:p>
              <a:p>
                <a:r>
                  <a:rPr kumimoji="1" lang="ja-JP" altLang="en-US"/>
                  <a:t>交換可能性は</a:t>
                </a:r>
                <a:r>
                  <a:rPr kumimoji="1" lang="en-US" altLang="ja-JP" dirty="0"/>
                  <a:t>FDP</a:t>
                </a:r>
                <a:r>
                  <a:rPr kumimoji="1" lang="ja-JP" altLang="en-US"/>
                  <a:t>の分子の</a:t>
                </a:r>
                <a:r>
                  <a:rPr kumimoji="1" lang="en-US" altLang="ja-JP" dirty="0"/>
                  <a:t>V</a:t>
                </a:r>
                <a:r>
                  <a:rPr kumimoji="1" lang="ja-JP" altLang="en-US"/>
                  <a:t>を変形させるために必要で、真の回帰係数の値が</a:t>
                </a:r>
                <a:r>
                  <a:rPr kumimoji="1" lang="en-US" altLang="ja-JP" dirty="0"/>
                  <a:t>0</a:t>
                </a:r>
                <a:r>
                  <a:rPr kumimoji="1" lang="ja-JP" altLang="en-US"/>
                  <a:t>のとき、統計量</a:t>
                </a:r>
                <a:r>
                  <a:rPr kumimoji="1" lang="en-US" altLang="ja-JP" b="0" i="0">
                    <a:latin typeface="Cambria Math" panose="02040503050406030204" pitchFamily="18" charset="0"/>
                  </a:rPr>
                  <a:t>𝑊</a:t>
                </a:r>
                <a:r>
                  <a:rPr kumimoji="1" lang="ja-JP" altLang="en-US" dirty="0"/>
                  <a:t>の</a:t>
                </a:r>
                <a:r>
                  <a:rPr kumimoji="1" lang="ja-JP" altLang="en-US"/>
                  <a:t>値が</a:t>
                </a:r>
                <a:r>
                  <a:rPr kumimoji="1" lang="en-US" altLang="ja-JP" b="0" i="0">
                    <a:latin typeface="Cambria Math" panose="02040503050406030204" pitchFamily="18" charset="0"/>
                  </a:rPr>
                  <a:t>𝑡</a:t>
                </a:r>
                <a:r>
                  <a:rPr kumimoji="1" lang="ja-JP" altLang="en-US" dirty="0"/>
                  <a:t>以上</a:t>
                </a:r>
                <a:r>
                  <a:rPr kumimoji="1" lang="ja-JP" altLang="en-US"/>
                  <a:t>である分布と</a:t>
                </a:r>
                <a:r>
                  <a:rPr kumimoji="1" lang="en-US" altLang="ja-JP" b="0" i="0">
                    <a:latin typeface="Cambria Math" panose="02040503050406030204" pitchFamily="18" charset="0"/>
                  </a:rPr>
                  <a:t>−𝑡</a:t>
                </a:r>
                <a:r>
                  <a:rPr kumimoji="1" lang="ja-JP" altLang="en-US" dirty="0"/>
                  <a:t>以下</a:t>
                </a:r>
                <a:r>
                  <a:rPr kumimoji="1" lang="ja-JP" altLang="en-US"/>
                  <a:t>である分布が等しいことを利用すると、</a:t>
                </a:r>
                <a:r>
                  <a:rPr kumimoji="1" lang="en-US" altLang="ja-JP" dirty="0"/>
                  <a:t>FDP</a:t>
                </a:r>
                <a:r>
                  <a:rPr kumimoji="1" lang="ja-JP" altLang="en-US"/>
                  <a:t>を計算することができます。</a:t>
                </a:r>
                <a:endParaRPr kumimoji="1" lang="en-US" altLang="ja-JP" dirty="0"/>
              </a:p>
              <a:p>
                <a:r>
                  <a:rPr kumimoji="1" lang="ja-JP" altLang="en-US"/>
                  <a:t>先ほど説明した、手順</a:t>
                </a:r>
                <a:r>
                  <a:rPr kumimoji="1" lang="en-US" altLang="ja-JP" dirty="0"/>
                  <a:t>1</a:t>
                </a:r>
                <a:r>
                  <a:rPr kumimoji="1" lang="ja-JP" altLang="en-US"/>
                  <a:t>の</a:t>
                </a:r>
                <a:r>
                  <a:rPr kumimoji="1" lang="en-US" altLang="ja-JP" dirty="0"/>
                  <a:t>knockoff</a:t>
                </a:r>
                <a:r>
                  <a:rPr kumimoji="1" lang="ja-JP" altLang="en-US"/>
                  <a:t>変数と、手順</a:t>
                </a:r>
                <a:r>
                  <a:rPr kumimoji="1" lang="en-US" altLang="ja-JP" dirty="0"/>
                  <a:t>2</a:t>
                </a:r>
                <a:r>
                  <a:rPr kumimoji="1" lang="ja-JP" altLang="en-US"/>
                  <a:t>の統計量</a:t>
                </a:r>
                <a:r>
                  <a:rPr kumimoji="1" lang="en-US" altLang="ja-JP" dirty="0"/>
                  <a:t>W</a:t>
                </a:r>
                <a:r>
                  <a:rPr kumimoji="1" lang="ja-JP" altLang="en-US"/>
                  <a:t>は、この交換可能性が成り立つように条件付けされています。</a:t>
                </a:r>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20</a:t>
            </a:fld>
            <a:endParaRPr kumimoji="1" lang="ja-JP" altLang="en-US"/>
          </a:p>
        </p:txBody>
      </p:sp>
    </p:spTree>
    <p:extLst>
      <p:ext uri="{BB962C8B-B14F-4D97-AF65-F5344CB8AC3E}">
        <p14:creationId xmlns:p14="http://schemas.microsoft.com/office/powerpoint/2010/main" val="15753305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最後に、</a:t>
                </a:r>
                <a14:m>
                  <m:oMath xmlns:m="http://schemas.openxmlformats.org/officeDocument/2006/math">
                    <m:r>
                      <a:rPr lang="en-US" altLang="ja-JP" i="1" smtClean="0">
                        <a:latin typeface="Cambria Math" panose="02040503050406030204" pitchFamily="18" charset="0"/>
                      </a:rPr>
                      <m:t>0≤</m:t>
                    </m:r>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i="1">
                            <a:latin typeface="Cambria Math" panose="02040503050406030204" pitchFamily="18" charset="0"/>
                          </a:rPr>
                          <m:t>𝑗</m:t>
                        </m:r>
                      </m:sub>
                    </m:sSub>
                    <m:r>
                      <a:rPr lang="en-US" altLang="ja-JP" i="1">
                        <a:latin typeface="Cambria Math" panose="02040503050406030204" pitchFamily="18" charset="0"/>
                      </a:rPr>
                      <m:t>≤</m:t>
                    </m:r>
                    <m:r>
                      <a:rPr lang="en-US" altLang="ja-JP" i="1">
                        <a:latin typeface="Cambria Math" panose="02040503050406030204" pitchFamily="18" charset="0"/>
                      </a:rPr>
                      <m:t>𝑇</m:t>
                    </m:r>
                  </m:oMath>
                </a14:m>
                <a:r>
                  <a:rPr kumimoji="1" lang="ja-JP" altLang="en-US"/>
                  <a:t>を満たすような変数番号を選択すると、　これが</a:t>
                </a:r>
                <a:r>
                  <a:rPr kumimoji="1" lang="en-US" altLang="ja-JP" sz="1200" dirty="0">
                    <a:solidFill>
                      <a:schemeClr val="tx1"/>
                    </a:solidFill>
                    <a:latin typeface="+mn-ea"/>
                  </a:rPr>
                  <a:t>FDR</a:t>
                </a:r>
                <a:r>
                  <a:rPr kumimoji="1" lang="ja-JP" altLang="en-US" sz="1200">
                    <a:solidFill>
                      <a:schemeClr val="tx1"/>
                    </a:solidFill>
                    <a:latin typeface="+mn-ea"/>
                  </a:rPr>
                  <a:t>を制御したときに選択された主成分負荷量の添字番号</a:t>
                </a:r>
                <a:r>
                  <a:rPr kumimoji="1" lang="ja-JP" altLang="en-US" sz="1200">
                    <a:solidFill>
                      <a:schemeClr val="tx1"/>
                    </a:solidFill>
                    <a:latin typeface="+mn-ea"/>
                    <a:cs typeface="ヒラギノ角ゴ Pro W3"/>
                  </a:rPr>
                  <a:t>となるため、調整パラメータの範囲を算出することができます。</a:t>
                </a:r>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a:t>手順</a:t>
                </a:r>
                <a:r>
                  <a:rPr kumimoji="1" lang="en-US" altLang="ja-JP" dirty="0"/>
                  <a:t>3,4</a:t>
                </a:r>
                <a:r>
                  <a:rPr kumimoji="1" lang="ja-JP" altLang="en-US"/>
                  <a:t>は先行研究と同様です。</a:t>
                </a:r>
                <a:endParaRPr kumimoji="1" lang="en-US" altLang="ja-JP" dirty="0"/>
              </a:p>
              <a:p>
                <a:endParaRPr kumimoji="1" lang="en-US" altLang="ja-JP" dirty="0"/>
              </a:p>
              <a:p>
                <a:r>
                  <a:rPr kumimoji="1" lang="ja-JP" altLang="en-US"/>
                  <a:t>手順</a:t>
                </a:r>
                <a:r>
                  <a:rPr kumimoji="1" lang="en-US" altLang="ja-JP" dirty="0"/>
                  <a:t>3</a:t>
                </a:r>
                <a:r>
                  <a:rPr kumimoji="1" lang="ja-JP" altLang="en-US"/>
                  <a:t>で、</a:t>
                </a:r>
                <a:r>
                  <a:rPr kumimoji="1" lang="en-US" altLang="ja-JP" dirty="0"/>
                  <a:t>FDR</a:t>
                </a:r>
                <a:r>
                  <a:rPr kumimoji="1" lang="ja-JP" altLang="en-US"/>
                  <a:t>制御を行ったあと、</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a:latin typeface="Cambria Math" panose="02040503050406030204" pitchFamily="18" charset="0"/>
                  </a:rPr>
                  <a:t>𝑊_𝑗≥𝑇 </a:t>
                </a:r>
                <a:r>
                  <a:rPr kumimoji="1" lang="ja-JP" altLang="en-US"/>
                  <a:t>を満たすような変数番号を選択すると、　これが</a:t>
                </a:r>
                <a:r>
                  <a:rPr kumimoji="1" lang="en-US" altLang="ja-JP" sz="1200" dirty="0">
                    <a:solidFill>
                      <a:schemeClr val="tx1"/>
                    </a:solidFill>
                    <a:latin typeface="+mn-ea"/>
                  </a:rPr>
                  <a:t>FDR</a:t>
                </a:r>
                <a:r>
                  <a:rPr kumimoji="1" lang="ja-JP" altLang="en-US" sz="1200">
                    <a:solidFill>
                      <a:schemeClr val="tx1"/>
                    </a:solidFill>
                    <a:latin typeface="+mn-ea"/>
                  </a:rPr>
                  <a:t>を制御したときに選択された主成分負荷量</a:t>
                </a:r>
                <a:r>
                  <a:rPr kumimoji="1" lang="ja-JP" altLang="en-US" sz="1200">
                    <a:solidFill>
                      <a:schemeClr val="tx1"/>
                    </a:solidFill>
                    <a:latin typeface="+mn-ea"/>
                    <a:cs typeface="ヒラギノ角ゴ Pro W3"/>
                  </a:rPr>
                  <a:t>となるため、正則化パラメータの範囲を算出することができます。</a:t>
                </a:r>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21</a:t>
            </a:fld>
            <a:endParaRPr kumimoji="1" lang="ja-JP" altLang="en-US"/>
          </a:p>
        </p:txBody>
      </p:sp>
    </p:spTree>
    <p:extLst>
      <p:ext uri="{BB962C8B-B14F-4D97-AF65-F5344CB8AC3E}">
        <p14:creationId xmlns:p14="http://schemas.microsoft.com/office/powerpoint/2010/main" val="584272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この手法に関して数値実験を行いました。</a:t>
                </a:r>
                <a:endParaRPr kumimoji="1" lang="en-US" altLang="ja-JP" dirty="0"/>
              </a:p>
              <a:p>
                <a:r>
                  <a:rPr kumimoji="1" lang="ja-JP" altLang="en-US"/>
                  <a:t>人工データを以下のように発生させました。</a:t>
                </a:r>
                <a:endParaRPr kumimoji="1" lang="en-US" altLang="ja-JP" dirty="0"/>
              </a:p>
              <a:p>
                <a:r>
                  <a:rPr kumimoji="1" lang="ja-JP" altLang="en-US"/>
                  <a:t>ただし、こちらの分散共分散行列に関しては、固有値ベクトルをこのように設定したあと直交化させ、固有値を対角成分に持つ行列をこのように決めたあと、相関行列に変換しました。</a:t>
                </a:r>
                <a:endParaRPr kumimoji="1" lang="en-US" altLang="ja-JP" dirty="0"/>
              </a:p>
              <a:p>
                <a:r>
                  <a:rPr kumimoji="1" lang="en-US" altLang="ja-JP" dirty="0"/>
                  <a:t>A</a:t>
                </a:r>
                <a:r>
                  <a:rPr kumimoji="1" lang="ja-JP" altLang="en-US"/>
                  <a:t>の部分は</a:t>
                </a:r>
                <a:r>
                  <a:rPr kumimoji="1" lang="en-US" altLang="ja-JP" dirty="0"/>
                  <a:t>20,50</a:t>
                </a:r>
                <a:r>
                  <a:rPr kumimoji="1" lang="ja-JP" altLang="en-US"/>
                  <a:t>の</a:t>
                </a:r>
                <a:r>
                  <a:rPr kumimoji="1" lang="en-US" altLang="ja-JP" dirty="0"/>
                  <a:t>2</a:t>
                </a:r>
                <a:r>
                  <a:rPr kumimoji="1" lang="ja-JP" altLang="en-US"/>
                  <a:t>種類を用いました。</a:t>
                </a:r>
                <a:endParaRPr kumimoji="1" lang="en-US" altLang="ja-JP" dirty="0"/>
              </a:p>
              <a:p>
                <a:r>
                  <a:rPr kumimoji="1" lang="ja-JP" altLang="en-US"/>
                  <a:t>サンプスサイズを</a:t>
                </a:r>
                <a:r>
                  <a:rPr kumimoji="1" lang="en-US" altLang="ja-JP" dirty="0"/>
                  <a:t>200,500</a:t>
                </a:r>
                <a:r>
                  <a:rPr kumimoji="1" lang="ja-JP" altLang="en-US"/>
                  <a:t>、</a:t>
                </a:r>
                <a:r>
                  <a:rPr kumimoji="1" lang="en-US" altLang="ja-JP" dirty="0"/>
                  <a:t>FDR</a:t>
                </a:r>
                <a:r>
                  <a:rPr kumimoji="1" lang="ja-JP" altLang="en-US"/>
                  <a:t>制御値を</a:t>
                </a:r>
                <a:r>
                  <a:rPr kumimoji="1" lang="en-US" altLang="ja-JP" dirty="0"/>
                  <a:t>0.2</a:t>
                </a:r>
                <a:r>
                  <a:rPr kumimoji="1" lang="ja-JP" altLang="en-US"/>
                  <a:t>に設定しました。</a:t>
                </a:r>
                <a:endParaRPr kumimoji="1" lang="en-US" altLang="ja-JP" dirty="0"/>
              </a:p>
              <a:p>
                <a:r>
                  <a:rPr lang="ja-JP" altLang="en-US">
                    <a:solidFill>
                      <a:schemeClr val="tx1"/>
                    </a:solidFill>
                    <a:latin typeface="+mn-ea"/>
                  </a:rPr>
                  <a:t>第</a:t>
                </a:r>
                <a:r>
                  <a:rPr lang="en-US" altLang="ja-JP" dirty="0">
                    <a:solidFill>
                      <a:schemeClr val="tx1"/>
                    </a:solidFill>
                    <a:latin typeface="+mn-ea"/>
                  </a:rPr>
                  <a:t>1</a:t>
                </a:r>
                <a:r>
                  <a:rPr lang="ja-JP" altLang="en-US">
                    <a:solidFill>
                      <a:schemeClr val="tx1"/>
                    </a:solidFill>
                    <a:latin typeface="+mn-ea"/>
                  </a:rPr>
                  <a:t>主成分から第</a:t>
                </a:r>
                <a:r>
                  <a:rPr lang="en-US" altLang="ja-JP" dirty="0">
                    <a:solidFill>
                      <a:schemeClr val="tx1"/>
                    </a:solidFill>
                    <a:latin typeface="+mn-ea"/>
                  </a:rPr>
                  <a:t>3</a:t>
                </a:r>
                <a:r>
                  <a:rPr lang="ja-JP" altLang="en-US">
                    <a:solidFill>
                      <a:schemeClr val="tx1"/>
                    </a:solidFill>
                    <a:latin typeface="+mn-ea"/>
                  </a:rPr>
                  <a:t>主成分まで、各主成分ごとに</a:t>
                </a:r>
                <a:r>
                  <a:rPr lang="en-US" altLang="ja-JP" dirty="0">
                    <a:solidFill>
                      <a:schemeClr val="tx1"/>
                    </a:solidFill>
                    <a:latin typeface="+mn-ea"/>
                  </a:rPr>
                  <a:t>FDR</a:t>
                </a:r>
                <a:r>
                  <a:rPr lang="ja-JP" altLang="en-US">
                    <a:solidFill>
                      <a:schemeClr val="tx1"/>
                    </a:solidFill>
                    <a:latin typeface="+mn-ea"/>
                  </a:rPr>
                  <a:t>と検出力を計算しました。</a:t>
                </a:r>
                <a:endParaRPr lang="en-US" altLang="ja-JP" sz="1200" dirty="0">
                  <a:latin typeface="+mn-ea"/>
                </a:endParaRPr>
              </a:p>
            </p:txBody>
          </p:sp>
        </mc:Choice>
        <mc:Fallback xmlns="">
          <p:sp>
            <p:nvSpPr>
              <p:cNvPr id="3" name="ノート プレースホルダー 2"/>
              <p:cNvSpPr>
                <a:spLocks noGrp="1"/>
              </p:cNvSpPr>
              <p:nvPr>
                <p:ph type="body" idx="1"/>
              </p:nvPr>
            </p:nvSpPr>
            <p:spPr/>
            <p:txBody>
              <a:bodyPr/>
              <a:lstStyle/>
              <a:p>
                <a:r>
                  <a:rPr kumimoji="1" lang="ja-JP" altLang="en-US"/>
                  <a:t>この手法に関して数値実験を行いました。</a:t>
                </a:r>
                <a:endParaRPr kumimoji="1" lang="en-US" altLang="ja-JP" dirty="0"/>
              </a:p>
              <a:p>
                <a:endParaRPr kumimoji="1" lang="en-US" altLang="ja-JP" dirty="0"/>
              </a:p>
              <a:p>
                <a:r>
                  <a:rPr kumimoji="1" lang="ja-JP" altLang="en-US"/>
                  <a:t>こちらの線形回帰モデルを用い、サンプスサイズを</a:t>
                </a:r>
                <a:r>
                  <a:rPr kumimoji="1" lang="en-US" altLang="ja-JP" dirty="0"/>
                  <a:t>20</a:t>
                </a:r>
                <a:r>
                  <a:rPr kumimoji="1" lang="ja-JP" altLang="en-US"/>
                  <a:t>と</a:t>
                </a:r>
                <a:r>
                  <a:rPr kumimoji="1" lang="en-US" altLang="ja-JP" dirty="0"/>
                  <a:t>50</a:t>
                </a:r>
                <a:r>
                  <a:rPr kumimoji="1" lang="ja-JP" altLang="en-US"/>
                  <a:t>、誤差分散を</a:t>
                </a:r>
                <a:r>
                  <a:rPr kumimoji="1" lang="en-US" altLang="ja-JP" dirty="0"/>
                  <a:t>1</a:t>
                </a:r>
                <a:r>
                  <a:rPr kumimoji="1" lang="ja-JP" altLang="en-US"/>
                  <a:t>と</a:t>
                </a:r>
                <a:r>
                  <a:rPr kumimoji="1" lang="en-US" altLang="ja-JP" dirty="0"/>
                  <a:t>3</a:t>
                </a:r>
                <a:r>
                  <a:rPr kumimoji="1" lang="ja-JP" altLang="en-US"/>
                  <a:t>に値を変え検証しました。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提案手法では、</a:t>
                </a:r>
                <a:r>
                  <a:rPr lang="ja-JP" altLang="en-US" sz="1200">
                    <a:latin typeface="+mn-ea"/>
                  </a:rPr>
                  <a:t>ブートストラップ</a:t>
                </a:r>
                <a:r>
                  <a:rPr lang="ja-JP" altLang="en-US" sz="1200" b="0" i="0">
                    <a:latin typeface="Cambria Math" panose="02040503050406030204" pitchFamily="18" charset="0"/>
                  </a:rPr>
                  <a:t>標本</a:t>
                </a:r>
                <a:r>
                  <a:rPr lang="ja-JP" altLang="en-US" sz="1200" i="0">
                    <a:latin typeface="Cambria Math" panose="02040503050406030204" pitchFamily="18" charset="0"/>
                  </a:rPr>
                  <a:t>を</a:t>
                </a:r>
                <a:r>
                  <a:rPr lang="en-US" altLang="ja-JP" sz="1200" b="0" i="0">
                    <a:latin typeface="Cambria Math" panose="02040503050406030204" pitchFamily="18" charset="0"/>
                  </a:rPr>
                  <a:t>1000</a:t>
                </a:r>
                <a:r>
                  <a:rPr lang="ja-JP" altLang="en-US" sz="1200" i="0">
                    <a:latin typeface="Cambria Math" panose="02040503050406030204" pitchFamily="18" charset="0"/>
                  </a:rPr>
                  <a:t>組作成</a:t>
                </a:r>
                <a:r>
                  <a:rPr lang="ja-JP" altLang="en-US" sz="1200">
                    <a:latin typeface="+mn-ea"/>
                  </a:rPr>
                  <a:t>し、</a:t>
                </a:r>
                <a:r>
                  <a:rPr lang="en-US" altLang="ja-JP" sz="1200" dirty="0">
                    <a:latin typeface="+mn-ea"/>
                  </a:rPr>
                  <a:t>20</a:t>
                </a:r>
                <a:r>
                  <a:rPr lang="ja-JP" altLang="en-US" sz="1200">
                    <a:latin typeface="+mn-ea"/>
                  </a:rPr>
                  <a:t>回実行した</a:t>
                </a:r>
                <a:r>
                  <a:rPr lang="en-US" altLang="ja-JP" sz="1200" dirty="0">
                    <a:latin typeface="+mn-ea"/>
                  </a:rPr>
                  <a:t>FDR</a:t>
                </a:r>
                <a:r>
                  <a:rPr lang="ja-JP" altLang="en-US" sz="1200">
                    <a:latin typeface="+mn-ea"/>
                  </a:rPr>
                  <a:t>の期待値を算出しました。</a:t>
                </a: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22</a:t>
            </a:fld>
            <a:endParaRPr kumimoji="1" lang="ja-JP" altLang="en-US"/>
          </a:p>
        </p:txBody>
      </p:sp>
    </p:spTree>
    <p:extLst>
      <p:ext uri="{BB962C8B-B14F-4D97-AF65-F5344CB8AC3E}">
        <p14:creationId xmlns:p14="http://schemas.microsoft.com/office/powerpoint/2010/main" val="37530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CA237-BCEC-0851-92B2-E46E92EACE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B80829-3D27-2B57-CAE7-BE8F318F9D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2E308597-38AA-0580-7859-25AB02DB3AA6}"/>
                  </a:ext>
                </a:extLst>
              </p:cNvPr>
              <p:cNvSpPr>
                <a:spLocks noGrp="1"/>
              </p:cNvSpPr>
              <p:nvPr>
                <p:ph type="body" idx="1"/>
              </p:nvPr>
            </p:nvSpPr>
            <p:spPr/>
            <p:txBody>
              <a:bodyPr/>
              <a:lstStyle/>
              <a:p>
                <a:r>
                  <a:rPr lang="ja-JP" altLang="en-US">
                    <a:effectLst/>
                    <a:latin typeface="Helvetica" pitchFamily="2" charset="0"/>
                  </a:rPr>
                  <a:t>検出力は</a:t>
                </a:r>
                <a:r>
                  <a:rPr lang="en-US" altLang="ja-JP" dirty="0">
                    <a:effectLst/>
                    <a:latin typeface="Helvetica" pitchFamily="2" charset="0"/>
                  </a:rPr>
                  <a:t>FDR </a:t>
                </a:r>
                <a:r>
                  <a:rPr lang="ja-JP" altLang="en-US">
                    <a:effectLst/>
                    <a:latin typeface="Helvetica" pitchFamily="2" charset="0"/>
                  </a:rPr>
                  <a:t>と共に用いる場合が多い評価基準の一つです。</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ja-JP" sz="1200" b="0" i="1" smtClean="0">
                        <a:latin typeface="Cambria Math" panose="02040503050406030204" pitchFamily="18" charset="0"/>
                      </a:rPr>
                      <m:t>𝑣</m:t>
                    </m:r>
                  </m:oMath>
                </a14:m>
                <a:r>
                  <a:rPr lang="ja-JP" altLang="en-US" sz="1200">
                    <a:latin typeface="+mn-ea"/>
                  </a:rPr>
                  <a:t>と</a:t>
                </a:r>
                <a14:m>
                  <m:oMath xmlns:m="http://schemas.openxmlformats.org/officeDocument/2006/math">
                    <m:r>
                      <a:rPr kumimoji="1" lang="en-US" altLang="ja-JP" b="0" i="1" smtClean="0">
                        <a:latin typeface="Cambria Math" panose="02040503050406030204" pitchFamily="18" charset="0"/>
                      </a:rPr>
                      <m:t>𝑣</m:t>
                    </m:r>
                  </m:oMath>
                </a14:m>
                <a:r>
                  <a:rPr kumimoji="1" lang="ja-JP" altLang="en-US"/>
                  <a:t>ハットの関係を</a:t>
                </a:r>
                <a:r>
                  <a:rPr kumimoji="1" lang="ja-JP" altLang="en-US" sz="1200">
                    <a:latin typeface="+mn-ea"/>
                  </a:rPr>
                  <a:t>再掲しています。</a:t>
                </a:r>
                <a:endParaRPr lang="en-US" altLang="ja-JP" sz="1200" dirty="0">
                  <a:latin typeface="+mn-ea"/>
                </a:endParaRPr>
              </a:p>
              <a:p>
                <a:r>
                  <a:rPr kumimoji="1" lang="en-US" altLang="ja-JP" sz="1200" dirty="0">
                    <a:latin typeface="+mn-ea"/>
                  </a:rPr>
                  <a:t>B</a:t>
                </a:r>
                <a:r>
                  <a:rPr kumimoji="1" lang="ja-JP" altLang="en-US" sz="1200">
                    <a:latin typeface="+mn-ea"/>
                  </a:rPr>
                  <a:t>を真の主成分負荷量</a:t>
                </a:r>
                <a:r>
                  <a:rPr kumimoji="1" lang="ja-JP" altLang="en-US" sz="1200"/>
                  <a:t>の値が非ゼロとなる個数、</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B</a:t>
                </a:r>
                <a:r>
                  <a:rPr kumimoji="1" lang="ja-JP" altLang="en-US"/>
                  <a:t>のうち、推定した</a:t>
                </a:r>
                <a:r>
                  <a:rPr kumimoji="1" lang="ja-JP" altLang="en-US" sz="1200">
                    <a:latin typeface="+mn-ea"/>
                  </a:rPr>
                  <a:t>主成分負荷量</a:t>
                </a:r>
                <a:r>
                  <a:rPr kumimoji="1" lang="ja-JP" altLang="en-US"/>
                  <a:t>の値が非ゼロとなるものの個数を</a:t>
                </a:r>
                <a:r>
                  <a:rPr kumimoji="1" lang="en-US" altLang="ja-JP" dirty="0"/>
                  <a:t>S</a:t>
                </a:r>
                <a:r>
                  <a:rPr kumimoji="1" lang="ja-JP" altLang="en-US"/>
                  <a:t>とすると、検出力は</a:t>
                </a:r>
                <a:r>
                  <a:rPr kumimoji="1" lang="en-US" altLang="ja-JP" dirty="0"/>
                  <a:t>B</a:t>
                </a:r>
                <a:r>
                  <a:rPr kumimoji="1" lang="ja-JP" altLang="en-US"/>
                  <a:t>のうち</a:t>
                </a:r>
                <a:r>
                  <a:rPr kumimoji="1" lang="en-US" altLang="ja-JP" dirty="0"/>
                  <a:t>S</a:t>
                </a:r>
                <a:r>
                  <a:rPr kumimoji="1" lang="ja-JP" altLang="en-US"/>
                  <a:t>を満たす割合です。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検出力の値が大きいと、非ゼロである主成分負荷量を正しく選択できていることを意味します。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a:t>数値実験では検出力の期待値を算出しました。</a:t>
                </a:r>
                <a:r>
                  <a:rPr kumimoji="1" lang="en-US" altLang="ja-JP" dirty="0"/>
                  <a:t>)))</a:t>
                </a:r>
              </a:p>
              <a:p>
                <a:endParaRPr kumimoji="1" lang="en-US" altLang="ja-JP" dirty="0"/>
              </a:p>
              <a:p>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a:t>評価指標に</a:t>
                </a:r>
                <a:r>
                  <a:rPr kumimoji="1" lang="en-US" altLang="ja-JP" dirty="0"/>
                  <a:t>FDR</a:t>
                </a:r>
                <a:r>
                  <a:rPr kumimoji="1" lang="ja-JP" altLang="en-US"/>
                  <a:t>があります。</a:t>
                </a:r>
                <a:endParaRPr kumimoji="1" lang="en-US" altLang="ja-JP" dirty="0"/>
              </a:p>
              <a:p>
                <a:endParaRPr kumimoji="1" lang="en-US" altLang="ja-JP" dirty="0"/>
              </a:p>
              <a:p>
                <a:r>
                  <a:rPr kumimoji="1" lang="ja-JP" altLang="en-US"/>
                  <a:t>まず、真の主成分負荷量を</a:t>
                </a:r>
                <a:r>
                  <a:rPr kumimoji="1" lang="en-US" altLang="ja-JP" b="0" i="0">
                    <a:latin typeface="Cambria Math" panose="02040503050406030204" pitchFamily="18" charset="0"/>
                  </a:rPr>
                  <a:t>𝑣</a:t>
                </a:r>
                <a:r>
                  <a:rPr kumimoji="1" lang="ja-JP" altLang="en-US"/>
                  <a:t>アスタ、推定された主成分負荷量を</a:t>
                </a:r>
                <a:r>
                  <a:rPr kumimoji="1" lang="en-US" altLang="ja-JP" b="0" i="0">
                    <a:latin typeface="Cambria Math" panose="02040503050406030204" pitchFamily="18" charset="0"/>
                  </a:rPr>
                  <a:t>𝑣</a:t>
                </a:r>
                <a:r>
                  <a:rPr kumimoji="1" lang="ja-JP" altLang="en-US"/>
                  <a:t>ハットとし、</a:t>
                </a:r>
                <a:endParaRPr kumimoji="1" lang="en-US" altLang="ja-JP" dirty="0"/>
              </a:p>
              <a:p>
                <a:r>
                  <a:rPr kumimoji="1" lang="ja-JP" altLang="en-US"/>
                  <a:t>真の主成分負荷量のうち、非ゼロとなる主成分負荷量の添字集合を</a:t>
                </a:r>
                <a:r>
                  <a:rPr kumimoji="1" lang="en-US" altLang="ja-JP" dirty="0"/>
                  <a:t>A</a:t>
                </a:r>
                <a:r>
                  <a:rPr kumimoji="1" lang="ja-JP" altLang="en-US"/>
                  <a:t>、ゼロとなる主成分負荷量の添字集合を</a:t>
                </a:r>
                <a:r>
                  <a:rPr kumimoji="1" lang="en-US" altLang="ja-JP" dirty="0"/>
                  <a:t>A</a:t>
                </a:r>
                <a:r>
                  <a:rPr kumimoji="1" lang="ja-JP" altLang="en-US"/>
                  <a:t>の補集合とします。</a:t>
                </a:r>
                <a:endParaRPr kumimoji="1" lang="en-US" altLang="ja-JP" dirty="0"/>
              </a:p>
              <a:p>
                <a:endParaRPr kumimoji="1" lang="en-US" altLang="ja-JP" dirty="0"/>
              </a:p>
              <a:p>
                <a:endParaRPr kumimoji="1" lang="en-US" altLang="ja-JP" dirty="0"/>
              </a:p>
              <a:p>
                <a:endParaRPr kumimoji="1" lang="en-US" altLang="ja-JP" dirty="0"/>
              </a:p>
            </p:txBody>
          </p:sp>
        </mc:Fallback>
      </mc:AlternateContent>
      <p:sp>
        <p:nvSpPr>
          <p:cNvPr id="4" name="スライド番号プレースホルダー 3">
            <a:extLst>
              <a:ext uri="{FF2B5EF4-FFF2-40B4-BE49-F238E27FC236}">
                <a16:creationId xmlns:a16="http://schemas.microsoft.com/office/drawing/2014/main" id="{644556F8-8E65-B688-75A2-966A7525D39A}"/>
              </a:ext>
            </a:extLst>
          </p:cNvPr>
          <p:cNvSpPr>
            <a:spLocks noGrp="1"/>
          </p:cNvSpPr>
          <p:nvPr>
            <p:ph type="sldNum" sz="quarter" idx="5"/>
          </p:nvPr>
        </p:nvSpPr>
        <p:spPr/>
        <p:txBody>
          <a:bodyPr/>
          <a:lstStyle/>
          <a:p>
            <a:fld id="{C3AA1469-922B-5243-9CFC-ED99F2A55A38}" type="slidenum">
              <a:rPr kumimoji="1" lang="ja-JP" altLang="en-US" smtClean="0"/>
              <a:t>23</a:t>
            </a:fld>
            <a:endParaRPr kumimoji="1" lang="ja-JP" altLang="en-US"/>
          </a:p>
        </p:txBody>
      </p:sp>
    </p:spTree>
    <p:extLst>
      <p:ext uri="{BB962C8B-B14F-4D97-AF65-F5344CB8AC3E}">
        <p14:creationId xmlns:p14="http://schemas.microsoft.com/office/powerpoint/2010/main" val="1132799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こちらが結果になります。</a:t>
                </a:r>
                <a:r>
                  <a:rPr lang="en-US" altLang="ja-JP" dirty="0">
                    <a:effectLst/>
                    <a:latin typeface="Helvetica" pitchFamily="2" charset="0"/>
                  </a:rPr>
                  <a:t>FDR </a:t>
                </a:r>
                <a:r>
                  <a:rPr lang="ja-JP" altLang="en-US">
                    <a:effectLst/>
                    <a:latin typeface="Helvetica" pitchFamily="2" charset="0"/>
                  </a:rPr>
                  <a:t>と検出力の右に記載されている括弧は標準偏差を表します．</a:t>
                </a:r>
                <a:endParaRPr lang="en-US" altLang="ja-JP" dirty="0">
                  <a:effectLst/>
                  <a:latin typeface="Helvetica" pitchFamily="2" charset="0"/>
                </a:endParaRPr>
              </a:p>
              <a:p>
                <a:r>
                  <a:rPr lang="ja-JP" altLang="en-US">
                    <a:effectLst/>
                    <a:latin typeface="Helvetica" pitchFamily="2" charset="0"/>
                  </a:rPr>
                  <a:t>まず，第</a:t>
                </a:r>
                <a:r>
                  <a:rPr lang="en-US" altLang="ja-JP" dirty="0">
                    <a:effectLst/>
                    <a:latin typeface="Helvetica" pitchFamily="2" charset="0"/>
                  </a:rPr>
                  <a:t>1</a:t>
                </a:r>
                <a:r>
                  <a:rPr lang="ja-JP" altLang="en-US">
                    <a:effectLst/>
                    <a:latin typeface="Helvetica" pitchFamily="2" charset="0"/>
                  </a:rPr>
                  <a:t>主成分についてです。</a:t>
                </a:r>
                <a:endParaRPr lang="en-US" altLang="ja-JP" dirty="0">
                  <a:effectLst/>
                  <a:latin typeface="Helvetica" pitchFamily="2" charset="0"/>
                </a:endParaRPr>
              </a:p>
              <a:p>
                <a:r>
                  <a:rPr lang="ja-JP" altLang="en-US">
                    <a:effectLst/>
                    <a:latin typeface="Helvetica" pitchFamily="2" charset="0"/>
                  </a:rPr>
                  <a:t>提案手法の</a:t>
                </a:r>
                <a:r>
                  <a:rPr lang="en-US" altLang="ja-JP" dirty="0">
                    <a:effectLst/>
                    <a:latin typeface="Helvetica" pitchFamily="2" charset="0"/>
                  </a:rPr>
                  <a:t>FDR</a:t>
                </a:r>
                <a:r>
                  <a:rPr lang="ja-JP" altLang="en-US">
                    <a:effectLst/>
                    <a:latin typeface="Helvetica" pitchFamily="2" charset="0"/>
                  </a:rPr>
                  <a:t>はすべての設定において</a:t>
                </a:r>
                <a:r>
                  <a:rPr lang="en-US" altLang="ja-JP" dirty="0">
                    <a:effectLst/>
                    <a:latin typeface="Helvetica" pitchFamily="2" charset="0"/>
                  </a:rPr>
                  <a:t>FDR</a:t>
                </a:r>
                <a:r>
                  <a:rPr lang="ja-JP" altLang="en-US">
                    <a:effectLst/>
                    <a:latin typeface="Helvetica" pitchFamily="2" charset="0"/>
                  </a:rPr>
                  <a:t>制御値である</a:t>
                </a:r>
                <a:r>
                  <a:rPr lang="en-US" altLang="ja-JP" dirty="0">
                    <a:effectLst/>
                    <a:latin typeface="Helvetica" pitchFamily="2" charset="0"/>
                  </a:rPr>
                  <a:t>0.2 </a:t>
                </a:r>
                <a:r>
                  <a:rPr lang="ja-JP" altLang="en-US">
                    <a:effectLst/>
                    <a:latin typeface="Helvetica" pitchFamily="2" charset="0"/>
                  </a:rPr>
                  <a:t>を下回った．</a:t>
                </a:r>
                <a:endParaRPr lang="en-US" altLang="ja-JP" dirty="0">
                  <a:effectLst/>
                  <a:latin typeface="Helvetica" pitchFamily="2" charset="0"/>
                </a:endParaRPr>
              </a:p>
              <a:p>
                <a:r>
                  <a:rPr lang="ja-JP" altLang="en-US">
                    <a:effectLst/>
                    <a:latin typeface="Helvetica" pitchFamily="2" charset="0"/>
                  </a:rPr>
                  <a:t>したがって，第</a:t>
                </a:r>
                <a:r>
                  <a:rPr lang="en-US" altLang="ja-JP" dirty="0">
                    <a:effectLst/>
                    <a:latin typeface="Helvetica" pitchFamily="2" charset="0"/>
                  </a:rPr>
                  <a:t>1 </a:t>
                </a:r>
                <a:r>
                  <a:rPr lang="ja-JP" altLang="en-US">
                    <a:effectLst/>
                    <a:latin typeface="Helvetica" pitchFamily="2" charset="0"/>
                  </a:rPr>
                  <a:t>主成分については</a:t>
                </a:r>
                <a:r>
                  <a:rPr lang="en-US" altLang="ja-JP" dirty="0">
                    <a:effectLst/>
                    <a:latin typeface="Helvetica" pitchFamily="2" charset="0"/>
                  </a:rPr>
                  <a:t>FDR </a:t>
                </a:r>
                <a:r>
                  <a:rPr lang="ja-JP" altLang="en-US">
                    <a:effectLst/>
                    <a:latin typeface="Helvetica" pitchFamily="2" charset="0"/>
                  </a:rPr>
                  <a:t>制御ができているといえる．</a:t>
                </a:r>
                <a:endParaRPr lang="en-US" altLang="ja-JP" dirty="0">
                  <a:effectLst/>
                  <a:latin typeface="Helvetica" pitchFamily="2" charset="0"/>
                </a:endParaRPr>
              </a:p>
              <a:p>
                <a:r>
                  <a:rPr lang="ja-JP" altLang="en-US" u="sng">
                    <a:effectLst/>
                    <a:latin typeface="Helvetica" pitchFamily="2" charset="0"/>
                  </a:rPr>
                  <a:t>また、検出力が</a:t>
                </a:r>
                <a:r>
                  <a:rPr lang="en-US" altLang="ja-JP" u="sng" dirty="0">
                    <a:effectLst/>
                    <a:latin typeface="Helvetica" pitchFamily="2" charset="0"/>
                  </a:rPr>
                  <a:t>1 </a:t>
                </a:r>
                <a:r>
                  <a:rPr lang="ja-JP" altLang="en-US" u="sng">
                    <a:effectLst/>
                    <a:latin typeface="Helvetica" pitchFamily="2" charset="0"/>
                  </a:rPr>
                  <a:t>であるのは，固有ベクトルの設定において，非</a:t>
                </a:r>
                <a:r>
                  <a:rPr lang="en-US" altLang="ja-JP" u="sng" dirty="0">
                    <a:effectLst/>
                    <a:latin typeface="Helvetica" pitchFamily="2" charset="0"/>
                  </a:rPr>
                  <a:t>0 </a:t>
                </a:r>
                <a:r>
                  <a:rPr lang="ja-JP" altLang="en-US" u="sng">
                    <a:effectLst/>
                    <a:latin typeface="Helvetica" pitchFamily="2" charset="0"/>
                  </a:rPr>
                  <a:t>の値が</a:t>
                </a:r>
                <a:r>
                  <a:rPr lang="en-US" altLang="ja-JP" u="sng" dirty="0">
                    <a:effectLst/>
                    <a:latin typeface="Helvetica" pitchFamily="2" charset="0"/>
                  </a:rPr>
                  <a:t>1</a:t>
                </a:r>
                <a:r>
                  <a:rPr lang="ja-JP" altLang="en-US" u="sng">
                    <a:effectLst/>
                    <a:latin typeface="Helvetica" pitchFamily="2" charset="0"/>
                  </a:rPr>
                  <a:t>といった比較的大きな値に設定しているからだと考えられる．</a:t>
                </a:r>
              </a:p>
              <a:p>
                <a:r>
                  <a:rPr lang="ja-JP" altLang="en-US" u="sng">
                    <a:effectLst/>
                    <a:latin typeface="Helvetica" pitchFamily="2" charset="0"/>
                  </a:rPr>
                  <a:t>次に，</a:t>
                </a:r>
                <a:r>
                  <a:rPr lang="en-US" altLang="ja-JP" sz="1800" u="sng" dirty="0">
                    <a:effectLst/>
                    <a:latin typeface="游明朝" panose="02020400000000000000" pitchFamily="18" charset="-128"/>
                    <a:cs typeface="Times New Roman" panose="02020603050405020304" pitchFamily="18" charset="0"/>
                  </a:rPr>
                  <a:t>FDR</a:t>
                </a:r>
                <a:r>
                  <a:rPr lang="ja-JP" altLang="ja-JP" sz="1800" u="sng">
                    <a:effectLst/>
                    <a:ea typeface="游明朝" panose="02020400000000000000" pitchFamily="18" charset="-128"/>
                    <a:cs typeface="Times New Roman" panose="02020603050405020304" pitchFamily="18" charset="0"/>
                  </a:rPr>
                  <a:t>制御を行うなかでスタンダードな手法である、既存手法の</a:t>
                </a:r>
                <a:r>
                  <a:rPr lang="en-US" altLang="ja-JP" sz="1800" u="sng" dirty="0">
                    <a:effectLst/>
                    <a:ea typeface="游明朝" panose="02020400000000000000" pitchFamily="18" charset="-128"/>
                    <a:cs typeface="Times New Roman" panose="02020603050405020304" pitchFamily="18" charset="0"/>
                  </a:rPr>
                  <a:t>BH </a:t>
                </a:r>
                <a:r>
                  <a:rPr lang="ja-JP" altLang="ja-JP" sz="1800" u="sng">
                    <a:effectLst/>
                    <a:ea typeface="游明朝" panose="02020400000000000000" pitchFamily="18" charset="-128"/>
                    <a:cs typeface="Times New Roman" panose="02020603050405020304" pitchFamily="18" charset="0"/>
                  </a:rPr>
                  <a:t>法は，すべての設定において</a:t>
                </a:r>
                <a:r>
                  <a:rPr lang="en-US" altLang="ja-JP" sz="1800" u="sng" dirty="0">
                    <a:effectLst/>
                    <a:ea typeface="游明朝" panose="02020400000000000000" pitchFamily="18" charset="-128"/>
                    <a:cs typeface="Times New Roman" panose="02020603050405020304" pitchFamily="18" charset="0"/>
                  </a:rPr>
                  <a:t>FDR </a:t>
                </a:r>
                <a:r>
                  <a:rPr lang="ja-JP" altLang="ja-JP" sz="1800" u="sng">
                    <a:effectLst/>
                    <a:ea typeface="游明朝" panose="02020400000000000000" pitchFamily="18" charset="-128"/>
                    <a:cs typeface="Times New Roman" panose="02020603050405020304" pitchFamily="18" charset="0"/>
                  </a:rPr>
                  <a:t>制御値を大きく上回った．これは，どの設定においても</a:t>
                </a:r>
                <a:r>
                  <a:rPr lang="en-US" altLang="ja-JP" sz="1800" u="sng" dirty="0">
                    <a:effectLst/>
                    <a:ea typeface="游明朝" panose="02020400000000000000" pitchFamily="18" charset="-128"/>
                    <a:cs typeface="Times New Roman" panose="02020603050405020304" pitchFamily="18" charset="0"/>
                  </a:rPr>
                  <a:t>FDR </a:t>
                </a:r>
                <a:r>
                  <a:rPr lang="ja-JP" altLang="ja-JP" sz="1800" u="sng">
                    <a:effectLst/>
                    <a:ea typeface="游明朝" panose="02020400000000000000" pitchFamily="18" charset="-128"/>
                    <a:cs typeface="Times New Roman" panose="02020603050405020304" pitchFamily="18" charset="0"/>
                  </a:rPr>
                  <a:t>の制御が不可能であることを示している．</a:t>
                </a:r>
                <a:r>
                  <a:rPr lang="ja-JP" altLang="ja-JP" u="sng">
                    <a:effectLst/>
                  </a:rPr>
                  <a:t> </a:t>
                </a:r>
                <a:endParaRPr lang="ja-JP" altLang="en-US" u="sng">
                  <a:effectLst/>
                  <a:latin typeface="Helvetica" pitchFamily="2" charset="0"/>
                </a:endParaRPr>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つぎに</a:t>
                </a:r>
                <a:r>
                  <a:rPr kumimoji="1" lang="ja-JP" altLang="en-US" sz="1200" b="0" i="0" kern="1200">
                    <a:solidFill>
                      <a:schemeClr val="tx1"/>
                    </a:solidFill>
                    <a:effectLst/>
                    <a:latin typeface="Cambria Math" panose="02040503050406030204" pitchFamily="18" charset="0"/>
                    <a:ea typeface="+mn-ea"/>
                    <a:cs typeface="+mn-cs"/>
                  </a:rPr>
                  <a:t>、</a:t>
                </a:r>
                <a:r>
                  <a:rPr kumimoji="1" lang="en-US" altLang="ja-JP" sz="1200" b="0" i="0" kern="1200">
                    <a:solidFill>
                      <a:schemeClr val="tx1"/>
                    </a:solidFill>
                    <a:effectLst/>
                    <a:latin typeface="Cambria Math" panose="02040503050406030204" pitchFamily="18" charset="0"/>
                    <a:ea typeface="+mn-ea"/>
                    <a:cs typeface="+mn-cs"/>
                  </a:rPr>
                  <a:t>𝐹𝐷𝑅</a:t>
                </a:r>
                <a:r>
                  <a:rPr kumimoji="1" lang="ja-JP" altLang="en-US" sz="1200" b="0" i="0" kern="1200">
                    <a:solidFill>
                      <a:schemeClr val="tx1"/>
                    </a:solidFill>
                    <a:effectLst/>
                    <a:latin typeface="Cambria Math" panose="02040503050406030204" pitchFamily="18" charset="0"/>
                    <a:ea typeface="+mn-ea"/>
                    <a:cs typeface="+mn-cs"/>
                  </a:rPr>
                  <a:t>制御値を</a:t>
                </a:r>
                <a:r>
                  <a:rPr lang="en-US" altLang="ja-JP" sz="1200" b="0" i="0">
                    <a:solidFill>
                      <a:schemeClr val="tx1"/>
                    </a:solidFill>
                    <a:latin typeface="Cambria Math" panose="02040503050406030204" pitchFamily="18" charset="0"/>
                  </a:rPr>
                  <a:t>0.2</a:t>
                </a:r>
                <a:r>
                  <a:rPr kumimoji="1" lang="ja-JP" altLang="en-US" sz="1200" kern="1200">
                    <a:solidFill>
                      <a:schemeClr val="tx1"/>
                    </a:solidFill>
                    <a:effectLst/>
                    <a:latin typeface="+mn-lt"/>
                    <a:ea typeface="+mn-ea"/>
                    <a:cs typeface="+mn-cs"/>
                  </a:rPr>
                  <a:t>に設定した場合です。</a:t>
                </a:r>
              </a:p>
              <a:p>
                <a:endParaRPr kumimoji="1" lang="ja-JP" altLang="en-US" sz="1200" kern="1200">
                  <a:solidFill>
                    <a:schemeClr val="tx1"/>
                  </a:solidFill>
                  <a:effectLst/>
                  <a:latin typeface="+mn-lt"/>
                  <a:ea typeface="+mn-ea"/>
                  <a:cs typeface="+mn-cs"/>
                </a:endParaRPr>
              </a:p>
              <a:p>
                <a:r>
                  <a:rPr kumimoji="1" lang="ja-JP" altLang="en-US"/>
                  <a:t>左下の</a:t>
                </a:r>
                <a:r>
                  <a:rPr kumimoji="1" lang="en-US" altLang="ja-JP" dirty="0"/>
                  <a:t>FDR</a:t>
                </a:r>
                <a:r>
                  <a:rPr kumimoji="1" lang="ja-JP" altLang="en-US"/>
                  <a:t>の期待値、</a:t>
                </a:r>
                <a:r>
                  <a:rPr lang="en-US" altLang="ja-JP" sz="1200" b="0" i="0">
                    <a:effectLst/>
                    <a:latin typeface="Cambria Math" panose="02040503050406030204" pitchFamily="18" charset="0"/>
                    <a:ea typeface="Hiragino Sans" panose="020B0400000000000000" pitchFamily="34" charset="-128"/>
                  </a:rPr>
                  <a:t>0.2212636</a:t>
                </a:r>
                <a:r>
                  <a:rPr kumimoji="1" lang="ja-JP" altLang="en-US"/>
                  <a:t>が実験結果です。</a:t>
                </a:r>
                <a:endParaRPr kumimoji="1" lang="en-US" altLang="ja-JP" dirty="0"/>
              </a:p>
              <a:p>
                <a:r>
                  <a:rPr kumimoji="1" lang="ja-JP" altLang="en-US"/>
                  <a:t>あらかじめ設定した</a:t>
                </a:r>
                <a:r>
                  <a:rPr kumimoji="1" lang="en-US" altLang="ja-JP" dirty="0"/>
                  <a:t>0.2</a:t>
                </a:r>
                <a:r>
                  <a:rPr kumimoji="1" lang="ja-JP" altLang="en-US"/>
                  <a:t>の値を下回るべきでしたが、超えてしまいました。</a:t>
                </a:r>
                <a:endParaRPr kumimoji="1" lang="en-US" altLang="ja-JP" dirty="0"/>
              </a:p>
              <a:p>
                <a:endParaRPr kumimoji="1" lang="en-US" altLang="ja-JP" dirty="0"/>
              </a:p>
              <a:p>
                <a:r>
                  <a:rPr kumimoji="1" lang="ja-JP" altLang="en-US"/>
                  <a:t>また、上の表に関して</a:t>
                </a:r>
                <a:r>
                  <a:rPr kumimoji="1" lang="ja-JP" altLang="en-US">
                    <a:latin typeface="+mn-ea"/>
                  </a:rPr>
                  <a:t>、</a:t>
                </a:r>
                <a:endParaRPr kumimoji="1" lang="en-US" altLang="ja-JP" dirty="0">
                  <a:latin typeface="+mn-ea"/>
                </a:endParaRPr>
              </a:p>
              <a:p>
                <a:r>
                  <a:rPr kumimoji="1" lang="ja-JP" altLang="en-US">
                    <a:latin typeface="+mn-ea"/>
                  </a:rPr>
                  <a:t>下線を引いた部分では</a:t>
                </a:r>
                <a:r>
                  <a:rPr kumimoji="1" lang="en-US" altLang="ja-JP" dirty="0">
                    <a:latin typeface="+mn-ea"/>
                  </a:rPr>
                  <a:t>0</a:t>
                </a:r>
                <a:r>
                  <a:rPr kumimoji="1" lang="ja-JP" altLang="en-US">
                    <a:latin typeface="+mn-ea"/>
                  </a:rPr>
                  <a:t>回に程遠くなっております。</a:t>
                </a:r>
                <a:endParaRPr kumimoji="1" lang="en-US" altLang="ja-JP" dirty="0">
                  <a:latin typeface="+mn-ea"/>
                </a:endParaRPr>
              </a:p>
              <a:p>
                <a:endParaRPr kumimoji="1" lang="en-US" altLang="ja-JP" dirty="0">
                  <a:latin typeface="+mn-ea"/>
                </a:endParaRPr>
              </a:p>
              <a:p>
                <a:r>
                  <a:rPr kumimoji="1" lang="ja-JP" altLang="en-US">
                    <a:latin typeface="+mn-ea"/>
                  </a:rPr>
                  <a:t>これらの原因としては</a:t>
                </a:r>
                <a:r>
                  <a:rPr kumimoji="1" lang="ja-JP" altLang="en-US">
                    <a:latin typeface="+mn-ea"/>
                    <a:ea typeface="+mn-ea"/>
                  </a:rPr>
                  <a:t>、手順</a:t>
                </a:r>
                <a:r>
                  <a:rPr kumimoji="1" lang="en-US" altLang="ja-JP" dirty="0">
                    <a:latin typeface="+mn-ea"/>
                    <a:ea typeface="+mn-ea"/>
                  </a:rPr>
                  <a:t>1</a:t>
                </a:r>
                <a:r>
                  <a:rPr kumimoji="1" lang="ja-JP" altLang="en-US">
                    <a:latin typeface="+mn-ea"/>
                    <a:ea typeface="+mn-ea"/>
                  </a:rPr>
                  <a:t>の相関行列から</a:t>
                </a:r>
                <a:r>
                  <a:rPr kumimoji="1" lang="en-US" altLang="ja-JP" sz="1200" dirty="0">
                    <a:latin typeface="+mn-ea"/>
                    <a:ea typeface="+mn-ea"/>
                    <a:cs typeface="ヒラギノ角ゴ Pro W3"/>
                  </a:rPr>
                  <a:t>Knockoff</a:t>
                </a:r>
                <a:r>
                  <a:rPr kumimoji="1" lang="ja-JP" altLang="en-US" sz="1200">
                    <a:latin typeface="+mn-ea"/>
                    <a:ea typeface="+mn-ea"/>
                    <a:cs typeface="ヒラギノ角ゴ Pro W3"/>
                  </a:rPr>
                  <a:t>変数を抽出する際にノイズが生じている点が挙げられます。</a:t>
                </a:r>
                <a:endParaRPr kumimoji="1" lang="en-US" altLang="ja-JP" dirty="0">
                  <a:latin typeface="+mn-ea"/>
                  <a:ea typeface="+mn-ea"/>
                </a:endParaRPr>
              </a:p>
              <a:p>
                <a:endParaRPr kumimoji="1" lang="en-US" altLang="ja-JP" dirty="0">
                  <a:latin typeface="+mn-ea"/>
                </a:endParaRPr>
              </a:p>
              <a:p>
                <a:endParaRPr kumimoji="1" lang="en-US" altLang="ja-JP" dirty="0">
                  <a:latin typeface="+mn-ea"/>
                </a:endParaRPr>
              </a:p>
              <a:p>
                <a:endParaRPr kumimoji="1" lang="en-US" altLang="ja-JP" dirty="0">
                  <a:latin typeface="+mn-ea"/>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24</a:t>
            </a:fld>
            <a:endParaRPr kumimoji="1" lang="ja-JP" altLang="en-US"/>
          </a:p>
        </p:txBody>
      </p:sp>
    </p:spTree>
    <p:extLst>
      <p:ext uri="{BB962C8B-B14F-4D97-AF65-F5344CB8AC3E}">
        <p14:creationId xmlns:p14="http://schemas.microsoft.com/office/powerpoint/2010/main" val="3133640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E9D89-478E-912C-1BAA-5B3492577C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508D7E-09B2-D0FC-96CE-A3F349AA3CD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14AB4DD4-5D8B-78E5-1453-6874D283B590}"/>
                  </a:ext>
                </a:extLst>
              </p:cNvPr>
              <p:cNvSpPr>
                <a:spLocks noGrp="1"/>
              </p:cNvSpPr>
              <p:nvPr>
                <p:ph type="body" idx="1"/>
              </p:nvPr>
            </p:nvSpPr>
            <p:spPr/>
            <p:txBody>
              <a:bodyPr/>
              <a:lstStyle/>
              <a:p>
                <a:r>
                  <a:rPr lang="ja-JP" altLang="en-US">
                    <a:effectLst/>
                    <a:latin typeface="Helvetica" pitchFamily="2" charset="0"/>
                  </a:rPr>
                  <a:t>第</a:t>
                </a:r>
                <a:r>
                  <a:rPr lang="en-US" altLang="ja-JP" dirty="0">
                    <a:effectLst/>
                    <a:latin typeface="Helvetica" pitchFamily="2" charset="0"/>
                  </a:rPr>
                  <a:t>2 </a:t>
                </a:r>
                <a:r>
                  <a:rPr lang="ja-JP" altLang="en-US">
                    <a:effectLst/>
                    <a:latin typeface="Helvetica" pitchFamily="2" charset="0"/>
                  </a:rPr>
                  <a:t>主成分の</a:t>
                </a:r>
                <a:r>
                  <a:rPr lang="en-US" altLang="ja-JP" dirty="0">
                    <a:effectLst/>
                    <a:latin typeface="Helvetica" pitchFamily="2" charset="0"/>
                  </a:rPr>
                  <a:t>{A = 50, n = 500} </a:t>
                </a:r>
                <a:r>
                  <a:rPr lang="ja-JP" altLang="en-US">
                    <a:effectLst/>
                    <a:latin typeface="Helvetica" pitchFamily="2" charset="0"/>
                  </a:rPr>
                  <a:t>の設定では</a:t>
                </a:r>
                <a:r>
                  <a:rPr lang="en-US" altLang="ja-JP" dirty="0">
                    <a:effectLst/>
                    <a:latin typeface="Helvetica" pitchFamily="2" charset="0"/>
                  </a:rPr>
                  <a:t>FDR </a:t>
                </a:r>
                <a:r>
                  <a:rPr lang="ja-JP" altLang="en-US">
                    <a:effectLst/>
                    <a:latin typeface="Helvetica" pitchFamily="2" charset="0"/>
                  </a:rPr>
                  <a:t>が</a:t>
                </a:r>
                <a:r>
                  <a:rPr lang="en-US" altLang="ja-JP" dirty="0">
                    <a:effectLst/>
                    <a:latin typeface="Helvetica" pitchFamily="2" charset="0"/>
                  </a:rPr>
                  <a:t>0.2 </a:t>
                </a:r>
                <a:r>
                  <a:rPr lang="ja-JP" altLang="en-US">
                    <a:effectLst/>
                    <a:latin typeface="Helvetica" pitchFamily="2" charset="0"/>
                  </a:rPr>
                  <a:t>をわずかに超えました。</a:t>
                </a:r>
                <a:endParaRPr lang="en-US" altLang="ja-JP" dirty="0">
                  <a:effectLst/>
                  <a:latin typeface="Helvetica" pitchFamily="2" charset="0"/>
                </a:endParaRPr>
              </a:p>
              <a:p>
                <a:r>
                  <a:rPr lang="ja-JP" altLang="en-US">
                    <a:effectLst/>
                    <a:latin typeface="Helvetica" pitchFamily="2" charset="0"/>
                  </a:rPr>
                  <a:t>この結果は，第</a:t>
                </a:r>
                <a:r>
                  <a:rPr lang="en-US" altLang="ja-JP" dirty="0">
                    <a:effectLst/>
                    <a:latin typeface="Helvetica" pitchFamily="2" charset="0"/>
                  </a:rPr>
                  <a:t>1 </a:t>
                </a:r>
                <a:r>
                  <a:rPr lang="ja-JP" altLang="en-US">
                    <a:effectLst/>
                    <a:latin typeface="Helvetica" pitchFamily="2" charset="0"/>
                  </a:rPr>
                  <a:t>主成分の固有値と比較して，第</a:t>
                </a:r>
                <a:r>
                  <a:rPr lang="en-US" altLang="ja-JP" dirty="0">
                    <a:effectLst/>
                    <a:latin typeface="Helvetica" pitchFamily="2" charset="0"/>
                  </a:rPr>
                  <a:t>2 </a:t>
                </a:r>
                <a:r>
                  <a:rPr lang="ja-JP" altLang="en-US">
                    <a:effectLst/>
                    <a:latin typeface="Helvetica" pitchFamily="2" charset="0"/>
                  </a:rPr>
                  <a:t>主成分の固有値の値が小さいことが原因であると見られる．</a:t>
                </a:r>
                <a:endParaRPr lang="en-US" altLang="ja-JP" dirty="0">
                  <a:effectLst/>
                  <a:latin typeface="Helvetica" pitchFamily="2" charset="0"/>
                </a:endParaRPr>
              </a:p>
              <a:p>
                <a:r>
                  <a:rPr lang="ja-JP" altLang="en-US">
                    <a:effectLst/>
                    <a:latin typeface="Helvetica" pitchFamily="2" charset="0"/>
                  </a:rPr>
                  <a:t>さらに，第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a:t>
                </a:r>
                <a:r>
                  <a:rPr lang="ja-JP" altLang="en-US">
                    <a:effectLst/>
                    <a:latin typeface="Helvetica" pitchFamily="2" charset="0"/>
                  </a:rPr>
                  <a:t>主成分以降との固有値の差と比較して，第</a:t>
                </a:r>
                <a:r>
                  <a:rPr lang="en-US" altLang="ja-JP" dirty="0">
                    <a:effectLst/>
                    <a:latin typeface="Helvetica" pitchFamily="2" charset="0"/>
                  </a:rPr>
                  <a:t>2 </a:t>
                </a:r>
                <a:r>
                  <a:rPr lang="ja-JP" altLang="en-US">
                    <a:effectLst/>
                    <a:latin typeface="Helvetica" pitchFamily="2" charset="0"/>
                  </a:rPr>
                  <a:t>主成分と第</a:t>
                </a:r>
                <a:r>
                  <a:rPr lang="en-US" altLang="ja-JP" dirty="0">
                    <a:effectLst/>
                    <a:latin typeface="Helvetica" pitchFamily="2" charset="0"/>
                  </a:rPr>
                  <a:t>3 </a:t>
                </a:r>
                <a:r>
                  <a:rPr lang="ja-JP" altLang="en-US">
                    <a:effectLst/>
                    <a:latin typeface="Helvetica" pitchFamily="2" charset="0"/>
                  </a:rPr>
                  <a:t>主成分以降との固有値の</a:t>
                </a:r>
              </a:p>
              <a:p>
                <a:r>
                  <a:rPr lang="ja-JP" altLang="en-US">
                    <a:effectLst/>
                    <a:latin typeface="Helvetica" pitchFamily="2" charset="0"/>
                  </a:rPr>
                  <a:t>差が小さいことも一因に挙げられる．</a:t>
                </a:r>
                <a:endParaRPr lang="en-US" altLang="ja-JP" dirty="0">
                  <a:effectLst/>
                  <a:latin typeface="Helvetica" pitchFamily="2" charset="0"/>
                </a:endParaRPr>
              </a:p>
              <a:p>
                <a:r>
                  <a:rPr lang="ja-JP" altLang="en-US">
                    <a:effectLst/>
                    <a:latin typeface="Helvetica" pitchFamily="2" charset="0"/>
                  </a:rPr>
                  <a:t>次に，比較手法である</a:t>
                </a:r>
                <a:r>
                  <a:rPr lang="en-US" altLang="ja-JP" dirty="0">
                    <a:effectLst/>
                    <a:latin typeface="Helvetica" pitchFamily="2" charset="0"/>
                  </a:rPr>
                  <a:t>BH </a:t>
                </a:r>
                <a:r>
                  <a:rPr lang="ja-JP" altLang="en-US">
                    <a:effectLst/>
                    <a:latin typeface="Helvetica" pitchFamily="2" charset="0"/>
                  </a:rPr>
                  <a:t>法については，こちらもすべての設定において</a:t>
                </a:r>
                <a:r>
                  <a:rPr lang="en-US" altLang="ja-JP" dirty="0">
                    <a:effectLst/>
                    <a:latin typeface="Helvetica" pitchFamily="2" charset="0"/>
                  </a:rPr>
                  <a:t>FDR </a:t>
                </a:r>
                <a:r>
                  <a:rPr lang="ja-JP" altLang="en-US">
                    <a:effectLst/>
                    <a:latin typeface="Helvetica" pitchFamily="2" charset="0"/>
                  </a:rPr>
                  <a:t>制御値であ</a:t>
                </a:r>
              </a:p>
              <a:p>
                <a:r>
                  <a:rPr lang="ja-JP" altLang="en-US">
                    <a:effectLst/>
                    <a:latin typeface="Helvetica" pitchFamily="2" charset="0"/>
                  </a:rPr>
                  <a:t>る</a:t>
                </a:r>
                <a:r>
                  <a:rPr lang="en-US" altLang="ja-JP" dirty="0">
                    <a:effectLst/>
                    <a:latin typeface="Helvetica" pitchFamily="2" charset="0"/>
                  </a:rPr>
                  <a:t>0.2 </a:t>
                </a:r>
                <a:r>
                  <a:rPr lang="ja-JP" altLang="en-US">
                    <a:effectLst/>
                    <a:latin typeface="Helvetica" pitchFamily="2" charset="0"/>
                  </a:rPr>
                  <a:t>を大きく上回った．これは，どの設定においても</a:t>
                </a:r>
                <a:r>
                  <a:rPr lang="en-US" altLang="ja-JP" dirty="0">
                    <a:effectLst/>
                    <a:latin typeface="Helvetica" pitchFamily="2" charset="0"/>
                  </a:rPr>
                  <a:t>FDR </a:t>
                </a:r>
                <a:r>
                  <a:rPr lang="ja-JP" altLang="en-US">
                    <a:effectLst/>
                    <a:latin typeface="Helvetica" pitchFamily="2" charset="0"/>
                  </a:rPr>
                  <a:t>の制御が不可能である</a:t>
                </a:r>
              </a:p>
              <a:p>
                <a:r>
                  <a:rPr lang="ja-JP" altLang="en-US">
                    <a:effectLst/>
                    <a:latin typeface="Helvetica" pitchFamily="2" charset="0"/>
                  </a:rPr>
                  <a:t>ことを示している．</a:t>
                </a:r>
              </a:p>
              <a:p>
                <a:endParaRPr lang="en-US" altLang="ja-JP" dirty="0">
                  <a:effectLst/>
                  <a:latin typeface="Helvetica" pitchFamily="2" charset="0"/>
                </a:endParaRPr>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つぎに</a:t>
                </a:r>
                <a:r>
                  <a:rPr kumimoji="1" lang="ja-JP" altLang="en-US" sz="1200" b="0" i="0" kern="1200">
                    <a:solidFill>
                      <a:schemeClr val="tx1"/>
                    </a:solidFill>
                    <a:effectLst/>
                    <a:latin typeface="Cambria Math" panose="02040503050406030204" pitchFamily="18" charset="0"/>
                    <a:ea typeface="+mn-ea"/>
                    <a:cs typeface="+mn-cs"/>
                  </a:rPr>
                  <a:t>、</a:t>
                </a:r>
                <a:r>
                  <a:rPr kumimoji="1" lang="en-US" altLang="ja-JP" sz="1200" b="0" i="0" kern="1200">
                    <a:solidFill>
                      <a:schemeClr val="tx1"/>
                    </a:solidFill>
                    <a:effectLst/>
                    <a:latin typeface="Cambria Math" panose="02040503050406030204" pitchFamily="18" charset="0"/>
                    <a:ea typeface="+mn-ea"/>
                    <a:cs typeface="+mn-cs"/>
                  </a:rPr>
                  <a:t>𝐹𝐷𝑅</a:t>
                </a:r>
                <a:r>
                  <a:rPr kumimoji="1" lang="ja-JP" altLang="en-US" sz="1200" b="0" i="0" kern="1200">
                    <a:solidFill>
                      <a:schemeClr val="tx1"/>
                    </a:solidFill>
                    <a:effectLst/>
                    <a:latin typeface="Cambria Math" panose="02040503050406030204" pitchFamily="18" charset="0"/>
                    <a:ea typeface="+mn-ea"/>
                    <a:cs typeface="+mn-cs"/>
                  </a:rPr>
                  <a:t>制御値を</a:t>
                </a:r>
                <a:r>
                  <a:rPr lang="en-US" altLang="ja-JP" sz="1200" b="0" i="0">
                    <a:solidFill>
                      <a:schemeClr val="tx1"/>
                    </a:solidFill>
                    <a:latin typeface="Cambria Math" panose="02040503050406030204" pitchFamily="18" charset="0"/>
                  </a:rPr>
                  <a:t>0.2</a:t>
                </a:r>
                <a:r>
                  <a:rPr kumimoji="1" lang="ja-JP" altLang="en-US" sz="1200" kern="1200">
                    <a:solidFill>
                      <a:schemeClr val="tx1"/>
                    </a:solidFill>
                    <a:effectLst/>
                    <a:latin typeface="+mn-lt"/>
                    <a:ea typeface="+mn-ea"/>
                    <a:cs typeface="+mn-cs"/>
                  </a:rPr>
                  <a:t>に設定した場合です。</a:t>
                </a:r>
              </a:p>
              <a:p>
                <a:endParaRPr kumimoji="1" lang="ja-JP" altLang="en-US" sz="1200" kern="1200">
                  <a:solidFill>
                    <a:schemeClr val="tx1"/>
                  </a:solidFill>
                  <a:effectLst/>
                  <a:latin typeface="+mn-lt"/>
                  <a:ea typeface="+mn-ea"/>
                  <a:cs typeface="+mn-cs"/>
                </a:endParaRPr>
              </a:p>
              <a:p>
                <a:r>
                  <a:rPr kumimoji="1" lang="ja-JP" altLang="en-US"/>
                  <a:t>左下の</a:t>
                </a:r>
                <a:r>
                  <a:rPr kumimoji="1" lang="en-US" altLang="ja-JP" dirty="0"/>
                  <a:t>FDR</a:t>
                </a:r>
                <a:r>
                  <a:rPr kumimoji="1" lang="ja-JP" altLang="en-US"/>
                  <a:t>の期待値、</a:t>
                </a:r>
                <a:r>
                  <a:rPr lang="en-US" altLang="ja-JP" sz="1200" b="0" i="0">
                    <a:effectLst/>
                    <a:latin typeface="Cambria Math" panose="02040503050406030204" pitchFamily="18" charset="0"/>
                    <a:ea typeface="Hiragino Sans" panose="020B0400000000000000" pitchFamily="34" charset="-128"/>
                  </a:rPr>
                  <a:t>0.2212636</a:t>
                </a:r>
                <a:r>
                  <a:rPr kumimoji="1" lang="ja-JP" altLang="en-US"/>
                  <a:t>が実験結果です。</a:t>
                </a:r>
                <a:endParaRPr kumimoji="1" lang="en-US" altLang="ja-JP" dirty="0"/>
              </a:p>
              <a:p>
                <a:r>
                  <a:rPr kumimoji="1" lang="ja-JP" altLang="en-US"/>
                  <a:t>あらかじめ設定した</a:t>
                </a:r>
                <a:r>
                  <a:rPr kumimoji="1" lang="en-US" altLang="ja-JP" dirty="0"/>
                  <a:t>0.2</a:t>
                </a:r>
                <a:r>
                  <a:rPr kumimoji="1" lang="ja-JP" altLang="en-US"/>
                  <a:t>の値を下回るべきでしたが、超えてしまいました。</a:t>
                </a:r>
                <a:endParaRPr kumimoji="1" lang="en-US" altLang="ja-JP" dirty="0"/>
              </a:p>
              <a:p>
                <a:endParaRPr kumimoji="1" lang="en-US" altLang="ja-JP" dirty="0"/>
              </a:p>
              <a:p>
                <a:r>
                  <a:rPr kumimoji="1" lang="ja-JP" altLang="en-US"/>
                  <a:t>また、上の表に関して</a:t>
                </a:r>
                <a:r>
                  <a:rPr kumimoji="1" lang="ja-JP" altLang="en-US">
                    <a:latin typeface="+mn-ea"/>
                  </a:rPr>
                  <a:t>、</a:t>
                </a:r>
                <a:endParaRPr kumimoji="1" lang="en-US" altLang="ja-JP" dirty="0">
                  <a:latin typeface="+mn-ea"/>
                </a:endParaRPr>
              </a:p>
              <a:p>
                <a:r>
                  <a:rPr kumimoji="1" lang="ja-JP" altLang="en-US">
                    <a:latin typeface="+mn-ea"/>
                  </a:rPr>
                  <a:t>下線を引いた部分では</a:t>
                </a:r>
                <a:r>
                  <a:rPr kumimoji="1" lang="en-US" altLang="ja-JP" dirty="0">
                    <a:latin typeface="+mn-ea"/>
                  </a:rPr>
                  <a:t>0</a:t>
                </a:r>
                <a:r>
                  <a:rPr kumimoji="1" lang="ja-JP" altLang="en-US">
                    <a:latin typeface="+mn-ea"/>
                  </a:rPr>
                  <a:t>回に程遠くなっております。</a:t>
                </a:r>
                <a:endParaRPr kumimoji="1" lang="en-US" altLang="ja-JP" dirty="0">
                  <a:latin typeface="+mn-ea"/>
                </a:endParaRPr>
              </a:p>
              <a:p>
                <a:endParaRPr kumimoji="1" lang="en-US" altLang="ja-JP" dirty="0">
                  <a:latin typeface="+mn-ea"/>
                </a:endParaRPr>
              </a:p>
              <a:p>
                <a:r>
                  <a:rPr kumimoji="1" lang="ja-JP" altLang="en-US">
                    <a:latin typeface="+mn-ea"/>
                  </a:rPr>
                  <a:t>これらの原因としては</a:t>
                </a:r>
                <a:r>
                  <a:rPr kumimoji="1" lang="ja-JP" altLang="en-US">
                    <a:latin typeface="+mn-ea"/>
                    <a:ea typeface="+mn-ea"/>
                  </a:rPr>
                  <a:t>、手順</a:t>
                </a:r>
                <a:r>
                  <a:rPr kumimoji="1" lang="en-US" altLang="ja-JP" dirty="0">
                    <a:latin typeface="+mn-ea"/>
                    <a:ea typeface="+mn-ea"/>
                  </a:rPr>
                  <a:t>1</a:t>
                </a:r>
                <a:r>
                  <a:rPr kumimoji="1" lang="ja-JP" altLang="en-US">
                    <a:latin typeface="+mn-ea"/>
                    <a:ea typeface="+mn-ea"/>
                  </a:rPr>
                  <a:t>の相関行列から</a:t>
                </a:r>
                <a:r>
                  <a:rPr kumimoji="1" lang="en-US" altLang="ja-JP" sz="1200" dirty="0">
                    <a:latin typeface="+mn-ea"/>
                    <a:ea typeface="+mn-ea"/>
                    <a:cs typeface="ヒラギノ角ゴ Pro W3"/>
                  </a:rPr>
                  <a:t>Knockoff</a:t>
                </a:r>
                <a:r>
                  <a:rPr kumimoji="1" lang="ja-JP" altLang="en-US" sz="1200">
                    <a:latin typeface="+mn-ea"/>
                    <a:ea typeface="+mn-ea"/>
                    <a:cs typeface="ヒラギノ角ゴ Pro W3"/>
                  </a:rPr>
                  <a:t>変数を抽出する際にノイズが生じている点が挙げられます。</a:t>
                </a:r>
                <a:endParaRPr kumimoji="1" lang="en-US" altLang="ja-JP" dirty="0">
                  <a:latin typeface="+mn-ea"/>
                  <a:ea typeface="+mn-ea"/>
                </a:endParaRPr>
              </a:p>
              <a:p>
                <a:endParaRPr kumimoji="1" lang="en-US" altLang="ja-JP" dirty="0">
                  <a:latin typeface="+mn-ea"/>
                </a:endParaRPr>
              </a:p>
              <a:p>
                <a:endParaRPr kumimoji="1" lang="en-US" altLang="ja-JP" dirty="0">
                  <a:latin typeface="+mn-ea"/>
                </a:endParaRPr>
              </a:p>
              <a:p>
                <a:endParaRPr kumimoji="1" lang="en-US" altLang="ja-JP" dirty="0">
                  <a:latin typeface="+mn-ea"/>
                </a:endParaRPr>
              </a:p>
            </p:txBody>
          </p:sp>
        </mc:Fallback>
      </mc:AlternateContent>
      <p:sp>
        <p:nvSpPr>
          <p:cNvPr id="4" name="スライド番号プレースホルダー 3">
            <a:extLst>
              <a:ext uri="{FF2B5EF4-FFF2-40B4-BE49-F238E27FC236}">
                <a16:creationId xmlns:a16="http://schemas.microsoft.com/office/drawing/2014/main" id="{360D6B0F-5078-8BB2-D0AE-6AEB33A963E8}"/>
              </a:ext>
            </a:extLst>
          </p:cNvPr>
          <p:cNvSpPr>
            <a:spLocks noGrp="1"/>
          </p:cNvSpPr>
          <p:nvPr>
            <p:ph type="sldNum" sz="quarter" idx="5"/>
          </p:nvPr>
        </p:nvSpPr>
        <p:spPr/>
        <p:txBody>
          <a:bodyPr/>
          <a:lstStyle/>
          <a:p>
            <a:fld id="{C3AA1469-922B-5243-9CFC-ED99F2A55A38}" type="slidenum">
              <a:rPr kumimoji="1" lang="ja-JP" altLang="en-US" smtClean="0"/>
              <a:t>25</a:t>
            </a:fld>
            <a:endParaRPr kumimoji="1" lang="ja-JP" altLang="en-US"/>
          </a:p>
        </p:txBody>
      </p:sp>
    </p:spTree>
    <p:extLst>
      <p:ext uri="{BB962C8B-B14F-4D97-AF65-F5344CB8AC3E}">
        <p14:creationId xmlns:p14="http://schemas.microsoft.com/office/powerpoint/2010/main" val="35968369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44594-B5C9-753E-5E24-2BE90AB4B5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13429C-6DA2-0FC1-C40B-9FA2A1DF44F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A346B0F3-993E-D06A-6E6C-071A1B794A4A}"/>
                  </a:ext>
                </a:extLst>
              </p:cNvPr>
              <p:cNvSpPr>
                <a:spLocks noGrp="1"/>
              </p:cNvSpPr>
              <p:nvPr>
                <p:ph type="body" idx="1"/>
              </p:nvPr>
            </p:nvSpPr>
            <p:spPr/>
            <p:txBody>
              <a:bodyPr/>
              <a:lstStyle/>
              <a:p>
                <a:r>
                  <a:rPr lang="ja-JP" altLang="en-US">
                    <a:effectLst/>
                    <a:latin typeface="Helvetica" pitchFamily="2" charset="0"/>
                  </a:rPr>
                  <a:t>第</a:t>
                </a:r>
                <a:r>
                  <a:rPr lang="en-US" altLang="ja-JP" dirty="0">
                    <a:effectLst/>
                    <a:latin typeface="Helvetica" pitchFamily="2" charset="0"/>
                  </a:rPr>
                  <a:t>3 </a:t>
                </a:r>
                <a:r>
                  <a:rPr lang="ja-JP" altLang="en-US">
                    <a:effectLst/>
                    <a:latin typeface="Helvetica" pitchFamily="2" charset="0"/>
                  </a:rPr>
                  <a:t>主成分の</a:t>
                </a:r>
                <a:r>
                  <a:rPr lang="en-US" altLang="ja-JP" dirty="0">
                    <a:effectLst/>
                    <a:latin typeface="Helvetica" pitchFamily="2" charset="0"/>
                  </a:rPr>
                  <a:t>FDR </a:t>
                </a:r>
                <a:r>
                  <a:rPr lang="ja-JP" altLang="en-US">
                    <a:effectLst/>
                    <a:latin typeface="Helvetica" pitchFamily="2" charset="0"/>
                  </a:rPr>
                  <a:t>はすべての設定において</a:t>
                </a:r>
                <a:r>
                  <a:rPr lang="en-US" altLang="ja-JP" dirty="0">
                    <a:effectLst/>
                    <a:latin typeface="Helvetica" pitchFamily="2" charset="0"/>
                  </a:rPr>
                  <a:t>0.2 </a:t>
                </a:r>
                <a:r>
                  <a:rPr lang="ja-JP" altLang="en-US">
                    <a:effectLst/>
                    <a:latin typeface="Helvetica" pitchFamily="2" charset="0"/>
                  </a:rPr>
                  <a:t>を大きく上回った．</a:t>
                </a:r>
              </a:p>
              <a:p>
                <a:r>
                  <a:rPr lang="ja-JP" altLang="en-US">
                    <a:effectLst/>
                    <a:latin typeface="Helvetica" pitchFamily="2" charset="0"/>
                  </a:rPr>
                  <a:t>この結果は，第</a:t>
                </a:r>
                <a:r>
                  <a:rPr lang="en-US" altLang="ja-JP" dirty="0">
                    <a:effectLst/>
                    <a:latin typeface="Helvetica" pitchFamily="2" charset="0"/>
                  </a:rPr>
                  <a:t>2</a:t>
                </a:r>
                <a:r>
                  <a:rPr lang="ja-JP" altLang="en-US">
                    <a:effectLst/>
                    <a:latin typeface="Helvetica" pitchFamily="2" charset="0"/>
                  </a:rPr>
                  <a:t>主成分の場合と同様、第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 </a:t>
                </a:r>
                <a:r>
                  <a:rPr lang="ja-JP" altLang="en-US">
                    <a:effectLst/>
                    <a:latin typeface="Helvetica" pitchFamily="2" charset="0"/>
                  </a:rPr>
                  <a:t>主成分の固有値と比較して，第</a:t>
                </a:r>
                <a:r>
                  <a:rPr lang="en-US" altLang="ja-JP" dirty="0">
                    <a:effectLst/>
                    <a:latin typeface="Helvetica" pitchFamily="2" charset="0"/>
                  </a:rPr>
                  <a:t>3 </a:t>
                </a:r>
                <a:r>
                  <a:rPr lang="ja-JP" altLang="en-US">
                    <a:effectLst/>
                    <a:latin typeface="Helvetica" pitchFamily="2" charset="0"/>
                  </a:rPr>
                  <a:t>主成分の固有値の値が小さいことが原因であると見られる．さらに，第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a:t>
                </a:r>
              </a:p>
              <a:p>
                <a:r>
                  <a:rPr lang="ja-JP" altLang="en-US">
                    <a:effectLst/>
                    <a:latin typeface="Helvetica" pitchFamily="2" charset="0"/>
                  </a:rPr>
                  <a:t>の固有値の差も一因に挙げられる．．</a:t>
                </a:r>
              </a:p>
              <a:p>
                <a:r>
                  <a:rPr lang="ja-JP" altLang="en-US">
                    <a:effectLst/>
                    <a:latin typeface="Helvetica" pitchFamily="2" charset="0"/>
                  </a:rPr>
                  <a:t>次に，比較手法である</a:t>
                </a:r>
                <a:r>
                  <a:rPr lang="en-US" altLang="ja-JP" dirty="0">
                    <a:effectLst/>
                    <a:latin typeface="Helvetica" pitchFamily="2" charset="0"/>
                  </a:rPr>
                  <a:t>BH </a:t>
                </a:r>
                <a:r>
                  <a:rPr lang="ja-JP" altLang="en-US">
                    <a:effectLst/>
                    <a:latin typeface="Helvetica" pitchFamily="2" charset="0"/>
                  </a:rPr>
                  <a:t>法については，すべての設定において</a:t>
                </a:r>
                <a:r>
                  <a:rPr lang="en-US" altLang="ja-JP" dirty="0">
                    <a:effectLst/>
                    <a:latin typeface="Helvetica" pitchFamily="2" charset="0"/>
                  </a:rPr>
                  <a:t>FDR </a:t>
                </a:r>
                <a:r>
                  <a:rPr lang="ja-JP" altLang="en-US">
                    <a:effectLst/>
                    <a:latin typeface="Helvetica" pitchFamily="2" charset="0"/>
                  </a:rPr>
                  <a:t>制御値であ</a:t>
                </a:r>
              </a:p>
              <a:p>
                <a:r>
                  <a:rPr lang="ja-JP" altLang="en-US">
                    <a:effectLst/>
                    <a:latin typeface="Helvetica" pitchFamily="2" charset="0"/>
                  </a:rPr>
                  <a:t>る</a:t>
                </a:r>
                <a:r>
                  <a:rPr lang="en-US" altLang="ja-JP" dirty="0">
                    <a:effectLst/>
                    <a:latin typeface="Helvetica" pitchFamily="2" charset="0"/>
                  </a:rPr>
                  <a:t>0.2 </a:t>
                </a:r>
                <a:r>
                  <a:rPr lang="ja-JP" altLang="en-US">
                    <a:effectLst/>
                    <a:latin typeface="Helvetica" pitchFamily="2" charset="0"/>
                  </a:rPr>
                  <a:t>を大きく上回った．これは，どの設定においても</a:t>
                </a:r>
                <a:r>
                  <a:rPr lang="en-US" altLang="ja-JP" dirty="0">
                    <a:effectLst/>
                    <a:latin typeface="Helvetica" pitchFamily="2" charset="0"/>
                  </a:rPr>
                  <a:t>FDR </a:t>
                </a:r>
                <a:r>
                  <a:rPr lang="ja-JP" altLang="en-US">
                    <a:effectLst/>
                    <a:latin typeface="Helvetica" pitchFamily="2" charset="0"/>
                  </a:rPr>
                  <a:t>の制御が不可能である</a:t>
                </a:r>
              </a:p>
              <a:p>
                <a:r>
                  <a:rPr lang="ja-JP" altLang="en-US">
                    <a:effectLst/>
                    <a:latin typeface="Helvetica" pitchFamily="2" charset="0"/>
                  </a:rPr>
                  <a:t>ことを示している．</a:t>
                </a:r>
              </a:p>
              <a:p>
                <a:endParaRPr lang="en-US" altLang="ja-JP" dirty="0">
                  <a:effectLst/>
                  <a:latin typeface="Helvetica" pitchFamily="2" charset="0"/>
                </a:endParaRPr>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つぎに</a:t>
                </a:r>
                <a:r>
                  <a:rPr kumimoji="1" lang="ja-JP" altLang="en-US" sz="1200" b="0" i="0" kern="1200">
                    <a:solidFill>
                      <a:schemeClr val="tx1"/>
                    </a:solidFill>
                    <a:effectLst/>
                    <a:latin typeface="Cambria Math" panose="02040503050406030204" pitchFamily="18" charset="0"/>
                    <a:ea typeface="+mn-ea"/>
                    <a:cs typeface="+mn-cs"/>
                  </a:rPr>
                  <a:t>、</a:t>
                </a:r>
                <a:r>
                  <a:rPr kumimoji="1" lang="en-US" altLang="ja-JP" sz="1200" b="0" i="0" kern="1200">
                    <a:solidFill>
                      <a:schemeClr val="tx1"/>
                    </a:solidFill>
                    <a:effectLst/>
                    <a:latin typeface="Cambria Math" panose="02040503050406030204" pitchFamily="18" charset="0"/>
                    <a:ea typeface="+mn-ea"/>
                    <a:cs typeface="+mn-cs"/>
                  </a:rPr>
                  <a:t>𝐹𝐷𝑅</a:t>
                </a:r>
                <a:r>
                  <a:rPr kumimoji="1" lang="ja-JP" altLang="en-US" sz="1200" b="0" i="0" kern="1200">
                    <a:solidFill>
                      <a:schemeClr val="tx1"/>
                    </a:solidFill>
                    <a:effectLst/>
                    <a:latin typeface="Cambria Math" panose="02040503050406030204" pitchFamily="18" charset="0"/>
                    <a:ea typeface="+mn-ea"/>
                    <a:cs typeface="+mn-cs"/>
                  </a:rPr>
                  <a:t>制御値を</a:t>
                </a:r>
                <a:r>
                  <a:rPr lang="en-US" altLang="ja-JP" sz="1200" b="0" i="0">
                    <a:solidFill>
                      <a:schemeClr val="tx1"/>
                    </a:solidFill>
                    <a:latin typeface="Cambria Math" panose="02040503050406030204" pitchFamily="18" charset="0"/>
                  </a:rPr>
                  <a:t>0.2</a:t>
                </a:r>
                <a:r>
                  <a:rPr kumimoji="1" lang="ja-JP" altLang="en-US" sz="1200" kern="1200">
                    <a:solidFill>
                      <a:schemeClr val="tx1"/>
                    </a:solidFill>
                    <a:effectLst/>
                    <a:latin typeface="+mn-lt"/>
                    <a:ea typeface="+mn-ea"/>
                    <a:cs typeface="+mn-cs"/>
                  </a:rPr>
                  <a:t>に設定した場合です。</a:t>
                </a:r>
              </a:p>
              <a:p>
                <a:endParaRPr kumimoji="1" lang="ja-JP" altLang="en-US" sz="1200" kern="1200">
                  <a:solidFill>
                    <a:schemeClr val="tx1"/>
                  </a:solidFill>
                  <a:effectLst/>
                  <a:latin typeface="+mn-lt"/>
                  <a:ea typeface="+mn-ea"/>
                  <a:cs typeface="+mn-cs"/>
                </a:endParaRPr>
              </a:p>
              <a:p>
                <a:r>
                  <a:rPr kumimoji="1" lang="ja-JP" altLang="en-US"/>
                  <a:t>左下の</a:t>
                </a:r>
                <a:r>
                  <a:rPr kumimoji="1" lang="en-US" altLang="ja-JP" dirty="0"/>
                  <a:t>FDR</a:t>
                </a:r>
                <a:r>
                  <a:rPr kumimoji="1" lang="ja-JP" altLang="en-US"/>
                  <a:t>の期待値、</a:t>
                </a:r>
                <a:r>
                  <a:rPr lang="en-US" altLang="ja-JP" sz="1200" b="0" i="0">
                    <a:effectLst/>
                    <a:latin typeface="Cambria Math" panose="02040503050406030204" pitchFamily="18" charset="0"/>
                    <a:ea typeface="Hiragino Sans" panose="020B0400000000000000" pitchFamily="34" charset="-128"/>
                  </a:rPr>
                  <a:t>0.2212636</a:t>
                </a:r>
                <a:r>
                  <a:rPr kumimoji="1" lang="ja-JP" altLang="en-US"/>
                  <a:t>が実験結果です。</a:t>
                </a:r>
                <a:endParaRPr kumimoji="1" lang="en-US" altLang="ja-JP" dirty="0"/>
              </a:p>
              <a:p>
                <a:r>
                  <a:rPr kumimoji="1" lang="ja-JP" altLang="en-US"/>
                  <a:t>あらかじめ設定した</a:t>
                </a:r>
                <a:r>
                  <a:rPr kumimoji="1" lang="en-US" altLang="ja-JP" dirty="0"/>
                  <a:t>0.2</a:t>
                </a:r>
                <a:r>
                  <a:rPr kumimoji="1" lang="ja-JP" altLang="en-US"/>
                  <a:t>の値を下回るべきでしたが、超えてしまいました。</a:t>
                </a:r>
                <a:endParaRPr kumimoji="1" lang="en-US" altLang="ja-JP" dirty="0"/>
              </a:p>
              <a:p>
                <a:endParaRPr kumimoji="1" lang="en-US" altLang="ja-JP" dirty="0"/>
              </a:p>
              <a:p>
                <a:r>
                  <a:rPr kumimoji="1" lang="ja-JP" altLang="en-US"/>
                  <a:t>また、上の表に関して</a:t>
                </a:r>
                <a:r>
                  <a:rPr kumimoji="1" lang="ja-JP" altLang="en-US">
                    <a:latin typeface="+mn-ea"/>
                  </a:rPr>
                  <a:t>、</a:t>
                </a:r>
                <a:endParaRPr kumimoji="1" lang="en-US" altLang="ja-JP" dirty="0">
                  <a:latin typeface="+mn-ea"/>
                </a:endParaRPr>
              </a:p>
              <a:p>
                <a:r>
                  <a:rPr kumimoji="1" lang="ja-JP" altLang="en-US">
                    <a:latin typeface="+mn-ea"/>
                  </a:rPr>
                  <a:t>下線を引いた部分では</a:t>
                </a:r>
                <a:r>
                  <a:rPr kumimoji="1" lang="en-US" altLang="ja-JP" dirty="0">
                    <a:latin typeface="+mn-ea"/>
                  </a:rPr>
                  <a:t>0</a:t>
                </a:r>
                <a:r>
                  <a:rPr kumimoji="1" lang="ja-JP" altLang="en-US">
                    <a:latin typeface="+mn-ea"/>
                  </a:rPr>
                  <a:t>回に程遠くなっております。</a:t>
                </a:r>
                <a:endParaRPr kumimoji="1" lang="en-US" altLang="ja-JP" dirty="0">
                  <a:latin typeface="+mn-ea"/>
                </a:endParaRPr>
              </a:p>
              <a:p>
                <a:endParaRPr kumimoji="1" lang="en-US" altLang="ja-JP" dirty="0">
                  <a:latin typeface="+mn-ea"/>
                </a:endParaRPr>
              </a:p>
              <a:p>
                <a:r>
                  <a:rPr kumimoji="1" lang="ja-JP" altLang="en-US">
                    <a:latin typeface="+mn-ea"/>
                  </a:rPr>
                  <a:t>これらの原因としては</a:t>
                </a:r>
                <a:r>
                  <a:rPr kumimoji="1" lang="ja-JP" altLang="en-US">
                    <a:latin typeface="+mn-ea"/>
                    <a:ea typeface="+mn-ea"/>
                  </a:rPr>
                  <a:t>、手順</a:t>
                </a:r>
                <a:r>
                  <a:rPr kumimoji="1" lang="en-US" altLang="ja-JP" dirty="0">
                    <a:latin typeface="+mn-ea"/>
                    <a:ea typeface="+mn-ea"/>
                  </a:rPr>
                  <a:t>1</a:t>
                </a:r>
                <a:r>
                  <a:rPr kumimoji="1" lang="ja-JP" altLang="en-US">
                    <a:latin typeface="+mn-ea"/>
                    <a:ea typeface="+mn-ea"/>
                  </a:rPr>
                  <a:t>の相関行列から</a:t>
                </a:r>
                <a:r>
                  <a:rPr kumimoji="1" lang="en-US" altLang="ja-JP" sz="1200" dirty="0">
                    <a:latin typeface="+mn-ea"/>
                    <a:ea typeface="+mn-ea"/>
                    <a:cs typeface="ヒラギノ角ゴ Pro W3"/>
                  </a:rPr>
                  <a:t>Knockoff</a:t>
                </a:r>
                <a:r>
                  <a:rPr kumimoji="1" lang="ja-JP" altLang="en-US" sz="1200">
                    <a:latin typeface="+mn-ea"/>
                    <a:ea typeface="+mn-ea"/>
                    <a:cs typeface="ヒラギノ角ゴ Pro W3"/>
                  </a:rPr>
                  <a:t>変数を抽出する際にノイズが生じている点が挙げられます。</a:t>
                </a:r>
                <a:endParaRPr kumimoji="1" lang="en-US" altLang="ja-JP" dirty="0">
                  <a:latin typeface="+mn-ea"/>
                  <a:ea typeface="+mn-ea"/>
                </a:endParaRPr>
              </a:p>
              <a:p>
                <a:endParaRPr kumimoji="1" lang="en-US" altLang="ja-JP" dirty="0">
                  <a:latin typeface="+mn-ea"/>
                </a:endParaRPr>
              </a:p>
              <a:p>
                <a:endParaRPr kumimoji="1" lang="en-US" altLang="ja-JP" dirty="0">
                  <a:latin typeface="+mn-ea"/>
                </a:endParaRPr>
              </a:p>
              <a:p>
                <a:endParaRPr kumimoji="1" lang="en-US" altLang="ja-JP" dirty="0">
                  <a:latin typeface="+mn-ea"/>
                </a:endParaRPr>
              </a:p>
            </p:txBody>
          </p:sp>
        </mc:Fallback>
      </mc:AlternateContent>
      <p:sp>
        <p:nvSpPr>
          <p:cNvPr id="4" name="スライド番号プレースホルダー 3">
            <a:extLst>
              <a:ext uri="{FF2B5EF4-FFF2-40B4-BE49-F238E27FC236}">
                <a16:creationId xmlns:a16="http://schemas.microsoft.com/office/drawing/2014/main" id="{6E70DDE8-0E15-94C2-7290-87346E529260}"/>
              </a:ext>
            </a:extLst>
          </p:cNvPr>
          <p:cNvSpPr>
            <a:spLocks noGrp="1"/>
          </p:cNvSpPr>
          <p:nvPr>
            <p:ph type="sldNum" sz="quarter" idx="5"/>
          </p:nvPr>
        </p:nvSpPr>
        <p:spPr/>
        <p:txBody>
          <a:bodyPr/>
          <a:lstStyle/>
          <a:p>
            <a:fld id="{C3AA1469-922B-5243-9CFC-ED99F2A55A38}" type="slidenum">
              <a:rPr kumimoji="1" lang="ja-JP" altLang="en-US" smtClean="0"/>
              <a:t>26</a:t>
            </a:fld>
            <a:endParaRPr kumimoji="1" lang="ja-JP" altLang="en-US"/>
          </a:p>
        </p:txBody>
      </p:sp>
    </p:spTree>
    <p:extLst>
      <p:ext uri="{BB962C8B-B14F-4D97-AF65-F5344CB8AC3E}">
        <p14:creationId xmlns:p14="http://schemas.microsoft.com/office/powerpoint/2010/main" val="1470601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27</a:t>
            </a:fld>
            <a:endParaRPr kumimoji="1" lang="ja-JP" altLang="en-US"/>
          </a:p>
        </p:txBody>
      </p:sp>
    </p:spTree>
    <p:extLst>
      <p:ext uri="{BB962C8B-B14F-4D97-AF65-F5344CB8AC3E}">
        <p14:creationId xmlns:p14="http://schemas.microsoft.com/office/powerpoint/2010/main" val="23575997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28</a:t>
            </a:fld>
            <a:endParaRPr kumimoji="1" lang="ja-JP" altLang="en-US"/>
          </a:p>
        </p:txBody>
      </p:sp>
    </p:spTree>
    <p:extLst>
      <p:ext uri="{BB962C8B-B14F-4D97-AF65-F5344CB8AC3E}">
        <p14:creationId xmlns:p14="http://schemas.microsoft.com/office/powerpoint/2010/main" val="840875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solidFill>
                      <a:schemeClr val="tx1"/>
                    </a:solidFill>
                    <a:latin typeface="+mn-ea"/>
                  </a:rPr>
                  <a:t>FDR</a:t>
                </a:r>
                <a:r>
                  <a:rPr lang="ja-JP" altLang="en-US">
                    <a:solidFill>
                      <a:schemeClr val="tx1"/>
                    </a:solidFill>
                    <a:latin typeface="+mn-ea"/>
                  </a:rPr>
                  <a:t>を算出するまでの手順については、</a:t>
                </a:r>
                <a:endParaRPr lang="en-US" altLang="ja-JP"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n-ea"/>
                  </a:rPr>
                  <a:t>まず、</a:t>
                </a:r>
                <a:r>
                  <a:rPr lang="en-US" altLang="ja-JP" sz="1200" dirty="0">
                    <a:solidFill>
                      <a:schemeClr val="tx1"/>
                    </a:solidFill>
                    <a:latin typeface="+mn-ea"/>
                  </a:rPr>
                  <a:t>1</a:t>
                </a:r>
                <a:r>
                  <a:rPr lang="ja-JP" altLang="en-US" sz="1200">
                    <a:solidFill>
                      <a:schemeClr val="tx1"/>
                    </a:solidFill>
                    <a:latin typeface="+mn-ea"/>
                  </a:rPr>
                  <a:t>つの</a:t>
                </a:r>
                <a:r>
                  <a:rPr lang="en-US" altLang="ja-JP" sz="1200" dirty="0">
                    <a:solidFill>
                      <a:schemeClr val="tx1"/>
                    </a:solidFill>
                    <a:latin typeface="+mn-ea"/>
                  </a:rPr>
                  <a:t>knockoff</a:t>
                </a:r>
                <a:r>
                  <a:rPr lang="ja-JP" altLang="en-US" sz="1200">
                    <a:solidFill>
                      <a:schemeClr val="tx1"/>
                    </a:solidFill>
                    <a:latin typeface="+mn-ea"/>
                  </a:rPr>
                  <a:t>変数を発生させるごとに</a:t>
                </a:r>
                <a:r>
                  <a:rPr lang="en-US" altLang="ja-JP" sz="1200" dirty="0" err="1">
                    <a:solidFill>
                      <a:schemeClr val="tx1"/>
                    </a:solidFill>
                    <a:latin typeface="+mn-ea"/>
                  </a:rPr>
                  <a:t>fdp</a:t>
                </a:r>
                <a:r>
                  <a:rPr lang="ja-JP" altLang="en-US" sz="1200">
                    <a:solidFill>
                      <a:schemeClr val="tx1"/>
                    </a:solidFill>
                    <a:latin typeface="+mn-ea"/>
                  </a:rPr>
                  <a:t>を算出しました。</a:t>
                </a: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n-ea"/>
                  </a:rPr>
                  <a:t>しかし、</a:t>
                </a:r>
                <a:r>
                  <a:rPr lang="en-US" altLang="ja-JP" sz="1200" dirty="0">
                    <a:solidFill>
                      <a:schemeClr val="tx1"/>
                    </a:solidFill>
                    <a:latin typeface="+mn-ea"/>
                  </a:rPr>
                  <a:t>knockoff</a:t>
                </a:r>
                <a:r>
                  <a:rPr lang="ja-JP" altLang="en-US" sz="1200">
                    <a:solidFill>
                      <a:schemeClr val="tx1"/>
                    </a:solidFill>
                    <a:latin typeface="+mn-ea"/>
                  </a:rPr>
                  <a:t>変数は</a:t>
                </a:r>
                <a:r>
                  <a:rPr lang="en-US" altLang="ja-JP" sz="1200" dirty="0">
                    <a:solidFill>
                      <a:schemeClr val="tx1"/>
                    </a:solidFill>
                    <a:latin typeface="+mn-ea"/>
                  </a:rPr>
                  <a:t>t</a:t>
                </a:r>
                <a:r>
                  <a:rPr lang="ja-JP" altLang="en-US" sz="1200">
                    <a:solidFill>
                      <a:schemeClr val="tx1"/>
                    </a:solidFill>
                    <a:latin typeface="+mn-ea"/>
                  </a:rPr>
                  <a:t>分布から発生させるため、多少の揺らぎを抑えるために、このスモール</a:t>
                </a:r>
                <a:r>
                  <a:rPr lang="en-US" altLang="ja-JP" sz="1200" dirty="0" err="1">
                    <a:solidFill>
                      <a:schemeClr val="tx1"/>
                    </a:solidFill>
                    <a:latin typeface="+mn-ea"/>
                  </a:rPr>
                  <a:t>fdp</a:t>
                </a:r>
                <a:r>
                  <a:rPr lang="ja-JP" altLang="en-US" sz="1200">
                    <a:solidFill>
                      <a:schemeClr val="tx1"/>
                    </a:solidFill>
                    <a:latin typeface="+mn-ea"/>
                  </a:rPr>
                  <a:t>を算出過程を</a:t>
                </a:r>
                <a:r>
                  <a:rPr lang="en-US" altLang="ja-JP" sz="1200" dirty="0">
                    <a:solidFill>
                      <a:schemeClr val="tx1"/>
                    </a:solidFill>
                    <a:latin typeface="+mn-ea"/>
                  </a:rPr>
                  <a:t>100</a:t>
                </a:r>
                <a:r>
                  <a:rPr lang="ja-JP" altLang="en-US" sz="1200">
                    <a:solidFill>
                      <a:schemeClr val="tx1"/>
                    </a:solidFill>
                    <a:latin typeface="+mn-ea"/>
                  </a:rPr>
                  <a:t>回繰り返した</a:t>
                </a:r>
                <a:r>
                  <a:rPr lang="en-US" altLang="ja-JP" sz="1200" dirty="0" err="1">
                    <a:solidFill>
                      <a:schemeClr val="tx1"/>
                    </a:solidFill>
                    <a:latin typeface="+mn-ea"/>
                  </a:rPr>
                  <a:t>fdp</a:t>
                </a:r>
                <a:r>
                  <a:rPr lang="ja-JP" altLang="en-US" sz="1200">
                    <a:solidFill>
                      <a:schemeClr val="tx1"/>
                    </a:solidFill>
                    <a:latin typeface="+mn-ea"/>
                  </a:rPr>
                  <a:t>の期待値</a:t>
                </a:r>
                <a:r>
                  <a:rPr lang="en-US" altLang="ja-JP" sz="1200" dirty="0">
                    <a:solidFill>
                      <a:schemeClr val="tx1"/>
                    </a:solidFill>
                    <a:latin typeface="+mn-ea"/>
                  </a:rPr>
                  <a:t>FDP</a:t>
                </a:r>
                <a:r>
                  <a:rPr lang="ja-JP" altLang="en-US" sz="1200">
                    <a:solidFill>
                      <a:schemeClr val="tx1"/>
                    </a:solidFill>
                    <a:latin typeface="+mn-ea"/>
                  </a:rPr>
                  <a:t>を用いて、これを</a:t>
                </a:r>
                <a:r>
                  <a:rPr lang="en-US" altLang="ja-JP" sz="1200" dirty="0">
                    <a:solidFill>
                      <a:schemeClr val="tx1"/>
                    </a:solidFill>
                    <a:latin typeface="+mn-ea"/>
                  </a:rPr>
                  <a:t>100</a:t>
                </a:r>
                <a:r>
                  <a:rPr lang="ja-JP" altLang="en-US" sz="1200">
                    <a:solidFill>
                      <a:schemeClr val="tx1"/>
                    </a:solidFill>
                    <a:latin typeface="+mn-ea"/>
                  </a:rPr>
                  <a:t>回試行させた期待値を</a:t>
                </a:r>
                <a:r>
                  <a:rPr lang="en-US" altLang="ja-JP" sz="1200" dirty="0">
                    <a:solidFill>
                      <a:schemeClr val="tx1"/>
                    </a:solidFill>
                    <a:latin typeface="+mn-ea"/>
                  </a:rPr>
                  <a:t>FDR</a:t>
                </a:r>
                <a:r>
                  <a:rPr lang="ja-JP" altLang="en-US" sz="1200">
                    <a:solidFill>
                      <a:schemeClr val="tx1"/>
                    </a:solidFill>
                    <a:latin typeface="+mn-ea"/>
                  </a:rPr>
                  <a:t>としました。</a:t>
                </a: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n-ea"/>
                  </a:rPr>
                  <a:t>検出力を算出する手順も同様です。</a:t>
                </a:r>
                <a:endParaRPr lang="en-US" altLang="ja-JP" sz="1200" dirty="0">
                  <a:solidFill>
                    <a:schemeClr val="tx1"/>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mn-ea"/>
                </a:endParaRPr>
              </a:p>
            </p:txBody>
          </p:sp>
        </mc:Choice>
        <mc:Fallback xmlns="">
          <p:sp>
            <p:nvSpPr>
              <p:cNvPr id="3" name="ノート プレースホルダー 2"/>
              <p:cNvSpPr>
                <a:spLocks noGrp="1"/>
              </p:cNvSpPr>
              <p:nvPr>
                <p:ph type="body" idx="1"/>
              </p:nvPr>
            </p:nvSpPr>
            <p:spPr/>
            <p:txBody>
              <a:bodyPr/>
              <a:lstStyle/>
              <a:p>
                <a:r>
                  <a:rPr kumimoji="1" lang="ja-JP" altLang="en-US"/>
                  <a:t>この手法に関して数値実験を行いました。</a:t>
                </a:r>
                <a:endParaRPr kumimoji="1" lang="en-US" altLang="ja-JP" dirty="0"/>
              </a:p>
              <a:p>
                <a:endParaRPr kumimoji="1" lang="en-US" altLang="ja-JP" dirty="0"/>
              </a:p>
              <a:p>
                <a:r>
                  <a:rPr kumimoji="1" lang="ja-JP" altLang="en-US"/>
                  <a:t>こちらの線形回帰モデルを用い、サンプスサイズを</a:t>
                </a:r>
                <a:r>
                  <a:rPr kumimoji="1" lang="en-US" altLang="ja-JP" dirty="0"/>
                  <a:t>20</a:t>
                </a:r>
                <a:r>
                  <a:rPr kumimoji="1" lang="ja-JP" altLang="en-US"/>
                  <a:t>と</a:t>
                </a:r>
                <a:r>
                  <a:rPr kumimoji="1" lang="en-US" altLang="ja-JP" dirty="0"/>
                  <a:t>50</a:t>
                </a:r>
                <a:r>
                  <a:rPr kumimoji="1" lang="ja-JP" altLang="en-US"/>
                  <a:t>、誤差分散を</a:t>
                </a:r>
                <a:r>
                  <a:rPr kumimoji="1" lang="en-US" altLang="ja-JP" dirty="0"/>
                  <a:t>1</a:t>
                </a:r>
                <a:r>
                  <a:rPr kumimoji="1" lang="ja-JP" altLang="en-US"/>
                  <a:t>と</a:t>
                </a:r>
                <a:r>
                  <a:rPr kumimoji="1" lang="en-US" altLang="ja-JP" dirty="0"/>
                  <a:t>3</a:t>
                </a:r>
                <a:r>
                  <a:rPr kumimoji="1" lang="ja-JP" altLang="en-US"/>
                  <a:t>に値を変え検証しました。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提案手法では、</a:t>
                </a:r>
                <a:r>
                  <a:rPr lang="ja-JP" altLang="en-US" sz="1200">
                    <a:latin typeface="+mn-ea"/>
                  </a:rPr>
                  <a:t>ブートストラップ</a:t>
                </a:r>
                <a:r>
                  <a:rPr lang="ja-JP" altLang="en-US" sz="1200" b="0" i="0">
                    <a:latin typeface="Cambria Math" panose="02040503050406030204" pitchFamily="18" charset="0"/>
                  </a:rPr>
                  <a:t>標本</a:t>
                </a:r>
                <a:r>
                  <a:rPr lang="ja-JP" altLang="en-US" sz="1200" i="0">
                    <a:latin typeface="Cambria Math" panose="02040503050406030204" pitchFamily="18" charset="0"/>
                  </a:rPr>
                  <a:t>を</a:t>
                </a:r>
                <a:r>
                  <a:rPr lang="en-US" altLang="ja-JP" sz="1200" b="0" i="0">
                    <a:latin typeface="Cambria Math" panose="02040503050406030204" pitchFamily="18" charset="0"/>
                  </a:rPr>
                  <a:t>1000</a:t>
                </a:r>
                <a:r>
                  <a:rPr lang="ja-JP" altLang="en-US" sz="1200" i="0">
                    <a:latin typeface="Cambria Math" panose="02040503050406030204" pitchFamily="18" charset="0"/>
                  </a:rPr>
                  <a:t>組作成</a:t>
                </a:r>
                <a:r>
                  <a:rPr lang="ja-JP" altLang="en-US" sz="1200">
                    <a:latin typeface="+mn-ea"/>
                  </a:rPr>
                  <a:t>し、</a:t>
                </a:r>
                <a:r>
                  <a:rPr lang="en-US" altLang="ja-JP" sz="1200" dirty="0">
                    <a:latin typeface="+mn-ea"/>
                  </a:rPr>
                  <a:t>20</a:t>
                </a:r>
                <a:r>
                  <a:rPr lang="ja-JP" altLang="en-US" sz="1200">
                    <a:latin typeface="+mn-ea"/>
                  </a:rPr>
                  <a:t>回実行した</a:t>
                </a:r>
                <a:r>
                  <a:rPr lang="en-US" altLang="ja-JP" sz="1200" dirty="0">
                    <a:latin typeface="+mn-ea"/>
                  </a:rPr>
                  <a:t>FDR</a:t>
                </a:r>
                <a:r>
                  <a:rPr lang="ja-JP" altLang="en-US" sz="1200">
                    <a:latin typeface="+mn-ea"/>
                  </a:rPr>
                  <a:t>の期待値を算出しました。</a:t>
                </a: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29</a:t>
            </a:fld>
            <a:endParaRPr kumimoji="1" lang="ja-JP" altLang="en-US"/>
          </a:p>
        </p:txBody>
      </p:sp>
    </p:spTree>
    <p:extLst>
      <p:ext uri="{BB962C8B-B14F-4D97-AF65-F5344CB8AC3E}">
        <p14:creationId xmlns:p14="http://schemas.microsoft.com/office/powerpoint/2010/main" val="2856284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0610-6DCA-C850-59D3-EC830A2BBA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FF58F6-E6ED-14F5-F0E3-B579E81A7F3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DE3ED096-26F6-1260-DE63-FBF936DD0E51}"/>
                  </a:ext>
                </a:extLst>
              </p:cNvPr>
              <p:cNvSpPr>
                <a:spLocks noGrp="1"/>
              </p:cNvSpPr>
              <p:nvPr>
                <p:ph type="body" idx="1"/>
              </p:nvPr>
            </p:nvSpPr>
            <p:spPr/>
            <p:txBody>
              <a:bodyPr/>
              <a:lstStyle/>
              <a:p>
                <a:r>
                  <a:rPr kumimoji="1" lang="ja-JP" altLang="en-US"/>
                  <a:t>この手法に関して数値実験を行いました。</a:t>
                </a:r>
                <a:endParaRPr kumimoji="1" lang="en-US" altLang="ja-JP" dirty="0"/>
              </a:p>
              <a:p>
                <a:r>
                  <a:rPr kumimoji="1" lang="ja-JP" altLang="en-US"/>
                  <a:t>人工データを以下のように発生させました。</a:t>
                </a:r>
                <a:endParaRPr kumimoji="1" lang="en-US" altLang="ja-JP" dirty="0"/>
              </a:p>
              <a:p>
                <a:r>
                  <a:rPr kumimoji="1" lang="ja-JP" altLang="en-US"/>
                  <a:t>ただし、こちらの分散共分散行列に関しては、固有値ベクトルをこのように設定したあと直交化させ、固有値を対角成分に持つ行列をこのように決めたあと、相関行列に変換しました。</a:t>
                </a:r>
                <a:endParaRPr kumimoji="1" lang="en-US" altLang="ja-JP" dirty="0"/>
              </a:p>
              <a:p>
                <a:r>
                  <a:rPr kumimoji="1" lang="en-US" altLang="ja-JP" dirty="0"/>
                  <a:t>A</a:t>
                </a:r>
                <a:r>
                  <a:rPr kumimoji="1" lang="ja-JP" altLang="en-US"/>
                  <a:t>の部分は</a:t>
                </a:r>
                <a:r>
                  <a:rPr kumimoji="1" lang="en-US" altLang="ja-JP" dirty="0"/>
                  <a:t>20,50</a:t>
                </a:r>
                <a:r>
                  <a:rPr kumimoji="1" lang="ja-JP" altLang="en-US"/>
                  <a:t>の</a:t>
                </a:r>
                <a:r>
                  <a:rPr kumimoji="1" lang="en-US" altLang="ja-JP" dirty="0"/>
                  <a:t>2</a:t>
                </a:r>
                <a:r>
                  <a:rPr kumimoji="1" lang="ja-JP" altLang="en-US"/>
                  <a:t>種類を用いました。</a:t>
                </a:r>
                <a:endParaRPr kumimoji="1" lang="en-US" altLang="ja-JP" dirty="0"/>
              </a:p>
              <a:p>
                <a:r>
                  <a:rPr kumimoji="1" lang="ja-JP" altLang="en-US"/>
                  <a:t>サンプスサイズを</a:t>
                </a:r>
                <a:r>
                  <a:rPr kumimoji="1" lang="en-US" altLang="ja-JP" dirty="0"/>
                  <a:t>200,500</a:t>
                </a:r>
                <a:r>
                  <a:rPr kumimoji="1" lang="ja-JP" altLang="en-US"/>
                  <a:t>、</a:t>
                </a:r>
                <a:r>
                  <a:rPr kumimoji="1" lang="en-US" altLang="ja-JP" dirty="0"/>
                  <a:t>FDR</a:t>
                </a:r>
                <a:r>
                  <a:rPr kumimoji="1" lang="ja-JP" altLang="en-US"/>
                  <a:t>制御値を</a:t>
                </a:r>
                <a:r>
                  <a:rPr kumimoji="1" lang="en-US" altLang="ja-JP" dirty="0"/>
                  <a:t>0.2</a:t>
                </a:r>
                <a:r>
                  <a:rPr kumimoji="1" lang="ja-JP" altLang="en-US"/>
                  <a:t>に設定しました。</a:t>
                </a:r>
                <a:endParaRPr kumimoji="1" lang="en-US" altLang="ja-JP" dirty="0"/>
              </a:p>
              <a:p>
                <a:r>
                  <a:rPr lang="ja-JP" altLang="en-US">
                    <a:solidFill>
                      <a:schemeClr val="tx1"/>
                    </a:solidFill>
                    <a:latin typeface="+mn-ea"/>
                  </a:rPr>
                  <a:t>第</a:t>
                </a:r>
                <a:r>
                  <a:rPr lang="en-US" altLang="ja-JP" dirty="0">
                    <a:solidFill>
                      <a:schemeClr val="tx1"/>
                    </a:solidFill>
                    <a:latin typeface="+mn-ea"/>
                  </a:rPr>
                  <a:t>1</a:t>
                </a:r>
                <a:r>
                  <a:rPr lang="ja-JP" altLang="en-US">
                    <a:solidFill>
                      <a:schemeClr val="tx1"/>
                    </a:solidFill>
                    <a:latin typeface="+mn-ea"/>
                  </a:rPr>
                  <a:t>主成分から第</a:t>
                </a:r>
                <a:r>
                  <a:rPr lang="en-US" altLang="ja-JP" dirty="0">
                    <a:solidFill>
                      <a:schemeClr val="tx1"/>
                    </a:solidFill>
                    <a:latin typeface="+mn-ea"/>
                  </a:rPr>
                  <a:t>3</a:t>
                </a:r>
                <a:r>
                  <a:rPr lang="ja-JP" altLang="en-US">
                    <a:solidFill>
                      <a:schemeClr val="tx1"/>
                    </a:solidFill>
                    <a:latin typeface="+mn-ea"/>
                  </a:rPr>
                  <a:t>主成分まで、各主成分ごとに</a:t>
                </a:r>
                <a:r>
                  <a:rPr lang="en-US" altLang="ja-JP" dirty="0">
                    <a:solidFill>
                      <a:schemeClr val="tx1"/>
                    </a:solidFill>
                    <a:latin typeface="+mn-ea"/>
                  </a:rPr>
                  <a:t>FDR</a:t>
                </a:r>
                <a:r>
                  <a:rPr lang="ja-JP" altLang="en-US">
                    <a:solidFill>
                      <a:schemeClr val="tx1"/>
                    </a:solidFill>
                    <a:latin typeface="+mn-ea"/>
                  </a:rPr>
                  <a:t>と検出力を計算しました。</a:t>
                </a:r>
                <a:endParaRPr lang="en-US" altLang="ja-JP" sz="1200" dirty="0">
                  <a:latin typeface="+mn-ea"/>
                </a:endParaRPr>
              </a:p>
            </p:txBody>
          </p:sp>
        </mc:Choice>
        <mc:Fallback xmlns="">
          <p:sp>
            <p:nvSpPr>
              <p:cNvPr id="3" name="ノート プレースホルダー 2"/>
              <p:cNvSpPr>
                <a:spLocks noGrp="1"/>
              </p:cNvSpPr>
              <p:nvPr>
                <p:ph type="body" idx="1"/>
              </p:nvPr>
            </p:nvSpPr>
            <p:spPr/>
            <p:txBody>
              <a:bodyPr/>
              <a:lstStyle/>
              <a:p>
                <a:r>
                  <a:rPr kumimoji="1" lang="ja-JP" altLang="en-US"/>
                  <a:t>この手法に関して数値実験を行いました。</a:t>
                </a:r>
                <a:endParaRPr kumimoji="1" lang="en-US" altLang="ja-JP" dirty="0"/>
              </a:p>
              <a:p>
                <a:endParaRPr kumimoji="1" lang="en-US" altLang="ja-JP" dirty="0"/>
              </a:p>
              <a:p>
                <a:r>
                  <a:rPr kumimoji="1" lang="ja-JP" altLang="en-US"/>
                  <a:t>こちらの線形回帰モデルを用い、サンプスサイズを</a:t>
                </a:r>
                <a:r>
                  <a:rPr kumimoji="1" lang="en-US" altLang="ja-JP" dirty="0"/>
                  <a:t>20</a:t>
                </a:r>
                <a:r>
                  <a:rPr kumimoji="1" lang="ja-JP" altLang="en-US"/>
                  <a:t>と</a:t>
                </a:r>
                <a:r>
                  <a:rPr kumimoji="1" lang="en-US" altLang="ja-JP" dirty="0"/>
                  <a:t>50</a:t>
                </a:r>
                <a:r>
                  <a:rPr kumimoji="1" lang="ja-JP" altLang="en-US"/>
                  <a:t>、誤差分散を</a:t>
                </a:r>
                <a:r>
                  <a:rPr kumimoji="1" lang="en-US" altLang="ja-JP" dirty="0"/>
                  <a:t>1</a:t>
                </a:r>
                <a:r>
                  <a:rPr kumimoji="1" lang="ja-JP" altLang="en-US"/>
                  <a:t>と</a:t>
                </a:r>
                <a:r>
                  <a:rPr kumimoji="1" lang="en-US" altLang="ja-JP" dirty="0"/>
                  <a:t>3</a:t>
                </a:r>
                <a:r>
                  <a:rPr kumimoji="1" lang="ja-JP" altLang="en-US"/>
                  <a:t>に値を変え検証しました。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提案手法では、</a:t>
                </a:r>
                <a:r>
                  <a:rPr lang="ja-JP" altLang="en-US" sz="1200">
                    <a:latin typeface="+mn-ea"/>
                  </a:rPr>
                  <a:t>ブートストラップ</a:t>
                </a:r>
                <a:r>
                  <a:rPr lang="ja-JP" altLang="en-US" sz="1200" b="0" i="0">
                    <a:latin typeface="Cambria Math" panose="02040503050406030204" pitchFamily="18" charset="0"/>
                  </a:rPr>
                  <a:t>標本</a:t>
                </a:r>
                <a:r>
                  <a:rPr lang="ja-JP" altLang="en-US" sz="1200" i="0">
                    <a:latin typeface="Cambria Math" panose="02040503050406030204" pitchFamily="18" charset="0"/>
                  </a:rPr>
                  <a:t>を</a:t>
                </a:r>
                <a:r>
                  <a:rPr lang="en-US" altLang="ja-JP" sz="1200" b="0" i="0">
                    <a:latin typeface="Cambria Math" panose="02040503050406030204" pitchFamily="18" charset="0"/>
                  </a:rPr>
                  <a:t>1000</a:t>
                </a:r>
                <a:r>
                  <a:rPr lang="ja-JP" altLang="en-US" sz="1200" i="0">
                    <a:latin typeface="Cambria Math" panose="02040503050406030204" pitchFamily="18" charset="0"/>
                  </a:rPr>
                  <a:t>組作成</a:t>
                </a:r>
                <a:r>
                  <a:rPr lang="ja-JP" altLang="en-US" sz="1200">
                    <a:latin typeface="+mn-ea"/>
                  </a:rPr>
                  <a:t>し、</a:t>
                </a:r>
                <a:r>
                  <a:rPr lang="en-US" altLang="ja-JP" sz="1200" dirty="0">
                    <a:latin typeface="+mn-ea"/>
                  </a:rPr>
                  <a:t>20</a:t>
                </a:r>
                <a:r>
                  <a:rPr lang="ja-JP" altLang="en-US" sz="1200">
                    <a:latin typeface="+mn-ea"/>
                  </a:rPr>
                  <a:t>回実行した</a:t>
                </a:r>
                <a:r>
                  <a:rPr lang="en-US" altLang="ja-JP" sz="1200" dirty="0">
                    <a:latin typeface="+mn-ea"/>
                  </a:rPr>
                  <a:t>FDR</a:t>
                </a:r>
                <a:r>
                  <a:rPr lang="ja-JP" altLang="en-US" sz="1200">
                    <a:latin typeface="+mn-ea"/>
                  </a:rPr>
                  <a:t>の期待値を算出しました。</a:t>
                </a: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p:txBody>
          </p:sp>
        </mc:Fallback>
      </mc:AlternateContent>
      <p:sp>
        <p:nvSpPr>
          <p:cNvPr id="4" name="スライド番号プレースホルダー 3">
            <a:extLst>
              <a:ext uri="{FF2B5EF4-FFF2-40B4-BE49-F238E27FC236}">
                <a16:creationId xmlns:a16="http://schemas.microsoft.com/office/drawing/2014/main" id="{5A923A76-064B-3F44-6F32-EE226AE69176}"/>
              </a:ext>
            </a:extLst>
          </p:cNvPr>
          <p:cNvSpPr>
            <a:spLocks noGrp="1"/>
          </p:cNvSpPr>
          <p:nvPr>
            <p:ph type="sldNum" sz="quarter" idx="5"/>
          </p:nvPr>
        </p:nvSpPr>
        <p:spPr/>
        <p:txBody>
          <a:bodyPr/>
          <a:lstStyle/>
          <a:p>
            <a:fld id="{C3AA1469-922B-5243-9CFC-ED99F2A55A38}" type="slidenum">
              <a:rPr kumimoji="1" lang="ja-JP" altLang="en-US" smtClean="0"/>
              <a:t>30</a:t>
            </a:fld>
            <a:endParaRPr kumimoji="1" lang="ja-JP" altLang="en-US"/>
          </a:p>
        </p:txBody>
      </p:sp>
    </p:spTree>
    <p:extLst>
      <p:ext uri="{BB962C8B-B14F-4D97-AF65-F5344CB8AC3E}">
        <p14:creationId xmlns:p14="http://schemas.microsoft.com/office/powerpoint/2010/main" val="3785446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CC33-3584-C587-6B06-E6968069F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FE987B-BFEB-4043-994D-1FA72D1F40D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D7DA45D9-93AF-98A5-0DFA-8F5ECC47B7A2}"/>
                  </a:ext>
                </a:extLst>
              </p:cNvPr>
              <p:cNvSpPr>
                <a:spLocks noGrp="1"/>
              </p:cNvSpPr>
              <p:nvPr>
                <p:ph type="body" idx="1"/>
              </p:nvPr>
            </p:nvSpPr>
            <p:spPr/>
            <p:txBody>
              <a:bodyPr/>
              <a:lstStyle/>
              <a:p>
                <a:r>
                  <a:rPr lang="ja-JP" altLang="en-US">
                    <a:effectLst/>
                    <a:latin typeface="Helvetica" pitchFamily="2" charset="0"/>
                  </a:rPr>
                  <a:t>第</a:t>
                </a:r>
                <a:r>
                  <a:rPr lang="en-US" altLang="ja-JP" dirty="0">
                    <a:effectLst/>
                    <a:latin typeface="Helvetica" pitchFamily="2" charset="0"/>
                  </a:rPr>
                  <a:t>3 </a:t>
                </a:r>
                <a:r>
                  <a:rPr lang="ja-JP" altLang="en-US">
                    <a:effectLst/>
                    <a:latin typeface="Helvetica" pitchFamily="2" charset="0"/>
                  </a:rPr>
                  <a:t>主成分の</a:t>
                </a:r>
                <a:r>
                  <a:rPr lang="en-US" altLang="ja-JP" dirty="0">
                    <a:effectLst/>
                    <a:latin typeface="Helvetica" pitchFamily="2" charset="0"/>
                  </a:rPr>
                  <a:t>FDR </a:t>
                </a:r>
                <a:r>
                  <a:rPr lang="ja-JP" altLang="en-US">
                    <a:effectLst/>
                    <a:latin typeface="Helvetica" pitchFamily="2" charset="0"/>
                  </a:rPr>
                  <a:t>はすべての設定において</a:t>
                </a:r>
                <a:r>
                  <a:rPr lang="en-US" altLang="ja-JP" dirty="0">
                    <a:effectLst/>
                    <a:latin typeface="Helvetica" pitchFamily="2" charset="0"/>
                  </a:rPr>
                  <a:t>0.2 </a:t>
                </a:r>
                <a:r>
                  <a:rPr lang="ja-JP" altLang="en-US">
                    <a:effectLst/>
                    <a:latin typeface="Helvetica" pitchFamily="2" charset="0"/>
                  </a:rPr>
                  <a:t>を大きく上回った．</a:t>
                </a:r>
              </a:p>
              <a:p>
                <a:r>
                  <a:rPr lang="ja-JP" altLang="en-US">
                    <a:effectLst/>
                    <a:latin typeface="Helvetica" pitchFamily="2" charset="0"/>
                  </a:rPr>
                  <a:t>この結果は，第</a:t>
                </a:r>
                <a:r>
                  <a:rPr lang="en-US" altLang="ja-JP" dirty="0">
                    <a:effectLst/>
                    <a:latin typeface="Helvetica" pitchFamily="2" charset="0"/>
                  </a:rPr>
                  <a:t>2</a:t>
                </a:r>
                <a:r>
                  <a:rPr lang="ja-JP" altLang="en-US">
                    <a:effectLst/>
                    <a:latin typeface="Helvetica" pitchFamily="2" charset="0"/>
                  </a:rPr>
                  <a:t>主成分の場合と同様、第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 </a:t>
                </a:r>
                <a:r>
                  <a:rPr lang="ja-JP" altLang="en-US">
                    <a:effectLst/>
                    <a:latin typeface="Helvetica" pitchFamily="2" charset="0"/>
                  </a:rPr>
                  <a:t>主成分の固有値と比較して，第</a:t>
                </a:r>
                <a:r>
                  <a:rPr lang="en-US" altLang="ja-JP" dirty="0">
                    <a:effectLst/>
                    <a:latin typeface="Helvetica" pitchFamily="2" charset="0"/>
                  </a:rPr>
                  <a:t>3 </a:t>
                </a:r>
                <a:r>
                  <a:rPr lang="ja-JP" altLang="en-US">
                    <a:effectLst/>
                    <a:latin typeface="Helvetica" pitchFamily="2" charset="0"/>
                  </a:rPr>
                  <a:t>主成分の固有値の値が小さいことが原因であると見られる．さらに，第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a:t>
                </a:r>
              </a:p>
              <a:p>
                <a:r>
                  <a:rPr lang="ja-JP" altLang="en-US">
                    <a:effectLst/>
                    <a:latin typeface="Helvetica" pitchFamily="2" charset="0"/>
                  </a:rPr>
                  <a:t>の固有値の差も一因に挙げられる．．</a:t>
                </a:r>
              </a:p>
              <a:p>
                <a:r>
                  <a:rPr lang="ja-JP" altLang="en-US">
                    <a:effectLst/>
                    <a:latin typeface="Helvetica" pitchFamily="2" charset="0"/>
                  </a:rPr>
                  <a:t>次に，比較手法である</a:t>
                </a:r>
                <a:r>
                  <a:rPr lang="en-US" altLang="ja-JP" dirty="0">
                    <a:effectLst/>
                    <a:latin typeface="Helvetica" pitchFamily="2" charset="0"/>
                  </a:rPr>
                  <a:t>BH </a:t>
                </a:r>
                <a:r>
                  <a:rPr lang="ja-JP" altLang="en-US">
                    <a:effectLst/>
                    <a:latin typeface="Helvetica" pitchFamily="2" charset="0"/>
                  </a:rPr>
                  <a:t>法については，すべての設定において</a:t>
                </a:r>
                <a:r>
                  <a:rPr lang="en-US" altLang="ja-JP" dirty="0">
                    <a:effectLst/>
                    <a:latin typeface="Helvetica" pitchFamily="2" charset="0"/>
                  </a:rPr>
                  <a:t>FDR </a:t>
                </a:r>
                <a:r>
                  <a:rPr lang="ja-JP" altLang="en-US">
                    <a:effectLst/>
                    <a:latin typeface="Helvetica" pitchFamily="2" charset="0"/>
                  </a:rPr>
                  <a:t>制御値であ</a:t>
                </a:r>
              </a:p>
              <a:p>
                <a:r>
                  <a:rPr lang="ja-JP" altLang="en-US">
                    <a:effectLst/>
                    <a:latin typeface="Helvetica" pitchFamily="2" charset="0"/>
                  </a:rPr>
                  <a:t>る</a:t>
                </a:r>
                <a:r>
                  <a:rPr lang="en-US" altLang="ja-JP" dirty="0">
                    <a:effectLst/>
                    <a:latin typeface="Helvetica" pitchFamily="2" charset="0"/>
                  </a:rPr>
                  <a:t>0.2 </a:t>
                </a:r>
                <a:r>
                  <a:rPr lang="ja-JP" altLang="en-US">
                    <a:effectLst/>
                    <a:latin typeface="Helvetica" pitchFamily="2" charset="0"/>
                  </a:rPr>
                  <a:t>を大きく上回った．これは，どの設定においても</a:t>
                </a:r>
                <a:r>
                  <a:rPr lang="en-US" altLang="ja-JP" dirty="0">
                    <a:effectLst/>
                    <a:latin typeface="Helvetica" pitchFamily="2" charset="0"/>
                  </a:rPr>
                  <a:t>FDR </a:t>
                </a:r>
                <a:r>
                  <a:rPr lang="ja-JP" altLang="en-US">
                    <a:effectLst/>
                    <a:latin typeface="Helvetica" pitchFamily="2" charset="0"/>
                  </a:rPr>
                  <a:t>の制御が不可能である</a:t>
                </a:r>
              </a:p>
              <a:p>
                <a:r>
                  <a:rPr lang="ja-JP" altLang="en-US">
                    <a:effectLst/>
                    <a:latin typeface="Helvetica" pitchFamily="2" charset="0"/>
                  </a:rPr>
                  <a:t>ことを示している．</a:t>
                </a:r>
              </a:p>
              <a:p>
                <a:endParaRPr lang="en-US" altLang="ja-JP" dirty="0">
                  <a:effectLst/>
                  <a:latin typeface="Helvetica" pitchFamily="2" charset="0"/>
                </a:endParaRPr>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つぎに</a:t>
                </a:r>
                <a:r>
                  <a:rPr kumimoji="1" lang="ja-JP" altLang="en-US" sz="1200" b="0" i="0" kern="1200">
                    <a:solidFill>
                      <a:schemeClr val="tx1"/>
                    </a:solidFill>
                    <a:effectLst/>
                    <a:latin typeface="Cambria Math" panose="02040503050406030204" pitchFamily="18" charset="0"/>
                    <a:ea typeface="+mn-ea"/>
                    <a:cs typeface="+mn-cs"/>
                  </a:rPr>
                  <a:t>、</a:t>
                </a:r>
                <a:r>
                  <a:rPr kumimoji="1" lang="en-US" altLang="ja-JP" sz="1200" b="0" i="0" kern="1200">
                    <a:solidFill>
                      <a:schemeClr val="tx1"/>
                    </a:solidFill>
                    <a:effectLst/>
                    <a:latin typeface="Cambria Math" panose="02040503050406030204" pitchFamily="18" charset="0"/>
                    <a:ea typeface="+mn-ea"/>
                    <a:cs typeface="+mn-cs"/>
                  </a:rPr>
                  <a:t>𝐹𝐷𝑅</a:t>
                </a:r>
                <a:r>
                  <a:rPr kumimoji="1" lang="ja-JP" altLang="en-US" sz="1200" b="0" i="0" kern="1200">
                    <a:solidFill>
                      <a:schemeClr val="tx1"/>
                    </a:solidFill>
                    <a:effectLst/>
                    <a:latin typeface="Cambria Math" panose="02040503050406030204" pitchFamily="18" charset="0"/>
                    <a:ea typeface="+mn-ea"/>
                    <a:cs typeface="+mn-cs"/>
                  </a:rPr>
                  <a:t>制御値を</a:t>
                </a:r>
                <a:r>
                  <a:rPr lang="en-US" altLang="ja-JP" sz="1200" b="0" i="0">
                    <a:solidFill>
                      <a:schemeClr val="tx1"/>
                    </a:solidFill>
                    <a:latin typeface="Cambria Math" panose="02040503050406030204" pitchFamily="18" charset="0"/>
                  </a:rPr>
                  <a:t>0.2</a:t>
                </a:r>
                <a:r>
                  <a:rPr kumimoji="1" lang="ja-JP" altLang="en-US" sz="1200" kern="1200">
                    <a:solidFill>
                      <a:schemeClr val="tx1"/>
                    </a:solidFill>
                    <a:effectLst/>
                    <a:latin typeface="+mn-lt"/>
                    <a:ea typeface="+mn-ea"/>
                    <a:cs typeface="+mn-cs"/>
                  </a:rPr>
                  <a:t>に設定した場合です。</a:t>
                </a:r>
              </a:p>
              <a:p>
                <a:endParaRPr kumimoji="1" lang="ja-JP" altLang="en-US" sz="1200" kern="1200">
                  <a:solidFill>
                    <a:schemeClr val="tx1"/>
                  </a:solidFill>
                  <a:effectLst/>
                  <a:latin typeface="+mn-lt"/>
                  <a:ea typeface="+mn-ea"/>
                  <a:cs typeface="+mn-cs"/>
                </a:endParaRPr>
              </a:p>
              <a:p>
                <a:r>
                  <a:rPr kumimoji="1" lang="ja-JP" altLang="en-US"/>
                  <a:t>左下の</a:t>
                </a:r>
                <a:r>
                  <a:rPr kumimoji="1" lang="en-US" altLang="ja-JP" dirty="0"/>
                  <a:t>FDR</a:t>
                </a:r>
                <a:r>
                  <a:rPr kumimoji="1" lang="ja-JP" altLang="en-US"/>
                  <a:t>の期待値、</a:t>
                </a:r>
                <a:r>
                  <a:rPr lang="en-US" altLang="ja-JP" sz="1200" b="0" i="0">
                    <a:effectLst/>
                    <a:latin typeface="Cambria Math" panose="02040503050406030204" pitchFamily="18" charset="0"/>
                    <a:ea typeface="Hiragino Sans" panose="020B0400000000000000" pitchFamily="34" charset="-128"/>
                  </a:rPr>
                  <a:t>0.2212636</a:t>
                </a:r>
                <a:r>
                  <a:rPr kumimoji="1" lang="ja-JP" altLang="en-US"/>
                  <a:t>が実験結果です。</a:t>
                </a:r>
                <a:endParaRPr kumimoji="1" lang="en-US" altLang="ja-JP" dirty="0"/>
              </a:p>
              <a:p>
                <a:r>
                  <a:rPr kumimoji="1" lang="ja-JP" altLang="en-US"/>
                  <a:t>あらかじめ設定した</a:t>
                </a:r>
                <a:r>
                  <a:rPr kumimoji="1" lang="en-US" altLang="ja-JP" dirty="0"/>
                  <a:t>0.2</a:t>
                </a:r>
                <a:r>
                  <a:rPr kumimoji="1" lang="ja-JP" altLang="en-US"/>
                  <a:t>の値を下回るべきでしたが、超えてしまいました。</a:t>
                </a:r>
                <a:endParaRPr kumimoji="1" lang="en-US" altLang="ja-JP" dirty="0"/>
              </a:p>
              <a:p>
                <a:endParaRPr kumimoji="1" lang="en-US" altLang="ja-JP" dirty="0"/>
              </a:p>
              <a:p>
                <a:r>
                  <a:rPr kumimoji="1" lang="ja-JP" altLang="en-US"/>
                  <a:t>また、上の表に関して</a:t>
                </a:r>
                <a:r>
                  <a:rPr kumimoji="1" lang="ja-JP" altLang="en-US">
                    <a:latin typeface="+mn-ea"/>
                  </a:rPr>
                  <a:t>、</a:t>
                </a:r>
                <a:endParaRPr kumimoji="1" lang="en-US" altLang="ja-JP" dirty="0">
                  <a:latin typeface="+mn-ea"/>
                </a:endParaRPr>
              </a:p>
              <a:p>
                <a:r>
                  <a:rPr kumimoji="1" lang="ja-JP" altLang="en-US">
                    <a:latin typeface="+mn-ea"/>
                  </a:rPr>
                  <a:t>下線を引いた部分では</a:t>
                </a:r>
                <a:r>
                  <a:rPr kumimoji="1" lang="en-US" altLang="ja-JP" dirty="0">
                    <a:latin typeface="+mn-ea"/>
                  </a:rPr>
                  <a:t>0</a:t>
                </a:r>
                <a:r>
                  <a:rPr kumimoji="1" lang="ja-JP" altLang="en-US">
                    <a:latin typeface="+mn-ea"/>
                  </a:rPr>
                  <a:t>回に程遠くなっております。</a:t>
                </a:r>
                <a:endParaRPr kumimoji="1" lang="en-US" altLang="ja-JP" dirty="0">
                  <a:latin typeface="+mn-ea"/>
                </a:endParaRPr>
              </a:p>
              <a:p>
                <a:endParaRPr kumimoji="1" lang="en-US" altLang="ja-JP" dirty="0">
                  <a:latin typeface="+mn-ea"/>
                </a:endParaRPr>
              </a:p>
              <a:p>
                <a:r>
                  <a:rPr kumimoji="1" lang="ja-JP" altLang="en-US">
                    <a:latin typeface="+mn-ea"/>
                  </a:rPr>
                  <a:t>これらの原因としては</a:t>
                </a:r>
                <a:r>
                  <a:rPr kumimoji="1" lang="ja-JP" altLang="en-US">
                    <a:latin typeface="+mn-ea"/>
                    <a:ea typeface="+mn-ea"/>
                  </a:rPr>
                  <a:t>、手順</a:t>
                </a:r>
                <a:r>
                  <a:rPr kumimoji="1" lang="en-US" altLang="ja-JP" dirty="0">
                    <a:latin typeface="+mn-ea"/>
                    <a:ea typeface="+mn-ea"/>
                  </a:rPr>
                  <a:t>1</a:t>
                </a:r>
                <a:r>
                  <a:rPr kumimoji="1" lang="ja-JP" altLang="en-US">
                    <a:latin typeface="+mn-ea"/>
                    <a:ea typeface="+mn-ea"/>
                  </a:rPr>
                  <a:t>の相関行列から</a:t>
                </a:r>
                <a:r>
                  <a:rPr kumimoji="1" lang="en-US" altLang="ja-JP" sz="1200" dirty="0">
                    <a:latin typeface="+mn-ea"/>
                    <a:ea typeface="+mn-ea"/>
                    <a:cs typeface="ヒラギノ角ゴ Pro W3"/>
                  </a:rPr>
                  <a:t>Knockoff</a:t>
                </a:r>
                <a:r>
                  <a:rPr kumimoji="1" lang="ja-JP" altLang="en-US" sz="1200">
                    <a:latin typeface="+mn-ea"/>
                    <a:ea typeface="+mn-ea"/>
                    <a:cs typeface="ヒラギノ角ゴ Pro W3"/>
                  </a:rPr>
                  <a:t>変数を抽出する際にノイズが生じている点が挙げられます。</a:t>
                </a:r>
                <a:endParaRPr kumimoji="1" lang="en-US" altLang="ja-JP" dirty="0">
                  <a:latin typeface="+mn-ea"/>
                  <a:ea typeface="+mn-ea"/>
                </a:endParaRPr>
              </a:p>
              <a:p>
                <a:endParaRPr kumimoji="1" lang="en-US" altLang="ja-JP" dirty="0">
                  <a:latin typeface="+mn-ea"/>
                </a:endParaRPr>
              </a:p>
              <a:p>
                <a:endParaRPr kumimoji="1" lang="en-US" altLang="ja-JP" dirty="0">
                  <a:latin typeface="+mn-ea"/>
                </a:endParaRPr>
              </a:p>
              <a:p>
                <a:endParaRPr kumimoji="1" lang="en-US" altLang="ja-JP" dirty="0">
                  <a:latin typeface="+mn-ea"/>
                </a:endParaRPr>
              </a:p>
            </p:txBody>
          </p:sp>
        </mc:Fallback>
      </mc:AlternateContent>
      <p:sp>
        <p:nvSpPr>
          <p:cNvPr id="4" name="スライド番号プレースホルダー 3">
            <a:extLst>
              <a:ext uri="{FF2B5EF4-FFF2-40B4-BE49-F238E27FC236}">
                <a16:creationId xmlns:a16="http://schemas.microsoft.com/office/drawing/2014/main" id="{C5E2FD36-D8A6-87DC-01AD-9AF62234C806}"/>
              </a:ext>
            </a:extLst>
          </p:cNvPr>
          <p:cNvSpPr>
            <a:spLocks noGrp="1"/>
          </p:cNvSpPr>
          <p:nvPr>
            <p:ph type="sldNum" sz="quarter" idx="5"/>
          </p:nvPr>
        </p:nvSpPr>
        <p:spPr/>
        <p:txBody>
          <a:bodyPr/>
          <a:lstStyle/>
          <a:p>
            <a:fld id="{C3AA1469-922B-5243-9CFC-ED99F2A55A38}" type="slidenum">
              <a:rPr kumimoji="1" lang="ja-JP" altLang="en-US" smtClean="0"/>
              <a:t>31</a:t>
            </a:fld>
            <a:endParaRPr kumimoji="1" lang="ja-JP" altLang="en-US"/>
          </a:p>
        </p:txBody>
      </p:sp>
    </p:spTree>
    <p:extLst>
      <p:ext uri="{BB962C8B-B14F-4D97-AF65-F5344CB8AC3E}">
        <p14:creationId xmlns:p14="http://schemas.microsoft.com/office/powerpoint/2010/main" val="28628852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CC33-3584-C587-6B06-E6968069F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FE987B-BFEB-4043-994D-1FA72D1F40D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D7DA45D9-93AF-98A5-0DFA-8F5ECC47B7A2}"/>
                  </a:ext>
                </a:extLst>
              </p:cNvPr>
              <p:cNvSpPr>
                <a:spLocks noGrp="1"/>
              </p:cNvSpPr>
              <p:nvPr>
                <p:ph type="body" idx="1"/>
              </p:nvPr>
            </p:nvSpPr>
            <p:spPr/>
            <p:txBody>
              <a:bodyPr/>
              <a:lstStyle/>
              <a:p>
                <a:r>
                  <a:rPr lang="ja-JP" altLang="en-US">
                    <a:effectLst/>
                    <a:latin typeface="Helvetica" pitchFamily="2" charset="0"/>
                  </a:rPr>
                  <a:t>第</a:t>
                </a:r>
                <a:r>
                  <a:rPr lang="en-US" altLang="ja-JP" dirty="0">
                    <a:effectLst/>
                    <a:latin typeface="Helvetica" pitchFamily="2" charset="0"/>
                  </a:rPr>
                  <a:t>3 </a:t>
                </a:r>
                <a:r>
                  <a:rPr lang="ja-JP" altLang="en-US">
                    <a:effectLst/>
                    <a:latin typeface="Helvetica" pitchFamily="2" charset="0"/>
                  </a:rPr>
                  <a:t>主成分の</a:t>
                </a:r>
                <a:r>
                  <a:rPr lang="en-US" altLang="ja-JP" dirty="0">
                    <a:effectLst/>
                    <a:latin typeface="Helvetica" pitchFamily="2" charset="0"/>
                  </a:rPr>
                  <a:t>FDR </a:t>
                </a:r>
                <a:r>
                  <a:rPr lang="ja-JP" altLang="en-US">
                    <a:effectLst/>
                    <a:latin typeface="Helvetica" pitchFamily="2" charset="0"/>
                  </a:rPr>
                  <a:t>はすべての設定において</a:t>
                </a:r>
                <a:r>
                  <a:rPr lang="en-US" altLang="ja-JP" dirty="0">
                    <a:effectLst/>
                    <a:latin typeface="Helvetica" pitchFamily="2" charset="0"/>
                  </a:rPr>
                  <a:t>0.2 </a:t>
                </a:r>
                <a:r>
                  <a:rPr lang="ja-JP" altLang="en-US">
                    <a:effectLst/>
                    <a:latin typeface="Helvetica" pitchFamily="2" charset="0"/>
                  </a:rPr>
                  <a:t>を大きく上回った．</a:t>
                </a:r>
              </a:p>
              <a:p>
                <a:r>
                  <a:rPr lang="ja-JP" altLang="en-US">
                    <a:effectLst/>
                    <a:latin typeface="Helvetica" pitchFamily="2" charset="0"/>
                  </a:rPr>
                  <a:t>この結果は，第</a:t>
                </a:r>
                <a:r>
                  <a:rPr lang="en-US" altLang="ja-JP" dirty="0">
                    <a:effectLst/>
                    <a:latin typeface="Helvetica" pitchFamily="2" charset="0"/>
                  </a:rPr>
                  <a:t>2</a:t>
                </a:r>
                <a:r>
                  <a:rPr lang="ja-JP" altLang="en-US">
                    <a:effectLst/>
                    <a:latin typeface="Helvetica" pitchFamily="2" charset="0"/>
                  </a:rPr>
                  <a:t>主成分の場合と同様、第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 </a:t>
                </a:r>
                <a:r>
                  <a:rPr lang="ja-JP" altLang="en-US">
                    <a:effectLst/>
                    <a:latin typeface="Helvetica" pitchFamily="2" charset="0"/>
                  </a:rPr>
                  <a:t>主成分の固有値と比較して，第</a:t>
                </a:r>
                <a:r>
                  <a:rPr lang="en-US" altLang="ja-JP" dirty="0">
                    <a:effectLst/>
                    <a:latin typeface="Helvetica" pitchFamily="2" charset="0"/>
                  </a:rPr>
                  <a:t>3 </a:t>
                </a:r>
                <a:r>
                  <a:rPr lang="ja-JP" altLang="en-US">
                    <a:effectLst/>
                    <a:latin typeface="Helvetica" pitchFamily="2" charset="0"/>
                  </a:rPr>
                  <a:t>主成分の固有値の値が小さいことが原因であると見られる．さらに，第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a:t>
                </a:r>
              </a:p>
              <a:p>
                <a:r>
                  <a:rPr lang="ja-JP" altLang="en-US">
                    <a:effectLst/>
                    <a:latin typeface="Helvetica" pitchFamily="2" charset="0"/>
                  </a:rPr>
                  <a:t>の固有値の差も一因に挙げられる．．</a:t>
                </a:r>
              </a:p>
              <a:p>
                <a:r>
                  <a:rPr lang="ja-JP" altLang="en-US">
                    <a:effectLst/>
                    <a:latin typeface="Helvetica" pitchFamily="2" charset="0"/>
                  </a:rPr>
                  <a:t>次に，比較手法である</a:t>
                </a:r>
                <a:r>
                  <a:rPr lang="en-US" altLang="ja-JP" dirty="0">
                    <a:effectLst/>
                    <a:latin typeface="Helvetica" pitchFamily="2" charset="0"/>
                  </a:rPr>
                  <a:t>BH </a:t>
                </a:r>
                <a:r>
                  <a:rPr lang="ja-JP" altLang="en-US">
                    <a:effectLst/>
                    <a:latin typeface="Helvetica" pitchFamily="2" charset="0"/>
                  </a:rPr>
                  <a:t>法については，すべての設定において</a:t>
                </a:r>
                <a:r>
                  <a:rPr lang="en-US" altLang="ja-JP" dirty="0">
                    <a:effectLst/>
                    <a:latin typeface="Helvetica" pitchFamily="2" charset="0"/>
                  </a:rPr>
                  <a:t>FDR </a:t>
                </a:r>
                <a:r>
                  <a:rPr lang="ja-JP" altLang="en-US">
                    <a:effectLst/>
                    <a:latin typeface="Helvetica" pitchFamily="2" charset="0"/>
                  </a:rPr>
                  <a:t>制御値であ</a:t>
                </a:r>
              </a:p>
              <a:p>
                <a:r>
                  <a:rPr lang="ja-JP" altLang="en-US">
                    <a:effectLst/>
                    <a:latin typeface="Helvetica" pitchFamily="2" charset="0"/>
                  </a:rPr>
                  <a:t>る</a:t>
                </a:r>
                <a:r>
                  <a:rPr lang="en-US" altLang="ja-JP" dirty="0">
                    <a:effectLst/>
                    <a:latin typeface="Helvetica" pitchFamily="2" charset="0"/>
                  </a:rPr>
                  <a:t>0.2 </a:t>
                </a:r>
                <a:r>
                  <a:rPr lang="ja-JP" altLang="en-US">
                    <a:effectLst/>
                    <a:latin typeface="Helvetica" pitchFamily="2" charset="0"/>
                  </a:rPr>
                  <a:t>を大きく上回った．これは，どの設定においても</a:t>
                </a:r>
                <a:r>
                  <a:rPr lang="en-US" altLang="ja-JP" dirty="0">
                    <a:effectLst/>
                    <a:latin typeface="Helvetica" pitchFamily="2" charset="0"/>
                  </a:rPr>
                  <a:t>FDR </a:t>
                </a:r>
                <a:r>
                  <a:rPr lang="ja-JP" altLang="en-US">
                    <a:effectLst/>
                    <a:latin typeface="Helvetica" pitchFamily="2" charset="0"/>
                  </a:rPr>
                  <a:t>の制御が不可能である</a:t>
                </a:r>
              </a:p>
              <a:p>
                <a:r>
                  <a:rPr lang="ja-JP" altLang="en-US">
                    <a:effectLst/>
                    <a:latin typeface="Helvetica" pitchFamily="2" charset="0"/>
                  </a:rPr>
                  <a:t>ことを示している．</a:t>
                </a:r>
              </a:p>
              <a:p>
                <a:endParaRPr lang="en-US" altLang="ja-JP" dirty="0">
                  <a:effectLst/>
                  <a:latin typeface="Helvetica" pitchFamily="2" charset="0"/>
                </a:endParaRPr>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つぎに</a:t>
                </a:r>
                <a:r>
                  <a:rPr kumimoji="1" lang="ja-JP" altLang="en-US" sz="1200" b="0" i="0" kern="1200">
                    <a:solidFill>
                      <a:schemeClr val="tx1"/>
                    </a:solidFill>
                    <a:effectLst/>
                    <a:latin typeface="Cambria Math" panose="02040503050406030204" pitchFamily="18" charset="0"/>
                    <a:ea typeface="+mn-ea"/>
                    <a:cs typeface="+mn-cs"/>
                  </a:rPr>
                  <a:t>、</a:t>
                </a:r>
                <a:r>
                  <a:rPr kumimoji="1" lang="en-US" altLang="ja-JP" sz="1200" b="0" i="0" kern="1200">
                    <a:solidFill>
                      <a:schemeClr val="tx1"/>
                    </a:solidFill>
                    <a:effectLst/>
                    <a:latin typeface="Cambria Math" panose="02040503050406030204" pitchFamily="18" charset="0"/>
                    <a:ea typeface="+mn-ea"/>
                    <a:cs typeface="+mn-cs"/>
                  </a:rPr>
                  <a:t>𝐹𝐷𝑅</a:t>
                </a:r>
                <a:r>
                  <a:rPr kumimoji="1" lang="ja-JP" altLang="en-US" sz="1200" b="0" i="0" kern="1200">
                    <a:solidFill>
                      <a:schemeClr val="tx1"/>
                    </a:solidFill>
                    <a:effectLst/>
                    <a:latin typeface="Cambria Math" panose="02040503050406030204" pitchFamily="18" charset="0"/>
                    <a:ea typeface="+mn-ea"/>
                    <a:cs typeface="+mn-cs"/>
                  </a:rPr>
                  <a:t>制御値を</a:t>
                </a:r>
                <a:r>
                  <a:rPr lang="en-US" altLang="ja-JP" sz="1200" b="0" i="0">
                    <a:solidFill>
                      <a:schemeClr val="tx1"/>
                    </a:solidFill>
                    <a:latin typeface="Cambria Math" panose="02040503050406030204" pitchFamily="18" charset="0"/>
                  </a:rPr>
                  <a:t>0.2</a:t>
                </a:r>
                <a:r>
                  <a:rPr kumimoji="1" lang="ja-JP" altLang="en-US" sz="1200" kern="1200">
                    <a:solidFill>
                      <a:schemeClr val="tx1"/>
                    </a:solidFill>
                    <a:effectLst/>
                    <a:latin typeface="+mn-lt"/>
                    <a:ea typeface="+mn-ea"/>
                    <a:cs typeface="+mn-cs"/>
                  </a:rPr>
                  <a:t>に設定した場合です。</a:t>
                </a:r>
              </a:p>
              <a:p>
                <a:endParaRPr kumimoji="1" lang="ja-JP" altLang="en-US" sz="1200" kern="1200">
                  <a:solidFill>
                    <a:schemeClr val="tx1"/>
                  </a:solidFill>
                  <a:effectLst/>
                  <a:latin typeface="+mn-lt"/>
                  <a:ea typeface="+mn-ea"/>
                  <a:cs typeface="+mn-cs"/>
                </a:endParaRPr>
              </a:p>
              <a:p>
                <a:r>
                  <a:rPr kumimoji="1" lang="ja-JP" altLang="en-US"/>
                  <a:t>左下の</a:t>
                </a:r>
                <a:r>
                  <a:rPr kumimoji="1" lang="en-US" altLang="ja-JP" dirty="0"/>
                  <a:t>FDR</a:t>
                </a:r>
                <a:r>
                  <a:rPr kumimoji="1" lang="ja-JP" altLang="en-US"/>
                  <a:t>の期待値、</a:t>
                </a:r>
                <a:r>
                  <a:rPr lang="en-US" altLang="ja-JP" sz="1200" b="0" i="0">
                    <a:effectLst/>
                    <a:latin typeface="Cambria Math" panose="02040503050406030204" pitchFamily="18" charset="0"/>
                    <a:ea typeface="Hiragino Sans" panose="020B0400000000000000" pitchFamily="34" charset="-128"/>
                  </a:rPr>
                  <a:t>0.2212636</a:t>
                </a:r>
                <a:r>
                  <a:rPr kumimoji="1" lang="ja-JP" altLang="en-US"/>
                  <a:t>が実験結果です。</a:t>
                </a:r>
                <a:endParaRPr kumimoji="1" lang="en-US" altLang="ja-JP" dirty="0"/>
              </a:p>
              <a:p>
                <a:r>
                  <a:rPr kumimoji="1" lang="ja-JP" altLang="en-US"/>
                  <a:t>あらかじめ設定した</a:t>
                </a:r>
                <a:r>
                  <a:rPr kumimoji="1" lang="en-US" altLang="ja-JP" dirty="0"/>
                  <a:t>0.2</a:t>
                </a:r>
                <a:r>
                  <a:rPr kumimoji="1" lang="ja-JP" altLang="en-US"/>
                  <a:t>の値を下回るべきでしたが、超えてしまいました。</a:t>
                </a:r>
                <a:endParaRPr kumimoji="1" lang="en-US" altLang="ja-JP" dirty="0"/>
              </a:p>
              <a:p>
                <a:endParaRPr kumimoji="1" lang="en-US" altLang="ja-JP" dirty="0"/>
              </a:p>
              <a:p>
                <a:r>
                  <a:rPr kumimoji="1" lang="ja-JP" altLang="en-US"/>
                  <a:t>また、上の表に関して</a:t>
                </a:r>
                <a:r>
                  <a:rPr kumimoji="1" lang="ja-JP" altLang="en-US">
                    <a:latin typeface="+mn-ea"/>
                  </a:rPr>
                  <a:t>、</a:t>
                </a:r>
                <a:endParaRPr kumimoji="1" lang="en-US" altLang="ja-JP" dirty="0">
                  <a:latin typeface="+mn-ea"/>
                </a:endParaRPr>
              </a:p>
              <a:p>
                <a:r>
                  <a:rPr kumimoji="1" lang="ja-JP" altLang="en-US">
                    <a:latin typeface="+mn-ea"/>
                  </a:rPr>
                  <a:t>下線を引いた部分では</a:t>
                </a:r>
                <a:r>
                  <a:rPr kumimoji="1" lang="en-US" altLang="ja-JP" dirty="0">
                    <a:latin typeface="+mn-ea"/>
                  </a:rPr>
                  <a:t>0</a:t>
                </a:r>
                <a:r>
                  <a:rPr kumimoji="1" lang="ja-JP" altLang="en-US">
                    <a:latin typeface="+mn-ea"/>
                  </a:rPr>
                  <a:t>回に程遠くなっております。</a:t>
                </a:r>
                <a:endParaRPr kumimoji="1" lang="en-US" altLang="ja-JP" dirty="0">
                  <a:latin typeface="+mn-ea"/>
                </a:endParaRPr>
              </a:p>
              <a:p>
                <a:endParaRPr kumimoji="1" lang="en-US" altLang="ja-JP" dirty="0">
                  <a:latin typeface="+mn-ea"/>
                </a:endParaRPr>
              </a:p>
              <a:p>
                <a:r>
                  <a:rPr kumimoji="1" lang="ja-JP" altLang="en-US">
                    <a:latin typeface="+mn-ea"/>
                  </a:rPr>
                  <a:t>これらの原因としては</a:t>
                </a:r>
                <a:r>
                  <a:rPr kumimoji="1" lang="ja-JP" altLang="en-US">
                    <a:latin typeface="+mn-ea"/>
                    <a:ea typeface="+mn-ea"/>
                  </a:rPr>
                  <a:t>、手順</a:t>
                </a:r>
                <a:r>
                  <a:rPr kumimoji="1" lang="en-US" altLang="ja-JP" dirty="0">
                    <a:latin typeface="+mn-ea"/>
                    <a:ea typeface="+mn-ea"/>
                  </a:rPr>
                  <a:t>1</a:t>
                </a:r>
                <a:r>
                  <a:rPr kumimoji="1" lang="ja-JP" altLang="en-US">
                    <a:latin typeface="+mn-ea"/>
                    <a:ea typeface="+mn-ea"/>
                  </a:rPr>
                  <a:t>の相関行列から</a:t>
                </a:r>
                <a:r>
                  <a:rPr kumimoji="1" lang="en-US" altLang="ja-JP" sz="1200" dirty="0">
                    <a:latin typeface="+mn-ea"/>
                    <a:ea typeface="+mn-ea"/>
                    <a:cs typeface="ヒラギノ角ゴ Pro W3"/>
                  </a:rPr>
                  <a:t>Knockoff</a:t>
                </a:r>
                <a:r>
                  <a:rPr kumimoji="1" lang="ja-JP" altLang="en-US" sz="1200">
                    <a:latin typeface="+mn-ea"/>
                    <a:ea typeface="+mn-ea"/>
                    <a:cs typeface="ヒラギノ角ゴ Pro W3"/>
                  </a:rPr>
                  <a:t>変数を抽出する際にノイズが生じている点が挙げられます。</a:t>
                </a:r>
                <a:endParaRPr kumimoji="1" lang="en-US" altLang="ja-JP" dirty="0">
                  <a:latin typeface="+mn-ea"/>
                  <a:ea typeface="+mn-ea"/>
                </a:endParaRPr>
              </a:p>
              <a:p>
                <a:endParaRPr kumimoji="1" lang="en-US" altLang="ja-JP" dirty="0">
                  <a:latin typeface="+mn-ea"/>
                </a:endParaRPr>
              </a:p>
              <a:p>
                <a:endParaRPr kumimoji="1" lang="en-US" altLang="ja-JP" dirty="0">
                  <a:latin typeface="+mn-ea"/>
                </a:endParaRPr>
              </a:p>
              <a:p>
                <a:endParaRPr kumimoji="1" lang="en-US" altLang="ja-JP" dirty="0">
                  <a:latin typeface="+mn-ea"/>
                </a:endParaRPr>
              </a:p>
            </p:txBody>
          </p:sp>
        </mc:Fallback>
      </mc:AlternateContent>
      <p:sp>
        <p:nvSpPr>
          <p:cNvPr id="4" name="スライド番号プレースホルダー 3">
            <a:extLst>
              <a:ext uri="{FF2B5EF4-FFF2-40B4-BE49-F238E27FC236}">
                <a16:creationId xmlns:a16="http://schemas.microsoft.com/office/drawing/2014/main" id="{C5E2FD36-D8A6-87DC-01AD-9AF62234C806}"/>
              </a:ext>
            </a:extLst>
          </p:cNvPr>
          <p:cNvSpPr>
            <a:spLocks noGrp="1"/>
          </p:cNvSpPr>
          <p:nvPr>
            <p:ph type="sldNum" sz="quarter" idx="5"/>
          </p:nvPr>
        </p:nvSpPr>
        <p:spPr/>
        <p:txBody>
          <a:bodyPr/>
          <a:lstStyle/>
          <a:p>
            <a:fld id="{C3AA1469-922B-5243-9CFC-ED99F2A55A38}" type="slidenum">
              <a:rPr kumimoji="1" lang="ja-JP" altLang="en-US" smtClean="0"/>
              <a:t>32</a:t>
            </a:fld>
            <a:endParaRPr kumimoji="1" lang="ja-JP" altLang="en-US"/>
          </a:p>
        </p:txBody>
      </p:sp>
    </p:spTree>
    <p:extLst>
      <p:ext uri="{BB962C8B-B14F-4D97-AF65-F5344CB8AC3E}">
        <p14:creationId xmlns:p14="http://schemas.microsoft.com/office/powerpoint/2010/main" val="26605752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CC33-3584-C587-6B06-E6968069F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FE987B-BFEB-4043-994D-1FA72D1F40D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D7DA45D9-93AF-98A5-0DFA-8F5ECC47B7A2}"/>
                  </a:ext>
                </a:extLst>
              </p:cNvPr>
              <p:cNvSpPr>
                <a:spLocks noGrp="1"/>
              </p:cNvSpPr>
              <p:nvPr>
                <p:ph type="body" idx="1"/>
              </p:nvPr>
            </p:nvSpPr>
            <p:spPr/>
            <p:txBody>
              <a:bodyPr/>
              <a:lstStyle/>
              <a:p>
                <a:r>
                  <a:rPr lang="ja-JP" altLang="en-US">
                    <a:effectLst/>
                    <a:latin typeface="Helvetica" pitchFamily="2" charset="0"/>
                  </a:rPr>
                  <a:t>第</a:t>
                </a:r>
                <a:r>
                  <a:rPr lang="en-US" altLang="ja-JP" dirty="0">
                    <a:effectLst/>
                    <a:latin typeface="Helvetica" pitchFamily="2" charset="0"/>
                  </a:rPr>
                  <a:t>3 </a:t>
                </a:r>
                <a:r>
                  <a:rPr lang="ja-JP" altLang="en-US">
                    <a:effectLst/>
                    <a:latin typeface="Helvetica" pitchFamily="2" charset="0"/>
                  </a:rPr>
                  <a:t>主成分の</a:t>
                </a:r>
                <a:r>
                  <a:rPr lang="en-US" altLang="ja-JP" dirty="0">
                    <a:effectLst/>
                    <a:latin typeface="Helvetica" pitchFamily="2" charset="0"/>
                  </a:rPr>
                  <a:t>FDR </a:t>
                </a:r>
                <a:r>
                  <a:rPr lang="ja-JP" altLang="en-US">
                    <a:effectLst/>
                    <a:latin typeface="Helvetica" pitchFamily="2" charset="0"/>
                  </a:rPr>
                  <a:t>はすべての設定において</a:t>
                </a:r>
                <a:r>
                  <a:rPr lang="en-US" altLang="ja-JP" dirty="0">
                    <a:effectLst/>
                    <a:latin typeface="Helvetica" pitchFamily="2" charset="0"/>
                  </a:rPr>
                  <a:t>0.2 </a:t>
                </a:r>
                <a:r>
                  <a:rPr lang="ja-JP" altLang="en-US">
                    <a:effectLst/>
                    <a:latin typeface="Helvetica" pitchFamily="2" charset="0"/>
                  </a:rPr>
                  <a:t>を大きく上回った．</a:t>
                </a:r>
              </a:p>
              <a:p>
                <a:r>
                  <a:rPr lang="ja-JP" altLang="en-US">
                    <a:effectLst/>
                    <a:latin typeface="Helvetica" pitchFamily="2" charset="0"/>
                  </a:rPr>
                  <a:t>この結果は，第</a:t>
                </a:r>
                <a:r>
                  <a:rPr lang="en-US" altLang="ja-JP" dirty="0">
                    <a:effectLst/>
                    <a:latin typeface="Helvetica" pitchFamily="2" charset="0"/>
                  </a:rPr>
                  <a:t>2</a:t>
                </a:r>
                <a:r>
                  <a:rPr lang="ja-JP" altLang="en-US">
                    <a:effectLst/>
                    <a:latin typeface="Helvetica" pitchFamily="2" charset="0"/>
                  </a:rPr>
                  <a:t>主成分の場合と同様、第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 </a:t>
                </a:r>
                <a:r>
                  <a:rPr lang="ja-JP" altLang="en-US">
                    <a:effectLst/>
                    <a:latin typeface="Helvetica" pitchFamily="2" charset="0"/>
                  </a:rPr>
                  <a:t>主成分の固有値と比較して，第</a:t>
                </a:r>
                <a:r>
                  <a:rPr lang="en-US" altLang="ja-JP" dirty="0">
                    <a:effectLst/>
                    <a:latin typeface="Helvetica" pitchFamily="2" charset="0"/>
                  </a:rPr>
                  <a:t>3 </a:t>
                </a:r>
                <a:r>
                  <a:rPr lang="ja-JP" altLang="en-US">
                    <a:effectLst/>
                    <a:latin typeface="Helvetica" pitchFamily="2" charset="0"/>
                  </a:rPr>
                  <a:t>主成分の固有値の値が小さいことが原因であると見られる．さらに，第</a:t>
                </a:r>
                <a:r>
                  <a:rPr lang="en-US" altLang="ja-JP" dirty="0">
                    <a:effectLst/>
                    <a:latin typeface="Helvetica" pitchFamily="2" charset="0"/>
                  </a:rPr>
                  <a:t>1 </a:t>
                </a:r>
                <a:r>
                  <a:rPr lang="ja-JP" altLang="en-US">
                    <a:effectLst/>
                    <a:latin typeface="Helvetica" pitchFamily="2" charset="0"/>
                  </a:rPr>
                  <a:t>主成分と第</a:t>
                </a:r>
                <a:r>
                  <a:rPr lang="en-US" altLang="ja-JP" dirty="0">
                    <a:effectLst/>
                    <a:latin typeface="Helvetica" pitchFamily="2" charset="0"/>
                  </a:rPr>
                  <a:t>2</a:t>
                </a:r>
              </a:p>
              <a:p>
                <a:r>
                  <a:rPr lang="ja-JP" altLang="en-US">
                    <a:effectLst/>
                    <a:latin typeface="Helvetica" pitchFamily="2" charset="0"/>
                  </a:rPr>
                  <a:t>の固有値の差も一因に挙げられる．．</a:t>
                </a:r>
              </a:p>
              <a:p>
                <a:r>
                  <a:rPr lang="ja-JP" altLang="en-US">
                    <a:effectLst/>
                    <a:latin typeface="Helvetica" pitchFamily="2" charset="0"/>
                  </a:rPr>
                  <a:t>次に，比較手法である</a:t>
                </a:r>
                <a:r>
                  <a:rPr lang="en-US" altLang="ja-JP" dirty="0">
                    <a:effectLst/>
                    <a:latin typeface="Helvetica" pitchFamily="2" charset="0"/>
                  </a:rPr>
                  <a:t>BH </a:t>
                </a:r>
                <a:r>
                  <a:rPr lang="ja-JP" altLang="en-US">
                    <a:effectLst/>
                    <a:latin typeface="Helvetica" pitchFamily="2" charset="0"/>
                  </a:rPr>
                  <a:t>法については，すべての設定において</a:t>
                </a:r>
                <a:r>
                  <a:rPr lang="en-US" altLang="ja-JP" dirty="0">
                    <a:effectLst/>
                    <a:latin typeface="Helvetica" pitchFamily="2" charset="0"/>
                  </a:rPr>
                  <a:t>FDR </a:t>
                </a:r>
                <a:r>
                  <a:rPr lang="ja-JP" altLang="en-US">
                    <a:effectLst/>
                    <a:latin typeface="Helvetica" pitchFamily="2" charset="0"/>
                  </a:rPr>
                  <a:t>制御値であ</a:t>
                </a:r>
              </a:p>
              <a:p>
                <a:r>
                  <a:rPr lang="ja-JP" altLang="en-US">
                    <a:effectLst/>
                    <a:latin typeface="Helvetica" pitchFamily="2" charset="0"/>
                  </a:rPr>
                  <a:t>る</a:t>
                </a:r>
                <a:r>
                  <a:rPr lang="en-US" altLang="ja-JP" dirty="0">
                    <a:effectLst/>
                    <a:latin typeface="Helvetica" pitchFamily="2" charset="0"/>
                  </a:rPr>
                  <a:t>0.2 </a:t>
                </a:r>
                <a:r>
                  <a:rPr lang="ja-JP" altLang="en-US">
                    <a:effectLst/>
                    <a:latin typeface="Helvetica" pitchFamily="2" charset="0"/>
                  </a:rPr>
                  <a:t>を大きく上回った．これは，どの設定においても</a:t>
                </a:r>
                <a:r>
                  <a:rPr lang="en-US" altLang="ja-JP" dirty="0">
                    <a:effectLst/>
                    <a:latin typeface="Helvetica" pitchFamily="2" charset="0"/>
                  </a:rPr>
                  <a:t>FDR </a:t>
                </a:r>
                <a:r>
                  <a:rPr lang="ja-JP" altLang="en-US">
                    <a:effectLst/>
                    <a:latin typeface="Helvetica" pitchFamily="2" charset="0"/>
                  </a:rPr>
                  <a:t>の制御が不可能である</a:t>
                </a:r>
              </a:p>
              <a:p>
                <a:r>
                  <a:rPr lang="ja-JP" altLang="en-US">
                    <a:effectLst/>
                    <a:latin typeface="Helvetica" pitchFamily="2" charset="0"/>
                  </a:rPr>
                  <a:t>ことを示している．</a:t>
                </a:r>
              </a:p>
              <a:p>
                <a:endParaRPr lang="en-US" altLang="ja-JP" dirty="0">
                  <a:effectLst/>
                  <a:latin typeface="Helvetica" pitchFamily="2" charset="0"/>
                </a:endParaRPr>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つぎに</a:t>
                </a:r>
                <a:r>
                  <a:rPr kumimoji="1" lang="ja-JP" altLang="en-US" sz="1200" b="0" i="0" kern="1200">
                    <a:solidFill>
                      <a:schemeClr val="tx1"/>
                    </a:solidFill>
                    <a:effectLst/>
                    <a:latin typeface="Cambria Math" panose="02040503050406030204" pitchFamily="18" charset="0"/>
                    <a:ea typeface="+mn-ea"/>
                    <a:cs typeface="+mn-cs"/>
                  </a:rPr>
                  <a:t>、</a:t>
                </a:r>
                <a:r>
                  <a:rPr kumimoji="1" lang="en-US" altLang="ja-JP" sz="1200" b="0" i="0" kern="1200">
                    <a:solidFill>
                      <a:schemeClr val="tx1"/>
                    </a:solidFill>
                    <a:effectLst/>
                    <a:latin typeface="Cambria Math" panose="02040503050406030204" pitchFamily="18" charset="0"/>
                    <a:ea typeface="+mn-ea"/>
                    <a:cs typeface="+mn-cs"/>
                  </a:rPr>
                  <a:t>𝐹𝐷𝑅</a:t>
                </a:r>
                <a:r>
                  <a:rPr kumimoji="1" lang="ja-JP" altLang="en-US" sz="1200" b="0" i="0" kern="1200">
                    <a:solidFill>
                      <a:schemeClr val="tx1"/>
                    </a:solidFill>
                    <a:effectLst/>
                    <a:latin typeface="Cambria Math" panose="02040503050406030204" pitchFamily="18" charset="0"/>
                    <a:ea typeface="+mn-ea"/>
                    <a:cs typeface="+mn-cs"/>
                  </a:rPr>
                  <a:t>制御値を</a:t>
                </a:r>
                <a:r>
                  <a:rPr lang="en-US" altLang="ja-JP" sz="1200" b="0" i="0">
                    <a:solidFill>
                      <a:schemeClr val="tx1"/>
                    </a:solidFill>
                    <a:latin typeface="Cambria Math" panose="02040503050406030204" pitchFamily="18" charset="0"/>
                  </a:rPr>
                  <a:t>0.2</a:t>
                </a:r>
                <a:r>
                  <a:rPr kumimoji="1" lang="ja-JP" altLang="en-US" sz="1200" kern="1200">
                    <a:solidFill>
                      <a:schemeClr val="tx1"/>
                    </a:solidFill>
                    <a:effectLst/>
                    <a:latin typeface="+mn-lt"/>
                    <a:ea typeface="+mn-ea"/>
                    <a:cs typeface="+mn-cs"/>
                  </a:rPr>
                  <a:t>に設定した場合です。</a:t>
                </a:r>
              </a:p>
              <a:p>
                <a:endParaRPr kumimoji="1" lang="ja-JP" altLang="en-US" sz="1200" kern="1200">
                  <a:solidFill>
                    <a:schemeClr val="tx1"/>
                  </a:solidFill>
                  <a:effectLst/>
                  <a:latin typeface="+mn-lt"/>
                  <a:ea typeface="+mn-ea"/>
                  <a:cs typeface="+mn-cs"/>
                </a:endParaRPr>
              </a:p>
              <a:p>
                <a:r>
                  <a:rPr kumimoji="1" lang="ja-JP" altLang="en-US"/>
                  <a:t>左下の</a:t>
                </a:r>
                <a:r>
                  <a:rPr kumimoji="1" lang="en-US" altLang="ja-JP" dirty="0"/>
                  <a:t>FDR</a:t>
                </a:r>
                <a:r>
                  <a:rPr kumimoji="1" lang="ja-JP" altLang="en-US"/>
                  <a:t>の期待値、</a:t>
                </a:r>
                <a:r>
                  <a:rPr lang="en-US" altLang="ja-JP" sz="1200" b="0" i="0">
                    <a:effectLst/>
                    <a:latin typeface="Cambria Math" panose="02040503050406030204" pitchFamily="18" charset="0"/>
                    <a:ea typeface="Hiragino Sans" panose="020B0400000000000000" pitchFamily="34" charset="-128"/>
                  </a:rPr>
                  <a:t>0.2212636</a:t>
                </a:r>
                <a:r>
                  <a:rPr kumimoji="1" lang="ja-JP" altLang="en-US"/>
                  <a:t>が実験結果です。</a:t>
                </a:r>
                <a:endParaRPr kumimoji="1" lang="en-US" altLang="ja-JP" dirty="0"/>
              </a:p>
              <a:p>
                <a:r>
                  <a:rPr kumimoji="1" lang="ja-JP" altLang="en-US"/>
                  <a:t>あらかじめ設定した</a:t>
                </a:r>
                <a:r>
                  <a:rPr kumimoji="1" lang="en-US" altLang="ja-JP" dirty="0"/>
                  <a:t>0.2</a:t>
                </a:r>
                <a:r>
                  <a:rPr kumimoji="1" lang="ja-JP" altLang="en-US"/>
                  <a:t>の値を下回るべきでしたが、超えてしまいました。</a:t>
                </a:r>
                <a:endParaRPr kumimoji="1" lang="en-US" altLang="ja-JP" dirty="0"/>
              </a:p>
              <a:p>
                <a:endParaRPr kumimoji="1" lang="en-US" altLang="ja-JP" dirty="0"/>
              </a:p>
              <a:p>
                <a:r>
                  <a:rPr kumimoji="1" lang="ja-JP" altLang="en-US"/>
                  <a:t>また、上の表に関して</a:t>
                </a:r>
                <a:r>
                  <a:rPr kumimoji="1" lang="ja-JP" altLang="en-US">
                    <a:latin typeface="+mn-ea"/>
                  </a:rPr>
                  <a:t>、</a:t>
                </a:r>
                <a:endParaRPr kumimoji="1" lang="en-US" altLang="ja-JP" dirty="0">
                  <a:latin typeface="+mn-ea"/>
                </a:endParaRPr>
              </a:p>
              <a:p>
                <a:r>
                  <a:rPr kumimoji="1" lang="ja-JP" altLang="en-US">
                    <a:latin typeface="+mn-ea"/>
                  </a:rPr>
                  <a:t>下線を引いた部分では</a:t>
                </a:r>
                <a:r>
                  <a:rPr kumimoji="1" lang="en-US" altLang="ja-JP" dirty="0">
                    <a:latin typeface="+mn-ea"/>
                  </a:rPr>
                  <a:t>0</a:t>
                </a:r>
                <a:r>
                  <a:rPr kumimoji="1" lang="ja-JP" altLang="en-US">
                    <a:latin typeface="+mn-ea"/>
                  </a:rPr>
                  <a:t>回に程遠くなっております。</a:t>
                </a:r>
                <a:endParaRPr kumimoji="1" lang="en-US" altLang="ja-JP" dirty="0">
                  <a:latin typeface="+mn-ea"/>
                </a:endParaRPr>
              </a:p>
              <a:p>
                <a:endParaRPr kumimoji="1" lang="en-US" altLang="ja-JP" dirty="0">
                  <a:latin typeface="+mn-ea"/>
                </a:endParaRPr>
              </a:p>
              <a:p>
                <a:r>
                  <a:rPr kumimoji="1" lang="ja-JP" altLang="en-US">
                    <a:latin typeface="+mn-ea"/>
                  </a:rPr>
                  <a:t>これらの原因としては</a:t>
                </a:r>
                <a:r>
                  <a:rPr kumimoji="1" lang="ja-JP" altLang="en-US">
                    <a:latin typeface="+mn-ea"/>
                    <a:ea typeface="+mn-ea"/>
                  </a:rPr>
                  <a:t>、手順</a:t>
                </a:r>
                <a:r>
                  <a:rPr kumimoji="1" lang="en-US" altLang="ja-JP" dirty="0">
                    <a:latin typeface="+mn-ea"/>
                    <a:ea typeface="+mn-ea"/>
                  </a:rPr>
                  <a:t>1</a:t>
                </a:r>
                <a:r>
                  <a:rPr kumimoji="1" lang="ja-JP" altLang="en-US">
                    <a:latin typeface="+mn-ea"/>
                    <a:ea typeface="+mn-ea"/>
                  </a:rPr>
                  <a:t>の相関行列から</a:t>
                </a:r>
                <a:r>
                  <a:rPr kumimoji="1" lang="en-US" altLang="ja-JP" sz="1200" dirty="0">
                    <a:latin typeface="+mn-ea"/>
                    <a:ea typeface="+mn-ea"/>
                    <a:cs typeface="ヒラギノ角ゴ Pro W3"/>
                  </a:rPr>
                  <a:t>Knockoff</a:t>
                </a:r>
                <a:r>
                  <a:rPr kumimoji="1" lang="ja-JP" altLang="en-US" sz="1200">
                    <a:latin typeface="+mn-ea"/>
                    <a:ea typeface="+mn-ea"/>
                    <a:cs typeface="ヒラギノ角ゴ Pro W3"/>
                  </a:rPr>
                  <a:t>変数を抽出する際にノイズが生じている点が挙げられます。</a:t>
                </a:r>
                <a:endParaRPr kumimoji="1" lang="en-US" altLang="ja-JP" dirty="0">
                  <a:latin typeface="+mn-ea"/>
                  <a:ea typeface="+mn-ea"/>
                </a:endParaRPr>
              </a:p>
              <a:p>
                <a:endParaRPr kumimoji="1" lang="en-US" altLang="ja-JP" dirty="0">
                  <a:latin typeface="+mn-ea"/>
                </a:endParaRPr>
              </a:p>
              <a:p>
                <a:endParaRPr kumimoji="1" lang="en-US" altLang="ja-JP" dirty="0">
                  <a:latin typeface="+mn-ea"/>
                </a:endParaRPr>
              </a:p>
              <a:p>
                <a:endParaRPr kumimoji="1" lang="en-US" altLang="ja-JP" dirty="0">
                  <a:latin typeface="+mn-ea"/>
                </a:endParaRPr>
              </a:p>
            </p:txBody>
          </p:sp>
        </mc:Fallback>
      </mc:AlternateContent>
      <p:sp>
        <p:nvSpPr>
          <p:cNvPr id="4" name="スライド番号プレースホルダー 3">
            <a:extLst>
              <a:ext uri="{FF2B5EF4-FFF2-40B4-BE49-F238E27FC236}">
                <a16:creationId xmlns:a16="http://schemas.microsoft.com/office/drawing/2014/main" id="{C5E2FD36-D8A6-87DC-01AD-9AF62234C806}"/>
              </a:ext>
            </a:extLst>
          </p:cNvPr>
          <p:cNvSpPr>
            <a:spLocks noGrp="1"/>
          </p:cNvSpPr>
          <p:nvPr>
            <p:ph type="sldNum" sz="quarter" idx="5"/>
          </p:nvPr>
        </p:nvSpPr>
        <p:spPr/>
        <p:txBody>
          <a:bodyPr/>
          <a:lstStyle/>
          <a:p>
            <a:fld id="{C3AA1469-922B-5243-9CFC-ED99F2A55A38}" type="slidenum">
              <a:rPr kumimoji="1" lang="ja-JP" altLang="en-US" smtClean="0"/>
              <a:t>33</a:t>
            </a:fld>
            <a:endParaRPr kumimoji="1" lang="ja-JP" altLang="en-US"/>
          </a:p>
        </p:txBody>
      </p:sp>
    </p:spTree>
    <p:extLst>
      <p:ext uri="{BB962C8B-B14F-4D97-AF65-F5344CB8AC3E}">
        <p14:creationId xmlns:p14="http://schemas.microsoft.com/office/powerpoint/2010/main" val="1205863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これは、ガウシアングラフィカルモデルを</a:t>
            </a:r>
            <a:r>
              <a:rPr kumimoji="1" lang="en-US" altLang="ja-JP" dirty="0"/>
              <a:t>knockoff</a:t>
            </a:r>
            <a:r>
              <a:rPr kumimoji="1" lang="ja-JP" altLang="en-US"/>
              <a:t>法に適用した先行研究に基づいています。</a:t>
            </a:r>
            <a:endParaRPr kumimoji="1" lang="en-US" altLang="ja-JP" dirty="0"/>
          </a:p>
          <a:p>
            <a:endParaRPr kumimoji="1" lang="en-US" altLang="ja-JP" dirty="0"/>
          </a:p>
          <a:p>
            <a:r>
              <a:rPr kumimoji="1" lang="ja-JP" altLang="en-US"/>
              <a:t>ガウシアングラフィカルモデルは、多変量正規分布に従う説明変数間の関係性を精度行列により推定する手法です。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err="1">
                <a:latin typeface="+mn-ea"/>
                <a:cs typeface="ヒラギノ角ゴ Pro W3"/>
              </a:rPr>
              <a:t>yu</a:t>
            </a:r>
            <a:r>
              <a:rPr kumimoji="1" lang="ja-JP" altLang="en-US" sz="1200">
                <a:latin typeface="+mn-ea"/>
                <a:cs typeface="ヒラギノ角ゴ Pro W3"/>
              </a:rPr>
              <a:t>らは、母集団の偏相関係数が</a:t>
            </a:r>
            <a:r>
              <a:rPr kumimoji="1" lang="en-US" altLang="ja-JP" sz="1200" dirty="0">
                <a:latin typeface="+mn-ea"/>
                <a:cs typeface="ヒラギノ角ゴ Pro W3"/>
              </a:rPr>
              <a:t>0</a:t>
            </a:r>
            <a:r>
              <a:rPr lang="ja-JP" altLang="en-US" sz="1200">
                <a:latin typeface="+mn-ea"/>
                <a:cs typeface="ヒラギノ角ゴ Pro W3"/>
              </a:rPr>
              <a:t>という仮説のもとで</a:t>
            </a:r>
            <a:r>
              <a:rPr lang="en-US" altLang="ja-JP" sz="1200" dirty="0">
                <a:latin typeface="+mn-ea"/>
                <a:cs typeface="ヒラギノ角ゴ Pro W3"/>
              </a:rPr>
              <a:t>,</a:t>
            </a:r>
            <a:r>
              <a:rPr lang="ja-JP" altLang="en-US" sz="1200">
                <a:latin typeface="+mn-ea"/>
                <a:cs typeface="ヒラギノ角ゴ Pro W3"/>
              </a:rPr>
              <a:t>　こちらの値</a:t>
            </a:r>
            <a:r>
              <a:rPr lang="en-US" altLang="ja-JP" sz="1200" dirty="0">
                <a:latin typeface="+mn-ea"/>
                <a:cs typeface="ヒラギノ角ゴ Pro W3"/>
              </a:rPr>
              <a:t>Z</a:t>
            </a:r>
            <a:r>
              <a:rPr lang="ja-JP" altLang="en-US" sz="1200">
                <a:latin typeface="+mn-ea"/>
                <a:cs typeface="ヒラギノ角ゴ Pro W3"/>
              </a:rPr>
              <a:t>が、</a:t>
            </a:r>
            <a:r>
              <a:rPr lang="en-US" altLang="ja-JP" sz="1200" dirty="0">
                <a:latin typeface="+mn-ea"/>
                <a:cs typeface="ヒラギノ角ゴ Pro W3"/>
              </a:rPr>
              <a:t>t</a:t>
            </a:r>
            <a:r>
              <a:rPr lang="ja-JP" altLang="en-US" sz="1200">
                <a:latin typeface="+mn-ea"/>
                <a:cs typeface="ヒラギノ角ゴ Pro W3"/>
              </a:rPr>
              <a:t>分布に従うことを利用して</a:t>
            </a:r>
            <a:r>
              <a:rPr kumimoji="1" lang="en-US" altLang="ja-JP" dirty="0"/>
              <a:t>knockoff</a:t>
            </a:r>
            <a:r>
              <a:rPr kumimoji="1" lang="ja-JP" altLang="en-US"/>
              <a:t>偏相関行列を作成しました。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提案手法では、この導出方法を偏相関係数でなく相関係数として取り入れることにより、</a:t>
            </a:r>
            <a:r>
              <a:rPr kumimoji="1" lang="en-US" altLang="ja-JP" dirty="0"/>
              <a:t>knockoff</a:t>
            </a:r>
            <a:r>
              <a:rPr kumimoji="1" lang="ja-JP" altLang="en-US"/>
              <a:t>相関行列を導出しました。</a:t>
            </a:r>
            <a:endParaRPr kumimoji="1" lang="en-US" altLang="ja-JP" dirty="0"/>
          </a:p>
          <a:p>
            <a:r>
              <a:rPr lang="en-US" altLang="ja-JP" sz="1200" dirty="0">
                <a:latin typeface="+mn-ea"/>
                <a:cs typeface="ヒラギノ角ゴ Pro W3"/>
              </a:rPr>
              <a:t> </a:t>
            </a:r>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34</a:t>
            </a:fld>
            <a:endParaRPr kumimoji="1" lang="ja-JP" altLang="en-US"/>
          </a:p>
        </p:txBody>
      </p:sp>
    </p:spTree>
    <p:extLst>
      <p:ext uri="{BB962C8B-B14F-4D97-AF65-F5344CB8AC3E}">
        <p14:creationId xmlns:p14="http://schemas.microsoft.com/office/powerpoint/2010/main" val="3915523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9147D-21C6-B527-B238-0ED6A05BB4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9FC8915-675D-4610-3B8D-2D81020748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F65BF7-BE0F-C0F6-FAD6-F7ECB73F17C6}"/>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8C619809-AA9B-EE60-2F49-BCCA067777FD}"/>
              </a:ext>
            </a:extLst>
          </p:cNvPr>
          <p:cNvSpPr>
            <a:spLocks noGrp="1"/>
          </p:cNvSpPr>
          <p:nvPr>
            <p:ph type="sldNum" sz="quarter" idx="5"/>
          </p:nvPr>
        </p:nvSpPr>
        <p:spPr/>
        <p:txBody>
          <a:bodyPr/>
          <a:lstStyle/>
          <a:p>
            <a:fld id="{C3AA1469-922B-5243-9CFC-ED99F2A55A38}" type="slidenum">
              <a:rPr kumimoji="1" lang="ja-JP" altLang="en-US" smtClean="0"/>
              <a:t>35</a:t>
            </a:fld>
            <a:endParaRPr kumimoji="1" lang="ja-JP" altLang="en-US"/>
          </a:p>
        </p:txBody>
      </p:sp>
    </p:spTree>
    <p:extLst>
      <p:ext uri="{BB962C8B-B14F-4D97-AF65-F5344CB8AC3E}">
        <p14:creationId xmlns:p14="http://schemas.microsoft.com/office/powerpoint/2010/main" val="4075235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35FEB-067D-DE8B-F277-8BB49EABB5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F1441D-EF7E-C43D-54FE-7BD09BF8F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6FFA09-1B44-063C-D20D-49C2A9FD4A07}"/>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EEF5C1A-BC5E-721B-66AD-E4AABFDB7984}"/>
              </a:ext>
            </a:extLst>
          </p:cNvPr>
          <p:cNvSpPr>
            <a:spLocks noGrp="1"/>
          </p:cNvSpPr>
          <p:nvPr>
            <p:ph type="sldNum" sz="quarter" idx="5"/>
          </p:nvPr>
        </p:nvSpPr>
        <p:spPr/>
        <p:txBody>
          <a:bodyPr/>
          <a:lstStyle/>
          <a:p>
            <a:fld id="{C3AA1469-922B-5243-9CFC-ED99F2A55A38}" type="slidenum">
              <a:rPr kumimoji="1" lang="ja-JP" altLang="en-US" smtClean="0"/>
              <a:t>36</a:t>
            </a:fld>
            <a:endParaRPr kumimoji="1" lang="ja-JP" altLang="en-US"/>
          </a:p>
        </p:txBody>
      </p:sp>
    </p:spTree>
    <p:extLst>
      <p:ext uri="{BB962C8B-B14F-4D97-AF65-F5344CB8AC3E}">
        <p14:creationId xmlns:p14="http://schemas.microsoft.com/office/powerpoint/2010/main" val="11612997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D541F-81C0-E33D-6E40-109F2FA2E4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A11C707-9F52-C754-9FA9-9784359FB2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A126E4-0FA2-9402-D229-E6AF8EE1EF8D}"/>
              </a:ext>
            </a:extLst>
          </p:cNvPr>
          <p:cNvSpPr>
            <a:spLocks noGrp="1"/>
          </p:cNvSpPr>
          <p:nvPr>
            <p:ph type="body" idx="1"/>
          </p:nvPr>
        </p:nvSpPr>
        <p:spPr/>
        <p:txBody>
          <a:bodyPr/>
          <a:lstStyle/>
          <a:p>
            <a:endParaRPr kumimoji="1" lang="en-US" altLang="ja-JP" sz="1200" dirty="0">
              <a:latin typeface="+mn-ea"/>
            </a:endParaRPr>
          </a:p>
        </p:txBody>
      </p:sp>
      <p:sp>
        <p:nvSpPr>
          <p:cNvPr id="4" name="スライド番号プレースホルダー 3">
            <a:extLst>
              <a:ext uri="{FF2B5EF4-FFF2-40B4-BE49-F238E27FC236}">
                <a16:creationId xmlns:a16="http://schemas.microsoft.com/office/drawing/2014/main" id="{F3D21D08-9CE1-A215-F60A-C5108A56D11D}"/>
              </a:ext>
            </a:extLst>
          </p:cNvPr>
          <p:cNvSpPr>
            <a:spLocks noGrp="1"/>
          </p:cNvSpPr>
          <p:nvPr>
            <p:ph type="sldNum" sz="quarter" idx="5"/>
          </p:nvPr>
        </p:nvSpPr>
        <p:spPr/>
        <p:txBody>
          <a:bodyPr/>
          <a:lstStyle/>
          <a:p>
            <a:fld id="{C3AA1469-922B-5243-9CFC-ED99F2A55A38}" type="slidenum">
              <a:rPr kumimoji="1" lang="ja-JP" altLang="en-US" smtClean="0"/>
              <a:t>37</a:t>
            </a:fld>
            <a:endParaRPr kumimoji="1" lang="ja-JP" altLang="en-US"/>
          </a:p>
        </p:txBody>
      </p:sp>
    </p:spTree>
    <p:extLst>
      <p:ext uri="{BB962C8B-B14F-4D97-AF65-F5344CB8AC3E}">
        <p14:creationId xmlns:p14="http://schemas.microsoft.com/office/powerpoint/2010/main" val="42272975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CCA8C-CD01-5445-C8EB-96E8F4CB22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C72DE-292A-CF26-F284-370518803CA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28791143-91BF-7C3A-B13E-F604A0263F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err="1">
                    <a:solidFill>
                      <a:srgbClr val="FF0000"/>
                    </a:solidFill>
                  </a:rPr>
                  <a:t>SCoTLASS</a:t>
                </a:r>
                <a:r>
                  <a:rPr kumimoji="1" lang="ja-JP" altLang="en-US" sz="1200">
                    <a:solidFill>
                      <a:srgbClr val="FF0000"/>
                    </a:solidFill>
                  </a:rPr>
                  <a:t>を実行して、第一主成分の主成分負荷量と、そのときの正則化パラメータを算出します。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次に、主成分負荷量の値が非ゼロとなる正則化パラメータの最小値を</a:t>
                </a:r>
                <a:r>
                  <a:rPr kumimoji="1" lang="en-US" altLang="ja-JP" sz="1200" b="0" i="0">
                    <a:solidFill>
                      <a:srgbClr val="FF0000"/>
                    </a:solidFill>
                    <a:latin typeface="Cambria Math" panose="02040503050406030204" pitchFamily="18" charset="0"/>
                  </a:rPr>
                  <a:t>𝑍,𝑍 ̃</a:t>
                </a:r>
                <a:r>
                  <a:rPr kumimoji="1" lang="ja-JP" altLang="en-US" sz="1200">
                    <a:solidFill>
                      <a:srgbClr val="FF0000"/>
                    </a:solidFill>
                  </a:rPr>
                  <a:t>にそれぞれ格納します。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そして、</a:t>
                </a:r>
                <a:r>
                  <a:rPr kumimoji="1" lang="en-US" altLang="ja-JP" sz="1200" b="0" i="0">
                    <a:solidFill>
                      <a:srgbClr val="FF0000"/>
                    </a:solidFill>
                    <a:latin typeface="Cambria Math" panose="02040503050406030204" pitchFamily="18" charset="0"/>
                  </a:rPr>
                  <a:t>𝑍,𝑍 ̃</a:t>
                </a:r>
                <a:r>
                  <a:rPr kumimoji="1" lang="ja-JP" altLang="en-US" sz="1200"/>
                  <a:t>を比較し、元の変数の正則化パラメータ</a:t>
                </a:r>
                <a:r>
                  <a:rPr kumimoji="1" lang="en-US" altLang="ja-JP" sz="1200" b="0" i="0">
                    <a:solidFill>
                      <a:srgbClr val="FF0000"/>
                    </a:solidFill>
                    <a:latin typeface="Cambria Math" panose="02040503050406030204" pitchFamily="18" charset="0"/>
                  </a:rPr>
                  <a:t>𝑍</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1/𝑍</a:t>
                </a:r>
                <a:r>
                  <a:rPr kumimoji="1" lang="ja-JP" altLang="en-US" sz="1200">
                    <a:solidFill>
                      <a:srgbClr val="FF0000"/>
                    </a:solidFill>
                  </a:rPr>
                  <a:t>に、</a:t>
                </a:r>
                <a:r>
                  <a:rPr kumimoji="1" lang="en-US" altLang="ja-JP" sz="1200" dirty="0">
                    <a:solidFill>
                      <a:schemeClr val="tx1"/>
                    </a:solidFill>
                  </a:rPr>
                  <a:t>knockoff</a:t>
                </a:r>
                <a:r>
                  <a:rPr kumimoji="1" lang="ja-JP" altLang="en-US" sz="1200"/>
                  <a:t>変数の正則化パラメータ</a:t>
                </a:r>
                <a:r>
                  <a:rPr kumimoji="1" lang="en-US" altLang="ja-JP" sz="1200" b="0" i="0">
                    <a:solidFill>
                      <a:srgbClr val="FF0000"/>
                    </a:solidFill>
                    <a:latin typeface="Cambria Math" panose="02040503050406030204" pitchFamily="18" charset="0"/>
                  </a:rPr>
                  <a:t>𝑍 ̃</a:t>
                </a:r>
                <a:r>
                  <a:rPr kumimoji="1" lang="ja-JP" altLang="en-US" sz="1200"/>
                  <a:t>の値が小さい場合は</a:t>
                </a:r>
                <a:r>
                  <a:rPr kumimoji="1" lang="en-US" altLang="ja-JP" sz="1200" b="0" i="0">
                    <a:latin typeface="Cambria Math" panose="02040503050406030204" pitchFamily="18" charset="0"/>
                    <a:cs typeface="ヒラギノ角ゴ Pro W3"/>
                  </a:rPr>
                  <a:t>𝑊</a:t>
                </a:r>
                <a:r>
                  <a:rPr kumimoji="1" lang="ja-JP" altLang="en-US" sz="1200" b="0" i="0">
                    <a:latin typeface="Cambria Math" panose="02040503050406030204" pitchFamily="18" charset="0"/>
                    <a:cs typeface="ヒラギノ角ゴ Pro W3"/>
                  </a:rPr>
                  <a:t>を</a:t>
                </a:r>
                <a:r>
                  <a:rPr kumimoji="1" lang="en-US" altLang="ja-JP" sz="1200" b="0" i="0">
                    <a:latin typeface="Cambria Math" panose="02040503050406030204" pitchFamily="18" charset="0"/>
                    <a:cs typeface="ヒラギノ角ゴ Pro W3"/>
                  </a:rPr>
                  <a:t>−1/</a:t>
                </a:r>
                <a:r>
                  <a:rPr lang="en-US" altLang="ja-JP" sz="1200" i="0">
                    <a:latin typeface="Cambria Math" panose="02040503050406030204" pitchFamily="18" charset="0"/>
                  </a:rPr>
                  <a:t>𝑍 ̃</a:t>
                </a:r>
                <a:r>
                  <a:rPr kumimoji="1" lang="ja-JP" altLang="en-US" sz="1200">
                    <a:solidFill>
                      <a:srgbClr val="FF0000"/>
                    </a:solidFill>
                  </a:rPr>
                  <a:t>とします。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正則化パラメータの値の大きさと主成分負荷量の値が、ゼロとなる数の関係性が線形回帰モデルと逆のため、</a:t>
                </a:r>
                <a:r>
                  <a:rPr kumimoji="1" lang="en-US" altLang="ja-JP" sz="1200" dirty="0">
                    <a:solidFill>
                      <a:srgbClr val="FF0000"/>
                    </a:solidFill>
                  </a:rPr>
                  <a:t>W</a:t>
                </a:r>
                <a:r>
                  <a:rPr kumimoji="1" lang="ja-JP" altLang="en-US" sz="1200">
                    <a:solidFill>
                      <a:srgbClr val="FF0000"/>
                    </a:solidFill>
                  </a:rPr>
                  <a:t>に</a:t>
                </a:r>
                <a:r>
                  <a:rPr kumimoji="1" lang="en-US" altLang="ja-JP" sz="1200" dirty="0">
                    <a:solidFill>
                      <a:srgbClr val="FF0000"/>
                    </a:solidFill>
                  </a:rPr>
                  <a:t>Z</a:t>
                </a:r>
                <a:r>
                  <a:rPr kumimoji="1" lang="ja-JP" altLang="en-US" sz="1200">
                    <a:solidFill>
                      <a:srgbClr val="FF0000"/>
                    </a:solidFill>
                  </a:rPr>
                  <a:t>の逆数を格納することにより、手順</a:t>
                </a:r>
                <a:r>
                  <a:rPr kumimoji="1" lang="en-US" altLang="ja-JP" sz="1200" dirty="0">
                    <a:solidFill>
                      <a:srgbClr val="FF0000"/>
                    </a:solidFill>
                  </a:rPr>
                  <a:t>3</a:t>
                </a:r>
                <a:r>
                  <a:rPr kumimoji="1" lang="ja-JP" altLang="en-US" sz="1200">
                    <a:solidFill>
                      <a:srgbClr val="FF0000"/>
                    </a:solidFill>
                  </a:rPr>
                  <a:t>以降は先行研究と同様にすることができます。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p:txBody>
          </p:sp>
        </mc:Fallback>
      </mc:AlternateContent>
      <p:sp>
        <p:nvSpPr>
          <p:cNvPr id="4" name="スライド番号プレースホルダー 3">
            <a:extLst>
              <a:ext uri="{FF2B5EF4-FFF2-40B4-BE49-F238E27FC236}">
                <a16:creationId xmlns:a16="http://schemas.microsoft.com/office/drawing/2014/main" id="{44EB65BD-5369-5164-572A-1675DDD8583E}"/>
              </a:ext>
            </a:extLst>
          </p:cNvPr>
          <p:cNvSpPr>
            <a:spLocks noGrp="1"/>
          </p:cNvSpPr>
          <p:nvPr>
            <p:ph type="sldNum" sz="quarter" idx="5"/>
          </p:nvPr>
        </p:nvSpPr>
        <p:spPr/>
        <p:txBody>
          <a:bodyPr/>
          <a:lstStyle/>
          <a:p>
            <a:fld id="{C3AA1469-922B-5243-9CFC-ED99F2A55A38}" type="slidenum">
              <a:rPr kumimoji="1" lang="ja-JP" altLang="en-US" smtClean="0"/>
              <a:t>38</a:t>
            </a:fld>
            <a:endParaRPr kumimoji="1" lang="ja-JP" altLang="en-US"/>
          </a:p>
        </p:txBody>
      </p:sp>
    </p:spTree>
    <p:extLst>
      <p:ext uri="{BB962C8B-B14F-4D97-AF65-F5344CB8AC3E}">
        <p14:creationId xmlns:p14="http://schemas.microsoft.com/office/powerpoint/2010/main" val="17161524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3C30D-9425-1E4F-A47D-6E9622176F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A96A3C-74E4-AB07-E353-FECC49D4B4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DE72F4-B61A-8A8B-4FA6-23683CFD5229}"/>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09812060-95D4-5E71-2D3F-E4D997873D94}"/>
              </a:ext>
            </a:extLst>
          </p:cNvPr>
          <p:cNvSpPr>
            <a:spLocks noGrp="1"/>
          </p:cNvSpPr>
          <p:nvPr>
            <p:ph type="sldNum" sz="quarter" idx="5"/>
          </p:nvPr>
        </p:nvSpPr>
        <p:spPr/>
        <p:txBody>
          <a:bodyPr/>
          <a:lstStyle/>
          <a:p>
            <a:fld id="{C3AA1469-922B-5243-9CFC-ED99F2A55A38}" type="slidenum">
              <a:rPr kumimoji="1" lang="ja-JP" altLang="en-US" smtClean="0"/>
              <a:t>39</a:t>
            </a:fld>
            <a:endParaRPr kumimoji="1" lang="ja-JP" altLang="en-US"/>
          </a:p>
        </p:txBody>
      </p:sp>
    </p:spTree>
    <p:extLst>
      <p:ext uri="{BB962C8B-B14F-4D97-AF65-F5344CB8AC3E}">
        <p14:creationId xmlns:p14="http://schemas.microsoft.com/office/powerpoint/2010/main" val="29354489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ここからは、先行研究である、線形回帰モデルを</a:t>
                </a:r>
                <a:r>
                  <a:rPr kumimoji="1" lang="en-US" altLang="ja-JP" dirty="0"/>
                  <a:t>Knockoff</a:t>
                </a:r>
                <a:r>
                  <a:rPr kumimoji="1" lang="ja-JP" altLang="en-US"/>
                  <a:t>法で</a:t>
                </a:r>
                <a:r>
                  <a:rPr kumimoji="1" lang="en-US" altLang="ja-JP" dirty="0"/>
                  <a:t>FDR</a:t>
                </a:r>
                <a:r>
                  <a:rPr kumimoji="1" lang="ja-JP" altLang="en-US"/>
                  <a:t>制御する手法について説明します。</a:t>
                </a:r>
                <a:endParaRPr kumimoji="1" lang="en-US" altLang="ja-JP" dirty="0"/>
              </a:p>
              <a:p>
                <a:endParaRPr kumimoji="1" lang="en-US" altLang="ja-JP" dirty="0"/>
              </a:p>
              <a:p>
                <a:r>
                  <a:rPr kumimoji="1" lang="en-US" altLang="ja-JP" dirty="0"/>
                  <a:t>lasso</a:t>
                </a:r>
                <a:r>
                  <a:rPr kumimoji="1" lang="ja-JP" altLang="en-US"/>
                  <a:t>は線形回帰モデルの回帰係数の推定方法の一つです。</a:t>
                </a:r>
                <a:endParaRPr kumimoji="1" lang="en-US" altLang="ja-JP" dirty="0"/>
              </a:p>
              <a:p>
                <a:r>
                  <a:rPr kumimoji="1" lang="ja-JP" altLang="en-US"/>
                  <a:t>推定値の一部が完全に</a:t>
                </a:r>
                <a:r>
                  <a:rPr kumimoji="1" lang="en-US" altLang="ja-JP" dirty="0"/>
                  <a:t>0</a:t>
                </a:r>
                <a:r>
                  <a:rPr kumimoji="1" lang="ja-JP" altLang="en-US"/>
                  <a:t>となるため、目的変数に影響を及ぼすパラメータのみが抽出される利点があります。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こちらの正則化パラメータ</a:t>
                </a:r>
                <a14:m>
                  <m:oMath xmlns:m="http://schemas.openxmlformats.org/officeDocument/2006/math">
                    <m:r>
                      <a:rPr kumimoji="1" lang="en-US" altLang="ja-JP" sz="1200" b="0" i="1" smtClean="0">
                        <a:latin typeface="Cambria Math" panose="02040503050406030204" pitchFamily="18" charset="0"/>
                        <a:ea typeface="Cambria Math" panose="02040503050406030204" pitchFamily="18" charset="0"/>
                      </a:rPr>
                      <m:t>𝜆</m:t>
                    </m:r>
                  </m:oMath>
                </a14:m>
                <a:r>
                  <a:rPr kumimoji="1" lang="ja-JP" altLang="en-US" sz="1200">
                    <a:latin typeface="+mn-ea"/>
                  </a:rPr>
                  <a:t>の値が大きくなると、ゼロと推定される回帰係数の個数が多くなり、小さくなると、反対に、ゼロと推定される主成分負荷量の個数が少なくなります。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正則化パラメータには、スパース主成分分析と同様、変数</a:t>
                </a:r>
                <a:r>
                  <a:rPr lang="ja-JP" altLang="en-US">
                    <a:effectLst/>
                    <a:latin typeface="Helvetica" pitchFamily="2" charset="0"/>
                  </a:rPr>
                  <a:t>選択の度合いと、推定結果と観測データの当てはまりの程度、の</a:t>
                </a:r>
                <a:r>
                  <a:rPr lang="en-US" altLang="ja-JP" dirty="0">
                    <a:effectLst/>
                    <a:latin typeface="Helvetica" pitchFamily="2" charset="0"/>
                  </a:rPr>
                  <a:t>2 </a:t>
                </a:r>
                <a:r>
                  <a:rPr lang="ja-JP" altLang="en-US">
                    <a:effectLst/>
                    <a:latin typeface="Helvetica" pitchFamily="2" charset="0"/>
                  </a:rPr>
                  <a:t>点の釣り合いを調節する必要があります。</a:t>
                </a:r>
                <a:endParaRPr lang="en-US" altLang="ja-JP" dirty="0">
                  <a:effectLst/>
                  <a:latin typeface="Helvetica" pitchFamily="2" charset="0"/>
                </a:endParaRPr>
              </a:p>
              <a:p>
                <a:endParaRPr kumimoji="1" lang="en-US" altLang="ja-JP" u="sng" dirty="0"/>
              </a:p>
              <a:p>
                <a:r>
                  <a:rPr kumimoji="1" lang="en-US" altLang="ja-JP" u="sng" dirty="0"/>
                  <a:t>Barber</a:t>
                </a:r>
                <a:r>
                  <a:rPr kumimoji="1" lang="ja-JP" altLang="en-US" u="sng"/>
                  <a:t>らは正則化パラメータと回帰係数の関係を測る評価指標として</a:t>
                </a:r>
                <a:r>
                  <a:rPr kumimoji="1" lang="en-US" altLang="ja-JP" u="sng" dirty="0"/>
                  <a:t>FDR</a:t>
                </a:r>
                <a:r>
                  <a:rPr kumimoji="1" lang="ja-JP" altLang="en-US" u="sng"/>
                  <a:t>制御を行う</a:t>
                </a:r>
                <a:r>
                  <a:rPr kumimoji="1" lang="en-US" altLang="ja-JP" u="sng" dirty="0"/>
                  <a:t>Knockoff</a:t>
                </a:r>
                <a:r>
                  <a:rPr kumimoji="1" lang="ja-JP" altLang="en-US" u="sng"/>
                  <a:t>法を提案し、</a:t>
                </a:r>
                <a:r>
                  <a:rPr kumimoji="1" lang="en-US" altLang="ja-JP" u="sng" dirty="0"/>
                  <a:t>lasso</a:t>
                </a:r>
                <a:r>
                  <a:rPr kumimoji="1" lang="ja-JP" altLang="en-US" u="sng"/>
                  <a:t>の正則化パラメータの適切な値を決定しました。</a:t>
                </a:r>
              </a:p>
            </p:txBody>
          </p:sp>
        </mc:Choice>
        <mc:Fallback xmlns="">
          <p:sp>
            <p:nvSpPr>
              <p:cNvPr id="3" name="ノート プレースホルダー 2"/>
              <p:cNvSpPr>
                <a:spLocks noGrp="1"/>
              </p:cNvSpPr>
              <p:nvPr>
                <p:ph type="body" idx="1"/>
              </p:nvPr>
            </p:nvSpPr>
            <p:spPr/>
            <p:txBody>
              <a:bodyPr/>
              <a:lstStyle/>
              <a:p>
                <a:r>
                  <a:rPr kumimoji="1" lang="ja-JP" altLang="en-US"/>
                  <a:t>線形回帰モデルを</a:t>
                </a:r>
                <a:r>
                  <a:rPr kumimoji="1" lang="en-US" altLang="ja-JP" dirty="0"/>
                  <a:t>Knockoff</a:t>
                </a:r>
                <a:r>
                  <a:rPr kumimoji="1" lang="ja-JP" altLang="en-US"/>
                  <a:t>法で</a:t>
                </a:r>
                <a:r>
                  <a:rPr kumimoji="1" lang="en-US" altLang="ja-JP" dirty="0"/>
                  <a:t>FDR</a:t>
                </a:r>
                <a:r>
                  <a:rPr kumimoji="1" lang="ja-JP" altLang="en-US"/>
                  <a:t>制御した先行研究があります。</a:t>
                </a:r>
                <a:endParaRPr kumimoji="1" lang="en-US" altLang="ja-JP" dirty="0"/>
              </a:p>
              <a:p>
                <a:endParaRPr kumimoji="1" lang="en-US" altLang="ja-JP" dirty="0"/>
              </a:p>
              <a:p>
                <a:r>
                  <a:rPr kumimoji="1" lang="en-US" altLang="ja-JP" dirty="0"/>
                  <a:t>lasso</a:t>
                </a:r>
                <a:r>
                  <a:rPr kumimoji="1" lang="ja-JP" altLang="en-US"/>
                  <a:t>は線形回帰モデルの回帰係数の推定方法の一つです。</a:t>
                </a:r>
                <a:endParaRPr kumimoji="1" lang="en-US" altLang="ja-JP" dirty="0"/>
              </a:p>
              <a:p>
                <a:r>
                  <a:rPr kumimoji="1" lang="ja-JP" altLang="en-US"/>
                  <a:t>推定値の一部が完全に</a:t>
                </a:r>
                <a:r>
                  <a:rPr kumimoji="1" lang="en-US" altLang="ja-JP" dirty="0"/>
                  <a:t>0</a:t>
                </a:r>
                <a:r>
                  <a:rPr kumimoji="1" lang="ja-JP" altLang="en-US"/>
                  <a:t>となるため、目的変数に影響を及ぼすパラメータのみが抽出される利点があります。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こちらの正則化パラメータ</a:t>
                </a:r>
                <a:r>
                  <a:rPr kumimoji="1" lang="en-US" altLang="ja-JP" sz="1200" b="0" i="0">
                    <a:latin typeface="Cambria Math" panose="02040503050406030204" pitchFamily="18" charset="0"/>
                    <a:ea typeface="Cambria Math" panose="02040503050406030204" pitchFamily="18" charset="0"/>
                  </a:rPr>
                  <a:t>𝜆</a:t>
                </a:r>
                <a:r>
                  <a:rPr kumimoji="1" lang="ja-JP" altLang="en-US" sz="1200">
                    <a:latin typeface="+mn-ea"/>
                  </a:rPr>
                  <a:t>の値が大きくなると、ゼロと推定される主成分負荷量の個数が多くなり、小さくなると、反対に、ゼロと推定される主成分負荷量の個数が少なくなります。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rPr>
                  <a:t>正則化パラメータには、スパース主成分分析と同様、変数</a:t>
                </a:r>
                <a:r>
                  <a:rPr lang="ja-JP" altLang="en-US">
                    <a:effectLst/>
                    <a:latin typeface="Helvetica" pitchFamily="2" charset="0"/>
                  </a:rPr>
                  <a:t>選択の度合いと、推定結果と観測データの当てはまりの程度、の</a:t>
                </a:r>
                <a:r>
                  <a:rPr lang="en-US" altLang="ja-JP" dirty="0">
                    <a:effectLst/>
                    <a:latin typeface="Helvetica" pitchFamily="2" charset="0"/>
                  </a:rPr>
                  <a:t>2 </a:t>
                </a:r>
                <a:r>
                  <a:rPr lang="ja-JP" altLang="en-US">
                    <a:effectLst/>
                    <a:latin typeface="Helvetica" pitchFamily="2" charset="0"/>
                  </a:rPr>
                  <a:t>点の釣り合いを調節する必要があります。</a:t>
                </a:r>
                <a:endParaRPr lang="en-US" altLang="ja-JP" dirty="0">
                  <a:effectLst/>
                  <a:latin typeface="Helvetica" pitchFamily="2" charset="0"/>
                </a:endParaRPr>
              </a:p>
              <a:p>
                <a:endParaRPr kumimoji="1" lang="en-US" altLang="ja-JP" dirty="0"/>
              </a:p>
              <a:p>
                <a:r>
                  <a:rPr kumimoji="1" lang="en-US" altLang="ja-JP" dirty="0"/>
                  <a:t>Barber</a:t>
                </a:r>
                <a:r>
                  <a:rPr kumimoji="1" lang="ja-JP" altLang="en-US"/>
                  <a:t>らは正則化パラメータと回帰係数の関係を測る評価指標として</a:t>
                </a:r>
                <a:r>
                  <a:rPr kumimoji="1" lang="en-US" altLang="ja-JP" dirty="0"/>
                  <a:t>Knockoff</a:t>
                </a:r>
                <a:r>
                  <a:rPr kumimoji="1" lang="ja-JP" altLang="en-US"/>
                  <a:t>法を提案し、</a:t>
                </a:r>
                <a:r>
                  <a:rPr kumimoji="1" lang="en-US" altLang="ja-JP" dirty="0"/>
                  <a:t>lasso</a:t>
                </a:r>
                <a:r>
                  <a:rPr kumimoji="1" lang="ja-JP" altLang="en-US"/>
                  <a:t>の正則化パラメータの適切な値を決定しました。</a:t>
                </a: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40</a:t>
            </a:fld>
            <a:endParaRPr kumimoji="1" lang="ja-JP" altLang="en-US"/>
          </a:p>
        </p:txBody>
      </p:sp>
    </p:spTree>
    <p:extLst>
      <p:ext uri="{BB962C8B-B14F-4D97-AF65-F5344CB8AC3E}">
        <p14:creationId xmlns:p14="http://schemas.microsoft.com/office/powerpoint/2010/main" val="18363760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en-US" altLang="ja-JP" dirty="0"/>
                  <a:t>lasso</a:t>
                </a:r>
                <a:r>
                  <a:rPr kumimoji="1" lang="ja-JP" altLang="en-US"/>
                  <a:t>の場合の</a:t>
                </a:r>
                <a:r>
                  <a:rPr kumimoji="1" lang="en-US" altLang="ja-JP" dirty="0"/>
                  <a:t>FDR</a:t>
                </a:r>
                <a:r>
                  <a:rPr kumimoji="1" lang="ja-JP" altLang="en-US"/>
                  <a:t>表現について説明します。</a:t>
                </a:r>
                <a:endParaRPr kumimoji="1" lang="en-US" altLang="ja-JP" dirty="0"/>
              </a:p>
              <a:p>
                <a:r>
                  <a:rPr kumimoji="1" lang="ja-JP" altLang="en-US"/>
                  <a:t>帰無仮説を真の回帰係数</a:t>
                </a:r>
                <a14:m>
                  <m:oMath xmlns:m="http://schemas.openxmlformats.org/officeDocument/2006/math">
                    <m:r>
                      <a:rPr kumimoji="1" lang="ja-JP" altLang="en-US" i="1" smtClean="0">
                        <a:latin typeface="Cambria Math" panose="02040503050406030204" pitchFamily="18" charset="0"/>
                      </a:rPr>
                      <m:t>𝛽</m:t>
                    </m:r>
                  </m:oMath>
                </a14:m>
                <a:r>
                  <a:rPr lang="ja-JP" altLang="en-US" sz="1200">
                    <a:latin typeface="+mn-ea"/>
                  </a:rPr>
                  <a:t>の値が</a:t>
                </a:r>
                <a:r>
                  <a:rPr lang="en-US" altLang="ja-JP" sz="1200" dirty="0">
                    <a:latin typeface="+mn-ea"/>
                  </a:rPr>
                  <a:t>0</a:t>
                </a:r>
                <a:r>
                  <a:rPr lang="ja-JP" altLang="en-US" sz="1200">
                    <a:latin typeface="+mn-ea"/>
                  </a:rPr>
                  <a:t>、対立仮説を</a:t>
                </a:r>
                <a:r>
                  <a:rPr kumimoji="1" lang="ja-JP" altLang="en-US"/>
                  <a:t>真の</a:t>
                </a:r>
                <a:r>
                  <a:rPr lang="ja-JP" altLang="en-US" sz="1200">
                    <a:latin typeface="+mn-ea"/>
                  </a:rPr>
                  <a:t>回帰係数</a:t>
                </a:r>
                <a14:m>
                  <m:oMath xmlns:m="http://schemas.openxmlformats.org/officeDocument/2006/math">
                    <m:r>
                      <a:rPr kumimoji="1" lang="ja-JP" altLang="en-US" i="1" smtClean="0">
                        <a:latin typeface="Cambria Math" panose="02040503050406030204" pitchFamily="18" charset="0"/>
                      </a:rPr>
                      <m:t>𝛽</m:t>
                    </m:r>
                  </m:oMath>
                </a14:m>
                <a:r>
                  <a:rPr lang="ja-JP" altLang="en-US" sz="1200">
                    <a:latin typeface="+mn-ea"/>
                  </a:rPr>
                  <a:t>の値が非ゼロとして設定します。</a:t>
                </a:r>
                <a:endParaRPr kumimoji="1" lang="en-US" altLang="ja-JP" dirty="0"/>
              </a:p>
              <a:p>
                <a:endParaRPr kumimoji="1" lang="en-US" altLang="ja-JP" dirty="0"/>
              </a:p>
              <a:p>
                <a:endParaRPr kumimoji="1" lang="en-US" altLang="ja-JP" dirty="0"/>
              </a:p>
              <a:p>
                <a:r>
                  <a:rPr kumimoji="1" lang="ja-JP" altLang="en-US"/>
                  <a:t>推定した回帰係数を</a:t>
                </a:r>
                <a14:m>
                  <m:oMath xmlns:m="http://schemas.openxmlformats.org/officeDocument/2006/math">
                    <m:r>
                      <a:rPr kumimoji="1" lang="ja-JP" altLang="en-US" i="1" smtClean="0">
                        <a:latin typeface="Cambria Math" panose="02040503050406030204" pitchFamily="18" charset="0"/>
                      </a:rPr>
                      <m:t>𝛽</m:t>
                    </m:r>
                  </m:oMath>
                </a14:m>
                <a:r>
                  <a:rPr kumimoji="1" lang="ja-JP" altLang="en-US"/>
                  <a:t>ハットとすると、</a:t>
                </a:r>
                <a14:m>
                  <m:oMath xmlns:m="http://schemas.openxmlformats.org/officeDocument/2006/math">
                    <m:r>
                      <a:rPr kumimoji="1" lang="ja-JP" altLang="en-US" i="1" smtClean="0">
                        <a:latin typeface="Cambria Math" panose="02040503050406030204" pitchFamily="18" charset="0"/>
                      </a:rPr>
                      <m:t>𝛽</m:t>
                    </m:r>
                  </m:oMath>
                </a14:m>
                <a:r>
                  <a:rPr lang="ja-JP" altLang="en-US" sz="1200">
                    <a:latin typeface="+mn-ea"/>
                  </a:rPr>
                  <a:t>と</a:t>
                </a:r>
                <a14:m>
                  <m:oMath xmlns:m="http://schemas.openxmlformats.org/officeDocument/2006/math">
                    <m:r>
                      <a:rPr kumimoji="1" lang="ja-JP" altLang="en-US" i="1" smtClean="0">
                        <a:latin typeface="Cambria Math" panose="02040503050406030204" pitchFamily="18" charset="0"/>
                      </a:rPr>
                      <m:t>𝛽</m:t>
                    </m:r>
                  </m:oMath>
                </a14:m>
                <a:r>
                  <a:rPr kumimoji="1" lang="ja-JP" altLang="en-US"/>
                  <a:t>ハットの関係を</a:t>
                </a:r>
                <a:r>
                  <a:rPr lang="ja-JP" altLang="en-US" sz="1200">
                    <a:latin typeface="+mn-ea"/>
                  </a:rPr>
                  <a:t>このように表すことができます。</a:t>
                </a:r>
                <a:endParaRPr lang="en-US" altLang="ja-JP" sz="1200" dirty="0">
                  <a:latin typeface="+mn-ea"/>
                </a:endParaRPr>
              </a:p>
            </p:txBody>
          </p:sp>
        </mc:Choice>
        <mc:Fallback xmlns="">
          <p:sp>
            <p:nvSpPr>
              <p:cNvPr id="3" name="ノート プレースホルダー 2"/>
              <p:cNvSpPr>
                <a:spLocks noGrp="1"/>
              </p:cNvSpPr>
              <p:nvPr>
                <p:ph type="body" idx="1"/>
              </p:nvPr>
            </p:nvSpPr>
            <p:spPr/>
            <p:txBody>
              <a:bodyPr/>
              <a:lstStyle/>
              <a:p>
                <a:r>
                  <a:rPr kumimoji="1" lang="ja-JP" altLang="en-US"/>
                  <a:t>評価指標に</a:t>
                </a:r>
                <a:r>
                  <a:rPr kumimoji="1" lang="en-US" altLang="ja-JP" dirty="0"/>
                  <a:t>FDR</a:t>
                </a:r>
                <a:r>
                  <a:rPr kumimoji="1" lang="ja-JP" altLang="en-US"/>
                  <a:t>があります。</a:t>
                </a:r>
                <a:endParaRPr kumimoji="1" lang="en-US" altLang="ja-JP" dirty="0"/>
              </a:p>
              <a:p>
                <a:endParaRPr kumimoji="1" lang="en-US" altLang="ja-JP" dirty="0"/>
              </a:p>
              <a:p>
                <a:r>
                  <a:rPr kumimoji="1" lang="ja-JP" altLang="en-US"/>
                  <a:t>まず、真の主成分負荷量を</a:t>
                </a:r>
                <a:r>
                  <a:rPr kumimoji="1" lang="en-US" altLang="ja-JP" b="0" i="0">
                    <a:latin typeface="Cambria Math" panose="02040503050406030204" pitchFamily="18" charset="0"/>
                  </a:rPr>
                  <a:t>𝑣</a:t>
                </a:r>
                <a:r>
                  <a:rPr kumimoji="1" lang="ja-JP" altLang="en-US"/>
                  <a:t>アスタ、推定された主成分負荷量を</a:t>
                </a:r>
                <a:r>
                  <a:rPr kumimoji="1" lang="en-US" altLang="ja-JP" b="0" i="0">
                    <a:latin typeface="Cambria Math" panose="02040503050406030204" pitchFamily="18" charset="0"/>
                  </a:rPr>
                  <a:t>𝑣</a:t>
                </a:r>
                <a:r>
                  <a:rPr kumimoji="1" lang="ja-JP" altLang="en-US"/>
                  <a:t>ハットとし、</a:t>
                </a:r>
                <a:endParaRPr kumimoji="1" lang="en-US" altLang="ja-JP" dirty="0"/>
              </a:p>
              <a:p>
                <a:r>
                  <a:rPr kumimoji="1" lang="ja-JP" altLang="en-US"/>
                  <a:t>真の主成分負荷量のうち、非ゼロとなる主成分負荷量の添字集合を</a:t>
                </a:r>
                <a:r>
                  <a:rPr kumimoji="1" lang="en-US" altLang="ja-JP" dirty="0"/>
                  <a:t>A</a:t>
                </a:r>
                <a:r>
                  <a:rPr kumimoji="1" lang="ja-JP" altLang="en-US"/>
                  <a:t>、ゼロとなる主成分負荷量の添字集合を</a:t>
                </a:r>
                <a:r>
                  <a:rPr kumimoji="1" lang="en-US" altLang="ja-JP" dirty="0"/>
                  <a:t>A</a:t>
                </a:r>
                <a:r>
                  <a:rPr kumimoji="1" lang="ja-JP" altLang="en-US"/>
                  <a:t>の補集合とします。</a:t>
                </a:r>
                <a:endParaRPr kumimoji="1" lang="en-US" altLang="ja-JP" dirty="0"/>
              </a:p>
              <a:p>
                <a:endParaRPr kumimoji="1" lang="en-US" altLang="ja-JP" dirty="0"/>
              </a:p>
              <a:p>
                <a:endParaRPr kumimoji="1" lang="en-US" altLang="ja-JP" dirty="0"/>
              </a:p>
              <a:p>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41</a:t>
            </a:fld>
            <a:endParaRPr kumimoji="1" lang="ja-JP" altLang="en-US"/>
          </a:p>
        </p:txBody>
      </p:sp>
    </p:spTree>
    <p:extLst>
      <p:ext uri="{BB962C8B-B14F-4D97-AF65-F5344CB8AC3E}">
        <p14:creationId xmlns:p14="http://schemas.microsoft.com/office/powerpoint/2010/main" val="19754234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en-US" altLang="ja-JP" sz="1200" dirty="0">
                    <a:latin typeface="+mn-ea"/>
                  </a:rPr>
                  <a:t>R</a:t>
                </a:r>
                <a:r>
                  <a:rPr kumimoji="1" lang="ja-JP" altLang="en-US" sz="1200">
                    <a:latin typeface="+mn-ea"/>
                  </a:rPr>
                  <a:t>を</a:t>
                </a:r>
                <a:r>
                  <a:rPr kumimoji="1" lang="ja-JP" altLang="en-US" sz="1200"/>
                  <a:t>推定した回帰係数の値が非ゼロとなる個数、</a:t>
                </a:r>
                <a:endParaRPr kumimoji="1" lang="en-US" altLang="ja-JP" sz="1200" dirty="0"/>
              </a:p>
              <a:p>
                <a:r>
                  <a:rPr kumimoji="1" lang="en-US" altLang="ja-JP" dirty="0"/>
                  <a:t>R</a:t>
                </a:r>
                <a:r>
                  <a:rPr kumimoji="1" lang="ja-JP" altLang="en-US"/>
                  <a:t>のうち、真の</a:t>
                </a:r>
                <a:r>
                  <a:rPr kumimoji="1" lang="ja-JP" altLang="en-US" sz="1200"/>
                  <a:t>回帰係数</a:t>
                </a:r>
                <a:r>
                  <a:rPr kumimoji="1" lang="ja-JP" altLang="en-US"/>
                  <a:t>の値がゼロとなるものの個数を</a:t>
                </a:r>
                <a:r>
                  <a:rPr kumimoji="1" lang="en-US" altLang="ja-JP" dirty="0"/>
                  <a:t>V</a:t>
                </a:r>
                <a:r>
                  <a:rPr kumimoji="1" lang="ja-JP" altLang="en-US"/>
                  <a:t>、非ゼロとなるものの個数を</a:t>
                </a:r>
                <a:r>
                  <a:rPr kumimoji="1" lang="en-US" altLang="ja-JP" dirty="0"/>
                  <a:t>S</a:t>
                </a:r>
                <a:r>
                  <a:rPr kumimoji="1" lang="ja-JP" altLang="en-US"/>
                  <a:t>とすると、スパース主成分分析と同様にして</a:t>
                </a:r>
                <a:r>
                  <a:rPr kumimoji="1" lang="en-US" altLang="ja-JP" dirty="0"/>
                  <a:t>FDR</a:t>
                </a:r>
                <a:r>
                  <a:rPr kumimoji="1" lang="ja-JP" altLang="en-US"/>
                  <a:t>を導出することができます。</a:t>
                </a:r>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a:t>評価指標に</a:t>
                </a:r>
                <a:r>
                  <a:rPr kumimoji="1" lang="en-US" altLang="ja-JP" dirty="0"/>
                  <a:t>FDR</a:t>
                </a:r>
                <a:r>
                  <a:rPr kumimoji="1" lang="ja-JP" altLang="en-US"/>
                  <a:t>があります。</a:t>
                </a:r>
                <a:endParaRPr kumimoji="1" lang="en-US" altLang="ja-JP" dirty="0"/>
              </a:p>
              <a:p>
                <a:endParaRPr kumimoji="1" lang="en-US" altLang="ja-JP" dirty="0"/>
              </a:p>
              <a:p>
                <a:r>
                  <a:rPr kumimoji="1" lang="ja-JP" altLang="en-US"/>
                  <a:t>まず、真の主成分負荷量を</a:t>
                </a:r>
                <a:r>
                  <a:rPr kumimoji="1" lang="en-US" altLang="ja-JP" b="0" i="0">
                    <a:latin typeface="Cambria Math" panose="02040503050406030204" pitchFamily="18" charset="0"/>
                  </a:rPr>
                  <a:t>𝑣</a:t>
                </a:r>
                <a:r>
                  <a:rPr kumimoji="1" lang="ja-JP" altLang="en-US"/>
                  <a:t>アスタ、推定された主成分負荷量を</a:t>
                </a:r>
                <a:r>
                  <a:rPr kumimoji="1" lang="en-US" altLang="ja-JP" b="0" i="0">
                    <a:latin typeface="Cambria Math" panose="02040503050406030204" pitchFamily="18" charset="0"/>
                  </a:rPr>
                  <a:t>𝑣</a:t>
                </a:r>
                <a:r>
                  <a:rPr kumimoji="1" lang="ja-JP" altLang="en-US"/>
                  <a:t>ハットとし、</a:t>
                </a:r>
                <a:endParaRPr kumimoji="1" lang="en-US" altLang="ja-JP" dirty="0"/>
              </a:p>
              <a:p>
                <a:r>
                  <a:rPr kumimoji="1" lang="ja-JP" altLang="en-US"/>
                  <a:t>真の主成分負荷量のうち、非ゼロとなる主成分負荷量の添字集合を</a:t>
                </a:r>
                <a:r>
                  <a:rPr kumimoji="1" lang="en-US" altLang="ja-JP" dirty="0"/>
                  <a:t>A</a:t>
                </a:r>
                <a:r>
                  <a:rPr kumimoji="1" lang="ja-JP" altLang="en-US"/>
                  <a:t>、ゼロとなる主成分負荷量の添字集合を</a:t>
                </a:r>
                <a:r>
                  <a:rPr kumimoji="1" lang="en-US" altLang="ja-JP" dirty="0"/>
                  <a:t>A</a:t>
                </a:r>
                <a:r>
                  <a:rPr kumimoji="1" lang="ja-JP" altLang="en-US"/>
                  <a:t>の補集合とします。</a:t>
                </a:r>
                <a:endParaRPr kumimoji="1" lang="en-US" altLang="ja-JP" dirty="0"/>
              </a:p>
              <a:p>
                <a:endParaRPr kumimoji="1" lang="en-US" altLang="ja-JP" dirty="0"/>
              </a:p>
              <a:p>
                <a:endParaRPr kumimoji="1" lang="en-US" altLang="ja-JP" dirty="0"/>
              </a:p>
              <a:p>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42</a:t>
            </a:fld>
            <a:endParaRPr kumimoji="1" lang="ja-JP" altLang="en-US"/>
          </a:p>
        </p:txBody>
      </p:sp>
    </p:spTree>
    <p:extLst>
      <p:ext uri="{BB962C8B-B14F-4D97-AF65-F5344CB8AC3E}">
        <p14:creationId xmlns:p14="http://schemas.microsoft.com/office/powerpoint/2010/main" val="20643774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Knockoff</a:t>
            </a:r>
            <a:r>
              <a:rPr kumimoji="1" lang="ja-JP" altLang="en-US"/>
              <a:t>法による正則化パラメータの導出はこちらの</a:t>
            </a:r>
            <a:r>
              <a:rPr kumimoji="1" lang="en-US" altLang="ja-JP" dirty="0"/>
              <a:t>〜〜4</a:t>
            </a:r>
            <a:r>
              <a:rPr kumimoji="1" lang="ja-JP" altLang="en-US"/>
              <a:t>つの手順で構成されています。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43</a:t>
            </a:fld>
            <a:endParaRPr kumimoji="1" lang="ja-JP" altLang="en-US"/>
          </a:p>
        </p:txBody>
      </p:sp>
    </p:spTree>
    <p:extLst>
      <p:ext uri="{BB962C8B-B14F-4D97-AF65-F5344CB8AC3E}">
        <p14:creationId xmlns:p14="http://schemas.microsoft.com/office/powerpoint/2010/main" val="7778192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はじめに、</a:t>
                </a:r>
                <a:r>
                  <a:rPr kumimoji="1" lang="en-US" altLang="ja-JP" dirty="0"/>
                  <a:t>knockoff</a:t>
                </a:r>
                <a:r>
                  <a:rPr kumimoji="1" lang="ja-JP" altLang="en-US"/>
                  <a:t>変数の作成を行います。</a:t>
                </a:r>
                <a:endParaRPr kumimoji="1" lang="en-US" altLang="ja-JP" dirty="0"/>
              </a:p>
              <a:p>
                <a:r>
                  <a:rPr lang="ja-JP" altLang="en-US" sz="1200">
                    <a:solidFill>
                      <a:schemeClr val="tx1"/>
                    </a:solidFill>
                    <a:latin typeface="+mn-ea"/>
                    <a:cs typeface="ヒラギノ角ゴ Pro W3"/>
                  </a:rPr>
                  <a:t>説明の便宜上、</a:t>
                </a:r>
                <a:r>
                  <a:rPr lang="en-US" altLang="ja-JP" sz="1200" dirty="0">
                    <a:solidFill>
                      <a:schemeClr val="tx1"/>
                    </a:solidFill>
                    <a:latin typeface="+mn-ea"/>
                    <a:cs typeface="ヒラギノ角ゴ Pro W3"/>
                  </a:rPr>
                  <a:t>X</a:t>
                </a:r>
                <a:r>
                  <a:rPr lang="ja-JP" altLang="en-US" sz="1200">
                    <a:solidFill>
                      <a:schemeClr val="tx1"/>
                    </a:solidFill>
                    <a:latin typeface="+mn-ea"/>
                    <a:cs typeface="ヒラギノ角ゴ Pro W3"/>
                  </a:rPr>
                  <a:t>をオリジナル変数、</a:t>
                </a:r>
                <a14:m>
                  <m:oMath xmlns:m="http://schemas.openxmlformats.org/officeDocument/2006/math">
                    <m:acc>
                      <m:accPr>
                        <m:chr m:val="̃"/>
                        <m:ctrlPr>
                          <a:rPr lang="ja-JP" altLang="en-US" sz="1200" i="1" smtClean="0">
                            <a:solidFill>
                              <a:srgbClr val="7030A0"/>
                            </a:solidFill>
                            <a:latin typeface="Cambria Math" panose="02040503050406030204" pitchFamily="18" charset="0"/>
                          </a:rPr>
                        </m:ctrlPr>
                      </m:accPr>
                      <m:e>
                        <m:r>
                          <a:rPr lang="en-US" altLang="ja-JP" sz="1200" b="0" i="1" smtClean="0">
                            <a:solidFill>
                              <a:srgbClr val="7030A0"/>
                            </a:solidFill>
                            <a:latin typeface="Cambria Math" panose="02040503050406030204" pitchFamily="18" charset="0"/>
                          </a:rPr>
                          <m:t>𝑋</m:t>
                        </m:r>
                      </m:e>
                    </m:acc>
                  </m:oMath>
                </a14:m>
                <a:r>
                  <a:rPr lang="ja-JP" altLang="en-US" sz="1200">
                    <a:solidFill>
                      <a:schemeClr val="tx1"/>
                    </a:solidFill>
                    <a:latin typeface="+mn-ea"/>
                    <a:cs typeface="ヒラギノ角ゴ Pro W3"/>
                  </a:rPr>
                  <a:t>を</a:t>
                </a:r>
                <a:r>
                  <a:rPr lang="en-US" altLang="ja-JP" sz="1200" dirty="0">
                    <a:solidFill>
                      <a:schemeClr val="tx1"/>
                    </a:solidFill>
                    <a:latin typeface="+mn-ea"/>
                    <a:cs typeface="ヒラギノ角ゴ Pro W3"/>
                  </a:rPr>
                  <a:t>knockoff</a:t>
                </a:r>
                <a:r>
                  <a:rPr lang="ja-JP" altLang="en-US" sz="1200">
                    <a:solidFill>
                      <a:schemeClr val="tx1"/>
                    </a:solidFill>
                    <a:latin typeface="+mn-ea"/>
                    <a:cs typeface="ヒラギノ角ゴ Pro W3"/>
                  </a:rPr>
                  <a:t>変数と呼びます。</a:t>
                </a:r>
                <a:endParaRPr lang="en-US" altLang="ja-JP" sz="1200" dirty="0">
                  <a:solidFill>
                    <a:schemeClr val="tx1"/>
                  </a:solidFill>
                  <a:latin typeface="+mn-ea"/>
                  <a:cs typeface="ヒラギノ角ゴ Pro W3"/>
                </a:endParaRPr>
              </a:p>
              <a:p>
                <a:endParaRPr lang="en-US" altLang="ja-JP" sz="1200" dirty="0">
                  <a:solidFill>
                    <a:schemeClr val="tx1"/>
                  </a:solidFill>
                  <a:latin typeface="+mn-ea"/>
                  <a:cs typeface="ヒラギノ角ゴ Pro W3"/>
                </a:endParaRPr>
              </a:p>
              <a:p>
                <a:r>
                  <a:rPr lang="en-US" altLang="ja-JP" sz="1200" dirty="0">
                    <a:solidFill>
                      <a:schemeClr val="tx1"/>
                    </a:solidFill>
                    <a:latin typeface="+mn-ea"/>
                    <a:cs typeface="ヒラギノ角ゴ Pro W3"/>
                  </a:rPr>
                  <a:t>Knockoff</a:t>
                </a:r>
                <a:r>
                  <a:rPr lang="ja-JP" altLang="en-US" sz="1200">
                    <a:solidFill>
                      <a:schemeClr val="tx1"/>
                    </a:solidFill>
                    <a:latin typeface="+mn-ea"/>
                    <a:cs typeface="ヒラギノ角ゴ Pro W3"/>
                  </a:rPr>
                  <a:t>変数</a:t>
                </a:r>
                <a14:m>
                  <m:oMath xmlns:m="http://schemas.openxmlformats.org/officeDocument/2006/math">
                    <m:acc>
                      <m:accPr>
                        <m:chr m:val="̃"/>
                        <m:ctrlPr>
                          <a:rPr lang="ja-JP" altLang="en-US" sz="1200" i="1" smtClean="0">
                            <a:solidFill>
                              <a:srgbClr val="7030A0"/>
                            </a:solidFill>
                            <a:latin typeface="Cambria Math" panose="02040503050406030204" pitchFamily="18" charset="0"/>
                          </a:rPr>
                        </m:ctrlPr>
                      </m:accPr>
                      <m:e>
                        <m:r>
                          <a:rPr lang="en-US" altLang="ja-JP" sz="1200" b="0" i="1" smtClean="0">
                            <a:solidFill>
                              <a:srgbClr val="7030A0"/>
                            </a:solidFill>
                            <a:latin typeface="Cambria Math" panose="02040503050406030204" pitchFamily="18" charset="0"/>
                          </a:rPr>
                          <m:t>𝑋</m:t>
                        </m:r>
                      </m:e>
                    </m:acc>
                  </m:oMath>
                </a14:m>
                <a:r>
                  <a:rPr kumimoji="1" lang="ja-JP" altLang="en-US" sz="1200">
                    <a:solidFill>
                      <a:schemeClr val="tx1"/>
                    </a:solidFill>
                    <a:latin typeface="+mn-ea"/>
                    <a:cs typeface="ヒラギノ角ゴ Pro W3"/>
                  </a:rPr>
                  <a:t>は、次の条件を満たす必要があります。</a:t>
                </a:r>
                <a:endParaRPr kumimoji="1" lang="en-US" altLang="ja-JP" sz="1200" dirty="0">
                  <a:solidFill>
                    <a:schemeClr val="tx1"/>
                  </a:solidFill>
                  <a:latin typeface="+mn-ea"/>
                </a:endParaRPr>
              </a:p>
              <a:p>
                <a:endParaRPr kumimoji="1" lang="en-US" altLang="ja-JP" dirty="0"/>
              </a:p>
              <a:p>
                <a:r>
                  <a:rPr lang="ja-JP" altLang="en-US" sz="1200">
                    <a:solidFill>
                      <a:schemeClr val="tx1"/>
                    </a:solidFill>
                    <a:latin typeface="+mn-ea"/>
                    <a:cs typeface="ヒラギノ角ゴ Pro W3"/>
                  </a:rPr>
                  <a:t>オリジナル変数</a:t>
                </a:r>
                <a:r>
                  <a:rPr kumimoji="1" lang="ja-JP" altLang="en-US"/>
                  <a:t>と</a:t>
                </a:r>
                <a:r>
                  <a:rPr kumimoji="1" lang="en-US" altLang="ja-JP" dirty="0"/>
                  <a:t>knockoff</a:t>
                </a:r>
                <a:r>
                  <a:rPr kumimoji="1" lang="ja-JP" altLang="en-US"/>
                  <a:t>変数の分散共分散行列は等しいこと、つまり、</a:t>
                </a:r>
                <a:r>
                  <a:rPr lang="en-US" altLang="ja-JP" b="0" i="0" u="none" strike="noStrike" dirty="0">
                    <a:solidFill>
                      <a:srgbClr val="646464"/>
                    </a:solidFill>
                    <a:effectLst/>
                    <a:latin typeface="YuGothic"/>
                  </a:rPr>
                  <a:t>Knockoff</a:t>
                </a:r>
                <a:r>
                  <a:rPr lang="ja-JP" altLang="en-US" b="0" i="0" u="none" strike="noStrike">
                    <a:solidFill>
                      <a:srgbClr val="646464"/>
                    </a:solidFill>
                    <a:effectLst/>
                    <a:latin typeface="YuGothic"/>
                  </a:rPr>
                  <a:t>変数</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個の相互関係がオリジナル変数</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個の相互関係と「同じ」であることを意味します。</a:t>
                </a:r>
                <a:endParaRPr lang="en-US" altLang="ja-JP" b="0" i="0" u="none" strike="noStrike" dirty="0">
                  <a:solidFill>
                    <a:srgbClr val="646464"/>
                  </a:solidFill>
                  <a:effectLst/>
                  <a:latin typeface="YuGothic"/>
                </a:endParaRPr>
              </a:p>
              <a:p>
                <a:endParaRPr lang="en-US" altLang="ja-JP" sz="1200" b="0" i="0" u="none" strike="noStrike" dirty="0">
                  <a:solidFill>
                    <a:srgbClr val="646464"/>
                  </a:solidFill>
                  <a:effectLst/>
                  <a:latin typeface="YuGothic"/>
                  <a:cs typeface="ヒラギノ角ゴ Pro W3"/>
                </a:endParaRPr>
              </a:p>
              <a:p>
                <a:r>
                  <a:rPr lang="ja-JP" altLang="en-US" sz="1200">
                    <a:solidFill>
                      <a:schemeClr val="tx1"/>
                    </a:solidFill>
                    <a:latin typeface="+mn-ea"/>
                    <a:cs typeface="ヒラギノ角ゴ Pro W3"/>
                  </a:rPr>
                  <a:t>オリジナル変数</a:t>
                </a:r>
                <a:r>
                  <a:rPr kumimoji="1" lang="ja-JP" altLang="en-US"/>
                  <a:t>と</a:t>
                </a:r>
                <a:r>
                  <a:rPr kumimoji="1" lang="en-US" altLang="ja-JP" dirty="0"/>
                  <a:t>knockoff</a:t>
                </a:r>
                <a:r>
                  <a:rPr kumimoji="1" lang="ja-JP" altLang="en-US"/>
                  <a:t>変数の関係について、</a:t>
                </a:r>
                <a:endParaRPr kumimoji="1" lang="en-US" altLang="ja-JP" dirty="0"/>
              </a:p>
              <a:p>
                <a:r>
                  <a:rPr kumimoji="1" lang="ja-JP" altLang="en-US"/>
                  <a:t>・非対角成分は</a:t>
                </a:r>
                <a:r>
                  <a:rPr lang="ja-JP" altLang="en-US" b="0" i="0" u="none" strike="noStrike">
                    <a:solidFill>
                      <a:srgbClr val="646464"/>
                    </a:solidFill>
                    <a:effectLst/>
                    <a:latin typeface="YuGothic"/>
                  </a:rPr>
                  <a:t>オリジナル</a:t>
                </a:r>
                <a:r>
                  <a:rPr kumimoji="1" lang="ja-JP" altLang="en-US"/>
                  <a:t>変数の分散共分散行列と同様にすること、</a:t>
                </a:r>
                <a:r>
                  <a:rPr kumimoji="1" lang="ja-JP" altLang="en-US" b="0" i="0" u="none" strike="noStrike">
                    <a:solidFill>
                      <a:srgbClr val="646464"/>
                    </a:solidFill>
                    <a:effectLst/>
                    <a:latin typeface="YuGothic"/>
                  </a:rPr>
                  <a:t>つまり、</a:t>
                </a:r>
                <a:r>
                  <a:rPr lang="en-US" altLang="ja-JP" b="0" i="0" u="none" strike="noStrike" dirty="0">
                    <a:solidFill>
                      <a:srgbClr val="646464"/>
                    </a:solidFill>
                    <a:effectLst/>
                    <a:latin typeface="YuGothic"/>
                  </a:rPr>
                  <a:t>Knockoff</a:t>
                </a:r>
                <a:r>
                  <a:rPr lang="ja-JP" altLang="en-US" b="0" i="0" u="none" strike="noStrike">
                    <a:solidFill>
                      <a:srgbClr val="646464"/>
                    </a:solidFill>
                    <a:effectLst/>
                    <a:latin typeface="YuGothic"/>
                  </a:rPr>
                  <a:t>変数とオリジナル変数の、</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個のうち同じ添字番号に対応しない部分の関係はオリジナル変数と同様です。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・対角成分は</a:t>
                </a:r>
                <a:r>
                  <a:rPr lang="ja-JP" altLang="en-US" b="0" i="0" u="none" strike="noStrike">
                    <a:solidFill>
                      <a:srgbClr val="646464"/>
                    </a:solidFill>
                    <a:effectLst/>
                    <a:latin typeface="YuGothic"/>
                  </a:rPr>
                  <a:t>オリジナル</a:t>
                </a:r>
                <a:r>
                  <a:rPr kumimoji="1" lang="ja-JP" altLang="en-US"/>
                  <a:t>変数の分散共分散行列とできるだけ無関係にさせること、つまり、</a:t>
                </a:r>
                <a:r>
                  <a:rPr lang="ja-JP" altLang="en-US" b="0" i="0" u="none" strike="noStrike">
                    <a:solidFill>
                      <a:srgbClr val="646464"/>
                    </a:solidFill>
                    <a:effectLst/>
                    <a:latin typeface="YuGothic"/>
                  </a:rPr>
                  <a:t>ある</a:t>
                </a:r>
                <a:r>
                  <a:rPr lang="en-US" altLang="ja-JP" b="0" i="0" u="none" strike="noStrike" dirty="0">
                    <a:solidFill>
                      <a:srgbClr val="646464"/>
                    </a:solidFill>
                    <a:effectLst/>
                    <a:latin typeface="YuGothic"/>
                  </a:rPr>
                  <a:t>Knockoff</a:t>
                </a:r>
                <a:r>
                  <a:rPr lang="ja-JP" altLang="en-US" b="0" i="0" u="none" strike="noStrike">
                    <a:solidFill>
                      <a:srgbClr val="646464"/>
                    </a:solidFill>
                    <a:effectLst/>
                    <a:latin typeface="YuGothic"/>
                  </a:rPr>
                  <a:t>変数とオリジナル変数の、</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個のうち同じ番号に対応する部分の関係はできるだけ無関係を意味します。</a:t>
                </a:r>
                <a:endParaRPr kumimoji="1" lang="en-US" altLang="ja-JP" dirty="0"/>
              </a:p>
              <a:p>
                <a:endParaRPr kumimoji="1" lang="en-US" altLang="ja-JP" dirty="0"/>
              </a:p>
              <a:p>
                <a:r>
                  <a:rPr kumimoji="1" lang="ja-JP" altLang="en-US"/>
                  <a:t>以上の条件から、</a:t>
                </a:r>
                <a:endParaRPr kumimoji="1" lang="en-US" altLang="ja-JP" dirty="0"/>
              </a:p>
              <a:p>
                <a:r>
                  <a:rPr kumimoji="1" lang="en-US" altLang="ja-JP" dirty="0"/>
                  <a:t>knockoff</a:t>
                </a:r>
                <a:r>
                  <a:rPr kumimoji="1" lang="ja-JP" altLang="en-US"/>
                  <a:t>変数は</a:t>
                </a:r>
                <a:r>
                  <a:rPr kumimoji="1" lang="ja-JP" altLang="en-US" sz="1200">
                    <a:solidFill>
                      <a:schemeClr val="tx1"/>
                    </a:solidFill>
                    <a:latin typeface="+mn-ea"/>
                    <a:cs typeface="ヒラギノ角ゴ Pro W3"/>
                  </a:rPr>
                  <a:t>オリジナル変数</a:t>
                </a:r>
                <a:r>
                  <a:rPr kumimoji="1" lang="en-US" altLang="ja-JP" sz="1200" dirty="0">
                    <a:solidFill>
                      <a:schemeClr val="tx1"/>
                    </a:solidFill>
                    <a:latin typeface="+mn-ea"/>
                    <a:cs typeface="ヒラギノ角ゴ Pro W3"/>
                  </a:rPr>
                  <a:t>X</a:t>
                </a:r>
                <a:r>
                  <a:rPr kumimoji="1" lang="ja-JP" altLang="en-US" sz="1200">
                    <a:solidFill>
                      <a:schemeClr val="tx1"/>
                    </a:solidFill>
                    <a:latin typeface="+mn-ea"/>
                    <a:cs typeface="ヒラギノ角ゴ Pro W3"/>
                  </a:rPr>
                  <a:t>と似ているが、目的変数</a:t>
                </a:r>
                <a:r>
                  <a:rPr kumimoji="1" lang="en-US" altLang="ja-JP" sz="1200" dirty="0">
                    <a:solidFill>
                      <a:schemeClr val="tx1"/>
                    </a:solidFill>
                    <a:latin typeface="+mn-ea"/>
                    <a:cs typeface="ヒラギノ角ゴ Pro W3"/>
                  </a:rPr>
                  <a:t>y</a:t>
                </a:r>
                <a:r>
                  <a:rPr kumimoji="1" lang="ja-JP" altLang="en-US" sz="1200">
                    <a:solidFill>
                      <a:schemeClr val="tx1"/>
                    </a:solidFill>
                    <a:latin typeface="+mn-ea"/>
                    <a:cs typeface="ヒラギノ角ゴ Pro W3"/>
                  </a:rPr>
                  <a:t>を用いて作成していないので</a:t>
                </a:r>
                <a:r>
                  <a:rPr kumimoji="1" lang="en-US" altLang="ja-JP" sz="1200" dirty="0">
                    <a:solidFill>
                      <a:schemeClr val="tx1"/>
                    </a:solidFill>
                    <a:latin typeface="+mn-ea"/>
                    <a:cs typeface="ヒラギノ角ゴ Pro W3"/>
                  </a:rPr>
                  <a:t>y</a:t>
                </a:r>
                <a:r>
                  <a:rPr kumimoji="1" lang="ja-JP" altLang="en-US" sz="1200">
                    <a:solidFill>
                      <a:schemeClr val="tx1"/>
                    </a:solidFill>
                    <a:latin typeface="+mn-ea"/>
                    <a:cs typeface="ヒラギノ角ゴ Pro W3"/>
                  </a:rPr>
                  <a:t>とは独立となっています。</a:t>
                </a:r>
                <a:endParaRPr kumimoji="1" lang="en-US" altLang="ja-JP" sz="1200" dirty="0">
                  <a:solidFill>
                    <a:schemeClr val="tx1"/>
                  </a:solidFill>
                  <a:latin typeface="+mn-ea"/>
                  <a:cs typeface="ヒラギノ角ゴ Pro W3"/>
                </a:endParaRPr>
              </a:p>
              <a:p>
                <a:endParaRPr kumimoji="1" lang="en-US" altLang="ja-JP" dirty="0"/>
              </a:p>
              <a:p>
                <a:r>
                  <a:rPr kumimoji="1" lang="ja-JP" altLang="en-US"/>
                  <a:t>ここで、</a:t>
                </a:r>
                <a:r>
                  <a:rPr kumimoji="1" lang="en-US" altLang="ja-JP" dirty="0"/>
                  <a:t>p</a:t>
                </a:r>
                <a:r>
                  <a:rPr kumimoji="1" lang="ja-JP" altLang="en-US"/>
                  <a:t>次元非負ベクトルの</a:t>
                </a:r>
                <a:r>
                  <a:rPr kumimoji="1" lang="en-US" altLang="ja-JP" dirty="0"/>
                  <a:t>s</a:t>
                </a:r>
                <a:r>
                  <a:rPr kumimoji="1" lang="ja-JP" altLang="en-US"/>
                  <a:t>決定は、オリジナル変数と</a:t>
                </a:r>
                <a:r>
                  <a:rPr kumimoji="1" lang="en-US" altLang="ja-JP" dirty="0"/>
                  <a:t>knockoff</a:t>
                </a:r>
                <a:r>
                  <a:rPr kumimoji="1" lang="ja-JP" altLang="en-US"/>
                  <a:t>変数をできるだけ直交させるような値を採用します。</a:t>
                </a:r>
                <a:endParaRPr kumimoji="1" lang="en-US" altLang="ja-JP" dirty="0"/>
              </a:p>
              <a:p>
                <a:r>
                  <a:rPr kumimoji="1" lang="ja-JP" altLang="en-US"/>
                  <a:t>例えば、半正定値計画問題を使って、オリジナル変数と</a:t>
                </a:r>
                <a:r>
                  <a:rPr kumimoji="1" lang="en-US" altLang="ja-JP" dirty="0"/>
                  <a:t>knockoff</a:t>
                </a:r>
                <a:r>
                  <a:rPr kumimoji="1" lang="ja-JP" altLang="en-US"/>
                  <a:t>変数の相関が最小となるように設定します。</a:t>
                </a:r>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a:t>はじめに、</a:t>
                </a:r>
                <a:r>
                  <a:rPr kumimoji="1" lang="en-US" altLang="ja-JP" dirty="0"/>
                  <a:t>knockoff</a:t>
                </a:r>
                <a:r>
                  <a:rPr kumimoji="1" lang="ja-JP" altLang="en-US"/>
                  <a:t>変数の作成を行います。</a:t>
                </a:r>
                <a:endParaRPr kumimoji="1" lang="en-US" altLang="ja-JP" dirty="0"/>
              </a:p>
              <a:p>
                <a:r>
                  <a:rPr lang="ja-JP" altLang="en-US" sz="1200">
                    <a:solidFill>
                      <a:schemeClr val="tx1"/>
                    </a:solidFill>
                    <a:latin typeface="+mn-ea"/>
                    <a:cs typeface="ヒラギノ角ゴ Pro W3"/>
                  </a:rPr>
                  <a:t>説明の便宜上、</a:t>
                </a:r>
                <a:r>
                  <a:rPr lang="en-US" altLang="ja-JP" sz="1200" dirty="0">
                    <a:solidFill>
                      <a:schemeClr val="tx1"/>
                    </a:solidFill>
                    <a:latin typeface="+mn-ea"/>
                    <a:cs typeface="ヒラギノ角ゴ Pro W3"/>
                  </a:rPr>
                  <a:t>X</a:t>
                </a:r>
                <a:r>
                  <a:rPr lang="ja-JP" altLang="en-US" sz="1200">
                    <a:solidFill>
                      <a:schemeClr val="tx1"/>
                    </a:solidFill>
                    <a:latin typeface="+mn-ea"/>
                    <a:cs typeface="ヒラギノ角ゴ Pro W3"/>
                  </a:rPr>
                  <a:t>をオリジナル変数、</a:t>
                </a:r>
                <a:r>
                  <a:rPr lang="en-US" altLang="ja-JP" sz="1200" b="0" i="0">
                    <a:solidFill>
                      <a:srgbClr val="7030A0"/>
                    </a:solidFill>
                    <a:latin typeface="Cambria Math" panose="02040503050406030204" pitchFamily="18" charset="0"/>
                  </a:rPr>
                  <a:t>𝑋</a:t>
                </a:r>
                <a:r>
                  <a:rPr lang="ja-JP" altLang="en-US" sz="1200" b="0" i="0">
                    <a:solidFill>
                      <a:srgbClr val="7030A0"/>
                    </a:solidFill>
                    <a:latin typeface="Cambria Math" panose="02040503050406030204" pitchFamily="18" charset="0"/>
                  </a:rPr>
                  <a:t> ̃</a:t>
                </a:r>
                <a:r>
                  <a:rPr lang="ja-JP" altLang="en-US" sz="1200">
                    <a:solidFill>
                      <a:schemeClr val="tx1"/>
                    </a:solidFill>
                    <a:latin typeface="+mn-ea"/>
                    <a:cs typeface="ヒラギノ角ゴ Pro W3"/>
                  </a:rPr>
                  <a:t>を</a:t>
                </a:r>
                <a:r>
                  <a:rPr lang="en-US" altLang="ja-JP" sz="1200" dirty="0">
                    <a:solidFill>
                      <a:schemeClr val="tx1"/>
                    </a:solidFill>
                    <a:latin typeface="+mn-ea"/>
                    <a:cs typeface="ヒラギノ角ゴ Pro W3"/>
                  </a:rPr>
                  <a:t>knockoff</a:t>
                </a:r>
                <a:r>
                  <a:rPr lang="ja-JP" altLang="en-US" sz="1200">
                    <a:solidFill>
                      <a:schemeClr val="tx1"/>
                    </a:solidFill>
                    <a:latin typeface="+mn-ea"/>
                    <a:cs typeface="ヒラギノ角ゴ Pro W3"/>
                  </a:rPr>
                  <a:t>変数と呼びます。</a:t>
                </a:r>
                <a:endParaRPr lang="en-US" altLang="ja-JP" sz="1200" dirty="0">
                  <a:solidFill>
                    <a:schemeClr val="tx1"/>
                  </a:solidFill>
                  <a:latin typeface="+mn-ea"/>
                  <a:cs typeface="ヒラギノ角ゴ Pro W3"/>
                </a:endParaRPr>
              </a:p>
              <a:p>
                <a:endParaRPr lang="en-US" altLang="ja-JP" sz="1200" dirty="0">
                  <a:solidFill>
                    <a:schemeClr val="tx1"/>
                  </a:solidFill>
                  <a:latin typeface="+mn-ea"/>
                  <a:cs typeface="ヒラギノ角ゴ Pro W3"/>
                </a:endParaRPr>
              </a:p>
              <a:p>
                <a:r>
                  <a:rPr lang="en-US" altLang="ja-JP" sz="1200" dirty="0">
                    <a:solidFill>
                      <a:schemeClr val="tx1"/>
                    </a:solidFill>
                    <a:latin typeface="+mn-ea"/>
                    <a:cs typeface="ヒラギノ角ゴ Pro W3"/>
                  </a:rPr>
                  <a:t>Knockoff</a:t>
                </a:r>
                <a:r>
                  <a:rPr lang="ja-JP" altLang="en-US" sz="1200">
                    <a:solidFill>
                      <a:schemeClr val="tx1"/>
                    </a:solidFill>
                    <a:latin typeface="+mn-ea"/>
                    <a:cs typeface="ヒラギノ角ゴ Pro W3"/>
                  </a:rPr>
                  <a:t>変数</a:t>
                </a:r>
                <a:r>
                  <a:rPr lang="en-US" altLang="ja-JP" sz="1200" b="0" i="0">
                    <a:solidFill>
                      <a:srgbClr val="7030A0"/>
                    </a:solidFill>
                    <a:latin typeface="Cambria Math" panose="02040503050406030204" pitchFamily="18" charset="0"/>
                  </a:rPr>
                  <a:t>𝑋</a:t>
                </a:r>
                <a:r>
                  <a:rPr lang="ja-JP" altLang="en-US" sz="1200" b="0" i="0">
                    <a:solidFill>
                      <a:srgbClr val="7030A0"/>
                    </a:solidFill>
                    <a:latin typeface="Cambria Math" panose="02040503050406030204" pitchFamily="18" charset="0"/>
                  </a:rPr>
                  <a:t> ̃</a:t>
                </a:r>
                <a:r>
                  <a:rPr kumimoji="1" lang="ja-JP" altLang="en-US" sz="1200">
                    <a:solidFill>
                      <a:schemeClr val="tx1"/>
                    </a:solidFill>
                    <a:latin typeface="+mn-ea"/>
                    <a:cs typeface="ヒラギノ角ゴ Pro W3"/>
                  </a:rPr>
                  <a:t>は、次の条件を満たす必要があります。</a:t>
                </a:r>
                <a:endParaRPr kumimoji="1" lang="en-US" altLang="ja-JP" sz="1200" dirty="0">
                  <a:solidFill>
                    <a:schemeClr val="tx1"/>
                  </a:solidFill>
                  <a:latin typeface="+mn-ea"/>
                </a:endParaRPr>
              </a:p>
              <a:p>
                <a:endParaRPr kumimoji="1" lang="en-US" altLang="ja-JP" dirty="0"/>
              </a:p>
              <a:p>
                <a:r>
                  <a:rPr lang="ja-JP" altLang="en-US" sz="1200">
                    <a:solidFill>
                      <a:schemeClr val="tx1"/>
                    </a:solidFill>
                    <a:latin typeface="+mn-ea"/>
                    <a:cs typeface="ヒラギノ角ゴ Pro W3"/>
                  </a:rPr>
                  <a:t>オリジナル変数</a:t>
                </a:r>
                <a:r>
                  <a:rPr kumimoji="1" lang="ja-JP" altLang="en-US"/>
                  <a:t>と</a:t>
                </a:r>
                <a:r>
                  <a:rPr kumimoji="1" lang="en-US" altLang="ja-JP" dirty="0"/>
                  <a:t>knockoff</a:t>
                </a:r>
                <a:r>
                  <a:rPr kumimoji="1" lang="ja-JP" altLang="en-US"/>
                  <a:t>変数の分散共分散行列は等しいこと、つまり、</a:t>
                </a:r>
                <a:r>
                  <a:rPr lang="en-US" altLang="ja-JP" b="0" i="0" u="none" strike="noStrike" dirty="0">
                    <a:solidFill>
                      <a:srgbClr val="646464"/>
                    </a:solidFill>
                    <a:effectLst/>
                    <a:latin typeface="YuGothic"/>
                  </a:rPr>
                  <a:t>Knockoff</a:t>
                </a:r>
                <a:r>
                  <a:rPr lang="ja-JP" altLang="en-US" b="0" i="0" u="none" strike="noStrike">
                    <a:solidFill>
                      <a:srgbClr val="646464"/>
                    </a:solidFill>
                    <a:effectLst/>
                    <a:latin typeface="YuGothic"/>
                  </a:rPr>
                  <a:t>変数</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個の相互関係がオリジナル変数</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個の相互関係と「同じ」であることを意味します。</a:t>
                </a:r>
                <a:endParaRPr lang="en-US" altLang="ja-JP" b="0" i="0" u="none" strike="noStrike" dirty="0">
                  <a:solidFill>
                    <a:srgbClr val="646464"/>
                  </a:solidFill>
                  <a:effectLst/>
                  <a:latin typeface="YuGothic"/>
                </a:endParaRPr>
              </a:p>
              <a:p>
                <a:endParaRPr lang="en-US" altLang="ja-JP" sz="1200" b="0" i="0" u="none" strike="noStrike" dirty="0">
                  <a:solidFill>
                    <a:srgbClr val="646464"/>
                  </a:solidFill>
                  <a:effectLst/>
                  <a:latin typeface="YuGothic"/>
                  <a:cs typeface="ヒラギノ角ゴ Pro W3"/>
                </a:endParaRPr>
              </a:p>
              <a:p>
                <a:r>
                  <a:rPr lang="ja-JP" altLang="en-US" sz="1200">
                    <a:solidFill>
                      <a:schemeClr val="tx1"/>
                    </a:solidFill>
                    <a:latin typeface="+mn-ea"/>
                    <a:cs typeface="ヒラギノ角ゴ Pro W3"/>
                  </a:rPr>
                  <a:t>オリジナル変数</a:t>
                </a:r>
                <a:r>
                  <a:rPr kumimoji="1" lang="ja-JP" altLang="en-US"/>
                  <a:t>と</a:t>
                </a:r>
                <a:r>
                  <a:rPr kumimoji="1" lang="en-US" altLang="ja-JP" dirty="0"/>
                  <a:t>knockoff</a:t>
                </a:r>
                <a:r>
                  <a:rPr kumimoji="1" lang="ja-JP" altLang="en-US"/>
                  <a:t>変数の関係について、</a:t>
                </a:r>
                <a:endParaRPr kumimoji="1" lang="en-US" altLang="ja-JP" dirty="0"/>
              </a:p>
              <a:p>
                <a:r>
                  <a:rPr kumimoji="1" lang="ja-JP" altLang="en-US"/>
                  <a:t>・非対角成分は</a:t>
                </a:r>
                <a:r>
                  <a:rPr lang="ja-JP" altLang="en-US" b="0" i="0" u="none" strike="noStrike">
                    <a:solidFill>
                      <a:srgbClr val="646464"/>
                    </a:solidFill>
                    <a:effectLst/>
                    <a:latin typeface="YuGothic"/>
                  </a:rPr>
                  <a:t>オリジナル</a:t>
                </a:r>
                <a:r>
                  <a:rPr kumimoji="1" lang="ja-JP" altLang="en-US"/>
                  <a:t>変数の分散共分散行列と同様にすること、</a:t>
                </a:r>
                <a:r>
                  <a:rPr kumimoji="1" lang="ja-JP" altLang="en-US" b="0" i="0" u="none" strike="noStrike">
                    <a:solidFill>
                      <a:srgbClr val="646464"/>
                    </a:solidFill>
                    <a:effectLst/>
                    <a:latin typeface="YuGothic"/>
                  </a:rPr>
                  <a:t>つまり、</a:t>
                </a:r>
                <a:r>
                  <a:rPr lang="en-US" altLang="ja-JP" b="0" i="0" u="none" strike="noStrike" dirty="0">
                    <a:solidFill>
                      <a:srgbClr val="646464"/>
                    </a:solidFill>
                    <a:effectLst/>
                    <a:latin typeface="YuGothic"/>
                  </a:rPr>
                  <a:t>Knockoff</a:t>
                </a:r>
                <a:r>
                  <a:rPr lang="ja-JP" altLang="en-US" b="0" i="0" u="none" strike="noStrike">
                    <a:solidFill>
                      <a:srgbClr val="646464"/>
                    </a:solidFill>
                    <a:effectLst/>
                    <a:latin typeface="YuGothic"/>
                  </a:rPr>
                  <a:t>変数とオリジナル変数の、</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個のうち同じ添字番号に対応しない部分の関係はオリジナル変数と同様です。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・対角成分は</a:t>
                </a:r>
                <a:r>
                  <a:rPr lang="ja-JP" altLang="en-US" b="0" i="0" u="none" strike="noStrike">
                    <a:solidFill>
                      <a:srgbClr val="646464"/>
                    </a:solidFill>
                    <a:effectLst/>
                    <a:latin typeface="YuGothic"/>
                  </a:rPr>
                  <a:t>オリジナル</a:t>
                </a:r>
                <a:r>
                  <a:rPr kumimoji="1" lang="ja-JP" altLang="en-US"/>
                  <a:t>変数の分散共分散行列とできるだけ無関係にさせること、つまり、</a:t>
                </a:r>
                <a:r>
                  <a:rPr lang="ja-JP" altLang="en-US" b="0" i="0" u="none" strike="noStrike">
                    <a:solidFill>
                      <a:srgbClr val="646464"/>
                    </a:solidFill>
                    <a:effectLst/>
                    <a:latin typeface="YuGothic"/>
                  </a:rPr>
                  <a:t>ある</a:t>
                </a:r>
                <a:r>
                  <a:rPr lang="en-US" altLang="ja-JP" b="0" i="0" u="none" strike="noStrike" dirty="0">
                    <a:solidFill>
                      <a:srgbClr val="646464"/>
                    </a:solidFill>
                    <a:effectLst/>
                    <a:latin typeface="YuGothic"/>
                  </a:rPr>
                  <a:t>Knockoff</a:t>
                </a:r>
                <a:r>
                  <a:rPr lang="ja-JP" altLang="en-US" b="0" i="0" u="none" strike="noStrike">
                    <a:solidFill>
                      <a:srgbClr val="646464"/>
                    </a:solidFill>
                    <a:effectLst/>
                    <a:latin typeface="YuGothic"/>
                  </a:rPr>
                  <a:t>変数とオリジナル変数の、</a:t>
                </a:r>
                <a:r>
                  <a:rPr lang="en-US" altLang="ja-JP" b="0" i="0" u="none" strike="noStrike" dirty="0">
                    <a:solidFill>
                      <a:srgbClr val="646464"/>
                    </a:solidFill>
                    <a:effectLst/>
                    <a:latin typeface="YuGothic"/>
                  </a:rPr>
                  <a:t>p</a:t>
                </a:r>
                <a:r>
                  <a:rPr lang="ja-JP" altLang="en-US" b="0" i="0" u="none" strike="noStrike">
                    <a:solidFill>
                      <a:srgbClr val="646464"/>
                    </a:solidFill>
                    <a:effectLst/>
                    <a:latin typeface="YuGothic"/>
                  </a:rPr>
                  <a:t>個のうち同じ番号に対応する部分の関係はできるだけ無関係を意味します。</a:t>
                </a:r>
                <a:endParaRPr kumimoji="1" lang="en-US" altLang="ja-JP" dirty="0"/>
              </a:p>
              <a:p>
                <a:endParaRPr kumimoji="1" lang="en-US" altLang="ja-JP" dirty="0"/>
              </a:p>
              <a:p>
                <a:r>
                  <a:rPr kumimoji="1" lang="ja-JP" altLang="en-US"/>
                  <a:t>以上の条件から、</a:t>
                </a:r>
                <a:endParaRPr kumimoji="1" lang="en-US" altLang="ja-JP" dirty="0"/>
              </a:p>
              <a:p>
                <a:r>
                  <a:rPr kumimoji="1" lang="en-US" altLang="ja-JP" dirty="0"/>
                  <a:t>knockoff</a:t>
                </a:r>
                <a:r>
                  <a:rPr kumimoji="1" lang="ja-JP" altLang="en-US"/>
                  <a:t>変数は</a:t>
                </a:r>
                <a:r>
                  <a:rPr kumimoji="1" lang="ja-JP" altLang="en-US" sz="1200">
                    <a:solidFill>
                      <a:schemeClr val="tx1"/>
                    </a:solidFill>
                    <a:latin typeface="+mn-ea"/>
                    <a:cs typeface="ヒラギノ角ゴ Pro W3"/>
                  </a:rPr>
                  <a:t>オリジナル変数</a:t>
                </a:r>
                <a:r>
                  <a:rPr kumimoji="1" lang="en-US" altLang="ja-JP" sz="1200" dirty="0">
                    <a:solidFill>
                      <a:schemeClr val="tx1"/>
                    </a:solidFill>
                    <a:latin typeface="+mn-ea"/>
                    <a:cs typeface="ヒラギノ角ゴ Pro W3"/>
                  </a:rPr>
                  <a:t>X</a:t>
                </a:r>
                <a:r>
                  <a:rPr kumimoji="1" lang="ja-JP" altLang="en-US" sz="1200">
                    <a:solidFill>
                      <a:schemeClr val="tx1"/>
                    </a:solidFill>
                    <a:latin typeface="+mn-ea"/>
                    <a:cs typeface="ヒラギノ角ゴ Pro W3"/>
                  </a:rPr>
                  <a:t>と似ているが、目的変数</a:t>
                </a:r>
                <a:r>
                  <a:rPr kumimoji="1" lang="en-US" altLang="ja-JP" sz="1200" dirty="0">
                    <a:solidFill>
                      <a:schemeClr val="tx1"/>
                    </a:solidFill>
                    <a:latin typeface="+mn-ea"/>
                    <a:cs typeface="ヒラギノ角ゴ Pro W3"/>
                  </a:rPr>
                  <a:t>y</a:t>
                </a:r>
                <a:r>
                  <a:rPr kumimoji="1" lang="ja-JP" altLang="en-US" sz="1200">
                    <a:solidFill>
                      <a:schemeClr val="tx1"/>
                    </a:solidFill>
                    <a:latin typeface="+mn-ea"/>
                    <a:cs typeface="ヒラギノ角ゴ Pro W3"/>
                  </a:rPr>
                  <a:t>を用いて作成していないので</a:t>
                </a:r>
                <a:r>
                  <a:rPr kumimoji="1" lang="en-US" altLang="ja-JP" sz="1200" dirty="0">
                    <a:solidFill>
                      <a:schemeClr val="tx1"/>
                    </a:solidFill>
                    <a:latin typeface="+mn-ea"/>
                    <a:cs typeface="ヒラギノ角ゴ Pro W3"/>
                  </a:rPr>
                  <a:t>y</a:t>
                </a:r>
                <a:r>
                  <a:rPr kumimoji="1" lang="ja-JP" altLang="en-US" sz="1200">
                    <a:solidFill>
                      <a:schemeClr val="tx1"/>
                    </a:solidFill>
                    <a:latin typeface="+mn-ea"/>
                    <a:cs typeface="ヒラギノ角ゴ Pro W3"/>
                  </a:rPr>
                  <a:t>とは独立となっています。</a:t>
                </a:r>
                <a:endParaRPr kumimoji="1" lang="en-US" altLang="ja-JP" sz="1200" dirty="0">
                  <a:solidFill>
                    <a:schemeClr val="tx1"/>
                  </a:solidFill>
                  <a:latin typeface="+mn-ea"/>
                  <a:cs typeface="ヒラギノ角ゴ Pro W3"/>
                </a:endParaRPr>
              </a:p>
              <a:p>
                <a:endParaRPr kumimoji="1" lang="en-US" altLang="ja-JP" dirty="0"/>
              </a:p>
              <a:p>
                <a:r>
                  <a:rPr kumimoji="1" lang="ja-JP" altLang="en-US"/>
                  <a:t>ここで、</a:t>
                </a:r>
                <a:r>
                  <a:rPr kumimoji="1" lang="en-US" altLang="ja-JP" dirty="0"/>
                  <a:t>p</a:t>
                </a:r>
                <a:r>
                  <a:rPr kumimoji="1" lang="ja-JP" altLang="en-US"/>
                  <a:t>次元非負ベクトルの</a:t>
                </a:r>
                <a:r>
                  <a:rPr kumimoji="1" lang="en-US" altLang="ja-JP" dirty="0"/>
                  <a:t>s</a:t>
                </a:r>
                <a:r>
                  <a:rPr kumimoji="1" lang="ja-JP" altLang="en-US"/>
                  <a:t>決定は、オリジナル変数と</a:t>
                </a:r>
                <a:r>
                  <a:rPr kumimoji="1" lang="en-US" altLang="ja-JP" dirty="0"/>
                  <a:t>knockoff</a:t>
                </a:r>
                <a:r>
                  <a:rPr kumimoji="1" lang="ja-JP" altLang="en-US"/>
                  <a:t>変数をできるだけ直交させるような値を採用します。</a:t>
                </a:r>
                <a:endParaRPr kumimoji="1" lang="en-US" altLang="ja-JP" dirty="0"/>
              </a:p>
              <a:p>
                <a:r>
                  <a:rPr kumimoji="1" lang="ja-JP" altLang="en-US"/>
                  <a:t>例えば、半正定値計画問題を使って、オリジナル変数と</a:t>
                </a:r>
                <a:r>
                  <a:rPr kumimoji="1" lang="en-US" altLang="ja-JP" dirty="0"/>
                  <a:t>knockoff</a:t>
                </a:r>
                <a:r>
                  <a:rPr kumimoji="1" lang="ja-JP" altLang="en-US"/>
                  <a:t>変数の相関が最小となるように設定します。</a:t>
                </a:r>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44</a:t>
            </a:fld>
            <a:endParaRPr kumimoji="1" lang="ja-JP" altLang="en-US"/>
          </a:p>
        </p:txBody>
      </p:sp>
    </p:spTree>
    <p:extLst>
      <p:ext uri="{BB962C8B-B14F-4D97-AF65-F5344CB8AC3E}">
        <p14:creationId xmlns:p14="http://schemas.microsoft.com/office/powerpoint/2010/main" val="3267569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次に、統計量</a:t>
                </a:r>
                <a14:m>
                  <m:oMath xmlns:m="http://schemas.openxmlformats.org/officeDocument/2006/math">
                    <m:r>
                      <a:rPr kumimoji="1" lang="en-US" altLang="ja-JP" b="0" i="1" smtClean="0">
                        <a:latin typeface="Cambria Math" panose="02040503050406030204" pitchFamily="18" charset="0"/>
                      </a:rPr>
                      <m:t>𝑊</m:t>
                    </m:r>
                  </m:oMath>
                </a14:m>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14:m>
                  <m:oMath xmlns:m="http://schemas.openxmlformats.org/officeDocument/2006/math">
                    <m:r>
                      <a:rPr kumimoji="1" lang="en-US" altLang="ja-JP" sz="1200" b="0" i="1" smtClean="0">
                        <a:solidFill>
                          <a:srgbClr val="FF0000"/>
                        </a:solidFill>
                        <a:latin typeface="Cambria Math" panose="02040503050406030204" pitchFamily="18" charset="0"/>
                      </a:rPr>
                      <m:t>𝑛</m:t>
                    </m:r>
                    <m:r>
                      <a:rPr kumimoji="1" lang="en-US" altLang="ja-JP" sz="1200" b="0" i="1" smtClean="0">
                        <a:solidFill>
                          <a:srgbClr val="FF0000"/>
                        </a:solidFill>
                        <a:latin typeface="Cambria Math" panose="02040503050406030204" pitchFamily="18" charset="0"/>
                        <a:ea typeface="Cambria Math" panose="02040503050406030204" pitchFamily="18" charset="0"/>
                      </a:rPr>
                      <m:t>×2</m:t>
                    </m:r>
                    <m:r>
                      <a:rPr kumimoji="1" lang="en-US" altLang="ja-JP" sz="12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1200">
                    <a:solidFill>
                      <a:srgbClr val="FF0000"/>
                    </a:solidFill>
                  </a:rPr>
                  <a:t>行列を用いて</a:t>
                </a:r>
                <a:r>
                  <a:rPr kumimoji="1" lang="en-US" altLang="ja-JP" sz="1200" dirty="0">
                    <a:solidFill>
                      <a:srgbClr val="FF0000"/>
                    </a:solidFill>
                  </a:rPr>
                  <a:t>lasso</a:t>
                </a:r>
                <a:r>
                  <a:rPr kumimoji="1" lang="ja-JP" altLang="en-US" sz="1200">
                    <a:solidFill>
                      <a:srgbClr val="FF0000"/>
                    </a:solidFill>
                  </a:rPr>
                  <a:t>回帰を実行します。</a:t>
                </a:r>
                <a:endParaRPr kumimoji="1" lang="en-US" altLang="ja-JP" sz="1200"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a:solidFill>
                      <a:srgbClr val="FF0000"/>
                    </a:solidFill>
                  </a:rPr>
                  <a:t>lasso</a:t>
                </a:r>
                <a:r>
                  <a:rPr kumimoji="1" lang="ja-JP" altLang="en-US" sz="1200">
                    <a:solidFill>
                      <a:srgbClr val="FF0000"/>
                    </a:solidFill>
                  </a:rPr>
                  <a:t>回帰を実行します。</a:t>
                </a:r>
                <a:endParaRPr kumimoji="1" lang="en-US" altLang="ja-JP" sz="1200" dirty="0">
                  <a:solidFill>
                    <a:srgbClr val="FF0000"/>
                  </a:solidFill>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45</a:t>
            </a:fld>
            <a:endParaRPr kumimoji="1" lang="ja-JP" altLang="en-US"/>
          </a:p>
        </p:txBody>
      </p:sp>
    </p:spTree>
    <p:extLst>
      <p:ext uri="{BB962C8B-B14F-4D97-AF65-F5344CB8AC3E}">
        <p14:creationId xmlns:p14="http://schemas.microsoft.com/office/powerpoint/2010/main" val="4910979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このように元の変数と</a:t>
                </a:r>
                <a:r>
                  <a:rPr kumimoji="1" lang="en-US" altLang="ja-JP" sz="1200" dirty="0">
                    <a:solidFill>
                      <a:srgbClr val="FF0000"/>
                    </a:solidFill>
                  </a:rPr>
                  <a:t>knockoff</a:t>
                </a:r>
                <a:r>
                  <a:rPr kumimoji="1" lang="ja-JP" altLang="en-US" sz="1200">
                    <a:solidFill>
                      <a:srgbClr val="FF0000"/>
                    </a:solidFill>
                  </a:rPr>
                  <a:t>変数を合わせた形で</a:t>
                </a:r>
                <a:r>
                  <a:rPr kumimoji="1" lang="en-US" altLang="ja-JP" sz="1200" dirty="0">
                    <a:solidFill>
                      <a:srgbClr val="FF0000"/>
                    </a:solidFill>
                  </a:rPr>
                  <a:t>lasso</a:t>
                </a:r>
                <a:r>
                  <a:rPr kumimoji="1" lang="ja-JP" altLang="en-US" sz="1200">
                    <a:solidFill>
                      <a:srgbClr val="FF0000"/>
                    </a:solidFill>
                  </a:rPr>
                  <a:t>回帰を行うことで、</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r>
                  <a:rPr lang="ja-JP" altLang="en-US" sz="1200"/>
                  <a:t>・オリジナル変数</a:t>
                </a:r>
                <a:r>
                  <a:rPr kumimoji="1" lang="ja-JP" altLang="en-US" sz="1200"/>
                  <a:t>が目的変数に寄与するとき、すなわち真の回帰係数の値が非ゼロであるときは</a:t>
                </a:r>
                <a:endParaRPr kumimoji="1" lang="en-US" altLang="ja-JP" sz="1200" dirty="0"/>
              </a:p>
              <a:p>
                <a:r>
                  <a:rPr lang="ja-JP" altLang="en-US" sz="1200"/>
                  <a:t>　→オリジナル</a:t>
                </a:r>
                <a:r>
                  <a:rPr lang="ja-JP" altLang="en-US" sz="1200">
                    <a:solidFill>
                      <a:srgbClr val="FF0000"/>
                    </a:solidFill>
                  </a:rPr>
                  <a:t>変数の正則化パラメータ</a:t>
                </a:r>
                <a14:m>
                  <m:oMath xmlns:m="http://schemas.openxmlformats.org/officeDocument/2006/math">
                    <m:r>
                      <a:rPr lang="en-US" altLang="ja-JP" sz="1200" b="0" i="1" smtClean="0">
                        <a:solidFill>
                          <a:srgbClr val="FF0000"/>
                        </a:solidFill>
                        <a:latin typeface="Cambria Math" panose="02040503050406030204" pitchFamily="18" charset="0"/>
                      </a:rPr>
                      <m:t>&gt;</m:t>
                    </m:r>
                    <m:r>
                      <m:rPr>
                        <m:nor/>
                      </m:rPr>
                      <a:rPr lang="en-US" altLang="ja-JP" sz="1200" b="0" i="0" smtClean="0">
                        <a:solidFill>
                          <a:srgbClr val="FF0000"/>
                        </a:solidFill>
                        <a:latin typeface="+mn-ea"/>
                      </a:rPr>
                      <m:t>Knockoff</m:t>
                    </m:r>
                    <m:r>
                      <m:rPr>
                        <m:nor/>
                      </m:rPr>
                      <a:rPr lang="ja-JP" altLang="en-US" sz="1200">
                        <a:solidFill>
                          <a:srgbClr val="FF0000"/>
                        </a:solidFill>
                      </a:rPr>
                      <m:t>変数の正則化</m:t>
                    </m:r>
                    <m:r>
                      <m:rPr>
                        <m:nor/>
                      </m:rPr>
                      <a:rPr lang="ja-JP" altLang="en-US" sz="1200" smtClean="0">
                        <a:solidFill>
                          <a:srgbClr val="FF0000"/>
                        </a:solidFill>
                      </a:rPr>
                      <m:t>パラメータ</m:t>
                    </m:r>
                  </m:oMath>
                </a14:m>
                <a:endParaRPr kumimoji="1" lang="en-US" altLang="ja-JP" sz="1200" dirty="0"/>
              </a:p>
              <a:p>
                <a:endParaRPr kumimoji="1"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・オリジナル変数が</a:t>
                </a:r>
                <a:r>
                  <a:rPr kumimoji="1" lang="ja-JP" altLang="en-US" sz="1200"/>
                  <a:t>目的変数に寄与しないとき、すなわち真の回帰係数の値がゼロであるときは</a:t>
                </a:r>
                <a:endParaRPr kumimoji="1" lang="en-US" altLang="ja-JP" sz="1200" dirty="0"/>
              </a:p>
              <a:p>
                <a:r>
                  <a:rPr kumimoji="1" lang="ja-JP" altLang="en-US" sz="1200">
                    <a:latin typeface="+mn-ea"/>
                  </a:rPr>
                  <a:t>　</a:t>
                </a:r>
                <a:r>
                  <a:rPr lang="ja-JP" altLang="en-US" sz="1200"/>
                  <a:t>→オリジナル</a:t>
                </a:r>
                <a:r>
                  <a:rPr lang="ja-JP" altLang="en-US" sz="1200">
                    <a:solidFill>
                      <a:srgbClr val="FF0000"/>
                    </a:solidFill>
                  </a:rPr>
                  <a:t>変数の正則化パラメータ</a:t>
                </a:r>
                <a14:m>
                  <m:oMath xmlns:m="http://schemas.openxmlformats.org/officeDocument/2006/math">
                    <m:r>
                      <a:rPr lang="en-US" altLang="ja-JP" sz="1200" b="0" i="1" smtClean="0">
                        <a:solidFill>
                          <a:srgbClr val="FF0000"/>
                        </a:solidFill>
                        <a:latin typeface="Cambria Math" panose="02040503050406030204" pitchFamily="18" charset="0"/>
                      </a:rPr>
                      <m:t>&gt;</m:t>
                    </m:r>
                    <m:r>
                      <m:rPr>
                        <m:nor/>
                      </m:rPr>
                      <a:rPr lang="en-US" altLang="ja-JP" sz="1200" b="0" i="0" smtClean="0">
                        <a:solidFill>
                          <a:srgbClr val="FF0000"/>
                        </a:solidFill>
                        <a:latin typeface="+mn-ea"/>
                      </a:rPr>
                      <m:t>Knockoff</m:t>
                    </m:r>
                    <m:r>
                      <m:rPr>
                        <m:nor/>
                      </m:rPr>
                      <a:rPr lang="ja-JP" altLang="en-US" sz="1200">
                        <a:solidFill>
                          <a:srgbClr val="FF0000"/>
                        </a:solidFill>
                      </a:rPr>
                      <m:t>変数の正則化パラメータ</m:t>
                    </m:r>
                  </m:oMath>
                </a14:m>
                <a:endParaRPr kumimoji="1" lang="en-US" altLang="ja-JP" sz="1200" dirty="0">
                  <a:solidFill>
                    <a:srgbClr val="FF0000"/>
                  </a:solidFill>
                </a:endParaRPr>
              </a:p>
              <a:p>
                <a:pPr algn="l"/>
                <a:r>
                  <a:rPr kumimoji="1" lang="ja-JP" altLang="en-US" sz="1200">
                    <a:solidFill>
                      <a:srgbClr val="FF0000"/>
                    </a:solidFill>
                    <a:latin typeface="+mn-ea"/>
                  </a:rPr>
                  <a:t>　　　または</a:t>
                </a:r>
                <a:endParaRPr kumimoji="1" lang="en-US" altLang="ja-JP" sz="1200" dirty="0">
                  <a:solidFill>
                    <a:srgbClr val="FF0000"/>
                  </a:solidFill>
                  <a:latin typeface="+mn-ea"/>
                </a:endParaRPr>
              </a:p>
              <a:p>
                <a:r>
                  <a:rPr lang="ja-JP" altLang="en-US" sz="1200">
                    <a:solidFill>
                      <a:srgbClr val="FF0000"/>
                    </a:solidFill>
                  </a:rPr>
                  <a:t>　　</a:t>
                </a:r>
                <a:r>
                  <a:rPr lang="ja-JP" altLang="en-US" sz="1200"/>
                  <a:t>オリジナル</a:t>
                </a:r>
                <a:r>
                  <a:rPr lang="ja-JP" altLang="en-US" sz="1200">
                    <a:solidFill>
                      <a:srgbClr val="FF0000"/>
                    </a:solidFill>
                  </a:rPr>
                  <a:t>変数の正則化パラメータ</a:t>
                </a:r>
                <a14:m>
                  <m:oMath xmlns:m="http://schemas.openxmlformats.org/officeDocument/2006/math">
                    <m:r>
                      <a:rPr lang="en-US" altLang="ja-JP" sz="1200" i="1">
                        <a:solidFill>
                          <a:srgbClr val="FF0000"/>
                        </a:solidFill>
                        <a:latin typeface="Cambria Math" panose="02040503050406030204" pitchFamily="18" charset="0"/>
                      </a:rPr>
                      <m:t>&lt;</m:t>
                    </m:r>
                    <m:r>
                      <m:rPr>
                        <m:nor/>
                      </m:rPr>
                      <a:rPr lang="en-US" altLang="ja-JP" sz="1200" b="0" i="0" smtClean="0">
                        <a:solidFill>
                          <a:srgbClr val="FF0000"/>
                        </a:solidFill>
                        <a:latin typeface="+mn-ea"/>
                      </a:rPr>
                      <m:t>Knockoff</m:t>
                    </m:r>
                    <m:r>
                      <m:rPr>
                        <m:nor/>
                      </m:rPr>
                      <a:rPr lang="ja-JP" altLang="en-US" sz="1200">
                        <a:solidFill>
                          <a:srgbClr val="FF0000"/>
                        </a:solidFill>
                      </a:rPr>
                      <m:t>変数の正則化パラメータ</m:t>
                    </m:r>
                  </m:oMath>
                </a14:m>
                <a:endParaRPr kumimoji="1" lang="en-US" altLang="ja-JP" sz="1200" dirty="0">
                  <a:solidFill>
                    <a:srgbClr val="FF0000"/>
                  </a:solidFill>
                </a:endParaRPr>
              </a:p>
              <a:p>
                <a:r>
                  <a:rPr kumimoji="1" lang="ja-JP" altLang="en-US" sz="1200">
                    <a:solidFill>
                      <a:srgbClr val="FF0000"/>
                    </a:solidFill>
                    <a:latin typeface="+mn-ea"/>
                  </a:rPr>
                  <a:t>　　が等確率で起こります。</a:t>
                </a:r>
                <a:endParaRPr kumimoji="1" lang="en-US" altLang="ja-JP" sz="1200" dirty="0">
                  <a:solidFill>
                    <a:srgbClr val="FF0000"/>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このように、正則化パラメータの大小関係で、説明変数と目的変数の関係性を表現することができます。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solidFill>
                      <a:srgbClr val="FF0000"/>
                    </a:solidFill>
                  </a:rPr>
                  <a:t>これは、手順</a:t>
                </a:r>
                <a:r>
                  <a:rPr kumimoji="1" lang="en-US" altLang="ja-JP" sz="1200" u="none" dirty="0">
                    <a:solidFill>
                      <a:srgbClr val="FF0000"/>
                    </a:solidFill>
                  </a:rPr>
                  <a:t>1</a:t>
                </a:r>
                <a:r>
                  <a:rPr kumimoji="1" lang="ja-JP" altLang="en-US" sz="1200" u="none">
                    <a:solidFill>
                      <a:srgbClr val="FF0000"/>
                    </a:solidFill>
                  </a:rPr>
                  <a:t>で</a:t>
                </a:r>
                <a:r>
                  <a:rPr kumimoji="1" lang="en-US" altLang="ja-JP" sz="1200" u="none" dirty="0">
                    <a:solidFill>
                      <a:srgbClr val="FF0000"/>
                    </a:solidFill>
                  </a:rPr>
                  <a:t>knockoff</a:t>
                </a:r>
                <a:r>
                  <a:rPr kumimoji="1" lang="ja-JP" altLang="en-US" sz="1200" u="none">
                    <a:solidFill>
                      <a:srgbClr val="FF0000"/>
                    </a:solidFill>
                  </a:rPr>
                  <a:t>変数を作成した際に、同じ添字番号同士のオリジナル変数と</a:t>
                </a:r>
                <a:r>
                  <a:rPr kumimoji="1" lang="en-US" altLang="ja-JP" sz="1200" u="none" dirty="0">
                    <a:solidFill>
                      <a:srgbClr val="FF0000"/>
                    </a:solidFill>
                  </a:rPr>
                  <a:t>knockoff</a:t>
                </a:r>
                <a:r>
                  <a:rPr kumimoji="1" lang="ja-JP" altLang="en-US" sz="1200" u="none">
                    <a:solidFill>
                      <a:srgbClr val="FF0000"/>
                    </a:solidFill>
                  </a:rPr>
                  <a:t>変数はできるだけ無関係に設定したため、このような場合分けを発生させることができます。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none" dirty="0">
                  <a:solidFill>
                    <a:srgbClr val="FF0000"/>
                  </a:solidFill>
                </a:endParaRPr>
              </a:p>
            </p:txBody>
          </p:sp>
        </mc:Choice>
        <mc:Fallback xmlns="">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このように元の変数と</a:t>
                </a:r>
                <a:r>
                  <a:rPr kumimoji="1" lang="en-US" altLang="ja-JP" sz="1200" dirty="0">
                    <a:solidFill>
                      <a:srgbClr val="FF0000"/>
                    </a:solidFill>
                  </a:rPr>
                  <a:t>knockoff</a:t>
                </a:r>
                <a:r>
                  <a:rPr kumimoji="1" lang="ja-JP" altLang="en-US" sz="1200">
                    <a:solidFill>
                      <a:srgbClr val="FF0000"/>
                    </a:solidFill>
                  </a:rPr>
                  <a:t>変数を合わせた形で</a:t>
                </a:r>
                <a:r>
                  <a:rPr kumimoji="1" lang="en-US" altLang="ja-JP" sz="1200" dirty="0">
                    <a:solidFill>
                      <a:srgbClr val="FF0000"/>
                    </a:solidFill>
                  </a:rPr>
                  <a:t>lasso</a:t>
                </a:r>
                <a:r>
                  <a:rPr kumimoji="1" lang="ja-JP" altLang="en-US" sz="1200">
                    <a:solidFill>
                      <a:srgbClr val="FF0000"/>
                    </a:solidFill>
                  </a:rPr>
                  <a:t>回帰を行うことで、</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r>
                  <a:rPr lang="ja-JP" altLang="en-US" sz="1200"/>
                  <a:t>・オリジナル変数</a:t>
                </a:r>
                <a:r>
                  <a:rPr kumimoji="1" lang="ja-JP" altLang="en-US" sz="1200"/>
                  <a:t>が目的変数に寄与するとき、すなわち真の回帰係数の値が非ゼロであるときは</a:t>
                </a:r>
                <a:endParaRPr kumimoji="1" lang="en-US" altLang="ja-JP" sz="1200" dirty="0"/>
              </a:p>
              <a:p>
                <a:r>
                  <a:rPr lang="ja-JP" altLang="en-US" sz="1200"/>
                  <a:t>　→オリジナル</a:t>
                </a:r>
                <a:r>
                  <a:rPr lang="ja-JP" altLang="en-US" sz="1200">
                    <a:solidFill>
                      <a:srgbClr val="FF0000"/>
                    </a:solidFill>
                  </a:rPr>
                  <a:t>変数の正則化パラメータ</a:t>
                </a:r>
                <a:r>
                  <a:rPr lang="en-US" altLang="ja-JP" sz="1200" b="0" i="0">
                    <a:solidFill>
                      <a:srgbClr val="FF0000"/>
                    </a:solidFill>
                    <a:latin typeface="Cambria Math" panose="02040503050406030204" pitchFamily="18" charset="0"/>
                  </a:rPr>
                  <a:t>&gt;"Knockoff</a:t>
                </a:r>
                <a:r>
                  <a:rPr lang="ja-JP" altLang="en-US" sz="1200" i="0">
                    <a:solidFill>
                      <a:srgbClr val="FF0000"/>
                    </a:solidFill>
                    <a:latin typeface="Cambria Math" panose="02040503050406030204" pitchFamily="18" charset="0"/>
                  </a:rPr>
                  <a:t>変数の正則化パラメータ</a:t>
                </a:r>
                <a:r>
                  <a:rPr lang="ja-JP" altLang="en-US" sz="1200" i="0">
                    <a:solidFill>
                      <a:srgbClr val="FF0000"/>
                    </a:solidFill>
                  </a:rPr>
                  <a:t>"</a:t>
                </a:r>
                <a:endParaRPr kumimoji="1" lang="en-US" altLang="ja-JP" sz="1200" dirty="0"/>
              </a:p>
              <a:p>
                <a:endParaRPr kumimoji="1"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・オリジナル変数が</a:t>
                </a:r>
                <a:r>
                  <a:rPr kumimoji="1" lang="ja-JP" altLang="en-US" sz="1200"/>
                  <a:t>目的変数に寄与しないとき、すなわち真の回帰係数の値がゼロであるときは</a:t>
                </a:r>
                <a:endParaRPr kumimoji="1" lang="en-US" altLang="ja-JP" sz="1200" dirty="0"/>
              </a:p>
              <a:p>
                <a:r>
                  <a:rPr kumimoji="1" lang="ja-JP" altLang="en-US" sz="1200">
                    <a:latin typeface="+mn-ea"/>
                  </a:rPr>
                  <a:t>　</a:t>
                </a:r>
                <a:r>
                  <a:rPr lang="ja-JP" altLang="en-US" sz="1200"/>
                  <a:t>→オリジナル</a:t>
                </a:r>
                <a:r>
                  <a:rPr lang="ja-JP" altLang="en-US" sz="1200">
                    <a:solidFill>
                      <a:srgbClr val="FF0000"/>
                    </a:solidFill>
                  </a:rPr>
                  <a:t>変数の正則化パラメータ</a:t>
                </a:r>
                <a:r>
                  <a:rPr lang="en-US" altLang="ja-JP" sz="1200" b="0" i="0">
                    <a:solidFill>
                      <a:srgbClr val="FF0000"/>
                    </a:solidFill>
                    <a:latin typeface="Cambria Math" panose="02040503050406030204" pitchFamily="18" charset="0"/>
                  </a:rPr>
                  <a:t>&gt;"Knockoff</a:t>
                </a:r>
                <a:r>
                  <a:rPr lang="ja-JP" altLang="en-US" sz="1200" i="0">
                    <a:solidFill>
                      <a:srgbClr val="FF0000"/>
                    </a:solidFill>
                    <a:latin typeface="Cambria Math" panose="02040503050406030204" pitchFamily="18" charset="0"/>
                  </a:rPr>
                  <a:t>変数の正則化パラメータ</a:t>
                </a:r>
                <a:r>
                  <a:rPr lang="ja-JP" altLang="en-US" sz="1200" i="0">
                    <a:solidFill>
                      <a:srgbClr val="FF0000"/>
                    </a:solidFill>
                  </a:rPr>
                  <a:t>"</a:t>
                </a:r>
                <a:endParaRPr kumimoji="1" lang="en-US" altLang="ja-JP" sz="1200" dirty="0">
                  <a:solidFill>
                    <a:srgbClr val="FF0000"/>
                  </a:solidFill>
                </a:endParaRPr>
              </a:p>
              <a:p>
                <a:pPr algn="l"/>
                <a:r>
                  <a:rPr kumimoji="1" lang="ja-JP" altLang="en-US" sz="1200">
                    <a:solidFill>
                      <a:srgbClr val="FF0000"/>
                    </a:solidFill>
                    <a:latin typeface="+mn-ea"/>
                  </a:rPr>
                  <a:t>　　　または</a:t>
                </a:r>
                <a:endParaRPr kumimoji="1" lang="en-US" altLang="ja-JP" sz="1200" dirty="0">
                  <a:solidFill>
                    <a:srgbClr val="FF0000"/>
                  </a:solidFill>
                  <a:latin typeface="+mn-ea"/>
                </a:endParaRPr>
              </a:p>
              <a:p>
                <a:r>
                  <a:rPr lang="ja-JP" altLang="en-US" sz="1200">
                    <a:solidFill>
                      <a:srgbClr val="FF0000"/>
                    </a:solidFill>
                  </a:rPr>
                  <a:t>　　</a:t>
                </a:r>
                <a:r>
                  <a:rPr lang="ja-JP" altLang="en-US" sz="1200"/>
                  <a:t>オリジナル</a:t>
                </a:r>
                <a:r>
                  <a:rPr lang="ja-JP" altLang="en-US" sz="1200">
                    <a:solidFill>
                      <a:srgbClr val="FF0000"/>
                    </a:solidFill>
                  </a:rPr>
                  <a:t>変数の正則化パラメータ</a:t>
                </a:r>
                <a:r>
                  <a:rPr lang="en-US" altLang="ja-JP" sz="1200" i="0">
                    <a:solidFill>
                      <a:srgbClr val="FF0000"/>
                    </a:solidFill>
                    <a:latin typeface="Cambria Math" panose="02040503050406030204" pitchFamily="18" charset="0"/>
                  </a:rPr>
                  <a:t>&lt;</a:t>
                </a:r>
                <a:r>
                  <a:rPr lang="en-US" altLang="ja-JP" sz="1200" b="0" i="0">
                    <a:solidFill>
                      <a:srgbClr val="FF0000"/>
                    </a:solidFill>
                    <a:latin typeface="Cambria Math" panose="02040503050406030204" pitchFamily="18" charset="0"/>
                  </a:rPr>
                  <a:t>"Knockoff</a:t>
                </a:r>
                <a:r>
                  <a:rPr lang="ja-JP" altLang="en-US" sz="1200" i="0">
                    <a:solidFill>
                      <a:srgbClr val="FF0000"/>
                    </a:solidFill>
                    <a:latin typeface="Cambria Math" panose="02040503050406030204" pitchFamily="18" charset="0"/>
                  </a:rPr>
                  <a:t>変数の正則化パラメータ</a:t>
                </a:r>
                <a:r>
                  <a:rPr lang="ja-JP" altLang="en-US" sz="1200" i="0">
                    <a:solidFill>
                      <a:srgbClr val="FF0000"/>
                    </a:solidFill>
                  </a:rPr>
                  <a:t>"</a:t>
                </a:r>
                <a:endParaRPr kumimoji="1" lang="en-US" altLang="ja-JP" sz="1200" dirty="0">
                  <a:solidFill>
                    <a:srgbClr val="FF0000"/>
                  </a:solidFill>
                </a:endParaRPr>
              </a:p>
              <a:p>
                <a:r>
                  <a:rPr kumimoji="1" lang="ja-JP" altLang="en-US" sz="1200">
                    <a:solidFill>
                      <a:srgbClr val="FF0000"/>
                    </a:solidFill>
                    <a:latin typeface="+mn-ea"/>
                  </a:rPr>
                  <a:t>　　が等確率で起こります。</a:t>
                </a:r>
                <a:endParaRPr kumimoji="1" lang="en-US" altLang="ja-JP" sz="1200" dirty="0">
                  <a:solidFill>
                    <a:srgbClr val="FF0000"/>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solidFill>
                      <a:srgbClr val="FF0000"/>
                    </a:solidFill>
                  </a:rPr>
                  <a:t>このように、正則化パラメータの大小関係で、説明変数と目的変数の関係性を表現することができます。</a:t>
                </a: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solidFill>
                      <a:srgbClr val="FF0000"/>
                    </a:solidFill>
                  </a:rPr>
                  <a:t>これは、手順</a:t>
                </a:r>
                <a:r>
                  <a:rPr kumimoji="1" lang="en-US" altLang="ja-JP" sz="1200" u="none" dirty="0">
                    <a:solidFill>
                      <a:srgbClr val="FF0000"/>
                    </a:solidFill>
                  </a:rPr>
                  <a:t>1</a:t>
                </a:r>
                <a:r>
                  <a:rPr kumimoji="1" lang="ja-JP" altLang="en-US" sz="1200" u="none">
                    <a:solidFill>
                      <a:srgbClr val="FF0000"/>
                    </a:solidFill>
                  </a:rPr>
                  <a:t>で</a:t>
                </a:r>
                <a:r>
                  <a:rPr kumimoji="1" lang="en-US" altLang="ja-JP" sz="1200" u="none" dirty="0">
                    <a:solidFill>
                      <a:srgbClr val="FF0000"/>
                    </a:solidFill>
                  </a:rPr>
                  <a:t>knockoff</a:t>
                </a:r>
                <a:r>
                  <a:rPr kumimoji="1" lang="ja-JP" altLang="en-US" sz="1200" u="none">
                    <a:solidFill>
                      <a:srgbClr val="FF0000"/>
                    </a:solidFill>
                  </a:rPr>
                  <a:t>変数を作成した際に、同じ添字番号同士のオリジナル変数と</a:t>
                </a:r>
                <a:r>
                  <a:rPr kumimoji="1" lang="en-US" altLang="ja-JP" sz="1200" u="none" dirty="0">
                    <a:solidFill>
                      <a:srgbClr val="FF0000"/>
                    </a:solidFill>
                  </a:rPr>
                  <a:t>knockoff</a:t>
                </a:r>
                <a:r>
                  <a:rPr kumimoji="1" lang="ja-JP" altLang="en-US" sz="1200" u="none">
                    <a:solidFill>
                      <a:srgbClr val="FF0000"/>
                    </a:solidFill>
                  </a:rPr>
                  <a:t>変数はできるだけ無関係に設定したため、このような場合分けを発生させることができます。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none" dirty="0">
                  <a:solidFill>
                    <a:srgbClr val="FF0000"/>
                  </a:solidFill>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46</a:t>
            </a:fld>
            <a:endParaRPr kumimoji="1" lang="ja-JP" altLang="en-US"/>
          </a:p>
        </p:txBody>
      </p:sp>
    </p:spTree>
    <p:extLst>
      <p:ext uri="{BB962C8B-B14F-4D97-AF65-F5344CB8AC3E}">
        <p14:creationId xmlns:p14="http://schemas.microsoft.com/office/powerpoint/2010/main" val="17712148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solidFill>
                      <a:srgbClr val="FF0000"/>
                    </a:solidFill>
                  </a:rPr>
                  <a:t>そのあと、</a:t>
                </a:r>
                <a:r>
                  <a:rPr kumimoji="1" lang="ja-JP" altLang="en-US" sz="1200" u="none"/>
                  <a:t>添字番号</a:t>
                </a:r>
                <a14:m>
                  <m:oMath xmlns:m="http://schemas.openxmlformats.org/officeDocument/2006/math">
                    <m:r>
                      <a:rPr kumimoji="1" lang="en-US" altLang="ja-JP" sz="1200" b="0" i="1" u="none" smtClean="0">
                        <a:latin typeface="Cambria Math" panose="02040503050406030204" pitchFamily="18" charset="0"/>
                      </a:rPr>
                      <m:t>𝑗</m:t>
                    </m:r>
                  </m:oMath>
                </a14:m>
                <a:r>
                  <a:rPr kumimoji="1" lang="ja-JP" altLang="en-US" sz="1200" u="none">
                    <a:solidFill>
                      <a:srgbClr val="FF0000"/>
                    </a:solidFill>
                  </a:rPr>
                  <a:t>ごとに回帰係数の値が非ゼロとなる正則化パラメータの最大値を</a:t>
                </a:r>
                <a14:m>
                  <m:oMath xmlns:m="http://schemas.openxmlformats.org/officeDocument/2006/math">
                    <m:r>
                      <a:rPr kumimoji="1" lang="en-US" altLang="ja-JP" sz="1200" b="0" i="1" u="none" smtClean="0">
                        <a:solidFill>
                          <a:srgbClr val="FF0000"/>
                        </a:solidFill>
                        <a:latin typeface="Cambria Math" panose="02040503050406030204" pitchFamily="18" charset="0"/>
                      </a:rPr>
                      <m:t>𝑍</m:t>
                    </m:r>
                    <m:r>
                      <a:rPr kumimoji="1" lang="en-US" altLang="ja-JP" sz="1200" b="0" i="1" u="none" smtClean="0">
                        <a:solidFill>
                          <a:srgbClr val="FF0000"/>
                        </a:solidFill>
                        <a:latin typeface="Cambria Math" panose="02040503050406030204" pitchFamily="18" charset="0"/>
                      </a:rPr>
                      <m:t>,</m:t>
                    </m:r>
                    <m:acc>
                      <m:accPr>
                        <m:chr m:val="̃"/>
                        <m:ctrlPr>
                          <a:rPr kumimoji="1" lang="en-US" altLang="ja-JP" sz="1200" b="0" i="1" u="none" smtClean="0">
                            <a:solidFill>
                              <a:srgbClr val="FF0000"/>
                            </a:solidFill>
                            <a:latin typeface="Cambria Math" panose="02040503050406030204" pitchFamily="18" charset="0"/>
                          </a:rPr>
                        </m:ctrlPr>
                      </m:accPr>
                      <m:e>
                        <m:r>
                          <a:rPr kumimoji="1" lang="en-US" altLang="ja-JP" sz="1200" b="0" i="1" u="none" smtClean="0">
                            <a:solidFill>
                              <a:srgbClr val="FF0000"/>
                            </a:solidFill>
                            <a:latin typeface="Cambria Math" panose="02040503050406030204" pitchFamily="18" charset="0"/>
                          </a:rPr>
                          <m:t>𝑍</m:t>
                        </m:r>
                      </m:e>
                    </m:acc>
                  </m:oMath>
                </a14:m>
                <a:r>
                  <a:rPr kumimoji="1" lang="ja-JP" altLang="en-US" sz="1200" u="none">
                    <a:solidFill>
                      <a:srgbClr val="FF0000"/>
                    </a:solidFill>
                  </a:rPr>
                  <a:t>にそれぞれ格納します。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solidFill>
                      <a:srgbClr val="FF0000"/>
                    </a:solidFill>
                  </a:rPr>
                  <a:t>したがって、目的変数</a:t>
                </a:r>
                <a:r>
                  <a:rPr kumimoji="1" lang="en-US" altLang="ja-JP" sz="1200" u="none" dirty="0">
                    <a:solidFill>
                      <a:srgbClr val="FF0000"/>
                    </a:solidFill>
                  </a:rPr>
                  <a:t>y</a:t>
                </a:r>
                <a:r>
                  <a:rPr kumimoji="1" lang="ja-JP" altLang="en-US" sz="1200" u="none">
                    <a:solidFill>
                      <a:srgbClr val="FF0000"/>
                    </a:solidFill>
                  </a:rPr>
                  <a:t>への寄与が大きい特徴量ほど、</a:t>
                </a:r>
                <a:r>
                  <a:rPr kumimoji="1" lang="en-US" altLang="ja-JP" sz="1200" u="none" dirty="0">
                    <a:solidFill>
                      <a:srgbClr val="FF0000"/>
                    </a:solidFill>
                  </a:rPr>
                  <a:t>Z,</a:t>
                </a:r>
                <a:r>
                  <a:rPr kumimoji="1" lang="en-US" altLang="ja-JP" sz="1200" b="0" u="none" dirty="0">
                    <a:solidFill>
                      <a:srgbClr val="FF0000"/>
                    </a:solidFill>
                  </a:rPr>
                  <a:t> </a:t>
                </a:r>
                <a14:m>
                  <m:oMath xmlns:m="http://schemas.openxmlformats.org/officeDocument/2006/math">
                    <m:acc>
                      <m:accPr>
                        <m:chr m:val="̃"/>
                        <m:ctrlPr>
                          <a:rPr kumimoji="1" lang="en-US" altLang="ja-JP" sz="1200" b="0" i="1" u="none" smtClean="0">
                            <a:solidFill>
                              <a:srgbClr val="FF0000"/>
                            </a:solidFill>
                            <a:latin typeface="Cambria Math" panose="02040503050406030204" pitchFamily="18" charset="0"/>
                          </a:rPr>
                        </m:ctrlPr>
                      </m:accPr>
                      <m:e>
                        <m:r>
                          <a:rPr kumimoji="1" lang="en-US" altLang="ja-JP" sz="1200" b="0" i="1" u="none" smtClean="0">
                            <a:solidFill>
                              <a:srgbClr val="FF0000"/>
                            </a:solidFill>
                            <a:latin typeface="Cambria Math" panose="02040503050406030204" pitchFamily="18" charset="0"/>
                          </a:rPr>
                          <m:t>𝑍</m:t>
                        </m:r>
                      </m:e>
                    </m:acc>
                  </m:oMath>
                </a14:m>
                <a:r>
                  <a:rPr kumimoji="1" lang="ja-JP" altLang="en-US" sz="1200" u="none">
                    <a:solidFill>
                      <a:srgbClr val="FF0000"/>
                    </a:solidFill>
                  </a:rPr>
                  <a:t>の値は大きくなります。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t>次に、</a:t>
                </a:r>
                <a14:m>
                  <m:oMath xmlns:m="http://schemas.openxmlformats.org/officeDocument/2006/math">
                    <m:r>
                      <a:rPr kumimoji="1" lang="en-US" altLang="ja-JP" sz="1200" b="0" i="1" u="none" smtClean="0">
                        <a:solidFill>
                          <a:srgbClr val="FF0000"/>
                        </a:solidFill>
                        <a:latin typeface="Cambria Math" panose="02040503050406030204" pitchFamily="18" charset="0"/>
                      </a:rPr>
                      <m:t>𝑍</m:t>
                    </m:r>
                    <m:r>
                      <a:rPr kumimoji="1" lang="en-US" altLang="ja-JP" sz="1200" b="0" i="1" u="none" smtClean="0">
                        <a:solidFill>
                          <a:srgbClr val="FF0000"/>
                        </a:solidFill>
                        <a:latin typeface="Cambria Math" panose="02040503050406030204" pitchFamily="18" charset="0"/>
                      </a:rPr>
                      <m:t>,</m:t>
                    </m:r>
                    <m:acc>
                      <m:accPr>
                        <m:chr m:val="̃"/>
                        <m:ctrlPr>
                          <a:rPr kumimoji="1" lang="en-US" altLang="ja-JP" sz="1200" b="0" i="1" u="none" smtClean="0">
                            <a:solidFill>
                              <a:srgbClr val="FF0000"/>
                            </a:solidFill>
                            <a:latin typeface="Cambria Math" panose="02040503050406030204" pitchFamily="18" charset="0"/>
                          </a:rPr>
                        </m:ctrlPr>
                      </m:accPr>
                      <m:e>
                        <m:r>
                          <a:rPr kumimoji="1" lang="en-US" altLang="ja-JP" sz="1200" b="0" i="1" u="none" smtClean="0">
                            <a:solidFill>
                              <a:srgbClr val="FF0000"/>
                            </a:solidFill>
                            <a:latin typeface="Cambria Math" panose="02040503050406030204" pitchFamily="18" charset="0"/>
                          </a:rPr>
                          <m:t>𝑍</m:t>
                        </m:r>
                      </m:e>
                    </m:acc>
                  </m:oMath>
                </a14:m>
                <a:r>
                  <a:rPr kumimoji="1" lang="ja-JP" altLang="en-US" sz="1200" u="none"/>
                  <a:t>を比較し、オリジナル変数の正則化パラメータ</a:t>
                </a:r>
                <a14:m>
                  <m:oMath xmlns:m="http://schemas.openxmlformats.org/officeDocument/2006/math">
                    <m:r>
                      <a:rPr kumimoji="1" lang="en-US" altLang="ja-JP" sz="1200" b="0" i="1" u="none" smtClean="0">
                        <a:solidFill>
                          <a:srgbClr val="FF0000"/>
                        </a:solidFill>
                        <a:latin typeface="Cambria Math" panose="02040503050406030204" pitchFamily="18" charset="0"/>
                      </a:rPr>
                      <m:t>𝑍</m:t>
                    </m:r>
                  </m:oMath>
                </a14:m>
                <a:r>
                  <a:rPr kumimoji="1" lang="ja-JP" altLang="en-US" sz="1200" u="none"/>
                  <a:t>の値が大きい場合は</a:t>
                </a:r>
                <a14:m>
                  <m:oMath xmlns:m="http://schemas.openxmlformats.org/officeDocument/2006/math">
                    <m:r>
                      <a:rPr kumimoji="1" lang="en-US" altLang="ja-JP" sz="1200" b="0" i="1" u="none" smtClean="0">
                        <a:latin typeface="Cambria Math" panose="02040503050406030204" pitchFamily="18" charset="0"/>
                        <a:cs typeface="ヒラギノ角ゴ Pro W3"/>
                      </a:rPr>
                      <m:t>𝑊</m:t>
                    </m:r>
                    <m:r>
                      <a:rPr kumimoji="1" lang="ja-JP" altLang="en-US" sz="1200" b="0" i="1" u="none" smtClean="0">
                        <a:latin typeface="Cambria Math" panose="02040503050406030204" pitchFamily="18" charset="0"/>
                        <a:cs typeface="ヒラギノ角ゴ Pro W3"/>
                      </a:rPr>
                      <m:t>を</m:t>
                    </m:r>
                  </m:oMath>
                </a14:m>
                <a:r>
                  <a:rPr kumimoji="1" lang="en-US" altLang="ja-JP" sz="1200" u="none" dirty="0">
                    <a:solidFill>
                      <a:srgbClr val="FF0000"/>
                    </a:solidFill>
                  </a:rPr>
                  <a:t>Z</a:t>
                </a:r>
                <a:r>
                  <a:rPr kumimoji="1" lang="ja-JP" altLang="en-US" sz="1200" u="none">
                    <a:solidFill>
                      <a:srgbClr val="FF0000"/>
                    </a:solidFill>
                  </a:rPr>
                  <a:t>に、</a:t>
                </a:r>
                <a:r>
                  <a:rPr kumimoji="1" lang="en-US" altLang="ja-JP" sz="1200" u="none" dirty="0">
                    <a:solidFill>
                      <a:schemeClr val="tx1"/>
                    </a:solidFill>
                  </a:rPr>
                  <a:t>knockoff</a:t>
                </a:r>
                <a:r>
                  <a:rPr kumimoji="1" lang="ja-JP" altLang="en-US" sz="1200" u="none"/>
                  <a:t>変数の正則化パラメータ</a:t>
                </a:r>
                <a14:m>
                  <m:oMath xmlns:m="http://schemas.openxmlformats.org/officeDocument/2006/math">
                    <m:acc>
                      <m:accPr>
                        <m:chr m:val="̃"/>
                        <m:ctrlPr>
                          <a:rPr kumimoji="1" lang="en-US" altLang="ja-JP" sz="1200" b="0" i="1" u="none" smtClean="0">
                            <a:solidFill>
                              <a:srgbClr val="FF0000"/>
                            </a:solidFill>
                            <a:latin typeface="Cambria Math" panose="02040503050406030204" pitchFamily="18" charset="0"/>
                          </a:rPr>
                        </m:ctrlPr>
                      </m:accPr>
                      <m:e>
                        <m:r>
                          <a:rPr kumimoji="1" lang="en-US" altLang="ja-JP" sz="1200" b="0" i="1" u="none" smtClean="0">
                            <a:solidFill>
                              <a:srgbClr val="FF0000"/>
                            </a:solidFill>
                            <a:latin typeface="Cambria Math" panose="02040503050406030204" pitchFamily="18" charset="0"/>
                          </a:rPr>
                          <m:t>𝑍</m:t>
                        </m:r>
                      </m:e>
                    </m:acc>
                  </m:oMath>
                </a14:m>
                <a:r>
                  <a:rPr kumimoji="1" lang="ja-JP" altLang="en-US" sz="1200" u="none"/>
                  <a:t>の値が大きい場合は</a:t>
                </a:r>
                <a14:m>
                  <m:oMath xmlns:m="http://schemas.openxmlformats.org/officeDocument/2006/math">
                    <m:r>
                      <a:rPr kumimoji="1" lang="en-US" altLang="ja-JP" sz="1200" b="0" i="1" u="none" smtClean="0">
                        <a:latin typeface="Cambria Math" panose="02040503050406030204" pitchFamily="18" charset="0"/>
                        <a:cs typeface="ヒラギノ角ゴ Pro W3"/>
                      </a:rPr>
                      <m:t>𝑊</m:t>
                    </m:r>
                    <m:r>
                      <a:rPr kumimoji="1" lang="ja-JP" altLang="en-US" sz="1200" b="0" i="1" u="none" smtClean="0">
                        <a:latin typeface="Cambria Math" panose="02040503050406030204" pitchFamily="18" charset="0"/>
                        <a:cs typeface="ヒラギノ角ゴ Pro W3"/>
                      </a:rPr>
                      <m:t>を</m:t>
                    </m:r>
                    <m:r>
                      <a:rPr kumimoji="1" lang="en-US" altLang="ja-JP" sz="1200" b="0" i="0" u="none" smtClean="0">
                        <a:latin typeface="Cambria Math" panose="02040503050406030204" pitchFamily="18" charset="0"/>
                        <a:cs typeface="ヒラギノ角ゴ Pro W3"/>
                      </a:rPr>
                      <m:t>−</m:t>
                    </m:r>
                    <m:acc>
                      <m:accPr>
                        <m:chr m:val="̃"/>
                        <m:ctrlPr>
                          <a:rPr lang="en-US" altLang="ja-JP" sz="1200" i="1" u="none" smtClean="0">
                            <a:latin typeface="Cambria Math" panose="02040503050406030204" pitchFamily="18" charset="0"/>
                          </a:rPr>
                        </m:ctrlPr>
                      </m:accPr>
                      <m:e>
                        <m:r>
                          <a:rPr lang="en-US" altLang="ja-JP" sz="1200" i="1" u="none">
                            <a:latin typeface="Cambria Math" panose="02040503050406030204" pitchFamily="18" charset="0"/>
                          </a:rPr>
                          <m:t>𝑍</m:t>
                        </m:r>
                      </m:e>
                    </m:acc>
                  </m:oMath>
                </a14:m>
                <a:r>
                  <a:rPr kumimoji="1" lang="ja-JP" altLang="en-US" sz="1200" u="none">
                    <a:solidFill>
                      <a:srgbClr val="FF0000"/>
                    </a:solidFill>
                  </a:rPr>
                  <a:t>とします。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u="none">
                    <a:solidFill>
                      <a:srgbClr val="FF0000"/>
                    </a:solidFill>
                  </a:rPr>
                  <a:t>すなわち、目的変数</a:t>
                </a:r>
                <a:r>
                  <a:rPr kumimoji="1" lang="en-US" altLang="ja-JP" sz="1200" u="none" dirty="0">
                    <a:solidFill>
                      <a:srgbClr val="FF0000"/>
                    </a:solidFill>
                  </a:rPr>
                  <a:t>y</a:t>
                </a:r>
                <a:r>
                  <a:rPr kumimoji="1" lang="ja-JP" altLang="en-US" sz="1200" u="none">
                    <a:solidFill>
                      <a:srgbClr val="FF0000"/>
                    </a:solidFill>
                  </a:rPr>
                  <a:t>への寄与がより大きい回帰係数の正則化パラメータ値を</a:t>
                </a:r>
                <a:r>
                  <a:rPr kumimoji="1" lang="en-US" altLang="ja-JP" sz="1200" u="none" dirty="0">
                    <a:solidFill>
                      <a:srgbClr val="FF0000"/>
                    </a:solidFill>
                  </a:rPr>
                  <a:t>W</a:t>
                </a:r>
                <a:r>
                  <a:rPr kumimoji="1" lang="ja-JP" altLang="en-US" sz="1200" u="none">
                    <a:solidFill>
                      <a:srgbClr val="FF0000"/>
                    </a:solidFill>
                  </a:rPr>
                  <a:t>に格納し、それがオリジナル変数であるか</a:t>
                </a:r>
                <a:r>
                  <a:rPr kumimoji="1" lang="en-US" altLang="ja-JP" sz="1200" u="none" dirty="0">
                    <a:solidFill>
                      <a:srgbClr val="FF0000"/>
                    </a:solidFill>
                  </a:rPr>
                  <a:t>knockoff</a:t>
                </a:r>
                <a:r>
                  <a:rPr kumimoji="1" lang="ja-JP" altLang="en-US" sz="1200" u="none">
                    <a:solidFill>
                      <a:srgbClr val="FF0000"/>
                    </a:solidFill>
                  </a:rPr>
                  <a:t>変数であるかを符号で区別します。</a:t>
                </a:r>
                <a:endParaRPr kumimoji="1" lang="en-US" altLang="ja-JP" sz="1200" u="none"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u="none" dirty="0">
                  <a:solidFill>
                    <a:srgbClr val="FF0000"/>
                  </a:solidFill>
                </a:endParaRPr>
              </a:p>
            </p:txBody>
          </p:sp>
        </mc:Choice>
        <mc:Fallback xmlns="">
          <p:sp>
            <p:nvSpPr>
              <p:cNvPr id="3" name="ノート プレースホルダー 2"/>
              <p:cNvSpPr>
                <a:spLocks noGrp="1"/>
              </p:cNvSpPr>
              <p:nvPr>
                <p:ph type="body" idx="1"/>
              </p:nvPr>
            </p:nvSpPr>
            <p:spPr/>
            <p:txBody>
              <a:bodyPr/>
              <a:lstStyle/>
              <a:p>
                <a:r>
                  <a:rPr kumimoji="1" lang="ja-JP" altLang="en-US"/>
                  <a:t>次に、統計量</a:t>
                </a:r>
                <a:r>
                  <a:rPr kumimoji="1" lang="en-US" altLang="ja-JP" b="0" i="0">
                    <a:latin typeface="Cambria Math" panose="02040503050406030204" pitchFamily="18" charset="0"/>
                  </a:rPr>
                  <a:t>𝑊</a:t>
                </a:r>
                <a:r>
                  <a:rPr kumimoji="1" lang="ja-JP" altLang="en-US"/>
                  <a:t>の導出です。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まず、元の変数と</a:t>
                </a:r>
                <a:r>
                  <a:rPr kumimoji="1" lang="en-US" altLang="ja-JP" dirty="0"/>
                  <a:t>knockoff</a:t>
                </a:r>
                <a:r>
                  <a:rPr kumimoji="1" lang="ja-JP" altLang="en-US"/>
                  <a:t>変数を結合した</a:t>
                </a:r>
                <a:r>
                  <a:rPr kumimoji="1" lang="en-US" altLang="ja-JP" sz="1200" b="0" i="0">
                    <a:solidFill>
                      <a:srgbClr val="FF0000"/>
                    </a:solidFill>
                    <a:latin typeface="Cambria Math" panose="02040503050406030204" pitchFamily="18" charset="0"/>
                  </a:rPr>
                  <a:t>𝑛</a:t>
                </a:r>
                <a:r>
                  <a:rPr kumimoji="1" lang="en-US" altLang="ja-JP" sz="1200" b="0" i="0">
                    <a:solidFill>
                      <a:srgbClr val="FF0000"/>
                    </a:solidFill>
                    <a:latin typeface="Cambria Math" panose="02040503050406030204" pitchFamily="18" charset="0"/>
                    <a:ea typeface="Cambria Math" panose="02040503050406030204" pitchFamily="18" charset="0"/>
                  </a:rPr>
                  <a:t>×2𝑝</a:t>
                </a:r>
                <a:r>
                  <a:rPr kumimoji="1" lang="ja-JP" altLang="en-US" sz="1200">
                    <a:solidFill>
                      <a:srgbClr val="FF0000"/>
                    </a:solidFill>
                  </a:rPr>
                  <a:t>行列を用いて</a:t>
                </a:r>
                <a:r>
                  <a:rPr kumimoji="1" lang="en-US" altLang="ja-JP" sz="1200" dirty="0">
                    <a:solidFill>
                      <a:srgbClr val="FF0000"/>
                    </a:solidFill>
                  </a:rPr>
                  <a:t>lasso</a:t>
                </a:r>
                <a:r>
                  <a:rPr kumimoji="1" lang="ja-JP" altLang="en-US" sz="1200">
                    <a:solidFill>
                      <a:srgbClr val="FF0000"/>
                    </a:solidFill>
                  </a:rPr>
                  <a:t>回帰を実行します。</a:t>
                </a:r>
                <a:endParaRPr kumimoji="1" lang="en-US" altLang="ja-JP" sz="1200" dirty="0">
                  <a:solidFill>
                    <a:srgbClr val="FF0000"/>
                  </a:solidFill>
                </a:endParaRPr>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47</a:t>
            </a:fld>
            <a:endParaRPr kumimoji="1" lang="ja-JP" altLang="en-US"/>
          </a:p>
        </p:txBody>
      </p:sp>
    </p:spTree>
    <p:extLst>
      <p:ext uri="{BB962C8B-B14F-4D97-AF65-F5344CB8AC3E}">
        <p14:creationId xmlns:p14="http://schemas.microsoft.com/office/powerpoint/2010/main" val="23662599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手順</a:t>
                </a:r>
                <a:r>
                  <a:rPr kumimoji="1" lang="en-US" altLang="ja-JP" dirty="0"/>
                  <a:t>3</a:t>
                </a:r>
                <a:r>
                  <a:rPr kumimoji="1" lang="ja-JP" altLang="en-US"/>
                  <a:t>のしきい値</a:t>
                </a:r>
                <a:r>
                  <a:rPr kumimoji="1" lang="en-US" altLang="ja-JP" dirty="0"/>
                  <a:t>T</a:t>
                </a:r>
                <a:r>
                  <a:rPr kumimoji="1" lang="ja-JP" altLang="en-US"/>
                  <a:t>の導出では、先ほど算出した</a:t>
                </a:r>
                <a:r>
                  <a:rPr kumimoji="1" lang="en-US" altLang="ja-JP" dirty="0"/>
                  <a:t>W</a:t>
                </a:r>
                <a:r>
                  <a:rPr kumimoji="1" lang="ja-JP" altLang="en-US"/>
                  <a:t>を用いた式で、</a:t>
                </a:r>
                <a:r>
                  <a:rPr kumimoji="1" lang="en-US" altLang="ja-JP" dirty="0"/>
                  <a:t>FDR</a:t>
                </a:r>
                <a:r>
                  <a:rPr kumimoji="1" lang="ja-JP" altLang="en-US"/>
                  <a:t>制御を行っています。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en-US" altLang="ja-JP" dirty="0"/>
              </a:p>
              <a:p>
                <a:r>
                  <a:rPr kumimoji="1" lang="ja-JP" altLang="en-US"/>
                  <a:t>こちらの式は、交換可能性が成立した場合に限り、</a:t>
                </a:r>
                <a:r>
                  <a:rPr kumimoji="1" lang="en-US" altLang="ja-JP" dirty="0"/>
                  <a:t>FDP</a:t>
                </a:r>
                <a:r>
                  <a:rPr kumimoji="1" lang="ja-JP" altLang="en-US"/>
                  <a:t>と同等と見なすことができます。</a:t>
                </a:r>
                <a:endParaRPr kumimoji="1" lang="en-US" altLang="ja-JP" dirty="0"/>
              </a:p>
              <a:p>
                <a:endParaRPr kumimoji="1" lang="en-US" altLang="ja-JP" dirty="0"/>
              </a:p>
              <a:p>
                <a:r>
                  <a:rPr kumimoji="1" lang="ja-JP" altLang="en-US"/>
                  <a:t>交換可能性は</a:t>
                </a:r>
                <a:r>
                  <a:rPr kumimoji="1" lang="en-US" altLang="ja-JP" dirty="0"/>
                  <a:t>FDP</a:t>
                </a:r>
                <a:r>
                  <a:rPr kumimoji="1" lang="ja-JP" altLang="en-US"/>
                  <a:t>の分子の</a:t>
                </a:r>
                <a:r>
                  <a:rPr kumimoji="1" lang="en-US" altLang="ja-JP" dirty="0"/>
                  <a:t>V</a:t>
                </a:r>
                <a:r>
                  <a:rPr kumimoji="1" lang="ja-JP" altLang="en-US"/>
                  <a:t>を変形させるために必要で、真の回帰係数の値が</a:t>
                </a:r>
                <a:r>
                  <a:rPr kumimoji="1" lang="en-US" altLang="ja-JP" dirty="0"/>
                  <a:t>0</a:t>
                </a:r>
                <a:r>
                  <a:rPr kumimoji="1" lang="ja-JP" altLang="en-US"/>
                  <a:t>のとき、統計量</a:t>
                </a:r>
                <a14:m>
                  <m:oMath xmlns:m="http://schemas.openxmlformats.org/officeDocument/2006/math">
                    <m:r>
                      <a:rPr kumimoji="1" lang="en-US" altLang="ja-JP" b="0" i="1" smtClean="0">
                        <a:latin typeface="Cambria Math" panose="02040503050406030204" pitchFamily="18" charset="0"/>
                      </a:rPr>
                      <m:t>𝑊</m:t>
                    </m:r>
                  </m:oMath>
                </a14:m>
                <a:r>
                  <a:rPr kumimoji="1" lang="ja-JP" altLang="en-US" dirty="0"/>
                  <a:t>の</a:t>
                </a:r>
                <a:r>
                  <a:rPr kumimoji="1" lang="ja-JP" altLang="en-US"/>
                  <a:t>値が</a:t>
                </a:r>
                <a14:m>
                  <m:oMath xmlns:m="http://schemas.openxmlformats.org/officeDocument/2006/math">
                    <m:r>
                      <a:rPr kumimoji="1" lang="en-US" altLang="ja-JP" b="0" i="1" smtClean="0">
                        <a:latin typeface="Cambria Math" panose="02040503050406030204" pitchFamily="18" charset="0"/>
                      </a:rPr>
                      <m:t>𝑡</m:t>
                    </m:r>
                  </m:oMath>
                </a14:m>
                <a:r>
                  <a:rPr kumimoji="1" lang="ja-JP" altLang="en-US" dirty="0"/>
                  <a:t>以上</a:t>
                </a:r>
                <a:r>
                  <a:rPr kumimoji="1" lang="ja-JP" altLang="en-US"/>
                  <a:t>である分布と</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m:t>
                    </m:r>
                  </m:oMath>
                </a14:m>
                <a:r>
                  <a:rPr kumimoji="1" lang="ja-JP" altLang="en-US" dirty="0"/>
                  <a:t>以下</a:t>
                </a:r>
                <a:r>
                  <a:rPr kumimoji="1" lang="ja-JP" altLang="en-US"/>
                  <a:t>である分布が等しいことを利用すると、</a:t>
                </a:r>
                <a:r>
                  <a:rPr kumimoji="1" lang="en-US" altLang="ja-JP" dirty="0"/>
                  <a:t>FDP</a:t>
                </a:r>
                <a:r>
                  <a:rPr kumimoji="1" lang="ja-JP" altLang="en-US"/>
                  <a:t>を計算することができます。</a:t>
                </a:r>
                <a:endParaRPr kumimoji="1" lang="en-US" altLang="ja-JP" dirty="0"/>
              </a:p>
              <a:p>
                <a:endParaRPr kumimoji="1" lang="en-US" altLang="ja-JP" dirty="0"/>
              </a:p>
              <a:p>
                <a:r>
                  <a:rPr kumimoji="1" lang="ja-JP" altLang="en-US" u="none"/>
                  <a:t>先ほど説明した、手順</a:t>
                </a:r>
                <a:r>
                  <a:rPr kumimoji="1" lang="en-US" altLang="ja-JP" u="none" dirty="0"/>
                  <a:t>1</a:t>
                </a:r>
                <a:r>
                  <a:rPr kumimoji="1" lang="ja-JP" altLang="en-US" u="none"/>
                  <a:t>の</a:t>
                </a:r>
                <a:r>
                  <a:rPr kumimoji="1" lang="en-US" altLang="ja-JP" u="none" dirty="0"/>
                  <a:t>knockoff</a:t>
                </a:r>
                <a:r>
                  <a:rPr kumimoji="1" lang="ja-JP" altLang="en-US" u="none"/>
                  <a:t>変数</a:t>
                </a:r>
                <a14:m>
                  <m:oMath xmlns:m="http://schemas.openxmlformats.org/officeDocument/2006/math">
                    <m:acc>
                      <m:accPr>
                        <m:chr m:val="̃"/>
                        <m:ctrlPr>
                          <a:rPr lang="ja-JP" altLang="en-US" sz="1200" b="1" i="1" smtClean="0">
                            <a:latin typeface="Cambria Math" panose="02040503050406030204" pitchFamily="18" charset="0"/>
                          </a:rPr>
                        </m:ctrlPr>
                      </m:accPr>
                      <m:e>
                        <m:r>
                          <a:rPr lang="en-US" altLang="ja-JP" sz="1200" b="1" i="1">
                            <a:latin typeface="Cambria Math" panose="02040503050406030204" pitchFamily="18" charset="0"/>
                          </a:rPr>
                          <m:t>𝑿</m:t>
                        </m:r>
                      </m:e>
                    </m:acc>
                  </m:oMath>
                </a14:m>
                <a:r>
                  <a:rPr kumimoji="1" lang="ja-JP" altLang="en-US" u="none"/>
                  <a:t>と、手順</a:t>
                </a:r>
                <a:r>
                  <a:rPr kumimoji="1" lang="en-US" altLang="ja-JP" u="none" dirty="0"/>
                  <a:t>2</a:t>
                </a:r>
                <a:r>
                  <a:rPr kumimoji="1" lang="ja-JP" altLang="en-US" u="none"/>
                  <a:t>の統計量</a:t>
                </a:r>
                <a:r>
                  <a:rPr kumimoji="1" lang="en-US" altLang="ja-JP" u="none" dirty="0"/>
                  <a:t>W</a:t>
                </a:r>
                <a:r>
                  <a:rPr kumimoji="1" lang="ja-JP" altLang="en-US" u="none"/>
                  <a:t>は、この交換可能性が成り立つように条件付けされています。</a:t>
                </a:r>
                <a:endParaRPr kumimoji="1" lang="en-US" altLang="ja-JP" u="none" dirty="0"/>
              </a:p>
            </p:txBody>
          </p:sp>
        </mc:Choice>
        <mc:Fallback xmlns="">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手順</a:t>
                </a:r>
                <a:r>
                  <a:rPr kumimoji="1" lang="en-US" altLang="ja-JP" dirty="0"/>
                  <a:t>3</a:t>
                </a:r>
                <a:r>
                  <a:rPr kumimoji="1" lang="ja-JP" altLang="en-US"/>
                  <a:t>のしきい値</a:t>
                </a:r>
                <a:r>
                  <a:rPr kumimoji="1" lang="en-US" altLang="ja-JP" dirty="0"/>
                  <a:t>T</a:t>
                </a:r>
                <a:r>
                  <a:rPr kumimoji="1" lang="ja-JP" altLang="en-US"/>
                  <a:t>の導出では、先ほど算出した</a:t>
                </a:r>
                <a:r>
                  <a:rPr kumimoji="1" lang="en-US" altLang="ja-JP" dirty="0"/>
                  <a:t>W</a:t>
                </a:r>
                <a:r>
                  <a:rPr kumimoji="1" lang="ja-JP" altLang="en-US"/>
                  <a:t>を用いた式で、</a:t>
                </a:r>
                <a:r>
                  <a:rPr kumimoji="1" lang="en-US" altLang="ja-JP" dirty="0"/>
                  <a:t>FDR</a:t>
                </a:r>
                <a:r>
                  <a:rPr kumimoji="1" lang="ja-JP" altLang="en-US"/>
                  <a:t>制御を行っています。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en-US" altLang="ja-JP" dirty="0"/>
              </a:p>
              <a:p>
                <a:r>
                  <a:rPr kumimoji="1" lang="ja-JP" altLang="en-US"/>
                  <a:t>こちらの式は、交換可能性が成立した場合に限り、</a:t>
                </a:r>
                <a:r>
                  <a:rPr kumimoji="1" lang="en-US" altLang="ja-JP" dirty="0"/>
                  <a:t>FDP</a:t>
                </a:r>
                <a:r>
                  <a:rPr kumimoji="1" lang="ja-JP" altLang="en-US"/>
                  <a:t>と同等と見なすことができます。</a:t>
                </a:r>
                <a:endParaRPr kumimoji="1" lang="en-US" altLang="ja-JP" dirty="0"/>
              </a:p>
              <a:p>
                <a:endParaRPr kumimoji="1" lang="en-US" altLang="ja-JP" dirty="0"/>
              </a:p>
              <a:p>
                <a:r>
                  <a:rPr kumimoji="1" lang="ja-JP" altLang="en-US"/>
                  <a:t>交換可能性は</a:t>
                </a:r>
                <a:r>
                  <a:rPr kumimoji="1" lang="en-US" altLang="ja-JP" dirty="0"/>
                  <a:t>FDP</a:t>
                </a:r>
                <a:r>
                  <a:rPr kumimoji="1" lang="ja-JP" altLang="en-US"/>
                  <a:t>の分子の</a:t>
                </a:r>
                <a:r>
                  <a:rPr kumimoji="1" lang="en-US" altLang="ja-JP" dirty="0"/>
                  <a:t>V</a:t>
                </a:r>
                <a:r>
                  <a:rPr kumimoji="1" lang="ja-JP" altLang="en-US"/>
                  <a:t>を変形させるために必要で、真の回帰係数の値が</a:t>
                </a:r>
                <a:r>
                  <a:rPr kumimoji="1" lang="en-US" altLang="ja-JP" dirty="0"/>
                  <a:t>0</a:t>
                </a:r>
                <a:r>
                  <a:rPr kumimoji="1" lang="ja-JP" altLang="en-US"/>
                  <a:t>のとき、統計量</a:t>
                </a:r>
                <a:r>
                  <a:rPr kumimoji="1" lang="en-US" altLang="ja-JP" b="0" i="0">
                    <a:latin typeface="Cambria Math" panose="02040503050406030204" pitchFamily="18" charset="0"/>
                  </a:rPr>
                  <a:t>𝑊</a:t>
                </a:r>
                <a:r>
                  <a:rPr kumimoji="1" lang="ja-JP" altLang="en-US" dirty="0"/>
                  <a:t>の</a:t>
                </a:r>
                <a:r>
                  <a:rPr kumimoji="1" lang="ja-JP" altLang="en-US"/>
                  <a:t>値が</a:t>
                </a:r>
                <a:r>
                  <a:rPr kumimoji="1" lang="en-US" altLang="ja-JP" b="0" i="0">
                    <a:latin typeface="Cambria Math" panose="02040503050406030204" pitchFamily="18" charset="0"/>
                  </a:rPr>
                  <a:t>𝑡</a:t>
                </a:r>
                <a:r>
                  <a:rPr kumimoji="1" lang="ja-JP" altLang="en-US" dirty="0"/>
                  <a:t>以上</a:t>
                </a:r>
                <a:r>
                  <a:rPr kumimoji="1" lang="ja-JP" altLang="en-US"/>
                  <a:t>である分布と</a:t>
                </a:r>
                <a:r>
                  <a:rPr kumimoji="1" lang="en-US" altLang="ja-JP" b="0" i="0">
                    <a:latin typeface="Cambria Math" panose="02040503050406030204" pitchFamily="18" charset="0"/>
                  </a:rPr>
                  <a:t>−𝑡</a:t>
                </a:r>
                <a:r>
                  <a:rPr kumimoji="1" lang="ja-JP" altLang="en-US" dirty="0"/>
                  <a:t>以下</a:t>
                </a:r>
                <a:r>
                  <a:rPr kumimoji="1" lang="ja-JP" altLang="en-US"/>
                  <a:t>である分布が等しいことを利用すると、</a:t>
                </a:r>
                <a:r>
                  <a:rPr kumimoji="1" lang="en-US" altLang="ja-JP" dirty="0"/>
                  <a:t>FDP</a:t>
                </a:r>
                <a:r>
                  <a:rPr kumimoji="1" lang="ja-JP" altLang="en-US"/>
                  <a:t>を計算することができます。</a:t>
                </a:r>
                <a:endParaRPr kumimoji="1" lang="en-US" altLang="ja-JP" dirty="0"/>
              </a:p>
              <a:p>
                <a:r>
                  <a:rPr kumimoji="1" lang="ja-JP" altLang="en-US"/>
                  <a:t>先ほど説明した、手順</a:t>
                </a:r>
                <a:r>
                  <a:rPr kumimoji="1" lang="en-US" altLang="ja-JP" dirty="0"/>
                  <a:t>1</a:t>
                </a:r>
                <a:r>
                  <a:rPr kumimoji="1" lang="ja-JP" altLang="en-US"/>
                  <a:t>の</a:t>
                </a:r>
                <a:r>
                  <a:rPr kumimoji="1" lang="en-US" altLang="ja-JP" dirty="0"/>
                  <a:t>knockoff</a:t>
                </a:r>
                <a:r>
                  <a:rPr kumimoji="1" lang="ja-JP" altLang="en-US"/>
                  <a:t>変数と、手順</a:t>
                </a:r>
                <a:r>
                  <a:rPr kumimoji="1" lang="en-US" altLang="ja-JP" dirty="0"/>
                  <a:t>2</a:t>
                </a:r>
                <a:r>
                  <a:rPr kumimoji="1" lang="ja-JP" altLang="en-US"/>
                  <a:t>の統計量</a:t>
                </a:r>
                <a:r>
                  <a:rPr kumimoji="1" lang="en-US" altLang="ja-JP" dirty="0"/>
                  <a:t>W</a:t>
                </a:r>
                <a:r>
                  <a:rPr kumimoji="1" lang="ja-JP" altLang="en-US"/>
                  <a:t>は、この交換可能性が成り立つように条件付けされています。</a:t>
                </a:r>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48</a:t>
            </a:fld>
            <a:endParaRPr kumimoji="1" lang="ja-JP" altLang="en-US"/>
          </a:p>
        </p:txBody>
      </p:sp>
    </p:spTree>
    <p:extLst>
      <p:ext uri="{BB962C8B-B14F-4D97-AF65-F5344CB8AC3E}">
        <p14:creationId xmlns:p14="http://schemas.microsoft.com/office/powerpoint/2010/main" val="22875131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a:t>最後に、手順</a:t>
                </a:r>
                <a:r>
                  <a:rPr kumimoji="1" lang="en-US" altLang="ja-JP" dirty="0"/>
                  <a:t>4</a:t>
                </a:r>
                <a:r>
                  <a:rPr kumimoji="1" lang="ja-JP" altLang="en-US"/>
                  <a:t>として、</a:t>
                </a:r>
                <a14:m>
                  <m:oMath xmlns:m="http://schemas.openxmlformats.org/officeDocument/2006/math">
                    <m:sSub>
                      <m:sSubPr>
                        <m:ctrlPr>
                          <a:rPr lang="en-US" altLang="ja-JP" sz="1200" i="1" smtClean="0">
                            <a:latin typeface="Cambria Math" panose="02040503050406030204" pitchFamily="18" charset="0"/>
                          </a:rPr>
                        </m:ctrlPr>
                      </m:sSubPr>
                      <m:e>
                        <m:r>
                          <a:rPr lang="en-US" altLang="ja-JP" sz="1200" b="0" i="1">
                            <a:latin typeface="Cambria Math" panose="02040503050406030204" pitchFamily="18" charset="0"/>
                          </a:rPr>
                          <m:t>𝑊</m:t>
                        </m:r>
                      </m:e>
                      <m:sub>
                        <m:r>
                          <a:rPr lang="en-US" altLang="ja-JP" sz="1200" b="0" i="1">
                            <a:latin typeface="Cambria Math" panose="02040503050406030204" pitchFamily="18" charset="0"/>
                          </a:rPr>
                          <m:t>𝑗</m:t>
                        </m:r>
                      </m:sub>
                    </m:sSub>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𝑇</m:t>
                    </m:r>
                    <m:r>
                      <a:rPr lang="en-US" altLang="ja-JP" sz="1200" b="0" i="1" smtClean="0">
                        <a:latin typeface="Cambria Math" panose="02040503050406030204" pitchFamily="18" charset="0"/>
                      </a:rPr>
                      <m:t> </m:t>
                    </m:r>
                  </m:oMath>
                </a14:m>
                <a:r>
                  <a:rPr kumimoji="1" lang="ja-JP" altLang="en-US"/>
                  <a:t>を満たすような変数番号を選択します。</a:t>
                </a:r>
                <a:endParaRPr kumimoji="1" lang="en-US" altLang="ja-JP" dirty="0"/>
              </a:p>
              <a:p>
                <a:endParaRPr kumimoji="1" lang="en-US" altLang="ja-JP" dirty="0"/>
              </a:p>
              <a:p>
                <a:r>
                  <a:rPr kumimoji="1" lang="ja-JP" altLang="en-US"/>
                  <a:t>これが</a:t>
                </a:r>
                <a:r>
                  <a:rPr kumimoji="1" lang="en-US" altLang="ja-JP" sz="1200" dirty="0">
                    <a:solidFill>
                      <a:schemeClr val="tx1"/>
                    </a:solidFill>
                    <a:latin typeface="+mn-ea"/>
                  </a:rPr>
                  <a:t>FDR</a:t>
                </a:r>
                <a:r>
                  <a:rPr kumimoji="1" lang="ja-JP" altLang="en-US" sz="1200">
                    <a:solidFill>
                      <a:schemeClr val="tx1"/>
                    </a:solidFill>
                    <a:latin typeface="+mn-ea"/>
                  </a:rPr>
                  <a:t>を制御したときに選択される</a:t>
                </a:r>
                <a:r>
                  <a:rPr kumimoji="1" lang="ja-JP" altLang="en-US" sz="1200">
                    <a:solidFill>
                      <a:schemeClr val="tx1"/>
                    </a:solidFill>
                    <a:latin typeface="+mn-ea"/>
                    <a:cs typeface="ヒラギノ角ゴ Pro W3"/>
                  </a:rPr>
                  <a:t>変数となるため、正則化パラメータの範囲を算出することができます。</a:t>
                </a:r>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a:t>最後に、手順</a:t>
                </a:r>
                <a:r>
                  <a:rPr kumimoji="1" lang="en-US" altLang="ja-JP" dirty="0"/>
                  <a:t>4</a:t>
                </a:r>
                <a:r>
                  <a:rPr kumimoji="1" lang="ja-JP" altLang="en-US"/>
                  <a:t>として、</a:t>
                </a:r>
                <a:r>
                  <a:rPr lang="en-US" altLang="ja-JP" sz="1200" b="0" i="0">
                    <a:latin typeface="Cambria Math" panose="02040503050406030204" pitchFamily="18" charset="0"/>
                  </a:rPr>
                  <a:t>𝑊_𝑗≥𝑇 </a:t>
                </a:r>
                <a:r>
                  <a:rPr kumimoji="1" lang="ja-JP" altLang="en-US"/>
                  <a:t>を満たすような変数番号を選択します。</a:t>
                </a:r>
                <a:endParaRPr kumimoji="1" lang="en-US" altLang="ja-JP" dirty="0"/>
              </a:p>
              <a:p>
                <a:endParaRPr kumimoji="1" lang="en-US" altLang="ja-JP" dirty="0"/>
              </a:p>
              <a:p>
                <a:r>
                  <a:rPr kumimoji="1" lang="ja-JP" altLang="en-US"/>
                  <a:t>これが</a:t>
                </a:r>
                <a:r>
                  <a:rPr kumimoji="1" lang="en-US" altLang="ja-JP" sz="1200" dirty="0">
                    <a:solidFill>
                      <a:schemeClr val="tx1"/>
                    </a:solidFill>
                    <a:latin typeface="+mn-ea"/>
                  </a:rPr>
                  <a:t>FDR</a:t>
                </a:r>
                <a:r>
                  <a:rPr kumimoji="1" lang="ja-JP" altLang="en-US" sz="1200">
                    <a:solidFill>
                      <a:schemeClr val="tx1"/>
                    </a:solidFill>
                    <a:latin typeface="+mn-ea"/>
                  </a:rPr>
                  <a:t>を制御したときに選択される</a:t>
                </a:r>
                <a:r>
                  <a:rPr kumimoji="1" lang="ja-JP" altLang="en-US" sz="1200">
                    <a:solidFill>
                      <a:schemeClr val="tx1"/>
                    </a:solidFill>
                    <a:latin typeface="+mn-ea"/>
                    <a:cs typeface="ヒラギノ角ゴ Pro W3"/>
                  </a:rPr>
                  <a:t>変数となるため、正則化パラメータの範囲を算出することができます。</a:t>
                </a:r>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C3AA1469-922B-5243-9CFC-ED99F2A55A38}" type="slidenum">
              <a:rPr kumimoji="1" lang="ja-JP" altLang="en-US" smtClean="0"/>
              <a:t>49</a:t>
            </a:fld>
            <a:endParaRPr kumimoji="1" lang="ja-JP" altLang="en-US"/>
          </a:p>
        </p:txBody>
      </p:sp>
    </p:spTree>
    <p:extLst>
      <p:ext uri="{BB962C8B-B14F-4D97-AF65-F5344CB8AC3E}">
        <p14:creationId xmlns:p14="http://schemas.microsoft.com/office/powerpoint/2010/main" val="3977973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37FEFF32-323E-9C47-810C-670E62F1BB89}" type="datetime1">
              <a:rPr kumimoji="1" lang="ja-JP" altLang="en-US" smtClean="0"/>
              <a:t>2024/2/15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2285072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9E50F7F-CAB8-8F47-B390-CA83208D9BA8}" type="datetime1">
              <a:rPr kumimoji="1" lang="ja-JP" altLang="en-US" smtClean="0"/>
              <a:t>2024/2/15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299131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71EFFD1-27A4-D64E-A5B8-89A027F60A19}" type="datetime1">
              <a:rPr kumimoji="1" lang="ja-JP" altLang="en-US" smtClean="0"/>
              <a:t>2024/2/15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2217953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F4215A5-0451-6047-B28C-16389FB2A8E8}" type="datetime1">
              <a:rPr kumimoji="1" lang="ja-JP" altLang="en-US" smtClean="0"/>
              <a:t>2024/2/15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3585560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ECFD3CA-A23C-F644-90C1-3B770876F6B9}" type="datetime1">
              <a:rPr kumimoji="1" lang="ja-JP" altLang="en-US" smtClean="0"/>
              <a:t>2024/2/15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2268698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C3216F5-CCAA-8C46-8CD2-7860CC4A49D8}" type="datetime1">
              <a:rPr kumimoji="1" lang="ja-JP" altLang="en-US" smtClean="0"/>
              <a:t>2024/2/15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17302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2F916-96E0-3B49-A036-47867910B239}" type="datetime1">
              <a:rPr kumimoji="1" lang="ja-JP" altLang="en-US" smtClean="0"/>
              <a:t>2024/2/15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2459046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3C970D6-D9DF-264C-9137-2C89749CCEDE}" type="datetime1">
              <a:rPr kumimoji="1" lang="ja-JP" altLang="en-US" smtClean="0"/>
              <a:t>2024/2/15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242603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A4CD940-EA4E-8A4F-8282-6AC267AD0686}" type="datetime1">
              <a:rPr kumimoji="1" lang="ja-JP" altLang="en-US" smtClean="0"/>
              <a:t>2024/2/15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705828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9B88A66-DD0B-0345-A202-540AEEAE9C6F}" type="datetime1">
              <a:rPr kumimoji="1" lang="ja-JP" altLang="en-US" smtClean="0"/>
              <a:t>2024/2/15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1613367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D5D7C2E-65B3-9B41-9A81-9A3D002BA5D2}" type="datetime1">
              <a:rPr kumimoji="1" lang="ja-JP" altLang="en-US" smtClean="0"/>
              <a:t>2024/2/15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3911011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03D54E-8FE9-EC4B-A801-BDF2154E8BC1}" type="datetime1">
              <a:rPr kumimoji="1" lang="ja-JP" altLang="en-US" smtClean="0"/>
              <a:t>2024/2/15</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00370E-03A6-614C-ACB2-603E104F4521}" type="slidenum">
              <a:rPr kumimoji="1" lang="ja-JP" altLang="en-US" smtClean="0"/>
              <a:t>‹#›</a:t>
            </a:fld>
            <a:endParaRPr kumimoji="1" lang="ja-JP" altLang="en-US"/>
          </a:p>
        </p:txBody>
      </p:sp>
    </p:spTree>
    <p:extLst>
      <p:ext uri="{BB962C8B-B14F-4D97-AF65-F5344CB8AC3E}">
        <p14:creationId xmlns:p14="http://schemas.microsoft.com/office/powerpoint/2010/main" val="43241930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1.xml"/><Relationship Id="rId26" Type="http://schemas.openxmlformats.org/officeDocument/2006/relationships/customXml" Target="../ink/ink4.xml"/><Relationship Id="rId3" Type="http://schemas.openxmlformats.org/officeDocument/2006/relationships/image" Target="../media/image1.png"/><Relationship Id="rId34" Type="http://schemas.openxmlformats.org/officeDocument/2006/relationships/image" Target="../media/image10.png"/><Relationship Id="rId7" Type="http://schemas.openxmlformats.org/officeDocument/2006/relationships/image" Target="../media/image3.png"/><Relationship Id="rId25" Type="http://schemas.openxmlformats.org/officeDocument/2006/relationships/image" Target="../media/image15.png"/><Relationship Id="rId33" Type="http://schemas.openxmlformats.org/officeDocument/2006/relationships/customXml" Target="../ink/ink6.xml"/><Relationship Id="rId2" Type="http://schemas.openxmlformats.org/officeDocument/2006/relationships/notesSlide" Target="../notesSlides/notesSlide3.xml"/><Relationship Id="rId29"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24" Type="http://schemas.openxmlformats.org/officeDocument/2006/relationships/customXml" Target="../ink/ink3.xml"/><Relationship Id="rId32" Type="http://schemas.openxmlformats.org/officeDocument/2006/relationships/image" Target="../media/image9.png"/><Relationship Id="rId5" Type="http://schemas.openxmlformats.org/officeDocument/2006/relationships/image" Target="../media/image2.png"/><Relationship Id="rId23" Type="http://schemas.openxmlformats.org/officeDocument/2006/relationships/customXml" Target="../ink/ink2.xml"/><Relationship Id="rId28" Type="http://schemas.openxmlformats.org/officeDocument/2006/relationships/image" Target="../media/image6.png"/><Relationship Id="rId31" Type="http://schemas.openxmlformats.org/officeDocument/2006/relationships/customXml" Target="../ink/ink5.xml"/><Relationship Id="rId4" Type="http://schemas.openxmlformats.org/officeDocument/2006/relationships/image" Target="../media/image110.png"/><Relationship Id="rId22" Type="http://schemas.openxmlformats.org/officeDocument/2006/relationships/image" Target="../media/image14.png"/><Relationship Id="rId27" Type="http://schemas.openxmlformats.org/officeDocument/2006/relationships/image" Target="../media/image5.png"/><Relationship Id="rId30" Type="http://schemas.openxmlformats.org/officeDocument/2006/relationships/image" Target="../media/image8.png"/><Relationship Id="rId35"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510.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4.xml"/><Relationship Id="rId16" Type="http://schemas.openxmlformats.org/officeDocument/2006/relationships/image" Target="../media/image23.png"/><Relationship Id="rId1" Type="http://schemas.openxmlformats.org/officeDocument/2006/relationships/slideLayout" Target="../slideLayouts/slideLayout2.xml"/><Relationship Id="rId11" Type="http://schemas.openxmlformats.org/officeDocument/2006/relationships/image" Target="../media/image18.png"/><Relationship Id="rId15" Type="http://schemas.openxmlformats.org/officeDocument/2006/relationships/image" Target="../media/image22.png"/><Relationship Id="rId10" Type="http://schemas.openxmlformats.org/officeDocument/2006/relationships/image" Target="../media/image17.png"/><Relationship Id="rId9" Type="http://schemas.openxmlformats.org/officeDocument/2006/relationships/image" Target="../media/image16.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1.png"/></Relationships>
</file>

<file path=ppt/slides/_rels/slide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1.png"/><Relationship Id="rId5" Type="http://schemas.openxmlformats.org/officeDocument/2006/relationships/image" Target="../media/image231.png"/><Relationship Id="rId4" Type="http://schemas.openxmlformats.org/officeDocument/2006/relationships/image" Target="../media/image221.png"/></Relationships>
</file>

<file path=ppt/slides/_rels/slide8.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2.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7.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2.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0.png"/><Relationship Id="rId7" Type="http://schemas.openxmlformats.org/officeDocument/2006/relationships/image" Target="../media/image45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451.png"/><Relationship Id="rId7"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42.xml.rels><?xml version="1.0" encoding="UTF-8" standalone="yes"?>
<Relationships xmlns="http://schemas.openxmlformats.org/package/2006/relationships"><Relationship Id="rId3" Type="http://schemas.openxmlformats.org/officeDocument/2006/relationships/image" Target="../media/image200.png"/><Relationship Id="rId7" Type="http://schemas.openxmlformats.org/officeDocument/2006/relationships/image" Target="../media/image22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140.png"/><Relationship Id="rId4" Type="http://schemas.openxmlformats.org/officeDocument/2006/relationships/image" Target="../media/image130.png"/></Relationships>
</file>

<file path=ppt/slides/_rels/slide43.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44.xml.rels><?xml version="1.0" encoding="UTF-8" standalone="yes"?>
<Relationships xmlns="http://schemas.openxmlformats.org/package/2006/relationships"><Relationship Id="rId3" Type="http://schemas.openxmlformats.org/officeDocument/2006/relationships/image" Target="../media/image252.png"/><Relationship Id="rId7" Type="http://schemas.openxmlformats.org/officeDocument/2006/relationships/image" Target="../media/image29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80.png"/><Relationship Id="rId5" Type="http://schemas.openxmlformats.org/officeDocument/2006/relationships/image" Target="../media/image271.png"/><Relationship Id="rId4" Type="http://schemas.openxmlformats.org/officeDocument/2006/relationships/image" Target="../media/image261.png"/></Relationships>
</file>

<file path=ppt/slides/_rels/slide45.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00.png"/><Relationship Id="rId5" Type="http://schemas.openxmlformats.org/officeDocument/2006/relationships/image" Target="../media/image270.png"/><Relationship Id="rId4" Type="http://schemas.openxmlformats.org/officeDocument/2006/relationships/image" Target="../media/image260.png"/></Relationships>
</file>

<file path=ppt/slides/_rels/slide4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11.png"/><Relationship Id="rId4" Type="http://schemas.openxmlformats.org/officeDocument/2006/relationships/image" Target="../media/image260.png"/></Relationships>
</file>

<file path=ppt/slides/_rels/slide47.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251.png"/><Relationship Id="rId7" Type="http://schemas.openxmlformats.org/officeDocument/2006/relationships/image" Target="../media/image310.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260.png"/></Relationships>
</file>

<file path=ppt/slides/_rels/slide48.xml.rels><?xml version="1.0" encoding="UTF-8" standalone="yes"?>
<Relationships xmlns="http://schemas.openxmlformats.org/package/2006/relationships"><Relationship Id="rId3" Type="http://schemas.openxmlformats.org/officeDocument/2006/relationships/image" Target="../media/image350.png"/><Relationship Id="rId7"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80.png"/><Relationship Id="rId5" Type="http://schemas.openxmlformats.org/officeDocument/2006/relationships/image" Target="../media/image370.png"/><Relationship Id="rId4" Type="http://schemas.openxmlformats.org/officeDocument/2006/relationships/image" Target="../media/image360.png"/></Relationships>
</file>

<file path=ppt/slides/_rels/slide49.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8BB621-6BB0-B24D-A4FC-B0D9963BEEC1}"/>
              </a:ext>
            </a:extLst>
          </p:cNvPr>
          <p:cNvSpPr>
            <a:spLocks noGrp="1"/>
          </p:cNvSpPr>
          <p:nvPr>
            <p:ph type="ctrTitle"/>
          </p:nvPr>
        </p:nvSpPr>
        <p:spPr>
          <a:xfrm>
            <a:off x="116379" y="2124937"/>
            <a:ext cx="12075621" cy="991352"/>
          </a:xfrm>
        </p:spPr>
        <p:txBody>
          <a:bodyPr>
            <a:noAutofit/>
          </a:bodyPr>
          <a:lstStyle/>
          <a:p>
            <a:r>
              <a:rPr lang="ja-JP" altLang="en-US" sz="4000" b="1">
                <a:solidFill>
                  <a:srgbClr val="0070C0"/>
                </a:solidFill>
                <a:latin typeface="+mj-ea"/>
              </a:rPr>
              <a:t>スパース主成分分析に対する</a:t>
            </a:r>
            <a:br>
              <a:rPr lang="en-US" altLang="ja-JP" sz="4000" b="1" dirty="0">
                <a:solidFill>
                  <a:srgbClr val="0070C0"/>
                </a:solidFill>
                <a:latin typeface="+mj-ea"/>
              </a:rPr>
            </a:br>
            <a:r>
              <a:rPr lang="en-US" altLang="ja-JP" sz="4000" b="1" dirty="0">
                <a:solidFill>
                  <a:srgbClr val="0070C0"/>
                </a:solidFill>
                <a:latin typeface="+mj-ea"/>
              </a:rPr>
              <a:t>Knockoff</a:t>
            </a:r>
            <a:r>
              <a:rPr lang="ja-JP" altLang="en-US" sz="4000" b="1">
                <a:solidFill>
                  <a:srgbClr val="0070C0"/>
                </a:solidFill>
                <a:latin typeface="+mj-ea"/>
              </a:rPr>
              <a:t>法を用いた偽発見率制御</a:t>
            </a:r>
            <a:endParaRPr kumimoji="1" lang="ja-JP" altLang="en-US" sz="4000" b="1">
              <a:solidFill>
                <a:srgbClr val="0070C0"/>
              </a:solidFill>
              <a:latin typeface="+mj-ea"/>
            </a:endParaRPr>
          </a:p>
        </p:txBody>
      </p:sp>
      <p:sp>
        <p:nvSpPr>
          <p:cNvPr id="7" name="字幕 2">
            <a:extLst>
              <a:ext uri="{FF2B5EF4-FFF2-40B4-BE49-F238E27FC236}">
                <a16:creationId xmlns:a16="http://schemas.microsoft.com/office/drawing/2014/main" id="{DF27204F-E02E-91A2-E25A-DECD5A3486C2}"/>
              </a:ext>
            </a:extLst>
          </p:cNvPr>
          <p:cNvSpPr>
            <a:spLocks noGrp="1"/>
          </p:cNvSpPr>
          <p:nvPr>
            <p:ph type="subTitle" idx="1"/>
          </p:nvPr>
        </p:nvSpPr>
        <p:spPr>
          <a:xfrm>
            <a:off x="1888204" y="3907035"/>
            <a:ext cx="9144000" cy="1655762"/>
          </a:xfrm>
        </p:spPr>
        <p:txBody>
          <a:bodyPr>
            <a:normAutofit lnSpcReduction="10000"/>
          </a:bodyPr>
          <a:lstStyle/>
          <a:p>
            <a:r>
              <a:rPr lang="en-US" altLang="ja-JP" dirty="0">
                <a:latin typeface="+mj-ea"/>
                <a:ea typeface="+mj-ea"/>
              </a:rPr>
              <a:t>2231136</a:t>
            </a:r>
            <a:endParaRPr kumimoji="1" lang="en-US" altLang="ja-JP" dirty="0">
              <a:latin typeface="+mj-ea"/>
              <a:ea typeface="+mj-ea"/>
            </a:endParaRPr>
          </a:p>
          <a:p>
            <a:r>
              <a:rPr lang="ja-JP" altLang="en-US">
                <a:latin typeface="+mj-ea"/>
                <a:ea typeface="+mj-ea"/>
              </a:rPr>
              <a:t>植野</a:t>
            </a:r>
            <a:r>
              <a:rPr kumimoji="1" lang="ja-JP" altLang="en-US">
                <a:latin typeface="+mj-ea"/>
                <a:ea typeface="+mj-ea"/>
              </a:rPr>
              <a:t>研究室</a:t>
            </a:r>
            <a:endParaRPr kumimoji="1" lang="en-US" altLang="ja-JP" dirty="0">
              <a:latin typeface="+mj-ea"/>
              <a:ea typeface="+mj-ea"/>
            </a:endParaRPr>
          </a:p>
          <a:p>
            <a:r>
              <a:rPr lang="ja-JP" altLang="en-US">
                <a:latin typeface="+mj-ea"/>
                <a:ea typeface="+mj-ea"/>
              </a:rPr>
              <a:t>星野菜南子</a:t>
            </a:r>
            <a:endParaRPr lang="en-US" altLang="ja-JP" dirty="0">
              <a:latin typeface="+mj-ea"/>
              <a:ea typeface="+mj-ea"/>
            </a:endParaRPr>
          </a:p>
          <a:p>
            <a:r>
              <a:rPr kumimoji="1" lang="en-US" altLang="ja-JP" dirty="0">
                <a:latin typeface="+mj-ea"/>
                <a:ea typeface="+mj-ea"/>
              </a:rPr>
              <a:t>2024</a:t>
            </a:r>
            <a:r>
              <a:rPr kumimoji="1" lang="ja-JP" altLang="en-US">
                <a:latin typeface="+mj-ea"/>
                <a:ea typeface="+mj-ea"/>
              </a:rPr>
              <a:t>年</a:t>
            </a:r>
            <a:r>
              <a:rPr kumimoji="1" lang="en-US" altLang="ja-JP" dirty="0">
                <a:latin typeface="+mj-ea"/>
                <a:ea typeface="+mj-ea"/>
              </a:rPr>
              <a:t>2</a:t>
            </a:r>
            <a:r>
              <a:rPr kumimoji="1" lang="ja-JP" altLang="en-US">
                <a:latin typeface="+mj-ea"/>
                <a:ea typeface="+mj-ea"/>
              </a:rPr>
              <a:t>月</a:t>
            </a:r>
            <a:r>
              <a:rPr lang="en-US" altLang="ja-JP" dirty="0">
                <a:latin typeface="+mj-ea"/>
                <a:ea typeface="+mj-ea"/>
              </a:rPr>
              <a:t>5</a:t>
            </a:r>
            <a:r>
              <a:rPr kumimoji="1" lang="ja-JP" altLang="en-US">
                <a:latin typeface="+mj-ea"/>
                <a:ea typeface="+mj-ea"/>
              </a:rPr>
              <a:t>日</a:t>
            </a:r>
          </a:p>
        </p:txBody>
      </p:sp>
      <p:sp>
        <p:nvSpPr>
          <p:cNvPr id="3" name="テキスト ボックス 2">
            <a:extLst>
              <a:ext uri="{FF2B5EF4-FFF2-40B4-BE49-F238E27FC236}">
                <a16:creationId xmlns:a16="http://schemas.microsoft.com/office/drawing/2014/main" id="{02A7638A-1B01-2548-648A-53620D4CF0E7}"/>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1/28</a:t>
            </a:r>
            <a:endParaRPr kumimoji="1" lang="ja-JP" altLang="en-US" sz="2800">
              <a:latin typeface="+mj-ea"/>
              <a:ea typeface="+mj-ea"/>
            </a:endParaRPr>
          </a:p>
        </p:txBody>
      </p:sp>
    </p:spTree>
    <p:extLst>
      <p:ext uri="{BB962C8B-B14F-4D97-AF65-F5344CB8AC3E}">
        <p14:creationId xmlns:p14="http://schemas.microsoft.com/office/powerpoint/2010/main" val="3229140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961902" y="1413869"/>
            <a:ext cx="10654115" cy="4180115"/>
          </a:xfrm>
        </p:spPr>
        <p:txBody>
          <a:bodyPr>
            <a:normAutofit/>
          </a:bodyPr>
          <a:lstStyle/>
          <a:p>
            <a:pPr marL="514350" indent="-514350">
              <a:buFont typeface="+mj-lt"/>
              <a:buAutoNum type="arabicPeriod"/>
            </a:pPr>
            <a:r>
              <a:rPr kumimoji="1" lang="ja-JP" altLang="en-US" sz="3200">
                <a:latin typeface="+mn-ea"/>
              </a:rPr>
              <a:t>研究背景</a:t>
            </a:r>
            <a:endParaRPr kumimoji="1" lang="en-US" altLang="ja-JP" sz="3200" dirty="0">
              <a:latin typeface="+mn-ea"/>
            </a:endParaRPr>
          </a:p>
          <a:p>
            <a:pPr lvl="1"/>
            <a:r>
              <a:rPr kumimoji="1" lang="ja-JP" altLang="en-US" sz="2800">
                <a:latin typeface="+mn-ea"/>
              </a:rPr>
              <a:t>主成分分析</a:t>
            </a:r>
            <a:endParaRPr kumimoji="1" lang="en-US" altLang="ja-JP" sz="2800" dirty="0">
              <a:latin typeface="+mn-ea"/>
            </a:endParaRPr>
          </a:p>
          <a:p>
            <a:pPr lvl="1"/>
            <a:r>
              <a:rPr lang="ja-JP" altLang="en-US" sz="2800">
                <a:latin typeface="+mn-ea"/>
              </a:rPr>
              <a:t>線形回帰モデルにおける</a:t>
            </a:r>
            <a:r>
              <a:rPr lang="en-US" altLang="ja-JP" sz="2800" dirty="0">
                <a:latin typeface="+mn-ea"/>
              </a:rPr>
              <a:t>Knockoff</a:t>
            </a:r>
            <a:r>
              <a:rPr lang="ja-JP" altLang="en-US" sz="2800">
                <a:latin typeface="+mn-ea"/>
              </a:rPr>
              <a:t>法</a:t>
            </a:r>
            <a:endParaRPr lang="en-US" altLang="ja-JP" sz="2800" dirty="0">
              <a:latin typeface="+mn-ea"/>
            </a:endParaRPr>
          </a:p>
          <a:p>
            <a:pPr marL="514350" indent="-514350">
              <a:buAutoNum type="arabicPeriod"/>
            </a:pPr>
            <a:r>
              <a:rPr lang="ja-JP" altLang="en-US" sz="3200">
                <a:latin typeface="+mn-ea"/>
              </a:rPr>
              <a:t>提案手法</a:t>
            </a:r>
            <a:endParaRPr lang="en-US" altLang="ja-JP" sz="3200" dirty="0">
              <a:latin typeface="+mn-ea"/>
            </a:endParaRPr>
          </a:p>
          <a:p>
            <a:pPr lvl="1"/>
            <a:r>
              <a:rPr lang="ja-JP" altLang="en-US" sz="2800">
                <a:latin typeface="+mn-ea"/>
              </a:rPr>
              <a:t>スパース主成分分析における</a:t>
            </a:r>
            <a:r>
              <a:rPr lang="en-US" altLang="ja-JP" sz="2800" dirty="0">
                <a:latin typeface="+mn-ea"/>
              </a:rPr>
              <a:t>Knockoff</a:t>
            </a:r>
            <a:r>
              <a:rPr lang="ja-JP" altLang="en-US" sz="2800">
                <a:latin typeface="+mn-ea"/>
              </a:rPr>
              <a:t>法</a:t>
            </a:r>
            <a:endParaRPr lang="en-US" altLang="ja-JP" sz="2800" dirty="0">
              <a:latin typeface="+mn-ea"/>
            </a:endParaRPr>
          </a:p>
          <a:p>
            <a:pPr marL="514350" indent="-514350">
              <a:buAutoNum type="arabicPeriod"/>
            </a:pPr>
            <a:r>
              <a:rPr kumimoji="1" lang="ja-JP" altLang="en-US" sz="3200">
                <a:latin typeface="+mn-ea"/>
              </a:rPr>
              <a:t>数値実験</a:t>
            </a:r>
            <a:endParaRPr kumimoji="1" lang="en-US" altLang="ja-JP" sz="3200" dirty="0">
              <a:latin typeface="+mn-ea"/>
            </a:endParaRPr>
          </a:p>
          <a:p>
            <a:pPr marL="514350" indent="-514350">
              <a:buAutoNum type="arabicPeriod"/>
            </a:pPr>
            <a:r>
              <a:rPr lang="ja-JP" altLang="en-US" sz="3200">
                <a:latin typeface="+mn-ea"/>
              </a:rPr>
              <a:t>まとめ</a:t>
            </a:r>
            <a:r>
              <a:rPr lang="en-US" altLang="ja-JP" sz="3200" dirty="0">
                <a:latin typeface="+mn-ea"/>
              </a:rPr>
              <a:t>, </a:t>
            </a:r>
            <a:r>
              <a:rPr lang="ja-JP" altLang="en-US" sz="3200">
                <a:latin typeface="+mn-ea"/>
              </a:rPr>
              <a:t>今後の課題</a:t>
            </a:r>
            <a:endParaRPr kumimoji="1" lang="en-US" altLang="ja-JP" sz="3200" dirty="0">
              <a:latin typeface="+mn-ea"/>
            </a:endParaRPr>
          </a:p>
        </p:txBody>
      </p:sp>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5"/>
            <a:ext cx="10016696"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目次</a:t>
            </a:r>
            <a:endParaRPr lang="ja-JP" altLang="en-US" b="1">
              <a:solidFill>
                <a:srgbClr val="FFC000"/>
              </a:solidFill>
              <a:latin typeface="+mj-ea"/>
            </a:endParaRPr>
          </a:p>
        </p:txBody>
      </p:sp>
      <p:sp>
        <p:nvSpPr>
          <p:cNvPr id="2" name="テキスト ボックス 1">
            <a:extLst>
              <a:ext uri="{FF2B5EF4-FFF2-40B4-BE49-F238E27FC236}">
                <a16:creationId xmlns:a16="http://schemas.microsoft.com/office/drawing/2014/main" id="{9A60B0D4-B9AE-44C0-B3D7-539BF8776B7B}"/>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2/28</a:t>
            </a:r>
            <a:endParaRPr kumimoji="1" lang="ja-JP" altLang="en-US" sz="2800">
              <a:latin typeface="+mj-ea"/>
              <a:ea typeface="+mj-ea"/>
            </a:endParaRPr>
          </a:p>
        </p:txBody>
      </p:sp>
    </p:spTree>
    <p:extLst>
      <p:ext uri="{BB962C8B-B14F-4D97-AF65-F5344CB8AC3E}">
        <p14:creationId xmlns:p14="http://schemas.microsoft.com/office/powerpoint/2010/main" val="373701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4187-AA9F-B3E9-1BAE-C8C5E601F1B5}"/>
            </a:ext>
          </a:extLst>
        </p:cNvPr>
        <p:cNvGrpSpPr/>
        <p:nvPr/>
      </p:nvGrpSpPr>
      <p:grpSpPr>
        <a:xfrm>
          <a:off x="0" y="0"/>
          <a:ext cx="0" cy="0"/>
          <a:chOff x="0" y="0"/>
          <a:chExt cx="0" cy="0"/>
        </a:xfrm>
      </p:grpSpPr>
      <p:pic>
        <p:nvPicPr>
          <p:cNvPr id="86" name="図 85" descr="グラフ, 散布図&#10;&#10;自動的に生成された説明">
            <a:extLst>
              <a:ext uri="{FF2B5EF4-FFF2-40B4-BE49-F238E27FC236}">
                <a16:creationId xmlns:a16="http://schemas.microsoft.com/office/drawing/2014/main" id="{E8B3E6A2-944B-6D0F-244F-A67EE7A72561}"/>
              </a:ext>
            </a:extLst>
          </p:cNvPr>
          <p:cNvPicPr>
            <a:picLocks noChangeAspect="1"/>
          </p:cNvPicPr>
          <p:nvPr/>
        </p:nvPicPr>
        <p:blipFill>
          <a:blip r:embed="rId3"/>
          <a:stretch>
            <a:fillRect/>
          </a:stretch>
        </p:blipFill>
        <p:spPr>
          <a:xfrm>
            <a:off x="142328" y="2722785"/>
            <a:ext cx="5339259" cy="3423047"/>
          </a:xfrm>
          <a:prstGeom prst="rect">
            <a:avLst/>
          </a:prstGeom>
        </p:spPr>
      </p:pic>
      <p:pic>
        <p:nvPicPr>
          <p:cNvPr id="85" name="図 84" descr="グラフ, 散布図&#10;&#10;自動的に生成された説明">
            <a:extLst>
              <a:ext uri="{FF2B5EF4-FFF2-40B4-BE49-F238E27FC236}">
                <a16:creationId xmlns:a16="http://schemas.microsoft.com/office/drawing/2014/main" id="{55EDB1C6-350D-CDDF-BBD6-5E4852A86607}"/>
              </a:ext>
            </a:extLst>
          </p:cNvPr>
          <p:cNvPicPr>
            <a:picLocks noChangeAspect="1"/>
          </p:cNvPicPr>
          <p:nvPr/>
        </p:nvPicPr>
        <p:blipFill>
          <a:blip r:embed="rId3"/>
          <a:stretch>
            <a:fillRect/>
          </a:stretch>
        </p:blipFill>
        <p:spPr>
          <a:xfrm>
            <a:off x="6781804" y="2774599"/>
            <a:ext cx="5339259" cy="3423047"/>
          </a:xfrm>
          <a:prstGeom prst="rect">
            <a:avLst/>
          </a:prstGeom>
        </p:spPr>
      </p:pic>
      <p:sp>
        <p:nvSpPr>
          <p:cNvPr id="6" name="タイトル 1">
            <a:extLst>
              <a:ext uri="{FF2B5EF4-FFF2-40B4-BE49-F238E27FC236}">
                <a16:creationId xmlns:a16="http://schemas.microsoft.com/office/drawing/2014/main" id="{A58A3373-7572-23C7-309F-AC11E38D66B3}"/>
              </a:ext>
            </a:extLst>
          </p:cNvPr>
          <p:cNvSpPr txBox="1">
            <a:spLocks/>
          </p:cNvSpPr>
          <p:nvPr/>
        </p:nvSpPr>
        <p:spPr>
          <a:xfrm>
            <a:off x="0" y="1335"/>
            <a:ext cx="12192000"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主成分分析</a:t>
            </a:r>
            <a:r>
              <a:rPr lang="en-US" altLang="ja-JP" b="1" dirty="0">
                <a:solidFill>
                  <a:srgbClr val="0070C0"/>
                </a:solidFill>
                <a:latin typeface="+mj-ea"/>
              </a:rPr>
              <a:t> (</a:t>
            </a:r>
            <a:r>
              <a:rPr lang="en-US" altLang="ja-JP" b="1" dirty="0" err="1">
                <a:solidFill>
                  <a:srgbClr val="0070C0"/>
                </a:solidFill>
                <a:latin typeface="+mj-ea"/>
              </a:rPr>
              <a:t>Jollife</a:t>
            </a:r>
            <a:r>
              <a:rPr lang="en-US" altLang="ja-JP" b="1" dirty="0">
                <a:solidFill>
                  <a:srgbClr val="0070C0"/>
                </a:solidFill>
                <a:latin typeface="+mj-ea"/>
              </a:rPr>
              <a:t>, 2002)</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515D070-D0F3-0AB9-C6C2-03F5F8CAEC4A}"/>
                  </a:ext>
                </a:extLst>
              </p:cNvPr>
              <p:cNvSpPr txBox="1"/>
              <p:nvPr/>
            </p:nvSpPr>
            <p:spPr>
              <a:xfrm rot="5400000">
                <a:off x="8425354" y="5715419"/>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bg1"/>
                          </a:solidFill>
                          <a:latin typeface="Cambria Math" panose="02040503050406030204" pitchFamily="18" charset="0"/>
                        </a:rPr>
                        <m:t>=</m:t>
                      </m:r>
                    </m:oMath>
                  </m:oMathPara>
                </a14:m>
                <a:endParaRPr kumimoji="1" lang="ja-JP" altLang="en-US" sz="2800">
                  <a:solidFill>
                    <a:schemeClr val="bg1"/>
                  </a:solidFill>
                </a:endParaRPr>
              </a:p>
            </p:txBody>
          </p:sp>
        </mc:Choice>
        <mc:Fallback xmlns="">
          <p:sp>
            <p:nvSpPr>
              <p:cNvPr id="9" name="テキスト ボックス 8">
                <a:extLst>
                  <a:ext uri="{FF2B5EF4-FFF2-40B4-BE49-F238E27FC236}">
                    <a16:creationId xmlns:a16="http://schemas.microsoft.com/office/drawing/2014/main" id="{E515D070-D0F3-0AB9-C6C2-03F5F8CAEC4A}"/>
                  </a:ext>
                </a:extLst>
              </p:cNvPr>
              <p:cNvSpPr txBox="1">
                <a:spLocks noRot="1" noChangeAspect="1" noMove="1" noResize="1" noEditPoints="1" noAdjustHandles="1" noChangeArrowheads="1" noChangeShapeType="1" noTextEdit="1"/>
              </p:cNvSpPr>
              <p:nvPr/>
            </p:nvSpPr>
            <p:spPr>
              <a:xfrm rot="5400000">
                <a:off x="8425354" y="5715419"/>
                <a:ext cx="534121" cy="523220"/>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1CB4905-1766-1712-1CDD-77E83890F231}"/>
                  </a:ext>
                </a:extLst>
              </p:cNvPr>
              <p:cNvSpPr txBox="1"/>
              <p:nvPr/>
            </p:nvSpPr>
            <p:spPr>
              <a:xfrm rot="5400000">
                <a:off x="8528176" y="5785046"/>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bg1"/>
                          </a:solidFill>
                          <a:latin typeface="Cambria Math" panose="02040503050406030204" pitchFamily="18" charset="0"/>
                        </a:rPr>
                        <m:t>=</m:t>
                      </m:r>
                    </m:oMath>
                  </m:oMathPara>
                </a14:m>
                <a:endParaRPr kumimoji="1" lang="ja-JP" altLang="en-US" sz="2800">
                  <a:solidFill>
                    <a:schemeClr val="bg1"/>
                  </a:solidFill>
                </a:endParaRPr>
              </a:p>
            </p:txBody>
          </p:sp>
        </mc:Choice>
        <mc:Fallback xmlns="">
          <p:sp>
            <p:nvSpPr>
              <p:cNvPr id="10" name="テキスト ボックス 9">
                <a:extLst>
                  <a:ext uri="{FF2B5EF4-FFF2-40B4-BE49-F238E27FC236}">
                    <a16:creationId xmlns:a16="http://schemas.microsoft.com/office/drawing/2014/main" id="{C1CB4905-1766-1712-1CDD-77E83890F231}"/>
                  </a:ext>
                </a:extLst>
              </p:cNvPr>
              <p:cNvSpPr txBox="1">
                <a:spLocks noRot="1" noChangeAspect="1" noMove="1" noResize="1" noEditPoints="1" noAdjustHandles="1" noChangeArrowheads="1" noChangeShapeType="1" noTextEdit="1"/>
              </p:cNvSpPr>
              <p:nvPr/>
            </p:nvSpPr>
            <p:spPr>
              <a:xfrm rot="5400000">
                <a:off x="8528176" y="5785046"/>
                <a:ext cx="534121" cy="523220"/>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86B464C6-BAD8-AB51-B7E3-7835897B87FD}"/>
                  </a:ext>
                </a:extLst>
              </p:cNvPr>
              <p:cNvSpPr txBox="1"/>
              <p:nvPr/>
            </p:nvSpPr>
            <p:spPr>
              <a:xfrm rot="5400000">
                <a:off x="4013534" y="5498930"/>
                <a:ext cx="42565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bg1"/>
                          </a:solidFill>
                          <a:latin typeface="Cambria Math" panose="02040503050406030204" pitchFamily="18" charset="0"/>
                        </a:rPr>
                        <m:t>=</m:t>
                      </m:r>
                    </m:oMath>
                  </m:oMathPara>
                </a14:m>
                <a:endParaRPr kumimoji="1" lang="ja-JP" altLang="en-US" sz="2800">
                  <a:solidFill>
                    <a:schemeClr val="bg1"/>
                  </a:solidFill>
                </a:endParaRPr>
              </a:p>
            </p:txBody>
          </p:sp>
        </mc:Choice>
        <mc:Fallback xmlns="">
          <p:sp>
            <p:nvSpPr>
              <p:cNvPr id="20" name="テキスト ボックス 19">
                <a:extLst>
                  <a:ext uri="{FF2B5EF4-FFF2-40B4-BE49-F238E27FC236}">
                    <a16:creationId xmlns:a16="http://schemas.microsoft.com/office/drawing/2014/main" id="{86B464C6-BAD8-AB51-B7E3-7835897B87FD}"/>
                  </a:ext>
                </a:extLst>
              </p:cNvPr>
              <p:cNvSpPr txBox="1">
                <a:spLocks noRot="1" noChangeAspect="1" noMove="1" noResize="1" noEditPoints="1" noAdjustHandles="1" noChangeArrowheads="1" noChangeShapeType="1" noTextEdit="1"/>
              </p:cNvSpPr>
              <p:nvPr/>
            </p:nvSpPr>
            <p:spPr>
              <a:xfrm rot="5400000">
                <a:off x="4013534" y="5498930"/>
                <a:ext cx="425656" cy="523220"/>
              </a:xfrm>
              <a:prstGeom prst="rect">
                <a:avLst/>
              </a:prstGeom>
              <a:blipFill>
                <a:blip r:embed="rId6"/>
                <a:stretch>
                  <a:fillRect b="-2857"/>
                </a:stretch>
              </a:blipFill>
            </p:spPr>
            <p:txBody>
              <a:bodyPr/>
              <a:lstStyle/>
              <a:p>
                <a:r>
                  <a:rPr lang="ja-JP" altLang="en-US">
                    <a:noFill/>
                  </a:rPr>
                  <a:t> </a:t>
                </a:r>
              </a:p>
            </p:txBody>
          </p:sp>
        </mc:Fallback>
      </mc:AlternateContent>
      <p:sp>
        <p:nvSpPr>
          <p:cNvPr id="21" name="下矢印 20">
            <a:extLst>
              <a:ext uri="{FF2B5EF4-FFF2-40B4-BE49-F238E27FC236}">
                <a16:creationId xmlns:a16="http://schemas.microsoft.com/office/drawing/2014/main" id="{025C99B1-4742-4570-4157-8EF72349E8C6}"/>
              </a:ext>
            </a:extLst>
          </p:cNvPr>
          <p:cNvSpPr/>
          <p:nvPr/>
        </p:nvSpPr>
        <p:spPr>
          <a:xfrm rot="16200000">
            <a:off x="5815738" y="4217185"/>
            <a:ext cx="582229" cy="863511"/>
          </a:xfrm>
          <a:prstGeom prst="downArrow">
            <a:avLst>
              <a:gd name="adj1" fmla="val 50000"/>
              <a:gd name="adj2" fmla="val 44267"/>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6008AA0F-4EB9-7F30-2DB7-3150F3227CCA}"/>
              </a:ext>
            </a:extLst>
          </p:cNvPr>
          <p:cNvSpPr txBox="1"/>
          <p:nvPr/>
        </p:nvSpPr>
        <p:spPr>
          <a:xfrm>
            <a:off x="5465282" y="3330519"/>
            <a:ext cx="1415772" cy="1077218"/>
          </a:xfrm>
          <a:prstGeom prst="rect">
            <a:avLst/>
          </a:prstGeom>
          <a:noFill/>
        </p:spPr>
        <p:txBody>
          <a:bodyPr wrap="none" rtlCol="0">
            <a:spAutoFit/>
          </a:bodyPr>
          <a:lstStyle/>
          <a:p>
            <a:pPr algn="ctr"/>
            <a:r>
              <a:rPr kumimoji="1" lang="ja-JP" altLang="en-US" sz="3200" b="1">
                <a:solidFill>
                  <a:srgbClr val="0070C0"/>
                </a:solidFill>
              </a:rPr>
              <a:t>主成分</a:t>
            </a:r>
            <a:endParaRPr kumimoji="1" lang="en-US" altLang="ja-JP" sz="3200" b="1" dirty="0">
              <a:solidFill>
                <a:srgbClr val="0070C0"/>
              </a:solidFill>
            </a:endParaRPr>
          </a:p>
          <a:p>
            <a:pPr algn="ctr"/>
            <a:r>
              <a:rPr kumimoji="1" lang="ja-JP" altLang="en-US" sz="3200" b="1">
                <a:solidFill>
                  <a:srgbClr val="0070C0"/>
                </a:solidFill>
              </a:rPr>
              <a:t>分析</a:t>
            </a: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D6A91861-1CB8-4A39-90AE-C427FB284A23}"/>
                  </a:ext>
                </a:extLst>
              </p:cNvPr>
              <p:cNvSpPr txBox="1"/>
              <p:nvPr/>
            </p:nvSpPr>
            <p:spPr>
              <a:xfrm>
                <a:off x="6528537" y="4234254"/>
                <a:ext cx="495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2</m:t>
                          </m:r>
                        </m:sub>
                      </m:sSub>
                    </m:oMath>
                  </m:oMathPara>
                </a14:m>
                <a:endParaRPr kumimoji="1" lang="ja-JP" altLang="en-US" sz="2000"/>
              </a:p>
            </p:txBody>
          </p:sp>
        </mc:Choice>
        <mc:Fallback xmlns="">
          <p:sp>
            <p:nvSpPr>
              <p:cNvPr id="40" name="テキスト ボックス 39">
                <a:extLst>
                  <a:ext uri="{FF2B5EF4-FFF2-40B4-BE49-F238E27FC236}">
                    <a16:creationId xmlns:a16="http://schemas.microsoft.com/office/drawing/2014/main" id="{D6A91861-1CB8-4A39-90AE-C427FB284A23}"/>
                  </a:ext>
                </a:extLst>
              </p:cNvPr>
              <p:cNvSpPr txBox="1">
                <a:spLocks noRot="1" noChangeAspect="1" noMove="1" noResize="1" noEditPoints="1" noAdjustHandles="1" noChangeArrowheads="1" noChangeShapeType="1" noTextEdit="1"/>
              </p:cNvSpPr>
              <p:nvPr/>
            </p:nvSpPr>
            <p:spPr>
              <a:xfrm>
                <a:off x="6528537" y="4234254"/>
                <a:ext cx="495777" cy="400110"/>
              </a:xfrm>
              <a:prstGeom prst="rect">
                <a:avLst/>
              </a:prstGeom>
              <a:blipFill>
                <a:blip r:embed="rId7"/>
                <a:stretch>
                  <a:fillRect/>
                </a:stretch>
              </a:blipFill>
            </p:spPr>
            <p:txBody>
              <a:bodyPr/>
              <a:lstStyle/>
              <a:p>
                <a:r>
                  <a:rPr lang="ja-JP" altLang="en-US">
                    <a:noFill/>
                  </a:rPr>
                  <a:t> </a:t>
                </a:r>
              </a:p>
            </p:txBody>
          </p:sp>
        </mc:Fallback>
      </mc:AlternateContent>
      <p:grpSp>
        <p:nvGrpSpPr>
          <p:cNvPr id="59" name="グループ化 58">
            <a:extLst>
              <a:ext uri="{FF2B5EF4-FFF2-40B4-BE49-F238E27FC236}">
                <a16:creationId xmlns:a16="http://schemas.microsoft.com/office/drawing/2014/main" id="{6B10645E-92B0-B672-ADC5-68DC094A48A6}"/>
              </a:ext>
            </a:extLst>
          </p:cNvPr>
          <p:cNvGrpSpPr/>
          <p:nvPr/>
        </p:nvGrpSpPr>
        <p:grpSpPr>
          <a:xfrm>
            <a:off x="8308034" y="3675618"/>
            <a:ext cx="38880" cy="38160"/>
            <a:chOff x="8301780" y="3664035"/>
            <a:chExt cx="38880" cy="38160"/>
          </a:xfrm>
        </p:grpSpPr>
        <mc:AlternateContent xmlns:mc="http://schemas.openxmlformats.org/markup-compatibility/2006" xmlns:p14="http://schemas.microsoft.com/office/powerpoint/2010/main">
          <mc:Choice Requires="p14">
            <p:contentPart p14:bwMode="auto" r:id="rId8">
              <p14:nvContentPartPr>
                <p14:cNvPr id="7" name="インク 6">
                  <a:extLst>
                    <a:ext uri="{FF2B5EF4-FFF2-40B4-BE49-F238E27FC236}">
                      <a16:creationId xmlns:a16="http://schemas.microsoft.com/office/drawing/2014/main" id="{E82C0C30-2C89-4E12-F897-DD4977ECB3A3}"/>
                    </a:ext>
                  </a:extLst>
                </p14:cNvPr>
                <p14:cNvContentPartPr/>
                <p14:nvPr/>
              </p14:nvContentPartPr>
              <p14:xfrm>
                <a:off x="8340300" y="3701835"/>
                <a:ext cx="360" cy="360"/>
              </p14:xfrm>
            </p:contentPart>
          </mc:Choice>
          <mc:Fallback xmlns="">
            <p:pic>
              <p:nvPicPr>
                <p:cNvPr id="7" name="インク 6">
                  <a:extLst>
                    <a:ext uri="{FF2B5EF4-FFF2-40B4-BE49-F238E27FC236}">
                      <a16:creationId xmlns:a16="http://schemas.microsoft.com/office/drawing/2014/main" id="{E82C0C30-2C89-4E12-F897-DD4977ECB3A3}"/>
                    </a:ext>
                  </a:extLst>
                </p:cNvPr>
                <p:cNvPicPr/>
                <p:nvPr/>
              </p:nvPicPr>
              <p:blipFill>
                <a:blip r:embed="rId22"/>
                <a:stretch>
                  <a:fillRect/>
                </a:stretch>
              </p:blipFill>
              <p:spPr>
                <a:xfrm>
                  <a:off x="8322660" y="368419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1" name="インク 10">
                  <a:extLst>
                    <a:ext uri="{FF2B5EF4-FFF2-40B4-BE49-F238E27FC236}">
                      <a16:creationId xmlns:a16="http://schemas.microsoft.com/office/drawing/2014/main" id="{9DD68EDA-E666-92B8-A546-AA9FA316F44E}"/>
                    </a:ext>
                  </a:extLst>
                </p14:cNvPr>
                <p14:cNvContentPartPr/>
                <p14:nvPr/>
              </p14:nvContentPartPr>
              <p14:xfrm>
                <a:off x="8340300" y="3680595"/>
                <a:ext cx="360" cy="360"/>
              </p14:xfrm>
            </p:contentPart>
          </mc:Choice>
          <mc:Fallback xmlns="">
            <p:pic>
              <p:nvPicPr>
                <p:cNvPr id="11" name="インク 10">
                  <a:extLst>
                    <a:ext uri="{FF2B5EF4-FFF2-40B4-BE49-F238E27FC236}">
                      <a16:creationId xmlns:a16="http://schemas.microsoft.com/office/drawing/2014/main" id="{9DD68EDA-E666-92B8-A546-AA9FA316F44E}"/>
                    </a:ext>
                  </a:extLst>
                </p:cNvPr>
                <p:cNvPicPr/>
                <p:nvPr/>
              </p:nvPicPr>
              <p:blipFill>
                <a:blip r:embed="rId22"/>
                <a:stretch>
                  <a:fillRect/>
                </a:stretch>
              </p:blipFill>
              <p:spPr>
                <a:xfrm>
                  <a:off x="8322660" y="366295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4" name="インク 53">
                  <a:extLst>
                    <a:ext uri="{FF2B5EF4-FFF2-40B4-BE49-F238E27FC236}">
                      <a16:creationId xmlns:a16="http://schemas.microsoft.com/office/drawing/2014/main" id="{5D5FE5CE-FC57-0111-868F-965AF8AEC0EC}"/>
                    </a:ext>
                  </a:extLst>
                </p14:cNvPr>
                <p14:cNvContentPartPr/>
                <p14:nvPr/>
              </p14:nvContentPartPr>
              <p14:xfrm>
                <a:off x="8301780" y="3667275"/>
                <a:ext cx="360" cy="360"/>
              </p14:xfrm>
            </p:contentPart>
          </mc:Choice>
          <mc:Fallback xmlns="">
            <p:pic>
              <p:nvPicPr>
                <p:cNvPr id="54" name="インク 53">
                  <a:extLst>
                    <a:ext uri="{FF2B5EF4-FFF2-40B4-BE49-F238E27FC236}">
                      <a16:creationId xmlns:a16="http://schemas.microsoft.com/office/drawing/2014/main" id="{5D5FE5CE-FC57-0111-868F-965AF8AEC0EC}"/>
                    </a:ext>
                  </a:extLst>
                </p:cNvPr>
                <p:cNvPicPr/>
                <p:nvPr/>
              </p:nvPicPr>
              <p:blipFill>
                <a:blip r:embed="rId25"/>
                <a:stretch>
                  <a:fillRect/>
                </a:stretch>
              </p:blipFill>
              <p:spPr>
                <a:xfrm>
                  <a:off x="8266140" y="3631635"/>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7" name="インク 56">
                  <a:extLst>
                    <a:ext uri="{FF2B5EF4-FFF2-40B4-BE49-F238E27FC236}">
                      <a16:creationId xmlns:a16="http://schemas.microsoft.com/office/drawing/2014/main" id="{1C42DB2F-EAD3-00C2-7949-628234850FB3}"/>
                    </a:ext>
                  </a:extLst>
                </p14:cNvPr>
                <p14:cNvContentPartPr/>
                <p14:nvPr/>
              </p14:nvContentPartPr>
              <p14:xfrm>
                <a:off x="8311860" y="3664035"/>
                <a:ext cx="360" cy="360"/>
              </p14:xfrm>
            </p:contentPart>
          </mc:Choice>
          <mc:Fallback xmlns="">
            <p:pic>
              <p:nvPicPr>
                <p:cNvPr id="57" name="インク 56">
                  <a:extLst>
                    <a:ext uri="{FF2B5EF4-FFF2-40B4-BE49-F238E27FC236}">
                      <a16:creationId xmlns:a16="http://schemas.microsoft.com/office/drawing/2014/main" id="{1C42DB2F-EAD3-00C2-7949-628234850FB3}"/>
                    </a:ext>
                  </a:extLst>
                </p:cNvPr>
                <p:cNvPicPr/>
                <p:nvPr/>
              </p:nvPicPr>
              <p:blipFill>
                <a:blip r:embed="rId25"/>
                <a:stretch>
                  <a:fillRect/>
                </a:stretch>
              </p:blipFill>
              <p:spPr>
                <a:xfrm>
                  <a:off x="8275860" y="3628035"/>
                  <a:ext cx="72000" cy="72000"/>
                </a:xfrm>
                <a:prstGeom prst="rect">
                  <a:avLst/>
                </a:prstGeom>
              </p:spPr>
            </p:pic>
          </mc:Fallback>
        </mc:AlternateContent>
      </p:grpSp>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2EB59EC6-1C4C-395D-6625-72FE18ED1917}"/>
                  </a:ext>
                </a:extLst>
              </p:cNvPr>
              <p:cNvSpPr txBox="1"/>
              <p:nvPr/>
            </p:nvSpPr>
            <p:spPr>
              <a:xfrm>
                <a:off x="9501371" y="5799817"/>
                <a:ext cx="48981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m:t>
                          </m:r>
                        </m:sub>
                      </m:sSub>
                    </m:oMath>
                  </m:oMathPara>
                </a14:m>
                <a:endParaRPr kumimoji="1" lang="ja-JP" altLang="en-US" sz="2000"/>
              </a:p>
            </p:txBody>
          </p:sp>
        </mc:Choice>
        <mc:Fallback xmlns="">
          <p:sp>
            <p:nvSpPr>
              <p:cNvPr id="41" name="テキスト ボックス 40">
                <a:extLst>
                  <a:ext uri="{FF2B5EF4-FFF2-40B4-BE49-F238E27FC236}">
                    <a16:creationId xmlns:a16="http://schemas.microsoft.com/office/drawing/2014/main" id="{2EB59EC6-1C4C-395D-6625-72FE18ED1917}"/>
                  </a:ext>
                </a:extLst>
              </p:cNvPr>
              <p:cNvSpPr txBox="1">
                <a:spLocks noRot="1" noChangeAspect="1" noMove="1" noResize="1" noEditPoints="1" noAdjustHandles="1" noChangeArrowheads="1" noChangeShapeType="1" noTextEdit="1"/>
              </p:cNvSpPr>
              <p:nvPr/>
            </p:nvSpPr>
            <p:spPr>
              <a:xfrm>
                <a:off x="9501371" y="5799817"/>
                <a:ext cx="489814" cy="400110"/>
              </a:xfrm>
              <a:prstGeom prst="rect">
                <a:avLst/>
              </a:prstGeom>
              <a:blipFill>
                <a:blip r:embed="rId27"/>
                <a:stretch>
                  <a:fillRect/>
                </a:stretch>
              </a:blipFill>
            </p:spPr>
            <p:txBody>
              <a:bodyPr/>
              <a:lstStyle/>
              <a:p>
                <a:r>
                  <a:rPr lang="ja-JP" altLang="en-US">
                    <a:noFill/>
                  </a:rPr>
                  <a:t> </a:t>
                </a:r>
              </a:p>
            </p:txBody>
          </p:sp>
        </mc:Fallback>
      </mc:AlternateContent>
      <p:cxnSp>
        <p:nvCxnSpPr>
          <p:cNvPr id="43" name="直線コネクタ 42">
            <a:extLst>
              <a:ext uri="{FF2B5EF4-FFF2-40B4-BE49-F238E27FC236}">
                <a16:creationId xmlns:a16="http://schemas.microsoft.com/office/drawing/2014/main" id="{6F0895EF-EF84-F143-D518-35573ADCDAAC}"/>
              </a:ext>
            </a:extLst>
          </p:cNvPr>
          <p:cNvCxnSpPr>
            <a:cxnSpLocks/>
          </p:cNvCxnSpPr>
          <p:nvPr/>
        </p:nvCxnSpPr>
        <p:spPr>
          <a:xfrm flipV="1">
            <a:off x="7498080" y="3996289"/>
            <a:ext cx="4496396" cy="1305304"/>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C1457B2C-33B9-07D7-7B0F-932332DFB581}"/>
                  </a:ext>
                </a:extLst>
              </p:cNvPr>
              <p:cNvSpPr txBox="1"/>
              <p:nvPr/>
            </p:nvSpPr>
            <p:spPr>
              <a:xfrm>
                <a:off x="7761395" y="2569257"/>
                <a:ext cx="3213205" cy="1077218"/>
              </a:xfrm>
              <a:prstGeom prst="rect">
                <a:avLst/>
              </a:prstGeom>
              <a:solidFill>
                <a:schemeClr val="accent2">
                  <a:lumMod val="20000"/>
                  <a:lumOff val="80000"/>
                </a:schemeClr>
              </a:solidFill>
            </p:spPr>
            <p:txBody>
              <a:bodyPr wrap="square" rtlCol="0">
                <a:spAutoFit/>
              </a:bodyPr>
              <a:lstStyle/>
              <a:p>
                <a:pPr algn="ctr"/>
                <a:r>
                  <a:rPr kumimoji="1" lang="ja-JP" altLang="en-US" sz="3200" b="0">
                    <a:solidFill>
                      <a:srgbClr val="0070C0"/>
                    </a:solidFill>
                    <a:latin typeface="Cambria Math" panose="02040503050406030204" pitchFamily="18" charset="0"/>
                  </a:rPr>
                  <a:t>主成分</a:t>
                </a:r>
                <a:endParaRPr kumimoji="1" lang="en-US" altLang="ja-JP" sz="3200" b="0" dirty="0">
                  <a:solidFill>
                    <a:srgbClr val="0070C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kumimoji="1" lang="en-US" altLang="ja-JP" sz="3200" b="0" i="1" smtClean="0">
                          <a:solidFill>
                            <a:srgbClr val="0070C0"/>
                          </a:solidFill>
                          <a:latin typeface="Cambria Math" panose="02040503050406030204" pitchFamily="18" charset="0"/>
                        </a:rPr>
                        <m:t>𝑦</m:t>
                      </m:r>
                      <m:r>
                        <a:rPr kumimoji="1" lang="en-US" altLang="ja-JP" sz="3200" b="0" i="1" smtClean="0">
                          <a:solidFill>
                            <a:srgbClr val="0070C0"/>
                          </a:solidFill>
                          <a:latin typeface="Cambria Math" panose="02040503050406030204" pitchFamily="18" charset="0"/>
                        </a:rPr>
                        <m:t>=</m:t>
                      </m:r>
                      <m:sSub>
                        <m:sSubPr>
                          <m:ctrlPr>
                            <a:rPr kumimoji="1" lang="en-US" altLang="ja-JP" sz="3200" b="0" i="1" smtClean="0">
                              <a:solidFill>
                                <a:srgbClr val="0070C0"/>
                              </a:solidFill>
                              <a:latin typeface="Cambria Math" panose="02040503050406030204" pitchFamily="18" charset="0"/>
                            </a:rPr>
                          </m:ctrlPr>
                        </m:sSubPr>
                        <m:e>
                          <m:r>
                            <a:rPr kumimoji="1" lang="en-US" altLang="ja-JP" sz="3200" b="0" i="1" smtClean="0">
                              <a:solidFill>
                                <a:srgbClr val="0070C0"/>
                              </a:solidFill>
                              <a:latin typeface="Cambria Math" panose="02040503050406030204" pitchFamily="18" charset="0"/>
                            </a:rPr>
                            <m:t>𝑣</m:t>
                          </m:r>
                        </m:e>
                        <m:sub>
                          <m:r>
                            <a:rPr kumimoji="1" lang="en-US" altLang="ja-JP" sz="3200" b="0" i="1" smtClean="0">
                              <a:solidFill>
                                <a:srgbClr val="0070C0"/>
                              </a:solidFill>
                              <a:latin typeface="Cambria Math" panose="02040503050406030204" pitchFamily="18" charset="0"/>
                            </a:rPr>
                            <m:t>1</m:t>
                          </m:r>
                        </m:sub>
                      </m:sSub>
                      <m:sSub>
                        <m:sSubPr>
                          <m:ctrlPr>
                            <a:rPr kumimoji="1" lang="en-US" altLang="ja-JP" sz="3200" b="0" i="1" smtClean="0">
                              <a:solidFill>
                                <a:srgbClr val="0070C0"/>
                              </a:solidFill>
                              <a:latin typeface="Cambria Math" panose="02040503050406030204" pitchFamily="18" charset="0"/>
                            </a:rPr>
                          </m:ctrlPr>
                        </m:sSubPr>
                        <m:e>
                          <m:r>
                            <a:rPr kumimoji="1" lang="en-US" altLang="ja-JP" sz="3200" b="0" i="1" smtClean="0">
                              <a:solidFill>
                                <a:srgbClr val="0070C0"/>
                              </a:solidFill>
                              <a:latin typeface="Cambria Math" panose="02040503050406030204" pitchFamily="18" charset="0"/>
                            </a:rPr>
                            <m:t>𝑥</m:t>
                          </m:r>
                        </m:e>
                        <m:sub>
                          <m:r>
                            <a:rPr kumimoji="1" lang="en-US" altLang="ja-JP" sz="3200" b="0" i="1" smtClean="0">
                              <a:solidFill>
                                <a:srgbClr val="0070C0"/>
                              </a:solidFill>
                              <a:latin typeface="Cambria Math" panose="02040503050406030204" pitchFamily="18" charset="0"/>
                            </a:rPr>
                            <m:t>1</m:t>
                          </m:r>
                        </m:sub>
                      </m:sSub>
                      <m:r>
                        <a:rPr kumimoji="1" lang="en-US" altLang="ja-JP" sz="3200" b="0" i="1" smtClean="0">
                          <a:solidFill>
                            <a:srgbClr val="0070C0"/>
                          </a:solidFill>
                          <a:latin typeface="Cambria Math" panose="02040503050406030204" pitchFamily="18" charset="0"/>
                        </a:rPr>
                        <m:t>+</m:t>
                      </m:r>
                      <m:sSub>
                        <m:sSubPr>
                          <m:ctrlPr>
                            <a:rPr kumimoji="1" lang="en-US" altLang="ja-JP" sz="3200" b="0" i="1" smtClean="0">
                              <a:solidFill>
                                <a:srgbClr val="0070C0"/>
                              </a:solidFill>
                              <a:latin typeface="Cambria Math" panose="02040503050406030204" pitchFamily="18" charset="0"/>
                            </a:rPr>
                          </m:ctrlPr>
                        </m:sSubPr>
                        <m:e>
                          <m:r>
                            <a:rPr kumimoji="1" lang="en-US" altLang="ja-JP" sz="3200" b="0" i="1" smtClean="0">
                              <a:solidFill>
                                <a:srgbClr val="0070C0"/>
                              </a:solidFill>
                              <a:latin typeface="Cambria Math" panose="02040503050406030204" pitchFamily="18" charset="0"/>
                            </a:rPr>
                            <m:t>𝑣</m:t>
                          </m:r>
                        </m:e>
                        <m:sub>
                          <m:r>
                            <a:rPr kumimoji="1" lang="en-US" altLang="ja-JP" sz="3200" b="0" i="1" smtClean="0">
                              <a:solidFill>
                                <a:srgbClr val="0070C0"/>
                              </a:solidFill>
                              <a:latin typeface="Cambria Math" panose="02040503050406030204" pitchFamily="18" charset="0"/>
                            </a:rPr>
                            <m:t>2</m:t>
                          </m:r>
                        </m:sub>
                      </m:sSub>
                      <m:sSub>
                        <m:sSubPr>
                          <m:ctrlPr>
                            <a:rPr kumimoji="1" lang="en-US" altLang="ja-JP" sz="3200" b="0" i="1" smtClean="0">
                              <a:solidFill>
                                <a:srgbClr val="0070C0"/>
                              </a:solidFill>
                              <a:latin typeface="Cambria Math" panose="02040503050406030204" pitchFamily="18" charset="0"/>
                            </a:rPr>
                          </m:ctrlPr>
                        </m:sSubPr>
                        <m:e>
                          <m:r>
                            <a:rPr kumimoji="1" lang="en-US" altLang="ja-JP" sz="3200" b="0" i="1" smtClean="0">
                              <a:solidFill>
                                <a:srgbClr val="0070C0"/>
                              </a:solidFill>
                              <a:latin typeface="Cambria Math" panose="02040503050406030204" pitchFamily="18" charset="0"/>
                            </a:rPr>
                            <m:t>𝑥</m:t>
                          </m:r>
                        </m:e>
                        <m:sub>
                          <m:r>
                            <a:rPr kumimoji="1" lang="en-US" altLang="ja-JP" sz="3200" b="0" i="1" smtClean="0">
                              <a:solidFill>
                                <a:srgbClr val="0070C0"/>
                              </a:solidFill>
                              <a:latin typeface="Cambria Math" panose="02040503050406030204" pitchFamily="18" charset="0"/>
                            </a:rPr>
                            <m:t>2</m:t>
                          </m:r>
                        </m:sub>
                      </m:sSub>
                    </m:oMath>
                  </m:oMathPara>
                </a14:m>
                <a:endParaRPr kumimoji="1" lang="ja-JP" altLang="en-US" sz="3200">
                  <a:solidFill>
                    <a:srgbClr val="0070C0"/>
                  </a:solidFill>
                </a:endParaRPr>
              </a:p>
            </p:txBody>
          </p:sp>
        </mc:Choice>
        <mc:Fallback xmlns="">
          <p:sp>
            <p:nvSpPr>
              <p:cNvPr id="23" name="テキスト ボックス 22">
                <a:extLst>
                  <a:ext uri="{FF2B5EF4-FFF2-40B4-BE49-F238E27FC236}">
                    <a16:creationId xmlns:a16="http://schemas.microsoft.com/office/drawing/2014/main" id="{C1457B2C-33B9-07D7-7B0F-932332DFB581}"/>
                  </a:ext>
                </a:extLst>
              </p:cNvPr>
              <p:cNvSpPr txBox="1">
                <a:spLocks noRot="1" noChangeAspect="1" noMove="1" noResize="1" noEditPoints="1" noAdjustHandles="1" noChangeArrowheads="1" noChangeShapeType="1" noTextEdit="1"/>
              </p:cNvSpPr>
              <p:nvPr/>
            </p:nvSpPr>
            <p:spPr>
              <a:xfrm>
                <a:off x="7761395" y="2569257"/>
                <a:ext cx="3213205" cy="1077218"/>
              </a:xfrm>
              <a:prstGeom prst="rect">
                <a:avLst/>
              </a:prstGeom>
              <a:blipFill>
                <a:blip r:embed="rId28"/>
                <a:stretch>
                  <a:fillRect t="-5814" b="-581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0" name="コンテンツ プレースホルダー 2">
                <a:extLst>
                  <a:ext uri="{FF2B5EF4-FFF2-40B4-BE49-F238E27FC236}">
                    <a16:creationId xmlns:a16="http://schemas.microsoft.com/office/drawing/2014/main" id="{44B97B73-2C7D-3E0D-8172-2D6934EEE01F}"/>
                  </a:ext>
                </a:extLst>
              </p:cNvPr>
              <p:cNvSpPr>
                <a:spLocks noGrp="1"/>
              </p:cNvSpPr>
              <p:nvPr>
                <p:ph idx="1"/>
              </p:nvPr>
            </p:nvSpPr>
            <p:spPr>
              <a:xfrm>
                <a:off x="75236" y="658276"/>
                <a:ext cx="12041528" cy="775509"/>
              </a:xfrm>
            </p:spPr>
            <p:txBody>
              <a:bodyPr>
                <a:noAutofit/>
              </a:bodyPr>
              <a:lstStyle/>
              <a:p>
                <a:pPr marL="0" indent="0">
                  <a:buNone/>
                </a:pPr>
                <a14:m>
                  <m:oMath xmlns:m="http://schemas.openxmlformats.org/officeDocument/2006/math">
                    <m:r>
                      <a:rPr lang="en-US" altLang="ja-JP" b="0" i="1" smtClean="0">
                        <a:latin typeface="Cambria Math" panose="02040503050406030204" pitchFamily="18" charset="0"/>
                      </a:rPr>
                      <m:t>𝑝</m:t>
                    </m:r>
                  </m:oMath>
                </a14:m>
                <a:r>
                  <a:rPr lang="ja-JP" altLang="en-US">
                    <a:latin typeface="+mn-ea"/>
                  </a:rPr>
                  <a:t>次元観測データ</a:t>
                </a:r>
                <a14:m>
                  <m:oMath xmlns:m="http://schemas.openxmlformats.org/officeDocument/2006/math">
                    <m:d>
                      <m:dPr>
                        <m:begChr m:val="{"/>
                        <m:endChr m:val="}"/>
                        <m:ctrlPr>
                          <a:rPr lang="en-US" altLang="ja-JP" b="0" i="1" smtClean="0">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𝑖</m:t>
                            </m:r>
                          </m:sub>
                        </m:sSub>
                        <m:r>
                          <a:rPr lang="en-US" altLang="ja-JP">
                            <a:latin typeface="Cambria Math" panose="02040503050406030204" pitchFamily="18" charset="0"/>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𝑖𝑝</m:t>
                                    </m:r>
                                  </m:sub>
                                </m:sSub>
                                <m:r>
                                  <a:rPr lang="en-US" altLang="ja-JP" i="1">
                                    <a:latin typeface="Cambria Math" panose="02040503050406030204" pitchFamily="18" charset="0"/>
                                  </a:rPr>
                                  <m:t> </m:t>
                                </m:r>
                              </m:e>
                            </m:d>
                          </m:e>
                          <m:sup>
                            <m:r>
                              <a:rPr lang="en-US" altLang="ja-JP" i="1">
                                <a:latin typeface="Cambria Math" panose="02040503050406030204" pitchFamily="18" charset="0"/>
                              </a:rPr>
                              <m:t>𝑇</m:t>
                            </m:r>
                          </m:sup>
                        </m:sSup>
                        <m:r>
                          <a:rPr lang="en-US" altLang="ja-JP" b="0" i="1" smtClean="0">
                            <a:latin typeface="Cambria Math" panose="02040503050406030204" pitchFamily="18" charset="0"/>
                          </a:rPr>
                          <m:t>; </m:t>
                        </m:r>
                        <m:r>
                          <a:rPr lang="en-US" altLang="ja-JP" i="1">
                            <a:latin typeface="Cambria Math" panose="02040503050406030204" pitchFamily="18" charset="0"/>
                          </a:rPr>
                          <m:t>𝑖</m:t>
                        </m:r>
                        <m:r>
                          <a:rPr lang="en-US" altLang="ja-JP" i="1">
                            <a:latin typeface="Cambria Math" panose="02040503050406030204" pitchFamily="18" charset="0"/>
                          </a:rPr>
                          <m:t>=1,…,</m:t>
                        </m:r>
                        <m:r>
                          <a:rPr lang="en-US" altLang="ja-JP" i="1">
                            <a:latin typeface="Cambria Math" panose="02040503050406030204" pitchFamily="18" charset="0"/>
                          </a:rPr>
                          <m:t>𝑛</m:t>
                        </m:r>
                      </m:e>
                    </m:d>
                  </m:oMath>
                </a14:m>
                <a:r>
                  <a:rPr lang="ja-JP" altLang="en-US">
                    <a:latin typeface="+mn-ea"/>
                  </a:rPr>
                  <a:t>の情報を要約し，データの解釈を容易にしたい</a:t>
                </a:r>
                <a:endParaRPr kumimoji="1" lang="en-US" altLang="ja-JP" b="1" dirty="0">
                  <a:latin typeface="+mn-ea"/>
                </a:endParaRPr>
              </a:p>
            </p:txBody>
          </p:sp>
        </mc:Choice>
        <mc:Fallback xmlns="">
          <p:sp>
            <p:nvSpPr>
              <p:cNvPr id="50" name="コンテンツ プレースホルダー 2">
                <a:extLst>
                  <a:ext uri="{FF2B5EF4-FFF2-40B4-BE49-F238E27FC236}">
                    <a16:creationId xmlns:a16="http://schemas.microsoft.com/office/drawing/2014/main" id="{44B97B73-2C7D-3E0D-8172-2D6934EEE01F}"/>
                  </a:ext>
                </a:extLst>
              </p:cNvPr>
              <p:cNvSpPr>
                <a:spLocks noGrp="1" noRot="1" noChangeAspect="1" noMove="1" noResize="1" noEditPoints="1" noAdjustHandles="1" noChangeArrowheads="1" noChangeShapeType="1" noTextEdit="1"/>
              </p:cNvSpPr>
              <p:nvPr>
                <p:ph idx="1"/>
              </p:nvPr>
            </p:nvSpPr>
            <p:spPr>
              <a:xfrm>
                <a:off x="75236" y="658276"/>
                <a:ext cx="12041528" cy="775509"/>
              </a:xfrm>
              <a:blipFill>
                <a:blip r:embed="rId29"/>
                <a:stretch>
                  <a:fillRect l="-1053" b="-5806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B3EEBE68-8A19-F4EA-20CF-DBB40F98F996}"/>
                  </a:ext>
                </a:extLst>
              </p:cNvPr>
              <p:cNvSpPr txBox="1"/>
              <p:nvPr/>
            </p:nvSpPr>
            <p:spPr>
              <a:xfrm>
                <a:off x="3933219" y="1594270"/>
                <a:ext cx="7813165" cy="954107"/>
              </a:xfrm>
              <a:prstGeom prst="rect">
                <a:avLst/>
              </a:prstGeom>
              <a:noFill/>
            </p:spPr>
            <p:txBody>
              <a:bodyPr wrap="square" rtlCol="0">
                <a:spAutoFit/>
              </a:bodyPr>
              <a:lstStyle/>
              <a:p>
                <a:pPr algn="ctr"/>
                <a:r>
                  <a:rPr lang="ja-JP" altLang="en-US" sz="2800"/>
                  <a:t>主成分負荷量</a:t>
                </a:r>
                <a:r>
                  <a:rPr lang="en-US" altLang="ja-JP" sz="2800" dirty="0"/>
                  <a:t> </a:t>
                </a:r>
                <a14:m>
                  <m:oMath xmlns:m="http://schemas.openxmlformats.org/officeDocument/2006/math">
                    <m:r>
                      <a:rPr lang="en-US" altLang="ja-JP" sz="2800" b="1" i="1" smtClean="0">
                        <a:latin typeface="Cambria Math" panose="02040503050406030204" pitchFamily="18" charset="0"/>
                      </a:rPr>
                      <m:t>𝒗</m:t>
                    </m:r>
                    <m:r>
                      <a:rPr lang="en-US" altLang="ja-JP" sz="2800" b="0" i="0" smtClean="0">
                        <a:latin typeface="Cambria Math" panose="02040503050406030204" pitchFamily="18" charset="0"/>
                      </a:rPr>
                      <m:t>=</m:t>
                    </m:r>
                    <m:sSup>
                      <m:sSupPr>
                        <m:ctrlPr>
                          <a:rPr lang="en-US" altLang="ja-JP" sz="2800" b="0" i="1" smtClean="0">
                            <a:latin typeface="Cambria Math" panose="02040503050406030204" pitchFamily="18" charset="0"/>
                          </a:rPr>
                        </m:ctrlPr>
                      </m:sSupPr>
                      <m:e>
                        <m:d>
                          <m:dPr>
                            <m:ctrlPr>
                              <a:rPr lang="en-US" altLang="ja-JP" sz="2800" b="0" i="1" smtClean="0">
                                <a:latin typeface="Cambria Math" panose="02040503050406030204" pitchFamily="18" charset="0"/>
                              </a:rPr>
                            </m:ctrlPr>
                          </m:dPr>
                          <m:e>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𝑣</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 </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𝑣</m:t>
                                </m:r>
                              </m:e>
                              <m:sub>
                                <m:r>
                                  <a:rPr lang="en-US" altLang="ja-JP" sz="2800" b="0" i="1" smtClean="0">
                                    <a:latin typeface="Cambria Math" panose="02040503050406030204" pitchFamily="18" charset="0"/>
                                  </a:rPr>
                                  <m:t>2</m:t>
                                </m:r>
                              </m:sub>
                            </m:sSub>
                          </m:e>
                        </m:d>
                      </m:e>
                      <m:sup>
                        <m:r>
                          <m:rPr>
                            <m:sty m:val="p"/>
                          </m:rPr>
                          <a:rPr lang="en-US" altLang="ja-JP" sz="2800" b="0" i="0" smtClean="0">
                            <a:latin typeface="Cambria Math" panose="02040503050406030204" pitchFamily="18" charset="0"/>
                          </a:rPr>
                          <m:t>T</m:t>
                        </m:r>
                      </m:sup>
                    </m:sSup>
                  </m:oMath>
                </a14:m>
                <a:r>
                  <a:rPr lang="ja-JP" altLang="en-US" sz="2800">
                    <a:latin typeface="+mn-ea"/>
                  </a:rPr>
                  <a:t>の</a:t>
                </a:r>
                <a:r>
                  <a:rPr kumimoji="1" lang="ja-JP" altLang="en-US" sz="2800">
                    <a:latin typeface="+mn-ea"/>
                    <a:cs typeface="ヒラギノ角ゴ Pro W3"/>
                  </a:rPr>
                  <a:t>値が大きいほど</a:t>
                </a:r>
                <a:endParaRPr kumimoji="1" lang="en-US" altLang="ja-JP" sz="2800" dirty="0">
                  <a:latin typeface="+mn-ea"/>
                  <a:cs typeface="ヒラギノ角ゴ Pro W3"/>
                </a:endParaRPr>
              </a:p>
              <a:p>
                <a:pPr algn="ctr"/>
                <a:r>
                  <a:rPr kumimoji="1" lang="ja-JP" altLang="en-US" sz="2800">
                    <a:latin typeface="+mn-ea"/>
                    <a:cs typeface="ヒラギノ角ゴ Pro W3"/>
                  </a:rPr>
                  <a:t>主成分に大きく影響</a:t>
                </a:r>
                <a:endParaRPr kumimoji="1" lang="ja-JP" altLang="en-US" sz="2800" dirty="0">
                  <a:latin typeface="ヒラギノ角ゴ Pro W3"/>
                  <a:ea typeface="ヒラギノ角ゴ Pro W3"/>
                  <a:cs typeface="ヒラギノ角ゴ Pro W3"/>
                </a:endParaRPr>
              </a:p>
            </p:txBody>
          </p:sp>
        </mc:Choice>
        <mc:Fallback xmlns="">
          <p:sp>
            <p:nvSpPr>
              <p:cNvPr id="48" name="テキスト ボックス 47">
                <a:extLst>
                  <a:ext uri="{FF2B5EF4-FFF2-40B4-BE49-F238E27FC236}">
                    <a16:creationId xmlns:a16="http://schemas.microsoft.com/office/drawing/2014/main" id="{B3EEBE68-8A19-F4EA-20CF-DBB40F98F996}"/>
                  </a:ext>
                </a:extLst>
              </p:cNvPr>
              <p:cNvSpPr txBox="1">
                <a:spLocks noRot="1" noChangeAspect="1" noMove="1" noResize="1" noEditPoints="1" noAdjustHandles="1" noChangeArrowheads="1" noChangeShapeType="1" noTextEdit="1"/>
              </p:cNvSpPr>
              <p:nvPr/>
            </p:nvSpPr>
            <p:spPr>
              <a:xfrm>
                <a:off x="3933219" y="1594270"/>
                <a:ext cx="7813165" cy="954107"/>
              </a:xfrm>
              <a:prstGeom prst="rect">
                <a:avLst/>
              </a:prstGeom>
              <a:blipFill>
                <a:blip r:embed="rId30"/>
                <a:stretch>
                  <a:fillRect t="-5263" b="-18421"/>
                </a:stretch>
              </a:blipFill>
            </p:spPr>
            <p:txBody>
              <a:bodyPr/>
              <a:lstStyle/>
              <a:p>
                <a:r>
                  <a:rPr lang="ja-JP" altLang="en-US">
                    <a:noFill/>
                  </a:rPr>
                  <a:t> </a:t>
                </a:r>
              </a:p>
            </p:txBody>
          </p:sp>
        </mc:Fallback>
      </mc:AlternateContent>
      <p:sp>
        <p:nvSpPr>
          <p:cNvPr id="49" name="角丸四角形吹き出し 48">
            <a:extLst>
              <a:ext uri="{FF2B5EF4-FFF2-40B4-BE49-F238E27FC236}">
                <a16:creationId xmlns:a16="http://schemas.microsoft.com/office/drawing/2014/main" id="{004CE18A-1651-5100-418A-2848BC8D3349}"/>
              </a:ext>
            </a:extLst>
          </p:cNvPr>
          <p:cNvSpPr/>
          <p:nvPr/>
        </p:nvSpPr>
        <p:spPr>
          <a:xfrm rot="10800000">
            <a:off x="3882556" y="1534337"/>
            <a:ext cx="8113731" cy="1028107"/>
          </a:xfrm>
          <a:prstGeom prst="wedgeRoundRectCallout">
            <a:avLst>
              <a:gd name="adj1" fmla="val 3775"/>
              <a:gd name="adj2" fmla="val -81911"/>
              <a:gd name="adj3" fmla="val 16667"/>
            </a:avLst>
          </a:prstGeom>
          <a:noFill/>
          <a:ln w="254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cxnSp>
        <p:nvCxnSpPr>
          <p:cNvPr id="56" name="直線コネクタ 55">
            <a:extLst>
              <a:ext uri="{FF2B5EF4-FFF2-40B4-BE49-F238E27FC236}">
                <a16:creationId xmlns:a16="http://schemas.microsoft.com/office/drawing/2014/main" id="{B8B73EB0-6E29-A573-57D4-21FCCD96FD40}"/>
              </a:ext>
            </a:extLst>
          </p:cNvPr>
          <p:cNvCxnSpPr>
            <a:cxnSpLocks/>
          </p:cNvCxnSpPr>
          <p:nvPr/>
        </p:nvCxnSpPr>
        <p:spPr>
          <a:xfrm>
            <a:off x="11518791" y="3753920"/>
            <a:ext cx="120316" cy="34173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1">
            <p14:nvContentPartPr>
              <p14:cNvPr id="71" name="インク 70">
                <a:extLst>
                  <a:ext uri="{FF2B5EF4-FFF2-40B4-BE49-F238E27FC236}">
                    <a16:creationId xmlns:a16="http://schemas.microsoft.com/office/drawing/2014/main" id="{BEDB3B58-C471-8491-3EE4-BB0296D701FC}"/>
                  </a:ext>
                </a:extLst>
              </p14:cNvPr>
              <p14:cNvContentPartPr/>
              <p14:nvPr/>
            </p14:nvContentPartPr>
            <p14:xfrm>
              <a:off x="3542974" y="3551132"/>
              <a:ext cx="360" cy="360"/>
            </p14:xfrm>
          </p:contentPart>
        </mc:Choice>
        <mc:Fallback xmlns="">
          <p:pic>
            <p:nvPicPr>
              <p:cNvPr id="71" name="インク 70">
                <a:extLst>
                  <a:ext uri="{FF2B5EF4-FFF2-40B4-BE49-F238E27FC236}">
                    <a16:creationId xmlns:a16="http://schemas.microsoft.com/office/drawing/2014/main" id="{BEDB3B58-C471-8491-3EE4-BB0296D701FC}"/>
                  </a:ext>
                </a:extLst>
              </p:cNvPr>
              <p:cNvPicPr/>
              <p:nvPr/>
            </p:nvPicPr>
            <p:blipFill>
              <a:blip r:embed="rId32"/>
              <a:stretch>
                <a:fillRect/>
              </a:stretch>
            </p:blipFill>
            <p:spPr>
              <a:xfrm>
                <a:off x="3479974" y="34881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3" name="インク 72">
                <a:extLst>
                  <a:ext uri="{FF2B5EF4-FFF2-40B4-BE49-F238E27FC236}">
                    <a16:creationId xmlns:a16="http://schemas.microsoft.com/office/drawing/2014/main" id="{059D2253-9AB2-F809-7EFD-BE1AB8386D20}"/>
                  </a:ext>
                </a:extLst>
              </p14:cNvPr>
              <p14:cNvContentPartPr/>
              <p14:nvPr/>
            </p14:nvContentPartPr>
            <p14:xfrm>
              <a:off x="1623078" y="2949295"/>
              <a:ext cx="360" cy="360"/>
            </p14:xfrm>
          </p:contentPart>
        </mc:Choice>
        <mc:Fallback xmlns="">
          <p:pic>
            <p:nvPicPr>
              <p:cNvPr id="73" name="インク 72">
                <a:extLst>
                  <a:ext uri="{FF2B5EF4-FFF2-40B4-BE49-F238E27FC236}">
                    <a16:creationId xmlns:a16="http://schemas.microsoft.com/office/drawing/2014/main" id="{059D2253-9AB2-F809-7EFD-BE1AB8386D20}"/>
                  </a:ext>
                </a:extLst>
              </p:cNvPr>
              <p:cNvPicPr/>
              <p:nvPr/>
            </p:nvPicPr>
            <p:blipFill>
              <a:blip r:embed="rId32"/>
              <a:stretch>
                <a:fillRect/>
              </a:stretch>
            </p:blipFill>
            <p:spPr>
              <a:xfrm>
                <a:off x="1560078" y="2886295"/>
                <a:ext cx="126000" cy="126000"/>
              </a:xfrm>
              <a:prstGeom prst="rect">
                <a:avLst/>
              </a:prstGeom>
            </p:spPr>
          </p:pic>
        </mc:Fallback>
      </mc:AlternateContent>
      <p:sp>
        <p:nvSpPr>
          <p:cNvPr id="4" name="テキスト ボックス 3">
            <a:extLst>
              <a:ext uri="{FF2B5EF4-FFF2-40B4-BE49-F238E27FC236}">
                <a16:creationId xmlns:a16="http://schemas.microsoft.com/office/drawing/2014/main" id="{A48610BB-7DFF-E6F6-1E15-419F08389AF6}"/>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3/28</a:t>
            </a:r>
            <a:endParaRPr kumimoji="1" lang="ja-JP" altLang="en-US" sz="2800">
              <a:latin typeface="+mj-ea"/>
              <a:ea typeface="+mj-ea"/>
            </a:endParaRPr>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40C58A07-86D8-BC24-95F3-C8673187219D}"/>
                  </a:ext>
                </a:extLst>
              </p:cNvPr>
              <p:cNvSpPr txBox="1"/>
              <p:nvPr/>
            </p:nvSpPr>
            <p:spPr>
              <a:xfrm>
                <a:off x="2801610" y="5770267"/>
                <a:ext cx="48981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m:t>
                          </m:r>
                        </m:sub>
                      </m:sSub>
                    </m:oMath>
                  </m:oMathPara>
                </a14:m>
                <a:endParaRPr kumimoji="1" lang="ja-JP" altLang="en-US" sz="2000"/>
              </a:p>
            </p:txBody>
          </p:sp>
        </mc:Choice>
        <mc:Fallback xmlns="">
          <p:sp>
            <p:nvSpPr>
              <p:cNvPr id="33" name="テキスト ボックス 32">
                <a:extLst>
                  <a:ext uri="{FF2B5EF4-FFF2-40B4-BE49-F238E27FC236}">
                    <a16:creationId xmlns:a16="http://schemas.microsoft.com/office/drawing/2014/main" id="{40C58A07-86D8-BC24-95F3-C8673187219D}"/>
                  </a:ext>
                </a:extLst>
              </p:cNvPr>
              <p:cNvSpPr txBox="1">
                <a:spLocks noRot="1" noChangeAspect="1" noMove="1" noResize="1" noEditPoints="1" noAdjustHandles="1" noChangeArrowheads="1" noChangeShapeType="1" noTextEdit="1"/>
              </p:cNvSpPr>
              <p:nvPr/>
            </p:nvSpPr>
            <p:spPr>
              <a:xfrm>
                <a:off x="2801610" y="5770267"/>
                <a:ext cx="489814" cy="400110"/>
              </a:xfrm>
              <a:prstGeom prst="rect">
                <a:avLst/>
              </a:prstGeom>
              <a:blipFill>
                <a:blip r:embed="rId3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A89470A2-1619-0ED2-062A-B3BBD0661B81}"/>
                  </a:ext>
                </a:extLst>
              </p:cNvPr>
              <p:cNvSpPr txBox="1"/>
              <p:nvPr/>
            </p:nvSpPr>
            <p:spPr>
              <a:xfrm>
                <a:off x="1" y="3997816"/>
                <a:ext cx="3954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2</m:t>
                          </m:r>
                        </m:sub>
                      </m:sSub>
                    </m:oMath>
                  </m:oMathPara>
                </a14:m>
                <a:endParaRPr kumimoji="1" lang="ja-JP" altLang="en-US" sz="2000"/>
              </a:p>
            </p:txBody>
          </p:sp>
        </mc:Choice>
        <mc:Fallback xmlns="">
          <p:sp>
            <p:nvSpPr>
              <p:cNvPr id="38" name="テキスト ボックス 37">
                <a:extLst>
                  <a:ext uri="{FF2B5EF4-FFF2-40B4-BE49-F238E27FC236}">
                    <a16:creationId xmlns:a16="http://schemas.microsoft.com/office/drawing/2014/main" id="{A89470A2-1619-0ED2-062A-B3BBD0661B81}"/>
                  </a:ext>
                </a:extLst>
              </p:cNvPr>
              <p:cNvSpPr txBox="1">
                <a:spLocks noRot="1" noChangeAspect="1" noMove="1" noResize="1" noEditPoints="1" noAdjustHandles="1" noChangeArrowheads="1" noChangeShapeType="1" noTextEdit="1"/>
              </p:cNvSpPr>
              <p:nvPr/>
            </p:nvSpPr>
            <p:spPr>
              <a:xfrm>
                <a:off x="1" y="3997816"/>
                <a:ext cx="395416" cy="400110"/>
              </a:xfrm>
              <a:prstGeom prst="rect">
                <a:avLst/>
              </a:prstGeom>
              <a:blipFill>
                <a:blip r:embed="rId35"/>
                <a:stretch>
                  <a:fillRect/>
                </a:stretch>
              </a:blipFill>
            </p:spPr>
            <p:txBody>
              <a:bodyPr/>
              <a:lstStyle/>
              <a:p>
                <a:r>
                  <a:rPr lang="ja-JP" altLang="en-US">
                    <a:noFill/>
                  </a:rPr>
                  <a:t> </a:t>
                </a:r>
              </a:p>
            </p:txBody>
          </p:sp>
        </mc:Fallback>
      </mc:AlternateContent>
      <p:cxnSp>
        <p:nvCxnSpPr>
          <p:cNvPr id="53" name="直線コネクタ 52">
            <a:extLst>
              <a:ext uri="{FF2B5EF4-FFF2-40B4-BE49-F238E27FC236}">
                <a16:creationId xmlns:a16="http://schemas.microsoft.com/office/drawing/2014/main" id="{52C57A04-89B6-875E-3D5E-525955E4C16D}"/>
              </a:ext>
            </a:extLst>
          </p:cNvPr>
          <p:cNvCxnSpPr>
            <a:cxnSpLocks/>
          </p:cNvCxnSpPr>
          <p:nvPr/>
        </p:nvCxnSpPr>
        <p:spPr>
          <a:xfrm>
            <a:off x="11211777" y="4227837"/>
            <a:ext cx="162467" cy="45004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4E6A6415-45BD-37A7-46B8-76B09BCDE28F}"/>
              </a:ext>
            </a:extLst>
          </p:cNvPr>
          <p:cNvCxnSpPr>
            <a:cxnSpLocks/>
          </p:cNvCxnSpPr>
          <p:nvPr/>
        </p:nvCxnSpPr>
        <p:spPr>
          <a:xfrm>
            <a:off x="11157178" y="4250020"/>
            <a:ext cx="54599" cy="13674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176CF2F7-6B25-A60C-4364-4A2C20CCEEC8}"/>
              </a:ext>
            </a:extLst>
          </p:cNvPr>
          <p:cNvCxnSpPr>
            <a:cxnSpLocks/>
          </p:cNvCxnSpPr>
          <p:nvPr/>
        </p:nvCxnSpPr>
        <p:spPr>
          <a:xfrm>
            <a:off x="9929890" y="4634364"/>
            <a:ext cx="225661" cy="58313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9E1EE0FD-8EE1-52B5-64CC-47AA3A914D7F}"/>
              </a:ext>
            </a:extLst>
          </p:cNvPr>
          <p:cNvCxnSpPr>
            <a:cxnSpLocks/>
          </p:cNvCxnSpPr>
          <p:nvPr/>
        </p:nvCxnSpPr>
        <p:spPr>
          <a:xfrm>
            <a:off x="8502975" y="3925561"/>
            <a:ext cx="292261" cy="99708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326C2D54-61EB-F67F-870E-371BA730D0E7}"/>
              </a:ext>
            </a:extLst>
          </p:cNvPr>
          <p:cNvCxnSpPr>
            <a:cxnSpLocks/>
          </p:cNvCxnSpPr>
          <p:nvPr/>
        </p:nvCxnSpPr>
        <p:spPr>
          <a:xfrm>
            <a:off x="7822761" y="4982876"/>
            <a:ext cx="58948" cy="21095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D90CC31A-327B-0A33-E4EF-900157313D75}"/>
              </a:ext>
            </a:extLst>
          </p:cNvPr>
          <p:cNvCxnSpPr>
            <a:cxnSpLocks/>
          </p:cNvCxnSpPr>
          <p:nvPr/>
        </p:nvCxnSpPr>
        <p:spPr>
          <a:xfrm>
            <a:off x="8225911" y="5097873"/>
            <a:ext cx="123119" cy="3317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7E0D8C86-4150-8C33-94FF-D59A6B0483F8}"/>
              </a:ext>
            </a:extLst>
          </p:cNvPr>
          <p:cNvCxnSpPr>
            <a:cxnSpLocks/>
          </p:cNvCxnSpPr>
          <p:nvPr/>
        </p:nvCxnSpPr>
        <p:spPr>
          <a:xfrm>
            <a:off x="9412424" y="4672122"/>
            <a:ext cx="26851" cy="6196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FD3C3B55-A4FE-D1BF-7D51-A7C68607F421}"/>
              </a:ext>
            </a:extLst>
          </p:cNvPr>
          <p:cNvCxnSpPr>
            <a:cxnSpLocks/>
          </p:cNvCxnSpPr>
          <p:nvPr/>
        </p:nvCxnSpPr>
        <p:spPr>
          <a:xfrm>
            <a:off x="10464536" y="4057791"/>
            <a:ext cx="127009" cy="3663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6713DDCE-A376-5D88-FBFF-C8BB3ACAC9E1}"/>
              </a:ext>
            </a:extLst>
          </p:cNvPr>
          <p:cNvCxnSpPr>
            <a:cxnSpLocks/>
          </p:cNvCxnSpPr>
          <p:nvPr/>
        </p:nvCxnSpPr>
        <p:spPr>
          <a:xfrm>
            <a:off x="10603540" y="4349377"/>
            <a:ext cx="25474" cy="4854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0A8D4994-653B-B766-5922-BB08838FE8BB}"/>
              </a:ext>
            </a:extLst>
          </p:cNvPr>
          <p:cNvCxnSpPr>
            <a:cxnSpLocks/>
          </p:cNvCxnSpPr>
          <p:nvPr/>
        </p:nvCxnSpPr>
        <p:spPr>
          <a:xfrm>
            <a:off x="8410507" y="5027915"/>
            <a:ext cx="81363" cy="25285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195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5"/>
            <a:ext cx="12192000"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スパース主成分分析</a:t>
            </a:r>
            <a:r>
              <a:rPr lang="en-US" altLang="ja-JP" b="1" dirty="0">
                <a:solidFill>
                  <a:srgbClr val="0070C0"/>
                </a:solidFill>
                <a:latin typeface="+mj-ea"/>
              </a:rPr>
              <a:t> (Zou and </a:t>
            </a:r>
            <a:r>
              <a:rPr lang="en-US" altLang="ja-JP" b="1" dirty="0" err="1">
                <a:solidFill>
                  <a:srgbClr val="0070C0"/>
                </a:solidFill>
                <a:latin typeface="+mj-ea"/>
              </a:rPr>
              <a:t>Xue</a:t>
            </a:r>
            <a:r>
              <a:rPr lang="en-US" altLang="ja-JP" b="1" dirty="0">
                <a:solidFill>
                  <a:srgbClr val="0070C0"/>
                </a:solidFill>
                <a:latin typeface="+mj-ea"/>
              </a:rPr>
              <a:t>, 2018)</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95540C54-19A1-83C4-4847-94FD39E24F79}"/>
                  </a:ext>
                </a:extLst>
              </p:cNvPr>
              <p:cNvSpPr txBox="1"/>
              <p:nvPr/>
            </p:nvSpPr>
            <p:spPr>
              <a:xfrm>
                <a:off x="856239" y="4507441"/>
                <a:ext cx="9001182" cy="1815882"/>
              </a:xfrm>
              <a:prstGeom prst="rect">
                <a:avLst/>
              </a:prstGeom>
              <a:noFill/>
            </p:spPr>
            <p:txBody>
              <a:bodyPr wrap="none" rtlCol="0">
                <a:spAutoFit/>
              </a:bodyPr>
              <a:lstStyle/>
              <a:p>
                <a:r>
                  <a:rPr kumimoji="1" lang="ja-JP" altLang="en-US" sz="2800"/>
                  <a:t>　　不要な主成分負荷量を</a:t>
                </a:r>
                <a14:m>
                  <m:oMath xmlns:m="http://schemas.openxmlformats.org/officeDocument/2006/math">
                    <m:r>
                      <a:rPr kumimoji="1" lang="en-US" altLang="ja-JP" sz="2800" b="0" i="1" smtClean="0">
                        <a:latin typeface="Cambria Math" panose="02040503050406030204" pitchFamily="18" charset="0"/>
                      </a:rPr>
                      <m:t>0</m:t>
                    </m:r>
                  </m:oMath>
                </a14:m>
                <a:r>
                  <a:rPr kumimoji="1" lang="ja-JP" altLang="en-US" sz="2800"/>
                  <a:t>とスパース推定するため，</a:t>
                </a:r>
                <a:endParaRPr kumimoji="1" lang="en-US" altLang="ja-JP" sz="2800" dirty="0"/>
              </a:p>
              <a:p>
                <a:r>
                  <a:rPr kumimoji="1" lang="ja-JP" altLang="en-US" sz="2800"/>
                  <a:t>　　重要な主成分負荷量のみを選択することができる</a:t>
                </a:r>
                <a:endParaRPr kumimoji="1" lang="en-US" altLang="ja-JP" sz="2800" dirty="0"/>
              </a:p>
              <a:p>
                <a:endParaRPr kumimoji="1" lang="en-US" altLang="ja-JP" sz="2800" dirty="0"/>
              </a:p>
              <a:p>
                <a:r>
                  <a:rPr kumimoji="1" lang="ja-JP" altLang="en-US" sz="2800"/>
                  <a:t>　　主成分分析よりもデータの解釈が容易に</a:t>
                </a:r>
              </a:p>
            </p:txBody>
          </p:sp>
        </mc:Choice>
        <mc:Fallback xmlns="">
          <p:sp>
            <p:nvSpPr>
              <p:cNvPr id="11" name="テキスト ボックス 10">
                <a:extLst>
                  <a:ext uri="{FF2B5EF4-FFF2-40B4-BE49-F238E27FC236}">
                    <a16:creationId xmlns:a16="http://schemas.microsoft.com/office/drawing/2014/main" id="{95540C54-19A1-83C4-4847-94FD39E24F79}"/>
                  </a:ext>
                </a:extLst>
              </p:cNvPr>
              <p:cNvSpPr txBox="1">
                <a:spLocks noRot="1" noChangeAspect="1" noMove="1" noResize="1" noEditPoints="1" noAdjustHandles="1" noChangeArrowheads="1" noChangeShapeType="1" noTextEdit="1"/>
              </p:cNvSpPr>
              <p:nvPr/>
            </p:nvSpPr>
            <p:spPr>
              <a:xfrm>
                <a:off x="856239" y="4507441"/>
                <a:ext cx="9001182" cy="1815882"/>
              </a:xfrm>
              <a:prstGeom prst="rect">
                <a:avLst/>
              </a:prstGeom>
              <a:blipFill>
                <a:blip r:embed="rId3"/>
                <a:stretch>
                  <a:fillRect t="-3472" r="-423" b="-902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771C333B-BB51-C8A6-F2DD-5205DE913B32}"/>
                  </a:ext>
                </a:extLst>
              </p:cNvPr>
              <p:cNvSpPr txBox="1"/>
              <p:nvPr/>
            </p:nvSpPr>
            <p:spPr>
              <a:xfrm rot="5400000">
                <a:off x="8483515" y="5065202"/>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bg1"/>
                          </a:solidFill>
                          <a:latin typeface="Cambria Math" panose="02040503050406030204" pitchFamily="18" charset="0"/>
                        </a:rPr>
                        <m:t>=</m:t>
                      </m:r>
                    </m:oMath>
                  </m:oMathPara>
                </a14:m>
                <a:endParaRPr kumimoji="1" lang="ja-JP" altLang="en-US" sz="2800">
                  <a:solidFill>
                    <a:schemeClr val="bg1"/>
                  </a:solidFill>
                </a:endParaRPr>
              </a:p>
            </p:txBody>
          </p:sp>
        </mc:Choice>
        <mc:Fallback xmlns="">
          <p:sp>
            <p:nvSpPr>
              <p:cNvPr id="10" name="テキスト ボックス 9">
                <a:extLst>
                  <a:ext uri="{FF2B5EF4-FFF2-40B4-BE49-F238E27FC236}">
                    <a16:creationId xmlns:a16="http://schemas.microsoft.com/office/drawing/2014/main" id="{771C333B-BB51-C8A6-F2DD-5205DE913B32}"/>
                  </a:ext>
                </a:extLst>
              </p:cNvPr>
              <p:cNvSpPr txBox="1">
                <a:spLocks noRot="1" noChangeAspect="1" noMove="1" noResize="1" noEditPoints="1" noAdjustHandles="1" noChangeArrowheads="1" noChangeShapeType="1" noTextEdit="1"/>
              </p:cNvSpPr>
              <p:nvPr/>
            </p:nvSpPr>
            <p:spPr>
              <a:xfrm rot="5400000">
                <a:off x="8483515" y="5065202"/>
                <a:ext cx="534121" cy="523220"/>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08D8460F-4B1C-EA9C-6B41-D2E20969931C}"/>
                  </a:ext>
                </a:extLst>
              </p:cNvPr>
              <p:cNvSpPr txBox="1"/>
              <p:nvPr/>
            </p:nvSpPr>
            <p:spPr>
              <a:xfrm>
                <a:off x="660417" y="2030312"/>
                <a:ext cx="10427997" cy="1243097"/>
              </a:xfrm>
              <a:prstGeom prst="rect">
                <a:avLst/>
              </a:prstGeom>
              <a:noFill/>
            </p:spPr>
            <p:txBody>
              <a:bodyPr wrap="square" rtlCol="0">
                <a:spAutoFit/>
              </a:bodyPr>
              <a:lstStyle/>
              <a:p>
                <a:r>
                  <a:rPr kumimoji="1" lang="ja-JP" altLang="en-US" sz="3600" b="0">
                    <a:solidFill>
                      <a:schemeClr val="tx1"/>
                    </a:solidFill>
                    <a:latin typeface="Cambria Math" panose="02040503050406030204" pitchFamily="18" charset="0"/>
                  </a:rPr>
                  <a:t>第</a:t>
                </a:r>
                <a14:m>
                  <m:oMath xmlns:m="http://schemas.openxmlformats.org/officeDocument/2006/math">
                    <m:r>
                      <a:rPr kumimoji="1" lang="en-US" altLang="ja-JP" sz="3600" b="0" i="1" smtClean="0">
                        <a:solidFill>
                          <a:schemeClr val="tx1"/>
                        </a:solidFill>
                        <a:latin typeface="Cambria Math" panose="02040503050406030204" pitchFamily="18" charset="0"/>
                      </a:rPr>
                      <m:t>𝑘</m:t>
                    </m:r>
                  </m:oMath>
                </a14:m>
                <a:r>
                  <a:rPr kumimoji="1" lang="ja-JP" altLang="en-US" sz="3600" b="0" dirty="0">
                    <a:solidFill>
                      <a:schemeClr val="tx1"/>
                    </a:solidFill>
                    <a:latin typeface="Cambria Math" panose="02040503050406030204" pitchFamily="18" charset="0"/>
                  </a:rPr>
                  <a:t>主成分：</a:t>
                </a:r>
                <a:endParaRPr kumimoji="1" lang="en-US" altLang="ja-JP" sz="3600" b="0" dirty="0">
                  <a:solidFill>
                    <a:schemeClr val="tx1"/>
                  </a:solidFill>
                  <a:latin typeface="Cambria Math" panose="02040503050406030204" pitchFamily="18" charset="0"/>
                </a:endParaRPr>
              </a:p>
              <a:p>
                <a:pPr algn="ctr"/>
                <a14:m>
                  <m:oMath xmlns:m="http://schemas.openxmlformats.org/officeDocument/2006/math">
                    <m:r>
                      <a:rPr kumimoji="1" lang="en-US" altLang="ja-JP" sz="3600" b="0" i="1" smtClean="0">
                        <a:solidFill>
                          <a:schemeClr val="tx1"/>
                        </a:solidFill>
                        <a:latin typeface="Cambria Math" panose="02040503050406030204" pitchFamily="18" charset="0"/>
                      </a:rPr>
                      <m:t>𝑦</m:t>
                    </m:r>
                    <m:r>
                      <a:rPr kumimoji="1" lang="en-US" altLang="ja-JP" sz="3600" b="0" i="1" smtClean="0">
                        <a:solidFill>
                          <a:schemeClr val="tx1"/>
                        </a:solidFill>
                        <a:latin typeface="Cambria Math" panose="02040503050406030204" pitchFamily="18" charset="0"/>
                      </a:rPr>
                      <m:t>=</m:t>
                    </m:r>
                    <m:sSub>
                      <m:sSubPr>
                        <m:ctrlPr>
                          <a:rPr kumimoji="1" lang="en-US" altLang="ja-JP" sz="3600" b="0" i="1" smtClean="0">
                            <a:solidFill>
                              <a:srgbClr val="0070C0"/>
                            </a:solidFill>
                            <a:latin typeface="Cambria Math" panose="02040503050406030204" pitchFamily="18" charset="0"/>
                          </a:rPr>
                        </m:ctrlPr>
                      </m:sSubPr>
                      <m:e>
                        <m:r>
                          <a:rPr kumimoji="1" lang="en-US" altLang="ja-JP" sz="3600" b="0" i="1" smtClean="0">
                            <a:solidFill>
                              <a:srgbClr val="0070C0"/>
                            </a:solidFill>
                            <a:latin typeface="Cambria Math" panose="02040503050406030204" pitchFamily="18" charset="0"/>
                          </a:rPr>
                          <m:t>𝑣</m:t>
                        </m:r>
                      </m:e>
                      <m:sub>
                        <m:r>
                          <a:rPr kumimoji="1" lang="en-US" altLang="ja-JP" sz="3600" b="0" i="1" smtClean="0">
                            <a:solidFill>
                              <a:srgbClr val="0070C0"/>
                            </a:solidFill>
                            <a:latin typeface="Cambria Math" panose="02040503050406030204" pitchFamily="18" charset="0"/>
                          </a:rPr>
                          <m:t>1</m:t>
                        </m:r>
                      </m:sub>
                    </m:sSub>
                    <m:sSub>
                      <m:sSubPr>
                        <m:ctrlPr>
                          <a:rPr kumimoji="1" lang="en-US" altLang="ja-JP" sz="3600" b="0" i="1" smtClean="0">
                            <a:solidFill>
                              <a:schemeClr val="tx1"/>
                            </a:solidFill>
                            <a:latin typeface="Cambria Math" panose="02040503050406030204" pitchFamily="18" charset="0"/>
                          </a:rPr>
                        </m:ctrlPr>
                      </m:sSubPr>
                      <m:e>
                        <m:r>
                          <a:rPr kumimoji="1" lang="en-US" altLang="ja-JP" sz="3600" b="0" i="1" smtClean="0">
                            <a:solidFill>
                              <a:schemeClr val="tx1"/>
                            </a:solidFill>
                            <a:latin typeface="Cambria Math" panose="02040503050406030204" pitchFamily="18" charset="0"/>
                          </a:rPr>
                          <m:t>𝑥</m:t>
                        </m:r>
                      </m:e>
                      <m:sub>
                        <m:r>
                          <a:rPr kumimoji="1" lang="en-US" altLang="ja-JP" sz="3600" b="0" i="1" smtClean="0">
                            <a:solidFill>
                              <a:schemeClr val="tx1"/>
                            </a:solidFill>
                            <a:latin typeface="Cambria Math" panose="02040503050406030204" pitchFamily="18" charset="0"/>
                          </a:rPr>
                          <m:t>1</m:t>
                        </m:r>
                      </m:sub>
                    </m:sSub>
                    <m:r>
                      <a:rPr kumimoji="1" lang="en-US" altLang="ja-JP" sz="3600" b="0" i="1" smtClean="0">
                        <a:solidFill>
                          <a:schemeClr val="tx1"/>
                        </a:solidFill>
                        <a:latin typeface="Cambria Math" panose="02040503050406030204" pitchFamily="18" charset="0"/>
                      </a:rPr>
                      <m:t>+</m:t>
                    </m:r>
                    <m:sSub>
                      <m:sSubPr>
                        <m:ctrlPr>
                          <a:rPr kumimoji="1" lang="en-US" altLang="ja-JP" sz="3600" b="0" i="1" smtClean="0">
                            <a:solidFill>
                              <a:srgbClr val="0070C0"/>
                            </a:solidFill>
                            <a:latin typeface="Cambria Math" panose="02040503050406030204" pitchFamily="18" charset="0"/>
                          </a:rPr>
                        </m:ctrlPr>
                      </m:sSubPr>
                      <m:e>
                        <m:r>
                          <a:rPr kumimoji="1" lang="en-US" altLang="ja-JP" sz="3600" b="0" i="1" smtClean="0">
                            <a:solidFill>
                              <a:srgbClr val="0070C0"/>
                            </a:solidFill>
                            <a:latin typeface="Cambria Math" panose="02040503050406030204" pitchFamily="18" charset="0"/>
                          </a:rPr>
                          <m:t>𝑣</m:t>
                        </m:r>
                      </m:e>
                      <m:sub>
                        <m:r>
                          <a:rPr kumimoji="1" lang="en-US" altLang="ja-JP" sz="3600" b="0" i="1" smtClean="0">
                            <a:solidFill>
                              <a:srgbClr val="0070C0"/>
                            </a:solidFill>
                            <a:latin typeface="Cambria Math" panose="02040503050406030204" pitchFamily="18" charset="0"/>
                          </a:rPr>
                          <m:t>2</m:t>
                        </m:r>
                      </m:sub>
                    </m:sSub>
                    <m:sSub>
                      <m:sSubPr>
                        <m:ctrlPr>
                          <a:rPr kumimoji="1" lang="en-US" altLang="ja-JP" sz="3600" b="0" i="1" smtClean="0">
                            <a:solidFill>
                              <a:schemeClr val="tx1"/>
                            </a:solidFill>
                            <a:latin typeface="Cambria Math" panose="02040503050406030204" pitchFamily="18" charset="0"/>
                          </a:rPr>
                        </m:ctrlPr>
                      </m:sSubPr>
                      <m:e>
                        <m:r>
                          <a:rPr kumimoji="1" lang="en-US" altLang="ja-JP" sz="3600" b="0" i="1" smtClean="0">
                            <a:solidFill>
                              <a:schemeClr val="tx1"/>
                            </a:solidFill>
                            <a:latin typeface="Cambria Math" panose="02040503050406030204" pitchFamily="18" charset="0"/>
                          </a:rPr>
                          <m:t>𝑥</m:t>
                        </m:r>
                      </m:e>
                      <m:sub>
                        <m:r>
                          <a:rPr kumimoji="1" lang="en-US" altLang="ja-JP" sz="3600" b="0" i="1" smtClean="0">
                            <a:solidFill>
                              <a:schemeClr val="tx1"/>
                            </a:solidFill>
                            <a:latin typeface="Cambria Math" panose="02040503050406030204" pitchFamily="18" charset="0"/>
                          </a:rPr>
                          <m:t>2</m:t>
                        </m:r>
                      </m:sub>
                    </m:sSub>
                    <m:r>
                      <a:rPr kumimoji="1" lang="en-US" altLang="ja-JP" sz="3600" b="0" i="1" smtClean="0">
                        <a:solidFill>
                          <a:schemeClr val="tx1"/>
                        </a:solidFill>
                        <a:latin typeface="Cambria Math" panose="02040503050406030204" pitchFamily="18" charset="0"/>
                      </a:rPr>
                      <m:t>+</m:t>
                    </m:r>
                    <m:sSub>
                      <m:sSubPr>
                        <m:ctrlPr>
                          <a:rPr kumimoji="1" lang="en-US" altLang="ja-JP" sz="3600" i="1">
                            <a:solidFill>
                              <a:srgbClr val="0070C0"/>
                            </a:solidFill>
                            <a:latin typeface="Cambria Math" panose="02040503050406030204" pitchFamily="18" charset="0"/>
                          </a:rPr>
                        </m:ctrlPr>
                      </m:sSubPr>
                      <m:e>
                        <m:r>
                          <a:rPr kumimoji="1" lang="en-US" altLang="ja-JP" sz="3600" i="1">
                            <a:solidFill>
                              <a:srgbClr val="0070C0"/>
                            </a:solidFill>
                            <a:latin typeface="Cambria Math" panose="02040503050406030204" pitchFamily="18" charset="0"/>
                          </a:rPr>
                          <m:t>𝑣</m:t>
                        </m:r>
                      </m:e>
                      <m:sub>
                        <m:r>
                          <a:rPr kumimoji="1" lang="en-US" altLang="ja-JP" sz="3600" b="0" i="1" smtClean="0">
                            <a:solidFill>
                              <a:srgbClr val="0070C0"/>
                            </a:solidFill>
                            <a:latin typeface="Cambria Math" panose="02040503050406030204" pitchFamily="18" charset="0"/>
                          </a:rPr>
                          <m:t>3</m:t>
                        </m:r>
                      </m:sub>
                    </m:sSub>
                    <m:sSub>
                      <m:sSubPr>
                        <m:ctrlPr>
                          <a:rPr kumimoji="1" lang="en-US" altLang="ja-JP" sz="3600" i="1">
                            <a:latin typeface="Cambria Math" panose="02040503050406030204" pitchFamily="18" charset="0"/>
                          </a:rPr>
                        </m:ctrlPr>
                      </m:sSubPr>
                      <m:e>
                        <m:r>
                          <a:rPr kumimoji="1" lang="en-US" altLang="ja-JP" sz="3600" i="1">
                            <a:latin typeface="Cambria Math" panose="02040503050406030204" pitchFamily="18" charset="0"/>
                          </a:rPr>
                          <m:t>𝑥</m:t>
                        </m:r>
                      </m:e>
                      <m:sub>
                        <m:r>
                          <a:rPr kumimoji="1" lang="en-US" altLang="ja-JP" sz="3600" b="0" i="1" smtClean="0">
                            <a:latin typeface="Cambria Math" panose="02040503050406030204" pitchFamily="18" charset="0"/>
                          </a:rPr>
                          <m:t>3</m:t>
                        </m:r>
                      </m:sub>
                    </m:sSub>
                    <m:r>
                      <a:rPr kumimoji="1" lang="en-US" altLang="ja-JP" sz="3600" b="0" i="1" smtClean="0">
                        <a:latin typeface="Cambria Math" panose="02040503050406030204" pitchFamily="18" charset="0"/>
                      </a:rPr>
                      <m:t>+</m:t>
                    </m:r>
                    <m:r>
                      <a:rPr kumimoji="1" lang="en-US" altLang="ja-JP" sz="3600" b="0" i="1" smtClean="0">
                        <a:solidFill>
                          <a:schemeClr val="tx1"/>
                        </a:solidFill>
                        <a:latin typeface="Cambria Math" panose="02040503050406030204" pitchFamily="18" charset="0"/>
                      </a:rPr>
                      <m:t>…+</m:t>
                    </m:r>
                    <m:sSub>
                      <m:sSubPr>
                        <m:ctrlPr>
                          <a:rPr kumimoji="1" lang="en-US" altLang="ja-JP" sz="3600" i="1" smtClean="0">
                            <a:solidFill>
                              <a:srgbClr val="0070C0"/>
                            </a:solidFill>
                            <a:latin typeface="Cambria Math" panose="02040503050406030204" pitchFamily="18" charset="0"/>
                          </a:rPr>
                        </m:ctrlPr>
                      </m:sSubPr>
                      <m:e>
                        <m:r>
                          <a:rPr kumimoji="1" lang="en-US" altLang="ja-JP" sz="3600" i="1">
                            <a:solidFill>
                              <a:srgbClr val="0070C0"/>
                            </a:solidFill>
                            <a:latin typeface="Cambria Math" panose="02040503050406030204" pitchFamily="18" charset="0"/>
                          </a:rPr>
                          <m:t>𝑣</m:t>
                        </m:r>
                      </m:e>
                      <m:sub>
                        <m:r>
                          <a:rPr kumimoji="1" lang="en-US" altLang="ja-JP" sz="3600" b="0" i="1" smtClean="0">
                            <a:solidFill>
                              <a:srgbClr val="0070C0"/>
                            </a:solidFill>
                            <a:latin typeface="Cambria Math" panose="02040503050406030204" pitchFamily="18" charset="0"/>
                          </a:rPr>
                          <m:t>𝑝</m:t>
                        </m:r>
                        <m:r>
                          <a:rPr kumimoji="1" lang="en-US" altLang="ja-JP" sz="3600" b="0" i="1" smtClean="0">
                            <a:solidFill>
                              <a:srgbClr val="0070C0"/>
                            </a:solidFill>
                            <a:latin typeface="Cambria Math" panose="02040503050406030204" pitchFamily="18" charset="0"/>
                          </a:rPr>
                          <m:t>−1</m:t>
                        </m:r>
                      </m:sub>
                    </m:sSub>
                    <m:sSub>
                      <m:sSubPr>
                        <m:ctrlPr>
                          <a:rPr kumimoji="1" lang="en-US" altLang="ja-JP" sz="3600" i="1">
                            <a:solidFill>
                              <a:schemeClr val="tx1"/>
                            </a:solidFill>
                            <a:latin typeface="Cambria Math" panose="02040503050406030204" pitchFamily="18" charset="0"/>
                          </a:rPr>
                        </m:ctrlPr>
                      </m:sSubPr>
                      <m:e>
                        <m:r>
                          <a:rPr kumimoji="1" lang="en-US" altLang="ja-JP" sz="3600" i="1">
                            <a:solidFill>
                              <a:schemeClr val="tx1"/>
                            </a:solidFill>
                            <a:latin typeface="Cambria Math" panose="02040503050406030204" pitchFamily="18" charset="0"/>
                          </a:rPr>
                          <m:t>𝑥</m:t>
                        </m:r>
                      </m:e>
                      <m:sub>
                        <m:r>
                          <a:rPr kumimoji="1" lang="en-US" altLang="ja-JP" sz="3600" b="0" i="1" smtClean="0">
                            <a:solidFill>
                              <a:schemeClr val="tx1"/>
                            </a:solidFill>
                            <a:latin typeface="Cambria Math" panose="02040503050406030204" pitchFamily="18" charset="0"/>
                          </a:rPr>
                          <m:t>𝑝</m:t>
                        </m:r>
                        <m:r>
                          <a:rPr kumimoji="1" lang="en-US" altLang="ja-JP" sz="3600" b="0" i="1" smtClean="0">
                            <a:solidFill>
                              <a:schemeClr val="tx1"/>
                            </a:solidFill>
                            <a:latin typeface="Cambria Math" panose="02040503050406030204" pitchFamily="18" charset="0"/>
                          </a:rPr>
                          <m:t>−1</m:t>
                        </m:r>
                      </m:sub>
                    </m:sSub>
                    <m:r>
                      <a:rPr kumimoji="1" lang="en-US" altLang="ja-JP" sz="3600" i="1">
                        <a:solidFill>
                          <a:schemeClr val="tx1"/>
                        </a:solidFill>
                        <a:latin typeface="Cambria Math" panose="02040503050406030204" pitchFamily="18" charset="0"/>
                      </a:rPr>
                      <m:t>+</m:t>
                    </m:r>
                  </m:oMath>
                </a14:m>
                <a:r>
                  <a:rPr kumimoji="1" lang="en-US" altLang="ja-JP" sz="3600" dirty="0">
                    <a:solidFill>
                      <a:schemeClr val="tx1"/>
                    </a:solidFill>
                  </a:rPr>
                  <a:t> </a:t>
                </a:r>
                <a14:m>
                  <m:oMath xmlns:m="http://schemas.openxmlformats.org/officeDocument/2006/math">
                    <m:sSub>
                      <m:sSubPr>
                        <m:ctrlPr>
                          <a:rPr kumimoji="1" lang="en-US" altLang="ja-JP" sz="3600" i="1" smtClean="0">
                            <a:solidFill>
                              <a:srgbClr val="0070C0"/>
                            </a:solidFill>
                            <a:latin typeface="Cambria Math" panose="02040503050406030204" pitchFamily="18" charset="0"/>
                          </a:rPr>
                        </m:ctrlPr>
                      </m:sSubPr>
                      <m:e>
                        <m:r>
                          <a:rPr kumimoji="1" lang="en-US" altLang="ja-JP" sz="3600" i="1">
                            <a:solidFill>
                              <a:srgbClr val="0070C0"/>
                            </a:solidFill>
                            <a:latin typeface="Cambria Math" panose="02040503050406030204" pitchFamily="18" charset="0"/>
                          </a:rPr>
                          <m:t>𝑣</m:t>
                        </m:r>
                      </m:e>
                      <m:sub>
                        <m:r>
                          <a:rPr kumimoji="1" lang="en-US" altLang="ja-JP" sz="3600" b="0" i="1" smtClean="0">
                            <a:solidFill>
                              <a:srgbClr val="0070C0"/>
                            </a:solidFill>
                            <a:latin typeface="Cambria Math" panose="02040503050406030204" pitchFamily="18" charset="0"/>
                          </a:rPr>
                          <m:t>𝑝</m:t>
                        </m:r>
                      </m:sub>
                    </m:sSub>
                    <m:sSub>
                      <m:sSubPr>
                        <m:ctrlPr>
                          <a:rPr kumimoji="1" lang="en-US" altLang="ja-JP" sz="3600" i="1">
                            <a:solidFill>
                              <a:schemeClr val="tx1"/>
                            </a:solidFill>
                            <a:latin typeface="Cambria Math" panose="02040503050406030204" pitchFamily="18" charset="0"/>
                          </a:rPr>
                        </m:ctrlPr>
                      </m:sSubPr>
                      <m:e>
                        <m:r>
                          <a:rPr kumimoji="1" lang="en-US" altLang="ja-JP" sz="3600" i="1">
                            <a:solidFill>
                              <a:schemeClr val="tx1"/>
                            </a:solidFill>
                            <a:latin typeface="Cambria Math" panose="02040503050406030204" pitchFamily="18" charset="0"/>
                          </a:rPr>
                          <m:t>𝑥</m:t>
                        </m:r>
                      </m:e>
                      <m:sub>
                        <m:r>
                          <a:rPr kumimoji="1" lang="en-US" altLang="ja-JP" sz="3600" b="0" i="1" smtClean="0">
                            <a:solidFill>
                              <a:schemeClr val="tx1"/>
                            </a:solidFill>
                            <a:latin typeface="Cambria Math" panose="02040503050406030204" pitchFamily="18" charset="0"/>
                          </a:rPr>
                          <m:t>𝑝</m:t>
                        </m:r>
                      </m:sub>
                    </m:sSub>
                  </m:oMath>
                </a14:m>
                <a:endParaRPr kumimoji="1" lang="ja-JP" altLang="en-US" sz="3600">
                  <a:solidFill>
                    <a:schemeClr val="tx1"/>
                  </a:solidFill>
                </a:endParaRPr>
              </a:p>
            </p:txBody>
          </p:sp>
        </mc:Choice>
        <mc:Fallback xmlns="">
          <p:sp>
            <p:nvSpPr>
              <p:cNvPr id="15" name="テキスト ボックス 14">
                <a:extLst>
                  <a:ext uri="{FF2B5EF4-FFF2-40B4-BE49-F238E27FC236}">
                    <a16:creationId xmlns:a16="http://schemas.microsoft.com/office/drawing/2014/main" id="{08D8460F-4B1C-EA9C-6B41-D2E20969931C}"/>
                  </a:ext>
                </a:extLst>
              </p:cNvPr>
              <p:cNvSpPr txBox="1">
                <a:spLocks noRot="1" noChangeAspect="1" noMove="1" noResize="1" noEditPoints="1" noAdjustHandles="1" noChangeArrowheads="1" noChangeShapeType="1" noTextEdit="1"/>
              </p:cNvSpPr>
              <p:nvPr/>
            </p:nvSpPr>
            <p:spPr>
              <a:xfrm>
                <a:off x="660417" y="2030312"/>
                <a:ext cx="10427997" cy="1243097"/>
              </a:xfrm>
              <a:prstGeom prst="rect">
                <a:avLst/>
              </a:prstGeom>
              <a:blipFill>
                <a:blip r:embed="rId8"/>
                <a:stretch>
                  <a:fillRect l="-1701" t="-7071" b="-50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47344E2-8586-E080-17FF-93E264453213}"/>
                  </a:ext>
                </a:extLst>
              </p:cNvPr>
              <p:cNvSpPr txBox="1"/>
              <p:nvPr/>
            </p:nvSpPr>
            <p:spPr>
              <a:xfrm rot="5400000">
                <a:off x="1811627" y="3105834"/>
                <a:ext cx="83275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m:t>
                      </m:r>
                    </m:oMath>
                  </m:oMathPara>
                </a14:m>
                <a:endParaRPr kumimoji="1" lang="ja-JP" altLang="en-US" sz="3600"/>
              </a:p>
            </p:txBody>
          </p:sp>
        </mc:Choice>
        <mc:Fallback xmlns="">
          <p:sp>
            <p:nvSpPr>
              <p:cNvPr id="21" name="テキスト ボックス 20">
                <a:extLst>
                  <a:ext uri="{FF2B5EF4-FFF2-40B4-BE49-F238E27FC236}">
                    <a16:creationId xmlns:a16="http://schemas.microsoft.com/office/drawing/2014/main" id="{947344E2-8586-E080-17FF-93E264453213}"/>
                  </a:ext>
                </a:extLst>
              </p:cNvPr>
              <p:cNvSpPr txBox="1">
                <a:spLocks noRot="1" noChangeAspect="1" noMove="1" noResize="1" noEditPoints="1" noAdjustHandles="1" noChangeArrowheads="1" noChangeShapeType="1" noTextEdit="1"/>
              </p:cNvSpPr>
              <p:nvPr/>
            </p:nvSpPr>
            <p:spPr>
              <a:xfrm rot="5400000">
                <a:off x="1811627" y="3105834"/>
                <a:ext cx="832757" cy="646331"/>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0E14B7FE-9CCD-6CA0-0550-AB5443188231}"/>
                  </a:ext>
                </a:extLst>
              </p:cNvPr>
              <p:cNvSpPr txBox="1"/>
              <p:nvPr/>
            </p:nvSpPr>
            <p:spPr>
              <a:xfrm rot="5400000">
                <a:off x="7262191" y="3119127"/>
                <a:ext cx="83275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m:t>
                      </m:r>
                    </m:oMath>
                  </m:oMathPara>
                </a14:m>
                <a:endParaRPr kumimoji="1" lang="ja-JP" altLang="en-US" sz="3600"/>
              </a:p>
            </p:txBody>
          </p:sp>
        </mc:Choice>
        <mc:Fallback xmlns="">
          <p:sp>
            <p:nvSpPr>
              <p:cNvPr id="22" name="テキスト ボックス 21">
                <a:extLst>
                  <a:ext uri="{FF2B5EF4-FFF2-40B4-BE49-F238E27FC236}">
                    <a16:creationId xmlns:a16="http://schemas.microsoft.com/office/drawing/2014/main" id="{0E14B7FE-9CCD-6CA0-0550-AB5443188231}"/>
                  </a:ext>
                </a:extLst>
              </p:cNvPr>
              <p:cNvSpPr txBox="1">
                <a:spLocks noRot="1" noChangeAspect="1" noMove="1" noResize="1" noEditPoints="1" noAdjustHandles="1" noChangeArrowheads="1" noChangeShapeType="1" noTextEdit="1"/>
              </p:cNvSpPr>
              <p:nvPr/>
            </p:nvSpPr>
            <p:spPr>
              <a:xfrm rot="5400000">
                <a:off x="7262191" y="3119127"/>
                <a:ext cx="832757" cy="646331"/>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69730627-F39A-F979-8B48-0F6476B734BA}"/>
                  </a:ext>
                </a:extLst>
              </p:cNvPr>
              <p:cNvSpPr txBox="1"/>
              <p:nvPr/>
            </p:nvSpPr>
            <p:spPr>
              <a:xfrm>
                <a:off x="1904840" y="3557106"/>
                <a:ext cx="543739"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0</m:t>
                      </m:r>
                    </m:oMath>
                  </m:oMathPara>
                </a14:m>
                <a:endParaRPr kumimoji="1" lang="ja-JP" altLang="en-US" sz="3600"/>
              </a:p>
            </p:txBody>
          </p:sp>
        </mc:Choice>
        <mc:Fallback xmlns="">
          <p:sp>
            <p:nvSpPr>
              <p:cNvPr id="23" name="テキスト ボックス 22">
                <a:extLst>
                  <a:ext uri="{FF2B5EF4-FFF2-40B4-BE49-F238E27FC236}">
                    <a16:creationId xmlns:a16="http://schemas.microsoft.com/office/drawing/2014/main" id="{69730627-F39A-F979-8B48-0F6476B734BA}"/>
                  </a:ext>
                </a:extLst>
              </p:cNvPr>
              <p:cNvSpPr txBox="1">
                <a:spLocks noRot="1" noChangeAspect="1" noMove="1" noResize="1" noEditPoints="1" noAdjustHandles="1" noChangeArrowheads="1" noChangeShapeType="1" noTextEdit="1"/>
              </p:cNvSpPr>
              <p:nvPr/>
            </p:nvSpPr>
            <p:spPr>
              <a:xfrm>
                <a:off x="1904840" y="3557106"/>
                <a:ext cx="543739" cy="646331"/>
              </a:xfrm>
              <a:prstGeom prst="rect">
                <a:avLst/>
              </a:prstGeom>
              <a:blipFill>
                <a:blip r:embed="rId11"/>
                <a:stretch>
                  <a:fillRect r="-22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8B05DA96-2817-D3EE-128D-6EB165B52854}"/>
                  </a:ext>
                </a:extLst>
              </p:cNvPr>
              <p:cNvSpPr txBox="1"/>
              <p:nvPr/>
            </p:nvSpPr>
            <p:spPr>
              <a:xfrm>
                <a:off x="7435505" y="3537943"/>
                <a:ext cx="413811"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0</m:t>
                      </m:r>
                    </m:oMath>
                  </m:oMathPara>
                </a14:m>
                <a:endParaRPr kumimoji="1" lang="ja-JP" altLang="en-US" sz="3600"/>
              </a:p>
            </p:txBody>
          </p:sp>
        </mc:Choice>
        <mc:Fallback xmlns="">
          <p:sp>
            <p:nvSpPr>
              <p:cNvPr id="24" name="テキスト ボックス 23">
                <a:extLst>
                  <a:ext uri="{FF2B5EF4-FFF2-40B4-BE49-F238E27FC236}">
                    <a16:creationId xmlns:a16="http://schemas.microsoft.com/office/drawing/2014/main" id="{8B05DA96-2817-D3EE-128D-6EB165B52854}"/>
                  </a:ext>
                </a:extLst>
              </p:cNvPr>
              <p:cNvSpPr txBox="1">
                <a:spLocks noRot="1" noChangeAspect="1" noMove="1" noResize="1" noEditPoints="1" noAdjustHandles="1" noChangeArrowheads="1" noChangeShapeType="1" noTextEdit="1"/>
              </p:cNvSpPr>
              <p:nvPr/>
            </p:nvSpPr>
            <p:spPr>
              <a:xfrm>
                <a:off x="7435505" y="3537943"/>
                <a:ext cx="413811" cy="646331"/>
              </a:xfrm>
              <a:prstGeom prst="rect">
                <a:avLst/>
              </a:prstGeom>
              <a:blipFill>
                <a:blip r:embed="rId12"/>
                <a:stretch>
                  <a:fillRect l="-14706" r="-17647"/>
                </a:stretch>
              </a:blipFill>
            </p:spPr>
            <p:txBody>
              <a:bodyPr/>
              <a:lstStyle/>
              <a:p>
                <a:r>
                  <a:rPr lang="ja-JP" altLang="en-US">
                    <a:noFill/>
                  </a:rPr>
                  <a:t> </a:t>
                </a:r>
              </a:p>
            </p:txBody>
          </p:sp>
        </mc:Fallback>
      </mc:AlternateContent>
      <p:sp>
        <p:nvSpPr>
          <p:cNvPr id="25" name="右矢印 24">
            <a:extLst>
              <a:ext uri="{FF2B5EF4-FFF2-40B4-BE49-F238E27FC236}">
                <a16:creationId xmlns:a16="http://schemas.microsoft.com/office/drawing/2014/main" id="{84540ED8-C213-2AD9-FE7C-CC5A387EBE15}"/>
              </a:ext>
            </a:extLst>
          </p:cNvPr>
          <p:cNvSpPr/>
          <p:nvPr/>
        </p:nvSpPr>
        <p:spPr>
          <a:xfrm>
            <a:off x="397565" y="4636845"/>
            <a:ext cx="988066" cy="534122"/>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26" name="右矢印 25">
            <a:extLst>
              <a:ext uri="{FF2B5EF4-FFF2-40B4-BE49-F238E27FC236}">
                <a16:creationId xmlns:a16="http://schemas.microsoft.com/office/drawing/2014/main" id="{34296D39-0EC7-E575-8E26-D23336C67EAF}"/>
              </a:ext>
            </a:extLst>
          </p:cNvPr>
          <p:cNvSpPr/>
          <p:nvPr/>
        </p:nvSpPr>
        <p:spPr>
          <a:xfrm>
            <a:off x="397565" y="5778974"/>
            <a:ext cx="988066" cy="534122"/>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2" name="テキスト ボックス 1">
            <a:extLst>
              <a:ext uri="{FF2B5EF4-FFF2-40B4-BE49-F238E27FC236}">
                <a16:creationId xmlns:a16="http://schemas.microsoft.com/office/drawing/2014/main" id="{D3D498CC-69C2-138F-02EC-8A20677D5F60}"/>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4/28</a:t>
            </a:r>
            <a:endParaRPr kumimoji="1" lang="ja-JP" altLang="en-US" sz="2800">
              <a:latin typeface="+mj-ea"/>
              <a:ea typeface="+mj-ea"/>
            </a:endParaRP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765D31A6-BDE9-D017-F18B-235C201F8825}"/>
                  </a:ext>
                </a:extLst>
              </p:cNvPr>
              <p:cNvSpPr txBox="1"/>
              <p:nvPr/>
            </p:nvSpPr>
            <p:spPr>
              <a:xfrm rot="5400000">
                <a:off x="3365884" y="3094046"/>
                <a:ext cx="83275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m:t>
                      </m:r>
                    </m:oMath>
                  </m:oMathPara>
                </a14:m>
                <a:endParaRPr kumimoji="1" lang="ja-JP" altLang="en-US" sz="3600"/>
              </a:p>
            </p:txBody>
          </p:sp>
        </mc:Choice>
        <mc:Fallback xmlns="">
          <p:sp>
            <p:nvSpPr>
              <p:cNvPr id="3" name="テキスト ボックス 2">
                <a:extLst>
                  <a:ext uri="{FF2B5EF4-FFF2-40B4-BE49-F238E27FC236}">
                    <a16:creationId xmlns:a16="http://schemas.microsoft.com/office/drawing/2014/main" id="{765D31A6-BDE9-D017-F18B-235C201F8825}"/>
                  </a:ext>
                </a:extLst>
              </p:cNvPr>
              <p:cNvSpPr txBox="1">
                <a:spLocks noRot="1" noChangeAspect="1" noMove="1" noResize="1" noEditPoints="1" noAdjustHandles="1" noChangeArrowheads="1" noChangeShapeType="1" noTextEdit="1"/>
              </p:cNvSpPr>
              <p:nvPr/>
            </p:nvSpPr>
            <p:spPr>
              <a:xfrm rot="5400000">
                <a:off x="3365884" y="3094046"/>
                <a:ext cx="832757" cy="646331"/>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B50F5E77-A229-6364-A31F-C8733B66E585}"/>
                  </a:ext>
                </a:extLst>
              </p:cNvPr>
              <p:cNvSpPr txBox="1"/>
              <p:nvPr/>
            </p:nvSpPr>
            <p:spPr>
              <a:xfrm>
                <a:off x="3536561" y="3510424"/>
                <a:ext cx="413811"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0</m:t>
                      </m:r>
                    </m:oMath>
                  </m:oMathPara>
                </a14:m>
                <a:endParaRPr kumimoji="1" lang="ja-JP" altLang="en-US" sz="3600"/>
              </a:p>
            </p:txBody>
          </p:sp>
        </mc:Choice>
        <mc:Fallback xmlns="">
          <p:sp>
            <p:nvSpPr>
              <p:cNvPr id="4" name="テキスト ボックス 3">
                <a:extLst>
                  <a:ext uri="{FF2B5EF4-FFF2-40B4-BE49-F238E27FC236}">
                    <a16:creationId xmlns:a16="http://schemas.microsoft.com/office/drawing/2014/main" id="{B50F5E77-A229-6364-A31F-C8733B66E585}"/>
                  </a:ext>
                </a:extLst>
              </p:cNvPr>
              <p:cNvSpPr txBox="1">
                <a:spLocks noRot="1" noChangeAspect="1" noMove="1" noResize="1" noEditPoints="1" noAdjustHandles="1" noChangeArrowheads="1" noChangeShapeType="1" noTextEdit="1"/>
              </p:cNvSpPr>
              <p:nvPr/>
            </p:nvSpPr>
            <p:spPr>
              <a:xfrm>
                <a:off x="3536561" y="3510424"/>
                <a:ext cx="413811" cy="646331"/>
              </a:xfrm>
              <a:prstGeom prst="rect">
                <a:avLst/>
              </a:prstGeom>
              <a:blipFill>
                <a:blip r:embed="rId13"/>
                <a:stretch>
                  <a:fillRect l="-14706" r="-176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729AFE4-4EFF-ECAE-E0F2-742E41D2E06B}"/>
                  </a:ext>
                </a:extLst>
              </p:cNvPr>
              <p:cNvSpPr txBox="1"/>
              <p:nvPr/>
            </p:nvSpPr>
            <p:spPr>
              <a:xfrm rot="5400000">
                <a:off x="4743395" y="3090922"/>
                <a:ext cx="83275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m:t>
                      </m:r>
                    </m:oMath>
                  </m:oMathPara>
                </a14:m>
                <a:endParaRPr kumimoji="1" lang="ja-JP" altLang="en-US" sz="3600"/>
              </a:p>
            </p:txBody>
          </p:sp>
        </mc:Choice>
        <mc:Fallback xmlns="">
          <p:sp>
            <p:nvSpPr>
              <p:cNvPr id="5" name="テキスト ボックス 4">
                <a:extLst>
                  <a:ext uri="{FF2B5EF4-FFF2-40B4-BE49-F238E27FC236}">
                    <a16:creationId xmlns:a16="http://schemas.microsoft.com/office/drawing/2014/main" id="{4729AFE4-4EFF-ECAE-E0F2-742E41D2E06B}"/>
                  </a:ext>
                </a:extLst>
              </p:cNvPr>
              <p:cNvSpPr txBox="1">
                <a:spLocks noRot="1" noChangeAspect="1" noMove="1" noResize="1" noEditPoints="1" noAdjustHandles="1" noChangeArrowheads="1" noChangeShapeType="1" noTextEdit="1"/>
              </p:cNvSpPr>
              <p:nvPr/>
            </p:nvSpPr>
            <p:spPr>
              <a:xfrm rot="5400000">
                <a:off x="4743395" y="3090922"/>
                <a:ext cx="832757" cy="646331"/>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404A2A93-9F3C-4D19-6FD2-283EB69A2449}"/>
                  </a:ext>
                </a:extLst>
              </p:cNvPr>
              <p:cNvSpPr txBox="1"/>
              <p:nvPr/>
            </p:nvSpPr>
            <p:spPr>
              <a:xfrm rot="5400000">
                <a:off x="9476950" y="3140727"/>
                <a:ext cx="83275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m:t>
                      </m:r>
                    </m:oMath>
                  </m:oMathPara>
                </a14:m>
                <a:endParaRPr kumimoji="1" lang="ja-JP" altLang="en-US" sz="3600"/>
              </a:p>
            </p:txBody>
          </p:sp>
        </mc:Choice>
        <mc:Fallback xmlns="">
          <p:sp>
            <p:nvSpPr>
              <p:cNvPr id="7" name="テキスト ボックス 6">
                <a:extLst>
                  <a:ext uri="{FF2B5EF4-FFF2-40B4-BE49-F238E27FC236}">
                    <a16:creationId xmlns:a16="http://schemas.microsoft.com/office/drawing/2014/main" id="{404A2A93-9F3C-4D19-6FD2-283EB69A2449}"/>
                  </a:ext>
                </a:extLst>
              </p:cNvPr>
              <p:cNvSpPr txBox="1">
                <a:spLocks noRot="1" noChangeAspect="1" noMove="1" noResize="1" noEditPoints="1" noAdjustHandles="1" noChangeArrowheads="1" noChangeShapeType="1" noTextEdit="1"/>
              </p:cNvSpPr>
              <p:nvPr/>
            </p:nvSpPr>
            <p:spPr>
              <a:xfrm rot="5400000">
                <a:off x="9476950" y="3140727"/>
                <a:ext cx="832757" cy="646331"/>
              </a:xfrm>
              <a:prstGeom prst="rect">
                <a:avLst/>
              </a:prstGeom>
              <a:blipFill>
                <a:blip r:embed="rId1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33E70C3-9C79-6D0F-3EC3-69C42E727006}"/>
                  </a:ext>
                </a:extLst>
              </p:cNvPr>
              <p:cNvSpPr txBox="1"/>
              <p:nvPr/>
            </p:nvSpPr>
            <p:spPr>
              <a:xfrm>
                <a:off x="4582838" y="3515697"/>
                <a:ext cx="1015961"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1.34</m:t>
                      </m:r>
                    </m:oMath>
                  </m:oMathPara>
                </a14:m>
                <a:endParaRPr kumimoji="1" lang="ja-JP" altLang="en-US" sz="3600"/>
              </a:p>
            </p:txBody>
          </p:sp>
        </mc:Choice>
        <mc:Fallback xmlns="">
          <p:sp>
            <p:nvSpPr>
              <p:cNvPr id="8" name="テキスト ボックス 7">
                <a:extLst>
                  <a:ext uri="{FF2B5EF4-FFF2-40B4-BE49-F238E27FC236}">
                    <a16:creationId xmlns:a16="http://schemas.microsoft.com/office/drawing/2014/main" id="{E33E70C3-9C79-6D0F-3EC3-69C42E727006}"/>
                  </a:ext>
                </a:extLst>
              </p:cNvPr>
              <p:cNvSpPr txBox="1">
                <a:spLocks noRot="1" noChangeAspect="1" noMove="1" noResize="1" noEditPoints="1" noAdjustHandles="1" noChangeArrowheads="1" noChangeShapeType="1" noTextEdit="1"/>
              </p:cNvSpPr>
              <p:nvPr/>
            </p:nvSpPr>
            <p:spPr>
              <a:xfrm>
                <a:off x="4582838" y="3515697"/>
                <a:ext cx="1015961" cy="646331"/>
              </a:xfrm>
              <a:prstGeom prst="rect">
                <a:avLst/>
              </a:prstGeom>
              <a:blipFill>
                <a:blip r:embed="rId16"/>
                <a:stretch>
                  <a:fillRect l="-6173" r="-86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7A9D1A77-2486-284E-664D-BDFA99081329}"/>
                  </a:ext>
                </a:extLst>
              </p:cNvPr>
              <p:cNvSpPr txBox="1"/>
              <p:nvPr/>
            </p:nvSpPr>
            <p:spPr>
              <a:xfrm>
                <a:off x="9385347" y="3537944"/>
                <a:ext cx="1015961"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2.54</m:t>
                      </m:r>
                    </m:oMath>
                  </m:oMathPara>
                </a14:m>
                <a:endParaRPr kumimoji="1" lang="ja-JP" altLang="en-US" sz="3600"/>
              </a:p>
            </p:txBody>
          </p:sp>
        </mc:Choice>
        <mc:Fallback xmlns="">
          <p:sp>
            <p:nvSpPr>
              <p:cNvPr id="12" name="テキスト ボックス 11">
                <a:extLst>
                  <a:ext uri="{FF2B5EF4-FFF2-40B4-BE49-F238E27FC236}">
                    <a16:creationId xmlns:a16="http://schemas.microsoft.com/office/drawing/2014/main" id="{7A9D1A77-2486-284E-664D-BDFA99081329}"/>
                  </a:ext>
                </a:extLst>
              </p:cNvPr>
              <p:cNvSpPr txBox="1">
                <a:spLocks noRot="1" noChangeAspect="1" noMove="1" noResize="1" noEditPoints="1" noAdjustHandles="1" noChangeArrowheads="1" noChangeShapeType="1" noTextEdit="1"/>
              </p:cNvSpPr>
              <p:nvPr/>
            </p:nvSpPr>
            <p:spPr>
              <a:xfrm>
                <a:off x="9385347" y="3537944"/>
                <a:ext cx="1015961" cy="646331"/>
              </a:xfrm>
              <a:prstGeom prst="rect">
                <a:avLst/>
              </a:prstGeom>
              <a:blipFill>
                <a:blip r:embed="rId17"/>
                <a:stretch>
                  <a:fillRect l="-7500" r="-10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773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D5004-0107-7D44-A96D-04A179A22A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0806F8A-D95D-E20A-4C7D-93CD5DC73E0D}"/>
                  </a:ext>
                </a:extLst>
              </p:cNvPr>
              <p:cNvSpPr>
                <a:spLocks noGrp="1"/>
              </p:cNvSpPr>
              <p:nvPr>
                <p:ph idx="1"/>
              </p:nvPr>
            </p:nvSpPr>
            <p:spPr>
              <a:xfrm>
                <a:off x="-102912" y="964482"/>
                <a:ext cx="12294912" cy="3646516"/>
              </a:xfrm>
            </p:spPr>
            <p:txBody>
              <a:bodyPr>
                <a:normAutofit/>
              </a:bodyPr>
              <a:lstStyle/>
              <a:p>
                <a:pPr marL="0" indent="0">
                  <a:buNone/>
                </a:pPr>
                <a:endParaRPr kumimoji="1" lang="en-US" altLang="ja-JP" b="0" dirty="0"/>
              </a:p>
              <a:p>
                <a:pPr marL="0" indent="0">
                  <a:buNone/>
                </a:pPr>
                <a14:m>
                  <m:oMathPara xmlns:m="http://schemas.openxmlformats.org/officeDocument/2006/math">
                    <m:oMathParaPr>
                      <m:jc m:val="centerGroup"/>
                    </m:oMathParaPr>
                    <m:oMath xmlns:m="http://schemas.openxmlformats.org/officeDocument/2006/math">
                      <m:func>
                        <m:funcPr>
                          <m:ctrlPr>
                            <a:rPr lang="en-US" altLang="ja-JP" sz="3200" i="1" smtClean="0">
                              <a:latin typeface="Cambria Math" panose="02040503050406030204" pitchFamily="18" charset="0"/>
                            </a:rPr>
                          </m:ctrlPr>
                        </m:funcPr>
                        <m:fName>
                          <m:limLow>
                            <m:limLowPr>
                              <m:ctrlPr>
                                <a:rPr lang="en-US" altLang="ja-JP" sz="3200" i="1">
                                  <a:latin typeface="Cambria Math" panose="02040503050406030204" pitchFamily="18" charset="0"/>
                                </a:rPr>
                              </m:ctrlPr>
                            </m:limLowPr>
                            <m:e>
                              <m:r>
                                <m:rPr>
                                  <m:sty m:val="p"/>
                                </m:rPr>
                                <a:rPr lang="en-US" altLang="ja-JP" sz="3200" b="0" i="0" smtClean="0">
                                  <a:latin typeface="Cambria Math" panose="02040503050406030204" pitchFamily="18" charset="0"/>
                                </a:rPr>
                                <m:t>argmax</m:t>
                              </m:r>
                              <m:r>
                                <a:rPr lang="en-US" altLang="ja-JP" sz="3200" b="0" i="0" smtClean="0">
                                  <a:latin typeface="Cambria Math" panose="02040503050406030204" pitchFamily="18" charset="0"/>
                                </a:rPr>
                                <m:t> </m:t>
                              </m:r>
                            </m:e>
                            <m:lim>
                              <m:r>
                                <a:rPr lang="en-US" altLang="ja-JP" sz="3200" b="1" i="1" smtClean="0">
                                  <a:latin typeface="Cambria Math" panose="02040503050406030204" pitchFamily="18" charset="0"/>
                                </a:rPr>
                                <m:t> </m:t>
                              </m:r>
                              <m:sSub>
                                <m:sSubPr>
                                  <m:ctrlPr>
                                    <a:rPr lang="en-US" altLang="ja-JP" sz="3200" b="1" i="1" smtClean="0">
                                      <a:latin typeface="Cambria Math" panose="02040503050406030204" pitchFamily="18" charset="0"/>
                                    </a:rPr>
                                  </m:ctrlPr>
                                </m:sSubPr>
                                <m:e>
                                  <m:r>
                                    <a:rPr lang="en-US" altLang="ja-JP" sz="3200" b="1" i="1" smtClean="0">
                                      <a:latin typeface="Cambria Math" panose="02040503050406030204" pitchFamily="18" charset="0"/>
                                    </a:rPr>
                                    <m:t>𝒗</m:t>
                                  </m:r>
                                </m:e>
                                <m:sub>
                                  <m:r>
                                    <a:rPr lang="en-US" altLang="ja-JP" sz="3200" b="0" i="1" smtClean="0">
                                      <a:latin typeface="Cambria Math" panose="02040503050406030204" pitchFamily="18" charset="0"/>
                                    </a:rPr>
                                    <m:t>𝑘</m:t>
                                  </m:r>
                                </m:sub>
                              </m:sSub>
                            </m:lim>
                          </m:limLow>
                        </m:fName>
                        <m:e>
                          <m:sSubSup>
                            <m:sSubSupPr>
                              <m:ctrlPr>
                                <a:rPr lang="en-US" altLang="ja-JP" sz="3200" b="1" i="1" smtClean="0">
                                  <a:latin typeface="Cambria Math" panose="02040503050406030204" pitchFamily="18" charset="0"/>
                                  <a:ea typeface="Cambria Math" panose="02040503050406030204" pitchFamily="18" charset="0"/>
                                </a:rPr>
                              </m:ctrlPr>
                            </m:sSubSupPr>
                            <m:e>
                              <m:r>
                                <a:rPr lang="en-US" altLang="ja-JP" sz="3200" b="1" i="1" smtClean="0">
                                  <a:latin typeface="Cambria Math" panose="02040503050406030204" pitchFamily="18" charset="0"/>
                                  <a:ea typeface="Cambria Math" panose="02040503050406030204" pitchFamily="18" charset="0"/>
                                </a:rPr>
                                <m:t>𝒗</m:t>
                              </m:r>
                            </m:e>
                            <m:sub>
                              <m:r>
                                <a:rPr lang="en-US" altLang="ja-JP" sz="3200" b="0" i="1" smtClean="0">
                                  <a:latin typeface="Cambria Math" panose="02040503050406030204" pitchFamily="18" charset="0"/>
                                  <a:ea typeface="Cambria Math" panose="02040503050406030204" pitchFamily="18" charset="0"/>
                                </a:rPr>
                                <m:t>𝑘</m:t>
                              </m:r>
                            </m:sub>
                            <m:sup>
                              <m:r>
                                <a:rPr lang="en-US" altLang="ja-JP" sz="3200" b="0" i="1" smtClean="0">
                                  <a:latin typeface="Cambria Math" panose="02040503050406030204" pitchFamily="18" charset="0"/>
                                  <a:ea typeface="Cambria Math" panose="02040503050406030204" pitchFamily="18" charset="0"/>
                                </a:rPr>
                                <m:t>𝑇</m:t>
                              </m:r>
                            </m:sup>
                          </m:sSubSup>
                          <m:sSup>
                            <m:sSupPr>
                              <m:ctrlPr>
                                <a:rPr lang="en-US" altLang="ja-JP" sz="3200" b="0" i="1" smtClean="0">
                                  <a:latin typeface="Cambria Math" panose="02040503050406030204" pitchFamily="18" charset="0"/>
                                  <a:ea typeface="Cambria Math" panose="02040503050406030204" pitchFamily="18" charset="0"/>
                                </a:rPr>
                              </m:ctrlPr>
                            </m:sSupPr>
                            <m:e>
                              <m:r>
                                <a:rPr lang="en-US" altLang="ja-JP" sz="3200" b="0" i="1" smtClean="0">
                                  <a:latin typeface="Cambria Math" panose="02040503050406030204" pitchFamily="18" charset="0"/>
                                  <a:ea typeface="Cambria Math" panose="02040503050406030204" pitchFamily="18" charset="0"/>
                                </a:rPr>
                                <m:t>𝑋</m:t>
                              </m:r>
                            </m:e>
                            <m:sup>
                              <m:r>
                                <a:rPr lang="en-US" altLang="ja-JP" sz="3200" b="0" i="1" smtClean="0">
                                  <a:latin typeface="Cambria Math" panose="02040503050406030204" pitchFamily="18" charset="0"/>
                                  <a:ea typeface="Cambria Math" panose="02040503050406030204" pitchFamily="18" charset="0"/>
                                </a:rPr>
                                <m:t>𝑇</m:t>
                              </m:r>
                            </m:sup>
                          </m:sSup>
                          <m:r>
                            <a:rPr lang="en-US" altLang="ja-JP" sz="3200" b="0" i="1" smtClean="0">
                              <a:latin typeface="Cambria Math" panose="02040503050406030204" pitchFamily="18" charset="0"/>
                              <a:ea typeface="Cambria Math" panose="02040503050406030204" pitchFamily="18" charset="0"/>
                            </a:rPr>
                            <m:t>𝑋</m:t>
                          </m:r>
                          <m:sSub>
                            <m:sSubPr>
                              <m:ctrlPr>
                                <a:rPr lang="en-US" altLang="ja-JP" sz="3200" b="1"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func>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subject</m:t>
                      </m:r>
                      <m:r>
                        <a:rPr lang="en-US" altLang="ja-JP" sz="3200" b="0" i="0" smtClean="0">
                          <a:latin typeface="Cambria Math" panose="02040503050406030204" pitchFamily="18" charset="0"/>
                        </a:rPr>
                        <m:t> </m:t>
                      </m:r>
                      <m:r>
                        <m:rPr>
                          <m:sty m:val="p"/>
                        </m:rPr>
                        <a:rPr lang="en-US" altLang="ja-JP" sz="3200" b="0" i="0" smtClean="0">
                          <a:latin typeface="Cambria Math" panose="02040503050406030204" pitchFamily="18" charset="0"/>
                        </a:rPr>
                        <m:t>to</m:t>
                      </m:r>
                      <m:r>
                        <a:rPr lang="en-US" altLang="ja-JP" sz="3200" b="0" i="1" smtClean="0">
                          <a:latin typeface="Cambria Math" panose="02040503050406030204" pitchFamily="18" charset="0"/>
                        </a:rPr>
                        <m:t>  </m:t>
                      </m:r>
                      <m:sSub>
                        <m:sSubPr>
                          <m:ctrlPr>
                            <a:rPr lang="en-US" altLang="ja-JP" sz="3200" b="0" i="1" smtClean="0">
                              <a:latin typeface="Cambria Math" panose="02040503050406030204" pitchFamily="18" charset="0"/>
                            </a:rPr>
                          </m:ctrlPr>
                        </m:sSubPr>
                        <m:e>
                          <m:d>
                            <m:dPr>
                              <m:begChr m:val="‖"/>
                              <m:endChr m:val="‖"/>
                              <m:ctrlPr>
                                <a:rPr lang="en-US" altLang="ja-JP" sz="3200" b="0" i="1" smtClean="0">
                                  <a:latin typeface="Cambria Math" panose="02040503050406030204" pitchFamily="18" charset="0"/>
                                </a:rPr>
                              </m:ctrlPr>
                            </m:dPr>
                            <m:e>
                              <m:sSub>
                                <m:sSubPr>
                                  <m:ctrlPr>
                                    <a:rPr lang="en-US" altLang="ja-JP" sz="3200" b="1"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2</m:t>
                          </m:r>
                        </m:sub>
                      </m:sSub>
                      <m:r>
                        <a:rPr lang="en-US" altLang="ja-JP" sz="3200" b="0" i="1" smtClean="0">
                          <a:latin typeface="Cambria Math" panose="02040503050406030204" pitchFamily="18" charset="0"/>
                        </a:rPr>
                        <m:t>=1,</m:t>
                      </m:r>
                      <m:sSubSup>
                        <m:sSubSupPr>
                          <m:ctrlPr>
                            <a:rPr lang="en-US" altLang="ja-JP" sz="3200" b="0" i="1" smtClean="0">
                              <a:latin typeface="Cambria Math" panose="02040503050406030204" pitchFamily="18" charset="0"/>
                            </a:rPr>
                          </m:ctrlPr>
                        </m:sSubSupPr>
                        <m:e>
                          <m:r>
                            <a:rPr lang="en-US" altLang="ja-JP" sz="3200" b="1" i="1">
                              <a:latin typeface="Cambria Math" panose="02040503050406030204" pitchFamily="18" charset="0"/>
                            </a:rPr>
                            <m:t>𝒗</m:t>
                          </m:r>
                        </m:e>
                        <m:sub>
                          <m:r>
                            <a:rPr lang="en-US" altLang="ja-JP" sz="3200" b="0" i="1" smtClean="0">
                              <a:latin typeface="Cambria Math" panose="02040503050406030204" pitchFamily="18" charset="0"/>
                            </a:rPr>
                            <m:t>𝑗</m:t>
                          </m:r>
                        </m:sub>
                        <m:sup>
                          <m:r>
                            <a:rPr lang="en-US" altLang="ja-JP" sz="3200" b="0" i="1" smtClean="0">
                              <a:latin typeface="Cambria Math" panose="02040503050406030204" pitchFamily="18" charset="0"/>
                            </a:rPr>
                            <m:t>𝑇</m:t>
                          </m:r>
                        </m:sup>
                      </m:sSubSup>
                      <m:sSub>
                        <m:sSubPr>
                          <m:ctrlPr>
                            <a:rPr lang="en-US" altLang="ja-JP" sz="3200" b="1"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=0, </m:t>
                      </m:r>
                      <m:sSub>
                        <m:sSubPr>
                          <m:ctrlPr>
                            <a:rPr lang="en-US" altLang="ja-JP" sz="3200" b="0" i="1" smtClean="0">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sSub>
                                <m:sSubPr>
                                  <m:ctrlPr>
                                    <a:rPr lang="en-US" altLang="ja-JP" sz="3200" b="1"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1</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𝑐</m:t>
                      </m:r>
                      <m:r>
                        <a:rPr lang="en-US" altLang="ja-JP" sz="3200" b="0" i="0" smtClean="0">
                          <a:latin typeface="Cambria Math" panose="02040503050406030204" pitchFamily="18" charset="0"/>
                          <a:ea typeface="Cambria Math" panose="02040503050406030204" pitchFamily="18" charset="0"/>
                        </a:rPr>
                        <m:t> </m:t>
                      </m:r>
                      <m:r>
                        <a:rPr lang="en-US" altLang="ja-JP" sz="3200" b="0" i="1" smtClean="0">
                          <a:latin typeface="Cambria Math" panose="02040503050406030204" pitchFamily="18" charset="0"/>
                          <a:ea typeface="Cambria Math" panose="02040503050406030204" pitchFamily="18" charset="0"/>
                        </a:rPr>
                        <m:t>, </m:t>
                      </m:r>
                    </m:oMath>
                  </m:oMathPara>
                </a14:m>
                <a:endParaRPr lang="en-US" altLang="ja-JP" sz="3200" b="0" i="1" dirty="0">
                  <a:latin typeface="Cambria Math" panose="02040503050406030204" pitchFamily="18" charset="0"/>
                  <a:ea typeface="Cambria Math" panose="02040503050406030204" pitchFamily="18" charset="0"/>
                </a:endParaRPr>
              </a:p>
              <a:p>
                <a:pPr marL="0" indent="0">
                  <a:buNone/>
                </a:pPr>
                <a:r>
                  <a:rPr lang="en-US" altLang="ja-JP" sz="3200" b="0" dirty="0">
                    <a:ea typeface="Cambria Math" panose="02040503050406030204" pitchFamily="18" charset="0"/>
                  </a:rPr>
                  <a:t> </a:t>
                </a:r>
                <a:r>
                  <a:rPr lang="ja-JP" altLang="en-US" sz="3200" b="0">
                    <a:ea typeface="Cambria Math" panose="02040503050406030204" pitchFamily="18" charset="0"/>
                  </a:rPr>
                  <a:t>　　　　　　　　　　　　　　　　　　　　　　　</a:t>
                </a:r>
                <a14:m>
                  <m:oMath xmlns:m="http://schemas.openxmlformats.org/officeDocument/2006/math">
                    <m:r>
                      <a:rPr lang="en-US" altLang="ja-JP" sz="3200" b="0" i="1" smtClean="0">
                        <a:latin typeface="Cambria Math" panose="02040503050406030204" pitchFamily="18" charset="0"/>
                        <a:ea typeface="Cambria Math" panose="02040503050406030204" pitchFamily="18" charset="0"/>
                      </a:rPr>
                      <m:t>𝑗</m:t>
                    </m:r>
                    <m:r>
                      <a:rPr lang="en-US" altLang="ja-JP" sz="3200" b="0" i="1" smtClean="0">
                        <a:latin typeface="Cambria Math" panose="02040503050406030204" pitchFamily="18" charset="0"/>
                        <a:ea typeface="Cambria Math" panose="02040503050406030204" pitchFamily="18" charset="0"/>
                      </a:rPr>
                      <m:t>=1,…,</m:t>
                    </m:r>
                    <m:r>
                      <a:rPr lang="en-US" altLang="ja-JP" sz="3200" b="0" i="1" smtClean="0">
                        <a:latin typeface="Cambria Math" panose="02040503050406030204" pitchFamily="18" charset="0"/>
                        <a:ea typeface="Cambria Math" panose="02040503050406030204" pitchFamily="18" charset="0"/>
                      </a:rPr>
                      <m:t>𝑘</m:t>
                    </m:r>
                    <m:r>
                      <a:rPr lang="en-US" altLang="ja-JP" sz="3200" b="0" i="1" smtClean="0">
                        <a:latin typeface="Cambria Math" panose="02040503050406030204" pitchFamily="18" charset="0"/>
                        <a:ea typeface="Cambria Math" panose="02040503050406030204" pitchFamily="18" charset="0"/>
                      </a:rPr>
                      <m:t>−1</m:t>
                    </m:r>
                  </m:oMath>
                </a14:m>
                <a:endParaRPr lang="en-US" altLang="ja-JP" sz="3200" i="1" dirty="0"/>
              </a:p>
              <a:p>
                <a:pPr marL="0" indent="0">
                  <a:buNone/>
                </a:pPr>
                <a:r>
                  <a:rPr lang="en-US" altLang="ja-JP" i="1" dirty="0">
                    <a:latin typeface="Cambria Math" panose="02040503050406030204" pitchFamily="18" charset="0"/>
                  </a:rPr>
                  <a:t>     </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𝒗</m:t>
                        </m:r>
                      </m:e>
                      <m:sub>
                        <m:r>
                          <a:rPr lang="en-US" altLang="ja-JP" i="1">
                            <a:latin typeface="Cambria Math" panose="02040503050406030204" pitchFamily="18" charset="0"/>
                          </a:rPr>
                          <m:t>𝑘</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𝑣</m:t>
                                </m:r>
                              </m:e>
                              <m:sub>
                                <m:r>
                                  <a:rPr lang="en-US" altLang="ja-JP" b="0" i="1" smtClean="0">
                                    <a:latin typeface="Cambria Math" panose="02040503050406030204" pitchFamily="18" charset="0"/>
                                  </a:rPr>
                                  <m:t>𝑘</m:t>
                                </m:r>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𝑣</m:t>
                                </m:r>
                              </m:e>
                              <m:sub>
                                <m:r>
                                  <a:rPr lang="en-US" altLang="ja-JP" b="0" i="1" smtClean="0">
                                    <a:latin typeface="Cambria Math" panose="02040503050406030204" pitchFamily="18" charset="0"/>
                                  </a:rPr>
                                  <m:t>𝑘</m:t>
                                </m:r>
                                <m:r>
                                  <a:rPr lang="en-US" altLang="ja-JP" i="1">
                                    <a:latin typeface="Cambria Math" panose="02040503050406030204" pitchFamily="18" charset="0"/>
                                  </a:rPr>
                                  <m:t>𝑝</m:t>
                                </m:r>
                              </m:sub>
                            </m:sSub>
                            <m:r>
                              <a:rPr lang="en-US" altLang="ja-JP" i="1">
                                <a:latin typeface="Cambria Math" panose="02040503050406030204" pitchFamily="18" charset="0"/>
                              </a:rPr>
                              <m:t> </m:t>
                            </m:r>
                          </m:e>
                        </m:d>
                      </m:e>
                      <m:sup>
                        <m:r>
                          <a:rPr lang="en-US" altLang="ja-JP" i="1">
                            <a:latin typeface="Cambria Math" panose="02040503050406030204" pitchFamily="18" charset="0"/>
                          </a:rPr>
                          <m:t>𝑇</m:t>
                        </m:r>
                      </m:sup>
                    </m:sSup>
                  </m:oMath>
                </a14:m>
                <a:r>
                  <a:rPr lang="en-US" altLang="ja-JP" dirty="0"/>
                  <a:t>:</a:t>
                </a:r>
                <a:r>
                  <a:rPr lang="ja-JP" altLang="en-US">
                    <a:latin typeface="+mn-ea"/>
                  </a:rPr>
                  <a:t>第</a:t>
                </a:r>
                <a14:m>
                  <m:oMath xmlns:m="http://schemas.openxmlformats.org/officeDocument/2006/math">
                    <m:r>
                      <a:rPr lang="en-US" altLang="ja-JP" i="1">
                        <a:latin typeface="Cambria Math" panose="02040503050406030204" pitchFamily="18" charset="0"/>
                      </a:rPr>
                      <m:t>𝑘</m:t>
                    </m:r>
                  </m:oMath>
                </a14:m>
                <a:r>
                  <a:rPr lang="ja-JP" altLang="en-US">
                    <a:latin typeface="+mn-ea"/>
                  </a:rPr>
                  <a:t>主成分に関する</a:t>
                </a:r>
                <a14:m>
                  <m:oMath xmlns:m="http://schemas.openxmlformats.org/officeDocument/2006/math">
                    <m:r>
                      <a:rPr lang="en-US" altLang="ja-JP" b="0" i="1" smtClean="0">
                        <a:latin typeface="Cambria Math" panose="02040503050406030204" pitchFamily="18" charset="0"/>
                      </a:rPr>
                      <m:t>𝑝</m:t>
                    </m:r>
                  </m:oMath>
                </a14:m>
                <a:r>
                  <a:rPr lang="ja-JP" altLang="en-US">
                    <a:latin typeface="+mn-ea"/>
                  </a:rPr>
                  <a:t>次元主成分負荷量</a:t>
                </a:r>
                <a:r>
                  <a:rPr lang="en-US" altLang="ja-JP" dirty="0">
                    <a:latin typeface="Hiragino Kaku Gothic Pro W3" panose="020B0300000000000000" pitchFamily="34" charset="-128"/>
                    <a:ea typeface="Hiragino Kaku Gothic Pro W3" panose="020B0300000000000000" pitchFamily="34" charset="-128"/>
                  </a:rPr>
                  <a:t>  </a:t>
                </a:r>
              </a:p>
              <a:p>
                <a:pPr marL="0" indent="0">
                  <a:buNone/>
                </a:pPr>
                <a:r>
                  <a:rPr lang="en-US" altLang="ja-JP" dirty="0">
                    <a:ea typeface="ヒラギノ角ゴ Pro W3"/>
                    <a:cs typeface="ヒラギノ角ゴ Pro W3"/>
                  </a:rPr>
                  <a:t>     </a:t>
                </a:r>
                <a14:m>
                  <m:oMath xmlns:m="http://schemas.openxmlformats.org/officeDocument/2006/math">
                    <m:r>
                      <a:rPr lang="en-US" altLang="ja-JP" i="1" smtClean="0">
                        <a:latin typeface="Cambria Math" panose="02040503050406030204" pitchFamily="18" charset="0"/>
                        <a:ea typeface="ヒラギノ角ゴ Pro W3"/>
                        <a:cs typeface="ヒラギノ角ゴ Pro W3"/>
                      </a:rPr>
                      <m:t>𝑐</m:t>
                    </m:r>
                    <m:r>
                      <a:rPr lang="en-US" altLang="ja-JP" i="1">
                        <a:latin typeface="Cambria Math" panose="02040503050406030204" pitchFamily="18" charset="0"/>
                        <a:ea typeface="ヒラギノ角ゴ Pro W3"/>
                        <a:cs typeface="ヒラギノ角ゴ Pro W3"/>
                      </a:rPr>
                      <m:t> (</m:t>
                    </m:r>
                    <m:r>
                      <a:rPr lang="en-US" altLang="ja-JP" b="0" i="1" smtClean="0">
                        <a:latin typeface="Cambria Math" panose="02040503050406030204" pitchFamily="18" charset="0"/>
                        <a:ea typeface="ヒラギノ角ゴ Pro W3"/>
                        <a:cs typeface="ヒラギノ角ゴ Pro W3"/>
                      </a:rPr>
                      <m:t>1</m:t>
                    </m:r>
                    <m:r>
                      <a:rPr lang="en-US" altLang="ja-JP" b="0" i="1" smtClean="0">
                        <a:latin typeface="Cambria Math" panose="02040503050406030204" pitchFamily="18" charset="0"/>
                        <a:ea typeface="Cambria Math" panose="02040503050406030204" pitchFamily="18" charset="0"/>
                        <a:cs typeface="ヒラギノ角ゴ Pro W3"/>
                      </a:rPr>
                      <m:t>≤</m:t>
                    </m:r>
                    <m:r>
                      <a:rPr lang="en-US" altLang="ja-JP" b="0" i="1" smtClean="0">
                        <a:latin typeface="Cambria Math" panose="02040503050406030204" pitchFamily="18" charset="0"/>
                        <a:ea typeface="ヒラギノ角ゴ Pro W3"/>
                        <a:cs typeface="ヒラギノ角ゴ Pro W3"/>
                      </a:rPr>
                      <m:t>𝑐</m:t>
                    </m:r>
                    <m:r>
                      <a:rPr lang="en-US" altLang="ja-JP" b="0" i="1" smtClean="0">
                        <a:latin typeface="Cambria Math" panose="02040503050406030204" pitchFamily="18" charset="0"/>
                        <a:ea typeface="Cambria Math" panose="02040503050406030204" pitchFamily="18" charset="0"/>
                        <a:cs typeface="ヒラギノ角ゴ Pro W3"/>
                      </a:rPr>
                      <m:t>≤</m:t>
                    </m:r>
                    <m:rad>
                      <m:radPr>
                        <m:degHide m:val="on"/>
                        <m:ctrlPr>
                          <a:rPr lang="en-US" altLang="ja-JP" b="0" i="1" smtClean="0">
                            <a:latin typeface="Cambria Math" panose="02040503050406030204" pitchFamily="18" charset="0"/>
                            <a:ea typeface="ヒラギノ角ゴ Pro W3"/>
                          </a:rPr>
                        </m:ctrlPr>
                      </m:radPr>
                      <m:deg/>
                      <m:e>
                        <m:r>
                          <a:rPr lang="en-US" altLang="ja-JP" b="0" i="1" smtClean="0">
                            <a:latin typeface="Cambria Math" panose="02040503050406030204" pitchFamily="18" charset="0"/>
                            <a:ea typeface="ヒラギノ角ゴ Pro W3"/>
                          </a:rPr>
                          <m:t>𝑝</m:t>
                        </m:r>
                      </m:e>
                    </m:rad>
                    <m:r>
                      <a:rPr lang="en-US" altLang="ja-JP" i="1">
                        <a:latin typeface="Cambria Math" panose="02040503050406030204" pitchFamily="18" charset="0"/>
                        <a:ea typeface="ヒラギノ角ゴ Pro W3"/>
                        <a:cs typeface="ヒラギノ角ゴ Pro W3"/>
                      </a:rPr>
                      <m:t>)</m:t>
                    </m:r>
                  </m:oMath>
                </a14:m>
                <a:r>
                  <a:rPr lang="en-US" altLang="ja-JP" dirty="0">
                    <a:latin typeface="+mn-ea"/>
                  </a:rPr>
                  <a:t>       :</a:t>
                </a:r>
                <a:r>
                  <a:rPr lang="ja-JP" altLang="en-US">
                    <a:latin typeface="+mn-ea"/>
                  </a:rPr>
                  <a:t>調整パラメータ</a:t>
                </a:r>
                <a:endParaRPr lang="en-US" altLang="ja-JP" i="1" dirty="0">
                  <a:latin typeface="+mn-ea"/>
                </a:endParaRPr>
              </a:p>
              <a:p>
                <a:pPr marL="0" indent="0">
                  <a:buNone/>
                </a:pPr>
                <a:r>
                  <a:rPr lang="ja-JP" altLang="en-US"/>
                  <a:t>　</a:t>
                </a:r>
                <a:r>
                  <a:rPr lang="en-US" altLang="ja-JP" dirty="0"/>
                  <a:t> </a:t>
                </a:r>
                <a14:m>
                  <m:oMath xmlns:m="http://schemas.openxmlformats.org/officeDocument/2006/math">
                    <m:r>
                      <a:rPr lang="en-US" altLang="ja-JP" i="1">
                        <a:latin typeface="Cambria Math" panose="02040503050406030204" pitchFamily="18" charset="0"/>
                        <a:ea typeface="Cambria Math" panose="02040503050406030204" pitchFamily="18" charset="0"/>
                      </a:rPr>
                      <m:t>𝑋</m:t>
                    </m:r>
                    <m:r>
                      <a:rPr lang="en-US" altLang="ja-JP" b="0" i="1" smtClean="0">
                        <a:latin typeface="Cambria Math" panose="02040503050406030204" pitchFamily="18" charset="0"/>
                        <a:ea typeface="Cambria Math" panose="02040503050406030204" pitchFamily="18" charset="0"/>
                      </a:rPr>
                      <m:t>=</m:t>
                    </m:r>
                    <m:sSup>
                      <m:sSupPr>
                        <m:ctrlPr>
                          <a:rPr lang="en-US" altLang="ja-JP" b="0" i="1" smtClean="0">
                            <a:latin typeface="Cambria Math" panose="02040503050406030204" pitchFamily="18" charset="0"/>
                            <a:ea typeface="Cambria Math" panose="02040503050406030204" pitchFamily="18" charset="0"/>
                          </a:rPr>
                        </m:ctrlPr>
                      </m:sSupPr>
                      <m:e>
                        <m:d>
                          <m:dPr>
                            <m:ctrlPr>
                              <a:rPr lang="en-US" altLang="ja-JP" b="0" i="1" smtClean="0">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b="0" i="1" smtClean="0">
                                    <a:latin typeface="Cambria Math" panose="02040503050406030204" pitchFamily="18" charset="0"/>
                                  </a:rPr>
                                  <m:t>𝑛</m:t>
                                </m:r>
                              </m:sub>
                            </m:sSub>
                          </m:e>
                        </m:d>
                      </m:e>
                      <m:sup>
                        <m:r>
                          <a:rPr lang="en-US" altLang="ja-JP" b="0" i="1" smtClean="0">
                            <a:latin typeface="Cambria Math" panose="02040503050406030204" pitchFamily="18" charset="0"/>
                            <a:ea typeface="Cambria Math" panose="02040503050406030204" pitchFamily="18" charset="0"/>
                          </a:rPr>
                          <m:t>𝑇</m:t>
                        </m:r>
                      </m:sup>
                    </m:sSup>
                  </m:oMath>
                </a14:m>
                <a:r>
                  <a:rPr lang="en-US" altLang="ja-JP" dirty="0"/>
                  <a:t>      :</a:t>
                </a:r>
                <a:r>
                  <a:rPr lang="ja-JP" altLang="en-US"/>
                  <a:t>中心化された観測データ</a:t>
                </a:r>
                <a:r>
                  <a:rPr lang="en-US" altLang="ja-JP" dirty="0"/>
                  <a:t> </a:t>
                </a:r>
                <a14:m>
                  <m:oMath xmlns:m="http://schemas.openxmlformats.org/officeDocument/2006/math">
                    <m:sSub>
                      <m:sSubPr>
                        <m:ctrlPr>
                          <a:rPr lang="en-US" altLang="ja-JP" i="1" smtClean="0">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𝑖</m:t>
                        </m:r>
                      </m:sub>
                    </m:sSub>
                  </m:oMath>
                </a14:m>
                <a:r>
                  <a:rPr lang="ja-JP" altLang="en-US">
                    <a:latin typeface="+mn-ea"/>
                  </a:rPr>
                  <a:t>をまとめた行列</a:t>
                </a:r>
                <a:endParaRPr lang="en-US" altLang="ja-JP" sz="2400" dirty="0">
                  <a:latin typeface="+mn-ea"/>
                </a:endParaRPr>
              </a:p>
              <a:p>
                <a:pPr marL="0" indent="0">
                  <a:buNone/>
                </a:pPr>
                <a:endParaRPr kumimoji="1" lang="en-US" altLang="ja-JP" sz="1600" b="0" dirty="0"/>
              </a:p>
            </p:txBody>
          </p:sp>
        </mc:Choice>
        <mc:Fallback xmlns="">
          <p:sp>
            <p:nvSpPr>
              <p:cNvPr id="3" name="コンテンツ プレースホルダー 2">
                <a:extLst>
                  <a:ext uri="{FF2B5EF4-FFF2-40B4-BE49-F238E27FC236}">
                    <a16:creationId xmlns:a16="http://schemas.microsoft.com/office/drawing/2014/main" id="{50806F8A-D95D-E20A-4C7D-93CD5DC73E0D}"/>
                  </a:ext>
                </a:extLst>
              </p:cNvPr>
              <p:cNvSpPr>
                <a:spLocks noGrp="1" noRot="1" noChangeAspect="1" noMove="1" noResize="1" noEditPoints="1" noAdjustHandles="1" noChangeArrowheads="1" noChangeShapeType="1" noTextEdit="1"/>
              </p:cNvSpPr>
              <p:nvPr>
                <p:ph idx="1"/>
              </p:nvPr>
            </p:nvSpPr>
            <p:spPr>
              <a:xfrm>
                <a:off x="-102912" y="964482"/>
                <a:ext cx="12294912" cy="3646516"/>
              </a:xfrm>
              <a:blipFill>
                <a:blip r:embed="rId3"/>
                <a:stretch>
                  <a:fillRect/>
                </a:stretch>
              </a:blipFill>
            </p:spPr>
            <p:txBody>
              <a:bodyPr/>
              <a:lstStyle/>
              <a:p>
                <a:r>
                  <a:rPr lang="ja-JP" altLang="en-US">
                    <a:noFill/>
                  </a:rPr>
                  <a:t> </a:t>
                </a:r>
              </a:p>
            </p:txBody>
          </p:sp>
        </mc:Fallback>
      </mc:AlternateContent>
      <p:sp>
        <p:nvSpPr>
          <p:cNvPr id="11" name="タイトル 1">
            <a:extLst>
              <a:ext uri="{FF2B5EF4-FFF2-40B4-BE49-F238E27FC236}">
                <a16:creationId xmlns:a16="http://schemas.microsoft.com/office/drawing/2014/main" id="{883F3752-EC2A-B6EE-AD55-A1752798B832}"/>
              </a:ext>
            </a:extLst>
          </p:cNvPr>
          <p:cNvSpPr txBox="1">
            <a:spLocks/>
          </p:cNvSpPr>
          <p:nvPr/>
        </p:nvSpPr>
        <p:spPr>
          <a:xfrm>
            <a:off x="0" y="1335"/>
            <a:ext cx="10016696"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err="1">
                <a:solidFill>
                  <a:srgbClr val="0070C0"/>
                </a:solidFill>
                <a:latin typeface="+mj-ea"/>
              </a:rPr>
              <a:t>SCoTLASS</a:t>
            </a:r>
            <a:r>
              <a:rPr lang="en-US" altLang="ja-JP" b="1" dirty="0">
                <a:solidFill>
                  <a:srgbClr val="0070C0"/>
                </a:solidFill>
                <a:latin typeface="+mj-ea"/>
              </a:rPr>
              <a:t> (Jolliffe et al., 2003)</a:t>
            </a:r>
            <a:endParaRPr lang="ja-JP" altLang="en-US" b="1">
              <a:solidFill>
                <a:srgbClr val="FFC000"/>
              </a:solidFill>
              <a:latin typeface="+mj-ea"/>
            </a:endParaRPr>
          </a:p>
        </p:txBody>
      </p:sp>
      <p:sp>
        <p:nvSpPr>
          <p:cNvPr id="4" name="テキスト ボックス 3">
            <a:extLst>
              <a:ext uri="{FF2B5EF4-FFF2-40B4-BE49-F238E27FC236}">
                <a16:creationId xmlns:a16="http://schemas.microsoft.com/office/drawing/2014/main" id="{017914C2-0A30-A792-2AAF-3DF8E2111698}"/>
              </a:ext>
            </a:extLst>
          </p:cNvPr>
          <p:cNvSpPr txBox="1"/>
          <p:nvPr/>
        </p:nvSpPr>
        <p:spPr>
          <a:xfrm>
            <a:off x="96458" y="4607703"/>
            <a:ext cx="12095542" cy="2015936"/>
          </a:xfrm>
          <a:prstGeom prst="rect">
            <a:avLst/>
          </a:prstGeom>
          <a:noFill/>
        </p:spPr>
        <p:txBody>
          <a:bodyPr wrap="square" rtlCol="0">
            <a:spAutoFit/>
          </a:bodyPr>
          <a:lstStyle/>
          <a:p>
            <a:pPr algn="ctr"/>
            <a:r>
              <a:rPr lang="ja-JP" altLang="en-US" sz="2800">
                <a:latin typeface="+mn-ea"/>
              </a:rPr>
              <a:t>調整パラメータの値によって非ゼロと推定される主成分負荷量の</a:t>
            </a:r>
            <a:endParaRPr lang="en-US" altLang="ja-JP" sz="2800" dirty="0">
              <a:latin typeface="+mn-ea"/>
            </a:endParaRPr>
          </a:p>
          <a:p>
            <a:r>
              <a:rPr lang="en-US" altLang="ja-JP" sz="100" dirty="0">
                <a:latin typeface="+mn-ea"/>
              </a:rPr>
              <a:t>   </a:t>
            </a:r>
          </a:p>
          <a:p>
            <a:r>
              <a:rPr lang="en-US" altLang="ja-JP" sz="2800" dirty="0">
                <a:latin typeface="+mn-ea"/>
              </a:rPr>
              <a:t>        </a:t>
            </a:r>
            <a:r>
              <a:rPr lang="ja-JP" altLang="en-US" sz="2800">
                <a:latin typeface="+mn-ea"/>
              </a:rPr>
              <a:t>個数が異なる</a:t>
            </a:r>
            <a:endParaRPr lang="en-US" altLang="ja-JP" sz="2800" dirty="0">
              <a:latin typeface="+mn-ea"/>
            </a:endParaRPr>
          </a:p>
          <a:p>
            <a:endParaRPr kumimoji="1" lang="en-US" altLang="ja-JP" sz="1100" b="0" dirty="0">
              <a:latin typeface="+mn-ea"/>
            </a:endParaRPr>
          </a:p>
          <a:p>
            <a:endParaRPr kumimoji="1" lang="en-US" altLang="ja-JP" sz="2800" b="0" dirty="0">
              <a:latin typeface="+mn-ea"/>
            </a:endParaRPr>
          </a:p>
          <a:p>
            <a:pPr marL="0" indent="0" algn="ctr">
              <a:buNone/>
            </a:pPr>
            <a:r>
              <a:rPr kumimoji="1" lang="ja-JP" altLang="en-US" sz="2800">
                <a:latin typeface="+mn-ea"/>
              </a:rPr>
              <a:t>調整</a:t>
            </a:r>
            <a:r>
              <a:rPr kumimoji="1" lang="ja-JP" altLang="en-US" sz="2800" b="0">
                <a:latin typeface="+mn-ea"/>
              </a:rPr>
              <a:t>パラメータと主成分負荷量の関係を測る</a:t>
            </a:r>
            <a:r>
              <a:rPr kumimoji="1" lang="ja-JP" altLang="en-US" sz="2800" b="0" u="sng">
                <a:latin typeface="+mn-ea"/>
              </a:rPr>
              <a:t>評価指標</a:t>
            </a:r>
            <a:r>
              <a:rPr kumimoji="1" lang="ja-JP" altLang="en-US" sz="2800" b="0">
                <a:latin typeface="+mn-ea"/>
              </a:rPr>
              <a:t>が必要</a:t>
            </a:r>
            <a:endParaRPr kumimoji="1" lang="en-US" altLang="ja-JP" sz="2800" b="0" dirty="0">
              <a:latin typeface="+mn-ea"/>
            </a:endParaRPr>
          </a:p>
        </p:txBody>
      </p:sp>
      <p:sp>
        <p:nvSpPr>
          <p:cNvPr id="5" name="角丸四角形 4">
            <a:extLst>
              <a:ext uri="{FF2B5EF4-FFF2-40B4-BE49-F238E27FC236}">
                <a16:creationId xmlns:a16="http://schemas.microsoft.com/office/drawing/2014/main" id="{0C0BFD72-6F3D-FD95-ED0C-FD7B00D71C03}"/>
              </a:ext>
            </a:extLst>
          </p:cNvPr>
          <p:cNvSpPr/>
          <p:nvPr/>
        </p:nvSpPr>
        <p:spPr>
          <a:xfrm>
            <a:off x="96458" y="794323"/>
            <a:ext cx="11999086" cy="3703536"/>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右矢印 6">
            <a:extLst>
              <a:ext uri="{FF2B5EF4-FFF2-40B4-BE49-F238E27FC236}">
                <a16:creationId xmlns:a16="http://schemas.microsoft.com/office/drawing/2014/main" id="{A429150F-7E5A-D91B-BF8D-CBF8EBA47CD7}"/>
              </a:ext>
            </a:extLst>
          </p:cNvPr>
          <p:cNvSpPr/>
          <p:nvPr/>
        </p:nvSpPr>
        <p:spPr>
          <a:xfrm rot="5400000">
            <a:off x="5954610" y="5327757"/>
            <a:ext cx="422277" cy="715836"/>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6" name="正方形/長方形 5">
            <a:extLst>
              <a:ext uri="{FF2B5EF4-FFF2-40B4-BE49-F238E27FC236}">
                <a16:creationId xmlns:a16="http://schemas.microsoft.com/office/drawing/2014/main" id="{F5A8E1CF-E22A-8CBD-8373-62218E2C6002}"/>
              </a:ext>
            </a:extLst>
          </p:cNvPr>
          <p:cNvSpPr/>
          <p:nvPr/>
        </p:nvSpPr>
        <p:spPr>
          <a:xfrm>
            <a:off x="11113746" y="1463265"/>
            <a:ext cx="411798" cy="4017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962CAB8-6C6E-79F2-53E0-4DD6672A559E}"/>
              </a:ext>
            </a:extLst>
          </p:cNvPr>
          <p:cNvSpPr txBox="1"/>
          <p:nvPr/>
        </p:nvSpPr>
        <p:spPr>
          <a:xfrm>
            <a:off x="9445597" y="938004"/>
            <a:ext cx="2698175" cy="523220"/>
          </a:xfrm>
          <a:prstGeom prst="rect">
            <a:avLst/>
          </a:prstGeom>
          <a:noFill/>
        </p:spPr>
        <p:txBody>
          <a:bodyPr wrap="none" rtlCol="0">
            <a:spAutoFit/>
          </a:bodyPr>
          <a:lstStyle/>
          <a:p>
            <a:r>
              <a:rPr lang="ja-JP" altLang="en-US" sz="2800">
                <a:solidFill>
                  <a:srgbClr val="FF0000"/>
                </a:solidFill>
                <a:latin typeface="+mn-ea"/>
              </a:rPr>
              <a:t>調整パラメータ</a:t>
            </a:r>
            <a:endParaRPr kumimoji="1" lang="ja-JP" altLang="en-US" sz="2800">
              <a:solidFill>
                <a:srgbClr val="FF0000"/>
              </a:solidFill>
              <a:latin typeface="+mn-ea"/>
            </a:endParaRPr>
          </a:p>
        </p:txBody>
      </p:sp>
      <p:sp>
        <p:nvSpPr>
          <p:cNvPr id="2" name="テキスト ボックス 1">
            <a:extLst>
              <a:ext uri="{FF2B5EF4-FFF2-40B4-BE49-F238E27FC236}">
                <a16:creationId xmlns:a16="http://schemas.microsoft.com/office/drawing/2014/main" id="{C92D8CCC-05EF-930B-416F-533FC31ED7FA}"/>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5/28</a:t>
            </a:r>
            <a:endParaRPr kumimoji="1" lang="ja-JP" altLang="en-US" sz="2800">
              <a:latin typeface="+mj-ea"/>
              <a:ea typeface="+mj-ea"/>
            </a:endParaRPr>
          </a:p>
        </p:txBody>
      </p:sp>
    </p:spTree>
    <p:extLst>
      <p:ext uri="{BB962C8B-B14F-4D97-AF65-F5344CB8AC3E}">
        <p14:creationId xmlns:p14="http://schemas.microsoft.com/office/powerpoint/2010/main" val="4067538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
            <a:extLst>
              <a:ext uri="{FF2B5EF4-FFF2-40B4-BE49-F238E27FC236}">
                <a16:creationId xmlns:a16="http://schemas.microsoft.com/office/drawing/2014/main" id="{B7DC2F06-B39A-864F-90F5-2ABE5AA0CA48}"/>
              </a:ext>
            </a:extLst>
          </p:cNvPr>
          <p:cNvSpPr txBox="1">
            <a:spLocks/>
          </p:cNvSpPr>
          <p:nvPr/>
        </p:nvSpPr>
        <p:spPr>
          <a:xfrm>
            <a:off x="-1" y="1334"/>
            <a:ext cx="12191999" cy="14811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偽発見率</a:t>
            </a:r>
            <a:r>
              <a:rPr lang="en-US" altLang="ja-JP" b="1" dirty="0">
                <a:solidFill>
                  <a:srgbClr val="0070C0"/>
                </a:solidFill>
                <a:latin typeface="+mj-ea"/>
              </a:rPr>
              <a:t> (False Discovery Rate: FDR) </a:t>
            </a:r>
            <a:r>
              <a:rPr lang="ja-JP" altLang="en-US" b="1">
                <a:solidFill>
                  <a:srgbClr val="0070C0"/>
                </a:solidFill>
                <a:latin typeface="+mj-ea"/>
              </a:rPr>
              <a:t>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a:t>
            </a:r>
            <a:r>
              <a:rPr lang="en-US" altLang="ja-JP" b="1" dirty="0" err="1">
                <a:solidFill>
                  <a:srgbClr val="0070C0"/>
                </a:solidFill>
                <a:latin typeface="+mj-ea"/>
              </a:rPr>
              <a:t>Benjamini</a:t>
            </a:r>
            <a:r>
              <a:rPr lang="en-US" altLang="ja-JP" b="1" dirty="0">
                <a:solidFill>
                  <a:srgbClr val="0070C0"/>
                </a:solidFill>
                <a:latin typeface="+mj-ea"/>
              </a:rPr>
              <a:t> and Hochberg, 1995)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AFB2463-4286-C348-52B7-EEFE293DD437}"/>
                  </a:ext>
                </a:extLst>
              </p:cNvPr>
              <p:cNvSpPr txBox="1"/>
              <p:nvPr/>
            </p:nvSpPr>
            <p:spPr>
              <a:xfrm>
                <a:off x="403652" y="1617991"/>
                <a:ext cx="11788346" cy="1811009"/>
              </a:xfrm>
              <a:prstGeom prst="rect">
                <a:avLst/>
              </a:prstGeom>
              <a:noFill/>
            </p:spPr>
            <p:txBody>
              <a:bodyPr wrap="square" rtlCol="0">
                <a:spAutoFit/>
              </a:bodyPr>
              <a:lstStyle/>
              <a:p>
                <a:r>
                  <a:rPr kumimoji="1" lang="ja-JP" altLang="en-US" sz="3200"/>
                  <a:t>帰無仮説</a:t>
                </a:r>
                <a:r>
                  <a:rPr kumimoji="1" lang="en-US" altLang="ja-JP" sz="3200" dirty="0"/>
                  <a:t> </a:t>
                </a:r>
                <a14:m>
                  <m:oMath xmlns:m="http://schemas.openxmlformats.org/officeDocument/2006/math">
                    <m:sSub>
                      <m:sSubPr>
                        <m:ctrlPr>
                          <a:rPr kumimoji="1" lang="en-US" altLang="ja-JP" sz="3200" i="1" smtClean="0">
                            <a:latin typeface="Cambria Math" panose="02040503050406030204" pitchFamily="18" charset="0"/>
                          </a:rPr>
                        </m:ctrlPr>
                      </m:sSubPr>
                      <m:e>
                        <m:r>
                          <m:rPr>
                            <m:sty m:val="p"/>
                          </m:rPr>
                          <a:rPr kumimoji="1" lang="en-US" altLang="ja-JP" sz="3200" b="0" i="0" smtClean="0">
                            <a:latin typeface="Cambria Math" panose="02040503050406030204" pitchFamily="18" charset="0"/>
                          </a:rPr>
                          <m:t>H</m:t>
                        </m:r>
                      </m:e>
                      <m:sub>
                        <m:r>
                          <a:rPr kumimoji="1" lang="en-US" altLang="ja-JP" sz="3200" b="0" i="1" smtClean="0">
                            <a:latin typeface="Cambria Math" panose="02040503050406030204" pitchFamily="18" charset="0"/>
                          </a:rPr>
                          <m:t>0,</m:t>
                        </m:r>
                        <m:r>
                          <a:rPr kumimoji="1" lang="en-US" altLang="ja-JP" sz="3200" b="0" i="1" smtClean="0">
                            <a:latin typeface="Cambria Math" panose="02040503050406030204" pitchFamily="18" charset="0"/>
                          </a:rPr>
                          <m:t>𝑗</m:t>
                        </m:r>
                      </m:sub>
                    </m:sSub>
                    <m:r>
                      <a:rPr kumimoji="1" lang="en-US" altLang="ja-JP" sz="3200" b="0" i="1" smtClean="0">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b="0" i="1">
                            <a:latin typeface="Cambria Math" panose="02040503050406030204" pitchFamily="18" charset="0"/>
                          </a:rPr>
                          <m:t>𝑣</m:t>
                        </m:r>
                      </m:e>
                      <m:sub>
                        <m:r>
                          <a:rPr lang="en-US" altLang="ja-JP" sz="3200" b="0" i="1">
                            <a:latin typeface="Cambria Math" panose="02040503050406030204" pitchFamily="18" charset="0"/>
                          </a:rPr>
                          <m:t>𝑘</m:t>
                        </m:r>
                        <m:r>
                          <a:rPr lang="en-US" altLang="ja-JP" sz="3200" b="0" i="1" smtClean="0">
                            <a:latin typeface="Cambria Math" panose="02040503050406030204" pitchFamily="18" charset="0"/>
                          </a:rPr>
                          <m:t>𝑗</m:t>
                        </m:r>
                      </m:sub>
                    </m:sSub>
                    <m:r>
                      <a:rPr lang="en-US" altLang="ja-JP" sz="3200" b="0" i="1">
                        <a:latin typeface="Cambria Math" panose="02040503050406030204" pitchFamily="18" charset="0"/>
                      </a:rPr>
                      <m:t>=0</m:t>
                    </m:r>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vs</m:t>
                    </m:r>
                    <m:r>
                      <a:rPr lang="en-US" altLang="ja-JP" sz="3200" b="0" i="1" smtClean="0">
                        <a:latin typeface="Cambria Math" panose="02040503050406030204" pitchFamily="18" charset="0"/>
                      </a:rPr>
                      <m:t>.   </m:t>
                    </m:r>
                    <m:r>
                      <a:rPr lang="ja-JP" altLang="en-US" sz="3200" i="1">
                        <a:latin typeface="Cambria Math" panose="02040503050406030204" pitchFamily="18" charset="0"/>
                      </a:rPr>
                      <m:t>対立</m:t>
                    </m:r>
                    <m:r>
                      <a:rPr lang="ja-JP" altLang="en-US" sz="3200" i="1" smtClean="0">
                        <a:latin typeface="Cambria Math" panose="02040503050406030204" pitchFamily="18" charset="0"/>
                      </a:rPr>
                      <m:t>仮説</m:t>
                    </m:r>
                    <m:r>
                      <a:rPr lang="en-US" altLang="ja-JP" sz="3200" b="0" i="1" smtClean="0">
                        <a:latin typeface="Cambria Math" panose="02040503050406030204" pitchFamily="18" charset="0"/>
                      </a:rPr>
                      <m:t> </m:t>
                    </m:r>
                    <m:sSub>
                      <m:sSubPr>
                        <m:ctrlPr>
                          <a:rPr lang="en-US" altLang="ja-JP" sz="3200" i="1" smtClean="0">
                            <a:latin typeface="Cambria Math" panose="02040503050406030204" pitchFamily="18" charset="0"/>
                          </a:rPr>
                        </m:ctrlPr>
                      </m:sSubPr>
                      <m:e>
                        <m:r>
                          <m:rPr>
                            <m:sty m:val="p"/>
                          </m:rPr>
                          <a:rPr lang="en-US" altLang="ja-JP" sz="3200" b="0" i="0" smtClean="0">
                            <a:latin typeface="Cambria Math" panose="02040503050406030204" pitchFamily="18" charset="0"/>
                          </a:rPr>
                          <m:t>H</m:t>
                        </m:r>
                      </m:e>
                      <m:sub>
                        <m:r>
                          <a:rPr lang="en-US" altLang="ja-JP" sz="3200" b="0" i="1" smtClean="0">
                            <a:latin typeface="Cambria Math" panose="02040503050406030204" pitchFamily="18" charset="0"/>
                          </a:rPr>
                          <m:t>1,</m:t>
                        </m:r>
                        <m:r>
                          <a:rPr lang="en-US" altLang="ja-JP" sz="3200" b="0" i="1" smtClean="0">
                            <a:latin typeface="Cambria Math" panose="02040503050406030204" pitchFamily="18" charset="0"/>
                          </a:rPr>
                          <m:t>𝑗</m:t>
                        </m:r>
                      </m:sub>
                    </m:sSub>
                    <m:r>
                      <a:rPr lang="en-US" altLang="ja-JP" sz="3200" b="0" i="1" smtClean="0">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b="0" i="1">
                            <a:latin typeface="Cambria Math" panose="02040503050406030204" pitchFamily="18" charset="0"/>
                          </a:rPr>
                          <m:t>𝑣</m:t>
                        </m:r>
                      </m:e>
                      <m:sub>
                        <m:r>
                          <a:rPr lang="en-US" altLang="ja-JP" sz="3200" b="0" i="1">
                            <a:latin typeface="Cambria Math" panose="02040503050406030204" pitchFamily="18" charset="0"/>
                          </a:rPr>
                          <m:t>𝑘𝑗</m:t>
                        </m:r>
                      </m:sub>
                    </m:sSub>
                    <m:r>
                      <a:rPr lang="en-US" altLang="ja-JP" sz="3200" b="0" i="1">
                        <a:latin typeface="Cambria Math" panose="02040503050406030204" pitchFamily="18" charset="0"/>
                        <a:ea typeface="Cambria Math" panose="02040503050406030204" pitchFamily="18" charset="0"/>
                      </a:rPr>
                      <m:t>≠</m:t>
                    </m:r>
                    <m:r>
                      <a:rPr lang="en-US" altLang="ja-JP" sz="3200" b="0" i="1">
                        <a:latin typeface="Cambria Math" panose="02040503050406030204" pitchFamily="18" charset="0"/>
                      </a:rPr>
                      <m:t>0</m:t>
                    </m:r>
                    <m:r>
                      <a:rPr lang="en-US" altLang="ja-JP" sz="3200" b="0" i="1" smtClean="0">
                        <a:latin typeface="Cambria Math" panose="02040503050406030204" pitchFamily="18" charset="0"/>
                      </a:rPr>
                      <m:t>      (</m:t>
                    </m:r>
                    <m:r>
                      <a:rPr lang="en-US" altLang="ja-JP" sz="3200" b="0" i="1" smtClean="0">
                        <a:latin typeface="Cambria Math" panose="02040503050406030204" pitchFamily="18" charset="0"/>
                      </a:rPr>
                      <m:t>𝑗</m:t>
                    </m:r>
                    <m:r>
                      <a:rPr lang="en-US" altLang="ja-JP" sz="3200" b="0" i="1" smtClean="0">
                        <a:latin typeface="Cambria Math" panose="02040503050406030204" pitchFamily="18" charset="0"/>
                      </a:rPr>
                      <m:t>=1,…,</m:t>
                    </m:r>
                    <m:r>
                      <a:rPr lang="en-US" altLang="ja-JP" sz="3200" b="0" i="1" smtClean="0">
                        <a:latin typeface="Cambria Math" panose="02040503050406030204" pitchFamily="18" charset="0"/>
                      </a:rPr>
                      <m:t>𝑝</m:t>
                    </m:r>
                    <m:r>
                      <a:rPr lang="en-US" altLang="ja-JP" sz="3200" b="0" i="1" smtClean="0">
                        <a:latin typeface="Cambria Math" panose="02040503050406030204" pitchFamily="18" charset="0"/>
                      </a:rPr>
                      <m:t>)</m:t>
                    </m:r>
                  </m:oMath>
                </a14:m>
                <a:endParaRPr kumimoji="1" lang="en-US" altLang="ja-JP" sz="3200" dirty="0"/>
              </a:p>
              <a:p>
                <a:endParaRPr kumimoji="1" lang="en-US" altLang="ja-JP" sz="800" dirty="0"/>
              </a:p>
              <a:p>
                <a:endParaRPr kumimoji="1" lang="en-US" altLang="ja-JP" sz="800" dirty="0"/>
              </a:p>
              <a:p>
                <a14:m>
                  <m:oMath xmlns:m="http://schemas.openxmlformats.org/officeDocument/2006/math">
                    <m:sSub>
                      <m:sSubPr>
                        <m:ctrlPr>
                          <a:rPr lang="en-US" altLang="ja-JP" sz="2800" i="1">
                            <a:latin typeface="Cambria Math" panose="02040503050406030204" pitchFamily="18" charset="0"/>
                          </a:rPr>
                        </m:ctrlPr>
                      </m:sSubPr>
                      <m:e>
                        <m:r>
                          <a:rPr lang="en-US" altLang="ja-JP" sz="2800" b="0" i="1">
                            <a:latin typeface="Cambria Math" panose="02040503050406030204" pitchFamily="18" charset="0"/>
                          </a:rPr>
                          <m:t>𝑣</m:t>
                        </m:r>
                      </m:e>
                      <m:sub>
                        <m:r>
                          <a:rPr lang="en-US" altLang="ja-JP" sz="2800" b="0" i="1">
                            <a:latin typeface="Cambria Math" panose="02040503050406030204" pitchFamily="18" charset="0"/>
                          </a:rPr>
                          <m:t>𝑘</m:t>
                        </m:r>
                        <m:r>
                          <a:rPr lang="en-US" altLang="ja-JP" sz="2800" b="0" i="1" smtClean="0">
                            <a:latin typeface="Cambria Math" panose="02040503050406030204" pitchFamily="18" charset="0"/>
                          </a:rPr>
                          <m:t>𝑗</m:t>
                        </m:r>
                      </m:sub>
                    </m:sSub>
                  </m:oMath>
                </a14:m>
                <a:r>
                  <a:rPr lang="en-US" altLang="ja-JP" sz="2800" dirty="0">
                    <a:latin typeface="+mn-ea"/>
                  </a:rPr>
                  <a:t>: </a:t>
                </a:r>
                <a:r>
                  <a:rPr lang="ja-JP" altLang="en-US" sz="2800">
                    <a:latin typeface="+mn-ea"/>
                  </a:rPr>
                  <a:t>真の主成分負荷量</a:t>
                </a:r>
                <a:endParaRPr lang="en-US" altLang="ja-JP" sz="2800" dirty="0">
                  <a:latin typeface="+mn-ea"/>
                </a:endParaRPr>
              </a:p>
              <a:p>
                <a:pPr marL="0" indent="0">
                  <a:buNone/>
                </a:pPr>
                <a14:m>
                  <m:oMath xmlns:m="http://schemas.openxmlformats.org/officeDocument/2006/math">
                    <m:sSub>
                      <m:sSubPr>
                        <m:ctrlPr>
                          <a:rPr lang="en-US" altLang="ja-JP" sz="2800" i="1" smtClean="0">
                            <a:latin typeface="Cambria Math" panose="02040503050406030204" pitchFamily="18" charset="0"/>
                            <a:ea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a:latin typeface="Cambria Math" panose="02040503050406030204" pitchFamily="18" charset="0"/>
                                <a:ea typeface="Cambria Math" panose="02040503050406030204" pitchFamily="18" charset="0"/>
                              </a:rPr>
                              <m:t>𝑣</m:t>
                            </m:r>
                          </m:e>
                        </m:acc>
                      </m:e>
                      <m:sub>
                        <m:r>
                          <a:rPr lang="en-US" altLang="ja-JP" sz="2800" b="0" i="1" smtClean="0">
                            <a:latin typeface="Cambria Math" panose="02040503050406030204" pitchFamily="18" charset="0"/>
                            <a:ea typeface="Cambria Math" panose="02040503050406030204" pitchFamily="18" charset="0"/>
                          </a:rPr>
                          <m:t>𝑘𝑗</m:t>
                        </m:r>
                      </m:sub>
                    </m:sSub>
                  </m:oMath>
                </a14:m>
                <a:r>
                  <a:rPr lang="en-US" altLang="ja-JP" sz="2800" dirty="0">
                    <a:latin typeface="+mn-ea"/>
                  </a:rPr>
                  <a:t>  : </a:t>
                </a:r>
                <a:r>
                  <a:rPr lang="ja-JP" altLang="en-US" sz="2800">
                    <a:latin typeface="+mn-ea"/>
                  </a:rPr>
                  <a:t>推定した主成分負荷量</a:t>
                </a:r>
                <a:endParaRPr lang="en-US" altLang="ja-JP" sz="100" dirty="0">
                  <a:latin typeface="+mn-ea"/>
                </a:endParaRPr>
              </a:p>
            </p:txBody>
          </p:sp>
        </mc:Choice>
        <mc:Fallback xmlns="">
          <p:sp>
            <p:nvSpPr>
              <p:cNvPr id="2" name="テキスト ボックス 1">
                <a:extLst>
                  <a:ext uri="{FF2B5EF4-FFF2-40B4-BE49-F238E27FC236}">
                    <a16:creationId xmlns:a16="http://schemas.microsoft.com/office/drawing/2014/main" id="{7AFB2463-4286-C348-52B7-EEFE293DD437}"/>
                  </a:ext>
                </a:extLst>
              </p:cNvPr>
              <p:cNvSpPr txBox="1">
                <a:spLocks noRot="1" noChangeAspect="1" noMove="1" noResize="1" noEditPoints="1" noAdjustHandles="1" noChangeArrowheads="1" noChangeShapeType="1" noTextEdit="1"/>
              </p:cNvSpPr>
              <p:nvPr/>
            </p:nvSpPr>
            <p:spPr>
              <a:xfrm>
                <a:off x="403652" y="1617991"/>
                <a:ext cx="11788346" cy="1811009"/>
              </a:xfrm>
              <a:prstGeom prst="rect">
                <a:avLst/>
              </a:prstGeom>
              <a:blipFill>
                <a:blip r:embed="rId3"/>
                <a:stretch>
                  <a:fillRect l="-1290" t="-2778" b="-694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1D8DD3E5-FD43-BDB1-7A08-F8271EEAF1DE}"/>
                  </a:ext>
                </a:extLst>
              </p:cNvPr>
              <p:cNvGraphicFramePr>
                <a:graphicFrameLocks noGrp="1"/>
              </p:cNvGraphicFramePr>
              <p:nvPr>
                <p:extLst>
                  <p:ext uri="{D42A27DB-BD31-4B8C-83A1-F6EECF244321}">
                    <p14:modId xmlns:p14="http://schemas.microsoft.com/office/powerpoint/2010/main" val="935925698"/>
                  </p:ext>
                </p:extLst>
              </p:nvPr>
            </p:nvGraphicFramePr>
            <p:xfrm>
              <a:off x="1919255" y="3756767"/>
              <a:ext cx="8106350" cy="3043985"/>
            </p:xfrm>
            <a:graphic>
              <a:graphicData uri="http://schemas.openxmlformats.org/drawingml/2006/table">
                <a:tbl>
                  <a:tblPr firstRow="1" bandRow="1">
                    <a:tableStyleId>{5940675A-B579-460E-94D1-54222C63F5DA}</a:tableStyleId>
                  </a:tblPr>
                  <a:tblGrid>
                    <a:gridCol w="813650">
                      <a:extLst>
                        <a:ext uri="{9D8B030D-6E8A-4147-A177-3AD203B41FA5}">
                          <a16:colId xmlns:a16="http://schemas.microsoft.com/office/drawing/2014/main" val="2166501344"/>
                        </a:ext>
                      </a:extLst>
                    </a:gridCol>
                    <a:gridCol w="1761893">
                      <a:extLst>
                        <a:ext uri="{9D8B030D-6E8A-4147-A177-3AD203B41FA5}">
                          <a16:colId xmlns:a16="http://schemas.microsoft.com/office/drawing/2014/main" val="3366183821"/>
                        </a:ext>
                      </a:extLst>
                    </a:gridCol>
                    <a:gridCol w="1751652">
                      <a:extLst>
                        <a:ext uri="{9D8B030D-6E8A-4147-A177-3AD203B41FA5}">
                          <a16:colId xmlns:a16="http://schemas.microsoft.com/office/drawing/2014/main" val="122348770"/>
                        </a:ext>
                      </a:extLst>
                    </a:gridCol>
                    <a:gridCol w="1830991">
                      <a:extLst>
                        <a:ext uri="{9D8B030D-6E8A-4147-A177-3AD203B41FA5}">
                          <a16:colId xmlns:a16="http://schemas.microsoft.com/office/drawing/2014/main" val="1265163690"/>
                        </a:ext>
                      </a:extLst>
                    </a:gridCol>
                    <a:gridCol w="1948164">
                      <a:extLst>
                        <a:ext uri="{9D8B030D-6E8A-4147-A177-3AD203B41FA5}">
                          <a16:colId xmlns:a16="http://schemas.microsoft.com/office/drawing/2014/main" val="1115285989"/>
                        </a:ext>
                      </a:extLst>
                    </a:gridCol>
                  </a:tblGrid>
                  <a:tr h="493085">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真の状態</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575105">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b="0" i="1">
                                        <a:latin typeface="Cambria Math" panose="02040503050406030204" pitchFamily="18" charset="0"/>
                                      </a:rPr>
                                      <m:t>𝑣</m:t>
                                    </m:r>
                                  </m:e>
                                  <m:sub>
                                    <m:r>
                                      <a:rPr lang="en-US" altLang="ja-JP" sz="2800" b="0" i="1">
                                        <a:latin typeface="Cambria Math" panose="02040503050406030204" pitchFamily="18" charset="0"/>
                                      </a:rPr>
                                      <m:t>𝑘</m:t>
                                    </m:r>
                                    <m:r>
                                      <a:rPr lang="en-US" altLang="ja-JP" sz="2800" b="0" i="1" smtClean="0">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b="0" i="1">
                                        <a:latin typeface="Cambria Math" panose="02040503050406030204" pitchFamily="18" charset="0"/>
                                      </a:rPr>
                                      <m:t>𝑣</m:t>
                                    </m:r>
                                  </m:e>
                                  <m:sub>
                                    <m:r>
                                      <a:rPr lang="en-US" altLang="ja-JP" sz="2800" b="0" i="1">
                                        <a:latin typeface="Cambria Math" panose="02040503050406030204" pitchFamily="18" charset="0"/>
                                      </a:rPr>
                                      <m:t>𝑘</m:t>
                                    </m:r>
                                    <m:r>
                                      <a:rPr lang="en-US" altLang="ja-JP" sz="2800" b="0" i="1" smtClean="0">
                                        <a:latin typeface="Cambria Math" panose="02040503050406030204" pitchFamily="18" charset="0"/>
                                      </a:rPr>
                                      <m:t>𝑗</m:t>
                                    </m:r>
                                  </m:sub>
                                </m:sSub>
                                <m:r>
                                  <a:rPr lang="en-US" altLang="ja-JP" sz="2800" b="0" i="1" smtClean="0">
                                    <a:latin typeface="Cambria Math" panose="02040503050406030204" pitchFamily="18" charset="0"/>
                                  </a:rPr>
                                  <m:t>=0</m:t>
                                </m:r>
                              </m:oMath>
                            </m:oMathPara>
                          </a14:m>
                          <a:endParaRPr kumimoji="1" lang="ja-JP" altLang="en-US" sz="2800"/>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589464">
                    <a:tc rowSpan="3">
                      <a:txBody>
                        <a:bodyPr/>
                        <a:lstStyle/>
                        <a:p>
                          <a:pPr algn="ctr"/>
                          <a:endParaRPr kumimoji="1" lang="en-US" altLang="ja-JP" sz="1000" dirty="0"/>
                        </a:p>
                        <a:p>
                          <a:pPr algn="ctr"/>
                          <a:r>
                            <a:rPr kumimoji="1" lang="ja-JP" altLang="en-US" sz="2800"/>
                            <a:t>推</a:t>
                          </a:r>
                          <a:endParaRPr kumimoji="1" lang="en-US" altLang="ja-JP" sz="2800" dirty="0"/>
                        </a:p>
                        <a:p>
                          <a:pPr algn="ctr"/>
                          <a:r>
                            <a:rPr kumimoji="1" lang="ja-JP" altLang="en-US" sz="2800"/>
                            <a:t>定</a:t>
                          </a:r>
                          <a:endParaRPr kumimoji="1" lang="en-US" altLang="ja-JP" sz="2800" dirty="0"/>
                        </a:p>
                        <a:p>
                          <a:pPr algn="ctr"/>
                          <a:r>
                            <a:rPr kumimoji="1" lang="ja-JP" altLang="en-US" sz="2800"/>
                            <a:t>結果</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ea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a:latin typeface="Cambria Math" panose="02040503050406030204" pitchFamily="18" charset="0"/>
                                            <a:ea typeface="Cambria Math" panose="02040503050406030204" pitchFamily="18" charset="0"/>
                                          </a:rPr>
                                          <m:t>𝑣</m:t>
                                        </m:r>
                                      </m:e>
                                    </m:acc>
                                  </m:e>
                                  <m:sub>
                                    <m:r>
                                      <a:rPr lang="en-US" altLang="ja-JP" sz="2800" b="0" i="1" smtClean="0">
                                        <a:latin typeface="Cambria Math" panose="02040503050406030204" pitchFamily="18" charset="0"/>
                                        <a:ea typeface="Cambria Math" panose="02040503050406030204" pitchFamily="18" charset="0"/>
                                      </a:rPr>
                                      <m:t>𝑘𝑗</m:t>
                                    </m:r>
                                  </m:sub>
                                </m:sSub>
                                <m:r>
                                  <a:rPr lang="en-US" altLang="ja-JP" sz="280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𝑆</m:t>
                                    </m:r>
                                  </m:e>
                                  <m:sub>
                                    <m:r>
                                      <a:rPr lang="en-US" altLang="ja-JP" sz="2800" b="0" i="1" smtClean="0">
                                        <a:latin typeface="Cambria Math" panose="02040503050406030204" pitchFamily="18" charset="0"/>
                                      </a:rPr>
                                      <m:t>𝑘</m:t>
                                    </m:r>
                                  </m:sub>
                                </m:sSub>
                                <m:d>
                                  <m:dPr>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𝑐</m:t>
                                    </m:r>
                                  </m:e>
                                </m:d>
                              </m:oMath>
                            </m:oMathPara>
                          </a14:m>
                          <a:endParaRPr kumimoji="1" lang="ja-JP" altLang="en-US" sz="2800">
                            <a:latin typeface="+mn-ea"/>
                            <a:ea typeface="+mn-ea"/>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ea typeface="+mn-ea"/>
                                      </a:rPr>
                                    </m:ctrlPr>
                                  </m:sSubPr>
                                  <m:e>
                                    <m:r>
                                      <a:rPr lang="en-US" altLang="ja-JP" sz="2800" b="0" i="1" smtClean="0">
                                        <a:latin typeface="Cambria Math" panose="02040503050406030204" pitchFamily="18" charset="0"/>
                                        <a:ea typeface="+mn-ea"/>
                                      </a:rPr>
                                      <m:t>𝑉</m:t>
                                    </m:r>
                                  </m:e>
                                  <m:sub>
                                    <m:r>
                                      <a:rPr lang="en-US" altLang="ja-JP" sz="2800" b="0" i="1" smtClean="0">
                                        <a:latin typeface="Cambria Math" panose="02040503050406030204" pitchFamily="18" charset="0"/>
                                        <a:ea typeface="+mn-ea"/>
                                      </a:rPr>
                                      <m:t>𝑘</m:t>
                                    </m:r>
                                  </m:sub>
                                </m:sSub>
                                <m:d>
                                  <m:dPr>
                                    <m:ctrlPr>
                                      <a:rPr lang="en-US" altLang="ja-JP" sz="2800" i="1">
                                        <a:latin typeface="Cambria Math" panose="02040503050406030204" pitchFamily="18" charset="0"/>
                                        <a:ea typeface="+mn-ea"/>
                                      </a:rPr>
                                    </m:ctrlPr>
                                  </m:dPr>
                                  <m:e>
                                    <m:r>
                                      <a:rPr lang="en-US" altLang="ja-JP" sz="2800" b="0" i="1" smtClean="0">
                                        <a:latin typeface="Cambria Math" panose="02040503050406030204" pitchFamily="18" charset="0"/>
                                        <a:ea typeface="+mn-ea"/>
                                      </a:rPr>
                                      <m:t>𝑐</m:t>
                                    </m:r>
                                  </m:e>
                                </m:d>
                              </m:oMath>
                            </m:oMathPara>
                          </a14:m>
                          <a:endParaRPr kumimoji="1" lang="ja-JP" altLang="en-US" sz="2800">
                            <a:latin typeface="+mn-ea"/>
                            <a:ea typeface="+mn-ea"/>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ea typeface="+mn-ea"/>
                                      </a:rPr>
                                    </m:ctrlPr>
                                  </m:sSubPr>
                                  <m:e>
                                    <m:r>
                                      <a:rPr lang="en-US" altLang="ja-JP" sz="2800" b="0" i="1" smtClean="0">
                                        <a:latin typeface="Cambria Math" panose="02040503050406030204" pitchFamily="18" charset="0"/>
                                        <a:ea typeface="+mn-ea"/>
                                      </a:rPr>
                                      <m:t>𝑅</m:t>
                                    </m:r>
                                  </m:e>
                                  <m:sub>
                                    <m:r>
                                      <a:rPr lang="en-US" altLang="ja-JP" sz="2800" b="0" i="1" smtClean="0">
                                        <a:latin typeface="Cambria Math" panose="02040503050406030204" pitchFamily="18" charset="0"/>
                                        <a:ea typeface="+mn-ea"/>
                                      </a:rPr>
                                      <m:t>𝑘</m:t>
                                    </m:r>
                                  </m:sub>
                                </m:sSub>
                                <m:d>
                                  <m:dPr>
                                    <m:ctrlPr>
                                      <a:rPr lang="en-US" altLang="ja-JP" sz="2800" i="1">
                                        <a:latin typeface="Cambria Math" panose="02040503050406030204" pitchFamily="18" charset="0"/>
                                        <a:ea typeface="+mn-ea"/>
                                      </a:rPr>
                                    </m:ctrlPr>
                                  </m:dPr>
                                  <m:e>
                                    <m:r>
                                      <a:rPr lang="en-US" altLang="ja-JP" sz="2800" b="0" i="1" smtClean="0">
                                        <a:latin typeface="Cambria Math" panose="02040503050406030204" pitchFamily="18" charset="0"/>
                                        <a:ea typeface="+mn-ea"/>
                                      </a:rPr>
                                      <m:t>𝑐</m:t>
                                    </m:r>
                                  </m:e>
                                </m:d>
                              </m:oMath>
                            </m:oMathPara>
                          </a14:m>
                          <a:endParaRPr kumimoji="1" lang="ja-JP" altLang="en-US" sz="2800" i="1">
                            <a:latin typeface="+mn-ea"/>
                            <a:ea typeface="+mn-ea"/>
                          </a:endParaRP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7163058"/>
                      </a:ext>
                    </a:extLst>
                  </a:tr>
                  <a:tr h="585536">
                    <a:tc vMerge="1">
                      <a:txBody>
                        <a:bodyPr/>
                        <a:lstStyle/>
                        <a:p>
                          <a:pPr algn="ctr"/>
                          <a:endParaRPr kumimoji="1" lang="ja-JP"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ea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a:latin typeface="Cambria Math" panose="02040503050406030204" pitchFamily="18" charset="0"/>
                                            <a:ea typeface="Cambria Math" panose="02040503050406030204" pitchFamily="18" charset="0"/>
                                          </a:rPr>
                                          <m:t>𝑣</m:t>
                                        </m:r>
                                      </m:e>
                                    </m:acc>
                                  </m:e>
                                  <m:sub>
                                    <m:r>
                                      <a:rPr lang="en-US" altLang="ja-JP" sz="2800" b="0" i="1" smtClean="0">
                                        <a:latin typeface="Cambria Math" panose="02040503050406030204" pitchFamily="18" charset="0"/>
                                        <a:ea typeface="Cambria Math" panose="02040503050406030204" pitchFamily="18" charset="0"/>
                                      </a:rPr>
                                      <m:t>𝑘𝑗</m:t>
                                    </m:r>
                                  </m:sub>
                                </m:sSub>
                                <m:r>
                                  <a:rPr lang="en-US" altLang="ja-JP" sz="2800" b="0" i="1" smtClean="0">
                                    <a:latin typeface="Cambria Math" panose="02040503050406030204" pitchFamily="18" charset="0"/>
                                  </a:rPr>
                                  <m:t>=0</m:t>
                                </m:r>
                              </m:oMath>
                            </m:oMathPara>
                          </a14:m>
                          <a:endParaRPr kumimoji="1" lang="ja-JP" altLang="en-US" sz="2800"/>
                        </a:p>
                      </a:txBody>
                      <a:tcPr>
                        <a:lnB w="2857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51695">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Choice>
        <mc:Fallback xmlns="">
          <p:graphicFrame>
            <p:nvGraphicFramePr>
              <p:cNvPr id="3" name="表 2">
                <a:extLst>
                  <a:ext uri="{FF2B5EF4-FFF2-40B4-BE49-F238E27FC236}">
                    <a16:creationId xmlns:a16="http://schemas.microsoft.com/office/drawing/2014/main" id="{1D8DD3E5-FD43-BDB1-7A08-F8271EEAF1DE}"/>
                  </a:ext>
                </a:extLst>
              </p:cNvPr>
              <p:cNvGraphicFramePr>
                <a:graphicFrameLocks noGrp="1"/>
              </p:cNvGraphicFramePr>
              <p:nvPr>
                <p:extLst>
                  <p:ext uri="{D42A27DB-BD31-4B8C-83A1-F6EECF244321}">
                    <p14:modId xmlns:p14="http://schemas.microsoft.com/office/powerpoint/2010/main" val="935925698"/>
                  </p:ext>
                </p:extLst>
              </p:nvPr>
            </p:nvGraphicFramePr>
            <p:xfrm>
              <a:off x="1919255" y="3756767"/>
              <a:ext cx="8106350" cy="3043985"/>
            </p:xfrm>
            <a:graphic>
              <a:graphicData uri="http://schemas.openxmlformats.org/drawingml/2006/table">
                <a:tbl>
                  <a:tblPr firstRow="1" bandRow="1">
                    <a:tableStyleId>{5940675A-B579-460E-94D1-54222C63F5DA}</a:tableStyleId>
                  </a:tblPr>
                  <a:tblGrid>
                    <a:gridCol w="813650">
                      <a:extLst>
                        <a:ext uri="{9D8B030D-6E8A-4147-A177-3AD203B41FA5}">
                          <a16:colId xmlns:a16="http://schemas.microsoft.com/office/drawing/2014/main" val="2166501344"/>
                        </a:ext>
                      </a:extLst>
                    </a:gridCol>
                    <a:gridCol w="1761893">
                      <a:extLst>
                        <a:ext uri="{9D8B030D-6E8A-4147-A177-3AD203B41FA5}">
                          <a16:colId xmlns:a16="http://schemas.microsoft.com/office/drawing/2014/main" val="3366183821"/>
                        </a:ext>
                      </a:extLst>
                    </a:gridCol>
                    <a:gridCol w="1751652">
                      <a:extLst>
                        <a:ext uri="{9D8B030D-6E8A-4147-A177-3AD203B41FA5}">
                          <a16:colId xmlns:a16="http://schemas.microsoft.com/office/drawing/2014/main" val="122348770"/>
                        </a:ext>
                      </a:extLst>
                    </a:gridCol>
                    <a:gridCol w="1830991">
                      <a:extLst>
                        <a:ext uri="{9D8B030D-6E8A-4147-A177-3AD203B41FA5}">
                          <a16:colId xmlns:a16="http://schemas.microsoft.com/office/drawing/2014/main" val="1265163690"/>
                        </a:ext>
                      </a:extLst>
                    </a:gridCol>
                    <a:gridCol w="1948164">
                      <a:extLst>
                        <a:ext uri="{9D8B030D-6E8A-4147-A177-3AD203B41FA5}">
                          <a16:colId xmlns:a16="http://schemas.microsoft.com/office/drawing/2014/main" val="1115285989"/>
                        </a:ext>
                      </a:extLst>
                    </a:gridCol>
                  </a:tblGrid>
                  <a:tr h="518160">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真の状態</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575105">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7826" t="-100000" r="-217391" b="-365217"/>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37500" t="-100000" r="-108333" b="-36521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589464">
                    <a:tc rowSpan="3">
                      <a:txBody>
                        <a:bodyPr/>
                        <a:lstStyle/>
                        <a:p>
                          <a:pPr algn="ctr"/>
                          <a:endParaRPr kumimoji="1" lang="en-US" altLang="ja-JP" sz="1000" dirty="0"/>
                        </a:p>
                        <a:p>
                          <a:pPr algn="ctr"/>
                          <a:r>
                            <a:rPr kumimoji="1" lang="ja-JP" altLang="en-US" sz="2800"/>
                            <a:t>推</a:t>
                          </a:r>
                          <a:endParaRPr kumimoji="1" lang="en-US" altLang="ja-JP" sz="2800" dirty="0"/>
                        </a:p>
                        <a:p>
                          <a:pPr algn="ctr"/>
                          <a:r>
                            <a:rPr kumimoji="1" lang="ja-JP" altLang="en-US" sz="2800"/>
                            <a:t>定</a:t>
                          </a:r>
                          <a:endParaRPr kumimoji="1" lang="en-US" altLang="ja-JP" sz="2800" dirty="0"/>
                        </a:p>
                        <a:p>
                          <a:pPr algn="ctr"/>
                          <a:r>
                            <a:rPr kumimoji="1" lang="ja-JP" altLang="en-US" sz="2800"/>
                            <a:t>結果</a:t>
                          </a:r>
                        </a:p>
                      </a:txBody>
                      <a:tcPr/>
                    </a:tc>
                    <a:tc>
                      <a:txBody>
                        <a:bodyPr/>
                        <a:lstStyle/>
                        <a:p>
                          <a:endParaRPr lang="ja-JP"/>
                        </a:p>
                      </a:txBody>
                      <a:tcPr>
                        <a:lnT w="12700" cap="flat" cmpd="sng" algn="ctr">
                          <a:solidFill>
                            <a:schemeClr val="tx1"/>
                          </a:solidFill>
                          <a:prstDash val="solid"/>
                          <a:round/>
                          <a:headEnd type="none" w="med" len="med"/>
                          <a:tailEnd type="none" w="med" len="med"/>
                        </a:lnT>
                        <a:blipFill>
                          <a:blip r:embed="rId4"/>
                          <a:stretch>
                            <a:fillRect l="-46763" t="-200000" r="-315108" b="-265217"/>
                          </a:stretch>
                        </a:blipFill>
                      </a:tcPr>
                    </a:tc>
                    <a:tc>
                      <a:txBody>
                        <a:bodyPr/>
                        <a:lstStyle/>
                        <a:p>
                          <a:endParaRPr lang="ja-JP"/>
                        </a:p>
                      </a:txBody>
                      <a:tcPr>
                        <a:lnT w="12700" cap="flat" cmpd="sng" algn="ctr">
                          <a:solidFill>
                            <a:schemeClr val="tx1"/>
                          </a:solidFill>
                          <a:prstDash val="solid"/>
                          <a:round/>
                          <a:headEnd type="none" w="med" len="med"/>
                          <a:tailEnd type="none" w="med" len="med"/>
                        </a:lnT>
                        <a:blipFill>
                          <a:blip r:embed="rId4"/>
                          <a:stretch>
                            <a:fillRect l="-147826" t="-200000" r="-217391" b="-265217"/>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4"/>
                          <a:stretch>
                            <a:fillRect l="-237500" t="-200000" r="-108333" b="-265217"/>
                          </a:stretch>
                        </a:blipFill>
                      </a:tcPr>
                    </a:tc>
                    <a:tc>
                      <a:txBody>
                        <a:bodyPr/>
                        <a:lstStyle/>
                        <a:p>
                          <a:endParaRPr lang="ja-JP"/>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4"/>
                          <a:stretch>
                            <a:fillRect l="-315584" t="-200000" r="-1299" b="-265217"/>
                          </a:stretch>
                        </a:blipFill>
                      </a:tcPr>
                    </a:tc>
                    <a:extLst>
                      <a:ext uri="{0D108BD9-81ED-4DB2-BD59-A6C34878D82A}">
                        <a16:rowId xmlns:a16="http://schemas.microsoft.com/office/drawing/2014/main" val="3157163058"/>
                      </a:ext>
                    </a:extLst>
                  </a:tr>
                  <a:tr h="585536">
                    <a:tc vMerge="1">
                      <a:txBody>
                        <a:bodyPr/>
                        <a:lstStyle/>
                        <a:p>
                          <a:pPr algn="ctr"/>
                          <a:endParaRPr kumimoji="1" lang="ja-JP" altLang="en-US"/>
                        </a:p>
                      </a:txBody>
                      <a:tcPr/>
                    </a:tc>
                    <a:tc>
                      <a:txBody>
                        <a:bodyPr/>
                        <a:lstStyle/>
                        <a:p>
                          <a:endParaRPr lang="ja-JP"/>
                        </a:p>
                      </a:txBody>
                      <a:tcPr>
                        <a:lnB w="28575" cap="flat" cmpd="sng" algn="ctr">
                          <a:solidFill>
                            <a:schemeClr val="tx1"/>
                          </a:solidFill>
                          <a:prstDash val="solid"/>
                          <a:round/>
                          <a:headEnd type="none" w="med" len="med"/>
                          <a:tailEnd type="none" w="med" len="med"/>
                        </a:lnB>
                        <a:blipFill>
                          <a:blip r:embed="rId4"/>
                          <a:stretch>
                            <a:fillRect l="-46763" t="-293617" r="-315108" b="-159574"/>
                          </a:stretch>
                        </a:blip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775720">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Fallback>
      </mc:AlternateContent>
      <p:sp>
        <p:nvSpPr>
          <p:cNvPr id="4" name="テキスト ボックス 3">
            <a:extLst>
              <a:ext uri="{FF2B5EF4-FFF2-40B4-BE49-F238E27FC236}">
                <a16:creationId xmlns:a16="http://schemas.microsoft.com/office/drawing/2014/main" id="{765DDE03-043B-5A80-00B5-15C305DCAF10}"/>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6/28</a:t>
            </a:r>
            <a:endParaRPr kumimoji="1" lang="ja-JP" altLang="en-US" sz="2800">
              <a:latin typeface="+mj-ea"/>
              <a:ea typeface="+mj-ea"/>
            </a:endParaRPr>
          </a:p>
        </p:txBody>
      </p:sp>
    </p:spTree>
    <p:extLst>
      <p:ext uri="{BB962C8B-B14F-4D97-AF65-F5344CB8AC3E}">
        <p14:creationId xmlns:p14="http://schemas.microsoft.com/office/powerpoint/2010/main" val="3597172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
            <a:extLst>
              <a:ext uri="{FF2B5EF4-FFF2-40B4-BE49-F238E27FC236}">
                <a16:creationId xmlns:a16="http://schemas.microsoft.com/office/drawing/2014/main" id="{B7DC2F06-B39A-864F-90F5-2ABE5AA0CA48}"/>
              </a:ext>
            </a:extLst>
          </p:cNvPr>
          <p:cNvSpPr txBox="1">
            <a:spLocks/>
          </p:cNvSpPr>
          <p:nvPr/>
        </p:nvSpPr>
        <p:spPr>
          <a:xfrm>
            <a:off x="-1" y="1334"/>
            <a:ext cx="12191999" cy="14811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偽発見率</a:t>
            </a:r>
            <a:r>
              <a:rPr lang="en-US" altLang="ja-JP" b="1" dirty="0">
                <a:solidFill>
                  <a:srgbClr val="0070C0"/>
                </a:solidFill>
                <a:latin typeface="+mj-ea"/>
              </a:rPr>
              <a:t> (False Discovery Rate: FDR) </a:t>
            </a:r>
            <a:r>
              <a:rPr lang="ja-JP" altLang="en-US" b="1">
                <a:solidFill>
                  <a:srgbClr val="0070C0"/>
                </a:solidFill>
                <a:latin typeface="+mj-ea"/>
              </a:rPr>
              <a:t>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a:t>
            </a:r>
            <a:r>
              <a:rPr lang="en-US" altLang="ja-JP" b="1" dirty="0" err="1">
                <a:solidFill>
                  <a:srgbClr val="0070C0"/>
                </a:solidFill>
                <a:latin typeface="+mj-ea"/>
              </a:rPr>
              <a:t>Benjamini</a:t>
            </a:r>
            <a:r>
              <a:rPr lang="en-US" altLang="ja-JP" b="1" dirty="0">
                <a:solidFill>
                  <a:srgbClr val="0070C0"/>
                </a:solidFill>
                <a:latin typeface="+mj-ea"/>
              </a:rPr>
              <a:t> and Hochberg, 1995)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E7EEB16-9574-BD99-D29F-02396746D6F1}"/>
                  </a:ext>
                </a:extLst>
              </p:cNvPr>
              <p:cNvSpPr txBox="1"/>
              <p:nvPr/>
            </p:nvSpPr>
            <p:spPr>
              <a:xfrm>
                <a:off x="1678689" y="1351693"/>
                <a:ext cx="8216900" cy="17907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r>
                            <a:rPr lang="en-US" altLang="ja-JP" sz="3200" i="1" smtClean="0">
                              <a:latin typeface="Cambria Math" panose="02040503050406030204" pitchFamily="18" charset="0"/>
                            </a:rPr>
                            <m:t>𝑉</m:t>
                          </m:r>
                        </m:e>
                        <m:sub>
                          <m:r>
                            <a:rPr lang="en-US" altLang="ja-JP" sz="3200" b="0" i="1" smtClean="0">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𝑐</m:t>
                          </m:r>
                        </m:e>
                      </m:d>
                      <m:r>
                        <m:rPr>
                          <m:aln/>
                        </m:rPr>
                        <a:rPr lang="en-US" altLang="ja-JP" sz="3200" i="1">
                          <a:latin typeface="Cambria Math" panose="02040503050406030204" pitchFamily="18" charset="0"/>
                        </a:rPr>
                        <m:t>≡</m:t>
                      </m:r>
                      <m:r>
                        <a:rPr lang="en-US" altLang="ja-JP" sz="3200" b="0" i="1" smtClean="0">
                          <a:latin typeface="Cambria Math" panose="02040503050406030204" pitchFamily="18" charset="0"/>
                        </a:rPr>
                        <m:t>#</m:t>
                      </m:r>
                      <m:d>
                        <m:dPr>
                          <m:begChr m:val="{"/>
                          <m:endChr m:val="}"/>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b="0" i="1">
                                  <a:latin typeface="Cambria Math" panose="02040503050406030204" pitchFamily="18" charset="0"/>
                                </a:rPr>
                                <m:t>𝑣</m:t>
                              </m:r>
                            </m:e>
                            <m:sub>
                              <m:r>
                                <a:rPr lang="en-US" altLang="ja-JP" sz="3200" b="0" i="1">
                                  <a:latin typeface="Cambria Math" panose="02040503050406030204" pitchFamily="18" charset="0"/>
                                </a:rPr>
                                <m:t>𝑘</m:t>
                              </m:r>
                              <m:r>
                                <a:rPr lang="en-US" altLang="ja-JP" sz="3200" b="0" i="1" smtClean="0">
                                  <a:latin typeface="Cambria Math" panose="02040503050406030204" pitchFamily="18" charset="0"/>
                                </a:rPr>
                                <m:t>𝑗</m:t>
                              </m:r>
                            </m:sub>
                          </m:sSub>
                          <m:r>
                            <a:rPr lang="en-US" altLang="ja-JP" sz="3200" i="1">
                              <a:latin typeface="Cambria Math" panose="02040503050406030204" pitchFamily="18" charset="0"/>
                            </a:rPr>
                            <m:t>=0</m:t>
                          </m:r>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and</m:t>
                          </m:r>
                          <m:r>
                            <a:rPr lang="en-US" altLang="ja-JP" sz="3200" b="0" i="1" smtClean="0">
                              <a:latin typeface="Cambria Math" panose="02040503050406030204" pitchFamily="18" charset="0"/>
                            </a:rPr>
                            <m:t> </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𝑣</m:t>
                                  </m:r>
                                </m:e>
                              </m:acc>
                            </m:e>
                            <m:sub>
                              <m:r>
                                <a:rPr lang="en-US" altLang="ja-JP" sz="3200" i="1">
                                  <a:latin typeface="Cambria Math" panose="02040503050406030204" pitchFamily="18" charset="0"/>
                                  <a:ea typeface="Cambria Math" panose="02040503050406030204" pitchFamily="18" charset="0"/>
                                </a:rPr>
                                <m:t>𝑘𝑗</m:t>
                              </m:r>
                            </m:sub>
                          </m:sSub>
                          <m:r>
                            <a:rPr lang="en-US" altLang="ja-JP" sz="3200" i="1" smtClean="0">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e>
                      </m:d>
                    </m:oMath>
                    <m:oMath xmlns:m="http://schemas.openxmlformats.org/officeDocument/2006/math">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𝑆</m:t>
                          </m:r>
                        </m:e>
                        <m:sub>
                          <m:r>
                            <a:rPr lang="en-US" altLang="ja-JP" sz="3200" i="1">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𝑐</m:t>
                          </m:r>
                        </m:e>
                      </m:d>
                      <m:r>
                        <a:rPr lang="en-US" altLang="ja-JP" sz="3200" i="1">
                          <a:latin typeface="Cambria Math" panose="02040503050406030204" pitchFamily="18" charset="0"/>
                        </a:rPr>
                        <m:t> </m:t>
                      </m:r>
                      <m:r>
                        <m:rPr>
                          <m:aln/>
                        </m:rPr>
                        <a:rPr lang="en-US" altLang="ja-JP" sz="3200" i="1">
                          <a:latin typeface="Cambria Math" panose="02040503050406030204" pitchFamily="18" charset="0"/>
                        </a:rPr>
                        <m:t>≡</m:t>
                      </m:r>
                      <m:r>
                        <a:rPr lang="en-US" altLang="ja-JP" sz="3200" i="1">
                          <a:latin typeface="Cambria Math" panose="02040503050406030204" pitchFamily="18" charset="0"/>
                        </a:rPr>
                        <m:t>#</m:t>
                      </m:r>
                      <m:d>
                        <m:dPr>
                          <m:begChr m:val="{"/>
                          <m:endChr m:val="}"/>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𝑣</m:t>
                              </m:r>
                            </m:e>
                            <m:sub>
                              <m:r>
                                <a:rPr lang="en-US" altLang="ja-JP" sz="3200" i="1">
                                  <a:latin typeface="Cambria Math" panose="02040503050406030204" pitchFamily="18" charset="0"/>
                                </a:rPr>
                                <m:t>𝑘𝑗</m:t>
                              </m:r>
                            </m:sub>
                          </m:sSub>
                          <m:r>
                            <a:rPr lang="en-US" altLang="ja-JP" sz="3200" i="1" smtClean="0">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0 </m:t>
                          </m:r>
                          <m:r>
                            <m:rPr>
                              <m:sty m:val="p"/>
                            </m:rPr>
                            <a:rPr lang="en-US" altLang="ja-JP" sz="3200">
                              <a:latin typeface="Cambria Math" panose="02040503050406030204" pitchFamily="18" charset="0"/>
                            </a:rPr>
                            <m:t>and</m:t>
                          </m:r>
                          <m:r>
                            <a:rPr lang="en-US" altLang="ja-JP" sz="3200" b="0" i="1" smtClean="0">
                              <a:latin typeface="Cambria Math" panose="02040503050406030204" pitchFamily="18" charset="0"/>
                            </a:rPr>
                            <m:t> </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𝑣</m:t>
                                  </m:r>
                                </m:e>
                              </m:acc>
                            </m:e>
                            <m:sub>
                              <m:r>
                                <a:rPr lang="en-US" altLang="ja-JP" sz="3200" i="1">
                                  <a:latin typeface="Cambria Math" panose="02040503050406030204" pitchFamily="18" charset="0"/>
                                  <a:ea typeface="Cambria Math" panose="02040503050406030204" pitchFamily="18" charset="0"/>
                                </a:rPr>
                                <m:t>𝑘𝑗</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e>
                      </m:d>
                    </m:oMath>
                    <m:oMath xmlns:m="http://schemas.openxmlformats.org/officeDocument/2006/math">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𝑅</m:t>
                          </m:r>
                        </m:e>
                        <m:sub>
                          <m:r>
                            <a:rPr lang="en-US" altLang="ja-JP" sz="3200" i="1">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𝑐</m:t>
                          </m:r>
                        </m:e>
                      </m:d>
                      <m:r>
                        <a:rPr lang="en-US" altLang="ja-JP" sz="3200" i="1">
                          <a:latin typeface="Cambria Math" panose="02040503050406030204" pitchFamily="18" charset="0"/>
                        </a:rPr>
                        <m:t> </m:t>
                      </m:r>
                      <m:r>
                        <m:rPr>
                          <m:aln/>
                        </m:rP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𝑉</m:t>
                          </m:r>
                        </m:e>
                        <m:sub>
                          <m:r>
                            <a:rPr lang="en-US" altLang="ja-JP" sz="3200" i="1">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𝑐</m:t>
                          </m:r>
                        </m:e>
                      </m:d>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𝑆</m:t>
                          </m:r>
                        </m:e>
                        <m:sub>
                          <m:r>
                            <a:rPr lang="en-US" altLang="ja-JP" sz="3200" i="1">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𝑐</m:t>
                          </m:r>
                        </m:e>
                      </m:d>
                      <m:r>
                        <a:rPr lang="en-US" altLang="ja-JP" sz="3200" i="1">
                          <a:latin typeface="Cambria Math" panose="02040503050406030204" pitchFamily="18" charset="0"/>
                        </a:rPr>
                        <m:t>=#</m:t>
                      </m:r>
                      <m:d>
                        <m:dPr>
                          <m:begChr m:val="{"/>
                          <m:endChr m:val="}"/>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𝑣</m:t>
                                  </m:r>
                                </m:e>
                              </m:acc>
                            </m:e>
                            <m:sub>
                              <m:r>
                                <a:rPr lang="en-US" altLang="ja-JP" sz="3200" i="1">
                                  <a:latin typeface="Cambria Math" panose="02040503050406030204" pitchFamily="18" charset="0"/>
                                  <a:ea typeface="Cambria Math" panose="02040503050406030204" pitchFamily="18" charset="0"/>
                                </a:rPr>
                                <m:t>𝑘𝑗</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0 </m:t>
                          </m:r>
                        </m:e>
                      </m:d>
                    </m:oMath>
                  </m:oMathPara>
                </a14:m>
                <a:br>
                  <a:rPr lang="en-US" altLang="ja-JP" sz="3200" i="1" dirty="0">
                    <a:latin typeface="Cambria Math" panose="02040503050406030204" pitchFamily="18" charset="0"/>
                  </a:rPr>
                </a:br>
                <a:endParaRPr lang="ja-JP" altLang="en-US" sz="3200"/>
              </a:p>
            </p:txBody>
          </p:sp>
        </mc:Choice>
        <mc:Fallback xmlns="">
          <p:sp>
            <p:nvSpPr>
              <p:cNvPr id="18" name="テキスト ボックス 17">
                <a:extLst>
                  <a:ext uri="{FF2B5EF4-FFF2-40B4-BE49-F238E27FC236}">
                    <a16:creationId xmlns:a16="http://schemas.microsoft.com/office/drawing/2014/main" id="{DE7EEB16-9574-BD99-D29F-02396746D6F1}"/>
                  </a:ext>
                </a:extLst>
              </p:cNvPr>
              <p:cNvSpPr txBox="1">
                <a:spLocks noRot="1" noChangeAspect="1" noMove="1" noResize="1" noEditPoints="1" noAdjustHandles="1" noChangeArrowheads="1" noChangeShapeType="1" noTextEdit="1"/>
              </p:cNvSpPr>
              <p:nvPr/>
            </p:nvSpPr>
            <p:spPr>
              <a:xfrm>
                <a:off x="1678689" y="1351693"/>
                <a:ext cx="8216900" cy="1790747"/>
              </a:xfrm>
              <a:prstGeom prst="rect">
                <a:avLst/>
              </a:prstGeom>
              <a:blipFill>
                <a:blip r:embed="rId3"/>
                <a:stretch>
                  <a:fillRect t="-1408" b="-49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2C7B2492-DF91-A9F1-790D-53777E4D6AAE}"/>
                  </a:ext>
                </a:extLst>
              </p:cNvPr>
              <p:cNvSpPr txBox="1"/>
              <p:nvPr/>
            </p:nvSpPr>
            <p:spPr>
              <a:xfrm>
                <a:off x="9285390" y="1938717"/>
                <a:ext cx="216745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ja-JP" sz="2800" i="1" smtClean="0">
                              <a:latin typeface="Cambria Math" panose="02040503050406030204" pitchFamily="18" charset="0"/>
                            </a:rPr>
                          </m:ctrlPr>
                        </m:dPr>
                        <m:e>
                          <m:r>
                            <a:rPr lang="en-US" altLang="ja-JP" sz="2800" i="1">
                              <a:latin typeface="Cambria Math" panose="02040503050406030204" pitchFamily="18" charset="0"/>
                            </a:rPr>
                            <m:t>𝑗</m:t>
                          </m:r>
                          <m:r>
                            <a:rPr lang="en-US" altLang="ja-JP" sz="2800" i="1">
                              <a:latin typeface="Cambria Math" panose="02040503050406030204" pitchFamily="18" charset="0"/>
                            </a:rPr>
                            <m:t>=1,…,</m:t>
                          </m:r>
                          <m:r>
                            <a:rPr lang="en-US" altLang="ja-JP" sz="2800" i="1">
                              <a:latin typeface="Cambria Math" panose="02040503050406030204" pitchFamily="18" charset="0"/>
                            </a:rPr>
                            <m:t>𝑝</m:t>
                          </m:r>
                        </m:e>
                      </m:d>
                    </m:oMath>
                  </m:oMathPara>
                </a14:m>
                <a:endParaRPr kumimoji="1" lang="ja-JP" altLang="en-US" sz="2800"/>
              </a:p>
            </p:txBody>
          </p:sp>
        </mc:Choice>
        <mc:Fallback xmlns="">
          <p:sp>
            <p:nvSpPr>
              <p:cNvPr id="7" name="テキスト ボックス 6">
                <a:extLst>
                  <a:ext uri="{FF2B5EF4-FFF2-40B4-BE49-F238E27FC236}">
                    <a16:creationId xmlns:a16="http://schemas.microsoft.com/office/drawing/2014/main" id="{2C7B2492-DF91-A9F1-790D-53777E4D6AAE}"/>
                  </a:ext>
                </a:extLst>
              </p:cNvPr>
              <p:cNvSpPr txBox="1">
                <a:spLocks noRot="1" noChangeAspect="1" noMove="1" noResize="1" noEditPoints="1" noAdjustHandles="1" noChangeArrowheads="1" noChangeShapeType="1" noTextEdit="1"/>
              </p:cNvSpPr>
              <p:nvPr/>
            </p:nvSpPr>
            <p:spPr>
              <a:xfrm>
                <a:off x="9285390" y="1938717"/>
                <a:ext cx="2167453" cy="523220"/>
              </a:xfrm>
              <a:prstGeom prst="rect">
                <a:avLst/>
              </a:prstGeom>
              <a:blipFill>
                <a:blip r:embed="rId4"/>
                <a:stretch>
                  <a:fillRect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6D6280BA-42E3-9730-B7AF-4D881CA0F803}"/>
                  </a:ext>
                </a:extLst>
              </p:cNvPr>
              <p:cNvSpPr txBox="1"/>
              <p:nvPr/>
            </p:nvSpPr>
            <p:spPr>
              <a:xfrm>
                <a:off x="2250450" y="3179829"/>
                <a:ext cx="7443961" cy="523220"/>
              </a:xfrm>
              <a:prstGeom prst="rect">
                <a:avLst/>
              </a:prstGeom>
              <a:noFill/>
            </p:spPr>
            <p:txBody>
              <a:bodyPr wrap="none" rtlCol="0">
                <a:spAutoFit/>
              </a:bodyPr>
              <a:lstStyle/>
              <a:p>
                <a14:m>
                  <m:oMath xmlns:m="http://schemas.openxmlformats.org/officeDocument/2006/math">
                    <m:r>
                      <a:rPr lang="en-US" altLang="ja-JP" sz="2800" i="1" smtClean="0">
                        <a:latin typeface="Cambria Math" panose="02040503050406030204" pitchFamily="18" charset="0"/>
                      </a:rPr>
                      <m:t>#{</m:t>
                    </m:r>
                    <m:r>
                      <a:rPr lang="en-US" altLang="ja-JP" sz="2800" i="1" smtClean="0">
                        <a:latin typeface="Cambria Math" panose="02040503050406030204" pitchFamily="18" charset="0"/>
                      </a:rPr>
                      <m:t>𝑗</m:t>
                    </m:r>
                    <m:r>
                      <a:rPr lang="en-US" altLang="ja-JP" sz="2800" i="1" smtClean="0">
                        <a:latin typeface="Cambria Math" panose="02040503050406030204" pitchFamily="18" charset="0"/>
                      </a:rPr>
                      <m:t>:</m:t>
                    </m:r>
                    <m:r>
                      <a:rPr lang="en-US" altLang="ja-JP" sz="2800" b="0" i="1" smtClean="0">
                        <a:latin typeface="Cambria Math" panose="02040503050406030204" pitchFamily="18" charset="0"/>
                      </a:rPr>
                      <m:t>𝐴</m:t>
                    </m:r>
                    <m:r>
                      <a:rPr lang="en-US" altLang="ja-JP" sz="2800" i="1" smtClean="0">
                        <a:latin typeface="Cambria Math" panose="02040503050406030204" pitchFamily="18" charset="0"/>
                      </a:rPr>
                      <m:t>}</m:t>
                    </m:r>
                  </m:oMath>
                </a14:m>
                <a:r>
                  <a:rPr kumimoji="1" lang="en-US" altLang="ja-JP" sz="2800" dirty="0"/>
                  <a:t> : </a:t>
                </a:r>
                <a:r>
                  <a:rPr kumimoji="1" lang="ja-JP" altLang="en-US" sz="2800"/>
                  <a:t>条件</a:t>
                </a:r>
                <a14:m>
                  <m:oMath xmlns:m="http://schemas.openxmlformats.org/officeDocument/2006/math">
                    <m:r>
                      <a:rPr kumimoji="1" lang="en-US" altLang="ja-JP" sz="2800" b="0" i="1" smtClean="0">
                        <a:latin typeface="Cambria Math" panose="02040503050406030204" pitchFamily="18" charset="0"/>
                      </a:rPr>
                      <m:t>𝐴</m:t>
                    </m:r>
                  </m:oMath>
                </a14:m>
                <a:r>
                  <a:rPr kumimoji="1" lang="ja-JP" altLang="en-US" sz="2800"/>
                  <a:t>を満たす変数の添字番号の個数</a:t>
                </a:r>
              </a:p>
            </p:txBody>
          </p:sp>
        </mc:Choice>
        <mc:Fallback xmlns="">
          <p:sp>
            <p:nvSpPr>
              <p:cNvPr id="8" name="テキスト ボックス 7">
                <a:extLst>
                  <a:ext uri="{FF2B5EF4-FFF2-40B4-BE49-F238E27FC236}">
                    <a16:creationId xmlns:a16="http://schemas.microsoft.com/office/drawing/2014/main" id="{6D6280BA-42E3-9730-B7AF-4D881CA0F803}"/>
                  </a:ext>
                </a:extLst>
              </p:cNvPr>
              <p:cNvSpPr txBox="1">
                <a:spLocks noRot="1" noChangeAspect="1" noMove="1" noResize="1" noEditPoints="1" noAdjustHandles="1" noChangeArrowheads="1" noChangeShapeType="1" noTextEdit="1"/>
              </p:cNvSpPr>
              <p:nvPr/>
            </p:nvSpPr>
            <p:spPr>
              <a:xfrm>
                <a:off x="2250450" y="3179829"/>
                <a:ext cx="7443961" cy="523220"/>
              </a:xfrm>
              <a:prstGeom prst="rect">
                <a:avLst/>
              </a:prstGeom>
              <a:blipFill>
                <a:blip r:embed="rId5"/>
                <a:stretch>
                  <a:fillRect l="-511" t="-11905" r="-681" b="-3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1948E7D0-AE9A-9358-59E0-0465D1C02909}"/>
                  </a:ext>
                </a:extLst>
              </p:cNvPr>
              <p:cNvGraphicFramePr>
                <a:graphicFrameLocks noGrp="1"/>
              </p:cNvGraphicFramePr>
              <p:nvPr>
                <p:extLst>
                  <p:ext uri="{D42A27DB-BD31-4B8C-83A1-F6EECF244321}">
                    <p14:modId xmlns:p14="http://schemas.microsoft.com/office/powerpoint/2010/main" val="2945444680"/>
                  </p:ext>
                </p:extLst>
              </p:nvPr>
            </p:nvGraphicFramePr>
            <p:xfrm>
              <a:off x="1919255" y="3756767"/>
              <a:ext cx="8106350" cy="3043985"/>
            </p:xfrm>
            <a:graphic>
              <a:graphicData uri="http://schemas.openxmlformats.org/drawingml/2006/table">
                <a:tbl>
                  <a:tblPr firstRow="1" bandRow="1">
                    <a:tableStyleId>{5940675A-B579-460E-94D1-54222C63F5DA}</a:tableStyleId>
                  </a:tblPr>
                  <a:tblGrid>
                    <a:gridCol w="813650">
                      <a:extLst>
                        <a:ext uri="{9D8B030D-6E8A-4147-A177-3AD203B41FA5}">
                          <a16:colId xmlns:a16="http://schemas.microsoft.com/office/drawing/2014/main" val="2166501344"/>
                        </a:ext>
                      </a:extLst>
                    </a:gridCol>
                    <a:gridCol w="1761893">
                      <a:extLst>
                        <a:ext uri="{9D8B030D-6E8A-4147-A177-3AD203B41FA5}">
                          <a16:colId xmlns:a16="http://schemas.microsoft.com/office/drawing/2014/main" val="3366183821"/>
                        </a:ext>
                      </a:extLst>
                    </a:gridCol>
                    <a:gridCol w="1751652">
                      <a:extLst>
                        <a:ext uri="{9D8B030D-6E8A-4147-A177-3AD203B41FA5}">
                          <a16:colId xmlns:a16="http://schemas.microsoft.com/office/drawing/2014/main" val="122348770"/>
                        </a:ext>
                      </a:extLst>
                    </a:gridCol>
                    <a:gridCol w="1830991">
                      <a:extLst>
                        <a:ext uri="{9D8B030D-6E8A-4147-A177-3AD203B41FA5}">
                          <a16:colId xmlns:a16="http://schemas.microsoft.com/office/drawing/2014/main" val="1265163690"/>
                        </a:ext>
                      </a:extLst>
                    </a:gridCol>
                    <a:gridCol w="1948164">
                      <a:extLst>
                        <a:ext uri="{9D8B030D-6E8A-4147-A177-3AD203B41FA5}">
                          <a16:colId xmlns:a16="http://schemas.microsoft.com/office/drawing/2014/main" val="1115285989"/>
                        </a:ext>
                      </a:extLst>
                    </a:gridCol>
                  </a:tblGrid>
                  <a:tr h="493085">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真の状態</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575105">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b="0" i="1">
                                        <a:latin typeface="Cambria Math" panose="02040503050406030204" pitchFamily="18" charset="0"/>
                                      </a:rPr>
                                      <m:t>𝑣</m:t>
                                    </m:r>
                                  </m:e>
                                  <m:sub>
                                    <m:r>
                                      <a:rPr lang="en-US" altLang="ja-JP" sz="2800" b="0" i="1">
                                        <a:latin typeface="Cambria Math" panose="02040503050406030204" pitchFamily="18" charset="0"/>
                                      </a:rPr>
                                      <m:t>𝑘</m:t>
                                    </m:r>
                                    <m:r>
                                      <a:rPr lang="en-US" altLang="ja-JP" sz="2800" b="0" i="1" smtClean="0">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b="0" i="1">
                                        <a:latin typeface="Cambria Math" panose="02040503050406030204" pitchFamily="18" charset="0"/>
                                      </a:rPr>
                                      <m:t>𝑣</m:t>
                                    </m:r>
                                  </m:e>
                                  <m:sub>
                                    <m:r>
                                      <a:rPr lang="en-US" altLang="ja-JP" sz="2800" b="0" i="1">
                                        <a:latin typeface="Cambria Math" panose="02040503050406030204" pitchFamily="18" charset="0"/>
                                      </a:rPr>
                                      <m:t>𝑘</m:t>
                                    </m:r>
                                    <m:r>
                                      <a:rPr lang="en-US" altLang="ja-JP" sz="2800" b="0" i="1" smtClean="0">
                                        <a:latin typeface="Cambria Math" panose="02040503050406030204" pitchFamily="18" charset="0"/>
                                      </a:rPr>
                                      <m:t>𝑗</m:t>
                                    </m:r>
                                  </m:sub>
                                </m:sSub>
                                <m:r>
                                  <a:rPr lang="en-US" altLang="ja-JP" sz="2800" b="0" i="1" smtClean="0">
                                    <a:latin typeface="Cambria Math" panose="02040503050406030204" pitchFamily="18" charset="0"/>
                                  </a:rPr>
                                  <m:t>=0</m:t>
                                </m:r>
                              </m:oMath>
                            </m:oMathPara>
                          </a14:m>
                          <a:endParaRPr kumimoji="1" lang="ja-JP" altLang="en-US" sz="2800"/>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589464">
                    <a:tc rowSpan="3">
                      <a:txBody>
                        <a:bodyPr/>
                        <a:lstStyle/>
                        <a:p>
                          <a:pPr algn="ctr"/>
                          <a:endParaRPr kumimoji="1" lang="en-US" altLang="ja-JP" sz="1000" dirty="0"/>
                        </a:p>
                        <a:p>
                          <a:pPr algn="ctr"/>
                          <a:r>
                            <a:rPr kumimoji="1" lang="ja-JP" altLang="en-US" sz="2800"/>
                            <a:t>推</a:t>
                          </a:r>
                          <a:endParaRPr kumimoji="1" lang="en-US" altLang="ja-JP" sz="2800" dirty="0"/>
                        </a:p>
                        <a:p>
                          <a:pPr algn="ctr"/>
                          <a:r>
                            <a:rPr kumimoji="1" lang="ja-JP" altLang="en-US" sz="2800"/>
                            <a:t>定</a:t>
                          </a:r>
                          <a:endParaRPr kumimoji="1" lang="en-US" altLang="ja-JP" sz="2800" dirty="0"/>
                        </a:p>
                        <a:p>
                          <a:pPr algn="ctr"/>
                          <a:r>
                            <a:rPr kumimoji="1" lang="ja-JP" altLang="en-US" sz="2800"/>
                            <a:t>結果</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ea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a:latin typeface="Cambria Math" panose="02040503050406030204" pitchFamily="18" charset="0"/>
                                            <a:ea typeface="Cambria Math" panose="02040503050406030204" pitchFamily="18" charset="0"/>
                                          </a:rPr>
                                          <m:t>𝑣</m:t>
                                        </m:r>
                                      </m:e>
                                    </m:acc>
                                  </m:e>
                                  <m:sub>
                                    <m:r>
                                      <a:rPr lang="en-US" altLang="ja-JP" sz="2800" b="0" i="1" smtClean="0">
                                        <a:latin typeface="Cambria Math" panose="02040503050406030204" pitchFamily="18" charset="0"/>
                                        <a:ea typeface="Cambria Math" panose="02040503050406030204" pitchFamily="18" charset="0"/>
                                      </a:rPr>
                                      <m:t>𝑘𝑗</m:t>
                                    </m:r>
                                  </m:sub>
                                </m:sSub>
                                <m:r>
                                  <a:rPr lang="en-US" altLang="ja-JP" sz="280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𝑆</m:t>
                                    </m:r>
                                  </m:e>
                                  <m:sub>
                                    <m:r>
                                      <a:rPr lang="en-US" altLang="ja-JP" sz="2800" b="0" i="1" smtClean="0">
                                        <a:latin typeface="Cambria Math" panose="02040503050406030204" pitchFamily="18" charset="0"/>
                                      </a:rPr>
                                      <m:t>𝑘</m:t>
                                    </m:r>
                                  </m:sub>
                                </m:sSub>
                                <m:d>
                                  <m:dPr>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𝑐</m:t>
                                    </m:r>
                                  </m:e>
                                </m:d>
                              </m:oMath>
                            </m:oMathPara>
                          </a14:m>
                          <a:endParaRPr kumimoji="1" lang="ja-JP" altLang="en-US" sz="2800">
                            <a:latin typeface="+mn-ea"/>
                            <a:ea typeface="+mn-ea"/>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ea typeface="+mn-ea"/>
                                      </a:rPr>
                                    </m:ctrlPr>
                                  </m:sSubPr>
                                  <m:e>
                                    <m:r>
                                      <a:rPr lang="en-US" altLang="ja-JP" sz="2800" b="0" i="1" smtClean="0">
                                        <a:latin typeface="Cambria Math" panose="02040503050406030204" pitchFamily="18" charset="0"/>
                                        <a:ea typeface="+mn-ea"/>
                                      </a:rPr>
                                      <m:t>𝑉</m:t>
                                    </m:r>
                                  </m:e>
                                  <m:sub>
                                    <m:r>
                                      <a:rPr lang="en-US" altLang="ja-JP" sz="2800" b="0" i="1" smtClean="0">
                                        <a:latin typeface="Cambria Math" panose="02040503050406030204" pitchFamily="18" charset="0"/>
                                        <a:ea typeface="+mn-ea"/>
                                      </a:rPr>
                                      <m:t>𝑘</m:t>
                                    </m:r>
                                  </m:sub>
                                </m:sSub>
                                <m:d>
                                  <m:dPr>
                                    <m:ctrlPr>
                                      <a:rPr lang="en-US" altLang="ja-JP" sz="2800" i="1">
                                        <a:latin typeface="Cambria Math" panose="02040503050406030204" pitchFamily="18" charset="0"/>
                                        <a:ea typeface="+mn-ea"/>
                                      </a:rPr>
                                    </m:ctrlPr>
                                  </m:dPr>
                                  <m:e>
                                    <m:r>
                                      <a:rPr lang="en-US" altLang="ja-JP" sz="2800" b="0" i="1" smtClean="0">
                                        <a:latin typeface="Cambria Math" panose="02040503050406030204" pitchFamily="18" charset="0"/>
                                        <a:ea typeface="+mn-ea"/>
                                      </a:rPr>
                                      <m:t>𝑐</m:t>
                                    </m:r>
                                  </m:e>
                                </m:d>
                              </m:oMath>
                            </m:oMathPara>
                          </a14:m>
                          <a:endParaRPr kumimoji="1" lang="ja-JP" altLang="en-US" sz="2800">
                            <a:latin typeface="+mn-ea"/>
                            <a:ea typeface="+mn-ea"/>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ea typeface="+mn-ea"/>
                                      </a:rPr>
                                    </m:ctrlPr>
                                  </m:sSubPr>
                                  <m:e>
                                    <m:r>
                                      <a:rPr lang="en-US" altLang="ja-JP" sz="2800" b="0" i="1" smtClean="0">
                                        <a:latin typeface="Cambria Math" panose="02040503050406030204" pitchFamily="18" charset="0"/>
                                        <a:ea typeface="+mn-ea"/>
                                      </a:rPr>
                                      <m:t>𝑅</m:t>
                                    </m:r>
                                  </m:e>
                                  <m:sub>
                                    <m:r>
                                      <a:rPr lang="en-US" altLang="ja-JP" sz="2800" b="0" i="1" smtClean="0">
                                        <a:latin typeface="Cambria Math" panose="02040503050406030204" pitchFamily="18" charset="0"/>
                                        <a:ea typeface="+mn-ea"/>
                                      </a:rPr>
                                      <m:t>𝑘</m:t>
                                    </m:r>
                                  </m:sub>
                                </m:sSub>
                                <m:d>
                                  <m:dPr>
                                    <m:ctrlPr>
                                      <a:rPr lang="en-US" altLang="ja-JP" sz="2800" i="1">
                                        <a:latin typeface="Cambria Math" panose="02040503050406030204" pitchFamily="18" charset="0"/>
                                        <a:ea typeface="+mn-ea"/>
                                      </a:rPr>
                                    </m:ctrlPr>
                                  </m:dPr>
                                  <m:e>
                                    <m:r>
                                      <a:rPr lang="en-US" altLang="ja-JP" sz="2800" b="0" i="1" smtClean="0">
                                        <a:latin typeface="Cambria Math" panose="02040503050406030204" pitchFamily="18" charset="0"/>
                                        <a:ea typeface="+mn-ea"/>
                                      </a:rPr>
                                      <m:t>𝑐</m:t>
                                    </m:r>
                                  </m:e>
                                </m:d>
                              </m:oMath>
                            </m:oMathPara>
                          </a14:m>
                          <a:endParaRPr kumimoji="1" lang="ja-JP" altLang="en-US" sz="2800" i="1">
                            <a:latin typeface="+mn-ea"/>
                            <a:ea typeface="+mn-ea"/>
                          </a:endParaRP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7163058"/>
                      </a:ext>
                    </a:extLst>
                  </a:tr>
                  <a:tr h="585536">
                    <a:tc vMerge="1">
                      <a:txBody>
                        <a:bodyPr/>
                        <a:lstStyle/>
                        <a:p>
                          <a:pPr algn="ctr"/>
                          <a:endParaRPr kumimoji="1" lang="ja-JP"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ea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a:latin typeface="Cambria Math" panose="02040503050406030204" pitchFamily="18" charset="0"/>
                                            <a:ea typeface="Cambria Math" panose="02040503050406030204" pitchFamily="18" charset="0"/>
                                          </a:rPr>
                                          <m:t>𝑣</m:t>
                                        </m:r>
                                      </m:e>
                                    </m:acc>
                                  </m:e>
                                  <m:sub>
                                    <m:r>
                                      <a:rPr lang="en-US" altLang="ja-JP" sz="2800" b="0" i="1" smtClean="0">
                                        <a:latin typeface="Cambria Math" panose="02040503050406030204" pitchFamily="18" charset="0"/>
                                        <a:ea typeface="Cambria Math" panose="02040503050406030204" pitchFamily="18" charset="0"/>
                                      </a:rPr>
                                      <m:t>𝑘𝑗</m:t>
                                    </m:r>
                                  </m:sub>
                                </m:sSub>
                                <m:r>
                                  <a:rPr lang="en-US" altLang="ja-JP" sz="2800" b="0" i="1" smtClean="0">
                                    <a:latin typeface="Cambria Math" panose="02040503050406030204" pitchFamily="18" charset="0"/>
                                  </a:rPr>
                                  <m:t>=0</m:t>
                                </m:r>
                              </m:oMath>
                            </m:oMathPara>
                          </a14:m>
                          <a:endParaRPr kumimoji="1" lang="ja-JP" altLang="en-US" sz="2800"/>
                        </a:p>
                      </a:txBody>
                      <a:tcPr>
                        <a:lnB w="2857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51695">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Choice>
        <mc:Fallback xmlns="">
          <p:graphicFrame>
            <p:nvGraphicFramePr>
              <p:cNvPr id="3" name="表 2">
                <a:extLst>
                  <a:ext uri="{FF2B5EF4-FFF2-40B4-BE49-F238E27FC236}">
                    <a16:creationId xmlns:a16="http://schemas.microsoft.com/office/drawing/2014/main" id="{1948E7D0-AE9A-9358-59E0-0465D1C02909}"/>
                  </a:ext>
                </a:extLst>
              </p:cNvPr>
              <p:cNvGraphicFramePr>
                <a:graphicFrameLocks noGrp="1"/>
              </p:cNvGraphicFramePr>
              <p:nvPr>
                <p:extLst>
                  <p:ext uri="{D42A27DB-BD31-4B8C-83A1-F6EECF244321}">
                    <p14:modId xmlns:p14="http://schemas.microsoft.com/office/powerpoint/2010/main" val="2945444680"/>
                  </p:ext>
                </p:extLst>
              </p:nvPr>
            </p:nvGraphicFramePr>
            <p:xfrm>
              <a:off x="1919255" y="3756767"/>
              <a:ext cx="8106350" cy="3043985"/>
            </p:xfrm>
            <a:graphic>
              <a:graphicData uri="http://schemas.openxmlformats.org/drawingml/2006/table">
                <a:tbl>
                  <a:tblPr firstRow="1" bandRow="1">
                    <a:tableStyleId>{5940675A-B579-460E-94D1-54222C63F5DA}</a:tableStyleId>
                  </a:tblPr>
                  <a:tblGrid>
                    <a:gridCol w="813650">
                      <a:extLst>
                        <a:ext uri="{9D8B030D-6E8A-4147-A177-3AD203B41FA5}">
                          <a16:colId xmlns:a16="http://schemas.microsoft.com/office/drawing/2014/main" val="2166501344"/>
                        </a:ext>
                      </a:extLst>
                    </a:gridCol>
                    <a:gridCol w="1761893">
                      <a:extLst>
                        <a:ext uri="{9D8B030D-6E8A-4147-A177-3AD203B41FA5}">
                          <a16:colId xmlns:a16="http://schemas.microsoft.com/office/drawing/2014/main" val="3366183821"/>
                        </a:ext>
                      </a:extLst>
                    </a:gridCol>
                    <a:gridCol w="1751652">
                      <a:extLst>
                        <a:ext uri="{9D8B030D-6E8A-4147-A177-3AD203B41FA5}">
                          <a16:colId xmlns:a16="http://schemas.microsoft.com/office/drawing/2014/main" val="122348770"/>
                        </a:ext>
                      </a:extLst>
                    </a:gridCol>
                    <a:gridCol w="1830991">
                      <a:extLst>
                        <a:ext uri="{9D8B030D-6E8A-4147-A177-3AD203B41FA5}">
                          <a16:colId xmlns:a16="http://schemas.microsoft.com/office/drawing/2014/main" val="1265163690"/>
                        </a:ext>
                      </a:extLst>
                    </a:gridCol>
                    <a:gridCol w="1948164">
                      <a:extLst>
                        <a:ext uri="{9D8B030D-6E8A-4147-A177-3AD203B41FA5}">
                          <a16:colId xmlns:a16="http://schemas.microsoft.com/office/drawing/2014/main" val="1115285989"/>
                        </a:ext>
                      </a:extLst>
                    </a:gridCol>
                  </a:tblGrid>
                  <a:tr h="518160">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真の状態</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575105">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47826" t="-100000" r="-217391" b="-365217"/>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37500" t="-100000" r="-108333" b="-36521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589464">
                    <a:tc rowSpan="3">
                      <a:txBody>
                        <a:bodyPr/>
                        <a:lstStyle/>
                        <a:p>
                          <a:pPr algn="ctr"/>
                          <a:endParaRPr kumimoji="1" lang="en-US" altLang="ja-JP" sz="1000" dirty="0"/>
                        </a:p>
                        <a:p>
                          <a:pPr algn="ctr"/>
                          <a:r>
                            <a:rPr kumimoji="1" lang="ja-JP" altLang="en-US" sz="2800"/>
                            <a:t>推</a:t>
                          </a:r>
                          <a:endParaRPr kumimoji="1" lang="en-US" altLang="ja-JP" sz="2800" dirty="0"/>
                        </a:p>
                        <a:p>
                          <a:pPr algn="ctr"/>
                          <a:r>
                            <a:rPr kumimoji="1" lang="ja-JP" altLang="en-US" sz="2800"/>
                            <a:t>定</a:t>
                          </a:r>
                          <a:endParaRPr kumimoji="1" lang="en-US" altLang="ja-JP" sz="2800" dirty="0"/>
                        </a:p>
                        <a:p>
                          <a:pPr algn="ctr"/>
                          <a:r>
                            <a:rPr kumimoji="1" lang="ja-JP" altLang="en-US" sz="2800"/>
                            <a:t>結果</a:t>
                          </a:r>
                        </a:p>
                      </a:txBody>
                      <a:tcPr/>
                    </a:tc>
                    <a:tc>
                      <a:txBody>
                        <a:bodyPr/>
                        <a:lstStyle/>
                        <a:p>
                          <a:endParaRPr lang="ja-JP"/>
                        </a:p>
                      </a:txBody>
                      <a:tcPr>
                        <a:lnT w="12700" cap="flat" cmpd="sng" algn="ctr">
                          <a:solidFill>
                            <a:schemeClr val="tx1"/>
                          </a:solidFill>
                          <a:prstDash val="solid"/>
                          <a:round/>
                          <a:headEnd type="none" w="med" len="med"/>
                          <a:tailEnd type="none" w="med" len="med"/>
                        </a:lnT>
                        <a:blipFill>
                          <a:blip r:embed="rId6"/>
                          <a:stretch>
                            <a:fillRect l="-46763" t="-200000" r="-315108" b="-265217"/>
                          </a:stretch>
                        </a:blipFill>
                      </a:tcPr>
                    </a:tc>
                    <a:tc>
                      <a:txBody>
                        <a:bodyPr/>
                        <a:lstStyle/>
                        <a:p>
                          <a:endParaRPr lang="ja-JP"/>
                        </a:p>
                      </a:txBody>
                      <a:tcPr>
                        <a:lnT w="12700" cap="flat" cmpd="sng" algn="ctr">
                          <a:solidFill>
                            <a:schemeClr val="tx1"/>
                          </a:solidFill>
                          <a:prstDash val="solid"/>
                          <a:round/>
                          <a:headEnd type="none" w="med" len="med"/>
                          <a:tailEnd type="none" w="med" len="med"/>
                        </a:lnT>
                        <a:blipFill>
                          <a:blip r:embed="rId6"/>
                          <a:stretch>
                            <a:fillRect l="-147826" t="-200000" r="-217391" b="-265217"/>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6"/>
                          <a:stretch>
                            <a:fillRect l="-237500" t="-200000" r="-108333" b="-265217"/>
                          </a:stretch>
                        </a:blipFill>
                      </a:tcPr>
                    </a:tc>
                    <a:tc>
                      <a:txBody>
                        <a:bodyPr/>
                        <a:lstStyle/>
                        <a:p>
                          <a:endParaRPr lang="ja-JP"/>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6"/>
                          <a:stretch>
                            <a:fillRect l="-315584" t="-200000" r="-1299" b="-265217"/>
                          </a:stretch>
                        </a:blipFill>
                      </a:tcPr>
                    </a:tc>
                    <a:extLst>
                      <a:ext uri="{0D108BD9-81ED-4DB2-BD59-A6C34878D82A}">
                        <a16:rowId xmlns:a16="http://schemas.microsoft.com/office/drawing/2014/main" val="3157163058"/>
                      </a:ext>
                    </a:extLst>
                  </a:tr>
                  <a:tr h="585536">
                    <a:tc vMerge="1">
                      <a:txBody>
                        <a:bodyPr/>
                        <a:lstStyle/>
                        <a:p>
                          <a:pPr algn="ctr"/>
                          <a:endParaRPr kumimoji="1" lang="ja-JP" altLang="en-US"/>
                        </a:p>
                      </a:txBody>
                      <a:tcPr/>
                    </a:tc>
                    <a:tc>
                      <a:txBody>
                        <a:bodyPr/>
                        <a:lstStyle/>
                        <a:p>
                          <a:endParaRPr lang="ja-JP"/>
                        </a:p>
                      </a:txBody>
                      <a:tcPr>
                        <a:lnB w="28575" cap="flat" cmpd="sng" algn="ctr">
                          <a:solidFill>
                            <a:schemeClr val="tx1"/>
                          </a:solidFill>
                          <a:prstDash val="solid"/>
                          <a:round/>
                          <a:headEnd type="none" w="med" len="med"/>
                          <a:tailEnd type="none" w="med" len="med"/>
                        </a:lnB>
                        <a:blipFill>
                          <a:blip r:embed="rId6"/>
                          <a:stretch>
                            <a:fillRect l="-46763" t="-293617" r="-315108" b="-159574"/>
                          </a:stretch>
                        </a:blip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775720">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Fallback>
      </mc:AlternateContent>
      <p:sp>
        <p:nvSpPr>
          <p:cNvPr id="2" name="テキスト ボックス 1">
            <a:extLst>
              <a:ext uri="{FF2B5EF4-FFF2-40B4-BE49-F238E27FC236}">
                <a16:creationId xmlns:a16="http://schemas.microsoft.com/office/drawing/2014/main" id="{116171A0-F69C-138A-EFD0-8C973B025496}"/>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7/28</a:t>
            </a:r>
            <a:endParaRPr kumimoji="1" lang="ja-JP" altLang="en-US" sz="2800">
              <a:latin typeface="+mj-ea"/>
              <a:ea typeface="+mj-ea"/>
            </a:endParaRPr>
          </a:p>
        </p:txBody>
      </p:sp>
    </p:spTree>
    <p:extLst>
      <p:ext uri="{BB962C8B-B14F-4D97-AF65-F5344CB8AC3E}">
        <p14:creationId xmlns:p14="http://schemas.microsoft.com/office/powerpoint/2010/main" val="1055739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377634AD-6A9E-254D-8E73-1E0CBC0C04AE}"/>
                  </a:ext>
                </a:extLst>
              </p:cNvPr>
              <p:cNvSpPr>
                <a:spLocks noGrp="1"/>
              </p:cNvSpPr>
              <p:nvPr>
                <p:ph idx="1"/>
              </p:nvPr>
            </p:nvSpPr>
            <p:spPr>
              <a:xfrm>
                <a:off x="0" y="1526825"/>
                <a:ext cx="12458700" cy="5151767"/>
              </a:xfrm>
            </p:spPr>
            <p:txBody>
              <a:bodyPr>
                <a:normAutofit fontScale="92500"/>
              </a:bodyPr>
              <a:lstStyle/>
              <a:p>
                <a:pPr marL="0" indent="0">
                  <a:buNone/>
                </a:pPr>
                <a:endParaRPr lang="en-US" altLang="ja-JP" dirty="0">
                  <a:solidFill>
                    <a:schemeClr val="tx1"/>
                  </a:solidFill>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3900" i="1">
                              <a:latin typeface="Cambria Math" panose="02040503050406030204" pitchFamily="18" charset="0"/>
                              <a:ea typeface="Cambria Math" panose="02040503050406030204" pitchFamily="18" charset="0"/>
                            </a:rPr>
                          </m:ctrlPr>
                        </m:sSubPr>
                        <m:e>
                          <m:r>
                            <m:rPr>
                              <m:sty m:val="p"/>
                            </m:rPr>
                            <a:rPr lang="en-US" altLang="ja-JP" sz="3900">
                              <a:latin typeface="Cambria Math" panose="02040503050406030204" pitchFamily="18" charset="0"/>
                              <a:ea typeface="Cambria Math" panose="02040503050406030204" pitchFamily="18" charset="0"/>
                            </a:rPr>
                            <m:t>FDP</m:t>
                          </m:r>
                        </m:e>
                        <m:sub>
                          <m:r>
                            <a:rPr lang="en-US" altLang="ja-JP" sz="3900" i="1">
                              <a:latin typeface="Cambria Math" panose="02040503050406030204" pitchFamily="18" charset="0"/>
                              <a:ea typeface="Cambria Math" panose="02040503050406030204" pitchFamily="18" charset="0"/>
                            </a:rPr>
                            <m:t>𝑘</m:t>
                          </m:r>
                        </m:sub>
                      </m:sSub>
                      <m:r>
                        <a:rPr lang="en-US" altLang="ja-JP" sz="3900" i="1">
                          <a:latin typeface="Cambria Math" panose="02040503050406030204" pitchFamily="18" charset="0"/>
                          <a:ea typeface="Cambria Math" panose="02040503050406030204" pitchFamily="18" charset="0"/>
                        </a:rPr>
                        <m:t>(</m:t>
                      </m:r>
                      <m:r>
                        <a:rPr lang="en-US" altLang="ja-JP" sz="3900" i="1">
                          <a:latin typeface="Cambria Math" panose="02040503050406030204" pitchFamily="18" charset="0"/>
                          <a:ea typeface="Cambria Math" panose="02040503050406030204" pitchFamily="18" charset="0"/>
                        </a:rPr>
                        <m:t>𝑐</m:t>
                      </m:r>
                      <m:r>
                        <a:rPr lang="en-US" altLang="ja-JP" sz="3900" i="1">
                          <a:latin typeface="Cambria Math" panose="02040503050406030204" pitchFamily="18" charset="0"/>
                          <a:ea typeface="Cambria Math" panose="02040503050406030204" pitchFamily="18" charset="0"/>
                        </a:rPr>
                        <m:t>)=</m:t>
                      </m:r>
                      <m:d>
                        <m:dPr>
                          <m:begChr m:val="{"/>
                          <m:endChr m:val=""/>
                          <m:ctrlPr>
                            <a:rPr lang="en-US" altLang="ja-JP" sz="3900" i="1">
                              <a:solidFill>
                                <a:schemeClr val="tx1"/>
                              </a:solidFill>
                              <a:latin typeface="Cambria Math" panose="02040503050406030204" pitchFamily="18" charset="0"/>
                              <a:ea typeface="Cambria Math" panose="02040503050406030204" pitchFamily="18" charset="0"/>
                            </a:rPr>
                          </m:ctrlPr>
                        </m:dPr>
                        <m:e>
                          <m:eqArr>
                            <m:eqArrPr>
                              <m:ctrlPr>
                                <a:rPr lang="en-US" altLang="ja-JP" sz="3900" i="1">
                                  <a:solidFill>
                                    <a:schemeClr val="tx1"/>
                                  </a:solidFill>
                                  <a:latin typeface="Cambria Math" panose="02040503050406030204" pitchFamily="18" charset="0"/>
                                  <a:ea typeface="Cambria Math" panose="02040503050406030204" pitchFamily="18" charset="0"/>
                                </a:rPr>
                              </m:ctrlPr>
                            </m:eqArrPr>
                            <m:e>
                              <m:f>
                                <m:fPr>
                                  <m:ctrlPr>
                                    <a:rPr lang="en-US" altLang="ja-JP" sz="3900" i="1">
                                      <a:latin typeface="Cambria Math" panose="02040503050406030204" pitchFamily="18" charset="0"/>
                                      <a:ea typeface="Cambria Math" panose="02040503050406030204" pitchFamily="18" charset="0"/>
                                    </a:rPr>
                                  </m:ctrlPr>
                                </m:fPr>
                                <m:num>
                                  <m:sSub>
                                    <m:sSubPr>
                                      <m:ctrlPr>
                                        <a:rPr lang="en-US" altLang="ja-JP" sz="3900" i="1">
                                          <a:latin typeface="Cambria Math" panose="02040503050406030204" pitchFamily="18" charset="0"/>
                                        </a:rPr>
                                      </m:ctrlPr>
                                    </m:sSubPr>
                                    <m:e>
                                      <m:r>
                                        <a:rPr lang="en-US" altLang="ja-JP" sz="3900" i="1">
                                          <a:latin typeface="Cambria Math" panose="02040503050406030204" pitchFamily="18" charset="0"/>
                                        </a:rPr>
                                        <m:t>𝑉</m:t>
                                      </m:r>
                                    </m:e>
                                    <m:sub>
                                      <m:r>
                                        <a:rPr lang="en-US" altLang="ja-JP" sz="3900" i="1">
                                          <a:latin typeface="Cambria Math" panose="02040503050406030204" pitchFamily="18" charset="0"/>
                                        </a:rPr>
                                        <m:t>𝑘</m:t>
                                      </m:r>
                                    </m:sub>
                                  </m:sSub>
                                  <m:d>
                                    <m:dPr>
                                      <m:ctrlPr>
                                        <a:rPr lang="en-US" altLang="ja-JP" sz="3900" i="1">
                                          <a:latin typeface="Cambria Math" panose="02040503050406030204" pitchFamily="18" charset="0"/>
                                        </a:rPr>
                                      </m:ctrlPr>
                                    </m:dPr>
                                    <m:e>
                                      <m:r>
                                        <a:rPr lang="en-US" altLang="ja-JP" sz="3900" i="1">
                                          <a:latin typeface="Cambria Math" panose="02040503050406030204" pitchFamily="18" charset="0"/>
                                        </a:rPr>
                                        <m:t>𝑐</m:t>
                                      </m:r>
                                    </m:e>
                                  </m:d>
                                </m:num>
                                <m:den>
                                  <m:sSub>
                                    <m:sSubPr>
                                      <m:ctrlPr>
                                        <a:rPr lang="en-US" altLang="ja-JP" sz="3900" i="1">
                                          <a:latin typeface="Cambria Math" panose="02040503050406030204" pitchFamily="18" charset="0"/>
                                        </a:rPr>
                                      </m:ctrlPr>
                                    </m:sSubPr>
                                    <m:e>
                                      <m:r>
                                        <a:rPr lang="en-US" altLang="ja-JP" sz="3900" i="1">
                                          <a:latin typeface="Cambria Math" panose="02040503050406030204" pitchFamily="18" charset="0"/>
                                        </a:rPr>
                                        <m:t>𝑅</m:t>
                                      </m:r>
                                    </m:e>
                                    <m:sub>
                                      <m:r>
                                        <a:rPr lang="en-US" altLang="ja-JP" sz="3900" i="1">
                                          <a:latin typeface="Cambria Math" panose="02040503050406030204" pitchFamily="18" charset="0"/>
                                        </a:rPr>
                                        <m:t>𝑘</m:t>
                                      </m:r>
                                    </m:sub>
                                  </m:sSub>
                                  <m:d>
                                    <m:dPr>
                                      <m:ctrlPr>
                                        <a:rPr lang="en-US" altLang="ja-JP" sz="3900" i="1">
                                          <a:latin typeface="Cambria Math" panose="02040503050406030204" pitchFamily="18" charset="0"/>
                                        </a:rPr>
                                      </m:ctrlPr>
                                    </m:dPr>
                                    <m:e>
                                      <m:r>
                                        <a:rPr lang="en-US" altLang="ja-JP" sz="3900" i="1">
                                          <a:latin typeface="Cambria Math" panose="02040503050406030204" pitchFamily="18" charset="0"/>
                                        </a:rPr>
                                        <m:t>𝑐</m:t>
                                      </m:r>
                                    </m:e>
                                  </m:d>
                                </m:den>
                              </m:f>
                              <m:r>
                                <a:rPr lang="en-US" altLang="ja-JP" sz="3900" b="0" i="1" smtClean="0">
                                  <a:latin typeface="Cambria Math" panose="02040503050406030204" pitchFamily="18" charset="0"/>
                                </a:rPr>
                                <m:t>     </m:t>
                              </m:r>
                              <m:r>
                                <a:rPr lang="en-US" altLang="ja-JP" sz="3900" i="1">
                                  <a:solidFill>
                                    <a:schemeClr val="tx1"/>
                                  </a:solidFill>
                                  <a:latin typeface="Cambria Math" panose="02040503050406030204" pitchFamily="18" charset="0"/>
                                  <a:ea typeface="Cambria Math" panose="02040503050406030204" pitchFamily="18" charset="0"/>
                                </a:rPr>
                                <m:t>(</m:t>
                              </m:r>
                              <m:sSub>
                                <m:sSubPr>
                                  <m:ctrlPr>
                                    <a:rPr lang="en-US" altLang="ja-JP" sz="3900" i="1">
                                      <a:latin typeface="Cambria Math" panose="02040503050406030204" pitchFamily="18" charset="0"/>
                                    </a:rPr>
                                  </m:ctrlPr>
                                </m:sSubPr>
                                <m:e>
                                  <m:r>
                                    <a:rPr lang="en-US" altLang="ja-JP" sz="3900" i="1">
                                      <a:latin typeface="Cambria Math" panose="02040503050406030204" pitchFamily="18" charset="0"/>
                                    </a:rPr>
                                    <m:t>𝑅</m:t>
                                  </m:r>
                                </m:e>
                                <m:sub>
                                  <m:r>
                                    <a:rPr lang="en-US" altLang="ja-JP" sz="3900" i="1">
                                      <a:latin typeface="Cambria Math" panose="02040503050406030204" pitchFamily="18" charset="0"/>
                                    </a:rPr>
                                    <m:t>𝑘</m:t>
                                  </m:r>
                                </m:sub>
                              </m:sSub>
                              <m:d>
                                <m:dPr>
                                  <m:ctrlPr>
                                    <a:rPr lang="en-US" altLang="ja-JP" sz="3900" i="1">
                                      <a:latin typeface="Cambria Math" panose="02040503050406030204" pitchFamily="18" charset="0"/>
                                    </a:rPr>
                                  </m:ctrlPr>
                                </m:dPr>
                                <m:e>
                                  <m:r>
                                    <a:rPr lang="en-US" altLang="ja-JP" sz="3900" i="1">
                                      <a:latin typeface="Cambria Math" panose="02040503050406030204" pitchFamily="18" charset="0"/>
                                    </a:rPr>
                                    <m:t>𝑐</m:t>
                                  </m:r>
                                </m:e>
                              </m:d>
                              <m:r>
                                <a:rPr lang="en-US" altLang="ja-JP" sz="3900" i="1" smtClean="0">
                                  <a:solidFill>
                                    <a:schemeClr val="tx1"/>
                                  </a:solidFill>
                                  <a:latin typeface="Cambria Math" panose="02040503050406030204" pitchFamily="18" charset="0"/>
                                  <a:ea typeface="Cambria Math" panose="02040503050406030204" pitchFamily="18" charset="0"/>
                                </a:rPr>
                                <m:t>&gt;</m:t>
                              </m:r>
                              <m:r>
                                <a:rPr lang="en-US" altLang="ja-JP" sz="3900" i="1">
                                  <a:solidFill>
                                    <a:schemeClr val="tx1"/>
                                  </a:solidFill>
                                  <a:latin typeface="Cambria Math" panose="02040503050406030204" pitchFamily="18" charset="0"/>
                                  <a:ea typeface="Cambria Math" panose="02040503050406030204" pitchFamily="18" charset="0"/>
                                </a:rPr>
                                <m:t>0)</m:t>
                              </m:r>
                            </m:e>
                            <m:e>
                              <m:r>
                                <a:rPr lang="en-US" altLang="ja-JP" sz="3900" i="1">
                                  <a:solidFill>
                                    <a:schemeClr val="tx1"/>
                                  </a:solidFill>
                                  <a:latin typeface="Cambria Math" panose="02040503050406030204" pitchFamily="18" charset="0"/>
                                  <a:ea typeface="Cambria Math" panose="02040503050406030204" pitchFamily="18" charset="0"/>
                                </a:rPr>
                                <m:t>0            </m:t>
                              </m:r>
                              <m:r>
                                <a:rPr lang="en-US" altLang="ja-JP" sz="3900" b="0" i="1" smtClean="0">
                                  <a:solidFill>
                                    <a:schemeClr val="tx1"/>
                                  </a:solidFill>
                                  <a:latin typeface="Cambria Math" panose="02040503050406030204" pitchFamily="18" charset="0"/>
                                  <a:ea typeface="Cambria Math" panose="02040503050406030204" pitchFamily="18" charset="0"/>
                                </a:rPr>
                                <m:t>   </m:t>
                              </m:r>
                              <m:r>
                                <a:rPr lang="en-US" altLang="ja-JP" sz="3900" i="1">
                                  <a:solidFill>
                                    <a:schemeClr val="tx1"/>
                                  </a:solidFill>
                                  <a:latin typeface="Cambria Math" panose="02040503050406030204" pitchFamily="18" charset="0"/>
                                  <a:ea typeface="Cambria Math" panose="02040503050406030204" pitchFamily="18" charset="0"/>
                                </a:rPr>
                                <m:t>(</m:t>
                              </m:r>
                              <m:sSub>
                                <m:sSubPr>
                                  <m:ctrlPr>
                                    <a:rPr lang="en-US" altLang="ja-JP" sz="3900" i="1">
                                      <a:latin typeface="Cambria Math" panose="02040503050406030204" pitchFamily="18" charset="0"/>
                                    </a:rPr>
                                  </m:ctrlPr>
                                </m:sSubPr>
                                <m:e>
                                  <m:r>
                                    <a:rPr lang="en-US" altLang="ja-JP" sz="3900" i="1">
                                      <a:latin typeface="Cambria Math" panose="02040503050406030204" pitchFamily="18" charset="0"/>
                                    </a:rPr>
                                    <m:t>𝑅</m:t>
                                  </m:r>
                                </m:e>
                                <m:sub>
                                  <m:r>
                                    <a:rPr lang="en-US" altLang="ja-JP" sz="3900" i="1">
                                      <a:latin typeface="Cambria Math" panose="02040503050406030204" pitchFamily="18" charset="0"/>
                                    </a:rPr>
                                    <m:t>𝑘</m:t>
                                  </m:r>
                                </m:sub>
                              </m:sSub>
                              <m:d>
                                <m:dPr>
                                  <m:ctrlPr>
                                    <a:rPr lang="en-US" altLang="ja-JP" sz="3900" i="1">
                                      <a:latin typeface="Cambria Math" panose="02040503050406030204" pitchFamily="18" charset="0"/>
                                    </a:rPr>
                                  </m:ctrlPr>
                                </m:dPr>
                                <m:e>
                                  <m:r>
                                    <a:rPr lang="en-US" altLang="ja-JP" sz="3900" i="1">
                                      <a:latin typeface="Cambria Math" panose="02040503050406030204" pitchFamily="18" charset="0"/>
                                    </a:rPr>
                                    <m:t>𝑐</m:t>
                                  </m:r>
                                </m:e>
                              </m:d>
                              <m:r>
                                <a:rPr lang="en-US" altLang="ja-JP" sz="3900" b="0" i="1" smtClean="0">
                                  <a:solidFill>
                                    <a:schemeClr val="tx1"/>
                                  </a:solidFill>
                                  <a:latin typeface="Cambria Math" panose="02040503050406030204" pitchFamily="18" charset="0"/>
                                  <a:ea typeface="Cambria Math" panose="02040503050406030204" pitchFamily="18" charset="0"/>
                                </a:rPr>
                                <m:t>=</m:t>
                              </m:r>
                              <m:r>
                                <a:rPr lang="en-US" altLang="ja-JP" sz="3900" i="1">
                                  <a:solidFill>
                                    <a:schemeClr val="tx1"/>
                                  </a:solidFill>
                                  <a:latin typeface="Cambria Math" panose="02040503050406030204" pitchFamily="18" charset="0"/>
                                  <a:ea typeface="Cambria Math" panose="02040503050406030204" pitchFamily="18" charset="0"/>
                                </a:rPr>
                                <m:t>0)</m:t>
                              </m:r>
                            </m:e>
                          </m:eqArr>
                        </m:e>
                      </m:d>
                    </m:oMath>
                  </m:oMathPara>
                </a14:m>
                <a:endParaRPr lang="en-US" altLang="ja-JP" sz="3900" dirty="0">
                  <a:solidFill>
                    <a:schemeClr val="tx1"/>
                  </a:solidFill>
                  <a:ea typeface="Cambria Math" panose="02040503050406030204" pitchFamily="18" charset="0"/>
                </a:endParaRPr>
              </a:p>
              <a:p>
                <a:pPr marL="0" indent="0">
                  <a:buNone/>
                </a:pPr>
                <a:endParaRPr lang="en-US" altLang="ja-JP" sz="1200" i="1" dirty="0">
                  <a:solidFill>
                    <a:schemeClr val="tx1"/>
                  </a:solidFill>
                  <a:latin typeface="Cambria Math" panose="02040503050406030204" pitchFamily="18" charset="0"/>
                  <a:ea typeface="Cambria Math" panose="02040503050406030204" pitchFamily="18" charset="0"/>
                </a:endParaRPr>
              </a:p>
              <a:p>
                <a:pPr marL="0" indent="0">
                  <a:buNone/>
                </a:pPr>
                <a:r>
                  <a:rPr lang="ja-JP" altLang="en-US" sz="3900">
                    <a:ea typeface="Cambria Math" panose="02040503050406030204" pitchFamily="18" charset="0"/>
                  </a:rPr>
                  <a:t>　　　　　　</a:t>
                </a:r>
                <a14:m>
                  <m:oMath xmlns:m="http://schemas.openxmlformats.org/officeDocument/2006/math">
                    <m:sSub>
                      <m:sSubPr>
                        <m:ctrlPr>
                          <a:rPr lang="en-US" altLang="ja-JP" sz="3900" b="0" i="1" smtClean="0">
                            <a:latin typeface="Cambria Math" panose="02040503050406030204" pitchFamily="18" charset="0"/>
                            <a:ea typeface="Cambria Math" panose="02040503050406030204" pitchFamily="18" charset="0"/>
                          </a:rPr>
                        </m:ctrlPr>
                      </m:sSubPr>
                      <m:e>
                        <m:r>
                          <m:rPr>
                            <m:sty m:val="p"/>
                          </m:rPr>
                          <a:rPr lang="en-US" altLang="ja-JP" sz="3900" i="0">
                            <a:latin typeface="Cambria Math" panose="02040503050406030204" pitchFamily="18" charset="0"/>
                            <a:ea typeface="Cambria Math" panose="02040503050406030204" pitchFamily="18" charset="0"/>
                          </a:rPr>
                          <m:t>FDR</m:t>
                        </m:r>
                      </m:e>
                      <m:sub>
                        <m:r>
                          <a:rPr lang="en-US" altLang="ja-JP" sz="3900" b="0" i="1" smtClean="0">
                            <a:latin typeface="Cambria Math" panose="02040503050406030204" pitchFamily="18" charset="0"/>
                            <a:ea typeface="Cambria Math" panose="02040503050406030204" pitchFamily="18" charset="0"/>
                          </a:rPr>
                          <m:t>𝑘</m:t>
                        </m:r>
                      </m:sub>
                    </m:sSub>
                    <m:d>
                      <m:dPr>
                        <m:ctrlPr>
                          <a:rPr lang="en-US" altLang="ja-JP" sz="3900" i="1">
                            <a:latin typeface="Cambria Math" panose="02040503050406030204" pitchFamily="18" charset="0"/>
                            <a:ea typeface="Cambria Math" panose="02040503050406030204" pitchFamily="18" charset="0"/>
                          </a:rPr>
                        </m:ctrlPr>
                      </m:dPr>
                      <m:e>
                        <m:r>
                          <a:rPr lang="en-US" altLang="ja-JP" sz="3900" i="1">
                            <a:latin typeface="Cambria Math" panose="02040503050406030204" pitchFamily="18" charset="0"/>
                            <a:ea typeface="Cambria Math" panose="02040503050406030204" pitchFamily="18" charset="0"/>
                          </a:rPr>
                          <m:t>𝑐</m:t>
                        </m:r>
                      </m:e>
                    </m:d>
                    <m:r>
                      <a:rPr lang="en-US" altLang="ja-JP" sz="3900" i="1">
                        <a:latin typeface="Cambria Math" panose="02040503050406030204" pitchFamily="18" charset="0"/>
                        <a:ea typeface="Cambria Math" panose="02040503050406030204" pitchFamily="18" charset="0"/>
                      </a:rPr>
                      <m:t>=</m:t>
                    </m:r>
                    <m:r>
                      <m:rPr>
                        <m:sty m:val="p"/>
                      </m:rPr>
                      <a:rPr lang="en-US" altLang="ja-JP" sz="3900" i="0">
                        <a:solidFill>
                          <a:schemeClr val="tx1"/>
                        </a:solidFill>
                        <a:latin typeface="Cambria Math" panose="02040503050406030204" pitchFamily="18" charset="0"/>
                        <a:ea typeface="Cambria Math" panose="02040503050406030204" pitchFamily="18" charset="0"/>
                      </a:rPr>
                      <m:t>E</m:t>
                    </m:r>
                    <m:d>
                      <m:dPr>
                        <m:begChr m:val="["/>
                        <m:endChr m:val="]"/>
                        <m:ctrlPr>
                          <a:rPr lang="en-US" altLang="ja-JP" sz="3900" b="0" i="1" smtClean="0">
                            <a:solidFill>
                              <a:schemeClr val="tx1"/>
                            </a:solidFill>
                            <a:latin typeface="Cambria Math" panose="02040503050406030204" pitchFamily="18" charset="0"/>
                            <a:ea typeface="Cambria Math" panose="02040503050406030204" pitchFamily="18" charset="0"/>
                          </a:rPr>
                        </m:ctrlPr>
                      </m:dPr>
                      <m:e>
                        <m:sSub>
                          <m:sSubPr>
                            <m:ctrlPr>
                              <a:rPr lang="en-US" altLang="ja-JP" sz="3900" i="1">
                                <a:latin typeface="Cambria Math" panose="02040503050406030204" pitchFamily="18" charset="0"/>
                                <a:ea typeface="Cambria Math" panose="02040503050406030204" pitchFamily="18" charset="0"/>
                              </a:rPr>
                            </m:ctrlPr>
                          </m:sSubPr>
                          <m:e>
                            <m:r>
                              <m:rPr>
                                <m:sty m:val="p"/>
                              </m:rPr>
                              <a:rPr lang="en-US" altLang="ja-JP" sz="3900">
                                <a:latin typeface="Cambria Math" panose="02040503050406030204" pitchFamily="18" charset="0"/>
                                <a:ea typeface="Cambria Math" panose="02040503050406030204" pitchFamily="18" charset="0"/>
                              </a:rPr>
                              <m:t>FDP</m:t>
                            </m:r>
                          </m:e>
                          <m:sub>
                            <m:r>
                              <a:rPr lang="en-US" altLang="ja-JP" sz="3900" i="1">
                                <a:latin typeface="Cambria Math" panose="02040503050406030204" pitchFamily="18" charset="0"/>
                                <a:ea typeface="Cambria Math" panose="02040503050406030204" pitchFamily="18" charset="0"/>
                              </a:rPr>
                              <m:t>𝑘</m:t>
                            </m:r>
                          </m:sub>
                        </m:sSub>
                        <m:r>
                          <a:rPr lang="en-US" altLang="ja-JP" sz="3900" i="1">
                            <a:latin typeface="Cambria Math" panose="02040503050406030204" pitchFamily="18" charset="0"/>
                            <a:ea typeface="Cambria Math" panose="02040503050406030204" pitchFamily="18" charset="0"/>
                          </a:rPr>
                          <m:t>(</m:t>
                        </m:r>
                        <m:r>
                          <a:rPr lang="en-US" altLang="ja-JP" sz="3900" i="1">
                            <a:latin typeface="Cambria Math" panose="02040503050406030204" pitchFamily="18" charset="0"/>
                            <a:ea typeface="Cambria Math" panose="02040503050406030204" pitchFamily="18" charset="0"/>
                          </a:rPr>
                          <m:t>𝑐</m:t>
                        </m:r>
                        <m:r>
                          <a:rPr lang="en-US" altLang="ja-JP" sz="3900" i="1">
                            <a:latin typeface="Cambria Math" panose="02040503050406030204" pitchFamily="18" charset="0"/>
                            <a:ea typeface="Cambria Math" panose="02040503050406030204" pitchFamily="18" charset="0"/>
                          </a:rPr>
                          <m:t>)</m:t>
                        </m:r>
                      </m:e>
                    </m:d>
                    <m:r>
                      <a:rPr lang="en-US" altLang="ja-JP" sz="3900" b="0" i="1" smtClean="0">
                        <a:solidFill>
                          <a:schemeClr val="tx1"/>
                        </a:solidFill>
                        <a:latin typeface="Cambria Math" panose="02040503050406030204" pitchFamily="18" charset="0"/>
                        <a:ea typeface="Cambria Math" panose="02040503050406030204" pitchFamily="18" charset="0"/>
                      </a:rPr>
                      <m:t> </m:t>
                    </m:r>
                  </m:oMath>
                </a14:m>
                <a:endParaRPr lang="en-US" altLang="ja-JP" sz="3900" dirty="0">
                  <a:solidFill>
                    <a:schemeClr val="tx1"/>
                  </a:solidFill>
                  <a:ea typeface="Cambria Math" panose="02040503050406030204" pitchFamily="18" charset="0"/>
                </a:endParaRPr>
              </a:p>
              <a:p>
                <a:pPr marL="0" indent="0">
                  <a:buNone/>
                </a:pPr>
                <a:r>
                  <a:rPr lang="en-US" altLang="ja-JP" sz="2800" dirty="0">
                    <a:solidFill>
                      <a:schemeClr val="tx1"/>
                    </a:solidFill>
                    <a:latin typeface="Hiragino Kaku Gothic Pro W3" panose="020B0300000000000000" pitchFamily="34" charset="-128"/>
                    <a:ea typeface="Hiragino Kaku Gothic Pro W3" panose="020B0300000000000000" pitchFamily="34" charset="-128"/>
                    <a:cs typeface="ヒラギノ角ゴ Pro W3"/>
                  </a:rPr>
                  <a:t>      </a:t>
                </a:r>
                <a:endParaRPr lang="en-US" altLang="ja-JP" dirty="0">
                  <a:solidFill>
                    <a:schemeClr val="tx1"/>
                  </a:solidFill>
                  <a:latin typeface="Hiragino Kaku Gothic Pro W3" panose="020B0300000000000000" pitchFamily="34" charset="-128"/>
                  <a:ea typeface="Hiragino Kaku Gothic Pro W3" panose="020B0300000000000000" pitchFamily="34" charset="-128"/>
                  <a:cs typeface="ヒラギノ角ゴ Pro W3"/>
                </a:endParaRPr>
              </a:p>
              <a:p>
                <a:pPr marL="0" indent="0">
                  <a:buNone/>
                </a:pPr>
                <a:r>
                  <a:rPr lang="en-US" altLang="ja-JP" sz="3200" dirty="0">
                    <a:ea typeface="Cambria Math" panose="02040503050406030204" pitchFamily="18" charset="0"/>
                  </a:rPr>
                  <a:t>         </a:t>
                </a:r>
                <a14:m>
                  <m:oMath xmlns:m="http://schemas.openxmlformats.org/officeDocument/2006/math">
                    <m:sSub>
                      <m:sSubPr>
                        <m:ctrlPr>
                          <a:rPr lang="en-US" altLang="ja-JP" sz="3200" i="1">
                            <a:latin typeface="Cambria Math" panose="02040503050406030204" pitchFamily="18" charset="0"/>
                            <a:ea typeface="Cambria Math" panose="02040503050406030204" pitchFamily="18" charset="0"/>
                          </a:rPr>
                        </m:ctrlPr>
                      </m:sSubPr>
                      <m:e>
                        <m:r>
                          <m:rPr>
                            <m:sty m:val="p"/>
                          </m:rPr>
                          <a:rPr lang="en-US" altLang="ja-JP" sz="3200" i="0">
                            <a:latin typeface="Cambria Math" panose="02040503050406030204" pitchFamily="18" charset="0"/>
                            <a:ea typeface="Cambria Math" panose="02040503050406030204" pitchFamily="18" charset="0"/>
                          </a:rPr>
                          <m:t>FD</m:t>
                        </m:r>
                        <m:r>
                          <m:rPr>
                            <m:sty m:val="p"/>
                          </m:rPr>
                          <a:rPr lang="en-US" altLang="ja-JP" sz="3200" b="0" i="0" smtClean="0">
                            <a:latin typeface="Cambria Math" panose="02040503050406030204" pitchFamily="18" charset="0"/>
                            <a:ea typeface="Cambria Math" panose="02040503050406030204" pitchFamily="18" charset="0"/>
                          </a:rPr>
                          <m:t>R</m:t>
                        </m:r>
                      </m:e>
                      <m:sub>
                        <m:r>
                          <a:rPr lang="en-US" altLang="ja-JP" sz="3200" i="1">
                            <a:latin typeface="Cambria Math" panose="02040503050406030204" pitchFamily="18" charset="0"/>
                            <a:ea typeface="Cambria Math" panose="02040503050406030204" pitchFamily="18" charset="0"/>
                          </a:rPr>
                          <m:t>𝑘</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𝑐</m:t>
                    </m:r>
                    <m:r>
                      <a:rPr lang="en-US" altLang="ja-JP" sz="3200" i="1">
                        <a:latin typeface="Cambria Math" panose="02040503050406030204" pitchFamily="18" charset="0"/>
                        <a:ea typeface="Cambria Math" panose="02040503050406030204" pitchFamily="18" charset="0"/>
                      </a:rPr>
                      <m:t>)</m:t>
                    </m:r>
                    <m:r>
                      <a:rPr kumimoji="1" lang="en-US" altLang="ja-JP" sz="3000" b="0" i="1" smtClean="0">
                        <a:solidFill>
                          <a:schemeClr val="tx1"/>
                        </a:solidFill>
                        <a:latin typeface="Cambria Math" panose="02040503050406030204" pitchFamily="18" charset="0"/>
                      </a:rPr>
                      <m:t>≤</m:t>
                    </m:r>
                    <m:r>
                      <a:rPr kumimoji="1" lang="en-US" altLang="ja-JP" sz="3000" b="0" i="1" smtClean="0">
                        <a:solidFill>
                          <a:schemeClr val="tx1"/>
                        </a:solidFill>
                        <a:latin typeface="Cambria Math" panose="02040503050406030204" pitchFamily="18" charset="0"/>
                      </a:rPr>
                      <m:t>𝑞</m:t>
                    </m:r>
                  </m:oMath>
                </a14:m>
                <a:r>
                  <a:rPr kumimoji="1" lang="en-US" altLang="ja-JP" sz="3000" dirty="0">
                    <a:solidFill>
                      <a:schemeClr val="tx1"/>
                    </a:solidFill>
                    <a:latin typeface="+mn-ea"/>
                    <a:cs typeface="ヒラギノ角ゴ Pro W3"/>
                  </a:rPr>
                  <a:t>(FDR</a:t>
                </a:r>
                <a:r>
                  <a:rPr kumimoji="1" lang="ja-JP" altLang="en-US" sz="3000">
                    <a:solidFill>
                      <a:schemeClr val="tx1"/>
                    </a:solidFill>
                    <a:latin typeface="+mn-ea"/>
                    <a:cs typeface="ヒラギノ角ゴ Pro W3"/>
                  </a:rPr>
                  <a:t>制御値</a:t>
                </a:r>
                <a:r>
                  <a:rPr kumimoji="1" lang="en-US" altLang="ja-JP" sz="3000" dirty="0">
                    <a:solidFill>
                      <a:schemeClr val="tx1"/>
                    </a:solidFill>
                    <a:latin typeface="+mn-ea"/>
                    <a:cs typeface="ヒラギノ角ゴ Pro W3"/>
                  </a:rPr>
                  <a:t>)</a:t>
                </a:r>
                <a:r>
                  <a:rPr kumimoji="1" lang="ja-JP" altLang="en-US" sz="3000">
                    <a:solidFill>
                      <a:schemeClr val="tx1"/>
                    </a:solidFill>
                    <a:latin typeface="+mn-ea"/>
                    <a:cs typeface="ヒラギノ角ゴ Pro W3"/>
                  </a:rPr>
                  <a:t>を満たす「</a:t>
                </a:r>
                <a:r>
                  <a:rPr lang="ja-JP" altLang="en-US" sz="3000">
                    <a:solidFill>
                      <a:schemeClr val="tx1"/>
                    </a:solidFill>
                    <a:latin typeface="+mn-ea"/>
                    <a:cs typeface="ヒラギノ角ゴ Pro W3"/>
                  </a:rPr>
                  <a:t>調整パラメータ</a:t>
                </a:r>
                <a14:m>
                  <m:oMath xmlns:m="http://schemas.openxmlformats.org/officeDocument/2006/math">
                    <m:r>
                      <a:rPr kumimoji="1" lang="en-US" altLang="ja-JP" sz="3000" b="0" i="1" smtClean="0">
                        <a:solidFill>
                          <a:schemeClr val="tx1"/>
                        </a:solidFill>
                        <a:latin typeface="Cambria Math" panose="02040503050406030204" pitchFamily="18" charset="0"/>
                        <a:cs typeface="ヒラギノ角ゴ Pro W3"/>
                      </a:rPr>
                      <m:t>𝑐</m:t>
                    </m:r>
                  </m:oMath>
                </a14:m>
                <a:r>
                  <a:rPr kumimoji="1" lang="ja-JP" altLang="en-US" sz="3000">
                    <a:solidFill>
                      <a:schemeClr val="tx1"/>
                    </a:solidFill>
                    <a:latin typeface="+mn-ea"/>
                    <a:cs typeface="ヒラギノ角ゴ Pro W3"/>
                  </a:rPr>
                  <a:t>」を発見したい</a:t>
                </a:r>
                <a:endParaRPr kumimoji="1" lang="en-US" altLang="ja-JP" sz="3000" dirty="0">
                  <a:solidFill>
                    <a:schemeClr val="tx1"/>
                  </a:solidFill>
                  <a:latin typeface="+mn-ea"/>
                  <a:cs typeface="ヒラギノ角ゴ Pro W3"/>
                </a:endParaRPr>
              </a:p>
              <a:p>
                <a:pPr marL="0" indent="0">
                  <a:buNone/>
                </a:pPr>
                <a:endParaRPr kumimoji="1" lang="en-US" altLang="ja-JP" sz="500" dirty="0">
                  <a:solidFill>
                    <a:schemeClr val="tx1"/>
                  </a:solidFill>
                  <a:latin typeface="+mn-ea"/>
                  <a:cs typeface="ヒラギノ角ゴ Pro W3"/>
                </a:endParaRPr>
              </a:p>
              <a:p>
                <a:pPr marL="0" indent="0">
                  <a:buNone/>
                </a:pPr>
                <a:r>
                  <a:rPr lang="en-US" altLang="ja-JP" sz="3000" dirty="0">
                    <a:solidFill>
                      <a:schemeClr val="tx1"/>
                    </a:solidFill>
                    <a:ea typeface="Cambria Math" panose="02040503050406030204" pitchFamily="18" charset="0"/>
                  </a:rPr>
                  <a:t>        </a:t>
                </a:r>
                <a:r>
                  <a:rPr lang="ja-JP" altLang="en-US" sz="3000" dirty="0">
                    <a:solidFill>
                      <a:schemeClr val="tx1"/>
                    </a:solidFill>
                    <a:latin typeface="+mn-ea"/>
                  </a:rPr>
                  <a:t>しかし</a:t>
                </a:r>
                <a:r>
                  <a:rPr lang="en-US" altLang="ja-JP" sz="3000" dirty="0">
                    <a:latin typeface="+mn-ea"/>
                  </a:rPr>
                  <a:t>, </a:t>
                </a:r>
                <a14:m>
                  <m:oMath xmlns:m="http://schemas.openxmlformats.org/officeDocument/2006/math">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𝑉</m:t>
                        </m:r>
                      </m:e>
                      <m:sub>
                        <m:r>
                          <a:rPr lang="en-US" altLang="ja-JP" sz="3200" i="1">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𝑐</m:t>
                        </m:r>
                      </m:e>
                    </m:d>
                    <m:r>
                      <m:rPr>
                        <m:aln/>
                      </m:rPr>
                      <a:rPr lang="en-US" altLang="ja-JP" sz="3200" i="1">
                        <a:latin typeface="Cambria Math" panose="02040503050406030204" pitchFamily="18" charset="0"/>
                      </a:rPr>
                      <m:t>≡</m:t>
                    </m:r>
                    <m:r>
                      <a:rPr lang="en-US" altLang="ja-JP" sz="3200" i="1">
                        <a:latin typeface="Cambria Math" panose="02040503050406030204" pitchFamily="18" charset="0"/>
                      </a:rPr>
                      <m:t>#</m:t>
                    </m:r>
                    <m:d>
                      <m:dPr>
                        <m:begChr m:val="{"/>
                        <m:endChr m:val="}"/>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𝑣</m:t>
                            </m:r>
                          </m:e>
                          <m:sub>
                            <m:r>
                              <a:rPr lang="en-US" altLang="ja-JP" sz="3200" i="1">
                                <a:latin typeface="Cambria Math" panose="02040503050406030204" pitchFamily="18" charset="0"/>
                              </a:rPr>
                              <m:t>𝑘𝑗</m:t>
                            </m:r>
                          </m:sub>
                        </m:sSub>
                        <m:r>
                          <a:rPr lang="en-US" altLang="ja-JP" sz="3200" i="1">
                            <a:latin typeface="Cambria Math" panose="02040503050406030204" pitchFamily="18" charset="0"/>
                          </a:rPr>
                          <m:t>=0 </m:t>
                        </m:r>
                        <m:r>
                          <m:rPr>
                            <m:sty m:val="p"/>
                          </m:rPr>
                          <a:rPr lang="en-US" altLang="ja-JP" sz="3200">
                            <a:latin typeface="Cambria Math" panose="02040503050406030204" pitchFamily="18" charset="0"/>
                          </a:rPr>
                          <m:t>an</m:t>
                        </m:r>
                        <m:r>
                          <m:rPr>
                            <m:sty m:val="p"/>
                          </m:rPr>
                          <a:rPr lang="en-US" altLang="ja-JP" sz="3200" smtClean="0">
                            <a:latin typeface="Cambria Math" panose="02040503050406030204" pitchFamily="18" charset="0"/>
                          </a:rPr>
                          <m:t>d</m:t>
                        </m:r>
                        <m:sSub>
                          <m:sSubPr>
                            <m:ctrlPr>
                              <a:rPr lang="en-US" altLang="ja-JP" sz="3200" i="1">
                                <a:latin typeface="Cambria Math" panose="02040503050406030204" pitchFamily="18" charset="0"/>
                                <a:ea typeface="Cambria Math" panose="02040503050406030204" pitchFamily="18" charset="0"/>
                              </a:rPr>
                            </m:ctrlPr>
                          </m:sSubPr>
                          <m:e>
                            <m:r>
                              <a:rPr lang="en-US" altLang="ja-JP" sz="3200" b="0" i="1" smtClean="0">
                                <a:latin typeface="Cambria Math" panose="02040503050406030204" pitchFamily="18" charset="0"/>
                                <a:ea typeface="Cambria Math" panose="02040503050406030204" pitchFamily="18" charset="0"/>
                              </a:rPr>
                              <m:t> </m:t>
                            </m:r>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𝑣</m:t>
                                </m:r>
                              </m:e>
                            </m:acc>
                          </m:e>
                          <m:sub>
                            <m:r>
                              <a:rPr lang="en-US" altLang="ja-JP" sz="3200" i="1">
                                <a:latin typeface="Cambria Math" panose="02040503050406030204" pitchFamily="18" charset="0"/>
                                <a:ea typeface="Cambria Math" panose="02040503050406030204" pitchFamily="18" charset="0"/>
                              </a:rPr>
                              <m:t>𝑘𝑗</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e>
                    </m:d>
                  </m:oMath>
                </a14:m>
                <a:r>
                  <a:rPr kumimoji="1" lang="ja-JP" altLang="en-US" sz="3000">
                    <a:solidFill>
                      <a:schemeClr val="tx1"/>
                    </a:solidFill>
                    <a:latin typeface="+mn-ea"/>
                  </a:rPr>
                  <a:t>の値を実際に観測できない</a:t>
                </a:r>
              </a:p>
            </p:txBody>
          </p:sp>
        </mc:Choice>
        <mc:Fallback xmlns="">
          <p:sp>
            <p:nvSpPr>
              <p:cNvPr id="3" name="コンテンツ プレースホルダー 2">
                <a:extLst>
                  <a:ext uri="{FF2B5EF4-FFF2-40B4-BE49-F238E27FC236}">
                    <a16:creationId xmlns:a16="http://schemas.microsoft.com/office/drawing/2014/main" id="{377634AD-6A9E-254D-8E73-1E0CBC0C04AE}"/>
                  </a:ext>
                </a:extLst>
              </p:cNvPr>
              <p:cNvSpPr>
                <a:spLocks noGrp="1" noRot="1" noChangeAspect="1" noMove="1" noResize="1" noEditPoints="1" noAdjustHandles="1" noChangeArrowheads="1" noChangeShapeType="1" noTextEdit="1"/>
              </p:cNvSpPr>
              <p:nvPr>
                <p:ph idx="1"/>
              </p:nvPr>
            </p:nvSpPr>
            <p:spPr>
              <a:xfrm>
                <a:off x="0" y="1526825"/>
                <a:ext cx="12458700" cy="5151767"/>
              </a:xfrm>
              <a:blipFill>
                <a:blip r:embed="rId3"/>
                <a:stretch>
                  <a:fillRect t="-89189" b="-77641"/>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7D7223E1-0DFB-F149-82D1-9273AFE7400A}"/>
              </a:ext>
            </a:extLst>
          </p:cNvPr>
          <p:cNvSpPr txBox="1">
            <a:spLocks/>
          </p:cNvSpPr>
          <p:nvPr/>
        </p:nvSpPr>
        <p:spPr>
          <a:xfrm>
            <a:off x="0" y="1334"/>
            <a:ext cx="12244898" cy="14811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偽発見率</a:t>
            </a:r>
            <a:r>
              <a:rPr lang="en-US" altLang="ja-JP" b="1" dirty="0">
                <a:solidFill>
                  <a:srgbClr val="0070C0"/>
                </a:solidFill>
                <a:latin typeface="+mj-ea"/>
              </a:rPr>
              <a:t> (False Discovery Rate: FDR) </a:t>
            </a:r>
          </a:p>
          <a:p>
            <a:r>
              <a:rPr lang="ja-JP" altLang="en-US" b="1">
                <a:solidFill>
                  <a:srgbClr val="0070C0"/>
                </a:solidFill>
                <a:latin typeface="+mj-ea"/>
              </a:rPr>
              <a:t>　　　　　　　</a:t>
            </a:r>
            <a:r>
              <a:rPr lang="en-US" altLang="ja-JP" b="1" dirty="0">
                <a:solidFill>
                  <a:srgbClr val="0070C0"/>
                </a:solidFill>
                <a:latin typeface="+mj-ea"/>
              </a:rPr>
              <a:t>(</a:t>
            </a:r>
            <a:r>
              <a:rPr lang="en-US" altLang="ja-JP" b="1" dirty="0" err="1">
                <a:solidFill>
                  <a:srgbClr val="0070C0"/>
                </a:solidFill>
                <a:latin typeface="+mj-ea"/>
              </a:rPr>
              <a:t>Benjamini</a:t>
            </a:r>
            <a:r>
              <a:rPr lang="en-US" altLang="ja-JP" b="1" dirty="0">
                <a:solidFill>
                  <a:srgbClr val="0070C0"/>
                </a:solidFill>
                <a:latin typeface="+mj-ea"/>
              </a:rPr>
              <a:t> and Hochberg, 1995)</a:t>
            </a:r>
            <a:endParaRPr lang="ja-JP" altLang="en-US" b="1">
              <a:solidFill>
                <a:srgbClr val="FFC000"/>
              </a:solidFill>
              <a:latin typeface="+mj-ea"/>
            </a:endParaRPr>
          </a:p>
        </p:txBody>
      </p:sp>
      <p:sp>
        <p:nvSpPr>
          <p:cNvPr id="2" name="右矢印 1">
            <a:extLst>
              <a:ext uri="{FF2B5EF4-FFF2-40B4-BE49-F238E27FC236}">
                <a16:creationId xmlns:a16="http://schemas.microsoft.com/office/drawing/2014/main" id="{60F5DD6B-39AD-39C2-52DA-93F0A36CF810}"/>
              </a:ext>
            </a:extLst>
          </p:cNvPr>
          <p:cNvSpPr/>
          <p:nvPr/>
        </p:nvSpPr>
        <p:spPr>
          <a:xfrm>
            <a:off x="141863" y="5256441"/>
            <a:ext cx="596454" cy="397060"/>
          </a:xfrm>
          <a:prstGeom prst="rightArrow">
            <a:avLst>
              <a:gd name="adj1" fmla="val 50000"/>
              <a:gd name="adj2" fmla="val 45657"/>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7" name="右矢印 6">
            <a:extLst>
              <a:ext uri="{FF2B5EF4-FFF2-40B4-BE49-F238E27FC236}">
                <a16:creationId xmlns:a16="http://schemas.microsoft.com/office/drawing/2014/main" id="{E39A0FC1-0554-D48B-2C03-9F7D09CAE269}"/>
              </a:ext>
            </a:extLst>
          </p:cNvPr>
          <p:cNvSpPr/>
          <p:nvPr/>
        </p:nvSpPr>
        <p:spPr>
          <a:xfrm>
            <a:off x="144631" y="6073533"/>
            <a:ext cx="596454" cy="397060"/>
          </a:xfrm>
          <a:prstGeom prst="rightArrow">
            <a:avLst>
              <a:gd name="adj1" fmla="val 50000"/>
              <a:gd name="adj2" fmla="val 45657"/>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4" name="テキスト ボックス 3">
            <a:extLst>
              <a:ext uri="{FF2B5EF4-FFF2-40B4-BE49-F238E27FC236}">
                <a16:creationId xmlns:a16="http://schemas.microsoft.com/office/drawing/2014/main" id="{F2FF28D9-1132-CE7B-7902-BFDF256F89F0}"/>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8/28</a:t>
            </a:r>
            <a:endParaRPr kumimoji="1" lang="ja-JP" altLang="en-US" sz="2800">
              <a:latin typeface="+mj-ea"/>
              <a:ea typeface="+mj-ea"/>
            </a:endParaRPr>
          </a:p>
        </p:txBody>
      </p:sp>
    </p:spTree>
    <p:extLst>
      <p:ext uri="{BB962C8B-B14F-4D97-AF65-F5344CB8AC3E}">
        <p14:creationId xmlns:p14="http://schemas.microsoft.com/office/powerpoint/2010/main" val="477757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7A9AB-B679-BB1F-AA0A-E8D168577E2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1641F1F-3DE5-8C8A-31F3-5669C19B23FD}"/>
              </a:ext>
            </a:extLst>
          </p:cNvPr>
          <p:cNvSpPr txBox="1"/>
          <p:nvPr/>
        </p:nvSpPr>
        <p:spPr>
          <a:xfrm>
            <a:off x="-71138" y="4645485"/>
            <a:ext cx="12247417" cy="2246769"/>
          </a:xfrm>
          <a:prstGeom prst="rect">
            <a:avLst/>
          </a:prstGeom>
          <a:noFill/>
        </p:spPr>
        <p:txBody>
          <a:bodyPr wrap="square" rtlCol="0">
            <a:spAutoFit/>
          </a:bodyPr>
          <a:lstStyle/>
          <a:p>
            <a:pPr algn="ctr"/>
            <a:r>
              <a:rPr lang="ja-JP" altLang="en-US" sz="2800">
                <a:latin typeface="+mn-ea"/>
              </a:rPr>
              <a:t>正則化パラメータの値によって非ゼロと推定される回帰係数の個数が</a:t>
            </a:r>
            <a:r>
              <a:rPr lang="en-US" altLang="ja-JP" sz="2800" dirty="0">
                <a:latin typeface="+mn-ea"/>
              </a:rPr>
              <a:t> </a:t>
            </a:r>
          </a:p>
          <a:p>
            <a:r>
              <a:rPr lang="en-US" altLang="ja-JP" sz="2800" dirty="0">
                <a:latin typeface="+mn-ea"/>
              </a:rPr>
              <a:t>     </a:t>
            </a:r>
            <a:r>
              <a:rPr lang="ja-JP" altLang="en-US" sz="2800">
                <a:latin typeface="+mn-ea"/>
              </a:rPr>
              <a:t>異なる</a:t>
            </a:r>
            <a:endParaRPr lang="en-US" altLang="ja-JP" sz="2800" dirty="0">
              <a:latin typeface="+mn-ea"/>
            </a:endParaRPr>
          </a:p>
          <a:p>
            <a:pPr algn="ctr"/>
            <a:endParaRPr kumimoji="1" lang="en-US" altLang="ja-JP" sz="2800" b="0" dirty="0">
              <a:latin typeface="+mn-ea"/>
            </a:endParaRPr>
          </a:p>
          <a:p>
            <a:pPr marL="0" indent="0" algn="ctr">
              <a:buNone/>
            </a:pPr>
            <a:r>
              <a:rPr kumimoji="1" lang="ja-JP" altLang="en-US" sz="2800" b="0">
                <a:latin typeface="+mn-ea"/>
              </a:rPr>
              <a:t>正則化パラメータと回帰係数の関係を測る評価指標に</a:t>
            </a:r>
            <a:r>
              <a:rPr kumimoji="1" lang="en-US" altLang="ja-JP" sz="2800" b="0" dirty="0">
                <a:latin typeface="+mn-ea"/>
              </a:rPr>
              <a:t>FDR</a:t>
            </a:r>
            <a:r>
              <a:rPr kumimoji="1" lang="ja-JP" altLang="en-US" sz="2800" b="0">
                <a:latin typeface="+mn-ea"/>
              </a:rPr>
              <a:t>を採用</a:t>
            </a:r>
            <a:endParaRPr kumimoji="1" lang="en-US" altLang="ja-JP" sz="2800" dirty="0">
              <a:latin typeface="+mn-ea"/>
            </a:endParaRPr>
          </a:p>
          <a:p>
            <a:pPr marL="0" indent="0">
              <a:buNone/>
            </a:pPr>
            <a:r>
              <a:rPr kumimoji="1" lang="en-US" altLang="ja-JP" sz="2800" b="0" dirty="0">
                <a:latin typeface="+mn-ea"/>
              </a:rPr>
              <a:t>                                                                                          (Knockoff</a:t>
            </a:r>
            <a:r>
              <a:rPr kumimoji="1" lang="ja-JP" altLang="en-US" sz="2800" b="0">
                <a:latin typeface="+mn-ea"/>
              </a:rPr>
              <a:t>法</a:t>
            </a:r>
            <a:r>
              <a:rPr kumimoji="1" lang="en-US" altLang="ja-JP" sz="2800" b="0" dirty="0">
                <a:latin typeface="+mn-ea"/>
              </a:rPr>
              <a:t>)</a:t>
            </a:r>
          </a:p>
        </p:txBody>
      </p:sp>
      <p:sp>
        <p:nvSpPr>
          <p:cNvPr id="5" name="角丸四角形 4">
            <a:extLst>
              <a:ext uri="{FF2B5EF4-FFF2-40B4-BE49-F238E27FC236}">
                <a16:creationId xmlns:a16="http://schemas.microsoft.com/office/drawing/2014/main" id="{BC750FFF-1088-1349-BCF5-4C22BB59C58B}"/>
              </a:ext>
            </a:extLst>
          </p:cNvPr>
          <p:cNvSpPr/>
          <p:nvPr/>
        </p:nvSpPr>
        <p:spPr>
          <a:xfrm>
            <a:off x="228598" y="1833058"/>
            <a:ext cx="11553673" cy="2725032"/>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FDB50CE-E459-A8B8-096D-A51965E798F4}"/>
              </a:ext>
            </a:extLst>
          </p:cNvPr>
          <p:cNvSpPr/>
          <p:nvPr/>
        </p:nvSpPr>
        <p:spPr>
          <a:xfrm>
            <a:off x="555585" y="1625105"/>
            <a:ext cx="4375230" cy="4159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CF0CFC5-DD89-4895-CA56-FB5416AF221B}"/>
                  </a:ext>
                </a:extLst>
              </p:cNvPr>
              <p:cNvSpPr>
                <a:spLocks noGrp="1"/>
              </p:cNvSpPr>
              <p:nvPr>
                <p:ph idx="1"/>
              </p:nvPr>
            </p:nvSpPr>
            <p:spPr>
              <a:xfrm>
                <a:off x="-55417" y="1503335"/>
                <a:ext cx="12247417" cy="5057349"/>
              </a:xfrm>
              <a:noFill/>
            </p:spPr>
            <p:txBody>
              <a:bodyPr>
                <a:normAutofit/>
              </a:bodyPr>
              <a:lstStyle/>
              <a:p>
                <a:pPr marL="0" indent="0">
                  <a:buNone/>
                </a:pPr>
                <a:r>
                  <a:rPr kumimoji="1" lang="en-US" altLang="ja-JP" sz="3200" b="0" dirty="0">
                    <a:latin typeface="+mn-ea"/>
                  </a:rPr>
                  <a:t>     lasso</a:t>
                </a:r>
                <a:r>
                  <a:rPr kumimoji="1" lang="en-US" altLang="ja-JP" sz="3200" b="1" dirty="0">
                    <a:solidFill>
                      <a:srgbClr val="0070C0"/>
                    </a:solidFill>
                    <a:latin typeface="+mj-ea"/>
                  </a:rPr>
                  <a:t> </a:t>
                </a:r>
                <a:r>
                  <a:rPr lang="en-US" altLang="ja-JP" sz="3200" b="1" dirty="0">
                    <a:latin typeface="+mj-ea"/>
                  </a:rPr>
                  <a:t>(</a:t>
                </a:r>
                <a:r>
                  <a:rPr lang="en-US" altLang="ja-JP" sz="3200" b="1" dirty="0" err="1">
                    <a:latin typeface="+mj-ea"/>
                  </a:rPr>
                  <a:t>Tibshirani</a:t>
                </a:r>
                <a:r>
                  <a:rPr lang="en-US" altLang="ja-JP" sz="3200" b="1" dirty="0">
                    <a:latin typeface="+mj-ea"/>
                  </a:rPr>
                  <a:t>, 1996)</a:t>
                </a:r>
                <a:endParaRPr kumimoji="1" lang="en-US" altLang="ja-JP" sz="3200" b="0" dirty="0">
                  <a:latin typeface="+mn-ea"/>
                </a:endParaRPr>
              </a:p>
              <a:p>
                <a:pPr marL="0" indent="0">
                  <a:buNone/>
                </a:pPr>
                <a14:m>
                  <m:oMathPara xmlns:m="http://schemas.openxmlformats.org/officeDocument/2006/math">
                    <m:oMathParaPr>
                      <m:jc m:val="centerGroup"/>
                    </m:oMathParaPr>
                    <m:oMath xmlns:m="http://schemas.openxmlformats.org/officeDocument/2006/math">
                      <m:func>
                        <m:funcPr>
                          <m:ctrlPr>
                            <a:rPr kumimoji="1" lang="en-US" altLang="ja-JP" sz="3600" b="0" i="1" smtClean="0">
                              <a:latin typeface="Cambria Math" panose="02040503050406030204" pitchFamily="18" charset="0"/>
                            </a:rPr>
                          </m:ctrlPr>
                        </m:funcPr>
                        <m:fName>
                          <m:limLow>
                            <m:limLowPr>
                              <m:ctrlPr>
                                <a:rPr kumimoji="1" lang="en-US" altLang="ja-JP" sz="3600" b="0" i="1" smtClean="0">
                                  <a:latin typeface="Cambria Math" panose="02040503050406030204" pitchFamily="18" charset="0"/>
                                </a:rPr>
                              </m:ctrlPr>
                            </m:limLowPr>
                            <m:e>
                              <m:r>
                                <m:rPr>
                                  <m:sty m:val="p"/>
                                </m:rPr>
                                <a:rPr kumimoji="1" lang="en-US" altLang="ja-JP" sz="3600" b="0" i="0" smtClean="0">
                                  <a:latin typeface="Cambria Math" panose="02040503050406030204" pitchFamily="18" charset="0"/>
                                </a:rPr>
                                <m:t>min</m:t>
                              </m:r>
                            </m:e>
                            <m:lim>
                              <m:r>
                                <a:rPr kumimoji="1" lang="en-US" altLang="ja-JP" sz="3600" b="1" i="1" smtClean="0">
                                  <a:latin typeface="Cambria Math" panose="02040503050406030204" pitchFamily="18" charset="0"/>
                                  <a:ea typeface="Cambria Math" panose="02040503050406030204" pitchFamily="18" charset="0"/>
                                </a:rPr>
                                <m:t>𝜷</m:t>
                              </m:r>
                            </m:lim>
                          </m:limLow>
                        </m:fName>
                        <m:e>
                          <m:r>
                            <a:rPr kumimoji="1" lang="en-US" altLang="ja-JP" sz="3600" b="0" i="1" smtClean="0">
                              <a:latin typeface="Cambria Math" panose="02040503050406030204" pitchFamily="18" charset="0"/>
                            </a:rPr>
                            <m:t>{</m:t>
                          </m:r>
                          <m:f>
                            <m:fPr>
                              <m:ctrlPr>
                                <a:rPr kumimoji="1" lang="en-US" altLang="ja-JP" sz="3600" b="0" i="1" smtClean="0">
                                  <a:latin typeface="Cambria Math" panose="02040503050406030204" pitchFamily="18" charset="0"/>
                                </a:rPr>
                              </m:ctrlPr>
                            </m:fPr>
                            <m:num>
                              <m:r>
                                <a:rPr kumimoji="1" lang="en-US" altLang="ja-JP" sz="3600" b="0" i="1" smtClean="0">
                                  <a:latin typeface="Cambria Math" panose="02040503050406030204" pitchFamily="18" charset="0"/>
                                </a:rPr>
                                <m:t>1</m:t>
                              </m:r>
                            </m:num>
                            <m:den>
                              <m:r>
                                <a:rPr kumimoji="1" lang="en-US" altLang="ja-JP" sz="3600" b="0" i="1" smtClean="0">
                                  <a:latin typeface="Cambria Math" panose="02040503050406030204" pitchFamily="18" charset="0"/>
                                </a:rPr>
                                <m:t>2</m:t>
                              </m:r>
                              <m:r>
                                <a:rPr kumimoji="1" lang="en-US" altLang="ja-JP" sz="3600" b="0" i="1" smtClean="0">
                                  <a:latin typeface="Cambria Math" panose="02040503050406030204" pitchFamily="18" charset="0"/>
                                </a:rPr>
                                <m:t>𝑛</m:t>
                              </m:r>
                            </m:den>
                          </m:f>
                          <m:sSubSup>
                            <m:sSubSupPr>
                              <m:ctrlPr>
                                <a:rPr kumimoji="1" lang="en-US" altLang="ja-JP" sz="3600" b="0" i="1" smtClean="0">
                                  <a:latin typeface="Cambria Math" panose="02040503050406030204" pitchFamily="18" charset="0"/>
                                </a:rPr>
                              </m:ctrlPr>
                            </m:sSubSupPr>
                            <m:e>
                              <m:d>
                                <m:dPr>
                                  <m:begChr m:val="‖"/>
                                  <m:endChr m:val="‖"/>
                                  <m:ctrlPr>
                                    <a:rPr lang="en-US" altLang="ja-JP" sz="3600" i="1">
                                      <a:latin typeface="Cambria Math" panose="02040503050406030204" pitchFamily="18" charset="0"/>
                                    </a:rPr>
                                  </m:ctrlPr>
                                </m:dPr>
                                <m:e>
                                  <m:r>
                                    <a:rPr lang="en-US" altLang="ja-JP" sz="3600" b="1" i="1">
                                      <a:latin typeface="Cambria Math" panose="02040503050406030204" pitchFamily="18" charset="0"/>
                                    </a:rPr>
                                    <m:t>𝒚</m:t>
                                  </m:r>
                                  <m:r>
                                    <a:rPr lang="en-US" altLang="ja-JP" sz="3600" i="1">
                                      <a:latin typeface="Cambria Math" panose="02040503050406030204" pitchFamily="18" charset="0"/>
                                    </a:rPr>
                                    <m:t>−</m:t>
                                  </m:r>
                                  <m:r>
                                    <a:rPr lang="en-US" altLang="ja-JP" sz="3600" i="1">
                                      <a:latin typeface="Cambria Math" panose="02040503050406030204" pitchFamily="18" charset="0"/>
                                    </a:rPr>
                                    <m:t>𝑋</m:t>
                                  </m:r>
                                  <m:r>
                                    <a:rPr lang="en-US" altLang="ja-JP" sz="3600" b="1" i="1">
                                      <a:latin typeface="Cambria Math" panose="02040503050406030204" pitchFamily="18" charset="0"/>
                                      <a:ea typeface="Cambria Math" panose="02040503050406030204" pitchFamily="18" charset="0"/>
                                    </a:rPr>
                                    <m:t>𝜷</m:t>
                                  </m:r>
                                </m:e>
                              </m:d>
                            </m:e>
                            <m:sub>
                              <m:r>
                                <a:rPr kumimoji="1" lang="en-US" altLang="ja-JP" sz="3600" b="0" i="1" smtClean="0">
                                  <a:latin typeface="Cambria Math" panose="02040503050406030204" pitchFamily="18" charset="0"/>
                                </a:rPr>
                                <m:t>2</m:t>
                              </m:r>
                            </m:sub>
                            <m:sup>
                              <m:r>
                                <a:rPr kumimoji="1" lang="en-US" altLang="ja-JP" sz="3600" b="0" i="1" smtClean="0">
                                  <a:latin typeface="Cambria Math" panose="02040503050406030204" pitchFamily="18" charset="0"/>
                                </a:rPr>
                                <m:t>2</m:t>
                              </m:r>
                            </m:sup>
                          </m:sSubSup>
                          <m:r>
                            <a:rPr kumimoji="1" lang="en-US" altLang="ja-JP" sz="3600" b="0" i="1" smtClean="0">
                              <a:latin typeface="Cambria Math" panose="02040503050406030204" pitchFamily="18" charset="0"/>
                            </a:rPr>
                            <m:t>+</m:t>
                          </m:r>
                          <m:r>
                            <a:rPr kumimoji="1" lang="en-US" altLang="ja-JP" sz="3600" b="0" i="1" smtClean="0">
                              <a:latin typeface="Cambria Math" panose="02040503050406030204" pitchFamily="18" charset="0"/>
                              <a:ea typeface="Cambria Math" panose="02040503050406030204" pitchFamily="18" charset="0"/>
                            </a:rPr>
                            <m:t>𝜆</m:t>
                          </m:r>
                          <m:sSub>
                            <m:sSubPr>
                              <m:ctrlPr>
                                <a:rPr kumimoji="1" lang="en-US" altLang="ja-JP" sz="3600" b="0" i="1" smtClean="0">
                                  <a:latin typeface="Cambria Math" panose="02040503050406030204" pitchFamily="18" charset="0"/>
                                  <a:ea typeface="Cambria Math" panose="02040503050406030204" pitchFamily="18" charset="0"/>
                                </a:rPr>
                              </m:ctrlPr>
                            </m:sSubPr>
                            <m:e>
                              <m:d>
                                <m:dPr>
                                  <m:begChr m:val="‖"/>
                                  <m:endChr m:val="‖"/>
                                  <m:ctrlPr>
                                    <a:rPr lang="en-US" altLang="ja-JP" sz="3600" i="1">
                                      <a:latin typeface="Cambria Math" panose="02040503050406030204" pitchFamily="18" charset="0"/>
                                    </a:rPr>
                                  </m:ctrlPr>
                                </m:dPr>
                                <m:e>
                                  <m:r>
                                    <a:rPr lang="en-US" altLang="ja-JP" sz="3600" b="1" i="1">
                                      <a:latin typeface="Cambria Math" panose="02040503050406030204" pitchFamily="18" charset="0"/>
                                      <a:ea typeface="Cambria Math" panose="02040503050406030204" pitchFamily="18" charset="0"/>
                                    </a:rPr>
                                    <m:t>𝜷</m:t>
                                  </m:r>
                                </m:e>
                              </m:d>
                            </m:e>
                            <m:sub>
                              <m:r>
                                <a:rPr kumimoji="1" lang="en-US" altLang="ja-JP" sz="3600" b="0" i="1" smtClean="0">
                                  <a:latin typeface="Cambria Math" panose="02040503050406030204" pitchFamily="18" charset="0"/>
                                  <a:ea typeface="Cambria Math" panose="02040503050406030204" pitchFamily="18" charset="0"/>
                                </a:rPr>
                                <m:t>1</m:t>
                              </m:r>
                            </m:sub>
                          </m:sSub>
                          <m:r>
                            <a:rPr kumimoji="1" lang="en-US" altLang="ja-JP" sz="3600" b="0" i="1" smtClean="0">
                              <a:latin typeface="Cambria Math" panose="02040503050406030204" pitchFamily="18" charset="0"/>
                            </a:rPr>
                            <m:t>}</m:t>
                          </m:r>
                        </m:e>
                      </m:func>
                    </m:oMath>
                  </m:oMathPara>
                </a14:m>
                <a:endParaRPr kumimoji="1" lang="en-US" altLang="ja-JP" sz="4400" b="0" dirty="0"/>
              </a:p>
              <a:p>
                <a:pPr marL="0" indent="0">
                  <a:buNone/>
                </a:pPr>
                <a:endParaRPr kumimoji="1" lang="en-US" altLang="ja-JP" sz="1200" b="0" dirty="0"/>
              </a:p>
              <a:p>
                <a:pPr marL="0" indent="0">
                  <a:buNone/>
                </a:pPr>
                <a:r>
                  <a:rPr lang="en-US" altLang="ja-JP" sz="2600" dirty="0">
                    <a:latin typeface="+mn-ea"/>
                  </a:rPr>
                  <a:t>    </a:t>
                </a:r>
                <a:r>
                  <a:rPr lang="ja-JP" altLang="en-US" sz="2600">
                    <a:latin typeface="+mn-ea"/>
                  </a:rPr>
                  <a:t>目的変数</a:t>
                </a:r>
                <a14:m>
                  <m:oMath xmlns:m="http://schemas.openxmlformats.org/officeDocument/2006/math">
                    <m:r>
                      <a:rPr lang="en-US" altLang="ja-JP" sz="2600" b="1" i="1">
                        <a:latin typeface="Cambria Math" panose="02040503050406030204" pitchFamily="18" charset="0"/>
                      </a:rPr>
                      <m:t>𝒚</m:t>
                    </m:r>
                    <m:r>
                      <a:rPr lang="ja-JP" altLang="en-US" sz="2600" b="1" i="1">
                        <a:latin typeface="Cambria Math" panose="02040503050406030204" pitchFamily="18" charset="0"/>
                      </a:rPr>
                      <m:t>：</m:t>
                    </m:r>
                    <m:sSup>
                      <m:sSupPr>
                        <m:ctrlPr>
                          <a:rPr lang="en-US" altLang="ja-JP" sz="2600" i="1">
                            <a:latin typeface="Cambria Math" panose="02040503050406030204" pitchFamily="18" charset="0"/>
                          </a:rPr>
                        </m:ctrlPr>
                      </m:sSupPr>
                      <m:e>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𝑦</m:t>
                                </m:r>
                              </m:e>
                              <m:sub>
                                <m:r>
                                  <a:rPr lang="en-US" altLang="ja-JP" sz="2600" i="1">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𝑦</m:t>
                                </m:r>
                              </m:e>
                              <m:sub>
                                <m:r>
                                  <a:rPr lang="en-US" altLang="ja-JP" sz="2600" i="1">
                                    <a:latin typeface="Cambria Math" panose="02040503050406030204" pitchFamily="18" charset="0"/>
                                  </a:rPr>
                                  <m:t>𝑛</m:t>
                                </m:r>
                              </m:sub>
                            </m:sSub>
                          </m:e>
                        </m:d>
                      </m:e>
                      <m:sup>
                        <m:r>
                          <a:rPr lang="en-US" altLang="ja-JP" sz="2600" i="1">
                            <a:latin typeface="Cambria Math" panose="02040503050406030204" pitchFamily="18" charset="0"/>
                          </a:rPr>
                          <m:t>𝑇</m:t>
                        </m:r>
                      </m:sup>
                    </m:sSup>
                  </m:oMath>
                </a14:m>
                <a:r>
                  <a:rPr lang="en-US" altLang="ja-JP" sz="2600" dirty="0">
                    <a:latin typeface="+mn-ea"/>
                  </a:rPr>
                  <a:t>, </a:t>
                </a:r>
                <a:r>
                  <a:rPr lang="ja-JP" altLang="en-US" sz="2600">
                    <a:latin typeface="+mn-ea"/>
                  </a:rPr>
                  <a:t>回帰係数</a:t>
                </a:r>
                <a14:m>
                  <m:oMath xmlns:m="http://schemas.openxmlformats.org/officeDocument/2006/math">
                    <m:r>
                      <a:rPr lang="en-US" altLang="ja-JP" sz="2600" b="1" i="1">
                        <a:latin typeface="Cambria Math" panose="02040503050406030204" pitchFamily="18" charset="0"/>
                      </a:rPr>
                      <m:t>𝜷</m:t>
                    </m:r>
                    <m:r>
                      <a:rPr lang="ja-JP" altLang="en-US" sz="2600" b="1" i="1">
                        <a:latin typeface="Cambria Math" panose="02040503050406030204" pitchFamily="18" charset="0"/>
                      </a:rPr>
                      <m:t>：</m:t>
                    </m:r>
                    <m:sSup>
                      <m:sSupPr>
                        <m:ctrlPr>
                          <a:rPr lang="en-US" altLang="ja-JP" sz="2600" i="1">
                            <a:latin typeface="Cambria Math" panose="02040503050406030204" pitchFamily="18" charset="0"/>
                          </a:rPr>
                        </m:ctrlPr>
                      </m:sSupPr>
                      <m:e>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𝛽</m:t>
                                </m:r>
                              </m:e>
                              <m:sub>
                                <m:r>
                                  <a:rPr lang="en-US" altLang="ja-JP" sz="2600" i="1">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𝛽</m:t>
                                </m:r>
                              </m:e>
                              <m:sub>
                                <m:r>
                                  <a:rPr lang="en-US" altLang="ja-JP" sz="2600" b="0" i="1" smtClean="0">
                                    <a:latin typeface="Cambria Math" panose="02040503050406030204" pitchFamily="18" charset="0"/>
                                  </a:rPr>
                                  <m:t>𝑝</m:t>
                                </m:r>
                              </m:sub>
                            </m:sSub>
                          </m:e>
                        </m:d>
                      </m:e>
                      <m:sup>
                        <m:r>
                          <a:rPr lang="en-US" altLang="ja-JP" sz="2600" i="1">
                            <a:latin typeface="Cambria Math" panose="02040503050406030204" pitchFamily="18" charset="0"/>
                          </a:rPr>
                          <m:t>𝑇</m:t>
                        </m:r>
                      </m:sup>
                    </m:sSup>
                  </m:oMath>
                </a14:m>
                <a:r>
                  <a:rPr lang="en-US" altLang="ja-JP" sz="2600" dirty="0">
                    <a:latin typeface="+mn-ea"/>
                  </a:rPr>
                  <a:t>, </a:t>
                </a:r>
              </a:p>
              <a:p>
                <a:pPr marL="0" indent="0">
                  <a:buNone/>
                </a:pPr>
                <a:r>
                  <a:rPr lang="en-US" altLang="ja-JP" sz="2600" dirty="0">
                    <a:latin typeface="+mn-ea"/>
                  </a:rPr>
                  <a:t>    </a:t>
                </a:r>
                <a:r>
                  <a:rPr lang="ja-JP" altLang="en-US" sz="2600">
                    <a:latin typeface="+mn-ea"/>
                  </a:rPr>
                  <a:t>計画行列</a:t>
                </a:r>
                <a14:m>
                  <m:oMath xmlns:m="http://schemas.openxmlformats.org/officeDocument/2006/math">
                    <m:r>
                      <a:rPr lang="en-US" altLang="ja-JP" sz="2600" i="1">
                        <a:latin typeface="Cambria Math" panose="02040503050406030204" pitchFamily="18" charset="0"/>
                      </a:rPr>
                      <m:t>𝑋</m:t>
                    </m:r>
                    <m:r>
                      <a:rPr lang="ja-JP" altLang="en-US" sz="2600" i="1">
                        <a:latin typeface="Cambria Math" panose="02040503050406030204" pitchFamily="18" charset="0"/>
                      </a:rPr>
                      <m:t>：</m:t>
                    </m:r>
                    <m:sSup>
                      <m:sSupPr>
                        <m:ctrlPr>
                          <a:rPr lang="en-US" altLang="ja-JP" sz="2600" b="0" i="1" smtClean="0">
                            <a:latin typeface="Cambria Math" panose="02040503050406030204" pitchFamily="18" charset="0"/>
                          </a:rPr>
                        </m:ctrlPr>
                      </m:sSupPr>
                      <m:e>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b="1" i="1">
                                    <a:latin typeface="Cambria Math" panose="02040503050406030204" pitchFamily="18" charset="0"/>
                                  </a:rPr>
                                  <m:t>𝒙</m:t>
                                </m:r>
                              </m:e>
                              <m:sub>
                                <m:r>
                                  <a:rPr lang="en-US" altLang="ja-JP" sz="2600" b="0" i="1" smtClean="0">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b="1" i="1">
                                    <a:latin typeface="Cambria Math" panose="02040503050406030204" pitchFamily="18" charset="0"/>
                                  </a:rPr>
                                  <m:t>𝒙</m:t>
                                </m:r>
                              </m:e>
                              <m:sub>
                                <m:r>
                                  <a:rPr lang="en-US" altLang="ja-JP" sz="2600" b="0" i="1" smtClean="0">
                                    <a:latin typeface="Cambria Math" panose="02040503050406030204" pitchFamily="18" charset="0"/>
                                  </a:rPr>
                                  <m:t>𝑛</m:t>
                                </m:r>
                              </m:sub>
                            </m:sSub>
                          </m:e>
                        </m:d>
                      </m:e>
                      <m:sup>
                        <m:r>
                          <a:rPr lang="en-US" altLang="ja-JP" sz="2600" b="0" i="1" smtClean="0">
                            <a:latin typeface="Cambria Math" panose="02040503050406030204" pitchFamily="18" charset="0"/>
                          </a:rPr>
                          <m:t>𝑇</m:t>
                        </m:r>
                      </m:sup>
                    </m:sSup>
                  </m:oMath>
                </a14:m>
                <a:r>
                  <a:rPr lang="en-US" altLang="ja-JP" sz="2600" dirty="0">
                    <a:latin typeface="+mn-ea"/>
                  </a:rPr>
                  <a:t>,</a:t>
                </a:r>
                <a:r>
                  <a:rPr lang="ja-JP" altLang="en-US" sz="2600">
                    <a:latin typeface="+mn-ea"/>
                  </a:rPr>
                  <a:t>説明変数</a:t>
                </a:r>
                <a14:m>
                  <m:oMath xmlns:m="http://schemas.openxmlformats.org/officeDocument/2006/math">
                    <m:sSub>
                      <m:sSubPr>
                        <m:ctrlPr>
                          <a:rPr lang="en-US" altLang="ja-JP" sz="2600" i="1">
                            <a:latin typeface="Cambria Math" panose="02040503050406030204" pitchFamily="18" charset="0"/>
                          </a:rPr>
                        </m:ctrlPr>
                      </m:sSubPr>
                      <m:e>
                        <m:r>
                          <a:rPr lang="en-US" altLang="ja-JP" sz="2600" b="1" i="1">
                            <a:latin typeface="Cambria Math" panose="02040503050406030204" pitchFamily="18" charset="0"/>
                          </a:rPr>
                          <m:t>𝒙</m:t>
                        </m:r>
                      </m:e>
                      <m:sub>
                        <m:r>
                          <a:rPr lang="en-US" altLang="ja-JP" sz="2600" b="0" i="1" smtClean="0">
                            <a:latin typeface="Cambria Math" panose="02040503050406030204" pitchFamily="18" charset="0"/>
                          </a:rPr>
                          <m:t>𝑖</m:t>
                        </m:r>
                      </m:sub>
                    </m:sSub>
                    <m:r>
                      <a:rPr lang="ja-JP" altLang="en-US" sz="2600" i="1">
                        <a:latin typeface="Cambria Math" panose="02040503050406030204" pitchFamily="18" charset="0"/>
                      </a:rPr>
                      <m:t>：</m:t>
                    </m:r>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𝑥</m:t>
                            </m:r>
                          </m:e>
                          <m:sub>
                            <m:r>
                              <a:rPr lang="en-US" altLang="ja-JP" sz="2600" b="0" i="1" smtClean="0">
                                <a:latin typeface="Cambria Math" panose="02040503050406030204" pitchFamily="18" charset="0"/>
                              </a:rPr>
                              <m:t>𝑖</m:t>
                            </m:r>
                            <m:r>
                              <a:rPr lang="en-US" altLang="ja-JP" sz="2600" i="1">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𝑥</m:t>
                            </m:r>
                          </m:e>
                          <m:sub>
                            <m:r>
                              <a:rPr lang="en-US" altLang="ja-JP" sz="2600" b="0" i="1" smtClean="0">
                                <a:latin typeface="Cambria Math" panose="02040503050406030204" pitchFamily="18" charset="0"/>
                              </a:rPr>
                              <m:t>𝑖</m:t>
                            </m:r>
                            <m:r>
                              <a:rPr lang="en-US" altLang="ja-JP" sz="2600" i="1">
                                <a:latin typeface="Cambria Math" panose="02040503050406030204" pitchFamily="18" charset="0"/>
                              </a:rPr>
                              <m:t>𝑝</m:t>
                            </m:r>
                          </m:sub>
                        </m:sSub>
                      </m:e>
                    </m:d>
                  </m:oMath>
                </a14:m>
                <a:endParaRPr lang="en-US" altLang="ja-JP" dirty="0"/>
              </a:p>
              <a:p>
                <a:pPr marL="0" indent="0">
                  <a:buNone/>
                </a:pPr>
                <a:endParaRPr kumimoji="1" lang="en-US" altLang="ja-JP" sz="3000" b="0" dirty="0">
                  <a:latin typeface="+mn-ea"/>
                </a:endParaRPr>
              </a:p>
              <a:p>
                <a:pPr marL="0" indent="0">
                  <a:buNone/>
                </a:pPr>
                <a:r>
                  <a:rPr kumimoji="1" lang="ja-JP" altLang="en-US" sz="3000" b="0">
                    <a:latin typeface="+mn-ea"/>
                  </a:rPr>
                  <a:t>　　　</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4CF0CFC5-DD89-4895-CA56-FB5416AF221B}"/>
                  </a:ext>
                </a:extLst>
              </p:cNvPr>
              <p:cNvSpPr>
                <a:spLocks noGrp="1" noRot="1" noChangeAspect="1" noMove="1" noResize="1" noEditPoints="1" noAdjustHandles="1" noChangeArrowheads="1" noChangeShapeType="1" noTextEdit="1"/>
              </p:cNvSpPr>
              <p:nvPr>
                <p:ph idx="1"/>
              </p:nvPr>
            </p:nvSpPr>
            <p:spPr>
              <a:xfrm>
                <a:off x="-55417" y="1503335"/>
                <a:ext cx="12247417" cy="5057349"/>
              </a:xfrm>
              <a:blipFill>
                <a:blip r:embed="rId3"/>
                <a:stretch>
                  <a:fillRect t="-2506"/>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1C2E9318-D96D-B70E-D1A7-4EBDB7E46006}"/>
              </a:ext>
            </a:extLst>
          </p:cNvPr>
          <p:cNvSpPr/>
          <p:nvPr/>
        </p:nvSpPr>
        <p:spPr>
          <a:xfrm>
            <a:off x="7451990" y="2218562"/>
            <a:ext cx="280662" cy="5249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F3D4167-F6A2-5645-DD4C-A958991EE1FD}"/>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6" name="右矢印 5">
            <a:extLst>
              <a:ext uri="{FF2B5EF4-FFF2-40B4-BE49-F238E27FC236}">
                <a16:creationId xmlns:a16="http://schemas.microsoft.com/office/drawing/2014/main" id="{5A481815-E787-B546-F5CD-FFA8FF3DB8FA}"/>
              </a:ext>
            </a:extLst>
          </p:cNvPr>
          <p:cNvSpPr/>
          <p:nvPr/>
        </p:nvSpPr>
        <p:spPr>
          <a:xfrm rot="5400000">
            <a:off x="5735064" y="5249158"/>
            <a:ext cx="540739" cy="747854"/>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2" name="テキスト ボックス 11">
            <a:extLst>
              <a:ext uri="{FF2B5EF4-FFF2-40B4-BE49-F238E27FC236}">
                <a16:creationId xmlns:a16="http://schemas.microsoft.com/office/drawing/2014/main" id="{4670B396-F1F3-C507-87AB-9F4C4AEDB14B}"/>
              </a:ext>
            </a:extLst>
          </p:cNvPr>
          <p:cNvSpPr txBox="1"/>
          <p:nvPr/>
        </p:nvSpPr>
        <p:spPr>
          <a:xfrm>
            <a:off x="7251811" y="2847490"/>
            <a:ext cx="3057247" cy="523220"/>
          </a:xfrm>
          <a:prstGeom prst="rect">
            <a:avLst/>
          </a:prstGeom>
          <a:noFill/>
        </p:spPr>
        <p:txBody>
          <a:bodyPr wrap="none" rtlCol="0">
            <a:spAutoFit/>
          </a:bodyPr>
          <a:lstStyle/>
          <a:p>
            <a:r>
              <a:rPr lang="ja-JP" altLang="en-US" sz="2800">
                <a:solidFill>
                  <a:srgbClr val="FF0000"/>
                </a:solidFill>
                <a:latin typeface="+mn-ea"/>
              </a:rPr>
              <a:t>正則化パラメータ</a:t>
            </a:r>
            <a:endParaRPr kumimoji="1" lang="ja-JP" altLang="en-US" sz="2800">
              <a:solidFill>
                <a:srgbClr val="FF0000"/>
              </a:solidFill>
              <a:latin typeface="+mn-ea"/>
            </a:endParaRPr>
          </a:p>
        </p:txBody>
      </p:sp>
      <p:sp>
        <p:nvSpPr>
          <p:cNvPr id="7" name="テキスト ボックス 6">
            <a:extLst>
              <a:ext uri="{FF2B5EF4-FFF2-40B4-BE49-F238E27FC236}">
                <a16:creationId xmlns:a16="http://schemas.microsoft.com/office/drawing/2014/main" id="{22087511-D596-3E11-76CB-3C8A7D2B7EEE}"/>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9/28</a:t>
            </a:r>
            <a:endParaRPr kumimoji="1" lang="ja-JP" altLang="en-US" sz="2800">
              <a:latin typeface="+mj-ea"/>
              <a:ea typeface="+mj-ea"/>
            </a:endParaRPr>
          </a:p>
        </p:txBody>
      </p:sp>
    </p:spTree>
    <p:extLst>
      <p:ext uri="{BB962C8B-B14F-4D97-AF65-F5344CB8AC3E}">
        <p14:creationId xmlns:p14="http://schemas.microsoft.com/office/powerpoint/2010/main" val="4223490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3EB43-F1DB-3ABD-CF6C-31667C1179CF}"/>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17B18622-D0C6-D1B6-E9F8-08359CC89E10}"/>
              </a:ext>
            </a:extLst>
          </p:cNvPr>
          <p:cNvSpPr/>
          <p:nvPr/>
        </p:nvSpPr>
        <p:spPr>
          <a:xfrm>
            <a:off x="113528" y="1962805"/>
            <a:ext cx="11865109" cy="3562598"/>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4C45D837-5EB9-A79F-E838-1A1FD4B8FAFC}"/>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07BC5DFF-04DC-39E0-DDA0-B18F3B7812C6}"/>
                  </a:ext>
                </a:extLst>
              </p:cNvPr>
              <p:cNvSpPr txBox="1"/>
              <p:nvPr/>
            </p:nvSpPr>
            <p:spPr>
              <a:xfrm>
                <a:off x="213363" y="2451512"/>
                <a:ext cx="10997498" cy="2932854"/>
              </a:xfrm>
              <a:prstGeom prst="rect">
                <a:avLst/>
              </a:prstGeom>
              <a:noFill/>
            </p:spPr>
            <p:txBody>
              <a:bodyPr wrap="none" rtlCol="0">
                <a:spAutoFit/>
              </a:bodyPr>
              <a:lstStyle/>
              <a:p>
                <a:r>
                  <a:rPr lang="ja-JP" altLang="en-US" sz="3200">
                    <a:solidFill>
                      <a:schemeClr val="tx1"/>
                    </a:solidFill>
                    <a:latin typeface="+mn-ea"/>
                    <a:cs typeface="ヒラギノ角ゴ Pro W3"/>
                  </a:rPr>
                  <a:t>手順</a:t>
                </a:r>
                <a:r>
                  <a:rPr lang="en-US" altLang="ja-JP" sz="3200" dirty="0">
                    <a:solidFill>
                      <a:schemeClr val="tx1"/>
                    </a:solidFill>
                    <a:latin typeface="+mn-ea"/>
                    <a:cs typeface="ヒラギノ角ゴ Pro W3"/>
                  </a:rPr>
                  <a:t>1.</a:t>
                </a:r>
                <a:r>
                  <a:rPr lang="ja-JP" altLang="en-US" sz="3200">
                    <a:solidFill>
                      <a:schemeClr val="tx1"/>
                    </a:solidFill>
                    <a:latin typeface="+mn-ea"/>
                    <a:cs typeface="ヒラギノ角ゴ Pro W3"/>
                  </a:rPr>
                  <a:t>　</a:t>
                </a:r>
                <a:r>
                  <a:rPr lang="en-US" altLang="ja-JP" sz="3200" dirty="0">
                    <a:solidFill>
                      <a:schemeClr val="tx1"/>
                    </a:solidFill>
                    <a:latin typeface="+mn-ea"/>
                    <a:cs typeface="ヒラギノ角ゴ Pro W3"/>
                  </a:rPr>
                  <a:t>Knockoff</a:t>
                </a:r>
                <a:r>
                  <a:rPr lang="ja-JP" altLang="en-US" sz="3200">
                    <a:solidFill>
                      <a:schemeClr val="tx1"/>
                    </a:solidFill>
                    <a:latin typeface="+mn-ea"/>
                    <a:cs typeface="ヒラギノ角ゴ Pro W3"/>
                  </a:rPr>
                  <a:t>変数</a:t>
                </a:r>
                <a14:m>
                  <m:oMath xmlns:m="http://schemas.openxmlformats.org/officeDocument/2006/math">
                    <m:acc>
                      <m:accPr>
                        <m:chr m:val="̃"/>
                        <m:ctrlPr>
                          <a:rPr lang="ja-JP" altLang="en-US" sz="3200" i="1" smtClean="0">
                            <a:solidFill>
                              <a:schemeClr val="tx1"/>
                            </a:solidFill>
                            <a:latin typeface="Cambria Math" panose="02040503050406030204" pitchFamily="18" charset="0"/>
                          </a:rPr>
                        </m:ctrlPr>
                      </m:accPr>
                      <m:e>
                        <m:r>
                          <a:rPr lang="en-US" altLang="ja-JP" sz="3200" b="0" i="1" smtClean="0">
                            <a:solidFill>
                              <a:schemeClr val="tx1"/>
                            </a:solidFill>
                            <a:latin typeface="Cambria Math" panose="02040503050406030204" pitchFamily="18" charset="0"/>
                          </a:rPr>
                          <m:t>𝑋</m:t>
                        </m:r>
                      </m:e>
                    </m:acc>
                  </m:oMath>
                </a14:m>
                <a:r>
                  <a:rPr lang="ja-JP" altLang="en-US" sz="3200">
                    <a:solidFill>
                      <a:schemeClr val="tx1"/>
                    </a:solidFill>
                    <a:latin typeface="+mn-ea"/>
                    <a:cs typeface="ヒラギノ角ゴ Pro W3"/>
                  </a:rPr>
                  <a:t>の作成</a:t>
                </a:r>
                <a:endParaRPr lang="en-US" altLang="ja-JP" sz="3200" dirty="0">
                  <a:solidFill>
                    <a:schemeClr val="tx1"/>
                  </a:solidFill>
                  <a:latin typeface="+mn-ea"/>
                  <a:cs typeface="ヒラギノ角ゴ Pro W3"/>
                </a:endParaRPr>
              </a:p>
              <a:p>
                <a:endParaRPr lang="en-US" altLang="ja-JP" sz="800" dirty="0">
                  <a:latin typeface="+mn-ea"/>
                  <a:cs typeface="ヒラギノ角ゴ Pro W3"/>
                </a:endParaRPr>
              </a:p>
              <a:p>
                <a:r>
                  <a:rPr kumimoji="1" lang="ja-JP" altLang="en-US" sz="3200">
                    <a:solidFill>
                      <a:schemeClr val="tx1"/>
                    </a:solidFill>
                    <a:latin typeface="+mn-ea"/>
                    <a:cs typeface="ヒラギノ角ゴ Pro W3"/>
                  </a:rPr>
                  <a:t>手順</a:t>
                </a:r>
                <a:r>
                  <a:rPr kumimoji="1" lang="en-US" altLang="ja-JP" sz="3200" dirty="0">
                    <a:solidFill>
                      <a:schemeClr val="tx1"/>
                    </a:solidFill>
                    <a:latin typeface="+mn-ea"/>
                    <a:cs typeface="ヒラギノ角ゴ Pro W3"/>
                  </a:rPr>
                  <a:t>2.</a:t>
                </a:r>
                <a:r>
                  <a:rPr kumimoji="1" lang="ja-JP" altLang="en-US" sz="3200">
                    <a:solidFill>
                      <a:schemeClr val="tx1"/>
                    </a:solidFill>
                    <a:latin typeface="+mn-ea"/>
                    <a:cs typeface="ヒラギノ角ゴ Pro W3"/>
                  </a:rPr>
                  <a:t>　統計量</a:t>
                </a:r>
                <a14:m>
                  <m:oMath xmlns:m="http://schemas.openxmlformats.org/officeDocument/2006/math">
                    <m:r>
                      <a:rPr kumimoji="1" lang="en-US" altLang="ja-JP" sz="3200" b="0" i="1" smtClean="0">
                        <a:solidFill>
                          <a:schemeClr val="tx1"/>
                        </a:solidFill>
                        <a:latin typeface="Cambria Math" panose="02040503050406030204" pitchFamily="18" charset="0"/>
                        <a:cs typeface="ヒラギノ角ゴ Pro W3"/>
                      </a:rPr>
                      <m:t>𝑊</m:t>
                    </m:r>
                  </m:oMath>
                </a14:m>
                <a:r>
                  <a:rPr kumimoji="1" lang="ja-JP" altLang="en-US" sz="3200">
                    <a:solidFill>
                      <a:schemeClr val="tx1"/>
                    </a:solidFill>
                    <a:latin typeface="+mn-ea"/>
                    <a:cs typeface="ヒラギノ角ゴ Pro W3"/>
                  </a:rPr>
                  <a:t>の導出</a:t>
                </a:r>
                <a:endParaRPr kumimoji="1" lang="en-US" altLang="ja-JP" sz="3200" dirty="0">
                  <a:solidFill>
                    <a:schemeClr val="tx1"/>
                  </a:solidFill>
                  <a:latin typeface="+mn-ea"/>
                  <a:cs typeface="ヒラギノ角ゴ Pro W3"/>
                </a:endParaRPr>
              </a:p>
              <a:p>
                <a:endParaRPr kumimoji="1" lang="en-US" altLang="ja-JP" sz="800" dirty="0">
                  <a:solidFill>
                    <a:schemeClr val="tx1"/>
                  </a:solidFill>
                  <a:latin typeface="+mn-ea"/>
                  <a:cs typeface="ヒラギノ角ゴ Pro W3"/>
                </a:endParaRPr>
              </a:p>
              <a:p>
                <a:r>
                  <a:rPr kumimoji="1" lang="ja-JP" altLang="en-US" sz="3200">
                    <a:latin typeface="+mn-ea"/>
                    <a:cs typeface="ヒラギノ角ゴ Pro W3"/>
                  </a:rPr>
                  <a:t>手順</a:t>
                </a:r>
                <a:r>
                  <a:rPr kumimoji="1" lang="en-US" altLang="ja-JP" sz="3200" dirty="0">
                    <a:latin typeface="+mn-ea"/>
                    <a:cs typeface="ヒラギノ角ゴ Pro W3"/>
                  </a:rPr>
                  <a:t>3.</a:t>
                </a:r>
                <a:r>
                  <a:rPr kumimoji="1" lang="ja-JP" altLang="en-US" sz="3200">
                    <a:latin typeface="+mn-ea"/>
                    <a:cs typeface="ヒラギノ角ゴ Pro W3"/>
                  </a:rPr>
                  <a:t>　</a:t>
                </a:r>
                <a:r>
                  <a:rPr lang="ja-JP" altLang="en-US" sz="3200">
                    <a:solidFill>
                      <a:schemeClr val="tx1"/>
                    </a:solidFill>
                    <a:latin typeface="+mn-ea"/>
                    <a:cs typeface="ヒラギノ角ゴ Pro W3"/>
                  </a:rPr>
                  <a:t>しきい値</a:t>
                </a:r>
                <a14:m>
                  <m:oMath xmlns:m="http://schemas.openxmlformats.org/officeDocument/2006/math">
                    <m:r>
                      <a:rPr lang="en-US" altLang="ja-JP" sz="3200" b="0" i="1">
                        <a:solidFill>
                          <a:schemeClr val="tx1"/>
                        </a:solidFill>
                        <a:latin typeface="Cambria Math" panose="02040503050406030204" pitchFamily="18" charset="0"/>
                        <a:cs typeface="ヒラギノ角ゴ Pro W3"/>
                      </a:rPr>
                      <m:t>𝑇</m:t>
                    </m:r>
                  </m:oMath>
                </a14:m>
                <a:r>
                  <a:rPr lang="ja-JP" altLang="en-US" sz="3200">
                    <a:solidFill>
                      <a:schemeClr val="tx1"/>
                    </a:solidFill>
                    <a:latin typeface="+mn-ea"/>
                    <a:cs typeface="ヒラギノ角ゴ Pro W3"/>
                  </a:rPr>
                  <a:t>の導出</a:t>
                </a:r>
                <a:endParaRPr lang="en-US" altLang="ja-JP" sz="800" dirty="0">
                  <a:latin typeface="+mn-ea"/>
                  <a:cs typeface="ヒラギノ角ゴ Pro W3"/>
                </a:endParaRPr>
              </a:p>
              <a:p>
                <a:endParaRPr kumimoji="1" lang="en-US" altLang="ja-JP" sz="800" dirty="0">
                  <a:solidFill>
                    <a:schemeClr val="tx1"/>
                  </a:solidFill>
                  <a:latin typeface="+mn-ea"/>
                  <a:cs typeface="ヒラギノ角ゴ Pro W3"/>
                </a:endParaRPr>
              </a:p>
              <a:p>
                <a:r>
                  <a:rPr kumimoji="1" lang="ja-JP" altLang="en-US" sz="3200">
                    <a:solidFill>
                      <a:schemeClr val="tx1"/>
                    </a:solidFill>
                    <a:latin typeface="+mn-ea"/>
                    <a:cs typeface="ヒラギノ角ゴ Pro W3"/>
                  </a:rPr>
                  <a:t>手順</a:t>
                </a:r>
                <a:r>
                  <a:rPr kumimoji="1" lang="en-US" altLang="ja-JP" sz="3200" dirty="0">
                    <a:latin typeface="+mn-ea"/>
                    <a:cs typeface="ヒラギノ角ゴ Pro W3"/>
                  </a:rPr>
                  <a:t>4.</a:t>
                </a:r>
                <a:r>
                  <a:rPr kumimoji="1" lang="ja-JP" altLang="en-US" sz="3200">
                    <a:latin typeface="+mn-ea"/>
                    <a:cs typeface="ヒラギノ角ゴ Pro W3"/>
                  </a:rPr>
                  <a:t>　</a:t>
                </a:r>
                <a:r>
                  <a:rPr lang="ja-JP" altLang="en-US" sz="3200">
                    <a:latin typeface="+mn-ea"/>
                    <a:cs typeface="ヒラギノ角ゴ Pro W3"/>
                  </a:rPr>
                  <a:t>回帰係数</a:t>
                </a:r>
                <a:r>
                  <a:rPr lang="ja-JP" altLang="en-US" sz="3200">
                    <a:solidFill>
                      <a:schemeClr val="tx1"/>
                    </a:solidFill>
                    <a:latin typeface="+mn-ea"/>
                    <a:cs typeface="ヒラギノ角ゴ Pro W3"/>
                  </a:rPr>
                  <a:t>の選択および正則化パラメータ</a:t>
                </a:r>
                <a14:m>
                  <m:oMath xmlns:m="http://schemas.openxmlformats.org/officeDocument/2006/math">
                    <m:r>
                      <a:rPr lang="ja-JP" altLang="en-US" sz="3200" i="1" smtClean="0">
                        <a:solidFill>
                          <a:schemeClr val="tx1"/>
                        </a:solidFill>
                        <a:latin typeface="Cambria Math" panose="02040503050406030204" pitchFamily="18" charset="0"/>
                        <a:cs typeface="ヒラギノ角ゴ Pro W3"/>
                      </a:rPr>
                      <m:t>𝜆</m:t>
                    </m:r>
                  </m:oMath>
                </a14:m>
                <a:r>
                  <a:rPr kumimoji="1" lang="ja-JP" altLang="en-US" sz="3200">
                    <a:solidFill>
                      <a:schemeClr val="tx1"/>
                    </a:solidFill>
                    <a:latin typeface="+mn-ea"/>
                    <a:cs typeface="ヒラギノ角ゴ Pro W3"/>
                  </a:rPr>
                  <a:t>の導出</a:t>
                </a:r>
              </a:p>
              <a:p>
                <a:endParaRPr kumimoji="1" lang="ja-JP" altLang="en-US" sz="3200">
                  <a:solidFill>
                    <a:schemeClr val="tx1"/>
                  </a:solidFill>
                </a:endParaRPr>
              </a:p>
            </p:txBody>
          </p:sp>
        </mc:Choice>
        <mc:Fallback xmlns="">
          <p:sp>
            <p:nvSpPr>
              <p:cNvPr id="5" name="テキスト ボックス 4">
                <a:extLst>
                  <a:ext uri="{FF2B5EF4-FFF2-40B4-BE49-F238E27FC236}">
                    <a16:creationId xmlns:a16="http://schemas.microsoft.com/office/drawing/2014/main" id="{07BC5DFF-04DC-39E0-DDA0-B18F3B7812C6}"/>
                  </a:ext>
                </a:extLst>
              </p:cNvPr>
              <p:cNvSpPr txBox="1">
                <a:spLocks noRot="1" noChangeAspect="1" noMove="1" noResize="1" noEditPoints="1" noAdjustHandles="1" noChangeArrowheads="1" noChangeShapeType="1" noTextEdit="1"/>
              </p:cNvSpPr>
              <p:nvPr/>
            </p:nvSpPr>
            <p:spPr>
              <a:xfrm>
                <a:off x="213363" y="2451512"/>
                <a:ext cx="10997498" cy="2932854"/>
              </a:xfrm>
              <a:prstGeom prst="rect">
                <a:avLst/>
              </a:prstGeom>
              <a:blipFill>
                <a:blip r:embed="rId3"/>
                <a:stretch>
                  <a:fillRect l="-1384" t="-1293"/>
                </a:stretch>
              </a:blipFill>
            </p:spPr>
            <p:txBody>
              <a:bodyPr/>
              <a:lstStyle/>
              <a:p>
                <a:r>
                  <a:rPr lang="ja-JP" altLang="en-US">
                    <a:noFill/>
                  </a:rPr>
                  <a:t> </a:t>
                </a:r>
              </a:p>
            </p:txBody>
          </p:sp>
        </mc:Fallback>
      </mc:AlternateContent>
      <p:sp>
        <p:nvSpPr>
          <p:cNvPr id="2" name="正方形/長方形 1">
            <a:extLst>
              <a:ext uri="{FF2B5EF4-FFF2-40B4-BE49-F238E27FC236}">
                <a16:creationId xmlns:a16="http://schemas.microsoft.com/office/drawing/2014/main" id="{792E1434-46BD-8845-7260-FC5EB78951F3}"/>
              </a:ext>
            </a:extLst>
          </p:cNvPr>
          <p:cNvSpPr/>
          <p:nvPr/>
        </p:nvSpPr>
        <p:spPr>
          <a:xfrm>
            <a:off x="564690" y="1643505"/>
            <a:ext cx="6396549" cy="680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92C9549-1540-A363-97D8-8B6E3F08140E}"/>
                  </a:ext>
                </a:extLst>
              </p:cNvPr>
              <p:cNvSpPr>
                <a:spLocks noGrp="1"/>
              </p:cNvSpPr>
              <p:nvPr>
                <p:ph idx="1"/>
              </p:nvPr>
            </p:nvSpPr>
            <p:spPr>
              <a:xfrm>
                <a:off x="564690" y="1692421"/>
                <a:ext cx="5891136" cy="540767"/>
              </a:xfrm>
            </p:spPr>
            <p:txBody>
              <a:bodyPr>
                <a:noAutofit/>
              </a:bodyPr>
              <a:lstStyle/>
              <a:p>
                <a:pPr marL="0" indent="0">
                  <a:buNone/>
                </a:pPr>
                <a:r>
                  <a:rPr lang="ja-JP" altLang="en-US" sz="3200">
                    <a:solidFill>
                      <a:schemeClr val="tx1"/>
                    </a:solidFill>
                    <a:latin typeface="+mn-ea"/>
                    <a:cs typeface="ヒラギノ角ゴ Pro W3"/>
                  </a:rPr>
                  <a:t>正則化パラメータ</a:t>
                </a:r>
                <a14:m>
                  <m:oMath xmlns:m="http://schemas.openxmlformats.org/officeDocument/2006/math">
                    <m:r>
                      <a:rPr lang="ja-JP" altLang="en-US" sz="3200" i="1" smtClean="0">
                        <a:solidFill>
                          <a:schemeClr val="tx1"/>
                        </a:solidFill>
                        <a:latin typeface="Cambria Math" panose="02040503050406030204" pitchFamily="18" charset="0"/>
                        <a:cs typeface="ヒラギノ角ゴ Pro W3"/>
                      </a:rPr>
                      <m:t>𝜆</m:t>
                    </m:r>
                  </m:oMath>
                </a14:m>
                <a:r>
                  <a:rPr kumimoji="1" lang="ja-JP" altLang="en-US" sz="3200">
                    <a:solidFill>
                      <a:schemeClr val="tx1"/>
                    </a:solidFill>
                    <a:latin typeface="+mn-ea"/>
                    <a:cs typeface="ヒラギノ角ゴ Pro W3"/>
                  </a:rPr>
                  <a:t>の</a:t>
                </a:r>
                <a:r>
                  <a:rPr lang="ja-JP" altLang="en-US" sz="3200">
                    <a:latin typeface="+mn-ea"/>
                    <a:cs typeface="ヒラギノ角ゴ Pro W3"/>
                  </a:rPr>
                  <a:t>導出</a:t>
                </a:r>
                <a:r>
                  <a:rPr kumimoji="1" lang="ja-JP" altLang="en-US" sz="3200">
                    <a:solidFill>
                      <a:schemeClr val="tx1"/>
                    </a:solidFill>
                    <a:latin typeface="+mn-ea"/>
                    <a:cs typeface="ヒラギノ角ゴ Pro W3"/>
                  </a:rPr>
                  <a:t>手順</a:t>
                </a:r>
                <a:endParaRPr kumimoji="1" lang="en-US" altLang="ja-JP" sz="3200" dirty="0">
                  <a:solidFill>
                    <a:schemeClr val="tx1"/>
                  </a:solidFill>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92C9549-1540-A363-97D8-8B6E3F08140E}"/>
                  </a:ext>
                </a:extLst>
              </p:cNvPr>
              <p:cNvSpPr>
                <a:spLocks noGrp="1" noRot="1" noChangeAspect="1" noMove="1" noResize="1" noEditPoints="1" noAdjustHandles="1" noChangeArrowheads="1" noChangeShapeType="1" noTextEdit="1"/>
              </p:cNvSpPr>
              <p:nvPr>
                <p:ph idx="1"/>
              </p:nvPr>
            </p:nvSpPr>
            <p:spPr>
              <a:xfrm>
                <a:off x="564690" y="1692421"/>
                <a:ext cx="5891136" cy="540767"/>
              </a:xfrm>
              <a:blipFill>
                <a:blip r:embed="rId4"/>
                <a:stretch>
                  <a:fillRect l="-2581" t="-20930" b="-37209"/>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9EFFDB01-58CB-A975-8F0B-36852313DC8B}"/>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10/28</a:t>
            </a:r>
            <a:endParaRPr kumimoji="1" lang="ja-JP" altLang="en-US" sz="2800">
              <a:latin typeface="+mj-ea"/>
              <a:ea typeface="+mj-ea"/>
            </a:endParaRPr>
          </a:p>
        </p:txBody>
      </p:sp>
    </p:spTree>
    <p:extLst>
      <p:ext uri="{BB962C8B-B14F-4D97-AF65-F5344CB8AC3E}">
        <p14:creationId xmlns:p14="http://schemas.microsoft.com/office/powerpoint/2010/main" val="3936233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4C06-39F2-436B-A8BF-17BDBCD68F63}"/>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F6F28843-B9DE-9058-48C3-3CEBFB26946F}"/>
              </a:ext>
            </a:extLst>
          </p:cNvPr>
          <p:cNvSpPr/>
          <p:nvPr/>
        </p:nvSpPr>
        <p:spPr>
          <a:xfrm>
            <a:off x="113528" y="1962805"/>
            <a:ext cx="11865109" cy="3562598"/>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30F8C469-DA0A-7C9A-4EA7-59207ACD9237}"/>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501C9D0-8F55-70C6-54CD-59CED38D247C}"/>
                  </a:ext>
                </a:extLst>
              </p:cNvPr>
              <p:cNvSpPr txBox="1"/>
              <p:nvPr/>
            </p:nvSpPr>
            <p:spPr>
              <a:xfrm>
                <a:off x="213363" y="2451512"/>
                <a:ext cx="10587129" cy="2923877"/>
              </a:xfrm>
              <a:prstGeom prst="rect">
                <a:avLst/>
              </a:prstGeom>
              <a:noFill/>
            </p:spPr>
            <p:txBody>
              <a:bodyPr wrap="none" rtlCol="0">
                <a:spAutoFit/>
              </a:bodyPr>
              <a:lstStyle/>
              <a:p>
                <a:r>
                  <a:rPr lang="ja-JP" altLang="en-US" sz="3200">
                    <a:solidFill>
                      <a:schemeClr val="tx1"/>
                    </a:solidFill>
                    <a:latin typeface="+mn-ea"/>
                    <a:cs typeface="ヒラギノ角ゴ Pro W3"/>
                  </a:rPr>
                  <a:t>手順</a:t>
                </a:r>
                <a:r>
                  <a:rPr lang="en-US" altLang="ja-JP" sz="3200" dirty="0">
                    <a:solidFill>
                      <a:schemeClr val="tx1"/>
                    </a:solidFill>
                    <a:latin typeface="+mn-ea"/>
                    <a:cs typeface="ヒラギノ角ゴ Pro W3"/>
                  </a:rPr>
                  <a:t>1.</a:t>
                </a:r>
                <a:r>
                  <a:rPr lang="ja-JP" altLang="en-US" sz="3200">
                    <a:solidFill>
                      <a:schemeClr val="tx1"/>
                    </a:solidFill>
                    <a:latin typeface="+mn-ea"/>
                    <a:cs typeface="ヒラギノ角ゴ Pro W3"/>
                  </a:rPr>
                  <a:t>　</a:t>
                </a:r>
                <a:r>
                  <a:rPr lang="en-US" altLang="ja-JP" sz="3200" dirty="0">
                    <a:solidFill>
                      <a:schemeClr val="tx1"/>
                    </a:solidFill>
                    <a:latin typeface="+mn-ea"/>
                    <a:cs typeface="ヒラギノ角ゴ Pro W3"/>
                  </a:rPr>
                  <a:t>Knockoff</a:t>
                </a:r>
                <a:r>
                  <a:rPr lang="ja-JP" altLang="en-US" sz="3200">
                    <a:solidFill>
                      <a:schemeClr val="tx1"/>
                    </a:solidFill>
                    <a:latin typeface="+mn-ea"/>
                    <a:cs typeface="ヒラギノ角ゴ Pro W3"/>
                  </a:rPr>
                  <a:t>変数</a:t>
                </a:r>
                <a14:m>
                  <m:oMath xmlns:m="http://schemas.openxmlformats.org/officeDocument/2006/math">
                    <m:sSub>
                      <m:sSubPr>
                        <m:ctrlPr>
                          <a:rPr lang="en-US" altLang="ja-JP" sz="3200" b="0" i="1" smtClean="0">
                            <a:solidFill>
                              <a:schemeClr val="tx1"/>
                            </a:solidFill>
                            <a:latin typeface="Cambria Math" panose="02040503050406030204" pitchFamily="18" charset="0"/>
                          </a:rPr>
                        </m:ctrlPr>
                      </m:sSubPr>
                      <m:e>
                        <m:acc>
                          <m:accPr>
                            <m:chr m:val="̃"/>
                            <m:ctrlPr>
                              <a:rPr lang="ja-JP" altLang="en-US" sz="3200" i="1" smtClean="0">
                                <a:solidFill>
                                  <a:schemeClr val="tx1"/>
                                </a:solidFill>
                                <a:latin typeface="Cambria Math" panose="02040503050406030204" pitchFamily="18" charset="0"/>
                              </a:rPr>
                            </m:ctrlPr>
                          </m:accPr>
                          <m:e>
                            <m:r>
                              <a:rPr lang="en-US" altLang="ja-JP" sz="3200" b="1" i="1" smtClean="0">
                                <a:solidFill>
                                  <a:schemeClr val="tx1"/>
                                </a:solidFill>
                                <a:latin typeface="Cambria Math" panose="02040503050406030204" pitchFamily="18" charset="0"/>
                              </a:rPr>
                              <m:t>𝒙</m:t>
                            </m:r>
                          </m:e>
                        </m:acc>
                      </m:e>
                      <m:sub>
                        <m:r>
                          <a:rPr lang="en-US" altLang="ja-JP" sz="3200" b="0" i="1" smtClean="0">
                            <a:solidFill>
                              <a:schemeClr val="tx1"/>
                            </a:solidFill>
                            <a:latin typeface="Cambria Math" panose="02040503050406030204" pitchFamily="18" charset="0"/>
                          </a:rPr>
                          <m:t>𝑖</m:t>
                        </m:r>
                      </m:sub>
                    </m:sSub>
                  </m:oMath>
                </a14:m>
                <a:r>
                  <a:rPr lang="ja-JP" altLang="en-US" sz="3200">
                    <a:solidFill>
                      <a:schemeClr val="tx1"/>
                    </a:solidFill>
                    <a:latin typeface="+mn-ea"/>
                    <a:cs typeface="ヒラギノ角ゴ Pro W3"/>
                  </a:rPr>
                  <a:t>の作成</a:t>
                </a:r>
                <a:endParaRPr lang="en-US" altLang="ja-JP" sz="3200" dirty="0">
                  <a:solidFill>
                    <a:schemeClr val="tx1"/>
                  </a:solidFill>
                  <a:latin typeface="+mn-ea"/>
                  <a:cs typeface="ヒラギノ角ゴ Pro W3"/>
                </a:endParaRPr>
              </a:p>
              <a:p>
                <a:endParaRPr lang="en-US" altLang="ja-JP" sz="800" dirty="0">
                  <a:latin typeface="+mn-ea"/>
                  <a:cs typeface="ヒラギノ角ゴ Pro W3"/>
                </a:endParaRPr>
              </a:p>
              <a:p>
                <a:r>
                  <a:rPr kumimoji="1" lang="ja-JP" altLang="en-US" sz="3200">
                    <a:solidFill>
                      <a:schemeClr val="tx1"/>
                    </a:solidFill>
                    <a:latin typeface="+mn-ea"/>
                    <a:cs typeface="ヒラギノ角ゴ Pro W3"/>
                  </a:rPr>
                  <a:t>手順</a:t>
                </a:r>
                <a:r>
                  <a:rPr kumimoji="1" lang="en-US" altLang="ja-JP" sz="3200" dirty="0">
                    <a:solidFill>
                      <a:schemeClr val="tx1"/>
                    </a:solidFill>
                    <a:latin typeface="+mn-ea"/>
                    <a:cs typeface="ヒラギノ角ゴ Pro W3"/>
                  </a:rPr>
                  <a:t>2.</a:t>
                </a:r>
                <a:r>
                  <a:rPr kumimoji="1" lang="ja-JP" altLang="en-US" sz="3200">
                    <a:solidFill>
                      <a:schemeClr val="tx1"/>
                    </a:solidFill>
                    <a:latin typeface="+mn-ea"/>
                    <a:cs typeface="ヒラギノ角ゴ Pro W3"/>
                  </a:rPr>
                  <a:t>　統計量</a:t>
                </a:r>
                <a14:m>
                  <m:oMath xmlns:m="http://schemas.openxmlformats.org/officeDocument/2006/math">
                    <m:r>
                      <a:rPr kumimoji="1" lang="en-US" altLang="ja-JP" sz="3200" b="0" i="1" smtClean="0">
                        <a:solidFill>
                          <a:schemeClr val="tx1"/>
                        </a:solidFill>
                        <a:latin typeface="Cambria Math" panose="02040503050406030204" pitchFamily="18" charset="0"/>
                        <a:cs typeface="ヒラギノ角ゴ Pro W3"/>
                      </a:rPr>
                      <m:t>𝑊</m:t>
                    </m:r>
                  </m:oMath>
                </a14:m>
                <a:r>
                  <a:rPr kumimoji="1" lang="ja-JP" altLang="en-US" sz="3200">
                    <a:solidFill>
                      <a:schemeClr val="tx1"/>
                    </a:solidFill>
                    <a:latin typeface="+mn-ea"/>
                    <a:cs typeface="ヒラギノ角ゴ Pro W3"/>
                  </a:rPr>
                  <a:t>の導出</a:t>
                </a:r>
                <a:endParaRPr kumimoji="1" lang="en-US" altLang="ja-JP" sz="3200" dirty="0">
                  <a:solidFill>
                    <a:schemeClr val="tx1"/>
                  </a:solidFill>
                  <a:latin typeface="+mn-ea"/>
                  <a:cs typeface="ヒラギノ角ゴ Pro W3"/>
                </a:endParaRPr>
              </a:p>
              <a:p>
                <a:endParaRPr kumimoji="1" lang="en-US" altLang="ja-JP" sz="800" dirty="0">
                  <a:solidFill>
                    <a:schemeClr val="tx1"/>
                  </a:solidFill>
                  <a:latin typeface="+mn-ea"/>
                  <a:cs typeface="ヒラギノ角ゴ Pro W3"/>
                </a:endParaRPr>
              </a:p>
              <a:p>
                <a:r>
                  <a:rPr kumimoji="1" lang="ja-JP" altLang="en-US" sz="3200">
                    <a:latin typeface="+mn-ea"/>
                    <a:cs typeface="ヒラギノ角ゴ Pro W3"/>
                  </a:rPr>
                  <a:t>手順</a:t>
                </a:r>
                <a:r>
                  <a:rPr kumimoji="1" lang="en-US" altLang="ja-JP" sz="3200" dirty="0">
                    <a:latin typeface="+mn-ea"/>
                    <a:cs typeface="ヒラギノ角ゴ Pro W3"/>
                  </a:rPr>
                  <a:t>3.</a:t>
                </a:r>
                <a:r>
                  <a:rPr kumimoji="1" lang="ja-JP" altLang="en-US" sz="3200">
                    <a:latin typeface="+mn-ea"/>
                    <a:cs typeface="ヒラギノ角ゴ Pro W3"/>
                  </a:rPr>
                  <a:t>　</a:t>
                </a:r>
                <a:r>
                  <a:rPr lang="ja-JP" altLang="en-US" sz="3200">
                    <a:solidFill>
                      <a:schemeClr val="tx1"/>
                    </a:solidFill>
                    <a:latin typeface="+mn-ea"/>
                    <a:cs typeface="ヒラギノ角ゴ Pro W3"/>
                  </a:rPr>
                  <a:t>しきい値</a:t>
                </a:r>
                <a14:m>
                  <m:oMath xmlns:m="http://schemas.openxmlformats.org/officeDocument/2006/math">
                    <m:r>
                      <a:rPr lang="en-US" altLang="ja-JP" sz="3200" b="0" i="1">
                        <a:solidFill>
                          <a:schemeClr val="tx1"/>
                        </a:solidFill>
                        <a:latin typeface="Cambria Math" panose="02040503050406030204" pitchFamily="18" charset="0"/>
                        <a:cs typeface="ヒラギノ角ゴ Pro W3"/>
                      </a:rPr>
                      <m:t>𝑇</m:t>
                    </m:r>
                  </m:oMath>
                </a14:m>
                <a:r>
                  <a:rPr lang="ja-JP" altLang="en-US" sz="3200">
                    <a:solidFill>
                      <a:schemeClr val="tx1"/>
                    </a:solidFill>
                    <a:latin typeface="+mn-ea"/>
                    <a:cs typeface="ヒラギノ角ゴ Pro W3"/>
                  </a:rPr>
                  <a:t>の導出</a:t>
                </a:r>
                <a:endParaRPr lang="en-US" altLang="ja-JP" sz="800" dirty="0">
                  <a:latin typeface="+mn-ea"/>
                  <a:cs typeface="ヒラギノ角ゴ Pro W3"/>
                </a:endParaRPr>
              </a:p>
              <a:p>
                <a:endParaRPr kumimoji="1" lang="en-US" altLang="ja-JP" sz="800" dirty="0">
                  <a:solidFill>
                    <a:schemeClr val="tx1"/>
                  </a:solidFill>
                  <a:latin typeface="+mn-ea"/>
                  <a:cs typeface="ヒラギノ角ゴ Pro W3"/>
                </a:endParaRPr>
              </a:p>
              <a:p>
                <a:r>
                  <a:rPr kumimoji="1" lang="ja-JP" altLang="en-US" sz="3200">
                    <a:solidFill>
                      <a:schemeClr val="tx1"/>
                    </a:solidFill>
                    <a:latin typeface="+mn-ea"/>
                    <a:cs typeface="ヒラギノ角ゴ Pro W3"/>
                  </a:rPr>
                  <a:t>手順</a:t>
                </a:r>
                <a:r>
                  <a:rPr kumimoji="1" lang="en-US" altLang="ja-JP" sz="3200" dirty="0">
                    <a:latin typeface="+mn-ea"/>
                    <a:cs typeface="ヒラギノ角ゴ Pro W3"/>
                  </a:rPr>
                  <a:t>4.</a:t>
                </a:r>
                <a:r>
                  <a:rPr kumimoji="1" lang="ja-JP" altLang="en-US" sz="3200">
                    <a:latin typeface="+mn-ea"/>
                    <a:cs typeface="ヒラギノ角ゴ Pro W3"/>
                  </a:rPr>
                  <a:t>　</a:t>
                </a:r>
                <a:r>
                  <a:rPr lang="ja-JP" altLang="en-US" sz="3200">
                    <a:latin typeface="+mn-ea"/>
                    <a:cs typeface="ヒラギノ角ゴ Pro W3"/>
                  </a:rPr>
                  <a:t>回帰係数</a:t>
                </a:r>
                <a:r>
                  <a:rPr lang="ja-JP" altLang="en-US" sz="3200">
                    <a:solidFill>
                      <a:schemeClr val="tx1"/>
                    </a:solidFill>
                    <a:latin typeface="+mn-ea"/>
                    <a:cs typeface="ヒラギノ角ゴ Pro W3"/>
                  </a:rPr>
                  <a:t>の選択および正則化パラメータ</a:t>
                </a:r>
                <a14:m>
                  <m:oMath xmlns:m="http://schemas.openxmlformats.org/officeDocument/2006/math">
                    <m:r>
                      <a:rPr lang="ja-JP" altLang="en-US" sz="3200" i="1" smtClean="0">
                        <a:solidFill>
                          <a:schemeClr val="tx1"/>
                        </a:solidFill>
                        <a:latin typeface="Cambria Math" panose="02040503050406030204" pitchFamily="18" charset="0"/>
                        <a:cs typeface="ヒラギノ角ゴ Pro W3"/>
                      </a:rPr>
                      <m:t>𝜆</m:t>
                    </m:r>
                  </m:oMath>
                </a14:m>
                <a:r>
                  <a:rPr kumimoji="1" lang="ja-JP" altLang="en-US" sz="3200">
                    <a:solidFill>
                      <a:schemeClr val="tx1"/>
                    </a:solidFill>
                    <a:latin typeface="+mn-ea"/>
                    <a:cs typeface="ヒラギノ角ゴ Pro W3"/>
                  </a:rPr>
                  <a:t>の導出</a:t>
                </a:r>
              </a:p>
              <a:p>
                <a:endParaRPr kumimoji="1" lang="ja-JP" altLang="en-US" sz="3200">
                  <a:solidFill>
                    <a:schemeClr val="tx1"/>
                  </a:solidFill>
                </a:endParaRPr>
              </a:p>
            </p:txBody>
          </p:sp>
        </mc:Choice>
        <mc:Fallback xmlns="">
          <p:sp>
            <p:nvSpPr>
              <p:cNvPr id="5" name="テキスト ボックス 4">
                <a:extLst>
                  <a:ext uri="{FF2B5EF4-FFF2-40B4-BE49-F238E27FC236}">
                    <a16:creationId xmlns:a16="http://schemas.microsoft.com/office/drawing/2014/main" id="{A501C9D0-8F55-70C6-54CD-59CED38D247C}"/>
                  </a:ext>
                </a:extLst>
              </p:cNvPr>
              <p:cNvSpPr txBox="1">
                <a:spLocks noRot="1" noChangeAspect="1" noMove="1" noResize="1" noEditPoints="1" noAdjustHandles="1" noChangeArrowheads="1" noChangeShapeType="1" noTextEdit="1"/>
              </p:cNvSpPr>
              <p:nvPr/>
            </p:nvSpPr>
            <p:spPr>
              <a:xfrm>
                <a:off x="213363" y="2451512"/>
                <a:ext cx="10587129" cy="2923877"/>
              </a:xfrm>
              <a:prstGeom prst="rect">
                <a:avLst/>
              </a:prstGeom>
              <a:blipFill>
                <a:blip r:embed="rId3"/>
                <a:stretch>
                  <a:fillRect l="-1437" t="-2155" r="-479"/>
                </a:stretch>
              </a:blipFill>
            </p:spPr>
            <p:txBody>
              <a:bodyPr/>
              <a:lstStyle/>
              <a:p>
                <a:r>
                  <a:rPr lang="ja-JP" altLang="en-US">
                    <a:noFill/>
                  </a:rPr>
                  <a:t> </a:t>
                </a:r>
              </a:p>
            </p:txBody>
          </p:sp>
        </mc:Fallback>
      </mc:AlternateContent>
      <p:sp>
        <p:nvSpPr>
          <p:cNvPr id="2" name="正方形/長方形 1">
            <a:extLst>
              <a:ext uri="{FF2B5EF4-FFF2-40B4-BE49-F238E27FC236}">
                <a16:creationId xmlns:a16="http://schemas.microsoft.com/office/drawing/2014/main" id="{5048033E-F153-CA6C-0C83-B5BEB08AB49D}"/>
              </a:ext>
            </a:extLst>
          </p:cNvPr>
          <p:cNvSpPr/>
          <p:nvPr/>
        </p:nvSpPr>
        <p:spPr>
          <a:xfrm>
            <a:off x="564690" y="1643505"/>
            <a:ext cx="6396549" cy="680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44F8A17-B5AE-0224-1A2A-16CBB26995B1}"/>
                  </a:ext>
                </a:extLst>
              </p:cNvPr>
              <p:cNvSpPr>
                <a:spLocks noGrp="1"/>
              </p:cNvSpPr>
              <p:nvPr>
                <p:ph idx="1"/>
              </p:nvPr>
            </p:nvSpPr>
            <p:spPr>
              <a:xfrm>
                <a:off x="564690" y="1692421"/>
                <a:ext cx="5891136" cy="540767"/>
              </a:xfrm>
            </p:spPr>
            <p:txBody>
              <a:bodyPr>
                <a:noAutofit/>
              </a:bodyPr>
              <a:lstStyle/>
              <a:p>
                <a:pPr marL="0" indent="0">
                  <a:buNone/>
                </a:pPr>
                <a:r>
                  <a:rPr lang="ja-JP" altLang="en-US" sz="3200">
                    <a:solidFill>
                      <a:schemeClr val="tx1"/>
                    </a:solidFill>
                    <a:latin typeface="+mn-ea"/>
                    <a:cs typeface="ヒラギノ角ゴ Pro W3"/>
                  </a:rPr>
                  <a:t>正則化パラメータ</a:t>
                </a:r>
                <a14:m>
                  <m:oMath xmlns:m="http://schemas.openxmlformats.org/officeDocument/2006/math">
                    <m:r>
                      <a:rPr lang="ja-JP" altLang="en-US" sz="3200" i="1" smtClean="0">
                        <a:solidFill>
                          <a:schemeClr val="tx1"/>
                        </a:solidFill>
                        <a:latin typeface="Cambria Math" panose="02040503050406030204" pitchFamily="18" charset="0"/>
                        <a:cs typeface="ヒラギノ角ゴ Pro W3"/>
                      </a:rPr>
                      <m:t>𝜆</m:t>
                    </m:r>
                  </m:oMath>
                </a14:m>
                <a:r>
                  <a:rPr kumimoji="1" lang="ja-JP" altLang="en-US" sz="3200">
                    <a:solidFill>
                      <a:schemeClr val="tx1"/>
                    </a:solidFill>
                    <a:latin typeface="+mn-ea"/>
                    <a:cs typeface="ヒラギノ角ゴ Pro W3"/>
                  </a:rPr>
                  <a:t>の</a:t>
                </a:r>
                <a:r>
                  <a:rPr lang="ja-JP" altLang="en-US" sz="3200">
                    <a:latin typeface="+mn-ea"/>
                    <a:cs typeface="ヒラギノ角ゴ Pro W3"/>
                  </a:rPr>
                  <a:t>導出</a:t>
                </a:r>
                <a:r>
                  <a:rPr kumimoji="1" lang="ja-JP" altLang="en-US" sz="3200">
                    <a:solidFill>
                      <a:schemeClr val="tx1"/>
                    </a:solidFill>
                    <a:latin typeface="+mn-ea"/>
                    <a:cs typeface="ヒラギノ角ゴ Pro W3"/>
                  </a:rPr>
                  <a:t>手順</a:t>
                </a:r>
                <a:endParaRPr kumimoji="1" lang="en-US" altLang="ja-JP" sz="3200" dirty="0">
                  <a:solidFill>
                    <a:schemeClr val="tx1"/>
                  </a:solidFill>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844F8A17-B5AE-0224-1A2A-16CBB26995B1}"/>
                  </a:ext>
                </a:extLst>
              </p:cNvPr>
              <p:cNvSpPr>
                <a:spLocks noGrp="1" noRot="1" noChangeAspect="1" noMove="1" noResize="1" noEditPoints="1" noAdjustHandles="1" noChangeArrowheads="1" noChangeShapeType="1" noTextEdit="1"/>
              </p:cNvSpPr>
              <p:nvPr>
                <p:ph idx="1"/>
              </p:nvPr>
            </p:nvSpPr>
            <p:spPr>
              <a:xfrm>
                <a:off x="564690" y="1692421"/>
                <a:ext cx="5891136" cy="540767"/>
              </a:xfrm>
              <a:blipFill>
                <a:blip r:embed="rId4"/>
                <a:stretch>
                  <a:fillRect l="-2581" t="-20930" b="-37209"/>
                </a:stretch>
              </a:blipFill>
            </p:spPr>
            <p:txBody>
              <a:bodyPr/>
              <a:lstStyle/>
              <a:p>
                <a:r>
                  <a:rPr lang="ja-JP" altLang="en-US">
                    <a:noFill/>
                  </a:rPr>
                  <a:t> </a:t>
                </a:r>
              </a:p>
            </p:txBody>
          </p:sp>
        </mc:Fallback>
      </mc:AlternateContent>
      <p:sp>
        <p:nvSpPr>
          <p:cNvPr id="7" name="角丸四角形吹き出し 6">
            <a:extLst>
              <a:ext uri="{FF2B5EF4-FFF2-40B4-BE49-F238E27FC236}">
                <a16:creationId xmlns:a16="http://schemas.microsoft.com/office/drawing/2014/main" id="{930968A6-BC9A-543F-BF1D-113852B324FA}"/>
              </a:ext>
            </a:extLst>
          </p:cNvPr>
          <p:cNvSpPr/>
          <p:nvPr/>
        </p:nvSpPr>
        <p:spPr>
          <a:xfrm rot="10800000">
            <a:off x="6096000" y="2372597"/>
            <a:ext cx="5982472" cy="1523716"/>
          </a:xfrm>
          <a:prstGeom prst="wedgeRoundRectCallout">
            <a:avLst>
              <a:gd name="adj1" fmla="val 67589"/>
              <a:gd name="adj2" fmla="val -53209"/>
              <a:gd name="adj3" fmla="val 16667"/>
            </a:avLst>
          </a:prstGeom>
          <a:solidFill>
            <a:srgbClr val="0070C0"/>
          </a:soli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F2D4D55B-2583-993E-817D-9606742564CF}"/>
              </a:ext>
            </a:extLst>
          </p:cNvPr>
          <p:cNvSpPr txBox="1"/>
          <p:nvPr/>
        </p:nvSpPr>
        <p:spPr>
          <a:xfrm>
            <a:off x="6107514" y="2595846"/>
            <a:ext cx="6084486" cy="1077218"/>
          </a:xfrm>
          <a:prstGeom prst="rect">
            <a:avLst/>
          </a:prstGeom>
          <a:noFill/>
        </p:spPr>
        <p:txBody>
          <a:bodyPr wrap="square" rtlCol="0">
            <a:spAutoFit/>
          </a:bodyPr>
          <a:lstStyle/>
          <a:p>
            <a:r>
              <a:rPr kumimoji="1" lang="ja-JP" altLang="en-US" sz="3200" b="1">
                <a:solidFill>
                  <a:schemeClr val="bg1"/>
                </a:solidFill>
              </a:rPr>
              <a:t>「交換可能性」が成立したとき</a:t>
            </a:r>
            <a:r>
              <a:rPr kumimoji="1" lang="en-US" altLang="ja-JP" sz="3200" b="1" dirty="0">
                <a:solidFill>
                  <a:schemeClr val="bg1"/>
                </a:solidFill>
              </a:rPr>
              <a:t>  </a:t>
            </a:r>
          </a:p>
          <a:p>
            <a:r>
              <a:rPr kumimoji="1" lang="en-US" altLang="ja-JP" sz="3200" b="1" dirty="0">
                <a:solidFill>
                  <a:schemeClr val="bg1"/>
                </a:solidFill>
              </a:rPr>
              <a:t>   </a:t>
            </a:r>
            <a:r>
              <a:rPr kumimoji="1" lang="ja-JP" altLang="en-US" sz="3200" b="1">
                <a:solidFill>
                  <a:schemeClr val="bg1"/>
                </a:solidFill>
              </a:rPr>
              <a:t>手順</a:t>
            </a:r>
            <a:r>
              <a:rPr kumimoji="1" lang="en-US" altLang="ja-JP" sz="3200" b="1" dirty="0">
                <a:solidFill>
                  <a:schemeClr val="bg1"/>
                </a:solidFill>
              </a:rPr>
              <a:t>3</a:t>
            </a:r>
            <a:r>
              <a:rPr kumimoji="1" lang="ja-JP" altLang="en-US" sz="3200" b="1">
                <a:solidFill>
                  <a:schemeClr val="bg1"/>
                </a:solidFill>
              </a:rPr>
              <a:t>で</a:t>
            </a:r>
            <a:r>
              <a:rPr kumimoji="1" lang="en-US" altLang="ja-JP" sz="3200" b="1" dirty="0">
                <a:solidFill>
                  <a:schemeClr val="bg1"/>
                </a:solidFill>
              </a:rPr>
              <a:t>FDR</a:t>
            </a:r>
            <a:r>
              <a:rPr kumimoji="1" lang="ja-JP" altLang="en-US" sz="3200" b="1">
                <a:solidFill>
                  <a:schemeClr val="bg1"/>
                </a:solidFill>
              </a:rPr>
              <a:t>制御を行う</a:t>
            </a:r>
          </a:p>
        </p:txBody>
      </p:sp>
      <p:sp>
        <p:nvSpPr>
          <p:cNvPr id="9" name="テキスト ボックス 8">
            <a:extLst>
              <a:ext uri="{FF2B5EF4-FFF2-40B4-BE49-F238E27FC236}">
                <a16:creationId xmlns:a16="http://schemas.microsoft.com/office/drawing/2014/main" id="{82E94334-EF40-2E89-7357-437B5AAB75A2}"/>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11/28</a:t>
            </a:r>
            <a:endParaRPr kumimoji="1" lang="ja-JP" altLang="en-US" sz="2800">
              <a:latin typeface="+mj-ea"/>
              <a:ea typeface="+mj-ea"/>
            </a:endParaRPr>
          </a:p>
        </p:txBody>
      </p:sp>
    </p:spTree>
    <p:extLst>
      <p:ext uri="{BB962C8B-B14F-4D97-AF65-F5344CB8AC3E}">
        <p14:creationId xmlns:p14="http://schemas.microsoft.com/office/powerpoint/2010/main" val="170265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D1E4D-1B7A-870E-28DC-4BBF2D9BC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28D4C5-948F-EEC3-F672-E0BC2804D639}"/>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22" name="角丸四角形 21">
            <a:extLst>
              <a:ext uri="{FF2B5EF4-FFF2-40B4-BE49-F238E27FC236}">
                <a16:creationId xmlns:a16="http://schemas.microsoft.com/office/drawing/2014/main" id="{9242AE3D-46CD-BB42-1E47-A3459AFF175B}"/>
              </a:ext>
            </a:extLst>
          </p:cNvPr>
          <p:cNvSpPr/>
          <p:nvPr/>
        </p:nvSpPr>
        <p:spPr>
          <a:xfrm>
            <a:off x="806879" y="1915404"/>
            <a:ext cx="10682116" cy="999163"/>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BEC3A09-CD81-F5D2-4E7A-74B551E31F72}"/>
              </a:ext>
            </a:extLst>
          </p:cNvPr>
          <p:cNvSpPr/>
          <p:nvPr/>
        </p:nvSpPr>
        <p:spPr>
          <a:xfrm>
            <a:off x="2286000" y="1730234"/>
            <a:ext cx="8247551" cy="3703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67EA953D-2F39-CBA3-81CB-739ACBA18764}"/>
              </a:ext>
            </a:extLst>
          </p:cNvPr>
          <p:cNvSpPr/>
          <p:nvPr/>
        </p:nvSpPr>
        <p:spPr>
          <a:xfrm>
            <a:off x="2819590" y="3176884"/>
            <a:ext cx="6944589" cy="3781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D832CEF-8B92-C4BF-A3CA-82B2C651A43F}"/>
                  </a:ext>
                </a:extLst>
              </p:cNvPr>
              <p:cNvSpPr>
                <a:spLocks noGrp="1"/>
              </p:cNvSpPr>
              <p:nvPr>
                <p:ph idx="1"/>
              </p:nvPr>
            </p:nvSpPr>
            <p:spPr>
              <a:xfrm>
                <a:off x="136696" y="1603076"/>
                <a:ext cx="12192000" cy="4340431"/>
              </a:xfrm>
            </p:spPr>
            <p:txBody>
              <a:bodyPr>
                <a:noAutofit/>
              </a:bodyPr>
              <a:lstStyle/>
              <a:p>
                <a:pPr marL="0" indent="0" algn="ctr">
                  <a:buClr>
                    <a:schemeClr val="accent3"/>
                  </a:buClr>
                  <a:buNone/>
                </a:pPr>
                <a:r>
                  <a:rPr lang="ja-JP" altLang="en-US" sz="3200">
                    <a:solidFill>
                      <a:srgbClr val="0070C0"/>
                    </a:solidFill>
                    <a:latin typeface="+mn-ea"/>
                    <a:cs typeface="ヒラギノ角ゴ Pro W3"/>
                  </a:rPr>
                  <a:t>線形回帰モデルにおける交換可能性</a:t>
                </a:r>
                <a:r>
                  <a:rPr lang="en-US" altLang="ja-JP" sz="3200" dirty="0">
                    <a:solidFill>
                      <a:srgbClr val="0070C0"/>
                    </a:solidFill>
                    <a:latin typeface="+mn-ea"/>
                    <a:cs typeface="ヒラギノ角ゴ Pro W3"/>
                  </a:rPr>
                  <a:t> </a:t>
                </a:r>
                <a:endParaRPr lang="en-US" altLang="ja-JP" sz="900" dirty="0">
                  <a:solidFill>
                    <a:srgbClr val="0070C0"/>
                  </a:solidFill>
                  <a:latin typeface="+mn-ea"/>
                  <a:cs typeface="ヒラギノ角ゴ Pro W3"/>
                </a:endParaRP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sz="3200" b="0" i="1" smtClean="0">
                          <a:latin typeface="Cambria Math" panose="02040503050406030204" pitchFamily="18" charset="0"/>
                          <a:cs typeface="ヒラギノ角ゴ Pro W3"/>
                        </a:rPr>
                        <m:t>#</m:t>
                      </m:r>
                      <m:d>
                        <m:dPr>
                          <m:begChr m:val="{"/>
                          <m:endChr m:val="}"/>
                          <m:ctrlPr>
                            <a:rPr lang="en-US" altLang="ja-JP" sz="3200" b="0" i="1" smtClean="0">
                              <a:latin typeface="Cambria Math" panose="02040503050406030204" pitchFamily="18" charset="0"/>
                              <a:cs typeface="ヒラギノ角ゴ Pro W3"/>
                            </a:rPr>
                          </m:ctrlPr>
                        </m:dPr>
                        <m:e>
                          <m:r>
                            <a:rPr lang="en-US" altLang="ja-JP" sz="3200" b="0" i="1" smtClean="0">
                              <a:latin typeface="Cambria Math" panose="02040503050406030204" pitchFamily="18" charset="0"/>
                              <a:cs typeface="ヒラギノ角ゴ Pro W3"/>
                            </a:rPr>
                            <m:t> </m:t>
                          </m:r>
                          <m:r>
                            <a:rPr lang="en-US" altLang="ja-JP" sz="3200" b="0" i="1" smtClean="0">
                              <a:latin typeface="Cambria Math" panose="02040503050406030204" pitchFamily="18" charset="0"/>
                              <a:cs typeface="ヒラギノ角ゴ Pro W3"/>
                            </a:rPr>
                            <m:t>𝑗</m:t>
                          </m:r>
                          <m:r>
                            <a:rPr lang="en-US" altLang="ja-JP" sz="3200" b="0" i="1" smtClean="0">
                              <a:latin typeface="Cambria Math" panose="02040503050406030204" pitchFamily="18" charset="0"/>
                              <a:cs typeface="ヒラギノ角ゴ Pro W3"/>
                            </a:rPr>
                            <m:t> :</m:t>
                          </m:r>
                          <m:sSub>
                            <m:sSubPr>
                              <m:ctrlPr>
                                <a:rPr lang="en-US" altLang="ja-JP" sz="3200" b="0" i="1">
                                  <a:latin typeface="Cambria Math" panose="02040503050406030204" pitchFamily="18" charset="0"/>
                                  <a:cs typeface="ヒラギノ角ゴ Pro W3"/>
                                </a:rPr>
                              </m:ctrlPr>
                            </m:sSubPr>
                            <m:e>
                              <m:r>
                                <a:rPr lang="en-US" altLang="ja-JP" sz="3200" i="1">
                                  <a:latin typeface="Cambria Math" panose="02040503050406030204" pitchFamily="18" charset="0"/>
                                </a:rPr>
                                <m:t>𝛽</m:t>
                              </m:r>
                            </m:e>
                            <m:sub>
                              <m:r>
                                <a:rPr lang="en-US" altLang="ja-JP" sz="3200" b="0" i="1" smtClean="0">
                                  <a:latin typeface="Cambria Math" panose="02040503050406030204" pitchFamily="18" charset="0"/>
                                </a:rPr>
                                <m:t>𝑗</m:t>
                              </m:r>
                            </m:sub>
                          </m:sSub>
                          <m:r>
                            <a:rPr lang="en-US" altLang="ja-JP" sz="3200" b="0" i="1" smtClean="0">
                              <a:latin typeface="Cambria Math" panose="02040503050406030204" pitchFamily="18" charset="0"/>
                            </a:rPr>
                            <m:t>=0 </m:t>
                          </m:r>
                          <m:r>
                            <a:rPr lang="en-US" altLang="ja-JP" sz="3200" b="0" i="1" smtClean="0">
                              <a:latin typeface="Cambria Math" panose="02040503050406030204" pitchFamily="18" charset="0"/>
                            </a:rPr>
                            <m:t>𝑎𝑛𝑑</m:t>
                          </m:r>
                          <m:r>
                            <a:rPr lang="en-US" altLang="ja-JP" sz="3200" b="0" i="1" smtClean="0">
                              <a:latin typeface="Cambria Math" panose="02040503050406030204" pitchFamily="18" charset="0"/>
                            </a:rPr>
                            <m:t> </m:t>
                          </m:r>
                          <m:sSub>
                            <m:sSubPr>
                              <m:ctrlPr>
                                <a:rPr lang="en-US" altLang="ja-JP" sz="3200" b="0" i="1" smtClean="0">
                                  <a:latin typeface="Cambria Math" panose="02040503050406030204" pitchFamily="18" charset="0"/>
                                </a:rPr>
                              </m:ctrlPr>
                            </m:sSubPr>
                            <m:e>
                              <m:r>
                                <a:rPr lang="en-US" altLang="ja-JP" sz="3200" b="0" i="1" smtClean="0">
                                  <a:latin typeface="Cambria Math" panose="02040503050406030204" pitchFamily="18" charset="0"/>
                                </a:rPr>
                                <m:t>𝑊</m:t>
                              </m:r>
                            </m:e>
                            <m:sub>
                              <m:r>
                                <a:rPr lang="en-US" altLang="ja-JP" sz="3200" b="0" i="1" smtClean="0">
                                  <a:latin typeface="Cambria Math" panose="02040503050406030204" pitchFamily="18" charset="0"/>
                                </a:rPr>
                                <m:t>𝑗</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𝑡</m:t>
                          </m:r>
                        </m:e>
                      </m:d>
                      <m:limUpp>
                        <m:limUppPr>
                          <m:ctrlPr>
                            <a:rPr lang="ar-AE" altLang="ja-JP" sz="3200" i="1">
                              <a:solidFill>
                                <a:srgbClr val="000000"/>
                              </a:solidFill>
                              <a:latin typeface="Cambria Math" panose="02040503050406030204" pitchFamily="18" charset="0"/>
                            </a:rPr>
                          </m:ctrlPr>
                        </m:limUppPr>
                        <m:e>
                          <m:r>
                            <a:rPr lang="ar-AE" altLang="ja-JP" sz="3200" i="1">
                              <a:solidFill>
                                <a:srgbClr val="000000"/>
                              </a:solidFill>
                              <a:latin typeface="Cambria Math" panose="02040503050406030204" pitchFamily="18" charset="0"/>
                            </a:rPr>
                            <m:t>=</m:t>
                          </m:r>
                        </m:e>
                        <m:lim>
                          <m:r>
                            <a:rPr lang="ar-AE" altLang="ja-JP" sz="3200" i="1">
                              <a:solidFill>
                                <a:srgbClr val="000000"/>
                              </a:solidFill>
                              <a:latin typeface="Cambria Math" panose="02040503050406030204" pitchFamily="18" charset="0"/>
                            </a:rPr>
                            <m:t>𝑑</m:t>
                          </m:r>
                        </m:lim>
                      </m:limUpp>
                      <m:r>
                        <a:rPr lang="en-US" altLang="ja-JP" sz="3200" i="1">
                          <a:latin typeface="Cambria Math" panose="02040503050406030204" pitchFamily="18" charset="0"/>
                          <a:cs typeface="ヒラギノ角ゴ Pro W3"/>
                        </a:rPr>
                        <m:t>#</m:t>
                      </m:r>
                      <m:d>
                        <m:dPr>
                          <m:begChr m:val="{"/>
                          <m:endChr m:val="}"/>
                          <m:ctrlPr>
                            <a:rPr lang="en-US" altLang="ja-JP" sz="3200" i="1">
                              <a:latin typeface="Cambria Math" panose="02040503050406030204" pitchFamily="18" charset="0"/>
                              <a:cs typeface="ヒラギノ角ゴ Pro W3"/>
                            </a:rPr>
                          </m:ctrlPr>
                        </m:dPr>
                        <m:e>
                          <m:r>
                            <a:rPr lang="en-US" altLang="ja-JP" sz="3200" b="0" i="1" smtClean="0">
                              <a:latin typeface="Cambria Math" panose="02040503050406030204" pitchFamily="18" charset="0"/>
                              <a:cs typeface="ヒラギノ角ゴ Pro W3"/>
                            </a:rPr>
                            <m:t> </m:t>
                          </m:r>
                          <m:r>
                            <a:rPr lang="en-US" altLang="ja-JP" sz="3200" i="1">
                              <a:latin typeface="Cambria Math" panose="02040503050406030204" pitchFamily="18" charset="0"/>
                              <a:cs typeface="ヒラギノ角ゴ Pro W3"/>
                            </a:rPr>
                            <m:t>𝑗</m:t>
                          </m:r>
                          <m:r>
                            <a:rPr lang="en-US" altLang="ja-JP" sz="3200" b="0" i="1" smtClean="0">
                              <a:latin typeface="Cambria Math" panose="02040503050406030204" pitchFamily="18" charset="0"/>
                              <a:cs typeface="ヒラギノ角ゴ Pro W3"/>
                            </a:rPr>
                            <m:t> </m:t>
                          </m:r>
                          <m:r>
                            <a:rPr lang="en-US" altLang="ja-JP" sz="3200" i="1">
                              <a:latin typeface="Cambria Math" panose="02040503050406030204" pitchFamily="18" charset="0"/>
                              <a:cs typeface="ヒラギノ角ゴ Pro W3"/>
                            </a:rPr>
                            <m:t>:</m:t>
                          </m:r>
                          <m:sSub>
                            <m:sSubPr>
                              <m:ctrlPr>
                                <a:rPr lang="en-US" altLang="ja-JP" sz="3200" i="1">
                                  <a:latin typeface="Cambria Math" panose="02040503050406030204" pitchFamily="18" charset="0"/>
                                  <a:cs typeface="ヒラギノ角ゴ Pro W3"/>
                                </a:rPr>
                              </m:ctrlPr>
                            </m:sSubPr>
                            <m:e>
                              <m:r>
                                <a:rPr lang="en-US" altLang="ja-JP" sz="3200" i="1">
                                  <a:latin typeface="Cambria Math" panose="02040503050406030204" pitchFamily="18" charset="0"/>
                                </a:rPr>
                                <m:t>𝛽</m:t>
                              </m:r>
                            </m:e>
                            <m:sub>
                              <m:r>
                                <a:rPr lang="en-US" altLang="ja-JP" sz="3200" i="1">
                                  <a:latin typeface="Cambria Math" panose="02040503050406030204" pitchFamily="18" charset="0"/>
                                </a:rPr>
                                <m:t>𝑗</m:t>
                              </m:r>
                            </m:sub>
                          </m:sSub>
                          <m:r>
                            <a:rPr lang="en-US" altLang="ja-JP" sz="3200" i="1">
                              <a:latin typeface="Cambria Math" panose="02040503050406030204" pitchFamily="18" charset="0"/>
                            </a:rPr>
                            <m:t>=0 </m:t>
                          </m:r>
                          <m:r>
                            <a:rPr lang="en-US" altLang="ja-JP" sz="3200" i="1">
                              <a:latin typeface="Cambria Math" panose="02040503050406030204" pitchFamily="18" charset="0"/>
                            </a:rPr>
                            <m:t>𝑎𝑛𝑑</m:t>
                          </m:r>
                          <m:r>
                            <a:rPr lang="en-US" altLang="ja-JP" sz="3200" i="1">
                              <a:latin typeface="Cambria Math" panose="02040503050406030204" pitchFamily="18" charset="0"/>
                            </a:rPr>
                            <m:t> </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𝑊</m:t>
                              </m:r>
                            </m:e>
                            <m:sub>
                              <m:r>
                                <a:rPr lang="en-US" altLang="ja-JP" sz="3200" i="1">
                                  <a:latin typeface="Cambria Math" panose="02040503050406030204" pitchFamily="18" charset="0"/>
                                </a:rPr>
                                <m:t>𝑗</m:t>
                              </m:r>
                            </m:sub>
                          </m:sSub>
                          <m:r>
                            <a:rPr lang="en-US" altLang="ja-JP" sz="320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𝑡</m:t>
                          </m:r>
                        </m:e>
                      </m:d>
                    </m:oMath>
                  </m:oMathPara>
                </a14:m>
                <a:endParaRPr lang="en-US" altLang="ja-JP" sz="3200" dirty="0">
                  <a:latin typeface="+mn-ea"/>
                  <a:cs typeface="ヒラギノ角ゴ Pro W3"/>
                </a:endParaRPr>
              </a:p>
              <a:p>
                <a:pPr marL="0" indent="0">
                  <a:buClr>
                    <a:schemeClr val="accent3"/>
                  </a:buClr>
                  <a:buNone/>
                </a:pPr>
                <a:endParaRPr lang="en-US" altLang="ja-JP" sz="900" dirty="0">
                  <a:latin typeface="+mn-ea"/>
                  <a:cs typeface="ヒラギノ角ゴ Pro W3"/>
                </a:endParaRPr>
              </a:p>
              <a:p>
                <a:pPr marL="0" indent="0">
                  <a:buClr>
                    <a:schemeClr val="accent3"/>
                  </a:buClr>
                  <a:buNone/>
                </a:pPr>
                <a:endParaRPr lang="en-US" altLang="ja-JP" sz="3200" dirty="0">
                  <a:latin typeface="+mn-ea"/>
                  <a:cs typeface="ヒラギノ角ゴ Pro W3"/>
                </a:endParaRPr>
              </a:p>
              <a:p>
                <a:pPr marL="0" indent="0">
                  <a:buClr>
                    <a:schemeClr val="accent3"/>
                  </a:buClr>
                  <a:buNone/>
                </a:pPr>
                <a:r>
                  <a:rPr lang="ja-JP" altLang="en-US" sz="3200">
                    <a:latin typeface="+mn-ea"/>
                    <a:cs typeface="ヒラギノ角ゴ Pro W3"/>
                  </a:rPr>
                  <a:t>このとき</a:t>
                </a:r>
                <a:r>
                  <a:rPr lang="en-US" altLang="ja-JP" sz="3200" dirty="0">
                    <a:latin typeface="+mn-ea"/>
                    <a:cs typeface="ヒラギノ角ゴ Pro W3"/>
                  </a:rPr>
                  <a:t>, </a:t>
                </a:r>
              </a:p>
            </p:txBody>
          </p:sp>
        </mc:Choice>
        <mc:Fallback xmlns="">
          <p:sp>
            <p:nvSpPr>
              <p:cNvPr id="3" name="コンテンツ プレースホルダー 2">
                <a:extLst>
                  <a:ext uri="{FF2B5EF4-FFF2-40B4-BE49-F238E27FC236}">
                    <a16:creationId xmlns:a16="http://schemas.microsoft.com/office/drawing/2014/main" id="{5D832CEF-8B92-C4BF-A3CA-82B2C651A43F}"/>
                  </a:ext>
                </a:extLst>
              </p:cNvPr>
              <p:cNvSpPr>
                <a:spLocks noGrp="1" noRot="1" noChangeAspect="1" noMove="1" noResize="1" noEditPoints="1" noAdjustHandles="1" noChangeArrowheads="1" noChangeShapeType="1" noTextEdit="1"/>
              </p:cNvSpPr>
              <p:nvPr>
                <p:ph idx="1"/>
              </p:nvPr>
            </p:nvSpPr>
            <p:spPr>
              <a:xfrm>
                <a:off x="136696" y="1603076"/>
                <a:ext cx="12192000" cy="4340431"/>
              </a:xfrm>
              <a:blipFill>
                <a:blip r:embed="rId3"/>
                <a:stretch>
                  <a:fillRect l="-1249" t="-2624"/>
                </a:stretch>
              </a:blipFill>
            </p:spPr>
            <p:txBody>
              <a:bodyPr/>
              <a:lstStyle/>
              <a:p>
                <a:r>
                  <a:rPr lang="ja-JP" altLang="en-US">
                    <a:noFill/>
                  </a:rPr>
                  <a:t> </a:t>
                </a:r>
              </a:p>
            </p:txBody>
          </p:sp>
        </mc:Fallback>
      </mc:AlternateContent>
      <p:sp>
        <p:nvSpPr>
          <p:cNvPr id="31" name="テキスト ボックス 30">
            <a:extLst>
              <a:ext uri="{FF2B5EF4-FFF2-40B4-BE49-F238E27FC236}">
                <a16:creationId xmlns:a16="http://schemas.microsoft.com/office/drawing/2014/main" id="{79C4E4CF-80EA-7A20-3BA7-BFB01A6960BD}"/>
              </a:ext>
            </a:extLst>
          </p:cNvPr>
          <p:cNvSpPr txBox="1"/>
          <p:nvPr/>
        </p:nvSpPr>
        <p:spPr>
          <a:xfrm>
            <a:off x="7041231" y="5782278"/>
            <a:ext cx="5150769" cy="584775"/>
          </a:xfrm>
          <a:prstGeom prst="rect">
            <a:avLst/>
          </a:prstGeom>
          <a:noFill/>
        </p:spPr>
        <p:txBody>
          <a:bodyPr wrap="none" rtlCol="0">
            <a:spAutoFit/>
          </a:bodyPr>
          <a:lstStyle/>
          <a:p>
            <a:r>
              <a:rPr kumimoji="1" lang="en-US" altLang="ja-JP" sz="3200" b="1" u="sng" dirty="0">
                <a:solidFill>
                  <a:srgbClr val="0070C0"/>
                </a:solidFill>
                <a:latin typeface="+mn-ea"/>
              </a:rPr>
              <a:t>FDP</a:t>
            </a:r>
            <a:r>
              <a:rPr kumimoji="1" lang="ja-JP" altLang="en-US" sz="3200" b="1" u="sng">
                <a:solidFill>
                  <a:srgbClr val="0070C0"/>
                </a:solidFill>
                <a:latin typeface="+mn-ea"/>
              </a:rPr>
              <a:t>の上界の</a:t>
            </a:r>
            <a:r>
              <a:rPr kumimoji="1" lang="ja-JP" altLang="en-US" sz="3200" b="1" u="sng">
                <a:solidFill>
                  <a:srgbClr val="0070C0"/>
                </a:solidFill>
              </a:rPr>
              <a:t>計算が可能に</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15C45484-FC2E-4501-C7A3-2457F7EF0B44}"/>
                  </a:ext>
                </a:extLst>
              </p:cNvPr>
              <p:cNvSpPr txBox="1"/>
              <p:nvPr/>
            </p:nvSpPr>
            <p:spPr>
              <a:xfrm>
                <a:off x="1194458" y="3046552"/>
                <a:ext cx="6402778" cy="461665"/>
              </a:xfrm>
              <a:prstGeom prst="rect">
                <a:avLst/>
              </a:prstGeom>
              <a:noFill/>
            </p:spPr>
            <p:txBody>
              <a:bodyPr wrap="none" rtlCol="0">
                <a:spAutoFit/>
              </a:bodyPr>
              <a:lstStyle/>
              <a:p>
                <a14:m>
                  <m:oMath xmlns:m="http://schemas.openxmlformats.org/officeDocument/2006/math">
                    <m:r>
                      <a:rPr lang="en-US" altLang="ja-JP" sz="2400" i="1" smtClean="0">
                        <a:latin typeface="Cambria Math" panose="02040503050406030204" pitchFamily="18" charset="0"/>
                      </a:rPr>
                      <m:t>#{</m:t>
                    </m:r>
                    <m:r>
                      <a:rPr lang="en-US" altLang="ja-JP" sz="2400" i="1" smtClean="0">
                        <a:latin typeface="Cambria Math" panose="02040503050406030204" pitchFamily="18" charset="0"/>
                      </a:rPr>
                      <m:t>𝑗</m:t>
                    </m:r>
                    <m:r>
                      <a:rPr lang="en-US" altLang="ja-JP" sz="2400" i="1" smtClean="0">
                        <a:latin typeface="Cambria Math" panose="02040503050406030204" pitchFamily="18" charset="0"/>
                      </a:rPr>
                      <m:t>:</m:t>
                    </m:r>
                    <m:r>
                      <a:rPr lang="en-US" altLang="ja-JP" sz="2400" b="0" i="1" smtClean="0">
                        <a:latin typeface="Cambria Math" panose="02040503050406030204" pitchFamily="18" charset="0"/>
                      </a:rPr>
                      <m:t>𝐴</m:t>
                    </m:r>
                    <m:r>
                      <a:rPr lang="en-US" altLang="ja-JP" sz="2400" i="1" smtClean="0">
                        <a:latin typeface="Cambria Math" panose="02040503050406030204" pitchFamily="18" charset="0"/>
                      </a:rPr>
                      <m:t>}</m:t>
                    </m:r>
                  </m:oMath>
                </a14:m>
                <a:r>
                  <a:rPr kumimoji="1" lang="en-US" altLang="ja-JP" sz="2400" dirty="0"/>
                  <a:t> : </a:t>
                </a:r>
                <a:r>
                  <a:rPr kumimoji="1" lang="ja-JP" altLang="en-US" sz="2400"/>
                  <a:t>条件</a:t>
                </a:r>
                <a14:m>
                  <m:oMath xmlns:m="http://schemas.openxmlformats.org/officeDocument/2006/math">
                    <m:r>
                      <a:rPr kumimoji="1" lang="en-US" altLang="ja-JP" sz="2400" b="0" i="1" smtClean="0">
                        <a:latin typeface="Cambria Math" panose="02040503050406030204" pitchFamily="18" charset="0"/>
                      </a:rPr>
                      <m:t>𝐴</m:t>
                    </m:r>
                  </m:oMath>
                </a14:m>
                <a:r>
                  <a:rPr kumimoji="1" lang="ja-JP" altLang="en-US" sz="2400"/>
                  <a:t>を満たす変数の添字番号の個数</a:t>
                </a:r>
              </a:p>
            </p:txBody>
          </p:sp>
        </mc:Choice>
        <mc:Fallback xmlns="">
          <p:sp>
            <p:nvSpPr>
              <p:cNvPr id="4" name="テキスト ボックス 3">
                <a:extLst>
                  <a:ext uri="{FF2B5EF4-FFF2-40B4-BE49-F238E27FC236}">
                    <a16:creationId xmlns:a16="http://schemas.microsoft.com/office/drawing/2014/main" id="{15C45484-FC2E-4501-C7A3-2457F7EF0B44}"/>
                  </a:ext>
                </a:extLst>
              </p:cNvPr>
              <p:cNvSpPr txBox="1">
                <a:spLocks noRot="1" noChangeAspect="1" noMove="1" noResize="1" noEditPoints="1" noAdjustHandles="1" noChangeArrowheads="1" noChangeShapeType="1" noTextEdit="1"/>
              </p:cNvSpPr>
              <p:nvPr/>
            </p:nvSpPr>
            <p:spPr>
              <a:xfrm>
                <a:off x="1194458" y="3046552"/>
                <a:ext cx="6402778" cy="461665"/>
              </a:xfrm>
              <a:prstGeom prst="rect">
                <a:avLst/>
              </a:prstGeom>
              <a:blipFill>
                <a:blip r:embed="rId4"/>
                <a:stretch>
                  <a:fillRect l="-198" t="-11111" r="-396" b="-3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FDA7F7C-4A7F-114C-B1F6-0CFA875F45A3}"/>
                  </a:ext>
                </a:extLst>
              </p:cNvPr>
              <p:cNvSpPr txBox="1"/>
              <p:nvPr/>
            </p:nvSpPr>
            <p:spPr>
              <a:xfrm>
                <a:off x="382365" y="4170859"/>
                <a:ext cx="11672939" cy="11450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sz="2800" b="0" i="0" smtClean="0">
                          <a:latin typeface="Cambria Math" panose="02040503050406030204" pitchFamily="18" charset="0"/>
                          <a:ea typeface="Cambria Math" panose="02040503050406030204" pitchFamily="18" charset="0"/>
                        </a:rPr>
                        <m:t>FDP</m:t>
                      </m:r>
                      <m:r>
                        <a:rPr lang="en-US" altLang="ja-JP" sz="2800" b="0" i="1" smtClean="0">
                          <a:latin typeface="Cambria Math" panose="02040503050406030204" pitchFamily="18" charset="0"/>
                          <a:ea typeface="Cambria Math" panose="02040503050406030204" pitchFamily="18" charset="0"/>
                        </a:rPr>
                        <m:t>=</m:t>
                      </m:r>
                      <m:f>
                        <m:fPr>
                          <m:ctrlPr>
                            <a:rPr lang="en-US" altLang="ja-JP" sz="2800" i="1" smtClean="0">
                              <a:latin typeface="Cambria Math" panose="02040503050406030204" pitchFamily="18" charset="0"/>
                              <a:ea typeface="Cambria Math" panose="02040503050406030204" pitchFamily="18" charset="0"/>
                            </a:rPr>
                          </m:ctrlPr>
                        </m:fPr>
                        <m:num>
                          <m:r>
                            <a:rPr lang="en-US" altLang="ja-JP" sz="2800" i="1">
                              <a:latin typeface="Cambria Math" panose="02040503050406030204" pitchFamily="18" charset="0"/>
                              <a:ea typeface="Cambria Math" panose="02040503050406030204" pitchFamily="18" charset="0"/>
                            </a:rPr>
                            <m:t>𝑉</m:t>
                          </m:r>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𝜆</m:t>
                          </m:r>
                          <m:r>
                            <a:rPr lang="en-US" altLang="ja-JP" sz="2800" i="1">
                              <a:latin typeface="Cambria Math" panose="02040503050406030204" pitchFamily="18" charset="0"/>
                              <a:ea typeface="Cambria Math" panose="02040503050406030204" pitchFamily="18" charset="0"/>
                            </a:rPr>
                            <m:t>)</m:t>
                          </m:r>
                        </m:num>
                        <m:den>
                          <m:r>
                            <a:rPr lang="en-US" altLang="ja-JP" sz="2800" i="1">
                              <a:latin typeface="Cambria Math" panose="02040503050406030204" pitchFamily="18" charset="0"/>
                              <a:ea typeface="Cambria Math" panose="02040503050406030204" pitchFamily="18" charset="0"/>
                            </a:rPr>
                            <m:t>𝑅</m:t>
                          </m:r>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𝜆</m:t>
                          </m:r>
                          <m:r>
                            <a:rPr lang="en-US" altLang="ja-JP" sz="2800" i="1">
                              <a:latin typeface="Cambria Math" panose="02040503050406030204" pitchFamily="18" charset="0"/>
                              <a:ea typeface="Cambria Math" panose="02040503050406030204" pitchFamily="18" charset="0"/>
                            </a:rPr>
                            <m:t>)</m:t>
                          </m:r>
                        </m:den>
                      </m:f>
                      <m:r>
                        <a:rPr lang="en-US" altLang="ja-JP" sz="2800" b="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1+</m:t>
                          </m:r>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den>
                      </m:f>
                      <m:r>
                        <a:rPr lang="en-US" altLang="ja-JP" sz="280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1+</m:t>
                          </m:r>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b="0" i="1" smtClean="0">
                                  <a:latin typeface="Cambria Math" panose="02040503050406030204" pitchFamily="18" charset="0"/>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den>
                      </m:f>
                    </m:oMath>
                  </m:oMathPara>
                </a14:m>
                <a:endParaRPr lang="ja-JP" altLang="en-US" sz="2800" dirty="0">
                  <a:latin typeface="+mn-ea"/>
                  <a:cs typeface="ヒラギノ角ゴ Pro W3"/>
                </a:endParaRPr>
              </a:p>
            </p:txBody>
          </p:sp>
        </mc:Choice>
        <mc:Fallback xmlns="">
          <p:sp>
            <p:nvSpPr>
              <p:cNvPr id="5" name="テキスト ボックス 4">
                <a:extLst>
                  <a:ext uri="{FF2B5EF4-FFF2-40B4-BE49-F238E27FC236}">
                    <a16:creationId xmlns:a16="http://schemas.microsoft.com/office/drawing/2014/main" id="{3FDA7F7C-4A7F-114C-B1F6-0CFA875F45A3}"/>
                  </a:ext>
                </a:extLst>
              </p:cNvPr>
              <p:cNvSpPr txBox="1">
                <a:spLocks noRot="1" noChangeAspect="1" noMove="1" noResize="1" noEditPoints="1" noAdjustHandles="1" noChangeArrowheads="1" noChangeShapeType="1" noTextEdit="1"/>
              </p:cNvSpPr>
              <p:nvPr/>
            </p:nvSpPr>
            <p:spPr>
              <a:xfrm>
                <a:off x="382365" y="4170859"/>
                <a:ext cx="11672939" cy="1145057"/>
              </a:xfrm>
              <a:prstGeom prst="rect">
                <a:avLst/>
              </a:prstGeom>
              <a:blipFill>
                <a:blip r:embed="rId5"/>
                <a:stretch>
                  <a:fillRect b="-65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92C56E0C-D651-F270-2EF5-377BEA7F4F4F}"/>
                  </a:ext>
                </a:extLst>
              </p:cNvPr>
              <p:cNvSpPr txBox="1"/>
              <p:nvPr/>
            </p:nvSpPr>
            <p:spPr>
              <a:xfrm>
                <a:off x="1194458" y="5492522"/>
                <a:ext cx="5038238" cy="11450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80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1+</m:t>
                          </m:r>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den>
                      </m:f>
                      <m:r>
                        <a:rPr lang="en-US" altLang="ja-JP" sz="2800" b="0" i="1" smtClean="0">
                          <a:latin typeface="Cambria Math" panose="02040503050406030204" pitchFamily="18" charset="0"/>
                          <a:ea typeface="Cambria Math" panose="02040503050406030204" pitchFamily="18" charset="0"/>
                        </a:rPr>
                        <m:t>=</m:t>
                      </m:r>
                      <m:acc>
                        <m:accPr>
                          <m:chr m:val="̂"/>
                          <m:ctrlPr>
                            <a:rPr lang="en-US" altLang="ja-JP" sz="2800" b="0" i="1" smtClean="0">
                              <a:latin typeface="Cambria Math" panose="02040503050406030204" pitchFamily="18" charset="0"/>
                              <a:ea typeface="Cambria Math" panose="02040503050406030204" pitchFamily="18" charset="0"/>
                            </a:rPr>
                          </m:ctrlPr>
                        </m:accPr>
                        <m:e>
                          <m:r>
                            <m:rPr>
                              <m:sty m:val="p"/>
                            </m:rPr>
                            <a:rPr lang="en-US" altLang="ja-JP" sz="2800" i="0">
                              <a:latin typeface="Cambria Math" panose="02040503050406030204" pitchFamily="18" charset="0"/>
                              <a:ea typeface="Cambria Math" panose="02040503050406030204" pitchFamily="18" charset="0"/>
                            </a:rPr>
                            <m:t>FDP</m:t>
                          </m:r>
                        </m:e>
                      </m:acc>
                      <m:r>
                        <a:rPr lang="en-US" altLang="ja-JP" sz="2800" b="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𝜆</m:t>
                      </m:r>
                      <m:r>
                        <a:rPr lang="en-US" altLang="ja-JP" sz="2800" b="0" i="1" smtClean="0">
                          <a:latin typeface="Cambria Math" panose="02040503050406030204" pitchFamily="18" charset="0"/>
                          <a:ea typeface="Cambria Math" panose="02040503050406030204" pitchFamily="18" charset="0"/>
                        </a:rPr>
                        <m:t>)</m:t>
                      </m:r>
                    </m:oMath>
                  </m:oMathPara>
                </a14:m>
                <a:endParaRPr lang="ja-JP" altLang="en-US" sz="2800" dirty="0">
                  <a:latin typeface="+mn-ea"/>
                  <a:cs typeface="ヒラギノ角ゴ Pro W3"/>
                </a:endParaRPr>
              </a:p>
            </p:txBody>
          </p:sp>
        </mc:Choice>
        <mc:Fallback xmlns="">
          <p:sp>
            <p:nvSpPr>
              <p:cNvPr id="6" name="テキスト ボックス 5">
                <a:extLst>
                  <a:ext uri="{FF2B5EF4-FFF2-40B4-BE49-F238E27FC236}">
                    <a16:creationId xmlns:a16="http://schemas.microsoft.com/office/drawing/2014/main" id="{92C56E0C-D651-F270-2EF5-377BEA7F4F4F}"/>
                  </a:ext>
                </a:extLst>
              </p:cNvPr>
              <p:cNvSpPr txBox="1">
                <a:spLocks noRot="1" noChangeAspect="1" noMove="1" noResize="1" noEditPoints="1" noAdjustHandles="1" noChangeArrowheads="1" noChangeShapeType="1" noTextEdit="1"/>
              </p:cNvSpPr>
              <p:nvPr/>
            </p:nvSpPr>
            <p:spPr>
              <a:xfrm>
                <a:off x="1194458" y="5492522"/>
                <a:ext cx="5038238" cy="1145057"/>
              </a:xfrm>
              <a:prstGeom prst="rect">
                <a:avLst/>
              </a:prstGeom>
              <a:blipFill>
                <a:blip r:embed="rId6"/>
                <a:stretch>
                  <a:fillRect b="-6593"/>
                </a:stretch>
              </a:blipFill>
            </p:spPr>
            <p:txBody>
              <a:bodyPr/>
              <a:lstStyle/>
              <a:p>
                <a:r>
                  <a:rPr lang="ja-JP" altLang="en-US">
                    <a:noFill/>
                  </a:rPr>
                  <a:t> </a:t>
                </a:r>
              </a:p>
            </p:txBody>
          </p:sp>
        </mc:Fallback>
      </mc:AlternateContent>
      <p:sp>
        <p:nvSpPr>
          <p:cNvPr id="7" name="右矢印 6">
            <a:extLst>
              <a:ext uri="{FF2B5EF4-FFF2-40B4-BE49-F238E27FC236}">
                <a16:creationId xmlns:a16="http://schemas.microsoft.com/office/drawing/2014/main" id="{7DA85DB4-C107-D976-98E7-58682426C115}"/>
              </a:ext>
            </a:extLst>
          </p:cNvPr>
          <p:cNvSpPr/>
          <p:nvPr/>
        </p:nvSpPr>
        <p:spPr>
          <a:xfrm>
            <a:off x="6218834" y="5737142"/>
            <a:ext cx="749347" cy="668752"/>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9" name="テキスト ボックス 8">
            <a:extLst>
              <a:ext uri="{FF2B5EF4-FFF2-40B4-BE49-F238E27FC236}">
                <a16:creationId xmlns:a16="http://schemas.microsoft.com/office/drawing/2014/main" id="{40B4AC6A-6C71-B349-7334-AE545A3B74C6}"/>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12/28</a:t>
            </a:r>
            <a:endParaRPr kumimoji="1" lang="ja-JP" altLang="en-US" sz="2800">
              <a:latin typeface="+mj-ea"/>
              <a:ea typeface="+mj-ea"/>
            </a:endParaRPr>
          </a:p>
        </p:txBody>
      </p:sp>
    </p:spTree>
    <p:extLst>
      <p:ext uri="{BB962C8B-B14F-4D97-AF65-F5344CB8AC3E}">
        <p14:creationId xmlns:p14="http://schemas.microsoft.com/office/powerpoint/2010/main" val="605897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6BF84-17CE-A22B-66D3-EA52CEBE4EBD}"/>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4F6F417-CACB-217F-4326-CFDE0824E168}"/>
              </a:ext>
            </a:extLst>
          </p:cNvPr>
          <p:cNvSpPr>
            <a:spLocks noGrp="1"/>
          </p:cNvSpPr>
          <p:nvPr>
            <p:ph idx="1"/>
          </p:nvPr>
        </p:nvSpPr>
        <p:spPr>
          <a:xfrm>
            <a:off x="2379" y="710179"/>
            <a:ext cx="12244898" cy="2228291"/>
          </a:xfrm>
        </p:spPr>
        <p:txBody>
          <a:bodyPr>
            <a:noAutofit/>
          </a:bodyPr>
          <a:lstStyle/>
          <a:p>
            <a:pPr marL="0" indent="0">
              <a:buNone/>
            </a:pPr>
            <a:r>
              <a:rPr lang="en-US" altLang="ja-JP" dirty="0">
                <a:solidFill>
                  <a:srgbClr val="1D1C1D"/>
                </a:solidFill>
                <a:effectLst/>
                <a:latin typeface="+mn-ea"/>
                <a:cs typeface="Arial" panose="020B0604020202020204" pitchFamily="34" charset="0"/>
              </a:rPr>
              <a:t> Knockoff</a:t>
            </a:r>
            <a:r>
              <a:rPr lang="ja-JP" altLang="en-US">
                <a:solidFill>
                  <a:srgbClr val="1D1C1D"/>
                </a:solidFill>
                <a:effectLst/>
                <a:latin typeface="+mn-ea"/>
                <a:cs typeface="Arial" panose="020B0604020202020204" pitchFamily="34" charset="0"/>
              </a:rPr>
              <a:t>法は線形回帰モデル以外にも</a:t>
            </a:r>
            <a:r>
              <a:rPr lang="en-US" altLang="ja-JP" dirty="0">
                <a:solidFill>
                  <a:srgbClr val="1D1C1D"/>
                </a:solidFill>
                <a:effectLst/>
                <a:latin typeface="+mn-ea"/>
                <a:cs typeface="Arial" panose="020B0604020202020204" pitchFamily="34" charset="0"/>
              </a:rPr>
              <a:t>, </a:t>
            </a:r>
            <a:r>
              <a:rPr lang="ja-JP" altLang="en-US">
                <a:solidFill>
                  <a:srgbClr val="1D1C1D"/>
                </a:solidFill>
                <a:latin typeface="+mn-ea"/>
                <a:cs typeface="Arial" panose="020B0604020202020204" pitchFamily="34" charset="0"/>
              </a:rPr>
              <a:t>様々な手法で採用されている</a:t>
            </a:r>
            <a:endParaRPr lang="en-US" altLang="ja-JP" dirty="0">
              <a:solidFill>
                <a:srgbClr val="1D1C1D"/>
              </a:solidFill>
              <a:latin typeface="+mn-ea"/>
              <a:cs typeface="Arial" panose="020B0604020202020204" pitchFamily="34" charset="0"/>
            </a:endParaRPr>
          </a:p>
          <a:p>
            <a:pPr marL="0" indent="0">
              <a:buNone/>
            </a:pPr>
            <a:r>
              <a:rPr lang="en-US" altLang="ja-JP" dirty="0">
                <a:solidFill>
                  <a:srgbClr val="1D1C1D"/>
                </a:solidFill>
                <a:latin typeface="+mn-ea"/>
                <a:cs typeface="Arial" panose="020B0604020202020204" pitchFamily="34" charset="0"/>
              </a:rPr>
              <a:t> (</a:t>
            </a:r>
            <a:r>
              <a:rPr lang="en-US" altLang="ja-JP" dirty="0" err="1">
                <a:solidFill>
                  <a:srgbClr val="1D1C1D"/>
                </a:solidFill>
                <a:latin typeface="+mn-ea"/>
                <a:cs typeface="Arial" panose="020B0604020202020204" pitchFamily="34" charset="0"/>
              </a:rPr>
              <a:t>Seisia</a:t>
            </a:r>
            <a:r>
              <a:rPr lang="en-US" altLang="ja-JP" dirty="0">
                <a:solidFill>
                  <a:srgbClr val="1D1C1D"/>
                </a:solidFill>
                <a:latin typeface="+mn-ea"/>
                <a:cs typeface="Arial" panose="020B0604020202020204" pitchFamily="34" charset="0"/>
              </a:rPr>
              <a:t>, 2019., Romano, 2019 </a:t>
            </a:r>
            <a:r>
              <a:rPr lang="ja-JP" altLang="en-US">
                <a:solidFill>
                  <a:srgbClr val="1D1C1D"/>
                </a:solidFill>
                <a:latin typeface="+mn-ea"/>
                <a:cs typeface="Arial" panose="020B0604020202020204" pitchFamily="34" charset="0"/>
              </a:rPr>
              <a:t>など</a:t>
            </a:r>
            <a:r>
              <a:rPr lang="en-US" altLang="ja-JP" dirty="0">
                <a:solidFill>
                  <a:srgbClr val="1D1C1D"/>
                </a:solidFill>
                <a:latin typeface="+mn-ea"/>
                <a:cs typeface="Arial" panose="020B0604020202020204" pitchFamily="34" charset="0"/>
              </a:rPr>
              <a:t> )</a:t>
            </a:r>
          </a:p>
          <a:p>
            <a:pPr marL="0" indent="0">
              <a:buNone/>
            </a:pPr>
            <a:r>
              <a:rPr lang="ja-JP" altLang="en-US" sz="800">
                <a:solidFill>
                  <a:srgbClr val="1D1C1D"/>
                </a:solidFill>
                <a:effectLst/>
                <a:latin typeface="+mn-ea"/>
                <a:cs typeface="Arial" panose="020B0604020202020204" pitchFamily="34" charset="0"/>
              </a:rPr>
              <a:t>　　</a:t>
            </a:r>
            <a:endParaRPr lang="en-US" altLang="ja-JP" sz="800" dirty="0">
              <a:solidFill>
                <a:srgbClr val="1D1C1D"/>
              </a:solidFill>
              <a:effectLst/>
              <a:latin typeface="+mn-ea"/>
              <a:cs typeface="Arial" panose="020B0604020202020204" pitchFamily="34" charset="0"/>
            </a:endParaRPr>
          </a:p>
          <a:p>
            <a:pPr marL="0" indent="0">
              <a:buNone/>
            </a:pPr>
            <a:r>
              <a:rPr lang="ja-JP" altLang="en-US">
                <a:effectLst/>
                <a:latin typeface="+mn-ea"/>
              </a:rPr>
              <a:t>　　</a:t>
            </a:r>
            <a:r>
              <a:rPr lang="en-US" altLang="ja-JP" dirty="0">
                <a:effectLst/>
                <a:latin typeface="+mn-ea"/>
              </a:rPr>
              <a:t> Knockoff</a:t>
            </a:r>
            <a:r>
              <a:rPr lang="ja-JP" altLang="en-US">
                <a:effectLst/>
                <a:latin typeface="Helvetica" pitchFamily="2" charset="0"/>
              </a:rPr>
              <a:t>法によりスパース主成分分析内の調整パラメータを選択する</a:t>
            </a:r>
            <a:r>
              <a:rPr lang="en-US" altLang="ja-JP" dirty="0">
                <a:effectLst/>
                <a:latin typeface="Helvetica" pitchFamily="2" charset="0"/>
              </a:rPr>
              <a:t>    </a:t>
            </a:r>
          </a:p>
          <a:p>
            <a:pPr marL="0" indent="0">
              <a:buNone/>
            </a:pPr>
            <a:r>
              <a:rPr lang="en-US" altLang="ja-JP" dirty="0">
                <a:latin typeface="Helvetica" pitchFamily="2" charset="0"/>
              </a:rPr>
              <a:t>        </a:t>
            </a:r>
            <a:r>
              <a:rPr lang="ja-JP" altLang="en-US">
                <a:effectLst/>
                <a:latin typeface="Helvetica" pitchFamily="2" charset="0"/>
              </a:rPr>
              <a:t>手法を提案する</a:t>
            </a:r>
          </a:p>
          <a:p>
            <a:pPr marL="0" indent="0">
              <a:buNone/>
            </a:pPr>
            <a:endParaRPr lang="en-US" altLang="ja-JP" dirty="0">
              <a:latin typeface="+mn-ea"/>
            </a:endParaRPr>
          </a:p>
        </p:txBody>
      </p:sp>
      <p:sp>
        <p:nvSpPr>
          <p:cNvPr id="4" name="右矢印 3">
            <a:extLst>
              <a:ext uri="{FF2B5EF4-FFF2-40B4-BE49-F238E27FC236}">
                <a16:creationId xmlns:a16="http://schemas.microsoft.com/office/drawing/2014/main" id="{DDE79368-D694-BF6A-913A-BC1D18C23797}"/>
              </a:ext>
            </a:extLst>
          </p:cNvPr>
          <p:cNvSpPr/>
          <p:nvPr/>
        </p:nvSpPr>
        <p:spPr>
          <a:xfrm>
            <a:off x="87891" y="1974476"/>
            <a:ext cx="638781" cy="424151"/>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a:extLst>
              <a:ext uri="{FF2B5EF4-FFF2-40B4-BE49-F238E27FC236}">
                <a16:creationId xmlns:a16="http://schemas.microsoft.com/office/drawing/2014/main" id="{6867414F-FB63-372C-CF1F-DC686A64B7F3}"/>
              </a:ext>
            </a:extLst>
          </p:cNvPr>
          <p:cNvSpPr txBox="1">
            <a:spLocks/>
          </p:cNvSpPr>
          <p:nvPr/>
        </p:nvSpPr>
        <p:spPr>
          <a:xfrm>
            <a:off x="0" y="1335"/>
            <a:ext cx="10016696"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提案手法</a:t>
            </a:r>
            <a:endParaRPr lang="ja-JP" altLang="en-US" b="1">
              <a:solidFill>
                <a:srgbClr val="FFC000"/>
              </a:solidFill>
              <a:latin typeface="+mj-ea"/>
            </a:endParaRPr>
          </a:p>
        </p:txBody>
      </p:sp>
      <p:sp>
        <p:nvSpPr>
          <p:cNvPr id="2" name="正方形/長方形 1">
            <a:extLst>
              <a:ext uri="{FF2B5EF4-FFF2-40B4-BE49-F238E27FC236}">
                <a16:creationId xmlns:a16="http://schemas.microsoft.com/office/drawing/2014/main" id="{00DBECE3-69AF-D71C-881B-610BED284A80}"/>
              </a:ext>
            </a:extLst>
          </p:cNvPr>
          <p:cNvSpPr/>
          <p:nvPr/>
        </p:nvSpPr>
        <p:spPr>
          <a:xfrm>
            <a:off x="656593" y="3425655"/>
            <a:ext cx="1676406" cy="54485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mn-ea"/>
              </a:rPr>
              <a:t>lasso</a:t>
            </a:r>
            <a:endParaRPr kumimoji="1" lang="ja-JP" altLang="en-US" sz="2800" b="1">
              <a:latin typeface="+mn-ea"/>
            </a:endParaRPr>
          </a:p>
        </p:txBody>
      </p:sp>
      <p:sp>
        <p:nvSpPr>
          <p:cNvPr id="10" name="正方形/長方形 9">
            <a:extLst>
              <a:ext uri="{FF2B5EF4-FFF2-40B4-BE49-F238E27FC236}">
                <a16:creationId xmlns:a16="http://schemas.microsoft.com/office/drawing/2014/main" id="{B3F9BA0A-D55D-1B77-9907-5812C3EEDECA}"/>
              </a:ext>
            </a:extLst>
          </p:cNvPr>
          <p:cNvSpPr/>
          <p:nvPr/>
        </p:nvSpPr>
        <p:spPr>
          <a:xfrm>
            <a:off x="9428465" y="3040082"/>
            <a:ext cx="2117036" cy="329469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mn-ea"/>
              </a:rPr>
              <a:t>FDR</a:t>
            </a:r>
            <a:r>
              <a:rPr kumimoji="1" lang="ja-JP" altLang="en-US" sz="2800" b="1">
                <a:latin typeface="+mn-ea"/>
              </a:rPr>
              <a:t>制御</a:t>
            </a:r>
          </a:p>
        </p:txBody>
      </p:sp>
      <p:cxnSp>
        <p:nvCxnSpPr>
          <p:cNvPr id="12" name="直線矢印コネクタ 11">
            <a:extLst>
              <a:ext uri="{FF2B5EF4-FFF2-40B4-BE49-F238E27FC236}">
                <a16:creationId xmlns:a16="http://schemas.microsoft.com/office/drawing/2014/main" id="{36AEFBE9-9542-3B11-17F4-4CE5C4FBF5EB}"/>
              </a:ext>
            </a:extLst>
          </p:cNvPr>
          <p:cNvCxnSpPr>
            <a:cxnSpLocks/>
          </p:cNvCxnSpPr>
          <p:nvPr/>
        </p:nvCxnSpPr>
        <p:spPr>
          <a:xfrm>
            <a:off x="2332999" y="3727909"/>
            <a:ext cx="2675349" cy="0"/>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76CB2B3B-D953-553F-12BC-E41F61581090}"/>
              </a:ext>
            </a:extLst>
          </p:cNvPr>
          <p:cNvCxnSpPr>
            <a:cxnSpLocks/>
          </p:cNvCxnSpPr>
          <p:nvPr/>
        </p:nvCxnSpPr>
        <p:spPr>
          <a:xfrm>
            <a:off x="7238258" y="3736891"/>
            <a:ext cx="2190207" cy="0"/>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25" name="正方形/長方形 24">
            <a:extLst>
              <a:ext uri="{FF2B5EF4-FFF2-40B4-BE49-F238E27FC236}">
                <a16:creationId xmlns:a16="http://schemas.microsoft.com/office/drawing/2014/main" id="{DDC64857-886A-0772-A8F9-B39DFF18D391}"/>
              </a:ext>
            </a:extLst>
          </p:cNvPr>
          <p:cNvSpPr/>
          <p:nvPr/>
        </p:nvSpPr>
        <p:spPr>
          <a:xfrm>
            <a:off x="5011399" y="3040082"/>
            <a:ext cx="2226859" cy="32946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mn-ea"/>
              </a:rPr>
              <a:t>Knockoff</a:t>
            </a:r>
            <a:r>
              <a:rPr kumimoji="1" lang="ja-JP" altLang="en-US" sz="2800" b="1">
                <a:latin typeface="+mn-ea"/>
              </a:rPr>
              <a:t>法</a:t>
            </a:r>
          </a:p>
        </p:txBody>
      </p:sp>
      <p:cxnSp>
        <p:nvCxnSpPr>
          <p:cNvPr id="32" name="直線矢印コネクタ 31">
            <a:extLst>
              <a:ext uri="{FF2B5EF4-FFF2-40B4-BE49-F238E27FC236}">
                <a16:creationId xmlns:a16="http://schemas.microsoft.com/office/drawing/2014/main" id="{2E61755B-0222-4423-34BC-E9130AA3492C}"/>
              </a:ext>
            </a:extLst>
          </p:cNvPr>
          <p:cNvCxnSpPr>
            <a:cxnSpLocks/>
            <a:stCxn id="44" idx="3"/>
          </p:cNvCxnSpPr>
          <p:nvPr/>
        </p:nvCxnSpPr>
        <p:spPr>
          <a:xfrm>
            <a:off x="4253557" y="5661639"/>
            <a:ext cx="754791" cy="0"/>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F86166C3-38EF-DCC2-C9CD-5BE10BE70394}"/>
              </a:ext>
            </a:extLst>
          </p:cNvPr>
          <p:cNvCxnSpPr>
            <a:cxnSpLocks/>
          </p:cNvCxnSpPr>
          <p:nvPr/>
        </p:nvCxnSpPr>
        <p:spPr>
          <a:xfrm>
            <a:off x="7238258" y="5593431"/>
            <a:ext cx="2208534" cy="0"/>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44" name="正方形/長方形 43">
            <a:extLst>
              <a:ext uri="{FF2B5EF4-FFF2-40B4-BE49-F238E27FC236}">
                <a16:creationId xmlns:a16="http://schemas.microsoft.com/office/drawing/2014/main" id="{7182F688-5A95-BAAF-C00A-9C0DA7CE2D90}"/>
              </a:ext>
            </a:extLst>
          </p:cNvPr>
          <p:cNvSpPr/>
          <p:nvPr/>
        </p:nvSpPr>
        <p:spPr>
          <a:xfrm>
            <a:off x="645266" y="5389213"/>
            <a:ext cx="3608291" cy="54485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latin typeface="+mn-ea"/>
              </a:rPr>
              <a:t>スパース主成分分析</a:t>
            </a:r>
          </a:p>
        </p:txBody>
      </p:sp>
      <p:sp>
        <p:nvSpPr>
          <p:cNvPr id="5" name="テキスト ボックス 4">
            <a:extLst>
              <a:ext uri="{FF2B5EF4-FFF2-40B4-BE49-F238E27FC236}">
                <a16:creationId xmlns:a16="http://schemas.microsoft.com/office/drawing/2014/main" id="{403152F9-57F7-6077-9A15-6ADA9899D45E}"/>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13/28</a:t>
            </a:r>
            <a:endParaRPr kumimoji="1" lang="ja-JP" altLang="en-US" sz="2800">
              <a:latin typeface="+mj-ea"/>
              <a:ea typeface="+mj-ea"/>
            </a:endParaRPr>
          </a:p>
        </p:txBody>
      </p:sp>
    </p:spTree>
    <p:extLst>
      <p:ext uri="{BB962C8B-B14F-4D97-AF65-F5344CB8AC3E}">
        <p14:creationId xmlns:p14="http://schemas.microsoft.com/office/powerpoint/2010/main" val="2406807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237281-009E-F43C-C930-71884F7FADCA}"/>
              </a:ext>
            </a:extLst>
          </p:cNvPr>
          <p:cNvSpPr/>
          <p:nvPr/>
        </p:nvSpPr>
        <p:spPr>
          <a:xfrm>
            <a:off x="162600" y="1949776"/>
            <a:ext cx="11782271" cy="3244713"/>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CE3A54B5-A307-BA12-E581-EDDEC1156070}"/>
                  </a:ext>
                </a:extLst>
              </p:cNvPr>
              <p:cNvSpPr txBox="1"/>
              <p:nvPr/>
            </p:nvSpPr>
            <p:spPr>
              <a:xfrm>
                <a:off x="247129" y="2451256"/>
                <a:ext cx="11389849" cy="2923877"/>
              </a:xfrm>
              <a:prstGeom prst="rect">
                <a:avLst/>
              </a:prstGeom>
              <a:noFill/>
            </p:spPr>
            <p:txBody>
              <a:bodyPr wrap="none" rtlCol="0">
                <a:spAutoFit/>
              </a:bodyPr>
              <a:lstStyle/>
              <a:p>
                <a:r>
                  <a:rPr lang="ja-JP" altLang="en-US" sz="3200">
                    <a:solidFill>
                      <a:schemeClr val="tx1"/>
                    </a:solidFill>
                    <a:latin typeface="+mn-ea"/>
                    <a:cs typeface="ヒラギノ角ゴ Pro W3"/>
                  </a:rPr>
                  <a:t>手順</a:t>
                </a:r>
                <a:r>
                  <a:rPr lang="en-US" altLang="ja-JP" sz="3200" dirty="0">
                    <a:solidFill>
                      <a:schemeClr val="tx1"/>
                    </a:solidFill>
                    <a:latin typeface="+mn-ea"/>
                    <a:cs typeface="ヒラギノ角ゴ Pro W3"/>
                  </a:rPr>
                  <a:t>1.</a:t>
                </a:r>
                <a:r>
                  <a:rPr lang="ja-JP" altLang="en-US" sz="3200">
                    <a:latin typeface="+mn-ea"/>
                    <a:cs typeface="ヒラギノ角ゴ Pro W3"/>
                  </a:rPr>
                  <a:t>　</a:t>
                </a:r>
                <a:r>
                  <a:rPr lang="en-US" altLang="ja-JP" sz="3200" dirty="0">
                    <a:solidFill>
                      <a:schemeClr val="tx1"/>
                    </a:solidFill>
                    <a:latin typeface="+mn-ea"/>
                    <a:cs typeface="ヒラギノ角ゴ Pro W3"/>
                  </a:rPr>
                  <a:t>Knockoff</a:t>
                </a:r>
                <a:r>
                  <a:rPr lang="ja-JP" altLang="en-US" sz="3200">
                    <a:solidFill>
                      <a:schemeClr val="tx1"/>
                    </a:solidFill>
                    <a:latin typeface="+mn-ea"/>
                    <a:cs typeface="ヒラギノ角ゴ Pro W3"/>
                  </a:rPr>
                  <a:t>変数</a:t>
                </a:r>
                <a14:m>
                  <m:oMath xmlns:m="http://schemas.openxmlformats.org/officeDocument/2006/math">
                    <m:sSub>
                      <m:sSubPr>
                        <m:ctrlPr>
                          <a:rPr lang="en-US" altLang="ja-JP" sz="3200" b="0" i="1" smtClean="0">
                            <a:solidFill>
                              <a:schemeClr val="tx1"/>
                            </a:solidFill>
                            <a:latin typeface="Cambria Math" panose="02040503050406030204" pitchFamily="18" charset="0"/>
                          </a:rPr>
                        </m:ctrlPr>
                      </m:sSubPr>
                      <m:e>
                        <m:acc>
                          <m:accPr>
                            <m:chr m:val="̃"/>
                            <m:ctrlPr>
                              <a:rPr lang="ja-JP" altLang="en-US" sz="3200" i="1" smtClean="0">
                                <a:solidFill>
                                  <a:schemeClr val="tx1"/>
                                </a:solidFill>
                                <a:latin typeface="Cambria Math" panose="02040503050406030204" pitchFamily="18" charset="0"/>
                              </a:rPr>
                            </m:ctrlPr>
                          </m:accPr>
                          <m:e>
                            <m:r>
                              <a:rPr lang="en-US" altLang="ja-JP" sz="3200" b="1" i="1" smtClean="0">
                                <a:solidFill>
                                  <a:schemeClr val="tx1"/>
                                </a:solidFill>
                                <a:latin typeface="Cambria Math" panose="02040503050406030204" pitchFamily="18" charset="0"/>
                              </a:rPr>
                              <m:t>𝒙</m:t>
                            </m:r>
                          </m:e>
                        </m:acc>
                      </m:e>
                      <m:sub>
                        <m:r>
                          <a:rPr lang="en-US" altLang="ja-JP" sz="3200" b="0" i="1" smtClean="0">
                            <a:solidFill>
                              <a:schemeClr val="tx1"/>
                            </a:solidFill>
                            <a:latin typeface="Cambria Math" panose="02040503050406030204" pitchFamily="18" charset="0"/>
                          </a:rPr>
                          <m:t>𝑖</m:t>
                        </m:r>
                      </m:sub>
                    </m:sSub>
                  </m:oMath>
                </a14:m>
                <a:r>
                  <a:rPr lang="ja-JP" altLang="en-US" sz="3200">
                    <a:solidFill>
                      <a:schemeClr val="tx1"/>
                    </a:solidFill>
                    <a:latin typeface="+mn-ea"/>
                    <a:cs typeface="ヒラギノ角ゴ Pro W3"/>
                  </a:rPr>
                  <a:t>の作成</a:t>
                </a:r>
                <a:endParaRPr lang="en-US" altLang="ja-JP" sz="3200" dirty="0">
                  <a:solidFill>
                    <a:schemeClr val="tx1"/>
                  </a:solidFill>
                  <a:latin typeface="+mn-ea"/>
                  <a:cs typeface="ヒラギノ角ゴ Pro W3"/>
                </a:endParaRPr>
              </a:p>
              <a:p>
                <a:pPr marL="514350" indent="-514350">
                  <a:buAutoNum type="arabicPeriod"/>
                </a:pPr>
                <a:endParaRPr lang="en-US" altLang="ja-JP" sz="800" i="1" dirty="0">
                  <a:solidFill>
                    <a:schemeClr val="tx1"/>
                  </a:solidFill>
                  <a:latin typeface="+mn-ea"/>
                  <a:cs typeface="ヒラギノ角ゴ Pro W3"/>
                </a:endParaRPr>
              </a:p>
              <a:p>
                <a:r>
                  <a:rPr kumimoji="1" lang="ja-JP" altLang="en-US" sz="3200">
                    <a:solidFill>
                      <a:schemeClr val="tx1"/>
                    </a:solidFill>
                    <a:latin typeface="+mn-ea"/>
                    <a:cs typeface="ヒラギノ角ゴ Pro W3"/>
                  </a:rPr>
                  <a:t>手順</a:t>
                </a:r>
                <a:r>
                  <a:rPr kumimoji="1" lang="en-US" altLang="ja-JP" sz="3200" dirty="0">
                    <a:solidFill>
                      <a:schemeClr val="tx1"/>
                    </a:solidFill>
                    <a:latin typeface="+mn-ea"/>
                    <a:cs typeface="ヒラギノ角ゴ Pro W3"/>
                  </a:rPr>
                  <a:t>2.</a:t>
                </a:r>
                <a:r>
                  <a:rPr kumimoji="1" lang="ja-JP" altLang="en-US" sz="3200">
                    <a:solidFill>
                      <a:schemeClr val="tx1"/>
                    </a:solidFill>
                    <a:latin typeface="+mn-ea"/>
                    <a:cs typeface="ヒラギノ角ゴ Pro W3"/>
                  </a:rPr>
                  <a:t>　統計量</a:t>
                </a:r>
                <a14:m>
                  <m:oMath xmlns:m="http://schemas.openxmlformats.org/officeDocument/2006/math">
                    <m:sSub>
                      <m:sSubPr>
                        <m:ctrlPr>
                          <a:rPr kumimoji="1" lang="en-US" altLang="ja-JP" sz="3200" b="0" i="1" smtClean="0">
                            <a:solidFill>
                              <a:schemeClr val="tx1"/>
                            </a:solidFill>
                            <a:latin typeface="Cambria Math" panose="02040503050406030204" pitchFamily="18" charset="0"/>
                            <a:cs typeface="ヒラギノ角ゴ Pro W3"/>
                          </a:rPr>
                        </m:ctrlPr>
                      </m:sSubPr>
                      <m:e>
                        <m:r>
                          <a:rPr kumimoji="1" lang="en-US" altLang="ja-JP" sz="3200" b="1" i="1" smtClean="0">
                            <a:solidFill>
                              <a:schemeClr val="tx1"/>
                            </a:solidFill>
                            <a:latin typeface="Cambria Math" panose="02040503050406030204" pitchFamily="18" charset="0"/>
                            <a:cs typeface="ヒラギノ角ゴ Pro W3"/>
                          </a:rPr>
                          <m:t>𝑾</m:t>
                        </m:r>
                      </m:e>
                      <m:sub>
                        <m:r>
                          <a:rPr kumimoji="1" lang="en-US" altLang="ja-JP" sz="3200" b="0" i="1" smtClean="0">
                            <a:solidFill>
                              <a:schemeClr val="tx1"/>
                            </a:solidFill>
                            <a:latin typeface="Cambria Math" panose="02040503050406030204" pitchFamily="18" charset="0"/>
                            <a:cs typeface="ヒラギノ角ゴ Pro W3"/>
                          </a:rPr>
                          <m:t>𝑘</m:t>
                        </m:r>
                      </m:sub>
                    </m:sSub>
                  </m:oMath>
                </a14:m>
                <a:r>
                  <a:rPr kumimoji="1" lang="ja-JP" altLang="en-US" sz="3200">
                    <a:solidFill>
                      <a:schemeClr val="tx1"/>
                    </a:solidFill>
                    <a:latin typeface="+mn-ea"/>
                    <a:cs typeface="ヒラギノ角ゴ Pro W3"/>
                  </a:rPr>
                  <a:t>の導出</a:t>
                </a:r>
                <a:endParaRPr kumimoji="1" lang="en-US" altLang="ja-JP" sz="3200" dirty="0">
                  <a:solidFill>
                    <a:schemeClr val="tx1"/>
                  </a:solidFill>
                  <a:latin typeface="+mn-ea"/>
                  <a:cs typeface="ヒラギノ角ゴ Pro W3"/>
                </a:endParaRPr>
              </a:p>
              <a:p>
                <a:endParaRPr kumimoji="1" lang="en-US" altLang="ja-JP" sz="800" dirty="0">
                  <a:solidFill>
                    <a:schemeClr val="tx1"/>
                  </a:solidFill>
                  <a:latin typeface="+mn-ea"/>
                  <a:cs typeface="ヒラギノ角ゴ Pro W3"/>
                </a:endParaRPr>
              </a:p>
              <a:p>
                <a:r>
                  <a:rPr lang="ja-JP" altLang="en-US" sz="3200">
                    <a:solidFill>
                      <a:schemeClr val="tx1"/>
                    </a:solidFill>
                    <a:latin typeface="+mn-ea"/>
                    <a:cs typeface="ヒラギノ角ゴ Pro W3"/>
                  </a:rPr>
                  <a:t>手順</a:t>
                </a:r>
                <a:r>
                  <a:rPr lang="en-US" altLang="ja-JP" sz="3200" dirty="0">
                    <a:solidFill>
                      <a:schemeClr val="tx1"/>
                    </a:solidFill>
                    <a:latin typeface="+mn-ea"/>
                    <a:cs typeface="ヒラギノ角ゴ Pro W3"/>
                  </a:rPr>
                  <a:t>3.</a:t>
                </a:r>
                <a:r>
                  <a:rPr lang="ja-JP" altLang="en-US" sz="3200">
                    <a:solidFill>
                      <a:schemeClr val="tx1"/>
                    </a:solidFill>
                    <a:latin typeface="+mn-ea"/>
                    <a:cs typeface="ヒラギノ角ゴ Pro W3"/>
                  </a:rPr>
                  <a:t>　しきい値</a:t>
                </a:r>
                <a14:m>
                  <m:oMath xmlns:m="http://schemas.openxmlformats.org/officeDocument/2006/math">
                    <m:sSub>
                      <m:sSubPr>
                        <m:ctrlPr>
                          <a:rPr lang="en-US" altLang="ja-JP" sz="3200" b="0" i="1" smtClean="0">
                            <a:solidFill>
                              <a:schemeClr val="tx1"/>
                            </a:solidFill>
                            <a:latin typeface="Cambria Math" panose="02040503050406030204" pitchFamily="18" charset="0"/>
                            <a:cs typeface="ヒラギノ角ゴ Pro W3"/>
                          </a:rPr>
                        </m:ctrlPr>
                      </m:sSubPr>
                      <m:e>
                        <m:r>
                          <a:rPr lang="en-US" altLang="ja-JP" sz="3200" b="1" i="1">
                            <a:solidFill>
                              <a:schemeClr val="tx1"/>
                            </a:solidFill>
                            <a:latin typeface="Cambria Math" panose="02040503050406030204" pitchFamily="18" charset="0"/>
                            <a:cs typeface="ヒラギノ角ゴ Pro W3"/>
                          </a:rPr>
                          <m:t>𝑻</m:t>
                        </m:r>
                      </m:e>
                      <m:sub>
                        <m:r>
                          <a:rPr lang="en-US" altLang="ja-JP" sz="3200" b="0" i="1" smtClean="0">
                            <a:solidFill>
                              <a:schemeClr val="tx1"/>
                            </a:solidFill>
                            <a:latin typeface="Cambria Math" panose="02040503050406030204" pitchFamily="18" charset="0"/>
                            <a:cs typeface="ヒラギノ角ゴ Pro W3"/>
                          </a:rPr>
                          <m:t>𝑘</m:t>
                        </m:r>
                      </m:sub>
                    </m:sSub>
                  </m:oMath>
                </a14:m>
                <a:r>
                  <a:rPr lang="ja-JP" altLang="en-US" sz="3200">
                    <a:solidFill>
                      <a:schemeClr val="tx1"/>
                    </a:solidFill>
                    <a:latin typeface="+mn-ea"/>
                    <a:cs typeface="ヒラギノ角ゴ Pro W3"/>
                  </a:rPr>
                  <a:t>の導出</a:t>
                </a:r>
                <a:endParaRPr lang="en-US" altLang="ja-JP" sz="3200" dirty="0">
                  <a:solidFill>
                    <a:schemeClr val="tx1"/>
                  </a:solidFill>
                  <a:latin typeface="+mn-ea"/>
                  <a:cs typeface="ヒラギノ角ゴ Pro W3"/>
                </a:endParaRPr>
              </a:p>
              <a:p>
                <a:pPr marL="514350" indent="-514350">
                  <a:buAutoNum type="arabicPeriod" startAt="3"/>
                </a:pPr>
                <a:endParaRPr lang="en-US" altLang="ja-JP" sz="800" dirty="0">
                  <a:solidFill>
                    <a:schemeClr val="tx1"/>
                  </a:solidFill>
                  <a:latin typeface="+mn-ea"/>
                  <a:cs typeface="ヒラギノ角ゴ Pro W3"/>
                </a:endParaRPr>
              </a:p>
              <a:p>
                <a:pPr marL="0" indent="0">
                  <a:buNone/>
                </a:pPr>
                <a:r>
                  <a:rPr lang="ja-JP" altLang="en-US" sz="3200">
                    <a:latin typeface="+mn-ea"/>
                    <a:cs typeface="ヒラギノ角ゴ Pro W3"/>
                  </a:rPr>
                  <a:t>手順</a:t>
                </a:r>
                <a:r>
                  <a:rPr lang="en-US" altLang="ja-JP" sz="3200" dirty="0">
                    <a:latin typeface="+mn-ea"/>
                    <a:cs typeface="ヒラギノ角ゴ Pro W3"/>
                  </a:rPr>
                  <a:t>4.</a:t>
                </a:r>
                <a:r>
                  <a:rPr lang="ja-JP" altLang="en-US" sz="3200">
                    <a:latin typeface="+mn-ea"/>
                    <a:cs typeface="ヒラギノ角ゴ Pro W3"/>
                  </a:rPr>
                  <a:t>　主成分負荷量</a:t>
                </a:r>
                <a:r>
                  <a:rPr lang="ja-JP" altLang="en-US" sz="3200">
                    <a:solidFill>
                      <a:schemeClr val="tx1"/>
                    </a:solidFill>
                    <a:latin typeface="+mn-ea"/>
                    <a:cs typeface="ヒラギノ角ゴ Pro W3"/>
                  </a:rPr>
                  <a:t>の選択，および調整パラメータ</a:t>
                </a:r>
                <a14:m>
                  <m:oMath xmlns:m="http://schemas.openxmlformats.org/officeDocument/2006/math">
                    <m:r>
                      <a:rPr lang="en-US" altLang="ja-JP" sz="3200" b="0" i="1" smtClean="0">
                        <a:solidFill>
                          <a:schemeClr val="tx1"/>
                        </a:solidFill>
                        <a:latin typeface="Cambria Math" panose="02040503050406030204" pitchFamily="18" charset="0"/>
                        <a:cs typeface="ヒラギノ角ゴ Pro W3"/>
                      </a:rPr>
                      <m:t>𝑐</m:t>
                    </m:r>
                  </m:oMath>
                </a14:m>
                <a:r>
                  <a:rPr kumimoji="1" lang="ja-JP" altLang="en-US" sz="3200">
                    <a:solidFill>
                      <a:schemeClr val="tx1"/>
                    </a:solidFill>
                    <a:latin typeface="+mn-ea"/>
                    <a:cs typeface="ヒラギノ角ゴ Pro W3"/>
                  </a:rPr>
                  <a:t>の導出</a:t>
                </a:r>
              </a:p>
              <a:p>
                <a:endParaRPr kumimoji="1" lang="ja-JP" altLang="en-US" sz="3200">
                  <a:solidFill>
                    <a:schemeClr val="tx1"/>
                  </a:solidFill>
                </a:endParaRPr>
              </a:p>
            </p:txBody>
          </p:sp>
        </mc:Choice>
        <mc:Fallback xmlns="">
          <p:sp>
            <p:nvSpPr>
              <p:cNvPr id="5" name="テキスト ボックス 4">
                <a:extLst>
                  <a:ext uri="{FF2B5EF4-FFF2-40B4-BE49-F238E27FC236}">
                    <a16:creationId xmlns:a16="http://schemas.microsoft.com/office/drawing/2014/main" id="{CE3A54B5-A307-BA12-E581-EDDEC1156070}"/>
                  </a:ext>
                </a:extLst>
              </p:cNvPr>
              <p:cNvSpPr txBox="1">
                <a:spLocks noRot="1" noChangeAspect="1" noMove="1" noResize="1" noEditPoints="1" noAdjustHandles="1" noChangeArrowheads="1" noChangeShapeType="1" noTextEdit="1"/>
              </p:cNvSpPr>
              <p:nvPr/>
            </p:nvSpPr>
            <p:spPr>
              <a:xfrm>
                <a:off x="247129" y="2451256"/>
                <a:ext cx="11389849" cy="2923877"/>
              </a:xfrm>
              <a:prstGeom prst="rect">
                <a:avLst/>
              </a:prstGeom>
              <a:blipFill>
                <a:blip r:embed="rId3"/>
                <a:stretch>
                  <a:fillRect l="-1336" t="-2155" r="-334"/>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1F017195-E1EB-650B-B71C-1CB69CC351BD}"/>
              </a:ext>
            </a:extLst>
          </p:cNvPr>
          <p:cNvSpPr/>
          <p:nvPr/>
        </p:nvSpPr>
        <p:spPr>
          <a:xfrm>
            <a:off x="368711" y="1615550"/>
            <a:ext cx="9360132" cy="680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673124" y="1754075"/>
                <a:ext cx="8751306" cy="501480"/>
              </a:xfrm>
            </p:spPr>
            <p:txBody>
              <a:bodyPr>
                <a:noAutofit/>
              </a:bodyPr>
              <a:lstStyle/>
              <a:p>
                <a:pPr marL="0" indent="0">
                  <a:buNone/>
                </a:pPr>
                <a:r>
                  <a:rPr kumimoji="1" lang="ja-JP" altLang="en-US" sz="3200" b="0">
                    <a:solidFill>
                      <a:schemeClr val="tx1"/>
                    </a:solidFill>
                    <a:cs typeface="ヒラギノ角ゴ Pro W3"/>
                  </a:rPr>
                  <a:t>第</a:t>
                </a:r>
                <a14:m>
                  <m:oMath xmlns:m="http://schemas.openxmlformats.org/officeDocument/2006/math">
                    <m:r>
                      <a:rPr kumimoji="1" lang="en-US" altLang="ja-JP" sz="3200" b="0" i="1" smtClean="0">
                        <a:solidFill>
                          <a:schemeClr val="tx1"/>
                        </a:solidFill>
                        <a:latin typeface="Cambria Math" panose="02040503050406030204" pitchFamily="18" charset="0"/>
                        <a:cs typeface="ヒラギノ角ゴ Pro W3"/>
                      </a:rPr>
                      <m:t>𝑘</m:t>
                    </m:r>
                  </m:oMath>
                </a14:m>
                <a:r>
                  <a:rPr kumimoji="1" lang="ja-JP" altLang="en-US" sz="3200" b="0">
                    <a:solidFill>
                      <a:schemeClr val="tx1"/>
                    </a:solidFill>
                    <a:cs typeface="ヒラギノ角ゴ Pro W3"/>
                  </a:rPr>
                  <a:t>主成分における</a:t>
                </a:r>
                <a:r>
                  <a:rPr lang="ja-JP" altLang="en-US" sz="3200">
                    <a:latin typeface="+mn-ea"/>
                    <a:cs typeface="ヒラギノ角ゴ Pro W3"/>
                  </a:rPr>
                  <a:t>調整</a:t>
                </a:r>
                <a:r>
                  <a:rPr lang="ja-JP" altLang="en-US" sz="3200">
                    <a:solidFill>
                      <a:schemeClr val="tx1"/>
                    </a:solidFill>
                    <a:latin typeface="+mn-ea"/>
                    <a:cs typeface="ヒラギノ角ゴ Pro W3"/>
                  </a:rPr>
                  <a:t>パラメータ</a:t>
                </a:r>
                <a14:m>
                  <m:oMath xmlns:m="http://schemas.openxmlformats.org/officeDocument/2006/math">
                    <m:r>
                      <a:rPr lang="en-US" altLang="ja-JP" sz="3200" b="0" i="1" smtClean="0">
                        <a:solidFill>
                          <a:schemeClr val="tx1"/>
                        </a:solidFill>
                        <a:latin typeface="Cambria Math" panose="02040503050406030204" pitchFamily="18" charset="0"/>
                        <a:cs typeface="ヒラギノ角ゴ Pro W3"/>
                      </a:rPr>
                      <m:t>𝑐</m:t>
                    </m:r>
                  </m:oMath>
                </a14:m>
                <a:r>
                  <a:rPr kumimoji="1" lang="ja-JP" altLang="en-US" sz="3200">
                    <a:solidFill>
                      <a:schemeClr val="tx1"/>
                    </a:solidFill>
                    <a:latin typeface="+mn-ea"/>
                    <a:cs typeface="ヒラギノ角ゴ Pro W3"/>
                  </a:rPr>
                  <a:t>の</a:t>
                </a:r>
                <a:r>
                  <a:rPr lang="ja-JP" altLang="en-US" sz="3200">
                    <a:latin typeface="+mn-ea"/>
                    <a:cs typeface="ヒラギノ角ゴ Pro W3"/>
                  </a:rPr>
                  <a:t>導出</a:t>
                </a:r>
                <a:r>
                  <a:rPr kumimoji="1" lang="ja-JP" altLang="en-US" sz="3200">
                    <a:solidFill>
                      <a:schemeClr val="tx1"/>
                    </a:solidFill>
                    <a:latin typeface="+mn-ea"/>
                    <a:cs typeface="ヒラギノ角ゴ Pro W3"/>
                  </a:rPr>
                  <a:t>手順</a:t>
                </a:r>
                <a:endParaRPr kumimoji="1" lang="en-US" altLang="ja-JP" sz="3200" dirty="0">
                  <a:solidFill>
                    <a:schemeClr val="tx1"/>
                  </a:solidFill>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673124" y="1754075"/>
                <a:ext cx="8751306" cy="501480"/>
              </a:xfrm>
              <a:blipFill>
                <a:blip r:embed="rId4"/>
                <a:stretch>
                  <a:fillRect l="-1737" t="-22500" r="-1592" b="-45000"/>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E3DD326B-8B7D-0495-401E-EB6FA1640E56}"/>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14/28</a:t>
            </a:r>
            <a:endParaRPr kumimoji="1" lang="ja-JP" altLang="en-US" sz="2800">
              <a:latin typeface="+mj-ea"/>
              <a:ea typeface="+mj-ea"/>
            </a:endParaRPr>
          </a:p>
        </p:txBody>
      </p:sp>
    </p:spTree>
    <p:extLst>
      <p:ext uri="{BB962C8B-B14F-4D97-AF65-F5344CB8AC3E}">
        <p14:creationId xmlns:p14="http://schemas.microsoft.com/office/powerpoint/2010/main" val="1540350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95003" y="1104405"/>
                <a:ext cx="12096997" cy="6020085"/>
              </a:xfrm>
            </p:spPr>
            <p:txBody>
              <a:bodyPr>
                <a:norm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1.</a:t>
                </a:r>
                <a:r>
                  <a:rPr lang="ja-JP" altLang="en-US" sz="3200">
                    <a:solidFill>
                      <a:srgbClr val="7030A0"/>
                    </a:solidFill>
                    <a:latin typeface="+mn-ea"/>
                    <a:cs typeface="ヒラギノ角ゴ Pro W3"/>
                  </a:rPr>
                  <a:t>　</a:t>
                </a:r>
                <a:r>
                  <a:rPr lang="en-US" altLang="ja-JP" sz="3200" dirty="0">
                    <a:solidFill>
                      <a:srgbClr val="7030A0"/>
                    </a:solidFill>
                    <a:latin typeface="+mn-ea"/>
                    <a:cs typeface="ヒラギノ角ゴ Pro W3"/>
                  </a:rPr>
                  <a:t>Knockoff</a:t>
                </a:r>
                <a:r>
                  <a:rPr lang="ja-JP" altLang="en-US" sz="3200">
                    <a:solidFill>
                      <a:srgbClr val="7030A0"/>
                    </a:solidFill>
                    <a:latin typeface="+mn-ea"/>
                    <a:cs typeface="ヒラギノ角ゴ Pro W3"/>
                  </a:rPr>
                  <a:t>変数</a:t>
                </a:r>
                <a14:m>
                  <m:oMath xmlns:m="http://schemas.openxmlformats.org/officeDocument/2006/math">
                    <m:sSub>
                      <m:sSubPr>
                        <m:ctrlPr>
                          <a:rPr lang="en-US" altLang="ja-JP" sz="3200" i="1">
                            <a:solidFill>
                              <a:srgbClr val="7030A0"/>
                            </a:solidFill>
                            <a:latin typeface="Cambria Math" panose="02040503050406030204" pitchFamily="18" charset="0"/>
                          </a:rPr>
                        </m:ctrlPr>
                      </m:sSubPr>
                      <m:e>
                        <m:acc>
                          <m:accPr>
                            <m:chr m:val="̃"/>
                            <m:ctrlPr>
                              <a:rPr lang="ja-JP" altLang="en-US" sz="3200" i="1">
                                <a:solidFill>
                                  <a:srgbClr val="7030A0"/>
                                </a:solidFill>
                                <a:latin typeface="Cambria Math" panose="02040503050406030204" pitchFamily="18" charset="0"/>
                              </a:rPr>
                            </m:ctrlPr>
                          </m:accPr>
                          <m:e>
                            <m:r>
                              <a:rPr lang="en-US" altLang="ja-JP" sz="3200" b="1" i="1">
                                <a:solidFill>
                                  <a:srgbClr val="7030A0"/>
                                </a:solidFill>
                                <a:latin typeface="Cambria Math" panose="02040503050406030204" pitchFamily="18" charset="0"/>
                              </a:rPr>
                              <m:t>𝒙</m:t>
                            </m:r>
                          </m:e>
                        </m:acc>
                      </m:e>
                      <m:sub>
                        <m:r>
                          <a:rPr lang="en-US" altLang="ja-JP" sz="3200" i="1">
                            <a:solidFill>
                              <a:srgbClr val="7030A0"/>
                            </a:solidFill>
                            <a:latin typeface="Cambria Math" panose="02040503050406030204" pitchFamily="18" charset="0"/>
                          </a:rPr>
                          <m:t>𝑖</m:t>
                        </m:r>
                      </m:sub>
                    </m:sSub>
                  </m:oMath>
                </a14:m>
                <a:r>
                  <a:rPr lang="ja-JP" altLang="en-US" sz="3200">
                    <a:solidFill>
                      <a:srgbClr val="7030A0"/>
                    </a:solidFill>
                    <a:latin typeface="+mn-ea"/>
                    <a:cs typeface="ヒラギノ角ゴ Pro W3"/>
                  </a:rPr>
                  <a:t>の作成</a:t>
                </a:r>
                <a:endParaRPr lang="en-US" altLang="ja-JP" sz="3200" dirty="0">
                  <a:solidFill>
                    <a:srgbClr val="7030A0"/>
                  </a:solidFill>
                  <a:latin typeface="+mn-ea"/>
                  <a:cs typeface="ヒラギノ角ゴ Pro W3"/>
                </a:endParaRPr>
              </a:p>
              <a:p>
                <a:pPr marL="0" indent="0">
                  <a:buNone/>
                </a:pPr>
                <a:endParaRPr lang="en-US" altLang="ja-JP" sz="1050" dirty="0">
                  <a:solidFill>
                    <a:srgbClr val="7030A0"/>
                  </a:solidFill>
                  <a:latin typeface="+mn-ea"/>
                  <a:cs typeface="ヒラギノ角ゴ Pro W3"/>
                </a:endParaRPr>
              </a:p>
              <a:p>
                <a:pPr marL="0" indent="0">
                  <a:buNone/>
                </a:pPr>
                <a:r>
                  <a:rPr kumimoji="1" lang="ja-JP" altLang="en-US" sz="2800">
                    <a:latin typeface="+mn-ea"/>
                    <a:cs typeface="ヒラギノ角ゴ Pro W3"/>
                  </a:rPr>
                  <a:t>　母集団の相関係数が</a:t>
                </a:r>
                <a:r>
                  <a:rPr kumimoji="1" lang="en-US" altLang="ja-JP" sz="2800" dirty="0">
                    <a:latin typeface="+mn-ea"/>
                    <a:cs typeface="ヒラギノ角ゴ Pro W3"/>
                  </a:rPr>
                  <a:t>0</a:t>
                </a:r>
                <a:r>
                  <a:rPr lang="ja-JP" altLang="en-US" sz="2800">
                    <a:latin typeface="+mn-ea"/>
                    <a:cs typeface="ヒラギノ角ゴ Pro W3"/>
                  </a:rPr>
                  <a:t>という仮説のもとで</a:t>
                </a:r>
                <a:r>
                  <a:rPr lang="en-US" altLang="ja-JP" sz="2800" dirty="0">
                    <a:latin typeface="+mn-ea"/>
                    <a:cs typeface="ヒラギノ角ゴ Pro W3"/>
                  </a:rPr>
                  <a:t>, </a:t>
                </a:r>
                <a:r>
                  <a:rPr lang="ja-JP" altLang="en-US">
                    <a:latin typeface="+mn-ea"/>
                    <a:cs typeface="ヒラギノ角ゴ Pro W3"/>
                  </a:rPr>
                  <a:t>以下が成立</a:t>
                </a:r>
                <a:r>
                  <a:rPr lang="en-US" altLang="ja-JP" dirty="0">
                    <a:latin typeface="+mn-ea"/>
                    <a:cs typeface="ヒラギノ角ゴ Pro W3"/>
                  </a:rPr>
                  <a:t> (Fisher, 1915)</a:t>
                </a:r>
                <a:r>
                  <a:rPr kumimoji="1" lang="en-US" altLang="ja-JP" b="0" dirty="0">
                    <a:cs typeface="ヒラギノ角ゴ Pro W3"/>
                  </a:rPr>
                  <a:t> </a:t>
                </a:r>
                <a:endParaRPr lang="en-US" altLang="ja-JP" sz="2800" dirty="0">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𝑅</m:t>
                          </m:r>
                        </m:e>
                        <m:sub>
                          <m:r>
                            <a:rPr kumimoji="1" lang="en-US" altLang="ja-JP" sz="3200" b="0" i="1" smtClean="0">
                              <a:latin typeface="Cambria Math" panose="02040503050406030204" pitchFamily="18" charset="0"/>
                              <a:cs typeface="ヒラギノ角ゴ Pro W3"/>
                            </a:rPr>
                            <m:t>𝑖𝑗</m:t>
                          </m:r>
                        </m:sub>
                      </m:sSub>
                      <m:r>
                        <a:rPr kumimoji="1" lang="en-US" altLang="ja-JP" sz="3200" b="0" i="1" smtClean="0">
                          <a:latin typeface="Cambria Math" panose="02040503050406030204" pitchFamily="18" charset="0"/>
                          <a:cs typeface="ヒラギノ角ゴ Pro W3"/>
                        </a:rPr>
                        <m:t>=</m:t>
                      </m:r>
                      <m:f>
                        <m:fPr>
                          <m:ctrlPr>
                            <a:rPr kumimoji="1" lang="en-US" altLang="ja-JP" sz="3200" b="0" i="1" smtClean="0">
                              <a:latin typeface="Cambria Math" panose="02040503050406030204" pitchFamily="18" charset="0"/>
                            </a:rPr>
                          </m:ctrlPr>
                        </m:fPr>
                        <m:num>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𝐶</m:t>
                              </m:r>
                            </m:e>
                            <m:sub>
                              <m:r>
                                <a:rPr kumimoji="1" lang="en-US" altLang="ja-JP" sz="3200" b="0" i="1" smtClean="0">
                                  <a:latin typeface="Cambria Math" panose="02040503050406030204" pitchFamily="18" charset="0"/>
                                </a:rPr>
                                <m:t>𝑖𝑗</m:t>
                              </m:r>
                            </m:sub>
                          </m:sSub>
                        </m:num>
                        <m:den>
                          <m:rad>
                            <m:radPr>
                              <m:degHide m:val="on"/>
                              <m:ctrlPr>
                                <a:rPr kumimoji="1" lang="en-US" altLang="ja-JP" sz="3200" b="0" i="1" smtClean="0">
                                  <a:latin typeface="Cambria Math" panose="02040503050406030204" pitchFamily="18" charset="0"/>
                                </a:rPr>
                              </m:ctrlPr>
                            </m:radPr>
                            <m:deg/>
                            <m:e>
                              <m:r>
                                <a:rPr kumimoji="1" lang="en-US" altLang="ja-JP" sz="3200" b="0" i="1" smtClean="0">
                                  <a:latin typeface="Cambria Math" panose="02040503050406030204" pitchFamily="18" charset="0"/>
                                </a:rPr>
                                <m:t>(1−</m:t>
                              </m:r>
                              <m:sSubSup>
                                <m:sSubSupPr>
                                  <m:ctrlPr>
                                    <a:rPr kumimoji="1" lang="en-US" altLang="ja-JP" sz="3200" b="0" i="1" smtClean="0">
                                      <a:latin typeface="Cambria Math" panose="02040503050406030204" pitchFamily="18" charset="0"/>
                                    </a:rPr>
                                  </m:ctrlPr>
                                </m:sSubSupPr>
                                <m:e>
                                  <m:r>
                                    <a:rPr kumimoji="1" lang="en-US" altLang="ja-JP" sz="3200" b="0" i="1" smtClean="0">
                                      <a:latin typeface="Cambria Math" panose="02040503050406030204" pitchFamily="18" charset="0"/>
                                    </a:rPr>
                                    <m:t>𝐶</m:t>
                                  </m:r>
                                </m:e>
                                <m:sub>
                                  <m:r>
                                    <a:rPr kumimoji="1" lang="en-US" altLang="ja-JP" sz="3200" b="0" i="1" smtClean="0">
                                      <a:latin typeface="Cambria Math" panose="02040503050406030204" pitchFamily="18" charset="0"/>
                                    </a:rPr>
                                    <m:t>𝑖𝑗</m:t>
                                  </m:r>
                                </m:sub>
                                <m:sup>
                                  <m:r>
                                    <a:rPr kumimoji="1" lang="en-US" altLang="ja-JP" sz="3200" b="0" i="1" smtClean="0">
                                      <a:latin typeface="Cambria Math" panose="02040503050406030204" pitchFamily="18" charset="0"/>
                                    </a:rPr>
                                    <m:t>2</m:t>
                                  </m:r>
                                </m:sup>
                              </m:sSubSup>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𝑛</m:t>
                              </m:r>
                              <m:r>
                                <a:rPr kumimoji="1" lang="en-US" altLang="ja-JP" sz="3200" b="0" i="1" smtClean="0">
                                  <a:latin typeface="Cambria Math" panose="02040503050406030204" pitchFamily="18" charset="0"/>
                                </a:rPr>
                                <m:t>−2)</m:t>
                              </m:r>
                            </m:e>
                          </m:rad>
                        </m:den>
                      </m:f>
                      <m:r>
                        <a:rPr kumimoji="1" lang="en-US" altLang="ja-JP" sz="3200" b="0" i="1" smtClean="0">
                          <a:latin typeface="Cambria Math" panose="02040503050406030204" pitchFamily="18" charset="0"/>
                        </a:rPr>
                        <m:t> ~ </m:t>
                      </m:r>
                      <m:r>
                        <a:rPr kumimoji="1" lang="en-US" altLang="ja-JP" sz="3200" b="0" i="1" smtClean="0">
                          <a:latin typeface="Cambria Math" panose="02040503050406030204" pitchFamily="18" charset="0"/>
                        </a:rPr>
                        <m:t>𝑡</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𝑛</m:t>
                          </m:r>
                          <m:r>
                            <a:rPr kumimoji="1" lang="en-US" altLang="ja-JP" sz="3200" b="0" i="1" smtClean="0">
                              <a:latin typeface="Cambria Math" panose="02040503050406030204" pitchFamily="18" charset="0"/>
                            </a:rPr>
                            <m:t>−2</m:t>
                          </m:r>
                        </m:e>
                      </m:d>
                      <m:r>
                        <a:rPr kumimoji="1" lang="en-US" altLang="ja-JP" sz="3200" b="0" i="1" smtClean="0">
                          <a:latin typeface="Cambria Math" panose="02040503050406030204" pitchFamily="18" charset="0"/>
                        </a:rPr>
                        <m:t>,  </m:t>
                      </m:r>
                      <m:r>
                        <a:rPr lang="en-US" altLang="ja-JP" sz="3200" i="1">
                          <a:latin typeface="Cambria Math" panose="02040503050406030204" pitchFamily="18" charset="0"/>
                          <a:cs typeface="ヒラギノ角ゴ Pro W3"/>
                        </a:rPr>
                        <m:t>𝑖</m:t>
                      </m:r>
                      <m:r>
                        <a:rPr lang="en-US" altLang="ja-JP" sz="3200" i="1">
                          <a:latin typeface="Cambria Math" panose="02040503050406030204" pitchFamily="18" charset="0"/>
                          <a:cs typeface="ヒラギノ角ゴ Pro W3"/>
                        </a:rPr>
                        <m:t>,</m:t>
                      </m:r>
                      <m:r>
                        <a:rPr lang="en-US" altLang="ja-JP" sz="3200" i="1">
                          <a:latin typeface="Cambria Math" panose="02040503050406030204" pitchFamily="18" charset="0"/>
                          <a:cs typeface="ヒラギノ角ゴ Pro W3"/>
                        </a:rPr>
                        <m:t>𝑗</m:t>
                      </m:r>
                      <m:r>
                        <a:rPr lang="en-US" altLang="ja-JP" sz="3200" i="1">
                          <a:latin typeface="Cambria Math" panose="02040503050406030204" pitchFamily="18" charset="0"/>
                          <a:cs typeface="ヒラギノ角ゴ Pro W3"/>
                        </a:rPr>
                        <m:t>=1,…,</m:t>
                      </m:r>
                      <m:r>
                        <a:rPr lang="en-US" altLang="ja-JP" sz="3200" i="1">
                          <a:latin typeface="Cambria Math" panose="02040503050406030204" pitchFamily="18" charset="0"/>
                          <a:cs typeface="ヒラギノ角ゴ Pro W3"/>
                        </a:rPr>
                        <m:t>𝑝</m:t>
                      </m:r>
                    </m:oMath>
                  </m:oMathPara>
                </a14:m>
                <a:endParaRPr kumimoji="1" lang="en-US" altLang="ja-JP" sz="3200" b="0" dirty="0">
                  <a:latin typeface="+mn-ea"/>
                </a:endParaRPr>
              </a:p>
              <a:p>
                <a:pPr marL="0" indent="0">
                  <a:buNone/>
                </a:pPr>
                <a:r>
                  <a:rPr kumimoji="1" lang="en-US" altLang="ja-JP" sz="2400" b="0" dirty="0">
                    <a:cs typeface="ヒラギノ角ゴ Pro W3"/>
                  </a:rPr>
                  <a:t>  </a:t>
                </a:r>
                <a:r>
                  <a:rPr lang="en-US" altLang="ja-JP" sz="2400" dirty="0">
                    <a:cs typeface="ヒラギノ角ゴ Pro W3"/>
                  </a:rPr>
                  <a:t>    </a:t>
                </a:r>
                <a14:m>
                  <m:oMath xmlns:m="http://schemas.openxmlformats.org/officeDocument/2006/math">
                    <m:r>
                      <a:rPr kumimoji="1" lang="en-US" altLang="ja-JP" sz="2400" b="0" i="1" smtClean="0">
                        <a:latin typeface="Cambria Math" panose="02040503050406030204" pitchFamily="18" charset="0"/>
                        <a:cs typeface="ヒラギノ角ゴ Pro W3"/>
                      </a:rPr>
                      <m:t>𝑋</m:t>
                    </m:r>
                  </m:oMath>
                </a14:m>
                <a:r>
                  <a:rPr kumimoji="1" lang="ja-JP" altLang="en-US" sz="2400">
                    <a:latin typeface="+mn-ea"/>
                    <a:cs typeface="ヒラギノ角ゴ Pro W3"/>
                  </a:rPr>
                  <a:t>の標本相関行</a:t>
                </a:r>
                <a14:m>
                  <m:oMath xmlns:m="http://schemas.openxmlformats.org/officeDocument/2006/math">
                    <m:r>
                      <a:rPr lang="ja-JP" altLang="en-US" sz="2400" b="0" i="1">
                        <a:latin typeface="Cambria Math" panose="02040503050406030204" pitchFamily="18" charset="0"/>
                        <a:cs typeface="ヒラギノ角ゴ Pro W3"/>
                      </a:rPr>
                      <m:t>列</m:t>
                    </m:r>
                    <m:r>
                      <a:rPr lang="en-US" altLang="ja-JP" sz="2400" b="0" i="1" smtClean="0">
                        <a:latin typeface="Cambria Math" panose="02040503050406030204" pitchFamily="18" charset="0"/>
                        <a:cs typeface="ヒラギノ角ゴ Pro W3"/>
                      </a:rPr>
                      <m:t>𝐶</m:t>
                    </m:r>
                    <m:r>
                      <a:rPr lang="ja-JP" altLang="en-US" sz="2400" b="1" i="1">
                        <a:latin typeface="Cambria Math" panose="02040503050406030204" pitchFamily="18" charset="0"/>
                      </a:rPr>
                      <m:t>：</m:t>
                    </m:r>
                    <m:r>
                      <a:rPr kumimoji="1" lang="en-US" altLang="ja-JP" sz="2400" b="0" i="0" smtClean="0">
                        <a:latin typeface="Cambria Math" panose="02040503050406030204" pitchFamily="18" charset="0"/>
                        <a:cs typeface="ヒラギノ角ゴ Pro W3"/>
                      </a:rPr>
                      <m:t>{</m:t>
                    </m:r>
                    <m:sSub>
                      <m:sSubPr>
                        <m:ctrlPr>
                          <a:rPr kumimoji="1" lang="en-US" altLang="ja-JP" sz="2400" b="0" i="1" smtClean="0">
                            <a:latin typeface="Cambria Math" panose="02040503050406030204" pitchFamily="18" charset="0"/>
                            <a:cs typeface="ヒラギノ角ゴ Pro W3"/>
                          </a:rPr>
                        </m:ctrlPr>
                      </m:sSubPr>
                      <m:e>
                        <m:r>
                          <a:rPr kumimoji="1" lang="en-US" altLang="ja-JP" sz="2400" b="0" i="1" smtClean="0">
                            <a:latin typeface="Cambria Math" panose="02040503050406030204" pitchFamily="18" charset="0"/>
                            <a:cs typeface="ヒラギノ角ゴ Pro W3"/>
                          </a:rPr>
                          <m:t>𝐶</m:t>
                        </m:r>
                      </m:e>
                      <m:sub>
                        <m:r>
                          <a:rPr kumimoji="1" lang="en-US" altLang="ja-JP" sz="2400" b="0" i="1" smtClean="0">
                            <a:latin typeface="Cambria Math" panose="02040503050406030204" pitchFamily="18" charset="0"/>
                            <a:cs typeface="ヒラギノ角ゴ Pro W3"/>
                          </a:rPr>
                          <m:t>𝑖𝑗</m:t>
                        </m:r>
                      </m:sub>
                    </m:sSub>
                    <m:r>
                      <a:rPr kumimoji="1" lang="en-US" altLang="ja-JP" sz="2400" b="0" i="1" smtClean="0">
                        <a:latin typeface="Cambria Math" panose="02040503050406030204" pitchFamily="18" charset="0"/>
                        <a:cs typeface="ヒラギノ角ゴ Pro W3"/>
                      </a:rPr>
                      <m:t>,</m:t>
                    </m:r>
                    <m:r>
                      <a:rPr kumimoji="1" lang="en-US" altLang="ja-JP" sz="2400" b="0" i="1" smtClean="0">
                        <a:latin typeface="Cambria Math" panose="02040503050406030204" pitchFamily="18" charset="0"/>
                        <a:cs typeface="ヒラギノ角ゴ Pro W3"/>
                      </a:rPr>
                      <m:t>𝑖</m:t>
                    </m:r>
                    <m:r>
                      <a:rPr kumimoji="1" lang="en-US" altLang="ja-JP" sz="2400" b="0" i="1" smtClean="0">
                        <a:latin typeface="Cambria Math" panose="02040503050406030204" pitchFamily="18" charset="0"/>
                        <a:cs typeface="ヒラギノ角ゴ Pro W3"/>
                      </a:rPr>
                      <m:t>,</m:t>
                    </m:r>
                    <m:r>
                      <a:rPr kumimoji="1" lang="en-US" altLang="ja-JP" sz="2400" b="0" i="1" smtClean="0">
                        <a:latin typeface="Cambria Math" panose="02040503050406030204" pitchFamily="18" charset="0"/>
                        <a:cs typeface="ヒラギノ角ゴ Pro W3"/>
                      </a:rPr>
                      <m:t>𝑗</m:t>
                    </m:r>
                    <m:r>
                      <a:rPr kumimoji="1" lang="en-US" altLang="ja-JP" sz="2400" b="0" i="1" smtClean="0">
                        <a:latin typeface="Cambria Math" panose="02040503050406030204" pitchFamily="18" charset="0"/>
                        <a:cs typeface="ヒラギノ角ゴ Pro W3"/>
                      </a:rPr>
                      <m:t>=1,…,</m:t>
                    </m:r>
                    <m:r>
                      <a:rPr kumimoji="1" lang="en-US" altLang="ja-JP" sz="2400" b="0" i="1" smtClean="0">
                        <a:latin typeface="Cambria Math" panose="02040503050406030204" pitchFamily="18" charset="0"/>
                        <a:cs typeface="ヒラギノ角ゴ Pro W3"/>
                      </a:rPr>
                      <m:t>𝑝</m:t>
                    </m:r>
                    <m:r>
                      <a:rPr kumimoji="1" lang="en-US" altLang="ja-JP" sz="2400" b="0" i="1" smtClean="0">
                        <a:latin typeface="Cambria Math" panose="02040503050406030204" pitchFamily="18" charset="0"/>
                        <a:cs typeface="ヒラギノ角ゴ Pro W3"/>
                      </a:rPr>
                      <m:t>}</m:t>
                    </m:r>
                  </m:oMath>
                </a14:m>
                <a:endParaRPr kumimoji="1" lang="en-US" altLang="ja-JP" sz="800" b="0" dirty="0">
                  <a:latin typeface="+mn-ea"/>
                </a:endParaRPr>
              </a:p>
              <a:p>
                <a:pPr marL="0" indent="0">
                  <a:buNone/>
                </a:pPr>
                <a:endParaRPr kumimoji="1" lang="en-US" altLang="ja-JP" sz="1600" b="0" dirty="0">
                  <a:latin typeface="+mn-ea"/>
                </a:endParaRPr>
              </a:p>
              <a:p>
                <a:pPr marL="0" indent="0">
                  <a:buNone/>
                </a:pPr>
                <a:r>
                  <a:rPr lang="en-US" altLang="ja-JP" sz="2800" dirty="0">
                    <a:latin typeface="+mn-ea"/>
                    <a:cs typeface="ヒラギノ角ゴ Pro W3"/>
                  </a:rPr>
                  <a:t>Knockoff</a:t>
                </a:r>
                <a:r>
                  <a:rPr lang="ja-JP" altLang="en-US" sz="2800">
                    <a:latin typeface="+mn-ea"/>
                    <a:cs typeface="ヒラギノ角ゴ Pro W3"/>
                  </a:rPr>
                  <a:t>相関行列</a:t>
                </a:r>
                <a:r>
                  <a:rPr lang="en-US" altLang="ja-JP" sz="2800" dirty="0">
                    <a:latin typeface="+mn-ea"/>
                    <a:cs typeface="ヒラギノ角ゴ Pro W3"/>
                  </a:rPr>
                  <a:t> : </a:t>
                </a:r>
                <a14:m>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smtClean="0">
                                <a:latin typeface="Cambria Math" panose="02040503050406030204" pitchFamily="18" charset="0"/>
                              </a:rPr>
                              <m:t>𝐶</m:t>
                            </m:r>
                          </m:e>
                        </m:acc>
                      </m:e>
                      <m:sub>
                        <m:r>
                          <a:rPr lang="en-US" altLang="ja-JP" sz="2800" b="0" i="1" smtClean="0">
                            <a:latin typeface="Cambria Math" panose="02040503050406030204" pitchFamily="18" charset="0"/>
                          </a:rPr>
                          <m:t>𝑖𝑗</m:t>
                        </m:r>
                      </m:sub>
                    </m:sSub>
                    <m:r>
                      <a:rPr lang="en-US" altLang="ja-JP" sz="2800" b="0" i="1" smtClean="0">
                        <a:latin typeface="Cambria Math" panose="02040503050406030204" pitchFamily="18" charset="0"/>
                      </a:rPr>
                      <m:t>=</m:t>
                    </m:r>
                    <m:d>
                      <m:dPr>
                        <m:begChr m:val="{"/>
                        <m:endChr m:val=""/>
                        <m:ctrlPr>
                          <a:rPr lang="en-US" altLang="ja-JP" sz="2800" b="0" i="1" smtClean="0">
                            <a:latin typeface="Cambria Math" panose="02040503050406030204" pitchFamily="18" charset="0"/>
                          </a:rPr>
                        </m:ctrlPr>
                      </m:dPr>
                      <m:e>
                        <m:eqArr>
                          <m:eqArrPr>
                            <m:ctrlPr>
                              <a:rPr lang="en-US" altLang="ja-JP" sz="2800" b="0" i="1" smtClean="0">
                                <a:latin typeface="Cambria Math" panose="02040503050406030204" pitchFamily="18" charset="0"/>
                              </a:rPr>
                            </m:ctrlPr>
                          </m:eqArrPr>
                          <m:e>
                            <m:r>
                              <a:rPr lang="en-US" altLang="ja-JP" sz="2800" b="0" i="1" smtClean="0">
                                <a:latin typeface="Cambria Math" panose="02040503050406030204" pitchFamily="18" charset="0"/>
                              </a:rPr>
                              <m:t>1,               </m:t>
                            </m:r>
                            <m:r>
                              <a:rPr lang="en-US" altLang="ja-JP" sz="2800" i="1">
                                <a:latin typeface="Cambria Math" panose="02040503050406030204" pitchFamily="18" charset="0"/>
                              </a:rPr>
                              <m:t>𝑖</m:t>
                            </m:r>
                            <m:r>
                              <a:rPr lang="en-US" altLang="ja-JP" sz="2800" i="1">
                                <a:latin typeface="Cambria Math" panose="02040503050406030204" pitchFamily="18" charset="0"/>
                              </a:rPr>
                              <m:t>=</m:t>
                            </m:r>
                            <m:r>
                              <a:rPr lang="en-US" altLang="ja-JP" sz="2800" i="1">
                                <a:latin typeface="Cambria Math" panose="02040503050406030204" pitchFamily="18" charset="0"/>
                              </a:rPr>
                              <m:t>𝑗</m:t>
                            </m:r>
                          </m:e>
                          <m:e>
                            <m:f>
                              <m:fPr>
                                <m:ctrlPr>
                                  <a:rPr lang="en-US" altLang="ja-JP" sz="2800" b="0" i="1" smtClean="0">
                                    <a:latin typeface="Cambria Math" panose="02040503050406030204" pitchFamily="18" charset="0"/>
                                  </a:rPr>
                                </m:ctrlPr>
                              </m:fPr>
                              <m:num>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𝑅</m:t>
                                    </m:r>
                                  </m:e>
                                  <m:sub>
                                    <m:r>
                                      <a:rPr lang="en-US" altLang="ja-JP" sz="2800" b="0" i="1" smtClean="0">
                                        <a:latin typeface="Cambria Math" panose="02040503050406030204" pitchFamily="18" charset="0"/>
                                      </a:rPr>
                                      <m:t>𝑖𝑗</m:t>
                                    </m:r>
                                  </m:sub>
                                </m:sSub>
                              </m:num>
                              <m:den>
                                <m:rad>
                                  <m:radPr>
                                    <m:degHide m:val="on"/>
                                    <m:ctrlPr>
                                      <a:rPr lang="en-US" altLang="ja-JP" sz="2800" b="0" i="1" smtClean="0">
                                        <a:latin typeface="Cambria Math" panose="02040503050406030204" pitchFamily="18" charset="0"/>
                                      </a:rPr>
                                    </m:ctrlPr>
                                  </m:radPr>
                                  <m:deg/>
                                  <m:e>
                                    <m:r>
                                      <a:rPr lang="en-US" altLang="ja-JP" sz="2800" b="0" i="1" smtClean="0">
                                        <a:latin typeface="Cambria Math" panose="02040503050406030204" pitchFamily="18" charset="0"/>
                                      </a:rPr>
                                      <m:t>𝑛</m:t>
                                    </m:r>
                                    <m:r>
                                      <a:rPr lang="en-US" altLang="ja-JP" sz="2800" b="0" i="1" smtClean="0">
                                        <a:latin typeface="Cambria Math" panose="02040503050406030204" pitchFamily="18" charset="0"/>
                                      </a:rPr>
                                      <m:t>−2+</m:t>
                                    </m:r>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𝑅</m:t>
                                        </m:r>
                                      </m:e>
                                      <m:sub>
                                        <m:r>
                                          <a:rPr lang="en-US" altLang="ja-JP" sz="2800" b="0" i="1" smtClean="0">
                                            <a:latin typeface="Cambria Math" panose="02040503050406030204" pitchFamily="18" charset="0"/>
                                          </a:rPr>
                                          <m:t>𝑖𝑗</m:t>
                                        </m:r>
                                      </m:sub>
                                      <m:sup>
                                        <m:r>
                                          <a:rPr lang="en-US" altLang="ja-JP" sz="2800" b="0" i="1" smtClean="0">
                                            <a:latin typeface="Cambria Math" panose="02040503050406030204" pitchFamily="18" charset="0"/>
                                          </a:rPr>
                                          <m:t>2</m:t>
                                        </m:r>
                                      </m:sup>
                                    </m:sSubSup>
                                  </m:e>
                                </m:rad>
                              </m:den>
                            </m:f>
                            <m:r>
                              <a:rPr lang="en-US" altLang="ja-JP" sz="2800" i="1">
                                <a:latin typeface="Cambria Math" panose="02040503050406030204" pitchFamily="18" charset="0"/>
                              </a:rPr>
                              <m:t>,</m:t>
                            </m:r>
                            <m:r>
                              <a:rPr lang="en-US" altLang="ja-JP" sz="2800" b="0" i="1" smtClean="0">
                                <a:latin typeface="Cambria Math" panose="02040503050406030204" pitchFamily="18" charset="0"/>
                              </a:rPr>
                              <m:t>  </m:t>
                            </m:r>
                            <m:r>
                              <a:rPr lang="en-US" altLang="ja-JP" sz="2800" i="1">
                                <a:latin typeface="Cambria Math" panose="02040503050406030204" pitchFamily="18" charset="0"/>
                              </a:rPr>
                              <m:t>𝑖</m:t>
                            </m:r>
                            <m:r>
                              <a:rPr lang="en-US" altLang="ja-JP" sz="2800" i="1" smtClean="0">
                                <a:latin typeface="Cambria Math" panose="02040503050406030204" pitchFamily="18" charset="0"/>
                              </a:rPr>
                              <m:t>≠</m:t>
                            </m:r>
                            <m:r>
                              <a:rPr lang="en-US" altLang="ja-JP" sz="2800" i="1">
                                <a:latin typeface="Cambria Math" panose="02040503050406030204" pitchFamily="18" charset="0"/>
                              </a:rPr>
                              <m:t>𝑗</m:t>
                            </m:r>
                          </m:e>
                        </m:eqArr>
                      </m:e>
                    </m:d>
                  </m:oMath>
                </a14:m>
                <a:endParaRPr lang="en-US" altLang="ja-JP" sz="2800"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95003" y="1104405"/>
                <a:ext cx="12096997" cy="6020085"/>
              </a:xfrm>
              <a:blipFill>
                <a:blip r:embed="rId3"/>
                <a:stretch>
                  <a:fillRect l="-1258" t="-4412" b="-72269"/>
                </a:stretch>
              </a:blipFill>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722039D0-1CFF-0BE8-40E2-B345A2C25A37}"/>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p:sp>
        <p:nvSpPr>
          <p:cNvPr id="4" name="角丸四角形 3">
            <a:extLst>
              <a:ext uri="{FF2B5EF4-FFF2-40B4-BE49-F238E27FC236}">
                <a16:creationId xmlns:a16="http://schemas.microsoft.com/office/drawing/2014/main" id="{55B390C0-B15E-0324-7200-E5405DFECF7A}"/>
              </a:ext>
            </a:extLst>
          </p:cNvPr>
          <p:cNvSpPr/>
          <p:nvPr/>
        </p:nvSpPr>
        <p:spPr>
          <a:xfrm>
            <a:off x="308757" y="1828203"/>
            <a:ext cx="11364687" cy="2590197"/>
          </a:xfrm>
          <a:prstGeom prst="roundRect">
            <a:avLst/>
          </a:prstGeom>
          <a:noFill/>
          <a:ln w="254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68DFE7B-3617-BA3A-3922-863734093741}"/>
                  </a:ext>
                </a:extLst>
              </p:cNvPr>
              <p:cNvSpPr txBox="1"/>
              <p:nvPr/>
            </p:nvSpPr>
            <p:spPr>
              <a:xfrm>
                <a:off x="7960617" y="4830036"/>
                <a:ext cx="4326387" cy="961802"/>
              </a:xfrm>
              <a:prstGeom prst="rect">
                <a:avLst/>
              </a:prstGeom>
              <a:noFill/>
            </p:spPr>
            <p:txBody>
              <a:bodyPr wrap="square" rtlCol="0">
                <a:spAutoFit/>
              </a:bodyPr>
              <a:lstStyle/>
              <a:p>
                <a:r>
                  <a:rPr lang="en-US" altLang="ja-JP" sz="2800" dirty="0">
                    <a:latin typeface="+mn-ea"/>
                    <a:cs typeface="ヒラギノ角ゴ Pro W3"/>
                  </a:rPr>
                  <a:t>Knockoff</a:t>
                </a:r>
                <a:r>
                  <a:rPr lang="ja-JP" altLang="en-US" sz="2800">
                    <a:latin typeface="+mn-ea"/>
                    <a:cs typeface="ヒラギノ角ゴ Pro W3"/>
                  </a:rPr>
                  <a:t>変数</a:t>
                </a:r>
                <a14:m>
                  <m:oMath xmlns:m="http://schemas.openxmlformats.org/officeDocument/2006/math">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i="1">
                            <a:latin typeface="Cambria Math" panose="02040503050406030204" pitchFamily="18" charset="0"/>
                          </a:rPr>
                          <m:t>𝑖</m:t>
                        </m:r>
                        <m:r>
                          <a:rPr lang="en-US" altLang="ja-JP" sz="2800" i="1">
                            <a:latin typeface="Cambria Math" panose="02040503050406030204" pitchFamily="18" charset="0"/>
                          </a:rPr>
                          <m:t> </m:t>
                        </m:r>
                      </m:sub>
                    </m:sSub>
                  </m:oMath>
                </a14:m>
                <a:r>
                  <a:rPr lang="ja-JP" altLang="en-US" sz="2800" dirty="0">
                    <a:latin typeface="+mn-ea"/>
                    <a:cs typeface="ヒラギノ角ゴ Pro W3"/>
                  </a:rPr>
                  <a:t>を</a:t>
                </a:r>
                <a:r>
                  <a:rPr lang="ja-JP" altLang="en-US" sz="2800">
                    <a:latin typeface="+mn-ea"/>
                    <a:cs typeface="ヒラギノ角ゴ Pro W3"/>
                  </a:rPr>
                  <a:t>抽出し</a:t>
                </a:r>
                <a:r>
                  <a:rPr lang="en-US" altLang="ja-JP" sz="2800" dirty="0">
                    <a:latin typeface="+mn-ea"/>
                    <a:cs typeface="ヒラギノ角ゴ Pro W3"/>
                  </a:rPr>
                  <a:t>, </a:t>
                </a:r>
              </a:p>
              <a:p>
                <a:r>
                  <a:rPr lang="ja-JP" altLang="en-US" sz="2800">
                    <a:latin typeface="+mn-ea"/>
                    <a:cs typeface="ヒラギノ角ゴ Pro W3"/>
                  </a:rPr>
                  <a:t>行列</a:t>
                </a:r>
                <a14:m>
                  <m:oMath xmlns:m="http://schemas.openxmlformats.org/officeDocument/2006/math">
                    <m:acc>
                      <m:accPr>
                        <m:chr m:val="̃"/>
                        <m:ctrlPr>
                          <a:rPr lang="ja-JP" altLang="en-US" sz="2800" i="1" smtClean="0">
                            <a:latin typeface="Cambria Math" panose="02040503050406030204" pitchFamily="18" charset="0"/>
                          </a:rPr>
                        </m:ctrlPr>
                      </m:accPr>
                      <m:e>
                        <m:r>
                          <a:rPr lang="en-US" altLang="ja-JP" sz="2800" b="0" i="1" smtClean="0">
                            <a:latin typeface="Cambria Math" panose="02040503050406030204" pitchFamily="18" charset="0"/>
                          </a:rPr>
                          <m:t>𝑋</m:t>
                        </m:r>
                      </m:e>
                    </m:acc>
                    <m:r>
                      <a:rPr lang="en-US" altLang="ja-JP" sz="2800" i="1">
                        <a:latin typeface="Cambria Math" panose="02040503050406030204" pitchFamily="18" charset="0"/>
                      </a:rPr>
                      <m:t>=</m:t>
                    </m:r>
                    <m:sSup>
                      <m:sSupPr>
                        <m:ctrlPr>
                          <a:rPr lang="en-US" altLang="ja-JP" sz="2800" i="1">
                            <a:latin typeface="Cambria Math" panose="02040503050406030204" pitchFamily="18" charset="0"/>
                          </a:rPr>
                        </m:ctrlPr>
                      </m:sSupPr>
                      <m:e>
                        <m:d>
                          <m:dPr>
                            <m:ctrlPr>
                              <a:rPr lang="en-US" altLang="ja-JP" sz="2800" i="1">
                                <a:latin typeface="Cambria Math" panose="02040503050406030204" pitchFamily="18" charset="0"/>
                              </a:rPr>
                            </m:ctrlPr>
                          </m:dPr>
                          <m:e>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i="1">
                                    <a:latin typeface="Cambria Math" panose="02040503050406030204" pitchFamily="18" charset="0"/>
                                  </a:rPr>
                                  <m:t>1 </m:t>
                                </m:r>
                              </m:sub>
                            </m:sSub>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i="1">
                                    <a:latin typeface="Cambria Math" panose="02040503050406030204" pitchFamily="18" charset="0"/>
                                  </a:rPr>
                                  <m:t>𝑛</m:t>
                                </m:r>
                                <m:r>
                                  <a:rPr lang="en-US" altLang="ja-JP" sz="2800" i="1">
                                    <a:latin typeface="Cambria Math" panose="02040503050406030204" pitchFamily="18" charset="0"/>
                                  </a:rPr>
                                  <m:t> </m:t>
                                </m:r>
                              </m:sub>
                            </m:sSub>
                          </m:e>
                        </m:d>
                      </m:e>
                      <m:sup>
                        <m:r>
                          <a:rPr lang="en-US" altLang="ja-JP" sz="2800" i="1">
                            <a:latin typeface="Cambria Math" panose="02040503050406030204" pitchFamily="18" charset="0"/>
                          </a:rPr>
                          <m:t>𝑇</m:t>
                        </m:r>
                      </m:sup>
                    </m:sSup>
                  </m:oMath>
                </a14:m>
                <a:r>
                  <a:rPr kumimoji="1" lang="ja-JP" altLang="en-US" sz="2800"/>
                  <a:t>作成</a:t>
                </a:r>
              </a:p>
            </p:txBody>
          </p:sp>
        </mc:Choice>
        <mc:Fallback xmlns="">
          <p:sp>
            <p:nvSpPr>
              <p:cNvPr id="5" name="テキスト ボックス 4">
                <a:extLst>
                  <a:ext uri="{FF2B5EF4-FFF2-40B4-BE49-F238E27FC236}">
                    <a16:creationId xmlns:a16="http://schemas.microsoft.com/office/drawing/2014/main" id="{368DFE7B-3617-BA3A-3922-863734093741}"/>
                  </a:ext>
                </a:extLst>
              </p:cNvPr>
              <p:cNvSpPr txBox="1">
                <a:spLocks noRot="1" noChangeAspect="1" noMove="1" noResize="1" noEditPoints="1" noAdjustHandles="1" noChangeArrowheads="1" noChangeShapeType="1" noTextEdit="1"/>
              </p:cNvSpPr>
              <p:nvPr/>
            </p:nvSpPr>
            <p:spPr>
              <a:xfrm>
                <a:off x="7960617" y="4830036"/>
                <a:ext cx="4326387" cy="961802"/>
              </a:xfrm>
              <a:prstGeom prst="rect">
                <a:avLst/>
              </a:prstGeom>
              <a:blipFill>
                <a:blip r:embed="rId4"/>
                <a:stretch>
                  <a:fillRect l="-2924" t="-6494" r="-3509" b="-15584"/>
                </a:stretch>
              </a:blipFill>
            </p:spPr>
            <p:txBody>
              <a:bodyPr/>
              <a:lstStyle/>
              <a:p>
                <a:r>
                  <a:rPr lang="ja-JP" altLang="en-US">
                    <a:noFill/>
                  </a:rPr>
                  <a:t> </a:t>
                </a:r>
              </a:p>
            </p:txBody>
          </p:sp>
        </mc:Fallback>
      </mc:AlternateContent>
      <p:sp>
        <p:nvSpPr>
          <p:cNvPr id="6" name="右矢印 5">
            <a:extLst>
              <a:ext uri="{FF2B5EF4-FFF2-40B4-BE49-F238E27FC236}">
                <a16:creationId xmlns:a16="http://schemas.microsoft.com/office/drawing/2014/main" id="{8A411BEC-6A37-83E2-C68E-F5DFE6BD326A}"/>
              </a:ext>
            </a:extLst>
          </p:cNvPr>
          <p:cNvSpPr/>
          <p:nvPr/>
        </p:nvSpPr>
        <p:spPr>
          <a:xfrm>
            <a:off x="7021533" y="5040806"/>
            <a:ext cx="889626" cy="503085"/>
          </a:xfrm>
          <a:prstGeom prst="rightArrow">
            <a:avLst>
              <a:gd name="adj1" fmla="val 50000"/>
              <a:gd name="adj2" fmla="val 5000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7" name="テキスト ボックス 6">
            <a:extLst>
              <a:ext uri="{FF2B5EF4-FFF2-40B4-BE49-F238E27FC236}">
                <a16:creationId xmlns:a16="http://schemas.microsoft.com/office/drawing/2014/main" id="{7F31D9C3-CD2D-70D7-3887-0B2F052A3CC8}"/>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15/28</a:t>
            </a:r>
            <a:endParaRPr kumimoji="1" lang="ja-JP" altLang="en-US" sz="2800">
              <a:latin typeface="+mj-ea"/>
              <a:ea typeface="+mj-ea"/>
            </a:endParaRPr>
          </a:p>
        </p:txBody>
      </p:sp>
    </p:spTree>
    <p:extLst>
      <p:ext uri="{BB962C8B-B14F-4D97-AF65-F5344CB8AC3E}">
        <p14:creationId xmlns:p14="http://schemas.microsoft.com/office/powerpoint/2010/main" val="3037880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BBE6F8A1-C44F-871E-2BFE-689915C8DC0D}"/>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17" name="コンテンツ プレースホルダー 2">
                <a:extLst>
                  <a:ext uri="{FF2B5EF4-FFF2-40B4-BE49-F238E27FC236}">
                    <a16:creationId xmlns:a16="http://schemas.microsoft.com/office/drawing/2014/main" id="{2766F47F-D5B9-C90F-2F1D-D6C4B5CFB86C}"/>
                  </a:ext>
                </a:extLst>
              </p:cNvPr>
              <p:cNvSpPr>
                <a:spLocks noGrp="1"/>
              </p:cNvSpPr>
              <p:nvPr>
                <p:ph idx="1"/>
              </p:nvPr>
            </p:nvSpPr>
            <p:spPr>
              <a:xfrm>
                <a:off x="10232" y="1161341"/>
                <a:ext cx="12171534" cy="5678129"/>
              </a:xfrm>
            </p:spPr>
            <p:txBody>
              <a:bodyPr>
                <a:no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2. </a:t>
                </a:r>
                <a:r>
                  <a:rPr lang="ja-JP" altLang="en-US" sz="3200">
                    <a:solidFill>
                      <a:srgbClr val="7030A0"/>
                    </a:solidFill>
                    <a:latin typeface="+mn-ea"/>
                    <a:cs typeface="ヒラギノ角ゴ Pro W3"/>
                  </a:rPr>
                  <a:t>　</a:t>
                </a:r>
                <a:r>
                  <a:rPr kumimoji="1" lang="ja-JP" altLang="en-US" sz="3200">
                    <a:solidFill>
                      <a:srgbClr val="7030A0"/>
                    </a:solidFill>
                    <a:latin typeface="+mn-ea"/>
                    <a:cs typeface="ヒラギノ角ゴ Pro W3"/>
                  </a:rPr>
                  <a:t>統計量</a:t>
                </a:r>
                <a14:m>
                  <m:oMath xmlns:m="http://schemas.openxmlformats.org/officeDocument/2006/math">
                    <m:sSub>
                      <m:sSubPr>
                        <m:ctrlPr>
                          <a:rPr kumimoji="1" lang="en-US" altLang="ja-JP" sz="3200" b="0" i="1" smtClean="0">
                            <a:solidFill>
                              <a:srgbClr val="7030A0"/>
                            </a:solidFill>
                            <a:latin typeface="Cambria Math" panose="02040503050406030204" pitchFamily="18" charset="0"/>
                            <a:cs typeface="ヒラギノ角ゴ Pro W3"/>
                          </a:rPr>
                        </m:ctrlPr>
                      </m:sSubPr>
                      <m:e>
                        <m:r>
                          <a:rPr kumimoji="1" lang="en-US" altLang="ja-JP" sz="3200" b="1" i="1" smtClean="0">
                            <a:solidFill>
                              <a:srgbClr val="7030A0"/>
                            </a:solidFill>
                            <a:latin typeface="Cambria Math" panose="02040503050406030204" pitchFamily="18" charset="0"/>
                            <a:cs typeface="ヒラギノ角ゴ Pro W3"/>
                          </a:rPr>
                          <m:t>𝑾</m:t>
                        </m:r>
                      </m:e>
                      <m:sub>
                        <m:r>
                          <a:rPr kumimoji="1" lang="en-US" altLang="ja-JP" sz="3200" b="0" i="1" smtClean="0">
                            <a:solidFill>
                              <a:srgbClr val="7030A0"/>
                            </a:solidFill>
                            <a:latin typeface="Cambria Math" panose="02040503050406030204" pitchFamily="18" charset="0"/>
                            <a:cs typeface="ヒラギノ角ゴ Pro W3"/>
                          </a:rPr>
                          <m:t>𝑘</m:t>
                        </m:r>
                      </m:sub>
                    </m:sSub>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400" dirty="0">
                  <a:solidFill>
                    <a:srgbClr val="7030A0"/>
                  </a:solidFill>
                  <a:latin typeface="+mn-ea"/>
                  <a:cs typeface="ヒラギノ角ゴ Pro W3"/>
                </a:endParaRPr>
              </a:p>
              <a:p>
                <a:pPr marL="0" indent="0">
                  <a:buNone/>
                </a:pPr>
                <a:r>
                  <a:rPr lang="ja-JP" altLang="en-US">
                    <a:latin typeface="+mn-ea"/>
                    <a:cs typeface="ヒラギノ角ゴ Pro W3"/>
                  </a:rPr>
                  <a:t>・</a:t>
                </a:r>
                <a:r>
                  <a:rPr kumimoji="1" lang="en-US" altLang="ja-JP" dirty="0" err="1">
                    <a:latin typeface="+mn-ea"/>
                    <a:cs typeface="ヒラギノ角ゴ Pro W3"/>
                  </a:rPr>
                  <a:t>SCoTLASS</a:t>
                </a:r>
                <a:r>
                  <a:rPr kumimoji="1" lang="ja-JP" altLang="en-US">
                    <a:latin typeface="+mn-ea"/>
                    <a:cs typeface="ヒラギノ角ゴ Pro W3"/>
                  </a:rPr>
                  <a:t>の拡張版</a:t>
                </a:r>
                <a:r>
                  <a:rPr kumimoji="1" lang="en-US" altLang="ja-JP" dirty="0">
                    <a:latin typeface="+mn-ea"/>
                    <a:cs typeface="ヒラギノ角ゴ Pro W3"/>
                  </a:rPr>
                  <a:t> </a:t>
                </a:r>
                <a14:m>
                  <m:oMath xmlns:m="http://schemas.openxmlformats.org/officeDocument/2006/math">
                    <m:r>
                      <m:rPr>
                        <m:nor/>
                      </m:rPr>
                      <a:rPr lang="en-US" altLang="ja-JP" dirty="0" smtClean="0">
                        <a:latin typeface="+mn-ea"/>
                        <a:cs typeface="ヒラギノ角ゴ Pro W3"/>
                      </a:rPr>
                      <m:t>(</m:t>
                    </m:r>
                    <m:r>
                      <m:rPr>
                        <m:nor/>
                      </m:rPr>
                      <a:rPr lang="en-US" altLang="ja-JP" dirty="0" smtClean="0">
                        <a:latin typeface="+mn-ea"/>
                        <a:cs typeface="ヒラギノ角ゴ Pro W3"/>
                      </a:rPr>
                      <m:t>Witten</m:t>
                    </m:r>
                    <m:r>
                      <m:rPr>
                        <m:nor/>
                      </m:rPr>
                      <a:rPr lang="en-US" altLang="ja-JP" dirty="0" smtClean="0">
                        <a:latin typeface="+mn-ea"/>
                        <a:cs typeface="ヒラギノ角ゴ Pro W3"/>
                      </a:rPr>
                      <m:t> </m:t>
                    </m:r>
                    <m:r>
                      <m:rPr>
                        <m:nor/>
                      </m:rPr>
                      <a:rPr lang="en-US" altLang="ja-JP" dirty="0" smtClean="0">
                        <a:latin typeface="+mn-ea"/>
                        <a:cs typeface="ヒラギノ角ゴ Pro W3"/>
                      </a:rPr>
                      <m:t>et</m:t>
                    </m:r>
                    <m:r>
                      <m:rPr>
                        <m:nor/>
                      </m:rPr>
                      <a:rPr lang="en-US" altLang="ja-JP" dirty="0" smtClean="0">
                        <a:latin typeface="+mn-ea"/>
                        <a:cs typeface="ヒラギノ角ゴ Pro W3"/>
                      </a:rPr>
                      <m:t> </m:t>
                    </m:r>
                    <m:r>
                      <m:rPr>
                        <m:nor/>
                      </m:rPr>
                      <a:rPr lang="en-US" altLang="ja-JP" dirty="0" smtClean="0">
                        <a:latin typeface="+mn-ea"/>
                        <a:cs typeface="ヒラギノ角ゴ Pro W3"/>
                      </a:rPr>
                      <m:t>al</m:t>
                    </m:r>
                    <m:r>
                      <m:rPr>
                        <m:nor/>
                      </m:rPr>
                      <a:rPr lang="en-US" altLang="ja-JP" dirty="0" smtClean="0">
                        <a:latin typeface="+mn-ea"/>
                        <a:cs typeface="ヒラギノ角ゴ Pro W3"/>
                      </a:rPr>
                      <m:t>., 2009)</m:t>
                    </m:r>
                  </m:oMath>
                </a14:m>
                <a:endParaRPr kumimoji="1" lang="en-US" altLang="ja-JP" dirty="0">
                  <a:latin typeface="+mn-ea"/>
                  <a:cs typeface="ヒラギノ角ゴ Pro W3"/>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acc>
                            <m:accPr>
                              <m:chr m:val="̂"/>
                              <m:ctrlPr>
                                <a:rPr lang="en-US" altLang="ja-JP" sz="3200" b="0" i="1" smtClean="0">
                                  <a:latin typeface="Cambria Math" panose="02040503050406030204" pitchFamily="18" charset="0"/>
                                </a:rPr>
                              </m:ctrlPr>
                            </m:accPr>
                            <m:e>
                              <m:r>
                                <a:rPr lang="en-US" altLang="ja-JP" sz="3200" b="1" i="1" smtClean="0">
                                  <a:latin typeface="Cambria Math" panose="02040503050406030204" pitchFamily="18" charset="0"/>
                                </a:rPr>
                                <m:t>𝒗</m:t>
                              </m:r>
                            </m:e>
                          </m:acc>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m:t>
                      </m:r>
                      <m:func>
                        <m:funcPr>
                          <m:ctrlPr>
                            <a:rPr lang="en-US" altLang="ja-JP" sz="3200" i="1" smtClean="0">
                              <a:latin typeface="Cambria Math" panose="02040503050406030204" pitchFamily="18" charset="0"/>
                            </a:rPr>
                          </m:ctrlPr>
                        </m:funcPr>
                        <m:fName>
                          <m:limLow>
                            <m:limLowPr>
                              <m:ctrlPr>
                                <a:rPr lang="en-US" altLang="ja-JP" sz="3200" i="1">
                                  <a:latin typeface="Cambria Math" panose="02040503050406030204" pitchFamily="18" charset="0"/>
                                </a:rPr>
                              </m:ctrlPr>
                            </m:limLowPr>
                            <m:e>
                              <m:r>
                                <m:rPr>
                                  <m:sty m:val="p"/>
                                </m:rPr>
                                <a:rPr lang="en-US" altLang="ja-JP" sz="3200" b="0" i="0" smtClean="0">
                                  <a:latin typeface="Cambria Math" panose="02040503050406030204" pitchFamily="18" charset="0"/>
                                </a:rPr>
                                <m:t>argmax</m:t>
                              </m:r>
                            </m:e>
                            <m:lim>
                              <m:r>
                                <a:rPr lang="en-US" altLang="ja-JP" sz="3200" b="1" i="1" smtClean="0">
                                  <a:latin typeface="Cambria Math" panose="02040503050406030204" pitchFamily="18" charset="0"/>
                                </a:rPr>
                                <m:t> </m:t>
                              </m:r>
                              <m:r>
                                <a:rPr lang="en-US" altLang="ja-JP" sz="3200" b="1" i="1" smtClean="0">
                                  <a:latin typeface="Cambria Math" panose="02040503050406030204" pitchFamily="18" charset="0"/>
                                </a:rPr>
                                <m:t>𝒗</m:t>
                              </m:r>
                            </m:lim>
                          </m:limLow>
                        </m:fName>
                        <m:e>
                          <m:sSubSup>
                            <m:sSubSupPr>
                              <m:ctrlPr>
                                <a:rPr lang="en-US" altLang="ja-JP" sz="3200" b="0" i="1" smtClean="0">
                                  <a:latin typeface="Cambria Math" panose="02040503050406030204" pitchFamily="18" charset="0"/>
                                  <a:ea typeface="Cambria Math" panose="02040503050406030204" pitchFamily="18" charset="0"/>
                                </a:rPr>
                              </m:ctrlPr>
                            </m:sSubSupPr>
                            <m:e>
                              <m:r>
                                <a:rPr lang="en-US" altLang="ja-JP" sz="3200" b="1" i="1" smtClean="0">
                                  <a:latin typeface="Cambria Math" panose="02040503050406030204" pitchFamily="18" charset="0"/>
                                  <a:ea typeface="Cambria Math" panose="02040503050406030204" pitchFamily="18" charset="0"/>
                                </a:rPr>
                                <m:t>𝒗</m:t>
                              </m:r>
                            </m:e>
                            <m:sub>
                              <m:r>
                                <a:rPr lang="en-US" altLang="ja-JP" sz="3200" b="0" i="1" smtClean="0">
                                  <a:latin typeface="Cambria Math" panose="02040503050406030204" pitchFamily="18" charset="0"/>
                                  <a:ea typeface="Cambria Math" panose="02040503050406030204" pitchFamily="18" charset="0"/>
                                </a:rPr>
                                <m:t>𝑘</m:t>
                              </m:r>
                            </m:sub>
                            <m:sup>
                              <m:r>
                                <a:rPr lang="en-US" altLang="ja-JP" sz="3200" b="0" i="1" smtClean="0">
                                  <a:latin typeface="Cambria Math" panose="02040503050406030204" pitchFamily="18" charset="0"/>
                                  <a:ea typeface="Cambria Math" panose="02040503050406030204" pitchFamily="18" charset="0"/>
                                </a:rPr>
                                <m:t>𝑇</m:t>
                              </m:r>
                            </m:sup>
                          </m:sSubSup>
                          <m:sSup>
                            <m:sSupPr>
                              <m:ctrlPr>
                                <a:rPr lang="en-US" altLang="ja-JP" sz="3200" b="0" i="1" smtClean="0">
                                  <a:latin typeface="Cambria Math" panose="02040503050406030204" pitchFamily="18" charset="0"/>
                                  <a:ea typeface="Cambria Math" panose="02040503050406030204" pitchFamily="18" charset="0"/>
                                </a:rPr>
                              </m:ctrlPr>
                            </m:sSupPr>
                            <m:e>
                              <m:d>
                                <m:dPr>
                                  <m:begChr m:val="["/>
                                  <m:endChr m:val="]"/>
                                  <m:ctrlPr>
                                    <a:rPr lang="en-US" altLang="ja-JP" sz="3200" b="0" i="1" smtClean="0">
                                      <a:latin typeface="Cambria Math" panose="02040503050406030204" pitchFamily="18" charset="0"/>
                                      <a:ea typeface="Cambria Math" panose="02040503050406030204" pitchFamily="18" charset="0"/>
                                    </a:rPr>
                                  </m:ctrlPr>
                                </m:dPr>
                                <m:e>
                                  <m:r>
                                    <a:rPr lang="en-US" altLang="ja-JP" sz="3200" b="0" i="1" smtClean="0">
                                      <a:latin typeface="Cambria Math" panose="02040503050406030204" pitchFamily="18" charset="0"/>
                                      <a:ea typeface="Cambria Math" panose="02040503050406030204" pitchFamily="18" charset="0"/>
                                    </a:rPr>
                                    <m:t>𝑋</m:t>
                                  </m:r>
                                  <m:r>
                                    <a:rPr lang="en-US" altLang="ja-JP" sz="3200" b="0" i="1" smtClean="0">
                                      <a:latin typeface="Cambria Math" panose="02040503050406030204" pitchFamily="18" charset="0"/>
                                      <a:ea typeface="Cambria Math" panose="02040503050406030204" pitchFamily="18" charset="0"/>
                                    </a:rPr>
                                    <m:t>,</m:t>
                                  </m:r>
                                  <m:acc>
                                    <m:accPr>
                                      <m:chr m:val="̃"/>
                                      <m:ctrlPr>
                                        <a:rPr lang="en-US" altLang="ja-JP" sz="3200" b="0" i="1" smtClean="0">
                                          <a:latin typeface="Cambria Math" panose="02040503050406030204" pitchFamily="18" charset="0"/>
                                          <a:ea typeface="Cambria Math" panose="02040503050406030204" pitchFamily="18" charset="0"/>
                                        </a:rPr>
                                      </m:ctrlPr>
                                    </m:accPr>
                                    <m:e>
                                      <m:r>
                                        <a:rPr lang="en-US" altLang="ja-JP" sz="3200" b="0" i="1" smtClean="0">
                                          <a:latin typeface="Cambria Math" panose="02040503050406030204" pitchFamily="18" charset="0"/>
                                          <a:ea typeface="Cambria Math" panose="02040503050406030204" pitchFamily="18" charset="0"/>
                                        </a:rPr>
                                        <m:t>𝑋</m:t>
                                      </m:r>
                                    </m:e>
                                  </m:acc>
                                </m:e>
                              </m:d>
                            </m:e>
                            <m:sup>
                              <m:r>
                                <a:rPr lang="en-US" altLang="ja-JP" sz="3200" b="0" i="1" smtClean="0">
                                  <a:latin typeface="Cambria Math" panose="02040503050406030204" pitchFamily="18" charset="0"/>
                                  <a:ea typeface="Cambria Math" panose="02040503050406030204" pitchFamily="18" charset="0"/>
                                </a:rPr>
                                <m:t>𝑇</m:t>
                              </m:r>
                            </m:sup>
                          </m:sSup>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𝑋</m:t>
                          </m:r>
                          <m:r>
                            <a:rPr lang="en-US" altLang="ja-JP" sz="3200" i="1">
                              <a:latin typeface="Cambria Math" panose="02040503050406030204" pitchFamily="18" charset="0"/>
                              <a:ea typeface="Cambria Math" panose="02040503050406030204" pitchFamily="18" charset="0"/>
                            </a:rPr>
                            <m:t>,</m:t>
                          </m:r>
                          <m:acc>
                            <m:accPr>
                              <m:chr m:val="̃"/>
                              <m:ctrlPr>
                                <a:rPr lang="en-US" altLang="ja-JP" sz="3200" i="1">
                                  <a:latin typeface="Cambria Math" panose="02040503050406030204" pitchFamily="18" charset="0"/>
                                  <a:ea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𝑋</m:t>
                              </m:r>
                            </m:e>
                          </m:acc>
                          <m:r>
                            <a:rPr lang="en-US" altLang="ja-JP" sz="3200" i="1">
                              <a:latin typeface="Cambria Math" panose="02040503050406030204" pitchFamily="18" charset="0"/>
                              <a:ea typeface="Cambria Math" panose="02040503050406030204" pitchFamily="18" charset="0"/>
                            </a:rPr>
                            <m:t>]</m:t>
                          </m:r>
                        </m:e>
                      </m:func>
                      <m:sSub>
                        <m:sSubPr>
                          <m:ctrlPr>
                            <a:rPr lang="en-US" altLang="ja-JP" sz="3200" b="0" i="1" smtClean="0">
                              <a:latin typeface="Cambria Math" panose="02040503050406030204" pitchFamily="18" charset="0"/>
                            </a:rPr>
                          </m:ctrlPr>
                        </m:sSubPr>
                        <m:e>
                          <m:r>
                            <a:rPr lang="en-US" altLang="ja-JP" sz="3200" b="1" i="1" smtClean="0">
                              <a:latin typeface="Cambria Math" panose="02040503050406030204" pitchFamily="18" charset="0"/>
                            </a:rPr>
                            <m:t>𝒗</m:t>
                          </m:r>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subject</m:t>
                      </m:r>
                      <m:r>
                        <a:rPr lang="en-US" altLang="ja-JP" sz="3200" b="0" i="0" smtClean="0">
                          <a:latin typeface="Cambria Math" panose="02040503050406030204" pitchFamily="18" charset="0"/>
                        </a:rPr>
                        <m:t> </m:t>
                      </m:r>
                      <m:r>
                        <m:rPr>
                          <m:sty m:val="p"/>
                        </m:rPr>
                        <a:rPr lang="en-US" altLang="ja-JP" sz="3200" b="0" i="0" smtClean="0">
                          <a:latin typeface="Cambria Math" panose="02040503050406030204" pitchFamily="18" charset="0"/>
                        </a:rPr>
                        <m:t>to</m:t>
                      </m:r>
                      <m:r>
                        <a:rPr lang="en-US" altLang="ja-JP" sz="3200" b="0" i="1" smtClean="0">
                          <a:latin typeface="Cambria Math" panose="02040503050406030204" pitchFamily="18" charset="0"/>
                        </a:rPr>
                        <m:t>   </m:t>
                      </m:r>
                      <m:sSubSup>
                        <m:sSubSupPr>
                          <m:ctrlPr>
                            <a:rPr lang="en-US" altLang="ja-JP" sz="3200" b="0" i="1" smtClean="0">
                              <a:latin typeface="Cambria Math" panose="02040503050406030204" pitchFamily="18" charset="0"/>
                            </a:rPr>
                          </m:ctrlPr>
                        </m:sSubSupPr>
                        <m:e>
                          <m:d>
                            <m:dPr>
                              <m:begChr m:val="‖"/>
                              <m:endChr m:val="‖"/>
                              <m:ctrlPr>
                                <a:rPr lang="en-US" altLang="ja-JP" sz="3200" b="0" i="1" smtClean="0">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2</m:t>
                          </m:r>
                        </m:sub>
                        <m:sup>
                          <m:r>
                            <a:rPr lang="en-US" altLang="ja-JP" sz="3200" b="0" i="1" smtClean="0">
                              <a:latin typeface="Cambria Math" panose="02040503050406030204" pitchFamily="18" charset="0"/>
                            </a:rPr>
                            <m:t>2</m:t>
                          </m:r>
                        </m:sup>
                      </m:sSubSup>
                      <m:r>
                        <a:rPr lang="en-US" altLang="ja-JP" sz="3200" i="1">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rPr>
                        <m:t>1,</m:t>
                      </m:r>
                      <m:sSub>
                        <m:sSubPr>
                          <m:ctrlPr>
                            <a:rPr lang="en-US" altLang="ja-JP" sz="3200" b="0" i="1" smtClean="0">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1</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𝑐</m:t>
                      </m:r>
                    </m:oMath>
                  </m:oMathPara>
                </a14:m>
                <a:endParaRPr lang="en-US" altLang="ja-JP" sz="3200" b="0" i="1" dirty="0">
                  <a:latin typeface="Cambria Math" panose="02040503050406030204" pitchFamily="18" charset="0"/>
                  <a:ea typeface="Cambria Math" panose="02040503050406030204" pitchFamily="18" charset="0"/>
                </a:endParaRPr>
              </a:p>
              <a:p>
                <a:pPr marL="0" indent="0" algn="ctr">
                  <a:buNone/>
                </a:pPr>
                <a:r>
                  <a:rPr lang="ja-JP" altLang="en-US">
                    <a:cs typeface="ヒラギノ角ゴ Pro W3"/>
                  </a:rPr>
                  <a:t>　　　　　　　　</a:t>
                </a:r>
                <a:endParaRPr kumimoji="1" lang="en-US" altLang="ja-JP" b="0" i="1" dirty="0">
                  <a:latin typeface="Cambria Math" panose="02040503050406030204" pitchFamily="18" charset="0"/>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lang="en-US" altLang="ja-JP" dirty="0">
                  <a:latin typeface="ヒラギノ角ゴ Pro W3"/>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kumimoji="1" lang="ja-JP" altLang="en-US" sz="800" dirty="0">
                  <a:latin typeface="ヒラギノ角ゴ Pro W3"/>
                  <a:ea typeface="ヒラギノ角ゴ Pro W3"/>
                  <a:cs typeface="ヒラギノ角ゴ Pro W3"/>
                </a:endParaRPr>
              </a:p>
              <a:p>
                <a:pPr marL="0" indent="0">
                  <a:buClr>
                    <a:schemeClr val="accent3"/>
                  </a:buClr>
                  <a:buNone/>
                </a:pPr>
                <a:r>
                  <a:rPr lang="en-US" altLang="ja-JP" dirty="0">
                    <a:ea typeface="ヒラギノ角ゴ Pro W3"/>
                    <a:cs typeface="ヒラギノ角ゴ Pro W3"/>
                  </a:rPr>
                  <a:t>                  </a:t>
                </a:r>
                <a14:m>
                  <m:oMath xmlns:m="http://schemas.openxmlformats.org/officeDocument/2006/math">
                    <m:sSub>
                      <m:sSubPr>
                        <m:ctrlP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ctrlPr>
                      </m:sSubPr>
                      <m:e>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𝑊</m:t>
                        </m:r>
                      </m:e>
                      <m: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𝑘𝑗</m:t>
                        </m:r>
                      </m:sub>
                    </m:s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m:t>
                    </m:r>
                    <m:sSub>
                      <m:sSubPr>
                        <m:ctrlPr>
                          <a:rPr lang="en-US" altLang="ja-JP" sz="3200" i="1">
                            <a:solidFill>
                              <a:schemeClr val="accent1">
                                <a:lumMod val="90000"/>
                              </a:schemeClr>
                            </a:solidFill>
                            <a:latin typeface="Cambria Math" panose="02040503050406030204" pitchFamily="18" charset="0"/>
                            <a:cs typeface="ヒラギノ角ゴ Pro W3"/>
                          </a:rPr>
                        </m:ctrlPr>
                      </m:sSubPr>
                      <m:e>
                        <m:r>
                          <a:rPr lang="en-US" altLang="ja-JP" sz="3200" i="1">
                            <a:solidFill>
                              <a:schemeClr val="accent1">
                                <a:lumMod val="90000"/>
                              </a:schemeClr>
                            </a:solidFill>
                            <a:latin typeface="Cambria Math" panose="02040503050406030204" pitchFamily="18" charset="0"/>
                            <a:cs typeface="ヒラギノ角ゴ Pro W3"/>
                          </a:rPr>
                          <m:t>𝑍</m:t>
                        </m:r>
                      </m:e>
                      <m:sub>
                        <m:r>
                          <a:rPr lang="en-US" altLang="ja-JP" sz="3200" b="0" i="1" smtClean="0">
                            <a:solidFill>
                              <a:schemeClr val="accent1">
                                <a:lumMod val="90000"/>
                              </a:schemeClr>
                            </a:solidFill>
                            <a:latin typeface="Cambria Math" panose="02040503050406030204" pitchFamily="18" charset="0"/>
                            <a:cs typeface="ヒラギノ角ゴ Pro W3"/>
                          </a:rPr>
                          <m:t>𝑘</m:t>
                        </m:r>
                        <m:r>
                          <a:rPr lang="en-US" altLang="ja-JP" sz="3200" i="1">
                            <a:solidFill>
                              <a:schemeClr val="accent1">
                                <a:lumMod val="90000"/>
                              </a:schemeClr>
                            </a:solidFill>
                            <a:latin typeface="Cambria Math" panose="02040503050406030204" pitchFamily="18" charset="0"/>
                            <a:cs typeface="ヒラギノ角ゴ Pro W3"/>
                          </a:rPr>
                          <m:t>𝑗</m:t>
                        </m:r>
                      </m:sub>
                    </m:sSub>
                    <m:r>
                      <a:rPr lang="en-US" altLang="ja-JP" sz="3200" i="1">
                        <a:solidFill>
                          <a:schemeClr val="accent1">
                            <a:lumMod val="90000"/>
                          </a:schemeClr>
                        </a:solidFill>
                        <a:latin typeface="Cambria Math" panose="02040503050406030204" pitchFamily="18" charset="0"/>
                        <a:ea typeface="Cambria Math" panose="02040503050406030204" pitchFamily="18" charset="0"/>
                        <a:cs typeface="ヒラギノ角ゴ Pro W3"/>
                      </a:rPr>
                      <m:t>∧</m:t>
                    </m:r>
                    <m:sSub>
                      <m:sSubPr>
                        <m:ctrlPr>
                          <a:rPr lang="en-US" altLang="ja-JP" sz="3200" i="1">
                            <a:solidFill>
                              <a:schemeClr val="accent1">
                                <a:lumMod val="90000"/>
                              </a:schemeClr>
                            </a:solidFill>
                            <a:latin typeface="Cambria Math" panose="02040503050406030204" pitchFamily="18" charset="0"/>
                          </a:rPr>
                        </m:ctrlPr>
                      </m:sSubPr>
                      <m:e>
                        <m:acc>
                          <m:accPr>
                            <m:chr m:val="̃"/>
                            <m:ctrlPr>
                              <a:rPr lang="en-US" altLang="ja-JP" sz="3200" i="1">
                                <a:solidFill>
                                  <a:schemeClr val="accent1">
                                    <a:lumMod val="90000"/>
                                  </a:schemeClr>
                                </a:solidFill>
                                <a:latin typeface="Cambria Math" panose="02040503050406030204" pitchFamily="18" charset="0"/>
                              </a:rPr>
                            </m:ctrlPr>
                          </m:accPr>
                          <m:e>
                            <m:r>
                              <a:rPr lang="en-US" altLang="ja-JP" sz="3200" i="1">
                                <a:solidFill>
                                  <a:schemeClr val="accent1">
                                    <a:lumMod val="90000"/>
                                  </a:schemeClr>
                                </a:solidFill>
                                <a:latin typeface="Cambria Math" panose="02040503050406030204" pitchFamily="18" charset="0"/>
                              </a:rPr>
                              <m:t>𝑍</m:t>
                            </m:r>
                          </m:e>
                        </m:acc>
                      </m:e>
                      <m:sub>
                        <m:r>
                          <a:rPr lang="en-US" altLang="ja-JP" sz="3200" b="0" i="1" smtClean="0">
                            <a:solidFill>
                              <a:schemeClr val="accent1">
                                <a:lumMod val="90000"/>
                              </a:schemeClr>
                            </a:solidFill>
                            <a:latin typeface="Cambria Math" panose="02040503050406030204" pitchFamily="18" charset="0"/>
                          </a:rPr>
                          <m:t>𝑘</m:t>
                        </m:r>
                        <m:r>
                          <a:rPr lang="en-US" altLang="ja-JP" sz="3200" b="0" i="1" smtClean="0">
                            <a:solidFill>
                              <a:schemeClr val="accent1">
                                <a:lumMod val="90000"/>
                              </a:schemeClr>
                            </a:solidFill>
                            <a:latin typeface="Cambria Math" panose="02040503050406030204" pitchFamily="18" charset="0"/>
                          </a:rPr>
                          <m:t>(</m:t>
                        </m:r>
                        <m:r>
                          <a:rPr lang="en-US" altLang="ja-JP" sz="3200" i="1">
                            <a:solidFill>
                              <a:schemeClr val="accent1">
                                <a:lumMod val="90000"/>
                              </a:schemeClr>
                            </a:solidFill>
                            <a:latin typeface="Cambria Math" panose="02040503050406030204" pitchFamily="18" charset="0"/>
                          </a:rPr>
                          <m:t>𝑗</m:t>
                        </m:r>
                        <m:r>
                          <a:rPr lang="en-US" altLang="ja-JP" sz="3200" b="0" i="1" smtClean="0">
                            <a:solidFill>
                              <a:schemeClr val="accent1">
                                <a:lumMod val="90000"/>
                              </a:schemeClr>
                            </a:solidFill>
                            <a:latin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rPr>
                          <m:t>𝑝</m:t>
                        </m:r>
                        <m:r>
                          <a:rPr lang="en-US" altLang="ja-JP" sz="3200" b="0" i="1" smtClean="0">
                            <a:solidFill>
                              <a:schemeClr val="accent1">
                                <a:lumMod val="90000"/>
                              </a:schemeClr>
                            </a:solidFill>
                            <a:latin typeface="Cambria Math" panose="02040503050406030204" pitchFamily="18" charset="0"/>
                          </a:rPr>
                          <m:t>)</m:t>
                        </m:r>
                      </m:sub>
                    </m:sSub>
                    <m:r>
                      <a:rPr lang="en-US" altLang="ja-JP" sz="3200" i="1">
                        <a:solidFill>
                          <a:schemeClr val="accent1">
                            <a:lumMod val="90000"/>
                          </a:schemeClr>
                        </a:solidFill>
                        <a:latin typeface="Cambria Math" panose="02040503050406030204" pitchFamily="18" charset="0"/>
                      </a:rPr>
                      <m:t>∙</m:t>
                    </m:r>
                    <m:func>
                      <m:funcPr>
                        <m:ctrlPr>
                          <a:rPr lang="en-US" altLang="ja-JP" sz="3200" i="1">
                            <a:solidFill>
                              <a:schemeClr val="accent1">
                                <a:lumMod val="90000"/>
                              </a:schemeClr>
                            </a:solidFill>
                            <a:latin typeface="Cambria Math" panose="02040503050406030204" pitchFamily="18" charset="0"/>
                          </a:rPr>
                        </m:ctrlPr>
                      </m:funcPr>
                      <m:fName>
                        <m:r>
                          <m:rPr>
                            <m:sty m:val="p"/>
                          </m:rPr>
                          <a:rPr lang="en-US" altLang="ja-JP" sz="3200">
                            <a:solidFill>
                              <a:schemeClr val="accent1">
                                <a:lumMod val="90000"/>
                              </a:schemeClr>
                            </a:solidFill>
                            <a:latin typeface="Cambria Math" panose="02040503050406030204" pitchFamily="18" charset="0"/>
                          </a:rPr>
                          <m:t>sign</m:t>
                        </m:r>
                      </m:fName>
                      <m:e>
                        <m:d>
                          <m:dPr>
                            <m:ctrlPr>
                              <a:rPr lang="en-US" altLang="ja-JP" sz="3200" i="1">
                                <a:solidFill>
                                  <a:schemeClr val="accent1">
                                    <a:lumMod val="90000"/>
                                  </a:schemeClr>
                                </a:solidFill>
                                <a:latin typeface="Cambria Math" panose="02040503050406030204" pitchFamily="18" charset="0"/>
                              </a:rPr>
                            </m:ctrlPr>
                          </m:dPr>
                          <m:e>
                            <m:sSub>
                              <m:sSubPr>
                                <m:ctrlPr>
                                  <a:rPr lang="en-US" altLang="ja-JP" sz="3200" b="0" i="1" smtClean="0">
                                    <a:solidFill>
                                      <a:schemeClr val="accent1">
                                        <a:lumMod val="90000"/>
                                      </a:schemeClr>
                                    </a:solidFill>
                                    <a:latin typeface="Cambria Math" panose="02040503050406030204" pitchFamily="18" charset="0"/>
                                  </a:rPr>
                                </m:ctrlPr>
                              </m:sSubPr>
                              <m:e>
                                <m:acc>
                                  <m:accPr>
                                    <m:chr m:val="̃"/>
                                    <m:ctrlPr>
                                      <a:rPr lang="en-US" altLang="ja-JP" sz="3200" i="1">
                                        <a:solidFill>
                                          <a:schemeClr val="accent1">
                                            <a:lumMod val="90000"/>
                                          </a:schemeClr>
                                        </a:solidFill>
                                        <a:latin typeface="Cambria Math" panose="02040503050406030204" pitchFamily="18" charset="0"/>
                                      </a:rPr>
                                    </m:ctrlPr>
                                  </m:accPr>
                                  <m:e>
                                    <m:r>
                                      <a:rPr lang="en-US" altLang="ja-JP" sz="3200" b="0" i="1" smtClean="0">
                                        <a:solidFill>
                                          <a:schemeClr val="accent1">
                                            <a:lumMod val="90000"/>
                                          </a:schemeClr>
                                        </a:solidFill>
                                        <a:latin typeface="Cambria Math" panose="02040503050406030204" pitchFamily="18" charset="0"/>
                                      </a:rPr>
                                      <m:t>𝑍</m:t>
                                    </m:r>
                                  </m:e>
                                </m:acc>
                              </m:e>
                              <m:sub>
                                <m:r>
                                  <a:rPr lang="en-US" altLang="ja-JP" sz="3200" b="0" i="1" smtClean="0">
                                    <a:solidFill>
                                      <a:schemeClr val="accent1">
                                        <a:lumMod val="90000"/>
                                      </a:schemeClr>
                                    </a:solidFill>
                                    <a:latin typeface="Cambria Math" panose="02040503050406030204" pitchFamily="18" charset="0"/>
                                  </a:rPr>
                                  <m:t>𝑘𝑗</m:t>
                                </m:r>
                              </m:sub>
                            </m:sSub>
                            <m:r>
                              <a:rPr lang="en-US" altLang="ja-JP" sz="3200" i="1">
                                <a:solidFill>
                                  <a:schemeClr val="accent1">
                                    <a:lumMod val="90000"/>
                                  </a:schemeClr>
                                </a:solidFill>
                                <a:latin typeface="Cambria Math" panose="02040503050406030204" pitchFamily="18" charset="0"/>
                              </a:rPr>
                              <m:t>−</m:t>
                            </m:r>
                            <m:sSub>
                              <m:sSubPr>
                                <m:ctrlPr>
                                  <a:rPr lang="en-US" altLang="ja-JP" sz="3200" i="1">
                                    <a:solidFill>
                                      <a:schemeClr val="accent1">
                                        <a:lumMod val="90000"/>
                                      </a:schemeClr>
                                    </a:solidFill>
                                    <a:latin typeface="Cambria Math" panose="02040503050406030204" pitchFamily="18" charset="0"/>
                                  </a:rPr>
                                </m:ctrlPr>
                              </m:sSubPr>
                              <m:e>
                                <m:r>
                                  <a:rPr lang="en-US" altLang="ja-JP" sz="3200" i="1">
                                    <a:solidFill>
                                      <a:schemeClr val="accent1">
                                        <a:lumMod val="90000"/>
                                      </a:schemeClr>
                                    </a:solidFill>
                                    <a:latin typeface="Cambria Math" panose="02040503050406030204" pitchFamily="18" charset="0"/>
                                  </a:rPr>
                                  <m:t>𝑍</m:t>
                                </m:r>
                              </m:e>
                              <m:sub>
                                <m:r>
                                  <a:rPr lang="en-US" altLang="ja-JP" sz="3200" b="0" i="1" smtClean="0">
                                    <a:solidFill>
                                      <a:schemeClr val="accent1">
                                        <a:lumMod val="90000"/>
                                      </a:schemeClr>
                                    </a:solidFill>
                                    <a:latin typeface="Cambria Math" panose="02040503050406030204" pitchFamily="18" charset="0"/>
                                  </a:rPr>
                                  <m:t>𝑘</m:t>
                                </m:r>
                                <m:r>
                                  <a:rPr lang="en-US" altLang="ja-JP" sz="3200" b="0" i="1" smtClean="0">
                                    <a:solidFill>
                                      <a:schemeClr val="accent1">
                                        <a:lumMod val="90000"/>
                                      </a:schemeClr>
                                    </a:solidFill>
                                    <a:latin typeface="Cambria Math" panose="02040503050406030204" pitchFamily="18" charset="0"/>
                                  </a:rPr>
                                  <m:t>(</m:t>
                                </m:r>
                                <m:r>
                                  <a:rPr lang="en-US" altLang="ja-JP" sz="3200" i="1">
                                    <a:solidFill>
                                      <a:schemeClr val="accent1">
                                        <a:lumMod val="90000"/>
                                      </a:schemeClr>
                                    </a:solidFill>
                                    <a:latin typeface="Cambria Math" panose="02040503050406030204" pitchFamily="18" charset="0"/>
                                  </a:rPr>
                                  <m:t>𝑗</m:t>
                                </m:r>
                                <m:r>
                                  <a:rPr lang="en-US" altLang="ja-JP" sz="3200" b="0" i="1" smtClean="0">
                                    <a:solidFill>
                                      <a:schemeClr val="accent1">
                                        <a:lumMod val="90000"/>
                                      </a:schemeClr>
                                    </a:solidFill>
                                    <a:latin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rPr>
                                  <m:t>𝑝</m:t>
                                </m:r>
                                <m:r>
                                  <a:rPr lang="en-US" altLang="ja-JP" sz="3200" b="0" i="1" smtClean="0">
                                    <a:solidFill>
                                      <a:schemeClr val="accent1">
                                        <a:lumMod val="90000"/>
                                      </a:schemeClr>
                                    </a:solidFill>
                                    <a:latin typeface="Cambria Math" panose="02040503050406030204" pitchFamily="18" charset="0"/>
                                  </a:rPr>
                                  <m:t>)</m:t>
                                </m:r>
                              </m:sub>
                            </m:sSub>
                          </m:e>
                        </m:d>
                      </m:e>
                    </m:func>
                    <m:r>
                      <a:rPr lang="en-US" altLang="ja-JP" sz="3200" b="0" i="1" smtClean="0">
                        <a:solidFill>
                          <a:schemeClr val="accent1">
                            <a:lumMod val="90000"/>
                          </a:schemeClr>
                        </a:solidFill>
                        <a:latin typeface="Cambria Math" panose="02040503050406030204" pitchFamily="18" charset="0"/>
                        <a:ea typeface="Cambria Math" panose="02040503050406030204" pitchFamily="18" charset="0"/>
                      </a:rPr>
                      <m:t>,  </m:t>
                    </m:r>
                    <m:r>
                      <a:rPr lang="en-US" altLang="ja-JP" sz="3200" i="1">
                        <a:solidFill>
                          <a:schemeClr val="accent1">
                            <a:lumMod val="90000"/>
                          </a:schemeClr>
                        </a:solidFill>
                        <a:latin typeface="Cambria Math" panose="02040503050406030204" pitchFamily="18" charset="0"/>
                        <a:ea typeface="Cambria Math" panose="02040503050406030204" pitchFamily="18" charset="0"/>
                      </a:rPr>
                      <m:t>𝑗</m:t>
                    </m:r>
                    <m:r>
                      <a:rPr lang="en-US" altLang="ja-JP" sz="3200" i="1">
                        <a:solidFill>
                          <a:schemeClr val="accent1">
                            <a:lumMod val="90000"/>
                          </a:schemeClr>
                        </a:solidFill>
                        <a:latin typeface="Cambria Math" panose="02040503050406030204" pitchFamily="18" charset="0"/>
                        <a:ea typeface="Cambria Math" panose="02040503050406030204" pitchFamily="18" charset="0"/>
                      </a:rPr>
                      <m:t>=1,…,</m:t>
                    </m:r>
                    <m:r>
                      <a:rPr lang="en-US" altLang="ja-JP" sz="3200" i="1">
                        <a:solidFill>
                          <a:schemeClr val="accent1">
                            <a:lumMod val="90000"/>
                          </a:schemeClr>
                        </a:solidFill>
                        <a:latin typeface="Cambria Math" panose="02040503050406030204" pitchFamily="18" charset="0"/>
                        <a:ea typeface="Cambria Math" panose="02040503050406030204" pitchFamily="18" charset="0"/>
                      </a:rPr>
                      <m:t>𝑝</m:t>
                    </m:r>
                  </m:oMath>
                </a14:m>
                <a:endParaRPr lang="en-US" altLang="ja-JP" sz="3200" i="1" dirty="0">
                  <a:solidFill>
                    <a:schemeClr val="accent1">
                      <a:lumMod val="90000"/>
                    </a:schemeClr>
                  </a:solidFill>
                  <a:latin typeface="Cambria Math" panose="02040503050406030204" pitchFamily="18" charset="0"/>
                  <a:ea typeface="Cambria Math" panose="02040503050406030204" pitchFamily="18" charset="0"/>
                </a:endParaRPr>
              </a:p>
            </p:txBody>
          </p:sp>
        </mc:Choice>
        <mc:Fallback xmlns="">
          <p:sp>
            <p:nvSpPr>
              <p:cNvPr id="17" name="コンテンツ プレースホルダー 2">
                <a:extLst>
                  <a:ext uri="{FF2B5EF4-FFF2-40B4-BE49-F238E27FC236}">
                    <a16:creationId xmlns:a16="http://schemas.microsoft.com/office/drawing/2014/main" id="{2766F47F-D5B9-C90F-2F1D-D6C4B5CFB86C}"/>
                  </a:ext>
                </a:extLst>
              </p:cNvPr>
              <p:cNvSpPr>
                <a:spLocks noGrp="1" noRot="1" noChangeAspect="1" noMove="1" noResize="1" noEditPoints="1" noAdjustHandles="1" noChangeArrowheads="1" noChangeShapeType="1" noTextEdit="1"/>
              </p:cNvSpPr>
              <p:nvPr>
                <p:ph idx="1"/>
              </p:nvPr>
            </p:nvSpPr>
            <p:spPr>
              <a:xfrm>
                <a:off x="10232" y="1161341"/>
                <a:ext cx="12171534" cy="5678129"/>
              </a:xfrm>
              <a:blipFill>
                <a:blip r:embed="rId3"/>
                <a:stretch>
                  <a:fillRect l="-1250" t="-2009"/>
                </a:stretch>
              </a:blipFill>
            </p:spPr>
            <p:txBody>
              <a:bodyPr/>
              <a:lstStyle/>
              <a:p>
                <a:r>
                  <a:rPr lang="ja-JP" altLang="en-US">
                    <a:noFill/>
                  </a:rPr>
                  <a:t> </a:t>
                </a:r>
              </a:p>
            </p:txBody>
          </p:sp>
        </mc:Fallback>
      </mc:AlternateContent>
      <p:sp>
        <p:nvSpPr>
          <p:cNvPr id="19" name="下矢印 18">
            <a:extLst>
              <a:ext uri="{FF2B5EF4-FFF2-40B4-BE49-F238E27FC236}">
                <a16:creationId xmlns:a16="http://schemas.microsoft.com/office/drawing/2014/main" id="{5B0E46F9-ED21-FBBE-F4CF-ECA09FF1838B}"/>
              </a:ext>
            </a:extLst>
          </p:cNvPr>
          <p:cNvSpPr/>
          <p:nvPr/>
        </p:nvSpPr>
        <p:spPr>
          <a:xfrm>
            <a:off x="5366798" y="4840412"/>
            <a:ext cx="688769" cy="523220"/>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20" name="正方形/長方形 19">
            <a:extLst>
              <a:ext uri="{FF2B5EF4-FFF2-40B4-BE49-F238E27FC236}">
                <a16:creationId xmlns:a16="http://schemas.microsoft.com/office/drawing/2014/main" id="{36F3F691-C8A4-4ABD-55CE-7F39B16693B2}"/>
              </a:ext>
            </a:extLst>
          </p:cNvPr>
          <p:cNvSpPr/>
          <p:nvPr/>
        </p:nvSpPr>
        <p:spPr>
          <a:xfrm>
            <a:off x="3127229" y="2294654"/>
            <a:ext cx="975354" cy="587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564B50FA-2C60-2658-2197-7168D15C5FE8}"/>
                  </a:ext>
                </a:extLst>
              </p:cNvPr>
              <p:cNvSpPr txBox="1"/>
              <p:nvPr/>
            </p:nvSpPr>
            <p:spPr>
              <a:xfrm>
                <a:off x="2933317" y="288240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21" name="テキスト ボックス 20">
                <a:extLst>
                  <a:ext uri="{FF2B5EF4-FFF2-40B4-BE49-F238E27FC236}">
                    <a16:creationId xmlns:a16="http://schemas.microsoft.com/office/drawing/2014/main" id="{564B50FA-2C60-2658-2197-7168D15C5FE8}"/>
                  </a:ext>
                </a:extLst>
              </p:cNvPr>
              <p:cNvSpPr txBox="1">
                <a:spLocks noRot="1" noChangeAspect="1" noMove="1" noResize="1" noEditPoints="1" noAdjustHandles="1" noChangeArrowheads="1" noChangeShapeType="1" noTextEdit="1"/>
              </p:cNvSpPr>
              <p:nvPr/>
            </p:nvSpPr>
            <p:spPr>
              <a:xfrm>
                <a:off x="2933317" y="2882405"/>
                <a:ext cx="1775743" cy="523220"/>
              </a:xfrm>
              <a:prstGeom prst="rect">
                <a:avLst/>
              </a:prstGeom>
              <a:blipFill>
                <a:blip r:embed="rId4"/>
                <a:stretch>
                  <a:fillRect t="-14286" r="-6383"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70D25730-6E08-EB1C-18AA-CF9B1A3ED0E3}"/>
                  </a:ext>
                </a:extLst>
              </p:cNvPr>
              <p:cNvSpPr txBox="1"/>
              <p:nvPr/>
            </p:nvSpPr>
            <p:spPr>
              <a:xfrm>
                <a:off x="6866296" y="3708019"/>
                <a:ext cx="3388591"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3200" i="1" smtClean="0">
                          <a:solidFill>
                            <a:schemeClr val="accent1">
                              <a:lumMod val="90000"/>
                            </a:schemeClr>
                          </a:solidFill>
                          <a:latin typeface="Cambria Math" panose="02040503050406030204" pitchFamily="18" charset="0"/>
                          <a:ea typeface="Cambria Math" panose="02040503050406030204" pitchFamily="18" charset="0"/>
                        </a:rPr>
                        <m:t>𝑗</m:t>
                      </m:r>
                      <m:r>
                        <a:rPr lang="en-US" altLang="ja-JP" sz="3200" i="1" smtClean="0">
                          <a:solidFill>
                            <a:schemeClr val="accent1">
                              <a:lumMod val="90000"/>
                            </a:schemeClr>
                          </a:solidFill>
                          <a:latin typeface="Cambria Math" panose="02040503050406030204" pitchFamily="18" charset="0"/>
                          <a:ea typeface="Cambria Math" panose="02040503050406030204" pitchFamily="18" charset="0"/>
                        </a:rPr>
                        <m:t>=1,…,</m:t>
                      </m:r>
                      <m:r>
                        <a:rPr lang="en-US" altLang="ja-JP" sz="3200" i="1" smtClean="0">
                          <a:solidFill>
                            <a:schemeClr val="accent1">
                              <a:lumMod val="90000"/>
                            </a:schemeClr>
                          </a:solidFill>
                          <a:latin typeface="Cambria Math" panose="02040503050406030204" pitchFamily="18" charset="0"/>
                          <a:ea typeface="Cambria Math" panose="02040503050406030204" pitchFamily="18" charset="0"/>
                        </a:rPr>
                        <m:t>𝑝</m:t>
                      </m:r>
                    </m:oMath>
                  </m:oMathPara>
                </a14:m>
                <a:endParaRPr lang="ja-JP" altLang="en-US" sz="3200">
                  <a:solidFill>
                    <a:schemeClr val="accent1">
                      <a:lumMod val="90000"/>
                    </a:schemeClr>
                  </a:solidFill>
                </a:endParaRPr>
              </a:p>
            </p:txBody>
          </p:sp>
        </mc:Choice>
        <mc:Fallback xmlns="">
          <p:sp>
            <p:nvSpPr>
              <p:cNvPr id="22" name="テキスト ボックス 21">
                <a:extLst>
                  <a:ext uri="{FF2B5EF4-FFF2-40B4-BE49-F238E27FC236}">
                    <a16:creationId xmlns:a16="http://schemas.microsoft.com/office/drawing/2014/main" id="{70D25730-6E08-EB1C-18AA-CF9B1A3ED0E3}"/>
                  </a:ext>
                </a:extLst>
              </p:cNvPr>
              <p:cNvSpPr txBox="1">
                <a:spLocks noRot="1" noChangeAspect="1" noMove="1" noResize="1" noEditPoints="1" noAdjustHandles="1" noChangeArrowheads="1" noChangeShapeType="1" noTextEdit="1"/>
              </p:cNvSpPr>
              <p:nvPr/>
            </p:nvSpPr>
            <p:spPr>
              <a:xfrm>
                <a:off x="6866296" y="3708019"/>
                <a:ext cx="3388591" cy="584775"/>
              </a:xfrm>
              <a:prstGeom prst="rect">
                <a:avLst/>
              </a:prstGeom>
              <a:blipFill>
                <a:blip r:embed="rId5"/>
                <a:stretch>
                  <a:fillRect b="-212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B25A5071-BD8A-9126-F638-20DCEA32E870}"/>
                  </a:ext>
                </a:extLst>
              </p:cNvPr>
              <p:cNvSpPr txBox="1"/>
              <p:nvPr/>
            </p:nvSpPr>
            <p:spPr>
              <a:xfrm>
                <a:off x="1574915" y="6073170"/>
                <a:ext cx="3099566" cy="523220"/>
              </a:xfrm>
              <a:prstGeom prst="rect">
                <a:avLst/>
              </a:prstGeom>
              <a:noFill/>
            </p:spPr>
            <p:txBody>
              <a:bodyPr wrap="none" rtlCol="0">
                <a:spAutoFit/>
              </a:bodyPr>
              <a:lstStyle/>
              <a:p>
                <a:r>
                  <a:rPr kumimoji="1" lang="en-US" altLang="ja-JP" sz="2800" b="0" dirty="0">
                    <a:solidFill>
                      <a:schemeClr val="accent1">
                        <a:lumMod val="90000"/>
                      </a:schemeClr>
                    </a:solidFill>
                    <a:cs typeface="ヒラギノ角ゴ Pro W3"/>
                  </a:rPr>
                  <a:t>(</a:t>
                </a:r>
                <a14:m>
                  <m:oMath xmlns:m="http://schemas.openxmlformats.org/officeDocument/2006/math">
                    <m:r>
                      <a:rPr kumimoji="1" lang="en-US" altLang="ja-JP" sz="2800" b="0" i="1" smtClean="0">
                        <a:solidFill>
                          <a:schemeClr val="accent1">
                            <a:lumMod val="90000"/>
                          </a:schemeClr>
                        </a:solidFill>
                        <a:latin typeface="Cambria Math" panose="02040503050406030204" pitchFamily="18" charset="0"/>
                        <a:cs typeface="ヒラギノ角ゴ Pro W3"/>
                      </a:rPr>
                      <m:t>𝑎</m:t>
                    </m:r>
                    <m:r>
                      <a:rPr lang="en-US" altLang="ja-JP" sz="2800" i="1">
                        <a:solidFill>
                          <a:schemeClr val="accent1">
                            <a:lumMod val="90000"/>
                          </a:schemeClr>
                        </a:solidFill>
                        <a:latin typeface="Cambria Math" panose="02040503050406030204" pitchFamily="18" charset="0"/>
                        <a:ea typeface="Cambria Math" panose="02040503050406030204" pitchFamily="18" charset="0"/>
                        <a:cs typeface="ヒラギノ角ゴ Pro W3"/>
                      </a:rPr>
                      <m:t>∧</m:t>
                    </m:r>
                    <m:r>
                      <a:rPr kumimoji="1" lang="en-US" altLang="ja-JP" sz="2800" b="0" i="1" smtClean="0">
                        <a:solidFill>
                          <a:schemeClr val="accent1">
                            <a:lumMod val="90000"/>
                          </a:schemeClr>
                        </a:solidFill>
                        <a:latin typeface="Cambria Math" panose="02040503050406030204" pitchFamily="18" charset="0"/>
                        <a:cs typeface="ヒラギノ角ゴ Pro W3"/>
                      </a:rPr>
                      <m:t>𝑏</m:t>
                    </m:r>
                    <m:r>
                      <a:rPr kumimoji="1" lang="en-US" altLang="ja-JP" sz="2800" b="0" i="1" smtClean="0">
                        <a:solidFill>
                          <a:schemeClr val="accent1">
                            <a:lumMod val="90000"/>
                          </a:schemeClr>
                        </a:solidFill>
                        <a:latin typeface="Cambria Math" panose="02040503050406030204" pitchFamily="18" charset="0"/>
                        <a:cs typeface="ヒラギノ角ゴ Pro W3"/>
                      </a:rPr>
                      <m:t>=</m:t>
                    </m:r>
                    <m:func>
                      <m:funcPr>
                        <m:ctrlPr>
                          <a:rPr kumimoji="1" lang="en-US" altLang="ja-JP" sz="2800" b="0" i="1" smtClean="0">
                            <a:solidFill>
                              <a:schemeClr val="accent1">
                                <a:lumMod val="90000"/>
                              </a:schemeClr>
                            </a:solidFill>
                            <a:latin typeface="Cambria Math" panose="02040503050406030204" pitchFamily="18" charset="0"/>
                            <a:cs typeface="ヒラギノ角ゴ Pro W3"/>
                          </a:rPr>
                        </m:ctrlPr>
                      </m:funcPr>
                      <m:fName>
                        <m:r>
                          <m:rPr>
                            <m:sty m:val="p"/>
                          </m:rPr>
                          <a:rPr kumimoji="1" lang="en-US" altLang="ja-JP" sz="2800" b="0" i="0" smtClean="0">
                            <a:solidFill>
                              <a:schemeClr val="accent1">
                                <a:lumMod val="90000"/>
                              </a:schemeClr>
                            </a:solidFill>
                            <a:latin typeface="Cambria Math" panose="02040503050406030204" pitchFamily="18" charset="0"/>
                            <a:cs typeface="ヒラギノ角ゴ Pro W3"/>
                          </a:rPr>
                          <m:t>min</m:t>
                        </m:r>
                      </m:fName>
                      <m:e>
                        <m:d>
                          <m:dPr>
                            <m:begChr m:val="{"/>
                            <m:endChr m:val="}"/>
                            <m:ctrlPr>
                              <a:rPr kumimoji="1" lang="en-US" altLang="ja-JP" sz="2800" b="0" i="1" smtClean="0">
                                <a:solidFill>
                                  <a:schemeClr val="accent1">
                                    <a:lumMod val="90000"/>
                                  </a:schemeClr>
                                </a:solidFill>
                                <a:latin typeface="Cambria Math" panose="02040503050406030204" pitchFamily="18" charset="0"/>
                                <a:cs typeface="ヒラギノ角ゴ Pro W3"/>
                              </a:rPr>
                            </m:ctrlPr>
                          </m:dPr>
                          <m:e>
                            <m:r>
                              <a:rPr kumimoji="1" lang="en-US" altLang="ja-JP" sz="2800" b="0" i="1" smtClean="0">
                                <a:solidFill>
                                  <a:schemeClr val="accent1">
                                    <a:lumMod val="90000"/>
                                  </a:schemeClr>
                                </a:solidFill>
                                <a:latin typeface="Cambria Math" panose="02040503050406030204" pitchFamily="18" charset="0"/>
                                <a:cs typeface="ヒラギノ角ゴ Pro W3"/>
                              </a:rPr>
                              <m:t>𝑎</m:t>
                            </m:r>
                            <m:r>
                              <a:rPr kumimoji="1" lang="en-US" altLang="ja-JP" sz="2800" b="0" i="1" smtClean="0">
                                <a:solidFill>
                                  <a:schemeClr val="accent1">
                                    <a:lumMod val="90000"/>
                                  </a:schemeClr>
                                </a:solidFill>
                                <a:latin typeface="Cambria Math" panose="02040503050406030204" pitchFamily="18" charset="0"/>
                                <a:cs typeface="ヒラギノ角ゴ Pro W3"/>
                              </a:rPr>
                              <m:t>,</m:t>
                            </m:r>
                            <m:r>
                              <a:rPr kumimoji="1" lang="en-US" altLang="ja-JP" sz="2800" b="0" i="1" smtClean="0">
                                <a:solidFill>
                                  <a:schemeClr val="accent1">
                                    <a:lumMod val="90000"/>
                                  </a:schemeClr>
                                </a:solidFill>
                                <a:latin typeface="Cambria Math" panose="02040503050406030204" pitchFamily="18" charset="0"/>
                                <a:cs typeface="ヒラギノ角ゴ Pro W3"/>
                              </a:rPr>
                              <m:t>𝑏</m:t>
                            </m:r>
                          </m:e>
                        </m:d>
                      </m:e>
                    </m:func>
                  </m:oMath>
                </a14:m>
                <a:r>
                  <a:rPr kumimoji="1" lang="en-US" altLang="ja-JP" sz="2800" dirty="0">
                    <a:solidFill>
                      <a:schemeClr val="accent1">
                        <a:lumMod val="90000"/>
                      </a:schemeClr>
                    </a:solidFill>
                  </a:rPr>
                  <a:t>)</a:t>
                </a:r>
                <a:endParaRPr kumimoji="1" lang="ja-JP" altLang="en-US" sz="2800">
                  <a:solidFill>
                    <a:schemeClr val="accent1">
                      <a:lumMod val="90000"/>
                    </a:schemeClr>
                  </a:solidFill>
                </a:endParaRPr>
              </a:p>
            </p:txBody>
          </p:sp>
        </mc:Choice>
        <mc:Fallback xmlns="">
          <p:sp>
            <p:nvSpPr>
              <p:cNvPr id="23" name="テキスト ボックス 22">
                <a:extLst>
                  <a:ext uri="{FF2B5EF4-FFF2-40B4-BE49-F238E27FC236}">
                    <a16:creationId xmlns:a16="http://schemas.microsoft.com/office/drawing/2014/main" id="{B25A5071-BD8A-9126-F638-20DCEA32E870}"/>
                  </a:ext>
                </a:extLst>
              </p:cNvPr>
              <p:cNvSpPr txBox="1">
                <a:spLocks noRot="1" noChangeAspect="1" noMove="1" noResize="1" noEditPoints="1" noAdjustHandles="1" noChangeArrowheads="1" noChangeShapeType="1" noTextEdit="1"/>
              </p:cNvSpPr>
              <p:nvPr/>
            </p:nvSpPr>
            <p:spPr>
              <a:xfrm>
                <a:off x="1574915" y="6073170"/>
                <a:ext cx="3099566" cy="523220"/>
              </a:xfrm>
              <a:prstGeom prst="rect">
                <a:avLst/>
              </a:prstGeom>
              <a:blipFill>
                <a:blip r:embed="rId6"/>
                <a:stretch>
                  <a:fillRect l="-4065" t="-11905" r="-2033" b="-285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6149AFBB-9E96-EA60-FD87-1242866FEAE4}"/>
                  </a:ext>
                </a:extLst>
              </p:cNvPr>
              <p:cNvSpPr txBox="1"/>
              <p:nvPr/>
            </p:nvSpPr>
            <p:spPr>
              <a:xfrm>
                <a:off x="1443346" y="3418338"/>
                <a:ext cx="6034601" cy="1232453"/>
              </a:xfrm>
              <a:prstGeom prst="rect">
                <a:avLst/>
              </a:prstGeom>
              <a:noFill/>
            </p:spPr>
            <p:txBody>
              <a:bodyPr wrap="none" rtlCol="0">
                <a:spAutoFit/>
              </a:bodyPr>
              <a:lstStyle/>
              <a:p>
                <a:pPr/>
                <a:r>
                  <a:rPr kumimoji="1" lang="en-US" altLang="ja-JP" sz="3200" b="0" dirty="0">
                    <a:solidFill>
                      <a:schemeClr val="accent1">
                        <a:lumMod val="90000"/>
                      </a:schemeClr>
                    </a:solidFill>
                    <a:ea typeface="ヒラギノ角ゴ Pro W3"/>
                    <a:cs typeface="ヒラギノ角ゴ Pro W3"/>
                  </a:rPr>
                  <a:t>  </a:t>
                </a:r>
                <a14:m>
                  <m:oMath xmlns:m="http://schemas.openxmlformats.org/officeDocument/2006/math">
                    <m:sSub>
                      <m:sSubPr>
                        <m:ctrlP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ctrlPr>
                      </m:sSubPr>
                      <m:e>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𝑍</m:t>
                        </m:r>
                      </m:e>
                      <m: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𝑘𝑗</m:t>
                        </m:r>
                      </m:sub>
                    </m:s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       =</m:t>
                    </m:r>
                    <m:func>
                      <m:funcPr>
                        <m:ctrlP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ctrlPr>
                      </m:funcPr>
                      <m:fName>
                        <m:r>
                          <m:rPr>
                            <m:sty m:val="p"/>
                          </m:rPr>
                          <a:rPr kumimoji="1" lang="en-US" altLang="ja-JP" sz="3200" b="0" i="0" smtClean="0">
                            <a:solidFill>
                              <a:schemeClr val="accent1">
                                <a:lumMod val="90000"/>
                              </a:schemeClr>
                            </a:solidFill>
                            <a:latin typeface="Cambria Math" panose="02040503050406030204" pitchFamily="18" charset="0"/>
                            <a:ea typeface="ヒラギノ角ゴ Pro W3"/>
                            <a:cs typeface="ヒラギノ角ゴ Pro W3"/>
                          </a:rPr>
                          <m:t>inf</m:t>
                        </m:r>
                      </m:fName>
                      <m:e>
                        <m:d>
                          <m:dPr>
                            <m:begChr m:val="{"/>
                            <m:endChr m:val="}"/>
                            <m:ctrlP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ctrlPr>
                          </m:dPr>
                          <m:e>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𝑐</m:t>
                            </m:r>
                            <m:r>
                              <a:rPr lang="en-US" altLang="ja-JP" sz="3200" b="0" i="1" smtClean="0">
                                <a:solidFill>
                                  <a:schemeClr val="accent1">
                                    <a:lumMod val="90000"/>
                                  </a:schemeClr>
                                </a:solidFill>
                                <a:latin typeface="Cambria Math" panose="02040503050406030204" pitchFamily="18" charset="0"/>
                                <a:ea typeface="Cambria Math" panose="02040503050406030204" pitchFamily="18" charset="0"/>
                              </a:rPr>
                              <m:t>:</m:t>
                            </m:r>
                            <m:sSub>
                              <m:sSubPr>
                                <m:ctrlPr>
                                  <a:rPr lang="en-US" altLang="ja-JP" sz="3200" b="1" i="1" smtClean="0">
                                    <a:solidFill>
                                      <a:schemeClr val="accent1">
                                        <a:lumMod val="90000"/>
                                      </a:schemeClr>
                                    </a:solidFill>
                                    <a:latin typeface="Cambria Math" panose="02040503050406030204" pitchFamily="18" charset="0"/>
                                    <a:ea typeface="ヒラギノ角ゴ Pro W3"/>
                                  </a:rPr>
                                </m:ctrlPr>
                              </m:sSubPr>
                              <m:e>
                                <m:acc>
                                  <m:accPr>
                                    <m:chr m:val="̂"/>
                                    <m:ctrlPr>
                                      <a:rPr lang="ja-JP" altLang="en-US" sz="3200" i="1">
                                        <a:solidFill>
                                          <a:schemeClr val="accent1">
                                            <a:lumMod val="90000"/>
                                          </a:schemeClr>
                                        </a:solidFill>
                                        <a:latin typeface="Cambria Math" panose="02040503050406030204" pitchFamily="18" charset="0"/>
                                        <a:ea typeface="ヒラギノ角ゴ Pro W3"/>
                                      </a:rPr>
                                    </m:ctrlPr>
                                  </m:accPr>
                                  <m:e>
                                    <m:r>
                                      <a:rPr lang="en-US" altLang="ja-JP" sz="3200" b="0" i="1" smtClean="0">
                                        <a:solidFill>
                                          <a:schemeClr val="accent1">
                                            <a:lumMod val="90000"/>
                                          </a:schemeClr>
                                        </a:solidFill>
                                        <a:latin typeface="Cambria Math" panose="02040503050406030204" pitchFamily="18" charset="0"/>
                                        <a:ea typeface="ヒラギノ角ゴ Pro W3"/>
                                      </a:rPr>
                                      <m:t>𝑣</m:t>
                                    </m:r>
                                  </m:e>
                                </m:acc>
                              </m:e>
                              <m:sub>
                                <m:r>
                                  <a:rPr lang="en-US" altLang="ja-JP" sz="3200" b="0" i="1" smtClean="0">
                                    <a:solidFill>
                                      <a:schemeClr val="accent1">
                                        <a:lumMod val="90000"/>
                                      </a:schemeClr>
                                    </a:solidFill>
                                    <a:latin typeface="Cambria Math" panose="02040503050406030204" pitchFamily="18" charset="0"/>
                                    <a:ea typeface="ヒラギノ角ゴ Pro W3"/>
                                  </a:rPr>
                                  <m:t>𝑘𝑗</m:t>
                                </m:r>
                              </m:sub>
                            </m:sSub>
                            <m:d>
                              <m:dPr>
                                <m:ctrlPr>
                                  <a:rPr lang="en-US" altLang="ja-JP" sz="3200" i="1">
                                    <a:solidFill>
                                      <a:schemeClr val="accent1">
                                        <a:lumMod val="90000"/>
                                      </a:schemeClr>
                                    </a:solidFill>
                                    <a:latin typeface="Cambria Math" panose="02040503050406030204" pitchFamily="18" charset="0"/>
                                    <a:ea typeface="ヒラギノ角ゴ Pro W3"/>
                                  </a:rPr>
                                </m:ctrlPr>
                              </m:dPr>
                              <m:e>
                                <m:r>
                                  <a:rPr lang="en-US" altLang="ja-JP" sz="3200" b="0" i="1" smtClean="0">
                                    <a:solidFill>
                                      <a:schemeClr val="accent1">
                                        <a:lumMod val="90000"/>
                                      </a:schemeClr>
                                    </a:solidFill>
                                    <a:latin typeface="Cambria Math" panose="02040503050406030204" pitchFamily="18" charset="0"/>
                                    <a:ea typeface="ヒラギノ角ゴ Pro W3"/>
                                  </a:rPr>
                                  <m:t>𝑐</m:t>
                                </m:r>
                              </m:e>
                            </m:d>
                            <m:r>
                              <a:rPr lang="en-US" altLang="ja-JP" sz="3200" i="1" smtClean="0">
                                <a:solidFill>
                                  <a:schemeClr val="accent1">
                                    <a:lumMod val="90000"/>
                                  </a:schemeClr>
                                </a:solidFill>
                                <a:latin typeface="Cambria Math" panose="02040503050406030204" pitchFamily="18" charset="0"/>
                                <a:ea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ea typeface="Cambria Math" panose="02040503050406030204" pitchFamily="18" charset="0"/>
                              </a:rPr>
                              <m:t>0</m:t>
                            </m:r>
                          </m:e>
                        </m:d>
                        <m:r>
                          <a:rPr lang="en-US" altLang="ja-JP" sz="3200" b="0" i="1" smtClean="0">
                            <a:solidFill>
                              <a:schemeClr val="accent1">
                                <a:lumMod val="90000"/>
                              </a:schemeClr>
                            </a:solidFill>
                            <a:latin typeface="Cambria Math" panose="02040503050406030204" pitchFamily="18" charset="0"/>
                            <a:ea typeface="Cambria Math" panose="02040503050406030204" pitchFamily="18" charset="0"/>
                          </a:rPr>
                          <m:t>, </m:t>
                        </m:r>
                      </m:e>
                    </m:func>
                  </m:oMath>
                </a14:m>
                <a:br>
                  <a:rPr lang="en-US" altLang="ja-JP" sz="3200" b="0" i="1" dirty="0">
                    <a:solidFill>
                      <a:schemeClr val="accent1">
                        <a:lumMod val="90000"/>
                      </a:schemeClr>
                    </a:solidFill>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kumimoji="1" lang="en-US" altLang="ja-JP" sz="3200" i="1">
                              <a:solidFill>
                                <a:schemeClr val="accent1">
                                  <a:lumMod val="90000"/>
                                </a:schemeClr>
                              </a:solidFill>
                              <a:latin typeface="Cambria Math" panose="02040503050406030204" pitchFamily="18" charset="0"/>
                              <a:ea typeface="ヒラギノ角ゴ Pro W3"/>
                            </a:rPr>
                          </m:ctrlPr>
                        </m:sSubPr>
                        <m:e>
                          <m:acc>
                            <m:accPr>
                              <m:chr m:val="̃"/>
                              <m:ctrlPr>
                                <a:rPr kumimoji="1" lang="en-US" altLang="ja-JP" sz="3200" i="1">
                                  <a:solidFill>
                                    <a:schemeClr val="accent1">
                                      <a:lumMod val="90000"/>
                                    </a:schemeClr>
                                  </a:solidFill>
                                  <a:latin typeface="Cambria Math" panose="02040503050406030204" pitchFamily="18" charset="0"/>
                                  <a:ea typeface="ヒラギノ角ゴ Pro W3"/>
                                </a:rPr>
                              </m:ctrlPr>
                            </m:accPr>
                            <m:e>
                              <m:r>
                                <a:rPr kumimoji="1" lang="en-US" altLang="ja-JP" sz="3200" i="1">
                                  <a:solidFill>
                                    <a:schemeClr val="accent1">
                                      <a:lumMod val="90000"/>
                                    </a:schemeClr>
                                  </a:solidFill>
                                  <a:latin typeface="Cambria Math" panose="02040503050406030204" pitchFamily="18" charset="0"/>
                                  <a:ea typeface="ヒラギノ角ゴ Pro W3"/>
                                </a:rPr>
                                <m:t>𝑍</m:t>
                              </m:r>
                            </m:e>
                          </m:acc>
                        </m:e>
                        <m:sub>
                          <m:r>
                            <a:rPr kumimoji="1" lang="en-US" altLang="ja-JP" sz="3200" b="0" i="1" smtClean="0">
                              <a:solidFill>
                                <a:schemeClr val="accent1">
                                  <a:lumMod val="90000"/>
                                </a:schemeClr>
                              </a:solidFill>
                              <a:latin typeface="Cambria Math" panose="02040503050406030204" pitchFamily="18" charset="0"/>
                              <a:ea typeface="ヒラギノ角ゴ Pro W3"/>
                            </a:rPr>
                            <m:t>𝑘</m:t>
                          </m:r>
                          <m:r>
                            <a:rPr kumimoji="1" lang="en-US" altLang="ja-JP" sz="3200" b="0" i="1" smtClean="0">
                              <a:solidFill>
                                <a:schemeClr val="accent1">
                                  <a:lumMod val="90000"/>
                                </a:schemeClr>
                              </a:solidFill>
                              <a:latin typeface="Cambria Math" panose="02040503050406030204" pitchFamily="18" charset="0"/>
                              <a:ea typeface="ヒラギノ角ゴ Pro W3"/>
                            </a:rPr>
                            <m:t>(</m:t>
                          </m:r>
                          <m:r>
                            <a:rPr kumimoji="1" lang="en-US" altLang="ja-JP" sz="3200" i="1">
                              <a:solidFill>
                                <a:schemeClr val="accent1">
                                  <a:lumMod val="90000"/>
                                </a:schemeClr>
                              </a:solidFill>
                              <a:latin typeface="Cambria Math" panose="02040503050406030204" pitchFamily="18" charset="0"/>
                              <a:ea typeface="ヒラギノ角ゴ Pro W3"/>
                            </a:rPr>
                            <m:t>𝑗</m:t>
                          </m:r>
                          <m:r>
                            <a:rPr kumimoji="1" lang="en-US" altLang="ja-JP" sz="3200" i="1">
                              <a:solidFill>
                                <a:schemeClr val="accent1">
                                  <a:lumMod val="90000"/>
                                </a:schemeClr>
                              </a:solidFill>
                              <a:latin typeface="Cambria Math" panose="02040503050406030204" pitchFamily="18" charset="0"/>
                              <a:ea typeface="ヒラギノ角ゴ Pro W3"/>
                            </a:rPr>
                            <m:t>+</m:t>
                          </m:r>
                          <m:r>
                            <a:rPr kumimoji="1" lang="en-US" altLang="ja-JP" sz="3200" i="1">
                              <a:solidFill>
                                <a:schemeClr val="accent1">
                                  <a:lumMod val="90000"/>
                                </a:schemeClr>
                              </a:solidFill>
                              <a:latin typeface="Cambria Math" panose="02040503050406030204" pitchFamily="18" charset="0"/>
                              <a:ea typeface="ヒラギノ角ゴ Pro W3"/>
                            </a:rPr>
                            <m:t>𝑝</m:t>
                          </m:r>
                          <m:r>
                            <a:rPr kumimoji="1" lang="en-US" altLang="ja-JP" sz="3200" b="0" i="1" smtClean="0">
                              <a:solidFill>
                                <a:schemeClr val="accent1">
                                  <a:lumMod val="90000"/>
                                </a:schemeClr>
                              </a:solidFill>
                              <a:latin typeface="Cambria Math" panose="02040503050406030204" pitchFamily="18" charset="0"/>
                              <a:ea typeface="ヒラギノ角ゴ Pro W3"/>
                            </a:rPr>
                            <m:t>)</m:t>
                          </m:r>
                        </m:sub>
                      </m:sSub>
                      <m:r>
                        <m:rPr>
                          <m:aln/>
                        </m:rPr>
                        <a:rPr kumimoji="1" lang="en-US" altLang="ja-JP" sz="3200" i="1">
                          <a:solidFill>
                            <a:schemeClr val="accent1">
                              <a:lumMod val="90000"/>
                            </a:schemeClr>
                          </a:solidFill>
                          <a:latin typeface="Cambria Math" panose="02040503050406030204" pitchFamily="18" charset="0"/>
                          <a:ea typeface="ヒラギノ角ゴ Pro W3"/>
                          <a:cs typeface="ヒラギノ角ゴ Pro W3"/>
                        </a:rPr>
                        <m:t>=</m:t>
                      </m:r>
                      <m:func>
                        <m:funcPr>
                          <m:ctrlPr>
                            <a:rPr kumimoji="1" lang="en-US" altLang="ja-JP" sz="3200" i="1">
                              <a:solidFill>
                                <a:schemeClr val="accent1">
                                  <a:lumMod val="90000"/>
                                </a:schemeClr>
                              </a:solidFill>
                              <a:latin typeface="Cambria Math" panose="02040503050406030204" pitchFamily="18" charset="0"/>
                              <a:ea typeface="ヒラギノ角ゴ Pro W3"/>
                              <a:cs typeface="ヒラギノ角ゴ Pro W3"/>
                            </a:rPr>
                          </m:ctrlPr>
                        </m:funcPr>
                        <m:fName>
                          <m:r>
                            <m:rPr>
                              <m:sty m:val="p"/>
                            </m:rPr>
                            <a:rPr kumimoji="1" lang="en-US" altLang="ja-JP" sz="3200">
                              <a:solidFill>
                                <a:schemeClr val="accent1">
                                  <a:lumMod val="90000"/>
                                </a:schemeClr>
                              </a:solidFill>
                              <a:latin typeface="Cambria Math" panose="02040503050406030204" pitchFamily="18" charset="0"/>
                              <a:ea typeface="ヒラギノ角ゴ Pro W3"/>
                              <a:cs typeface="ヒラギノ角ゴ Pro W3"/>
                            </a:rPr>
                            <m:t>inf</m:t>
                          </m:r>
                        </m:fName>
                        <m:e>
                          <m:d>
                            <m:dPr>
                              <m:begChr m:val="{"/>
                              <m:endChr m:val="}"/>
                              <m:ctrlPr>
                                <a:rPr kumimoji="1" lang="en-US" altLang="ja-JP" sz="3200" i="1">
                                  <a:solidFill>
                                    <a:schemeClr val="accent1">
                                      <a:lumMod val="90000"/>
                                    </a:schemeClr>
                                  </a:solidFill>
                                  <a:latin typeface="Cambria Math" panose="02040503050406030204" pitchFamily="18" charset="0"/>
                                  <a:ea typeface="ヒラギノ角ゴ Pro W3"/>
                                  <a:cs typeface="ヒラギノ角ゴ Pro W3"/>
                                </a:rPr>
                              </m:ctrlPr>
                            </m:dPr>
                            <m:e>
                              <m:r>
                                <a:rPr kumimoji="1" lang="en-US" altLang="ja-JP" sz="3200" i="1">
                                  <a:solidFill>
                                    <a:schemeClr val="accent1">
                                      <a:lumMod val="90000"/>
                                    </a:schemeClr>
                                  </a:solidFill>
                                  <a:latin typeface="Cambria Math" panose="02040503050406030204" pitchFamily="18" charset="0"/>
                                  <a:ea typeface="ヒラギノ角ゴ Pro W3"/>
                                  <a:cs typeface="ヒラギノ角ゴ Pro W3"/>
                                </a:rPr>
                                <m:t>𝑐</m:t>
                              </m:r>
                              <m:r>
                                <a:rPr lang="en-US" altLang="ja-JP" sz="3200" i="1">
                                  <a:solidFill>
                                    <a:schemeClr val="accent1">
                                      <a:lumMod val="90000"/>
                                    </a:schemeClr>
                                  </a:solidFill>
                                  <a:latin typeface="Cambria Math" panose="02040503050406030204" pitchFamily="18" charset="0"/>
                                  <a:ea typeface="Cambria Math" panose="02040503050406030204" pitchFamily="18" charset="0"/>
                                </a:rPr>
                                <m:t>:</m:t>
                              </m:r>
                              <m:sSub>
                                <m:sSubPr>
                                  <m:ctrlPr>
                                    <a:rPr lang="en-US" altLang="ja-JP" sz="3200" i="1">
                                      <a:solidFill>
                                        <a:schemeClr val="accent1">
                                          <a:lumMod val="90000"/>
                                        </a:schemeClr>
                                      </a:solidFill>
                                      <a:latin typeface="Cambria Math" panose="02040503050406030204" pitchFamily="18" charset="0"/>
                                      <a:ea typeface="Cambria Math" panose="02040503050406030204" pitchFamily="18" charset="0"/>
                                    </a:rPr>
                                  </m:ctrlPr>
                                </m:sSubPr>
                                <m:e>
                                  <m:acc>
                                    <m:accPr>
                                      <m:chr m:val="̂"/>
                                      <m:ctrlPr>
                                        <a:rPr lang="ja-JP" altLang="en-US" sz="3200" i="1">
                                          <a:solidFill>
                                            <a:schemeClr val="accent1">
                                              <a:lumMod val="90000"/>
                                            </a:schemeClr>
                                          </a:solidFill>
                                          <a:latin typeface="Cambria Math" panose="02040503050406030204" pitchFamily="18" charset="0"/>
                                          <a:ea typeface="ヒラギノ角ゴ Pro W3"/>
                                        </a:rPr>
                                      </m:ctrlPr>
                                    </m:accPr>
                                    <m:e>
                                      <m:r>
                                        <a:rPr lang="en-US" altLang="ja-JP" sz="3200" i="1">
                                          <a:solidFill>
                                            <a:schemeClr val="accent1">
                                              <a:lumMod val="90000"/>
                                            </a:schemeClr>
                                          </a:solidFill>
                                          <a:latin typeface="Cambria Math" panose="02040503050406030204" pitchFamily="18" charset="0"/>
                                          <a:ea typeface="ヒラギノ角ゴ Pro W3"/>
                                        </a:rPr>
                                        <m:t>𝑣</m:t>
                                      </m:r>
                                    </m:e>
                                  </m:acc>
                                </m:e>
                                <m:sub>
                                  <m:r>
                                    <a:rPr lang="en-US" altLang="ja-JP" sz="3200" b="0" i="1" smtClean="0">
                                      <a:solidFill>
                                        <a:schemeClr val="accent1">
                                          <a:lumMod val="90000"/>
                                        </a:schemeClr>
                                      </a:solidFill>
                                      <a:latin typeface="Cambria Math" panose="02040503050406030204" pitchFamily="18" charset="0"/>
                                      <a:ea typeface="ヒラギノ角ゴ Pro W3"/>
                                    </a:rPr>
                                    <m:t>𝑘</m:t>
                                  </m:r>
                                  <m:r>
                                    <a:rPr lang="en-US" altLang="ja-JP" sz="3200" b="0" i="1" smtClean="0">
                                      <a:solidFill>
                                        <a:schemeClr val="accent1">
                                          <a:lumMod val="90000"/>
                                        </a:schemeClr>
                                      </a:solidFill>
                                      <a:latin typeface="Cambria Math" panose="02040503050406030204" pitchFamily="18" charset="0"/>
                                      <a:ea typeface="ヒラギノ角ゴ Pro W3"/>
                                    </a:rPr>
                                    <m:t>(</m:t>
                                  </m:r>
                                  <m:r>
                                    <a:rPr lang="en-US" altLang="ja-JP" sz="3200" i="1">
                                      <a:solidFill>
                                        <a:schemeClr val="accent1">
                                          <a:lumMod val="90000"/>
                                        </a:schemeClr>
                                      </a:solidFill>
                                      <a:latin typeface="Cambria Math" panose="02040503050406030204" pitchFamily="18" charset="0"/>
                                      <a:ea typeface="ヒラギノ角ゴ Pro W3"/>
                                    </a:rPr>
                                    <m:t>𝑗</m:t>
                                  </m:r>
                                  <m:r>
                                    <a:rPr lang="en-US" altLang="ja-JP" sz="3200" i="1">
                                      <a:solidFill>
                                        <a:schemeClr val="accent1">
                                          <a:lumMod val="90000"/>
                                        </a:schemeClr>
                                      </a:solidFill>
                                      <a:latin typeface="Cambria Math" panose="02040503050406030204" pitchFamily="18" charset="0"/>
                                      <a:ea typeface="ヒラギノ角ゴ Pro W3"/>
                                    </a:rPr>
                                    <m:t>+</m:t>
                                  </m:r>
                                  <m:r>
                                    <a:rPr lang="en-US" altLang="ja-JP" sz="3200" i="1">
                                      <a:solidFill>
                                        <a:schemeClr val="accent1">
                                          <a:lumMod val="90000"/>
                                        </a:schemeClr>
                                      </a:solidFill>
                                      <a:latin typeface="Cambria Math" panose="02040503050406030204" pitchFamily="18" charset="0"/>
                                      <a:ea typeface="ヒラギノ角ゴ Pro W3"/>
                                    </a:rPr>
                                    <m:t>𝑝</m:t>
                                  </m:r>
                                  <m:r>
                                    <a:rPr lang="en-US" altLang="ja-JP" sz="3200" b="0" i="1" smtClean="0">
                                      <a:solidFill>
                                        <a:schemeClr val="accent1">
                                          <a:lumMod val="90000"/>
                                        </a:schemeClr>
                                      </a:solidFill>
                                      <a:latin typeface="Cambria Math" panose="02040503050406030204" pitchFamily="18" charset="0"/>
                                      <a:ea typeface="ヒラギノ角ゴ Pro W3"/>
                                    </a:rPr>
                                    <m:t>)</m:t>
                                  </m:r>
                                </m:sub>
                              </m:sSub>
                              <m:d>
                                <m:dPr>
                                  <m:ctrlPr>
                                    <a:rPr lang="en-US" altLang="ja-JP" sz="3200" i="1">
                                      <a:solidFill>
                                        <a:schemeClr val="accent1">
                                          <a:lumMod val="90000"/>
                                        </a:schemeClr>
                                      </a:solidFill>
                                      <a:latin typeface="Cambria Math" panose="02040503050406030204" pitchFamily="18" charset="0"/>
                                      <a:ea typeface="ヒラギノ角ゴ Pro W3"/>
                                    </a:rPr>
                                  </m:ctrlPr>
                                </m:dPr>
                                <m:e>
                                  <m:r>
                                    <a:rPr lang="en-US" altLang="ja-JP" sz="3200" i="1">
                                      <a:solidFill>
                                        <a:schemeClr val="accent1">
                                          <a:lumMod val="90000"/>
                                        </a:schemeClr>
                                      </a:solidFill>
                                      <a:latin typeface="Cambria Math" panose="02040503050406030204" pitchFamily="18" charset="0"/>
                                      <a:ea typeface="ヒラギノ角ゴ Pro W3"/>
                                    </a:rPr>
                                    <m:t>𝑐</m:t>
                                  </m:r>
                                </m:e>
                              </m:d>
                              <m:r>
                                <a:rPr lang="en-US" altLang="ja-JP" sz="3200" i="1">
                                  <a:solidFill>
                                    <a:schemeClr val="accent1">
                                      <a:lumMod val="90000"/>
                                    </a:schemeClr>
                                  </a:solidFill>
                                  <a:latin typeface="Cambria Math" panose="02040503050406030204" pitchFamily="18" charset="0"/>
                                  <a:ea typeface="Cambria Math" panose="02040503050406030204" pitchFamily="18" charset="0"/>
                                </a:rPr>
                                <m:t>≠0</m:t>
                              </m:r>
                            </m:e>
                          </m:d>
                          <m:r>
                            <a:rPr lang="en-US" altLang="ja-JP" sz="3200" i="1">
                              <a:solidFill>
                                <a:schemeClr val="accent1">
                                  <a:lumMod val="90000"/>
                                </a:schemeClr>
                              </a:solidFill>
                              <a:latin typeface="Cambria Math" panose="02040503050406030204" pitchFamily="18" charset="0"/>
                              <a:ea typeface="Cambria Math" panose="02040503050406030204" pitchFamily="18" charset="0"/>
                            </a:rPr>
                            <m:t>, </m:t>
                          </m:r>
                        </m:e>
                      </m:func>
                    </m:oMath>
                  </m:oMathPara>
                </a14:m>
                <a:br>
                  <a:rPr lang="en-US" altLang="ja-JP" sz="3200" dirty="0">
                    <a:solidFill>
                      <a:schemeClr val="accent1">
                        <a:lumMod val="90000"/>
                      </a:schemeClr>
                    </a:solidFill>
                    <a:ea typeface="Cambria Math" panose="02040503050406030204" pitchFamily="18" charset="0"/>
                  </a:rPr>
                </a:br>
                <a:endParaRPr kumimoji="1" lang="ja-JP" altLang="en-US" sz="3200">
                  <a:solidFill>
                    <a:schemeClr val="accent1">
                      <a:lumMod val="90000"/>
                    </a:schemeClr>
                  </a:solidFill>
                </a:endParaRPr>
              </a:p>
            </p:txBody>
          </p:sp>
        </mc:Choice>
        <mc:Fallback xmlns="">
          <p:sp>
            <p:nvSpPr>
              <p:cNvPr id="24" name="テキスト ボックス 23">
                <a:extLst>
                  <a:ext uri="{FF2B5EF4-FFF2-40B4-BE49-F238E27FC236}">
                    <a16:creationId xmlns:a16="http://schemas.microsoft.com/office/drawing/2014/main" id="{6149AFBB-9E96-EA60-FD87-1242866FEAE4}"/>
                  </a:ext>
                </a:extLst>
              </p:cNvPr>
              <p:cNvSpPr txBox="1">
                <a:spLocks noRot="1" noChangeAspect="1" noMove="1" noResize="1" noEditPoints="1" noAdjustHandles="1" noChangeArrowheads="1" noChangeShapeType="1" noTextEdit="1"/>
              </p:cNvSpPr>
              <p:nvPr/>
            </p:nvSpPr>
            <p:spPr>
              <a:xfrm>
                <a:off x="1443346" y="3418338"/>
                <a:ext cx="6034601" cy="1232453"/>
              </a:xfrm>
              <a:prstGeom prst="rect">
                <a:avLst/>
              </a:prstGeom>
              <a:blipFill>
                <a:blip r:embed="rId7"/>
                <a:stretch>
                  <a:fillRect t="-2041" b="-7143"/>
                </a:stretch>
              </a:blipFill>
            </p:spPr>
            <p:txBody>
              <a:bodyPr/>
              <a:lstStyle/>
              <a:p>
                <a:r>
                  <a:rPr lang="ja-JP" altLang="en-US">
                    <a:noFill/>
                  </a:rPr>
                  <a:t> </a:t>
                </a:r>
              </a:p>
            </p:txBody>
          </p:sp>
        </mc:Fallback>
      </mc:AlternateContent>
      <p:sp>
        <p:nvSpPr>
          <p:cNvPr id="25" name="下矢印 24">
            <a:extLst>
              <a:ext uri="{FF2B5EF4-FFF2-40B4-BE49-F238E27FC236}">
                <a16:creationId xmlns:a16="http://schemas.microsoft.com/office/drawing/2014/main" id="{6D7D7ABF-296B-EEC3-897D-B66E0D9B0774}"/>
              </a:ext>
            </a:extLst>
          </p:cNvPr>
          <p:cNvSpPr/>
          <p:nvPr/>
        </p:nvSpPr>
        <p:spPr>
          <a:xfrm>
            <a:off x="5366797" y="2882405"/>
            <a:ext cx="688769" cy="523220"/>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2" name="テキスト ボックス 1">
            <a:extLst>
              <a:ext uri="{FF2B5EF4-FFF2-40B4-BE49-F238E27FC236}">
                <a16:creationId xmlns:a16="http://schemas.microsoft.com/office/drawing/2014/main" id="{8DFBA7FA-469C-F8E1-0899-550303DE6569}"/>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16/28</a:t>
            </a:r>
            <a:endParaRPr kumimoji="1" lang="ja-JP" altLang="en-US" sz="2800">
              <a:latin typeface="+mj-ea"/>
              <a:ea typeface="+mj-ea"/>
            </a:endParaRPr>
          </a:p>
        </p:txBody>
      </p:sp>
    </p:spTree>
    <p:extLst>
      <p:ext uri="{BB962C8B-B14F-4D97-AF65-F5344CB8AC3E}">
        <p14:creationId xmlns:p14="http://schemas.microsoft.com/office/powerpoint/2010/main" val="794380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4C4CA-7DA2-411E-AC33-4D461D58FB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DE1837D-074F-7129-500B-1DAF5F1B09E9}"/>
                  </a:ext>
                </a:extLst>
              </p:cNvPr>
              <p:cNvSpPr>
                <a:spLocks noGrp="1"/>
              </p:cNvSpPr>
              <p:nvPr>
                <p:ph idx="1"/>
              </p:nvPr>
            </p:nvSpPr>
            <p:spPr>
              <a:xfrm>
                <a:off x="10232" y="1161341"/>
                <a:ext cx="12171534" cy="5678129"/>
              </a:xfrm>
            </p:spPr>
            <p:txBody>
              <a:bodyPr>
                <a:no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2. </a:t>
                </a:r>
                <a:r>
                  <a:rPr lang="ja-JP" altLang="en-US" sz="3200">
                    <a:solidFill>
                      <a:srgbClr val="7030A0"/>
                    </a:solidFill>
                    <a:latin typeface="+mn-ea"/>
                    <a:cs typeface="ヒラギノ角ゴ Pro W3"/>
                  </a:rPr>
                  <a:t>　</a:t>
                </a:r>
                <a:r>
                  <a:rPr kumimoji="1" lang="ja-JP" altLang="en-US" sz="3200">
                    <a:solidFill>
                      <a:srgbClr val="7030A0"/>
                    </a:solidFill>
                    <a:latin typeface="+mn-ea"/>
                    <a:cs typeface="ヒラギノ角ゴ Pro W3"/>
                  </a:rPr>
                  <a:t>統計量</a:t>
                </a:r>
                <a14:m>
                  <m:oMath xmlns:m="http://schemas.openxmlformats.org/officeDocument/2006/math">
                    <m:sSub>
                      <m:sSubPr>
                        <m:ctrlPr>
                          <a:rPr kumimoji="1" lang="en-US" altLang="ja-JP" sz="3200" b="0" i="1" smtClean="0">
                            <a:solidFill>
                              <a:srgbClr val="7030A0"/>
                            </a:solidFill>
                            <a:latin typeface="Cambria Math" panose="02040503050406030204" pitchFamily="18" charset="0"/>
                            <a:cs typeface="ヒラギノ角ゴ Pro W3"/>
                          </a:rPr>
                        </m:ctrlPr>
                      </m:sSubPr>
                      <m:e>
                        <m:r>
                          <a:rPr kumimoji="1" lang="en-US" altLang="ja-JP" sz="3200" b="1" i="1" smtClean="0">
                            <a:solidFill>
                              <a:srgbClr val="7030A0"/>
                            </a:solidFill>
                            <a:latin typeface="Cambria Math" panose="02040503050406030204" pitchFamily="18" charset="0"/>
                            <a:cs typeface="ヒラギノ角ゴ Pro W3"/>
                          </a:rPr>
                          <m:t>𝑾</m:t>
                        </m:r>
                      </m:e>
                      <m:sub>
                        <m:r>
                          <a:rPr kumimoji="1" lang="en-US" altLang="ja-JP" sz="3200" b="0" i="1" smtClean="0">
                            <a:solidFill>
                              <a:srgbClr val="7030A0"/>
                            </a:solidFill>
                            <a:latin typeface="Cambria Math" panose="02040503050406030204" pitchFamily="18" charset="0"/>
                            <a:cs typeface="ヒラギノ角ゴ Pro W3"/>
                          </a:rPr>
                          <m:t>𝑘</m:t>
                        </m:r>
                      </m:sub>
                    </m:sSub>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400" dirty="0">
                  <a:solidFill>
                    <a:srgbClr val="7030A0"/>
                  </a:solidFill>
                  <a:latin typeface="+mn-ea"/>
                  <a:cs typeface="ヒラギノ角ゴ Pro W3"/>
                </a:endParaRPr>
              </a:p>
              <a:p>
                <a:pPr marL="0" indent="0">
                  <a:buNone/>
                </a:pPr>
                <a:r>
                  <a:rPr lang="ja-JP" altLang="en-US">
                    <a:latin typeface="+mn-ea"/>
                    <a:cs typeface="ヒラギノ角ゴ Pro W3"/>
                  </a:rPr>
                  <a:t>・</a:t>
                </a:r>
                <a:r>
                  <a:rPr kumimoji="1" lang="en-US" altLang="ja-JP" dirty="0" err="1">
                    <a:latin typeface="+mn-ea"/>
                    <a:cs typeface="ヒラギノ角ゴ Pro W3"/>
                  </a:rPr>
                  <a:t>SCoTLASS</a:t>
                </a:r>
                <a:r>
                  <a:rPr kumimoji="1" lang="ja-JP" altLang="en-US">
                    <a:latin typeface="+mn-ea"/>
                    <a:cs typeface="ヒラギノ角ゴ Pro W3"/>
                  </a:rPr>
                  <a:t>の拡張版</a:t>
                </a:r>
                <a:r>
                  <a:rPr kumimoji="1" lang="en-US" altLang="ja-JP" dirty="0">
                    <a:latin typeface="+mn-ea"/>
                    <a:cs typeface="ヒラギノ角ゴ Pro W3"/>
                  </a:rPr>
                  <a:t> </a:t>
                </a:r>
                <a14:m>
                  <m:oMath xmlns:m="http://schemas.openxmlformats.org/officeDocument/2006/math">
                    <m:r>
                      <m:rPr>
                        <m:nor/>
                      </m:rPr>
                      <a:rPr lang="en-US" altLang="ja-JP" dirty="0" smtClean="0">
                        <a:latin typeface="+mn-ea"/>
                        <a:cs typeface="ヒラギノ角ゴ Pro W3"/>
                      </a:rPr>
                      <m:t>(</m:t>
                    </m:r>
                    <m:r>
                      <m:rPr>
                        <m:nor/>
                      </m:rPr>
                      <a:rPr lang="en-US" altLang="ja-JP" dirty="0" smtClean="0">
                        <a:latin typeface="+mn-ea"/>
                        <a:cs typeface="ヒラギノ角ゴ Pro W3"/>
                      </a:rPr>
                      <m:t>Witten</m:t>
                    </m:r>
                    <m:r>
                      <m:rPr>
                        <m:nor/>
                      </m:rPr>
                      <a:rPr lang="en-US" altLang="ja-JP" dirty="0" smtClean="0">
                        <a:latin typeface="+mn-ea"/>
                        <a:cs typeface="ヒラギノ角ゴ Pro W3"/>
                      </a:rPr>
                      <m:t> </m:t>
                    </m:r>
                    <m:r>
                      <m:rPr>
                        <m:nor/>
                      </m:rPr>
                      <a:rPr lang="en-US" altLang="ja-JP" dirty="0" smtClean="0">
                        <a:latin typeface="+mn-ea"/>
                        <a:cs typeface="ヒラギノ角ゴ Pro W3"/>
                      </a:rPr>
                      <m:t>et</m:t>
                    </m:r>
                    <m:r>
                      <m:rPr>
                        <m:nor/>
                      </m:rPr>
                      <a:rPr lang="en-US" altLang="ja-JP" dirty="0" smtClean="0">
                        <a:latin typeface="+mn-ea"/>
                        <a:cs typeface="ヒラギノ角ゴ Pro W3"/>
                      </a:rPr>
                      <m:t> </m:t>
                    </m:r>
                    <m:r>
                      <m:rPr>
                        <m:nor/>
                      </m:rPr>
                      <a:rPr lang="en-US" altLang="ja-JP" dirty="0" smtClean="0">
                        <a:latin typeface="+mn-ea"/>
                        <a:cs typeface="ヒラギノ角ゴ Pro W3"/>
                      </a:rPr>
                      <m:t>al</m:t>
                    </m:r>
                    <m:r>
                      <m:rPr>
                        <m:nor/>
                      </m:rPr>
                      <a:rPr lang="en-US" altLang="ja-JP" dirty="0" smtClean="0">
                        <a:latin typeface="+mn-ea"/>
                        <a:cs typeface="ヒラギノ角ゴ Pro W3"/>
                      </a:rPr>
                      <m:t>., 2009)</m:t>
                    </m:r>
                  </m:oMath>
                </a14:m>
                <a:endParaRPr kumimoji="1" lang="en-US" altLang="ja-JP" dirty="0">
                  <a:latin typeface="+mn-ea"/>
                  <a:cs typeface="ヒラギノ角ゴ Pro W3"/>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acc>
                            <m:accPr>
                              <m:chr m:val="̂"/>
                              <m:ctrlPr>
                                <a:rPr lang="en-US" altLang="ja-JP" sz="3200" b="0" i="1" smtClean="0">
                                  <a:latin typeface="Cambria Math" panose="02040503050406030204" pitchFamily="18" charset="0"/>
                                </a:rPr>
                              </m:ctrlPr>
                            </m:accPr>
                            <m:e>
                              <m:r>
                                <a:rPr lang="en-US" altLang="ja-JP" sz="3200" b="1" i="1" smtClean="0">
                                  <a:latin typeface="Cambria Math" panose="02040503050406030204" pitchFamily="18" charset="0"/>
                                </a:rPr>
                                <m:t>𝒗</m:t>
                              </m:r>
                            </m:e>
                          </m:acc>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m:t>
                      </m:r>
                      <m:func>
                        <m:funcPr>
                          <m:ctrlPr>
                            <a:rPr lang="en-US" altLang="ja-JP" sz="3200" i="1" smtClean="0">
                              <a:latin typeface="Cambria Math" panose="02040503050406030204" pitchFamily="18" charset="0"/>
                            </a:rPr>
                          </m:ctrlPr>
                        </m:funcPr>
                        <m:fName>
                          <m:limLow>
                            <m:limLowPr>
                              <m:ctrlPr>
                                <a:rPr lang="en-US" altLang="ja-JP" sz="3200" i="1">
                                  <a:latin typeface="Cambria Math" panose="02040503050406030204" pitchFamily="18" charset="0"/>
                                </a:rPr>
                              </m:ctrlPr>
                            </m:limLowPr>
                            <m:e>
                              <m:r>
                                <m:rPr>
                                  <m:sty m:val="p"/>
                                </m:rPr>
                                <a:rPr lang="en-US" altLang="ja-JP" sz="3200" b="0" i="0" smtClean="0">
                                  <a:latin typeface="Cambria Math" panose="02040503050406030204" pitchFamily="18" charset="0"/>
                                </a:rPr>
                                <m:t>argmax</m:t>
                              </m:r>
                            </m:e>
                            <m:lim>
                              <m:r>
                                <a:rPr lang="en-US" altLang="ja-JP" sz="3200" b="1" i="1" smtClean="0">
                                  <a:latin typeface="Cambria Math" panose="02040503050406030204" pitchFamily="18" charset="0"/>
                                </a:rPr>
                                <m:t> </m:t>
                              </m:r>
                              <m:r>
                                <a:rPr lang="en-US" altLang="ja-JP" sz="3200" b="1" i="1" smtClean="0">
                                  <a:latin typeface="Cambria Math" panose="02040503050406030204" pitchFamily="18" charset="0"/>
                                </a:rPr>
                                <m:t>𝒗</m:t>
                              </m:r>
                            </m:lim>
                          </m:limLow>
                        </m:fName>
                        <m:e>
                          <m:sSubSup>
                            <m:sSubSupPr>
                              <m:ctrlPr>
                                <a:rPr lang="en-US" altLang="ja-JP" sz="3200" b="0" i="1" smtClean="0">
                                  <a:latin typeface="Cambria Math" panose="02040503050406030204" pitchFamily="18" charset="0"/>
                                  <a:ea typeface="Cambria Math" panose="02040503050406030204" pitchFamily="18" charset="0"/>
                                </a:rPr>
                              </m:ctrlPr>
                            </m:sSubSupPr>
                            <m:e>
                              <m:r>
                                <a:rPr lang="en-US" altLang="ja-JP" sz="3200" b="1" i="1" smtClean="0">
                                  <a:latin typeface="Cambria Math" panose="02040503050406030204" pitchFamily="18" charset="0"/>
                                  <a:ea typeface="Cambria Math" panose="02040503050406030204" pitchFamily="18" charset="0"/>
                                </a:rPr>
                                <m:t>𝒗</m:t>
                              </m:r>
                            </m:e>
                            <m:sub>
                              <m:r>
                                <a:rPr lang="en-US" altLang="ja-JP" sz="3200" b="0" i="1" smtClean="0">
                                  <a:latin typeface="Cambria Math" panose="02040503050406030204" pitchFamily="18" charset="0"/>
                                  <a:ea typeface="Cambria Math" panose="02040503050406030204" pitchFamily="18" charset="0"/>
                                </a:rPr>
                                <m:t>𝑘</m:t>
                              </m:r>
                            </m:sub>
                            <m:sup>
                              <m:r>
                                <a:rPr lang="en-US" altLang="ja-JP" sz="3200" b="0" i="1" smtClean="0">
                                  <a:latin typeface="Cambria Math" panose="02040503050406030204" pitchFamily="18" charset="0"/>
                                  <a:ea typeface="Cambria Math" panose="02040503050406030204" pitchFamily="18" charset="0"/>
                                </a:rPr>
                                <m:t>𝑇</m:t>
                              </m:r>
                            </m:sup>
                          </m:sSubSup>
                          <m:sSup>
                            <m:sSupPr>
                              <m:ctrlPr>
                                <a:rPr lang="en-US" altLang="ja-JP" sz="3200" b="0" i="1" smtClean="0">
                                  <a:latin typeface="Cambria Math" panose="02040503050406030204" pitchFamily="18" charset="0"/>
                                  <a:ea typeface="Cambria Math" panose="02040503050406030204" pitchFamily="18" charset="0"/>
                                </a:rPr>
                              </m:ctrlPr>
                            </m:sSupPr>
                            <m:e>
                              <m:d>
                                <m:dPr>
                                  <m:begChr m:val="["/>
                                  <m:endChr m:val="]"/>
                                  <m:ctrlPr>
                                    <a:rPr lang="en-US" altLang="ja-JP" sz="3200" b="0" i="1" smtClean="0">
                                      <a:latin typeface="Cambria Math" panose="02040503050406030204" pitchFamily="18" charset="0"/>
                                      <a:ea typeface="Cambria Math" panose="02040503050406030204" pitchFamily="18" charset="0"/>
                                    </a:rPr>
                                  </m:ctrlPr>
                                </m:dPr>
                                <m:e>
                                  <m:r>
                                    <a:rPr lang="en-US" altLang="ja-JP" sz="3200" b="0" i="1" smtClean="0">
                                      <a:latin typeface="Cambria Math" panose="02040503050406030204" pitchFamily="18" charset="0"/>
                                      <a:ea typeface="Cambria Math" panose="02040503050406030204" pitchFamily="18" charset="0"/>
                                    </a:rPr>
                                    <m:t>𝑋</m:t>
                                  </m:r>
                                  <m:r>
                                    <a:rPr lang="en-US" altLang="ja-JP" sz="3200" b="0" i="1" smtClean="0">
                                      <a:latin typeface="Cambria Math" panose="02040503050406030204" pitchFamily="18" charset="0"/>
                                      <a:ea typeface="Cambria Math" panose="02040503050406030204" pitchFamily="18" charset="0"/>
                                    </a:rPr>
                                    <m:t>,</m:t>
                                  </m:r>
                                  <m:acc>
                                    <m:accPr>
                                      <m:chr m:val="̃"/>
                                      <m:ctrlPr>
                                        <a:rPr lang="en-US" altLang="ja-JP" sz="3200" b="0" i="1" smtClean="0">
                                          <a:latin typeface="Cambria Math" panose="02040503050406030204" pitchFamily="18" charset="0"/>
                                          <a:ea typeface="Cambria Math" panose="02040503050406030204" pitchFamily="18" charset="0"/>
                                        </a:rPr>
                                      </m:ctrlPr>
                                    </m:accPr>
                                    <m:e>
                                      <m:r>
                                        <a:rPr lang="en-US" altLang="ja-JP" sz="3200" b="0" i="1" smtClean="0">
                                          <a:latin typeface="Cambria Math" panose="02040503050406030204" pitchFamily="18" charset="0"/>
                                          <a:ea typeface="Cambria Math" panose="02040503050406030204" pitchFamily="18" charset="0"/>
                                        </a:rPr>
                                        <m:t>𝑋</m:t>
                                      </m:r>
                                    </m:e>
                                  </m:acc>
                                </m:e>
                              </m:d>
                            </m:e>
                            <m:sup>
                              <m:r>
                                <a:rPr lang="en-US" altLang="ja-JP" sz="3200" b="0" i="1" smtClean="0">
                                  <a:latin typeface="Cambria Math" panose="02040503050406030204" pitchFamily="18" charset="0"/>
                                  <a:ea typeface="Cambria Math" panose="02040503050406030204" pitchFamily="18" charset="0"/>
                                </a:rPr>
                                <m:t>𝑇</m:t>
                              </m:r>
                            </m:sup>
                          </m:sSup>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𝑋</m:t>
                          </m:r>
                          <m:r>
                            <a:rPr lang="en-US" altLang="ja-JP" sz="3200" i="1">
                              <a:latin typeface="Cambria Math" panose="02040503050406030204" pitchFamily="18" charset="0"/>
                              <a:ea typeface="Cambria Math" panose="02040503050406030204" pitchFamily="18" charset="0"/>
                            </a:rPr>
                            <m:t>,</m:t>
                          </m:r>
                          <m:acc>
                            <m:accPr>
                              <m:chr m:val="̃"/>
                              <m:ctrlPr>
                                <a:rPr lang="en-US" altLang="ja-JP" sz="3200" i="1">
                                  <a:latin typeface="Cambria Math" panose="02040503050406030204" pitchFamily="18" charset="0"/>
                                  <a:ea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𝑋</m:t>
                              </m:r>
                            </m:e>
                          </m:acc>
                          <m:r>
                            <a:rPr lang="en-US" altLang="ja-JP" sz="3200" i="1">
                              <a:latin typeface="Cambria Math" panose="02040503050406030204" pitchFamily="18" charset="0"/>
                              <a:ea typeface="Cambria Math" panose="02040503050406030204" pitchFamily="18" charset="0"/>
                            </a:rPr>
                            <m:t>]</m:t>
                          </m:r>
                        </m:e>
                      </m:func>
                      <m:sSub>
                        <m:sSubPr>
                          <m:ctrlPr>
                            <a:rPr lang="en-US" altLang="ja-JP" sz="3200" b="0" i="1" smtClean="0">
                              <a:latin typeface="Cambria Math" panose="02040503050406030204" pitchFamily="18" charset="0"/>
                            </a:rPr>
                          </m:ctrlPr>
                        </m:sSubPr>
                        <m:e>
                          <m:r>
                            <a:rPr lang="en-US" altLang="ja-JP" sz="3200" b="1" i="1" smtClean="0">
                              <a:latin typeface="Cambria Math" panose="02040503050406030204" pitchFamily="18" charset="0"/>
                            </a:rPr>
                            <m:t>𝒗</m:t>
                          </m:r>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subject</m:t>
                      </m:r>
                      <m:r>
                        <a:rPr lang="en-US" altLang="ja-JP" sz="3200" b="0" i="0" smtClean="0">
                          <a:latin typeface="Cambria Math" panose="02040503050406030204" pitchFamily="18" charset="0"/>
                        </a:rPr>
                        <m:t> </m:t>
                      </m:r>
                      <m:r>
                        <m:rPr>
                          <m:sty m:val="p"/>
                        </m:rPr>
                        <a:rPr lang="en-US" altLang="ja-JP" sz="3200" b="0" i="0" smtClean="0">
                          <a:latin typeface="Cambria Math" panose="02040503050406030204" pitchFamily="18" charset="0"/>
                        </a:rPr>
                        <m:t>to</m:t>
                      </m:r>
                      <m:r>
                        <a:rPr lang="en-US" altLang="ja-JP" sz="3200" b="0" i="1" smtClean="0">
                          <a:latin typeface="Cambria Math" panose="02040503050406030204" pitchFamily="18" charset="0"/>
                        </a:rPr>
                        <m:t>   </m:t>
                      </m:r>
                      <m:sSubSup>
                        <m:sSubSupPr>
                          <m:ctrlPr>
                            <a:rPr lang="en-US" altLang="ja-JP" sz="3200" b="0" i="1" smtClean="0">
                              <a:latin typeface="Cambria Math" panose="02040503050406030204" pitchFamily="18" charset="0"/>
                            </a:rPr>
                          </m:ctrlPr>
                        </m:sSubSupPr>
                        <m:e>
                          <m:d>
                            <m:dPr>
                              <m:begChr m:val="‖"/>
                              <m:endChr m:val="‖"/>
                              <m:ctrlPr>
                                <a:rPr lang="en-US" altLang="ja-JP" sz="3200" b="0" i="1" smtClean="0">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2</m:t>
                          </m:r>
                        </m:sub>
                        <m:sup>
                          <m:r>
                            <a:rPr lang="en-US" altLang="ja-JP" sz="3200" b="0" i="1" smtClean="0">
                              <a:latin typeface="Cambria Math" panose="02040503050406030204" pitchFamily="18" charset="0"/>
                            </a:rPr>
                            <m:t>2</m:t>
                          </m:r>
                        </m:sup>
                      </m:sSubSup>
                      <m:r>
                        <a:rPr lang="en-US" altLang="ja-JP" sz="3200" i="1">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rPr>
                        <m:t>1,</m:t>
                      </m:r>
                      <m:sSub>
                        <m:sSubPr>
                          <m:ctrlPr>
                            <a:rPr lang="en-US" altLang="ja-JP" sz="3200" b="0" i="1" smtClean="0">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1</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𝑐</m:t>
                      </m:r>
                    </m:oMath>
                  </m:oMathPara>
                </a14:m>
                <a:endParaRPr lang="en-US" altLang="ja-JP" sz="3200" b="0" i="1" dirty="0">
                  <a:latin typeface="Cambria Math" panose="02040503050406030204" pitchFamily="18" charset="0"/>
                  <a:ea typeface="Cambria Math" panose="02040503050406030204" pitchFamily="18" charset="0"/>
                </a:endParaRPr>
              </a:p>
              <a:p>
                <a:pPr marL="0" indent="0" algn="ctr">
                  <a:buNone/>
                </a:pPr>
                <a:r>
                  <a:rPr lang="ja-JP" altLang="en-US">
                    <a:cs typeface="ヒラギノ角ゴ Pro W3"/>
                  </a:rPr>
                  <a:t>　　　　　　　　</a:t>
                </a:r>
                <a:endParaRPr kumimoji="1" lang="en-US" altLang="ja-JP" b="0" i="1" dirty="0">
                  <a:latin typeface="Cambria Math" panose="02040503050406030204" pitchFamily="18" charset="0"/>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lang="en-US" altLang="ja-JP" dirty="0">
                  <a:latin typeface="ヒラギノ角ゴ Pro W3"/>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kumimoji="1" lang="ja-JP" altLang="en-US" sz="800" dirty="0">
                  <a:latin typeface="ヒラギノ角ゴ Pro W3"/>
                  <a:ea typeface="ヒラギノ角ゴ Pro W3"/>
                  <a:cs typeface="ヒラギノ角ゴ Pro W3"/>
                </a:endParaRPr>
              </a:p>
              <a:p>
                <a:pPr marL="0" indent="0">
                  <a:buClr>
                    <a:schemeClr val="accent3"/>
                  </a:buClr>
                  <a:buNone/>
                </a:pPr>
                <a:r>
                  <a:rPr lang="en-US" altLang="ja-JP" dirty="0">
                    <a:ea typeface="ヒラギノ角ゴ Pro W3"/>
                    <a:cs typeface="ヒラギノ角ゴ Pro W3"/>
                  </a:rPr>
                  <a:t>                  </a:t>
                </a:r>
                <a14:m>
                  <m:oMath xmlns:m="http://schemas.openxmlformats.org/officeDocument/2006/math">
                    <m:sSub>
                      <m:sSubPr>
                        <m:ctrlP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ctrlPr>
                      </m:sSubPr>
                      <m:e>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𝑊</m:t>
                        </m:r>
                      </m:e>
                      <m: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𝑘𝑗</m:t>
                        </m:r>
                      </m:sub>
                    </m:s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m:t>
                    </m:r>
                    <m:sSub>
                      <m:sSubPr>
                        <m:ctrlPr>
                          <a:rPr lang="en-US" altLang="ja-JP" sz="3200" i="1">
                            <a:solidFill>
                              <a:schemeClr val="accent1">
                                <a:lumMod val="90000"/>
                              </a:schemeClr>
                            </a:solidFill>
                            <a:latin typeface="Cambria Math" panose="02040503050406030204" pitchFamily="18" charset="0"/>
                            <a:cs typeface="ヒラギノ角ゴ Pro W3"/>
                          </a:rPr>
                        </m:ctrlPr>
                      </m:sSubPr>
                      <m:e>
                        <m:r>
                          <a:rPr lang="en-US" altLang="ja-JP" sz="3200" i="1">
                            <a:solidFill>
                              <a:schemeClr val="accent1">
                                <a:lumMod val="90000"/>
                              </a:schemeClr>
                            </a:solidFill>
                            <a:latin typeface="Cambria Math" panose="02040503050406030204" pitchFamily="18" charset="0"/>
                            <a:cs typeface="ヒラギノ角ゴ Pro W3"/>
                          </a:rPr>
                          <m:t>𝑍</m:t>
                        </m:r>
                      </m:e>
                      <m:sub>
                        <m:r>
                          <a:rPr lang="en-US" altLang="ja-JP" sz="3200" b="0" i="1" smtClean="0">
                            <a:solidFill>
                              <a:schemeClr val="accent1">
                                <a:lumMod val="90000"/>
                              </a:schemeClr>
                            </a:solidFill>
                            <a:latin typeface="Cambria Math" panose="02040503050406030204" pitchFamily="18" charset="0"/>
                            <a:cs typeface="ヒラギノ角ゴ Pro W3"/>
                          </a:rPr>
                          <m:t>𝑘</m:t>
                        </m:r>
                        <m:r>
                          <a:rPr lang="en-US" altLang="ja-JP" sz="3200" i="1">
                            <a:solidFill>
                              <a:schemeClr val="accent1">
                                <a:lumMod val="90000"/>
                              </a:schemeClr>
                            </a:solidFill>
                            <a:latin typeface="Cambria Math" panose="02040503050406030204" pitchFamily="18" charset="0"/>
                            <a:cs typeface="ヒラギノ角ゴ Pro W3"/>
                          </a:rPr>
                          <m:t>𝑗</m:t>
                        </m:r>
                      </m:sub>
                    </m:sSub>
                    <m:r>
                      <a:rPr lang="en-US" altLang="ja-JP" sz="3200" i="1">
                        <a:solidFill>
                          <a:schemeClr val="accent1">
                            <a:lumMod val="90000"/>
                          </a:schemeClr>
                        </a:solidFill>
                        <a:latin typeface="Cambria Math" panose="02040503050406030204" pitchFamily="18" charset="0"/>
                        <a:ea typeface="Cambria Math" panose="02040503050406030204" pitchFamily="18" charset="0"/>
                        <a:cs typeface="ヒラギノ角ゴ Pro W3"/>
                      </a:rPr>
                      <m:t>∧</m:t>
                    </m:r>
                    <m:sSub>
                      <m:sSubPr>
                        <m:ctrlPr>
                          <a:rPr lang="en-US" altLang="ja-JP" sz="3200" i="1">
                            <a:solidFill>
                              <a:schemeClr val="accent1">
                                <a:lumMod val="90000"/>
                              </a:schemeClr>
                            </a:solidFill>
                            <a:latin typeface="Cambria Math" panose="02040503050406030204" pitchFamily="18" charset="0"/>
                          </a:rPr>
                        </m:ctrlPr>
                      </m:sSubPr>
                      <m:e>
                        <m:acc>
                          <m:accPr>
                            <m:chr m:val="̃"/>
                            <m:ctrlPr>
                              <a:rPr lang="en-US" altLang="ja-JP" sz="3200" i="1">
                                <a:solidFill>
                                  <a:schemeClr val="accent1">
                                    <a:lumMod val="90000"/>
                                  </a:schemeClr>
                                </a:solidFill>
                                <a:latin typeface="Cambria Math" panose="02040503050406030204" pitchFamily="18" charset="0"/>
                              </a:rPr>
                            </m:ctrlPr>
                          </m:accPr>
                          <m:e>
                            <m:r>
                              <a:rPr lang="en-US" altLang="ja-JP" sz="3200" i="1">
                                <a:solidFill>
                                  <a:schemeClr val="accent1">
                                    <a:lumMod val="90000"/>
                                  </a:schemeClr>
                                </a:solidFill>
                                <a:latin typeface="Cambria Math" panose="02040503050406030204" pitchFamily="18" charset="0"/>
                              </a:rPr>
                              <m:t>𝑍</m:t>
                            </m:r>
                          </m:e>
                        </m:acc>
                      </m:e>
                      <m:sub>
                        <m:r>
                          <a:rPr lang="en-US" altLang="ja-JP" sz="3200" b="0" i="1" smtClean="0">
                            <a:solidFill>
                              <a:schemeClr val="accent1">
                                <a:lumMod val="90000"/>
                              </a:schemeClr>
                            </a:solidFill>
                            <a:latin typeface="Cambria Math" panose="02040503050406030204" pitchFamily="18" charset="0"/>
                          </a:rPr>
                          <m:t>𝑘</m:t>
                        </m:r>
                        <m:r>
                          <a:rPr lang="en-US" altLang="ja-JP" sz="3200" b="0" i="1" smtClean="0">
                            <a:solidFill>
                              <a:schemeClr val="accent1">
                                <a:lumMod val="90000"/>
                              </a:schemeClr>
                            </a:solidFill>
                            <a:latin typeface="Cambria Math" panose="02040503050406030204" pitchFamily="18" charset="0"/>
                          </a:rPr>
                          <m:t>(</m:t>
                        </m:r>
                        <m:r>
                          <a:rPr lang="en-US" altLang="ja-JP" sz="3200" i="1">
                            <a:solidFill>
                              <a:schemeClr val="accent1">
                                <a:lumMod val="90000"/>
                              </a:schemeClr>
                            </a:solidFill>
                            <a:latin typeface="Cambria Math" panose="02040503050406030204" pitchFamily="18" charset="0"/>
                          </a:rPr>
                          <m:t>𝑗</m:t>
                        </m:r>
                        <m:r>
                          <a:rPr lang="en-US" altLang="ja-JP" sz="3200" b="0" i="1" smtClean="0">
                            <a:solidFill>
                              <a:schemeClr val="accent1">
                                <a:lumMod val="90000"/>
                              </a:schemeClr>
                            </a:solidFill>
                            <a:latin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rPr>
                          <m:t>𝑝</m:t>
                        </m:r>
                        <m:r>
                          <a:rPr lang="en-US" altLang="ja-JP" sz="3200" b="0" i="1" smtClean="0">
                            <a:solidFill>
                              <a:schemeClr val="accent1">
                                <a:lumMod val="90000"/>
                              </a:schemeClr>
                            </a:solidFill>
                            <a:latin typeface="Cambria Math" panose="02040503050406030204" pitchFamily="18" charset="0"/>
                          </a:rPr>
                          <m:t>)</m:t>
                        </m:r>
                      </m:sub>
                    </m:sSub>
                    <m:r>
                      <a:rPr lang="en-US" altLang="ja-JP" sz="3200" i="1">
                        <a:solidFill>
                          <a:schemeClr val="accent1">
                            <a:lumMod val="90000"/>
                          </a:schemeClr>
                        </a:solidFill>
                        <a:latin typeface="Cambria Math" panose="02040503050406030204" pitchFamily="18" charset="0"/>
                      </a:rPr>
                      <m:t>∙</m:t>
                    </m:r>
                    <m:func>
                      <m:funcPr>
                        <m:ctrlPr>
                          <a:rPr lang="en-US" altLang="ja-JP" sz="3200" i="1">
                            <a:solidFill>
                              <a:schemeClr val="accent1">
                                <a:lumMod val="90000"/>
                              </a:schemeClr>
                            </a:solidFill>
                            <a:latin typeface="Cambria Math" panose="02040503050406030204" pitchFamily="18" charset="0"/>
                          </a:rPr>
                        </m:ctrlPr>
                      </m:funcPr>
                      <m:fName>
                        <m:r>
                          <m:rPr>
                            <m:sty m:val="p"/>
                          </m:rPr>
                          <a:rPr lang="en-US" altLang="ja-JP" sz="3200">
                            <a:solidFill>
                              <a:schemeClr val="accent1">
                                <a:lumMod val="90000"/>
                              </a:schemeClr>
                            </a:solidFill>
                            <a:latin typeface="Cambria Math" panose="02040503050406030204" pitchFamily="18" charset="0"/>
                          </a:rPr>
                          <m:t>sign</m:t>
                        </m:r>
                      </m:fName>
                      <m:e>
                        <m:d>
                          <m:dPr>
                            <m:ctrlPr>
                              <a:rPr lang="en-US" altLang="ja-JP" sz="3200" i="1">
                                <a:solidFill>
                                  <a:schemeClr val="accent1">
                                    <a:lumMod val="90000"/>
                                  </a:schemeClr>
                                </a:solidFill>
                                <a:latin typeface="Cambria Math" panose="02040503050406030204" pitchFamily="18" charset="0"/>
                              </a:rPr>
                            </m:ctrlPr>
                          </m:dPr>
                          <m:e>
                            <m:sSub>
                              <m:sSubPr>
                                <m:ctrlPr>
                                  <a:rPr lang="en-US" altLang="ja-JP" sz="3200" b="0" i="1" smtClean="0">
                                    <a:solidFill>
                                      <a:schemeClr val="accent1">
                                        <a:lumMod val="90000"/>
                                      </a:schemeClr>
                                    </a:solidFill>
                                    <a:latin typeface="Cambria Math" panose="02040503050406030204" pitchFamily="18" charset="0"/>
                                  </a:rPr>
                                </m:ctrlPr>
                              </m:sSubPr>
                              <m:e>
                                <m:acc>
                                  <m:accPr>
                                    <m:chr m:val="̃"/>
                                    <m:ctrlPr>
                                      <a:rPr lang="en-US" altLang="ja-JP" sz="3200" i="1">
                                        <a:solidFill>
                                          <a:schemeClr val="accent1">
                                            <a:lumMod val="90000"/>
                                          </a:schemeClr>
                                        </a:solidFill>
                                        <a:latin typeface="Cambria Math" panose="02040503050406030204" pitchFamily="18" charset="0"/>
                                      </a:rPr>
                                    </m:ctrlPr>
                                  </m:accPr>
                                  <m:e>
                                    <m:r>
                                      <a:rPr lang="en-US" altLang="ja-JP" sz="3200" b="0" i="1" smtClean="0">
                                        <a:solidFill>
                                          <a:schemeClr val="accent1">
                                            <a:lumMod val="90000"/>
                                          </a:schemeClr>
                                        </a:solidFill>
                                        <a:latin typeface="Cambria Math" panose="02040503050406030204" pitchFamily="18" charset="0"/>
                                      </a:rPr>
                                      <m:t>𝑍</m:t>
                                    </m:r>
                                  </m:e>
                                </m:acc>
                              </m:e>
                              <m:sub>
                                <m:r>
                                  <a:rPr lang="en-US" altLang="ja-JP" sz="3200" b="0" i="1" smtClean="0">
                                    <a:solidFill>
                                      <a:schemeClr val="accent1">
                                        <a:lumMod val="90000"/>
                                      </a:schemeClr>
                                    </a:solidFill>
                                    <a:latin typeface="Cambria Math" panose="02040503050406030204" pitchFamily="18" charset="0"/>
                                  </a:rPr>
                                  <m:t>𝑘𝑗</m:t>
                                </m:r>
                              </m:sub>
                            </m:sSub>
                            <m:r>
                              <a:rPr lang="en-US" altLang="ja-JP" sz="3200" i="1">
                                <a:solidFill>
                                  <a:schemeClr val="accent1">
                                    <a:lumMod val="90000"/>
                                  </a:schemeClr>
                                </a:solidFill>
                                <a:latin typeface="Cambria Math" panose="02040503050406030204" pitchFamily="18" charset="0"/>
                              </a:rPr>
                              <m:t>−</m:t>
                            </m:r>
                            <m:sSub>
                              <m:sSubPr>
                                <m:ctrlPr>
                                  <a:rPr lang="en-US" altLang="ja-JP" sz="3200" i="1">
                                    <a:solidFill>
                                      <a:schemeClr val="accent1">
                                        <a:lumMod val="90000"/>
                                      </a:schemeClr>
                                    </a:solidFill>
                                    <a:latin typeface="Cambria Math" panose="02040503050406030204" pitchFamily="18" charset="0"/>
                                  </a:rPr>
                                </m:ctrlPr>
                              </m:sSubPr>
                              <m:e>
                                <m:r>
                                  <a:rPr lang="en-US" altLang="ja-JP" sz="3200" i="1">
                                    <a:solidFill>
                                      <a:schemeClr val="accent1">
                                        <a:lumMod val="90000"/>
                                      </a:schemeClr>
                                    </a:solidFill>
                                    <a:latin typeface="Cambria Math" panose="02040503050406030204" pitchFamily="18" charset="0"/>
                                  </a:rPr>
                                  <m:t>𝑍</m:t>
                                </m:r>
                              </m:e>
                              <m:sub>
                                <m:r>
                                  <a:rPr lang="en-US" altLang="ja-JP" sz="3200" b="0" i="1" smtClean="0">
                                    <a:solidFill>
                                      <a:schemeClr val="accent1">
                                        <a:lumMod val="90000"/>
                                      </a:schemeClr>
                                    </a:solidFill>
                                    <a:latin typeface="Cambria Math" panose="02040503050406030204" pitchFamily="18" charset="0"/>
                                  </a:rPr>
                                  <m:t>𝑘</m:t>
                                </m:r>
                                <m:r>
                                  <a:rPr lang="en-US" altLang="ja-JP" sz="3200" b="0" i="1" smtClean="0">
                                    <a:solidFill>
                                      <a:schemeClr val="accent1">
                                        <a:lumMod val="90000"/>
                                      </a:schemeClr>
                                    </a:solidFill>
                                    <a:latin typeface="Cambria Math" panose="02040503050406030204" pitchFamily="18" charset="0"/>
                                  </a:rPr>
                                  <m:t>(</m:t>
                                </m:r>
                                <m:r>
                                  <a:rPr lang="en-US" altLang="ja-JP" sz="3200" i="1">
                                    <a:solidFill>
                                      <a:schemeClr val="accent1">
                                        <a:lumMod val="90000"/>
                                      </a:schemeClr>
                                    </a:solidFill>
                                    <a:latin typeface="Cambria Math" panose="02040503050406030204" pitchFamily="18" charset="0"/>
                                  </a:rPr>
                                  <m:t>𝑗</m:t>
                                </m:r>
                                <m:r>
                                  <a:rPr lang="en-US" altLang="ja-JP" sz="3200" b="0" i="1" smtClean="0">
                                    <a:solidFill>
                                      <a:schemeClr val="accent1">
                                        <a:lumMod val="90000"/>
                                      </a:schemeClr>
                                    </a:solidFill>
                                    <a:latin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rPr>
                                  <m:t>𝑝</m:t>
                                </m:r>
                                <m:r>
                                  <a:rPr lang="en-US" altLang="ja-JP" sz="3200" b="0" i="1" smtClean="0">
                                    <a:solidFill>
                                      <a:schemeClr val="accent1">
                                        <a:lumMod val="90000"/>
                                      </a:schemeClr>
                                    </a:solidFill>
                                    <a:latin typeface="Cambria Math" panose="02040503050406030204" pitchFamily="18" charset="0"/>
                                  </a:rPr>
                                  <m:t>)</m:t>
                                </m:r>
                              </m:sub>
                            </m:sSub>
                          </m:e>
                        </m:d>
                      </m:e>
                    </m:func>
                    <m:r>
                      <a:rPr lang="en-US" altLang="ja-JP" sz="3200" b="0" i="1" smtClean="0">
                        <a:solidFill>
                          <a:schemeClr val="accent1">
                            <a:lumMod val="90000"/>
                          </a:schemeClr>
                        </a:solidFill>
                        <a:latin typeface="Cambria Math" panose="02040503050406030204" pitchFamily="18" charset="0"/>
                        <a:ea typeface="Cambria Math" panose="02040503050406030204" pitchFamily="18" charset="0"/>
                      </a:rPr>
                      <m:t>,  </m:t>
                    </m:r>
                    <m:r>
                      <a:rPr lang="en-US" altLang="ja-JP" sz="3200" i="1">
                        <a:solidFill>
                          <a:schemeClr val="accent1">
                            <a:lumMod val="90000"/>
                          </a:schemeClr>
                        </a:solidFill>
                        <a:latin typeface="Cambria Math" panose="02040503050406030204" pitchFamily="18" charset="0"/>
                        <a:ea typeface="Cambria Math" panose="02040503050406030204" pitchFamily="18" charset="0"/>
                      </a:rPr>
                      <m:t>𝑗</m:t>
                    </m:r>
                    <m:r>
                      <a:rPr lang="en-US" altLang="ja-JP" sz="3200" i="1">
                        <a:solidFill>
                          <a:schemeClr val="accent1">
                            <a:lumMod val="90000"/>
                          </a:schemeClr>
                        </a:solidFill>
                        <a:latin typeface="Cambria Math" panose="02040503050406030204" pitchFamily="18" charset="0"/>
                        <a:ea typeface="Cambria Math" panose="02040503050406030204" pitchFamily="18" charset="0"/>
                      </a:rPr>
                      <m:t>=1,…,</m:t>
                    </m:r>
                    <m:r>
                      <a:rPr lang="en-US" altLang="ja-JP" sz="3200" i="1">
                        <a:solidFill>
                          <a:schemeClr val="accent1">
                            <a:lumMod val="90000"/>
                          </a:schemeClr>
                        </a:solidFill>
                        <a:latin typeface="Cambria Math" panose="02040503050406030204" pitchFamily="18" charset="0"/>
                        <a:ea typeface="Cambria Math" panose="02040503050406030204" pitchFamily="18" charset="0"/>
                      </a:rPr>
                      <m:t>𝑝</m:t>
                    </m:r>
                  </m:oMath>
                </a14:m>
                <a:endParaRPr lang="en-US" altLang="ja-JP" sz="3200" i="1" dirty="0">
                  <a:solidFill>
                    <a:schemeClr val="accent1">
                      <a:lumMod val="90000"/>
                    </a:schemeClr>
                  </a:solidFill>
                  <a:latin typeface="Cambria Math" panose="02040503050406030204" pitchFamily="18" charset="0"/>
                  <a:ea typeface="Cambria Math" panose="02040503050406030204" pitchFamily="18" charset="0"/>
                </a:endParaRPr>
              </a:p>
            </p:txBody>
          </p:sp>
        </mc:Choice>
        <mc:Fallback xmlns="">
          <p:sp>
            <p:nvSpPr>
              <p:cNvPr id="3" name="コンテンツ プレースホルダー 2">
                <a:extLst>
                  <a:ext uri="{FF2B5EF4-FFF2-40B4-BE49-F238E27FC236}">
                    <a16:creationId xmlns:a16="http://schemas.microsoft.com/office/drawing/2014/main" id="{2DE1837D-074F-7129-500B-1DAF5F1B09E9}"/>
                  </a:ext>
                </a:extLst>
              </p:cNvPr>
              <p:cNvSpPr>
                <a:spLocks noGrp="1" noRot="1" noChangeAspect="1" noMove="1" noResize="1" noEditPoints="1" noAdjustHandles="1" noChangeArrowheads="1" noChangeShapeType="1" noTextEdit="1"/>
              </p:cNvSpPr>
              <p:nvPr>
                <p:ph idx="1"/>
              </p:nvPr>
            </p:nvSpPr>
            <p:spPr>
              <a:xfrm>
                <a:off x="10232" y="1161341"/>
                <a:ext cx="12171534" cy="5678129"/>
              </a:xfrm>
              <a:blipFill>
                <a:blip r:embed="rId3"/>
                <a:stretch>
                  <a:fillRect l="-1250" t="-2009"/>
                </a:stretch>
              </a:blipFill>
            </p:spPr>
            <p:txBody>
              <a:bodyPr/>
              <a:lstStyle/>
              <a:p>
                <a:r>
                  <a:rPr lang="ja-JP" altLang="en-US">
                    <a:noFill/>
                  </a:rPr>
                  <a:t> </a:t>
                </a:r>
              </a:p>
            </p:txBody>
          </p:sp>
        </mc:Fallback>
      </mc:AlternateContent>
      <p:sp>
        <p:nvSpPr>
          <p:cNvPr id="5" name="タイトル 1">
            <a:extLst>
              <a:ext uri="{FF2B5EF4-FFF2-40B4-BE49-F238E27FC236}">
                <a16:creationId xmlns:a16="http://schemas.microsoft.com/office/drawing/2014/main" id="{6A260CCD-A425-77FA-6E07-BAFAE62BC2F3}"/>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p:sp>
        <p:nvSpPr>
          <p:cNvPr id="6" name="下矢印 5">
            <a:extLst>
              <a:ext uri="{FF2B5EF4-FFF2-40B4-BE49-F238E27FC236}">
                <a16:creationId xmlns:a16="http://schemas.microsoft.com/office/drawing/2014/main" id="{7877F0AE-8010-FBFF-91EE-8C349AADFCE0}"/>
              </a:ext>
            </a:extLst>
          </p:cNvPr>
          <p:cNvSpPr/>
          <p:nvPr/>
        </p:nvSpPr>
        <p:spPr>
          <a:xfrm>
            <a:off x="5366797" y="2944249"/>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8" name="下矢印 7">
            <a:extLst>
              <a:ext uri="{FF2B5EF4-FFF2-40B4-BE49-F238E27FC236}">
                <a16:creationId xmlns:a16="http://schemas.microsoft.com/office/drawing/2014/main" id="{1BFB534F-830B-C929-EC47-D5AA14C54124}"/>
              </a:ext>
            </a:extLst>
          </p:cNvPr>
          <p:cNvSpPr/>
          <p:nvPr/>
        </p:nvSpPr>
        <p:spPr>
          <a:xfrm>
            <a:off x="5366798" y="4840412"/>
            <a:ext cx="688769" cy="523220"/>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9" name="正方形/長方形 8">
            <a:extLst>
              <a:ext uri="{FF2B5EF4-FFF2-40B4-BE49-F238E27FC236}">
                <a16:creationId xmlns:a16="http://schemas.microsoft.com/office/drawing/2014/main" id="{57E5C606-E367-6EC7-C7BE-D4DE5B6E7FF2}"/>
              </a:ext>
            </a:extLst>
          </p:cNvPr>
          <p:cNvSpPr/>
          <p:nvPr/>
        </p:nvSpPr>
        <p:spPr>
          <a:xfrm>
            <a:off x="3127229" y="2294654"/>
            <a:ext cx="975354" cy="587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703C4AC7-AA3F-4DE1-BB59-9BB153401933}"/>
                  </a:ext>
                </a:extLst>
              </p:cNvPr>
              <p:cNvSpPr txBox="1"/>
              <p:nvPr/>
            </p:nvSpPr>
            <p:spPr>
              <a:xfrm>
                <a:off x="2933317" y="288240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10" name="テキスト ボックス 9">
                <a:extLst>
                  <a:ext uri="{FF2B5EF4-FFF2-40B4-BE49-F238E27FC236}">
                    <a16:creationId xmlns:a16="http://schemas.microsoft.com/office/drawing/2014/main" id="{703C4AC7-AA3F-4DE1-BB59-9BB153401933}"/>
                  </a:ext>
                </a:extLst>
              </p:cNvPr>
              <p:cNvSpPr txBox="1">
                <a:spLocks noRot="1" noChangeAspect="1" noMove="1" noResize="1" noEditPoints="1" noAdjustHandles="1" noChangeArrowheads="1" noChangeShapeType="1" noTextEdit="1"/>
              </p:cNvSpPr>
              <p:nvPr/>
            </p:nvSpPr>
            <p:spPr>
              <a:xfrm>
                <a:off x="2933317" y="2882405"/>
                <a:ext cx="1775743" cy="523220"/>
              </a:xfrm>
              <a:prstGeom prst="rect">
                <a:avLst/>
              </a:prstGeom>
              <a:blipFill>
                <a:blip r:embed="rId4"/>
                <a:stretch>
                  <a:fillRect t="-14286" r="-6383"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A3FCE8FB-C4B7-8A4B-9028-6D33B9D64496}"/>
                  </a:ext>
                </a:extLst>
              </p:cNvPr>
              <p:cNvSpPr txBox="1"/>
              <p:nvPr/>
            </p:nvSpPr>
            <p:spPr>
              <a:xfrm>
                <a:off x="6866296" y="3708019"/>
                <a:ext cx="3388591"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ea typeface="Cambria Math" panose="02040503050406030204" pitchFamily="18" charset="0"/>
                        </a:rPr>
                        <m:t>𝑗</m:t>
                      </m:r>
                      <m:r>
                        <a:rPr lang="en-US" altLang="ja-JP" sz="3200" i="1" smtClean="0">
                          <a:latin typeface="Cambria Math" panose="02040503050406030204" pitchFamily="18" charset="0"/>
                          <a:ea typeface="Cambria Math" panose="02040503050406030204" pitchFamily="18" charset="0"/>
                        </a:rPr>
                        <m:t>=1,…,</m:t>
                      </m:r>
                      <m:r>
                        <a:rPr lang="en-US" altLang="ja-JP" sz="3200" i="1" smtClean="0">
                          <a:latin typeface="Cambria Math" panose="02040503050406030204" pitchFamily="18" charset="0"/>
                          <a:ea typeface="Cambria Math" panose="02040503050406030204" pitchFamily="18" charset="0"/>
                        </a:rPr>
                        <m:t>𝑝</m:t>
                      </m:r>
                    </m:oMath>
                  </m:oMathPara>
                </a14:m>
                <a:endParaRPr lang="ja-JP" altLang="en-US" sz="3200"/>
              </a:p>
            </p:txBody>
          </p:sp>
        </mc:Choice>
        <mc:Fallback xmlns="">
          <p:sp>
            <p:nvSpPr>
              <p:cNvPr id="13" name="テキスト ボックス 12">
                <a:extLst>
                  <a:ext uri="{FF2B5EF4-FFF2-40B4-BE49-F238E27FC236}">
                    <a16:creationId xmlns:a16="http://schemas.microsoft.com/office/drawing/2014/main" id="{A3FCE8FB-C4B7-8A4B-9028-6D33B9D64496}"/>
                  </a:ext>
                </a:extLst>
              </p:cNvPr>
              <p:cNvSpPr txBox="1">
                <a:spLocks noRot="1" noChangeAspect="1" noMove="1" noResize="1" noEditPoints="1" noAdjustHandles="1" noChangeArrowheads="1" noChangeShapeType="1" noTextEdit="1"/>
              </p:cNvSpPr>
              <p:nvPr/>
            </p:nvSpPr>
            <p:spPr>
              <a:xfrm>
                <a:off x="6866296" y="3708019"/>
                <a:ext cx="3388591" cy="584775"/>
              </a:xfrm>
              <a:prstGeom prst="rect">
                <a:avLst/>
              </a:prstGeom>
              <a:blipFill>
                <a:blip r:embed="rId5"/>
                <a:stretch>
                  <a:fillRect b="-212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A76FB54F-AA43-B6ED-506A-8C1C423AD459}"/>
                  </a:ext>
                </a:extLst>
              </p:cNvPr>
              <p:cNvSpPr txBox="1"/>
              <p:nvPr/>
            </p:nvSpPr>
            <p:spPr>
              <a:xfrm>
                <a:off x="1574915" y="6073170"/>
                <a:ext cx="3099566" cy="523220"/>
              </a:xfrm>
              <a:prstGeom prst="rect">
                <a:avLst/>
              </a:prstGeom>
              <a:noFill/>
            </p:spPr>
            <p:txBody>
              <a:bodyPr wrap="none" rtlCol="0">
                <a:spAutoFit/>
              </a:bodyPr>
              <a:lstStyle/>
              <a:p>
                <a:r>
                  <a:rPr kumimoji="1" lang="en-US" altLang="ja-JP" sz="2800" b="0" dirty="0">
                    <a:solidFill>
                      <a:schemeClr val="accent1">
                        <a:lumMod val="90000"/>
                      </a:schemeClr>
                    </a:solidFill>
                    <a:cs typeface="ヒラギノ角ゴ Pro W3"/>
                  </a:rPr>
                  <a:t>(</a:t>
                </a:r>
                <a14:m>
                  <m:oMath xmlns:m="http://schemas.openxmlformats.org/officeDocument/2006/math">
                    <m:r>
                      <a:rPr kumimoji="1" lang="en-US" altLang="ja-JP" sz="2800" b="0" i="1" smtClean="0">
                        <a:solidFill>
                          <a:schemeClr val="accent1">
                            <a:lumMod val="90000"/>
                          </a:schemeClr>
                        </a:solidFill>
                        <a:latin typeface="Cambria Math" panose="02040503050406030204" pitchFamily="18" charset="0"/>
                        <a:cs typeface="ヒラギノ角ゴ Pro W3"/>
                      </a:rPr>
                      <m:t>𝑎</m:t>
                    </m:r>
                    <m:r>
                      <a:rPr lang="en-US" altLang="ja-JP" sz="2800" i="1">
                        <a:solidFill>
                          <a:schemeClr val="accent1">
                            <a:lumMod val="90000"/>
                          </a:schemeClr>
                        </a:solidFill>
                        <a:latin typeface="Cambria Math" panose="02040503050406030204" pitchFamily="18" charset="0"/>
                        <a:ea typeface="Cambria Math" panose="02040503050406030204" pitchFamily="18" charset="0"/>
                        <a:cs typeface="ヒラギノ角ゴ Pro W3"/>
                      </a:rPr>
                      <m:t>∧</m:t>
                    </m:r>
                    <m:r>
                      <a:rPr kumimoji="1" lang="en-US" altLang="ja-JP" sz="2800" b="0" i="1" smtClean="0">
                        <a:solidFill>
                          <a:schemeClr val="accent1">
                            <a:lumMod val="90000"/>
                          </a:schemeClr>
                        </a:solidFill>
                        <a:latin typeface="Cambria Math" panose="02040503050406030204" pitchFamily="18" charset="0"/>
                        <a:cs typeface="ヒラギノ角ゴ Pro W3"/>
                      </a:rPr>
                      <m:t>𝑏</m:t>
                    </m:r>
                    <m:r>
                      <a:rPr kumimoji="1" lang="en-US" altLang="ja-JP" sz="2800" b="0" i="1" smtClean="0">
                        <a:solidFill>
                          <a:schemeClr val="accent1">
                            <a:lumMod val="90000"/>
                          </a:schemeClr>
                        </a:solidFill>
                        <a:latin typeface="Cambria Math" panose="02040503050406030204" pitchFamily="18" charset="0"/>
                        <a:cs typeface="ヒラギノ角ゴ Pro W3"/>
                      </a:rPr>
                      <m:t>=</m:t>
                    </m:r>
                    <m:func>
                      <m:funcPr>
                        <m:ctrlPr>
                          <a:rPr kumimoji="1" lang="en-US" altLang="ja-JP" sz="2800" b="0" i="1" smtClean="0">
                            <a:solidFill>
                              <a:schemeClr val="accent1">
                                <a:lumMod val="90000"/>
                              </a:schemeClr>
                            </a:solidFill>
                            <a:latin typeface="Cambria Math" panose="02040503050406030204" pitchFamily="18" charset="0"/>
                            <a:cs typeface="ヒラギノ角ゴ Pro W3"/>
                          </a:rPr>
                        </m:ctrlPr>
                      </m:funcPr>
                      <m:fName>
                        <m:r>
                          <m:rPr>
                            <m:sty m:val="p"/>
                          </m:rPr>
                          <a:rPr kumimoji="1" lang="en-US" altLang="ja-JP" sz="2800" b="0" i="0" smtClean="0">
                            <a:solidFill>
                              <a:schemeClr val="accent1">
                                <a:lumMod val="90000"/>
                              </a:schemeClr>
                            </a:solidFill>
                            <a:latin typeface="Cambria Math" panose="02040503050406030204" pitchFamily="18" charset="0"/>
                            <a:cs typeface="ヒラギノ角ゴ Pro W3"/>
                          </a:rPr>
                          <m:t>min</m:t>
                        </m:r>
                      </m:fName>
                      <m:e>
                        <m:d>
                          <m:dPr>
                            <m:begChr m:val="{"/>
                            <m:endChr m:val="}"/>
                            <m:ctrlPr>
                              <a:rPr kumimoji="1" lang="en-US" altLang="ja-JP" sz="2800" b="0" i="1" smtClean="0">
                                <a:solidFill>
                                  <a:schemeClr val="accent1">
                                    <a:lumMod val="90000"/>
                                  </a:schemeClr>
                                </a:solidFill>
                                <a:latin typeface="Cambria Math" panose="02040503050406030204" pitchFamily="18" charset="0"/>
                                <a:cs typeface="ヒラギノ角ゴ Pro W3"/>
                              </a:rPr>
                            </m:ctrlPr>
                          </m:dPr>
                          <m:e>
                            <m:r>
                              <a:rPr kumimoji="1" lang="en-US" altLang="ja-JP" sz="2800" b="0" i="1" smtClean="0">
                                <a:solidFill>
                                  <a:schemeClr val="accent1">
                                    <a:lumMod val="90000"/>
                                  </a:schemeClr>
                                </a:solidFill>
                                <a:latin typeface="Cambria Math" panose="02040503050406030204" pitchFamily="18" charset="0"/>
                                <a:cs typeface="ヒラギノ角ゴ Pro W3"/>
                              </a:rPr>
                              <m:t>𝑎</m:t>
                            </m:r>
                            <m:r>
                              <a:rPr kumimoji="1" lang="en-US" altLang="ja-JP" sz="2800" b="0" i="1" smtClean="0">
                                <a:solidFill>
                                  <a:schemeClr val="accent1">
                                    <a:lumMod val="90000"/>
                                  </a:schemeClr>
                                </a:solidFill>
                                <a:latin typeface="Cambria Math" panose="02040503050406030204" pitchFamily="18" charset="0"/>
                                <a:cs typeface="ヒラギノ角ゴ Pro W3"/>
                              </a:rPr>
                              <m:t>,</m:t>
                            </m:r>
                            <m:r>
                              <a:rPr kumimoji="1" lang="en-US" altLang="ja-JP" sz="2800" b="0" i="1" smtClean="0">
                                <a:solidFill>
                                  <a:schemeClr val="accent1">
                                    <a:lumMod val="90000"/>
                                  </a:schemeClr>
                                </a:solidFill>
                                <a:latin typeface="Cambria Math" panose="02040503050406030204" pitchFamily="18" charset="0"/>
                                <a:cs typeface="ヒラギノ角ゴ Pro W3"/>
                              </a:rPr>
                              <m:t>𝑏</m:t>
                            </m:r>
                          </m:e>
                        </m:d>
                      </m:e>
                    </m:func>
                  </m:oMath>
                </a14:m>
                <a:r>
                  <a:rPr kumimoji="1" lang="en-US" altLang="ja-JP" sz="2800" dirty="0">
                    <a:solidFill>
                      <a:schemeClr val="accent1">
                        <a:lumMod val="90000"/>
                      </a:schemeClr>
                    </a:solidFill>
                  </a:rPr>
                  <a:t>)</a:t>
                </a:r>
                <a:endParaRPr kumimoji="1" lang="ja-JP" altLang="en-US" sz="2800">
                  <a:solidFill>
                    <a:schemeClr val="accent1">
                      <a:lumMod val="90000"/>
                    </a:schemeClr>
                  </a:solidFill>
                </a:endParaRPr>
              </a:p>
            </p:txBody>
          </p:sp>
        </mc:Choice>
        <mc:Fallback xmlns="">
          <p:sp>
            <p:nvSpPr>
              <p:cNvPr id="14" name="テキスト ボックス 13">
                <a:extLst>
                  <a:ext uri="{FF2B5EF4-FFF2-40B4-BE49-F238E27FC236}">
                    <a16:creationId xmlns:a16="http://schemas.microsoft.com/office/drawing/2014/main" id="{A76FB54F-AA43-B6ED-506A-8C1C423AD459}"/>
                  </a:ext>
                </a:extLst>
              </p:cNvPr>
              <p:cNvSpPr txBox="1">
                <a:spLocks noRot="1" noChangeAspect="1" noMove="1" noResize="1" noEditPoints="1" noAdjustHandles="1" noChangeArrowheads="1" noChangeShapeType="1" noTextEdit="1"/>
              </p:cNvSpPr>
              <p:nvPr/>
            </p:nvSpPr>
            <p:spPr>
              <a:xfrm>
                <a:off x="1574915" y="6073170"/>
                <a:ext cx="3099566" cy="523220"/>
              </a:xfrm>
              <a:prstGeom prst="rect">
                <a:avLst/>
              </a:prstGeom>
              <a:blipFill>
                <a:blip r:embed="rId6"/>
                <a:stretch>
                  <a:fillRect l="-4065" t="-11905" r="-2033" b="-285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EC7DCC4F-D646-84AD-976A-E40FE45784E6}"/>
                  </a:ext>
                </a:extLst>
              </p:cNvPr>
              <p:cNvSpPr txBox="1"/>
              <p:nvPr/>
            </p:nvSpPr>
            <p:spPr>
              <a:xfrm>
                <a:off x="1443346" y="3418338"/>
                <a:ext cx="6034601" cy="1232453"/>
              </a:xfrm>
              <a:prstGeom prst="rect">
                <a:avLst/>
              </a:prstGeom>
              <a:noFill/>
            </p:spPr>
            <p:txBody>
              <a:bodyPr wrap="none" rtlCol="0">
                <a:spAutoFit/>
              </a:bodyPr>
              <a:lstStyle/>
              <a:p>
                <a:pPr/>
                <a:r>
                  <a:rPr kumimoji="1" lang="en-US" altLang="ja-JP" sz="3200" b="0" dirty="0">
                    <a:ea typeface="ヒラギノ角ゴ Pro W3"/>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ea typeface="ヒラギノ角ゴ Pro W3"/>
                            <a:cs typeface="ヒラギノ角ゴ Pro W3"/>
                          </a:rPr>
                        </m:ctrlPr>
                      </m:sSubPr>
                      <m:e>
                        <m:r>
                          <a:rPr kumimoji="1" lang="en-US" altLang="ja-JP" sz="3200" b="0" i="1" smtClean="0">
                            <a:latin typeface="Cambria Math" panose="02040503050406030204" pitchFamily="18" charset="0"/>
                            <a:ea typeface="ヒラギノ角ゴ Pro W3"/>
                            <a:cs typeface="ヒラギノ角ゴ Pro W3"/>
                          </a:rPr>
                          <m:t>𝑍</m:t>
                        </m:r>
                      </m:e>
                      <m:sub>
                        <m:r>
                          <a:rPr kumimoji="1" lang="en-US" altLang="ja-JP" sz="3200" b="0" i="1" smtClean="0">
                            <a:latin typeface="Cambria Math" panose="02040503050406030204" pitchFamily="18" charset="0"/>
                            <a:ea typeface="ヒラギノ角ゴ Pro W3"/>
                            <a:cs typeface="ヒラギノ角ゴ Pro W3"/>
                          </a:rPr>
                          <m:t>𝑘𝑗</m:t>
                        </m:r>
                      </m:sub>
                    </m:sSub>
                    <m:r>
                      <a:rPr kumimoji="1" lang="en-US" altLang="ja-JP" sz="3200" b="0" i="1" smtClean="0">
                        <a:latin typeface="Cambria Math" panose="02040503050406030204" pitchFamily="18" charset="0"/>
                        <a:ea typeface="ヒラギノ角ゴ Pro W3"/>
                        <a:cs typeface="ヒラギノ角ゴ Pro W3"/>
                      </a:rPr>
                      <m:t>       =</m:t>
                    </m:r>
                    <m:func>
                      <m:funcPr>
                        <m:ctrlPr>
                          <a:rPr kumimoji="1" lang="en-US" altLang="ja-JP" sz="3200" b="0" i="1" smtClean="0">
                            <a:latin typeface="Cambria Math" panose="02040503050406030204" pitchFamily="18" charset="0"/>
                            <a:ea typeface="ヒラギノ角ゴ Pro W3"/>
                            <a:cs typeface="ヒラギノ角ゴ Pro W3"/>
                          </a:rPr>
                        </m:ctrlPr>
                      </m:funcPr>
                      <m:fName>
                        <m:r>
                          <m:rPr>
                            <m:sty m:val="p"/>
                          </m:rPr>
                          <a:rPr kumimoji="1" lang="en-US" altLang="ja-JP" sz="3200" b="0" i="0" smtClean="0">
                            <a:latin typeface="Cambria Math" panose="02040503050406030204" pitchFamily="18" charset="0"/>
                            <a:ea typeface="ヒラギノ角ゴ Pro W3"/>
                            <a:cs typeface="ヒラギノ角ゴ Pro W3"/>
                          </a:rPr>
                          <m:t>inf</m:t>
                        </m:r>
                      </m:fName>
                      <m:e>
                        <m:d>
                          <m:dPr>
                            <m:begChr m:val="{"/>
                            <m:endChr m:val="}"/>
                            <m:ctrlPr>
                              <a:rPr kumimoji="1" lang="en-US" altLang="ja-JP" sz="3200" b="0" i="1" smtClean="0">
                                <a:latin typeface="Cambria Math" panose="02040503050406030204" pitchFamily="18" charset="0"/>
                                <a:ea typeface="ヒラギノ角ゴ Pro W3"/>
                                <a:cs typeface="ヒラギノ角ゴ Pro W3"/>
                              </a:rPr>
                            </m:ctrlPr>
                          </m:dPr>
                          <m:e>
                            <m:r>
                              <a:rPr kumimoji="1" lang="en-US" altLang="ja-JP" sz="3200" b="0" i="1" smtClean="0">
                                <a:latin typeface="Cambria Math" panose="02040503050406030204" pitchFamily="18" charset="0"/>
                                <a:ea typeface="ヒラギノ角ゴ Pro W3"/>
                                <a:cs typeface="ヒラギノ角ゴ Pro W3"/>
                              </a:rPr>
                              <m:t>𝑐</m:t>
                            </m:r>
                            <m:r>
                              <a:rPr lang="en-US" altLang="ja-JP" sz="3200" b="0" i="1" smtClean="0">
                                <a:latin typeface="Cambria Math" panose="02040503050406030204" pitchFamily="18" charset="0"/>
                                <a:ea typeface="Cambria Math" panose="02040503050406030204" pitchFamily="18" charset="0"/>
                              </a:rPr>
                              <m:t>:</m:t>
                            </m:r>
                            <m:sSub>
                              <m:sSubPr>
                                <m:ctrlPr>
                                  <a:rPr lang="en-US" altLang="ja-JP" sz="3200" b="1" i="1" smtClean="0">
                                    <a:latin typeface="Cambria Math" panose="02040503050406030204" pitchFamily="18" charset="0"/>
                                    <a:ea typeface="ヒラギノ角ゴ Pro W3"/>
                                  </a:rPr>
                                </m:ctrlPr>
                              </m:sSubPr>
                              <m:e>
                                <m:acc>
                                  <m:accPr>
                                    <m:chr m:val="̂"/>
                                    <m:ctrlPr>
                                      <a:rPr lang="ja-JP" altLang="en-US" sz="3200" i="1">
                                        <a:latin typeface="Cambria Math" panose="02040503050406030204" pitchFamily="18" charset="0"/>
                                        <a:ea typeface="ヒラギノ角ゴ Pro W3"/>
                                      </a:rPr>
                                    </m:ctrlPr>
                                  </m:accPr>
                                  <m:e>
                                    <m:r>
                                      <a:rPr lang="en-US" altLang="ja-JP" sz="3200" b="0" i="1" smtClean="0">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𝑘𝑗</m:t>
                                </m:r>
                              </m:sub>
                            </m:sSub>
                            <m:d>
                              <m:dPr>
                                <m:ctrlPr>
                                  <a:rPr lang="en-US" altLang="ja-JP" sz="3200" i="1">
                                    <a:latin typeface="Cambria Math" panose="02040503050406030204" pitchFamily="18" charset="0"/>
                                    <a:ea typeface="ヒラギノ角ゴ Pro W3"/>
                                  </a:rPr>
                                </m:ctrlPr>
                              </m:dPr>
                              <m:e>
                                <m:r>
                                  <a:rPr lang="en-US" altLang="ja-JP" sz="3200" b="0" i="1" smtClean="0">
                                    <a:latin typeface="Cambria Math" panose="02040503050406030204" pitchFamily="18" charset="0"/>
                                    <a:ea typeface="ヒラギノ角ゴ Pro W3"/>
                                  </a:rPr>
                                  <m:t>𝑐</m:t>
                                </m:r>
                              </m:e>
                            </m:d>
                            <m:r>
                              <a:rPr lang="en-US" altLang="ja-JP" sz="320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0</m:t>
                            </m:r>
                          </m:e>
                        </m:d>
                        <m:r>
                          <a:rPr lang="en-US" altLang="ja-JP" sz="3200" b="0" i="1" smtClean="0">
                            <a:latin typeface="Cambria Math" panose="02040503050406030204" pitchFamily="18" charset="0"/>
                            <a:ea typeface="Cambria Math" panose="02040503050406030204" pitchFamily="18" charset="0"/>
                          </a:rPr>
                          <m:t>, </m:t>
                        </m:r>
                      </m:e>
                    </m:func>
                  </m:oMath>
                </a14:m>
                <a:br>
                  <a:rPr lang="en-US" altLang="ja-JP" sz="3200" b="0" i="1" dirty="0">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kumimoji="1" lang="en-US" altLang="ja-JP" sz="3200" i="1">
                              <a:latin typeface="Cambria Math" panose="02040503050406030204" pitchFamily="18" charset="0"/>
                              <a:ea typeface="ヒラギノ角ゴ Pro W3"/>
                            </a:rPr>
                          </m:ctrlPr>
                        </m:sSubPr>
                        <m:e>
                          <m:acc>
                            <m:accPr>
                              <m:chr m:val="̃"/>
                              <m:ctrlPr>
                                <a:rPr kumimoji="1" lang="en-US" altLang="ja-JP" sz="3200" i="1">
                                  <a:latin typeface="Cambria Math" panose="02040503050406030204" pitchFamily="18" charset="0"/>
                                  <a:ea typeface="ヒラギノ角ゴ Pro W3"/>
                                </a:rPr>
                              </m:ctrlPr>
                            </m:accPr>
                            <m:e>
                              <m:r>
                                <a:rPr kumimoji="1" lang="en-US" altLang="ja-JP" sz="3200" i="1">
                                  <a:latin typeface="Cambria Math" panose="02040503050406030204" pitchFamily="18" charset="0"/>
                                  <a:ea typeface="ヒラギノ角ゴ Pro W3"/>
                                </a:rPr>
                                <m:t>𝑍</m:t>
                              </m:r>
                            </m:e>
                          </m:acc>
                        </m:e>
                        <m:sub>
                          <m:r>
                            <a:rPr kumimoji="1" lang="en-US" altLang="ja-JP" sz="3200" b="0" i="1" smtClean="0">
                              <a:latin typeface="Cambria Math" panose="02040503050406030204" pitchFamily="18" charset="0"/>
                              <a:ea typeface="ヒラギノ角ゴ Pro W3"/>
                            </a:rPr>
                            <m:t>𝑘</m:t>
                          </m:r>
                          <m:r>
                            <a:rPr kumimoji="1" lang="en-US" altLang="ja-JP" sz="3200" b="0" i="1" smtClean="0">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𝑗</m:t>
                          </m:r>
                          <m:r>
                            <a:rPr kumimoji="1" lang="en-US" altLang="ja-JP" sz="3200" i="1">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𝑝</m:t>
                          </m:r>
                          <m:r>
                            <a:rPr kumimoji="1" lang="en-US" altLang="ja-JP" sz="3200" b="0" i="1" smtClean="0">
                              <a:latin typeface="Cambria Math" panose="02040503050406030204" pitchFamily="18" charset="0"/>
                              <a:ea typeface="ヒラギノ角ゴ Pro W3"/>
                            </a:rPr>
                            <m:t>)</m:t>
                          </m:r>
                        </m:sub>
                      </m:sSub>
                      <m:r>
                        <m:rPr>
                          <m:aln/>
                        </m:rPr>
                        <a:rPr kumimoji="1" lang="en-US" altLang="ja-JP" sz="3200" i="1">
                          <a:latin typeface="Cambria Math" panose="02040503050406030204" pitchFamily="18" charset="0"/>
                          <a:ea typeface="ヒラギノ角ゴ Pro W3"/>
                          <a:cs typeface="ヒラギノ角ゴ Pro W3"/>
                        </a:rPr>
                        <m:t>=</m:t>
                      </m:r>
                      <m:func>
                        <m:funcPr>
                          <m:ctrlPr>
                            <a:rPr kumimoji="1" lang="en-US" altLang="ja-JP" sz="3200" i="1">
                              <a:latin typeface="Cambria Math" panose="02040503050406030204" pitchFamily="18" charset="0"/>
                              <a:ea typeface="ヒラギノ角ゴ Pro W3"/>
                              <a:cs typeface="ヒラギノ角ゴ Pro W3"/>
                            </a:rPr>
                          </m:ctrlPr>
                        </m:funcPr>
                        <m:fName>
                          <m:r>
                            <m:rPr>
                              <m:sty m:val="p"/>
                            </m:rPr>
                            <a:rPr kumimoji="1" lang="en-US" altLang="ja-JP" sz="3200">
                              <a:latin typeface="Cambria Math" panose="02040503050406030204" pitchFamily="18" charset="0"/>
                              <a:ea typeface="ヒラギノ角ゴ Pro W3"/>
                              <a:cs typeface="ヒラギノ角ゴ Pro W3"/>
                            </a:rPr>
                            <m:t>inf</m:t>
                          </m:r>
                        </m:fName>
                        <m:e>
                          <m:d>
                            <m:dPr>
                              <m:begChr m:val="{"/>
                              <m:endChr m:val="}"/>
                              <m:ctrlPr>
                                <a:rPr kumimoji="1" lang="en-US" altLang="ja-JP" sz="3200" i="1">
                                  <a:latin typeface="Cambria Math" panose="02040503050406030204" pitchFamily="18" charset="0"/>
                                  <a:ea typeface="ヒラギノ角ゴ Pro W3"/>
                                  <a:cs typeface="ヒラギノ角ゴ Pro W3"/>
                                </a:rPr>
                              </m:ctrlPr>
                            </m:dPr>
                            <m:e>
                              <m:r>
                                <a:rPr kumimoji="1" lang="en-US" altLang="ja-JP" sz="3200" i="1">
                                  <a:latin typeface="Cambria Math" panose="02040503050406030204" pitchFamily="18" charset="0"/>
                                  <a:ea typeface="ヒラギノ角ゴ Pro W3"/>
                                  <a:cs typeface="ヒラギノ角ゴ Pro W3"/>
                                </a:rPr>
                                <m:t>𝑐</m:t>
                              </m:r>
                              <m:r>
                                <a:rPr lang="en-US" altLang="ja-JP" sz="3200" i="1">
                                  <a:latin typeface="Cambria Math" panose="02040503050406030204" pitchFamily="18" charset="0"/>
                                  <a:ea typeface="Cambria Math" panose="02040503050406030204" pitchFamily="18" charset="0"/>
                                </a:rPr>
                                <m:t>:</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ja-JP" altLang="en-US" sz="3200" i="1">
                                          <a:latin typeface="Cambria Math" panose="02040503050406030204" pitchFamily="18" charset="0"/>
                                          <a:ea typeface="ヒラギノ角ゴ Pro W3"/>
                                        </a:rPr>
                                      </m:ctrlPr>
                                    </m:accPr>
                                    <m:e>
                                      <m:r>
                                        <a:rPr lang="en-US" altLang="ja-JP" sz="3200" i="1">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m:t>
                                  </m:r>
                                  <m:r>
                                    <a:rPr lang="en-US" altLang="ja-JP" sz="3200" b="0" i="1" smtClean="0">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𝑗</m:t>
                                  </m:r>
                                  <m:r>
                                    <a:rPr lang="en-US" altLang="ja-JP" sz="3200" i="1">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𝑝</m:t>
                                  </m:r>
                                  <m:r>
                                    <a:rPr lang="en-US" altLang="ja-JP" sz="3200" b="0" i="1" smtClean="0">
                                      <a:latin typeface="Cambria Math" panose="02040503050406030204" pitchFamily="18" charset="0"/>
                                      <a:ea typeface="ヒラギノ角ゴ Pro W3"/>
                                    </a:rPr>
                                    <m:t>)</m:t>
                                  </m:r>
                                </m:sub>
                              </m:sSub>
                              <m:d>
                                <m:dPr>
                                  <m:ctrlPr>
                                    <a:rPr lang="en-US" altLang="ja-JP" sz="3200" i="1">
                                      <a:latin typeface="Cambria Math" panose="02040503050406030204" pitchFamily="18" charset="0"/>
                                      <a:ea typeface="ヒラギノ角ゴ Pro W3"/>
                                    </a:rPr>
                                  </m:ctrlPr>
                                </m:dPr>
                                <m:e>
                                  <m:r>
                                    <a:rPr lang="en-US" altLang="ja-JP" sz="3200" i="1">
                                      <a:latin typeface="Cambria Math" panose="02040503050406030204" pitchFamily="18" charset="0"/>
                                      <a:ea typeface="ヒラギノ角ゴ Pro W3"/>
                                    </a:rPr>
                                    <m:t>𝑐</m:t>
                                  </m:r>
                                </m:e>
                              </m:d>
                              <m:r>
                                <a:rPr lang="en-US" altLang="ja-JP" sz="3200" i="1">
                                  <a:latin typeface="Cambria Math" panose="02040503050406030204" pitchFamily="18" charset="0"/>
                                  <a:ea typeface="Cambria Math" panose="02040503050406030204" pitchFamily="18" charset="0"/>
                                </a:rPr>
                                <m:t>≠0</m:t>
                              </m:r>
                            </m:e>
                          </m:d>
                          <m:r>
                            <a:rPr lang="en-US" altLang="ja-JP" sz="3200" i="1">
                              <a:latin typeface="Cambria Math" panose="02040503050406030204" pitchFamily="18" charset="0"/>
                              <a:ea typeface="Cambria Math" panose="02040503050406030204" pitchFamily="18" charset="0"/>
                            </a:rPr>
                            <m:t>, </m:t>
                          </m:r>
                        </m:e>
                      </m:func>
                    </m:oMath>
                  </m:oMathPara>
                </a14:m>
                <a:br>
                  <a:rPr lang="en-US" altLang="ja-JP" sz="3200" dirty="0">
                    <a:ea typeface="Cambria Math" panose="02040503050406030204" pitchFamily="18" charset="0"/>
                  </a:rPr>
                </a:br>
                <a:endParaRPr kumimoji="1" lang="ja-JP" altLang="en-US" sz="3200"/>
              </a:p>
            </p:txBody>
          </p:sp>
        </mc:Choice>
        <mc:Fallback xmlns="">
          <p:sp>
            <p:nvSpPr>
              <p:cNvPr id="7" name="テキスト ボックス 6">
                <a:extLst>
                  <a:ext uri="{FF2B5EF4-FFF2-40B4-BE49-F238E27FC236}">
                    <a16:creationId xmlns:a16="http://schemas.microsoft.com/office/drawing/2014/main" id="{EC7DCC4F-D646-84AD-976A-E40FE45784E6}"/>
                  </a:ext>
                </a:extLst>
              </p:cNvPr>
              <p:cNvSpPr txBox="1">
                <a:spLocks noRot="1" noChangeAspect="1" noMove="1" noResize="1" noEditPoints="1" noAdjustHandles="1" noChangeArrowheads="1" noChangeShapeType="1" noTextEdit="1"/>
              </p:cNvSpPr>
              <p:nvPr/>
            </p:nvSpPr>
            <p:spPr>
              <a:xfrm>
                <a:off x="1443346" y="3418338"/>
                <a:ext cx="6034601" cy="1232453"/>
              </a:xfrm>
              <a:prstGeom prst="rect">
                <a:avLst/>
              </a:prstGeom>
              <a:blipFill>
                <a:blip r:embed="rId7"/>
                <a:stretch>
                  <a:fillRect t="-2041" b="-7143"/>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A72F2030-679C-3502-2C03-C818C502B293}"/>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17/28</a:t>
            </a:r>
            <a:endParaRPr kumimoji="1" lang="ja-JP" altLang="en-US" sz="2800">
              <a:latin typeface="+mj-ea"/>
              <a:ea typeface="+mj-ea"/>
            </a:endParaRPr>
          </a:p>
        </p:txBody>
      </p:sp>
    </p:spTree>
    <p:extLst>
      <p:ext uri="{BB962C8B-B14F-4D97-AF65-F5344CB8AC3E}">
        <p14:creationId xmlns:p14="http://schemas.microsoft.com/office/powerpoint/2010/main" val="3624767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CB364-1729-9F1F-3AF6-A5869A56E3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コンテンツ プレースホルダー 2">
                <a:extLst>
                  <a:ext uri="{FF2B5EF4-FFF2-40B4-BE49-F238E27FC236}">
                    <a16:creationId xmlns:a16="http://schemas.microsoft.com/office/drawing/2014/main" id="{ED4C8698-497D-896A-CFDE-21B6E6F0A94C}"/>
                  </a:ext>
                </a:extLst>
              </p:cNvPr>
              <p:cNvSpPr>
                <a:spLocks noGrp="1"/>
              </p:cNvSpPr>
              <p:nvPr>
                <p:ph idx="1"/>
              </p:nvPr>
            </p:nvSpPr>
            <p:spPr>
              <a:xfrm>
                <a:off x="10232" y="1161341"/>
                <a:ext cx="12171534" cy="5678129"/>
              </a:xfrm>
            </p:spPr>
            <p:txBody>
              <a:bodyPr>
                <a:no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2. </a:t>
                </a:r>
                <a:r>
                  <a:rPr lang="ja-JP" altLang="en-US" sz="3200">
                    <a:solidFill>
                      <a:srgbClr val="7030A0"/>
                    </a:solidFill>
                    <a:latin typeface="+mn-ea"/>
                    <a:cs typeface="ヒラギノ角ゴ Pro W3"/>
                  </a:rPr>
                  <a:t>　</a:t>
                </a:r>
                <a:r>
                  <a:rPr kumimoji="1" lang="ja-JP" altLang="en-US" sz="3200">
                    <a:solidFill>
                      <a:srgbClr val="7030A0"/>
                    </a:solidFill>
                    <a:latin typeface="+mn-ea"/>
                    <a:cs typeface="ヒラギノ角ゴ Pro W3"/>
                  </a:rPr>
                  <a:t>統計量</a:t>
                </a:r>
                <a14:m>
                  <m:oMath xmlns:m="http://schemas.openxmlformats.org/officeDocument/2006/math">
                    <m:sSub>
                      <m:sSubPr>
                        <m:ctrlPr>
                          <a:rPr kumimoji="1" lang="en-US" altLang="ja-JP" sz="3200" b="0" i="1" smtClean="0">
                            <a:solidFill>
                              <a:srgbClr val="7030A0"/>
                            </a:solidFill>
                            <a:latin typeface="Cambria Math" panose="02040503050406030204" pitchFamily="18" charset="0"/>
                            <a:cs typeface="ヒラギノ角ゴ Pro W3"/>
                          </a:rPr>
                        </m:ctrlPr>
                      </m:sSubPr>
                      <m:e>
                        <m:r>
                          <a:rPr kumimoji="1" lang="en-US" altLang="ja-JP" sz="3200" b="1" i="1" smtClean="0">
                            <a:solidFill>
                              <a:srgbClr val="7030A0"/>
                            </a:solidFill>
                            <a:latin typeface="Cambria Math" panose="02040503050406030204" pitchFamily="18" charset="0"/>
                            <a:cs typeface="ヒラギノ角ゴ Pro W3"/>
                          </a:rPr>
                          <m:t>𝑾</m:t>
                        </m:r>
                      </m:e>
                      <m:sub>
                        <m:r>
                          <a:rPr kumimoji="1" lang="en-US" altLang="ja-JP" sz="3200" b="0" i="1" smtClean="0">
                            <a:solidFill>
                              <a:srgbClr val="7030A0"/>
                            </a:solidFill>
                            <a:latin typeface="Cambria Math" panose="02040503050406030204" pitchFamily="18" charset="0"/>
                            <a:cs typeface="ヒラギノ角ゴ Pro W3"/>
                          </a:rPr>
                          <m:t>𝑘</m:t>
                        </m:r>
                      </m:sub>
                    </m:sSub>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400" dirty="0">
                  <a:solidFill>
                    <a:srgbClr val="7030A0"/>
                  </a:solidFill>
                  <a:latin typeface="+mn-ea"/>
                  <a:cs typeface="ヒラギノ角ゴ Pro W3"/>
                </a:endParaRPr>
              </a:p>
              <a:p>
                <a:pPr marL="0" indent="0">
                  <a:buNone/>
                </a:pPr>
                <a:r>
                  <a:rPr lang="ja-JP" altLang="en-US">
                    <a:latin typeface="+mn-ea"/>
                    <a:cs typeface="ヒラギノ角ゴ Pro W3"/>
                  </a:rPr>
                  <a:t>・</a:t>
                </a:r>
                <a:r>
                  <a:rPr kumimoji="1" lang="en-US" altLang="ja-JP" dirty="0" err="1">
                    <a:latin typeface="+mn-ea"/>
                    <a:cs typeface="ヒラギノ角ゴ Pro W3"/>
                  </a:rPr>
                  <a:t>SCoTLASS</a:t>
                </a:r>
                <a:r>
                  <a:rPr kumimoji="1" lang="ja-JP" altLang="en-US">
                    <a:latin typeface="+mn-ea"/>
                    <a:cs typeface="ヒラギノ角ゴ Pro W3"/>
                  </a:rPr>
                  <a:t>の拡張版</a:t>
                </a:r>
                <a:r>
                  <a:rPr kumimoji="1" lang="en-US" altLang="ja-JP" dirty="0">
                    <a:latin typeface="+mn-ea"/>
                    <a:cs typeface="ヒラギノ角ゴ Pro W3"/>
                  </a:rPr>
                  <a:t> </a:t>
                </a:r>
                <a14:m>
                  <m:oMath xmlns:m="http://schemas.openxmlformats.org/officeDocument/2006/math">
                    <m:r>
                      <m:rPr>
                        <m:nor/>
                      </m:rPr>
                      <a:rPr lang="en-US" altLang="ja-JP" dirty="0" smtClean="0">
                        <a:latin typeface="+mn-ea"/>
                        <a:cs typeface="ヒラギノ角ゴ Pro W3"/>
                      </a:rPr>
                      <m:t>(</m:t>
                    </m:r>
                    <m:r>
                      <m:rPr>
                        <m:nor/>
                      </m:rPr>
                      <a:rPr lang="en-US" altLang="ja-JP" dirty="0" smtClean="0">
                        <a:latin typeface="+mn-ea"/>
                        <a:cs typeface="ヒラギノ角ゴ Pro W3"/>
                      </a:rPr>
                      <m:t>Witten</m:t>
                    </m:r>
                    <m:r>
                      <m:rPr>
                        <m:nor/>
                      </m:rPr>
                      <a:rPr lang="en-US" altLang="ja-JP" dirty="0" smtClean="0">
                        <a:latin typeface="+mn-ea"/>
                        <a:cs typeface="ヒラギノ角ゴ Pro W3"/>
                      </a:rPr>
                      <m:t> </m:t>
                    </m:r>
                    <m:r>
                      <m:rPr>
                        <m:nor/>
                      </m:rPr>
                      <a:rPr lang="en-US" altLang="ja-JP" dirty="0" smtClean="0">
                        <a:latin typeface="+mn-ea"/>
                        <a:cs typeface="ヒラギノ角ゴ Pro W3"/>
                      </a:rPr>
                      <m:t>et</m:t>
                    </m:r>
                    <m:r>
                      <m:rPr>
                        <m:nor/>
                      </m:rPr>
                      <a:rPr lang="en-US" altLang="ja-JP" dirty="0" smtClean="0">
                        <a:latin typeface="+mn-ea"/>
                        <a:cs typeface="ヒラギノ角ゴ Pro W3"/>
                      </a:rPr>
                      <m:t> </m:t>
                    </m:r>
                    <m:r>
                      <m:rPr>
                        <m:nor/>
                      </m:rPr>
                      <a:rPr lang="en-US" altLang="ja-JP" dirty="0" smtClean="0">
                        <a:latin typeface="+mn-ea"/>
                        <a:cs typeface="ヒラギノ角ゴ Pro W3"/>
                      </a:rPr>
                      <m:t>al</m:t>
                    </m:r>
                    <m:r>
                      <m:rPr>
                        <m:nor/>
                      </m:rPr>
                      <a:rPr lang="en-US" altLang="ja-JP" dirty="0" smtClean="0">
                        <a:latin typeface="+mn-ea"/>
                        <a:cs typeface="ヒラギノ角ゴ Pro W3"/>
                      </a:rPr>
                      <m:t>., 2009)</m:t>
                    </m:r>
                  </m:oMath>
                </a14:m>
                <a:endParaRPr kumimoji="1" lang="en-US" altLang="ja-JP" dirty="0">
                  <a:latin typeface="+mn-ea"/>
                  <a:cs typeface="ヒラギノ角ゴ Pro W3"/>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acc>
                            <m:accPr>
                              <m:chr m:val="̂"/>
                              <m:ctrlPr>
                                <a:rPr lang="en-US" altLang="ja-JP" sz="3200" b="0" i="1" smtClean="0">
                                  <a:latin typeface="Cambria Math" panose="02040503050406030204" pitchFamily="18" charset="0"/>
                                </a:rPr>
                              </m:ctrlPr>
                            </m:accPr>
                            <m:e>
                              <m:r>
                                <a:rPr lang="en-US" altLang="ja-JP" sz="3200" b="1" i="1" smtClean="0">
                                  <a:latin typeface="Cambria Math" panose="02040503050406030204" pitchFamily="18" charset="0"/>
                                </a:rPr>
                                <m:t>𝒗</m:t>
                              </m:r>
                            </m:e>
                          </m:acc>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m:t>
                      </m:r>
                      <m:func>
                        <m:funcPr>
                          <m:ctrlPr>
                            <a:rPr lang="en-US" altLang="ja-JP" sz="3200" i="1" smtClean="0">
                              <a:latin typeface="Cambria Math" panose="02040503050406030204" pitchFamily="18" charset="0"/>
                            </a:rPr>
                          </m:ctrlPr>
                        </m:funcPr>
                        <m:fName>
                          <m:limLow>
                            <m:limLowPr>
                              <m:ctrlPr>
                                <a:rPr lang="en-US" altLang="ja-JP" sz="3200" i="1">
                                  <a:latin typeface="Cambria Math" panose="02040503050406030204" pitchFamily="18" charset="0"/>
                                </a:rPr>
                              </m:ctrlPr>
                            </m:limLowPr>
                            <m:e>
                              <m:r>
                                <m:rPr>
                                  <m:sty m:val="p"/>
                                </m:rPr>
                                <a:rPr lang="en-US" altLang="ja-JP" sz="3200" b="0" i="0" smtClean="0">
                                  <a:latin typeface="Cambria Math" panose="02040503050406030204" pitchFamily="18" charset="0"/>
                                </a:rPr>
                                <m:t>argmax</m:t>
                              </m:r>
                            </m:e>
                            <m:lim>
                              <m:r>
                                <a:rPr lang="en-US" altLang="ja-JP" sz="3200" b="1" i="1" smtClean="0">
                                  <a:latin typeface="Cambria Math" panose="02040503050406030204" pitchFamily="18" charset="0"/>
                                </a:rPr>
                                <m:t> </m:t>
                              </m:r>
                              <m:r>
                                <a:rPr lang="en-US" altLang="ja-JP" sz="3200" b="1" i="1" smtClean="0">
                                  <a:latin typeface="Cambria Math" panose="02040503050406030204" pitchFamily="18" charset="0"/>
                                </a:rPr>
                                <m:t>𝒗</m:t>
                              </m:r>
                            </m:lim>
                          </m:limLow>
                        </m:fName>
                        <m:e>
                          <m:sSubSup>
                            <m:sSubSupPr>
                              <m:ctrlPr>
                                <a:rPr lang="en-US" altLang="ja-JP" sz="3200" b="0" i="1" smtClean="0">
                                  <a:latin typeface="Cambria Math" panose="02040503050406030204" pitchFamily="18" charset="0"/>
                                  <a:ea typeface="Cambria Math" panose="02040503050406030204" pitchFamily="18" charset="0"/>
                                </a:rPr>
                              </m:ctrlPr>
                            </m:sSubSupPr>
                            <m:e>
                              <m:r>
                                <a:rPr lang="en-US" altLang="ja-JP" sz="3200" b="1" i="1" smtClean="0">
                                  <a:latin typeface="Cambria Math" panose="02040503050406030204" pitchFamily="18" charset="0"/>
                                  <a:ea typeface="Cambria Math" panose="02040503050406030204" pitchFamily="18" charset="0"/>
                                </a:rPr>
                                <m:t>𝒗</m:t>
                              </m:r>
                            </m:e>
                            <m:sub>
                              <m:r>
                                <a:rPr lang="en-US" altLang="ja-JP" sz="3200" b="0" i="1" smtClean="0">
                                  <a:latin typeface="Cambria Math" panose="02040503050406030204" pitchFamily="18" charset="0"/>
                                  <a:ea typeface="Cambria Math" panose="02040503050406030204" pitchFamily="18" charset="0"/>
                                </a:rPr>
                                <m:t>𝑘</m:t>
                              </m:r>
                            </m:sub>
                            <m:sup>
                              <m:r>
                                <a:rPr lang="en-US" altLang="ja-JP" sz="3200" b="0" i="1" smtClean="0">
                                  <a:latin typeface="Cambria Math" panose="02040503050406030204" pitchFamily="18" charset="0"/>
                                  <a:ea typeface="Cambria Math" panose="02040503050406030204" pitchFamily="18" charset="0"/>
                                </a:rPr>
                                <m:t>𝑇</m:t>
                              </m:r>
                            </m:sup>
                          </m:sSubSup>
                          <m:sSup>
                            <m:sSupPr>
                              <m:ctrlPr>
                                <a:rPr lang="en-US" altLang="ja-JP" sz="3200" b="0" i="1" smtClean="0">
                                  <a:latin typeface="Cambria Math" panose="02040503050406030204" pitchFamily="18" charset="0"/>
                                  <a:ea typeface="Cambria Math" panose="02040503050406030204" pitchFamily="18" charset="0"/>
                                </a:rPr>
                              </m:ctrlPr>
                            </m:sSupPr>
                            <m:e>
                              <m:d>
                                <m:dPr>
                                  <m:begChr m:val="["/>
                                  <m:endChr m:val="]"/>
                                  <m:ctrlPr>
                                    <a:rPr lang="en-US" altLang="ja-JP" sz="3200" b="0" i="1" smtClean="0">
                                      <a:latin typeface="Cambria Math" panose="02040503050406030204" pitchFamily="18" charset="0"/>
                                      <a:ea typeface="Cambria Math" panose="02040503050406030204" pitchFamily="18" charset="0"/>
                                    </a:rPr>
                                  </m:ctrlPr>
                                </m:dPr>
                                <m:e>
                                  <m:r>
                                    <a:rPr lang="en-US" altLang="ja-JP" sz="3200" b="0" i="1" smtClean="0">
                                      <a:latin typeface="Cambria Math" panose="02040503050406030204" pitchFamily="18" charset="0"/>
                                      <a:ea typeface="Cambria Math" panose="02040503050406030204" pitchFamily="18" charset="0"/>
                                    </a:rPr>
                                    <m:t>𝑋</m:t>
                                  </m:r>
                                  <m:r>
                                    <a:rPr lang="en-US" altLang="ja-JP" sz="3200" b="0" i="1" smtClean="0">
                                      <a:latin typeface="Cambria Math" panose="02040503050406030204" pitchFamily="18" charset="0"/>
                                      <a:ea typeface="Cambria Math" panose="02040503050406030204" pitchFamily="18" charset="0"/>
                                    </a:rPr>
                                    <m:t>,</m:t>
                                  </m:r>
                                  <m:acc>
                                    <m:accPr>
                                      <m:chr m:val="̃"/>
                                      <m:ctrlPr>
                                        <a:rPr lang="en-US" altLang="ja-JP" sz="3200" b="0" i="1" smtClean="0">
                                          <a:latin typeface="Cambria Math" panose="02040503050406030204" pitchFamily="18" charset="0"/>
                                          <a:ea typeface="Cambria Math" panose="02040503050406030204" pitchFamily="18" charset="0"/>
                                        </a:rPr>
                                      </m:ctrlPr>
                                    </m:accPr>
                                    <m:e>
                                      <m:r>
                                        <a:rPr lang="en-US" altLang="ja-JP" sz="3200" b="0" i="1" smtClean="0">
                                          <a:latin typeface="Cambria Math" panose="02040503050406030204" pitchFamily="18" charset="0"/>
                                          <a:ea typeface="Cambria Math" panose="02040503050406030204" pitchFamily="18" charset="0"/>
                                        </a:rPr>
                                        <m:t>𝑋</m:t>
                                      </m:r>
                                    </m:e>
                                  </m:acc>
                                </m:e>
                              </m:d>
                            </m:e>
                            <m:sup>
                              <m:r>
                                <a:rPr lang="en-US" altLang="ja-JP" sz="3200" b="0" i="1" smtClean="0">
                                  <a:latin typeface="Cambria Math" panose="02040503050406030204" pitchFamily="18" charset="0"/>
                                  <a:ea typeface="Cambria Math" panose="02040503050406030204" pitchFamily="18" charset="0"/>
                                </a:rPr>
                                <m:t>𝑇</m:t>
                              </m:r>
                            </m:sup>
                          </m:sSup>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𝑋</m:t>
                          </m:r>
                          <m:r>
                            <a:rPr lang="en-US" altLang="ja-JP" sz="3200" i="1">
                              <a:latin typeface="Cambria Math" panose="02040503050406030204" pitchFamily="18" charset="0"/>
                              <a:ea typeface="Cambria Math" panose="02040503050406030204" pitchFamily="18" charset="0"/>
                            </a:rPr>
                            <m:t>,</m:t>
                          </m:r>
                          <m:acc>
                            <m:accPr>
                              <m:chr m:val="̃"/>
                              <m:ctrlPr>
                                <a:rPr lang="en-US" altLang="ja-JP" sz="3200" i="1">
                                  <a:latin typeface="Cambria Math" panose="02040503050406030204" pitchFamily="18" charset="0"/>
                                  <a:ea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𝑋</m:t>
                              </m:r>
                            </m:e>
                          </m:acc>
                          <m:r>
                            <a:rPr lang="en-US" altLang="ja-JP" sz="3200" i="1">
                              <a:latin typeface="Cambria Math" panose="02040503050406030204" pitchFamily="18" charset="0"/>
                              <a:ea typeface="Cambria Math" panose="02040503050406030204" pitchFamily="18" charset="0"/>
                            </a:rPr>
                            <m:t>]</m:t>
                          </m:r>
                        </m:e>
                      </m:func>
                      <m:sSub>
                        <m:sSubPr>
                          <m:ctrlPr>
                            <a:rPr lang="en-US" altLang="ja-JP" sz="3200" b="0" i="1" smtClean="0">
                              <a:latin typeface="Cambria Math" panose="02040503050406030204" pitchFamily="18" charset="0"/>
                            </a:rPr>
                          </m:ctrlPr>
                        </m:sSubPr>
                        <m:e>
                          <m:r>
                            <a:rPr lang="en-US" altLang="ja-JP" sz="3200" b="1" i="1" smtClean="0">
                              <a:latin typeface="Cambria Math" panose="02040503050406030204" pitchFamily="18" charset="0"/>
                            </a:rPr>
                            <m:t>𝒗</m:t>
                          </m:r>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subject</m:t>
                      </m:r>
                      <m:r>
                        <a:rPr lang="en-US" altLang="ja-JP" sz="3200" b="0" i="0" smtClean="0">
                          <a:latin typeface="Cambria Math" panose="02040503050406030204" pitchFamily="18" charset="0"/>
                        </a:rPr>
                        <m:t> </m:t>
                      </m:r>
                      <m:r>
                        <m:rPr>
                          <m:sty m:val="p"/>
                        </m:rPr>
                        <a:rPr lang="en-US" altLang="ja-JP" sz="3200" b="0" i="0" smtClean="0">
                          <a:latin typeface="Cambria Math" panose="02040503050406030204" pitchFamily="18" charset="0"/>
                        </a:rPr>
                        <m:t>to</m:t>
                      </m:r>
                      <m:r>
                        <a:rPr lang="en-US" altLang="ja-JP" sz="3200" b="0" i="1" smtClean="0">
                          <a:latin typeface="Cambria Math" panose="02040503050406030204" pitchFamily="18" charset="0"/>
                        </a:rPr>
                        <m:t>   </m:t>
                      </m:r>
                      <m:sSubSup>
                        <m:sSubSupPr>
                          <m:ctrlPr>
                            <a:rPr lang="en-US" altLang="ja-JP" sz="3200" b="0" i="1" smtClean="0">
                              <a:latin typeface="Cambria Math" panose="02040503050406030204" pitchFamily="18" charset="0"/>
                            </a:rPr>
                          </m:ctrlPr>
                        </m:sSubSupPr>
                        <m:e>
                          <m:d>
                            <m:dPr>
                              <m:begChr m:val="‖"/>
                              <m:endChr m:val="‖"/>
                              <m:ctrlPr>
                                <a:rPr lang="en-US" altLang="ja-JP" sz="3200" b="0" i="1" smtClean="0">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2</m:t>
                          </m:r>
                        </m:sub>
                        <m:sup>
                          <m:r>
                            <a:rPr lang="en-US" altLang="ja-JP" sz="3200" b="0" i="1" smtClean="0">
                              <a:latin typeface="Cambria Math" panose="02040503050406030204" pitchFamily="18" charset="0"/>
                            </a:rPr>
                            <m:t>2</m:t>
                          </m:r>
                        </m:sup>
                      </m:sSubSup>
                      <m:r>
                        <a:rPr lang="en-US" altLang="ja-JP" sz="3200" i="1">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rPr>
                        <m:t>1,</m:t>
                      </m:r>
                      <m:sSub>
                        <m:sSubPr>
                          <m:ctrlPr>
                            <a:rPr lang="en-US" altLang="ja-JP" sz="3200" b="0" i="1" smtClean="0">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1</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𝑐</m:t>
                      </m:r>
                    </m:oMath>
                  </m:oMathPara>
                </a14:m>
                <a:endParaRPr lang="en-US" altLang="ja-JP" sz="3200" b="0" i="1" dirty="0">
                  <a:latin typeface="Cambria Math" panose="02040503050406030204" pitchFamily="18" charset="0"/>
                  <a:ea typeface="Cambria Math" panose="02040503050406030204" pitchFamily="18" charset="0"/>
                </a:endParaRPr>
              </a:p>
              <a:p>
                <a:pPr marL="0" indent="0" algn="ctr">
                  <a:buNone/>
                </a:pPr>
                <a:r>
                  <a:rPr lang="ja-JP" altLang="en-US">
                    <a:cs typeface="ヒラギノ角ゴ Pro W3"/>
                  </a:rPr>
                  <a:t>　　　　　　　　</a:t>
                </a:r>
                <a:endParaRPr kumimoji="1" lang="en-US" altLang="ja-JP" b="0" i="1" dirty="0">
                  <a:latin typeface="Cambria Math" panose="02040503050406030204" pitchFamily="18" charset="0"/>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lang="en-US" altLang="ja-JP" dirty="0">
                  <a:latin typeface="ヒラギノ角ゴ Pro W3"/>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kumimoji="1" lang="ja-JP" altLang="en-US" sz="800" dirty="0">
                  <a:latin typeface="ヒラギノ角ゴ Pro W3"/>
                  <a:ea typeface="ヒラギノ角ゴ Pro W3"/>
                  <a:cs typeface="ヒラギノ角ゴ Pro W3"/>
                </a:endParaRPr>
              </a:p>
              <a:p>
                <a:pPr marL="0" indent="0">
                  <a:buClr>
                    <a:schemeClr val="accent3"/>
                  </a:buClr>
                  <a:buNone/>
                </a:pPr>
                <a:r>
                  <a:rPr lang="en-US" altLang="ja-JP" dirty="0">
                    <a:ea typeface="ヒラギノ角ゴ Pro W3"/>
                    <a:cs typeface="ヒラギノ角ゴ Pro W3"/>
                  </a:rPr>
                  <a:t>                  </a:t>
                </a:r>
                <a14:m>
                  <m:oMath xmlns:m="http://schemas.openxmlformats.org/officeDocument/2006/math">
                    <m:sSub>
                      <m:sSubPr>
                        <m:ctrlP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ctrlPr>
                      </m:sSubPr>
                      <m:e>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𝑊</m:t>
                        </m:r>
                      </m:e>
                      <m: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𝑘𝑗</m:t>
                        </m:r>
                      </m:sub>
                    </m:sSub>
                    <m:r>
                      <a:rPr kumimoji="1" lang="en-US" altLang="ja-JP" sz="3200" b="0" i="1" smtClean="0">
                        <a:solidFill>
                          <a:schemeClr val="accent1">
                            <a:lumMod val="90000"/>
                          </a:schemeClr>
                        </a:solidFill>
                        <a:latin typeface="Cambria Math" panose="02040503050406030204" pitchFamily="18" charset="0"/>
                        <a:ea typeface="ヒラギノ角ゴ Pro W3"/>
                        <a:cs typeface="ヒラギノ角ゴ Pro W3"/>
                      </a:rPr>
                      <m:t>=</m:t>
                    </m:r>
                    <m:sSub>
                      <m:sSubPr>
                        <m:ctrlPr>
                          <a:rPr lang="en-US" altLang="ja-JP" sz="3200" i="1">
                            <a:solidFill>
                              <a:schemeClr val="accent1">
                                <a:lumMod val="90000"/>
                              </a:schemeClr>
                            </a:solidFill>
                            <a:latin typeface="Cambria Math" panose="02040503050406030204" pitchFamily="18" charset="0"/>
                            <a:cs typeface="ヒラギノ角ゴ Pro W3"/>
                          </a:rPr>
                        </m:ctrlPr>
                      </m:sSubPr>
                      <m:e>
                        <m:r>
                          <a:rPr lang="en-US" altLang="ja-JP" sz="3200" i="1">
                            <a:solidFill>
                              <a:schemeClr val="accent1">
                                <a:lumMod val="90000"/>
                              </a:schemeClr>
                            </a:solidFill>
                            <a:latin typeface="Cambria Math" panose="02040503050406030204" pitchFamily="18" charset="0"/>
                            <a:cs typeface="ヒラギノ角ゴ Pro W3"/>
                          </a:rPr>
                          <m:t>𝑍</m:t>
                        </m:r>
                      </m:e>
                      <m:sub>
                        <m:r>
                          <a:rPr lang="en-US" altLang="ja-JP" sz="3200" b="0" i="1" smtClean="0">
                            <a:solidFill>
                              <a:schemeClr val="accent1">
                                <a:lumMod val="90000"/>
                              </a:schemeClr>
                            </a:solidFill>
                            <a:latin typeface="Cambria Math" panose="02040503050406030204" pitchFamily="18" charset="0"/>
                            <a:cs typeface="ヒラギノ角ゴ Pro W3"/>
                          </a:rPr>
                          <m:t>𝑘</m:t>
                        </m:r>
                        <m:r>
                          <a:rPr lang="en-US" altLang="ja-JP" sz="3200" i="1">
                            <a:solidFill>
                              <a:schemeClr val="accent1">
                                <a:lumMod val="90000"/>
                              </a:schemeClr>
                            </a:solidFill>
                            <a:latin typeface="Cambria Math" panose="02040503050406030204" pitchFamily="18" charset="0"/>
                            <a:cs typeface="ヒラギノ角ゴ Pro W3"/>
                          </a:rPr>
                          <m:t>𝑗</m:t>
                        </m:r>
                      </m:sub>
                    </m:sSub>
                    <m:r>
                      <a:rPr lang="en-US" altLang="ja-JP" sz="3200" i="1">
                        <a:solidFill>
                          <a:schemeClr val="accent1">
                            <a:lumMod val="90000"/>
                          </a:schemeClr>
                        </a:solidFill>
                        <a:latin typeface="Cambria Math" panose="02040503050406030204" pitchFamily="18" charset="0"/>
                        <a:ea typeface="Cambria Math" panose="02040503050406030204" pitchFamily="18" charset="0"/>
                        <a:cs typeface="ヒラギノ角ゴ Pro W3"/>
                      </a:rPr>
                      <m:t>∧</m:t>
                    </m:r>
                    <m:sSub>
                      <m:sSubPr>
                        <m:ctrlPr>
                          <a:rPr lang="en-US" altLang="ja-JP" sz="3200" i="1">
                            <a:solidFill>
                              <a:schemeClr val="accent1">
                                <a:lumMod val="90000"/>
                              </a:schemeClr>
                            </a:solidFill>
                            <a:latin typeface="Cambria Math" panose="02040503050406030204" pitchFamily="18" charset="0"/>
                          </a:rPr>
                        </m:ctrlPr>
                      </m:sSubPr>
                      <m:e>
                        <m:acc>
                          <m:accPr>
                            <m:chr m:val="̃"/>
                            <m:ctrlPr>
                              <a:rPr lang="en-US" altLang="ja-JP" sz="3200" i="1">
                                <a:solidFill>
                                  <a:schemeClr val="accent1">
                                    <a:lumMod val="90000"/>
                                  </a:schemeClr>
                                </a:solidFill>
                                <a:latin typeface="Cambria Math" panose="02040503050406030204" pitchFamily="18" charset="0"/>
                              </a:rPr>
                            </m:ctrlPr>
                          </m:accPr>
                          <m:e>
                            <m:r>
                              <a:rPr lang="en-US" altLang="ja-JP" sz="3200" i="1">
                                <a:solidFill>
                                  <a:schemeClr val="accent1">
                                    <a:lumMod val="90000"/>
                                  </a:schemeClr>
                                </a:solidFill>
                                <a:latin typeface="Cambria Math" panose="02040503050406030204" pitchFamily="18" charset="0"/>
                              </a:rPr>
                              <m:t>𝑍</m:t>
                            </m:r>
                          </m:e>
                        </m:acc>
                      </m:e>
                      <m:sub>
                        <m:r>
                          <a:rPr lang="en-US" altLang="ja-JP" sz="3200" b="0" i="1" smtClean="0">
                            <a:solidFill>
                              <a:schemeClr val="accent1">
                                <a:lumMod val="90000"/>
                              </a:schemeClr>
                            </a:solidFill>
                            <a:latin typeface="Cambria Math" panose="02040503050406030204" pitchFamily="18" charset="0"/>
                          </a:rPr>
                          <m:t>𝑘</m:t>
                        </m:r>
                        <m:r>
                          <a:rPr lang="en-US" altLang="ja-JP" sz="3200" b="0" i="1" smtClean="0">
                            <a:solidFill>
                              <a:schemeClr val="accent1">
                                <a:lumMod val="90000"/>
                              </a:schemeClr>
                            </a:solidFill>
                            <a:latin typeface="Cambria Math" panose="02040503050406030204" pitchFamily="18" charset="0"/>
                          </a:rPr>
                          <m:t>(</m:t>
                        </m:r>
                        <m:r>
                          <a:rPr lang="en-US" altLang="ja-JP" sz="3200" i="1">
                            <a:solidFill>
                              <a:schemeClr val="accent1">
                                <a:lumMod val="90000"/>
                              </a:schemeClr>
                            </a:solidFill>
                            <a:latin typeface="Cambria Math" panose="02040503050406030204" pitchFamily="18" charset="0"/>
                          </a:rPr>
                          <m:t>𝑗</m:t>
                        </m:r>
                        <m:r>
                          <a:rPr lang="en-US" altLang="ja-JP" sz="3200" b="0" i="1" smtClean="0">
                            <a:solidFill>
                              <a:schemeClr val="accent1">
                                <a:lumMod val="90000"/>
                              </a:schemeClr>
                            </a:solidFill>
                            <a:latin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rPr>
                          <m:t>𝑝</m:t>
                        </m:r>
                        <m:r>
                          <a:rPr lang="en-US" altLang="ja-JP" sz="3200" b="0" i="1" smtClean="0">
                            <a:solidFill>
                              <a:schemeClr val="accent1">
                                <a:lumMod val="90000"/>
                              </a:schemeClr>
                            </a:solidFill>
                            <a:latin typeface="Cambria Math" panose="02040503050406030204" pitchFamily="18" charset="0"/>
                          </a:rPr>
                          <m:t>)</m:t>
                        </m:r>
                      </m:sub>
                    </m:sSub>
                    <m:r>
                      <a:rPr lang="en-US" altLang="ja-JP" sz="3200" i="1">
                        <a:solidFill>
                          <a:schemeClr val="accent1">
                            <a:lumMod val="90000"/>
                          </a:schemeClr>
                        </a:solidFill>
                        <a:latin typeface="Cambria Math" panose="02040503050406030204" pitchFamily="18" charset="0"/>
                      </a:rPr>
                      <m:t>∙</m:t>
                    </m:r>
                    <m:func>
                      <m:funcPr>
                        <m:ctrlPr>
                          <a:rPr lang="en-US" altLang="ja-JP" sz="3200" i="1">
                            <a:solidFill>
                              <a:schemeClr val="accent1">
                                <a:lumMod val="90000"/>
                              </a:schemeClr>
                            </a:solidFill>
                            <a:latin typeface="Cambria Math" panose="02040503050406030204" pitchFamily="18" charset="0"/>
                          </a:rPr>
                        </m:ctrlPr>
                      </m:funcPr>
                      <m:fName>
                        <m:r>
                          <m:rPr>
                            <m:sty m:val="p"/>
                          </m:rPr>
                          <a:rPr lang="en-US" altLang="ja-JP" sz="3200">
                            <a:solidFill>
                              <a:schemeClr val="accent1">
                                <a:lumMod val="90000"/>
                              </a:schemeClr>
                            </a:solidFill>
                            <a:latin typeface="Cambria Math" panose="02040503050406030204" pitchFamily="18" charset="0"/>
                          </a:rPr>
                          <m:t>sign</m:t>
                        </m:r>
                      </m:fName>
                      <m:e>
                        <m:d>
                          <m:dPr>
                            <m:ctrlPr>
                              <a:rPr lang="en-US" altLang="ja-JP" sz="3200" i="1">
                                <a:solidFill>
                                  <a:schemeClr val="accent1">
                                    <a:lumMod val="90000"/>
                                  </a:schemeClr>
                                </a:solidFill>
                                <a:latin typeface="Cambria Math" panose="02040503050406030204" pitchFamily="18" charset="0"/>
                              </a:rPr>
                            </m:ctrlPr>
                          </m:dPr>
                          <m:e>
                            <m:sSub>
                              <m:sSubPr>
                                <m:ctrlPr>
                                  <a:rPr lang="en-US" altLang="ja-JP" sz="3200" b="0" i="1" smtClean="0">
                                    <a:solidFill>
                                      <a:schemeClr val="accent1">
                                        <a:lumMod val="90000"/>
                                      </a:schemeClr>
                                    </a:solidFill>
                                    <a:latin typeface="Cambria Math" panose="02040503050406030204" pitchFamily="18" charset="0"/>
                                  </a:rPr>
                                </m:ctrlPr>
                              </m:sSubPr>
                              <m:e>
                                <m:acc>
                                  <m:accPr>
                                    <m:chr m:val="̃"/>
                                    <m:ctrlPr>
                                      <a:rPr lang="en-US" altLang="ja-JP" sz="3200" i="1">
                                        <a:solidFill>
                                          <a:schemeClr val="accent1">
                                            <a:lumMod val="90000"/>
                                          </a:schemeClr>
                                        </a:solidFill>
                                        <a:latin typeface="Cambria Math" panose="02040503050406030204" pitchFamily="18" charset="0"/>
                                      </a:rPr>
                                    </m:ctrlPr>
                                  </m:accPr>
                                  <m:e>
                                    <m:r>
                                      <a:rPr lang="en-US" altLang="ja-JP" sz="3200" b="0" i="1" smtClean="0">
                                        <a:solidFill>
                                          <a:schemeClr val="accent1">
                                            <a:lumMod val="90000"/>
                                          </a:schemeClr>
                                        </a:solidFill>
                                        <a:latin typeface="Cambria Math" panose="02040503050406030204" pitchFamily="18" charset="0"/>
                                      </a:rPr>
                                      <m:t>𝑍</m:t>
                                    </m:r>
                                  </m:e>
                                </m:acc>
                              </m:e>
                              <m:sub>
                                <m:r>
                                  <a:rPr lang="en-US" altLang="ja-JP" sz="3200" b="0" i="1" smtClean="0">
                                    <a:solidFill>
                                      <a:schemeClr val="accent1">
                                        <a:lumMod val="90000"/>
                                      </a:schemeClr>
                                    </a:solidFill>
                                    <a:latin typeface="Cambria Math" panose="02040503050406030204" pitchFamily="18" charset="0"/>
                                  </a:rPr>
                                  <m:t>𝑘𝑗</m:t>
                                </m:r>
                              </m:sub>
                            </m:sSub>
                            <m:r>
                              <a:rPr lang="en-US" altLang="ja-JP" sz="3200" i="1">
                                <a:solidFill>
                                  <a:schemeClr val="accent1">
                                    <a:lumMod val="90000"/>
                                  </a:schemeClr>
                                </a:solidFill>
                                <a:latin typeface="Cambria Math" panose="02040503050406030204" pitchFamily="18" charset="0"/>
                              </a:rPr>
                              <m:t>−</m:t>
                            </m:r>
                            <m:sSub>
                              <m:sSubPr>
                                <m:ctrlPr>
                                  <a:rPr lang="en-US" altLang="ja-JP" sz="3200" i="1">
                                    <a:solidFill>
                                      <a:schemeClr val="accent1">
                                        <a:lumMod val="90000"/>
                                      </a:schemeClr>
                                    </a:solidFill>
                                    <a:latin typeface="Cambria Math" panose="02040503050406030204" pitchFamily="18" charset="0"/>
                                  </a:rPr>
                                </m:ctrlPr>
                              </m:sSubPr>
                              <m:e>
                                <m:r>
                                  <a:rPr lang="en-US" altLang="ja-JP" sz="3200" i="1">
                                    <a:solidFill>
                                      <a:schemeClr val="accent1">
                                        <a:lumMod val="90000"/>
                                      </a:schemeClr>
                                    </a:solidFill>
                                    <a:latin typeface="Cambria Math" panose="02040503050406030204" pitchFamily="18" charset="0"/>
                                  </a:rPr>
                                  <m:t>𝑍</m:t>
                                </m:r>
                              </m:e>
                              <m:sub>
                                <m:r>
                                  <a:rPr lang="en-US" altLang="ja-JP" sz="3200" b="0" i="1" smtClean="0">
                                    <a:solidFill>
                                      <a:schemeClr val="accent1">
                                        <a:lumMod val="90000"/>
                                      </a:schemeClr>
                                    </a:solidFill>
                                    <a:latin typeface="Cambria Math" panose="02040503050406030204" pitchFamily="18" charset="0"/>
                                  </a:rPr>
                                  <m:t>𝑘</m:t>
                                </m:r>
                                <m:r>
                                  <a:rPr lang="en-US" altLang="ja-JP" sz="3200" b="0" i="1" smtClean="0">
                                    <a:solidFill>
                                      <a:schemeClr val="accent1">
                                        <a:lumMod val="90000"/>
                                      </a:schemeClr>
                                    </a:solidFill>
                                    <a:latin typeface="Cambria Math" panose="02040503050406030204" pitchFamily="18" charset="0"/>
                                  </a:rPr>
                                  <m:t>(</m:t>
                                </m:r>
                                <m:r>
                                  <a:rPr lang="en-US" altLang="ja-JP" sz="3200" i="1">
                                    <a:solidFill>
                                      <a:schemeClr val="accent1">
                                        <a:lumMod val="90000"/>
                                      </a:schemeClr>
                                    </a:solidFill>
                                    <a:latin typeface="Cambria Math" panose="02040503050406030204" pitchFamily="18" charset="0"/>
                                  </a:rPr>
                                  <m:t>𝑗</m:t>
                                </m:r>
                                <m:r>
                                  <a:rPr lang="en-US" altLang="ja-JP" sz="3200" b="0" i="1" smtClean="0">
                                    <a:solidFill>
                                      <a:schemeClr val="accent1">
                                        <a:lumMod val="90000"/>
                                      </a:schemeClr>
                                    </a:solidFill>
                                    <a:latin typeface="Cambria Math" panose="02040503050406030204" pitchFamily="18" charset="0"/>
                                  </a:rPr>
                                  <m:t>+</m:t>
                                </m:r>
                                <m:r>
                                  <a:rPr lang="en-US" altLang="ja-JP" sz="3200" b="0" i="1" smtClean="0">
                                    <a:solidFill>
                                      <a:schemeClr val="accent1">
                                        <a:lumMod val="90000"/>
                                      </a:schemeClr>
                                    </a:solidFill>
                                    <a:latin typeface="Cambria Math" panose="02040503050406030204" pitchFamily="18" charset="0"/>
                                  </a:rPr>
                                  <m:t>𝑝</m:t>
                                </m:r>
                                <m:r>
                                  <a:rPr lang="en-US" altLang="ja-JP" sz="3200" b="0" i="1" smtClean="0">
                                    <a:solidFill>
                                      <a:schemeClr val="accent1">
                                        <a:lumMod val="90000"/>
                                      </a:schemeClr>
                                    </a:solidFill>
                                    <a:latin typeface="Cambria Math" panose="02040503050406030204" pitchFamily="18" charset="0"/>
                                  </a:rPr>
                                  <m:t>)</m:t>
                                </m:r>
                              </m:sub>
                            </m:sSub>
                          </m:e>
                        </m:d>
                      </m:e>
                    </m:func>
                    <m:r>
                      <a:rPr lang="en-US" altLang="ja-JP" sz="3200" b="0" i="1" smtClean="0">
                        <a:solidFill>
                          <a:schemeClr val="accent1">
                            <a:lumMod val="90000"/>
                          </a:schemeClr>
                        </a:solidFill>
                        <a:latin typeface="Cambria Math" panose="02040503050406030204" pitchFamily="18" charset="0"/>
                        <a:ea typeface="Cambria Math" panose="02040503050406030204" pitchFamily="18" charset="0"/>
                      </a:rPr>
                      <m:t>,  </m:t>
                    </m:r>
                    <m:r>
                      <a:rPr lang="en-US" altLang="ja-JP" sz="3200" i="1">
                        <a:solidFill>
                          <a:schemeClr val="accent1">
                            <a:lumMod val="90000"/>
                          </a:schemeClr>
                        </a:solidFill>
                        <a:latin typeface="Cambria Math" panose="02040503050406030204" pitchFamily="18" charset="0"/>
                        <a:ea typeface="Cambria Math" panose="02040503050406030204" pitchFamily="18" charset="0"/>
                      </a:rPr>
                      <m:t>𝑗</m:t>
                    </m:r>
                    <m:r>
                      <a:rPr lang="en-US" altLang="ja-JP" sz="3200" i="1">
                        <a:solidFill>
                          <a:schemeClr val="accent1">
                            <a:lumMod val="90000"/>
                          </a:schemeClr>
                        </a:solidFill>
                        <a:latin typeface="Cambria Math" panose="02040503050406030204" pitchFamily="18" charset="0"/>
                        <a:ea typeface="Cambria Math" panose="02040503050406030204" pitchFamily="18" charset="0"/>
                      </a:rPr>
                      <m:t>=1,…,</m:t>
                    </m:r>
                    <m:r>
                      <a:rPr lang="en-US" altLang="ja-JP" sz="3200" i="1">
                        <a:solidFill>
                          <a:schemeClr val="accent1">
                            <a:lumMod val="90000"/>
                          </a:schemeClr>
                        </a:solidFill>
                        <a:latin typeface="Cambria Math" panose="02040503050406030204" pitchFamily="18" charset="0"/>
                        <a:ea typeface="Cambria Math" panose="02040503050406030204" pitchFamily="18" charset="0"/>
                      </a:rPr>
                      <m:t>𝑝</m:t>
                    </m:r>
                  </m:oMath>
                </a14:m>
                <a:endParaRPr lang="en-US" altLang="ja-JP" sz="3200" i="1" dirty="0">
                  <a:solidFill>
                    <a:schemeClr val="accent1">
                      <a:lumMod val="90000"/>
                    </a:schemeClr>
                  </a:solidFill>
                  <a:latin typeface="Cambria Math" panose="02040503050406030204" pitchFamily="18" charset="0"/>
                  <a:ea typeface="Cambria Math" panose="02040503050406030204" pitchFamily="18" charset="0"/>
                </a:endParaRPr>
              </a:p>
            </p:txBody>
          </p:sp>
        </mc:Choice>
        <mc:Fallback xmlns="">
          <p:sp>
            <p:nvSpPr>
              <p:cNvPr id="12" name="コンテンツ プレースホルダー 2">
                <a:extLst>
                  <a:ext uri="{FF2B5EF4-FFF2-40B4-BE49-F238E27FC236}">
                    <a16:creationId xmlns:a16="http://schemas.microsoft.com/office/drawing/2014/main" id="{ED4C8698-497D-896A-CFDE-21B6E6F0A94C}"/>
                  </a:ext>
                </a:extLst>
              </p:cNvPr>
              <p:cNvSpPr>
                <a:spLocks noGrp="1" noRot="1" noChangeAspect="1" noMove="1" noResize="1" noEditPoints="1" noAdjustHandles="1" noChangeArrowheads="1" noChangeShapeType="1" noTextEdit="1"/>
              </p:cNvSpPr>
              <p:nvPr>
                <p:ph idx="1"/>
              </p:nvPr>
            </p:nvSpPr>
            <p:spPr>
              <a:xfrm>
                <a:off x="10232" y="1161341"/>
                <a:ext cx="12171534" cy="5678129"/>
              </a:xfrm>
              <a:blipFill>
                <a:blip r:embed="rId3"/>
                <a:stretch>
                  <a:fillRect l="-1250" t="-2009"/>
                </a:stretch>
              </a:blipFill>
            </p:spPr>
            <p:txBody>
              <a:bodyPr/>
              <a:lstStyle/>
              <a:p>
                <a:r>
                  <a:rPr lang="ja-JP" altLang="en-US">
                    <a:noFill/>
                  </a:rPr>
                  <a:t> </a:t>
                </a:r>
              </a:p>
            </p:txBody>
          </p:sp>
        </mc:Fallback>
      </mc:AlternateContent>
      <p:sp>
        <p:nvSpPr>
          <p:cNvPr id="15" name="下矢印 14">
            <a:extLst>
              <a:ext uri="{FF2B5EF4-FFF2-40B4-BE49-F238E27FC236}">
                <a16:creationId xmlns:a16="http://schemas.microsoft.com/office/drawing/2014/main" id="{31BA8E71-2A7C-650B-32F2-BB539B7CB66B}"/>
              </a:ext>
            </a:extLst>
          </p:cNvPr>
          <p:cNvSpPr/>
          <p:nvPr/>
        </p:nvSpPr>
        <p:spPr>
          <a:xfrm>
            <a:off x="5366797" y="2944249"/>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6" name="下矢印 15">
            <a:extLst>
              <a:ext uri="{FF2B5EF4-FFF2-40B4-BE49-F238E27FC236}">
                <a16:creationId xmlns:a16="http://schemas.microsoft.com/office/drawing/2014/main" id="{C2CC1ECB-FF5A-4D93-8404-5DFAB23682FC}"/>
              </a:ext>
            </a:extLst>
          </p:cNvPr>
          <p:cNvSpPr/>
          <p:nvPr/>
        </p:nvSpPr>
        <p:spPr>
          <a:xfrm>
            <a:off x="5366798" y="4840412"/>
            <a:ext cx="688769" cy="523220"/>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7" name="正方形/長方形 16">
            <a:extLst>
              <a:ext uri="{FF2B5EF4-FFF2-40B4-BE49-F238E27FC236}">
                <a16:creationId xmlns:a16="http://schemas.microsoft.com/office/drawing/2014/main" id="{ACDA6AF9-DC34-6813-7342-382859AE6652}"/>
              </a:ext>
            </a:extLst>
          </p:cNvPr>
          <p:cNvSpPr/>
          <p:nvPr/>
        </p:nvSpPr>
        <p:spPr>
          <a:xfrm>
            <a:off x="3127229" y="2294654"/>
            <a:ext cx="975354" cy="587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A17FFC0C-EE21-6636-8C7C-BADBA1141E29}"/>
                  </a:ext>
                </a:extLst>
              </p:cNvPr>
              <p:cNvSpPr txBox="1"/>
              <p:nvPr/>
            </p:nvSpPr>
            <p:spPr>
              <a:xfrm>
                <a:off x="2933317" y="288240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18" name="テキスト ボックス 17">
                <a:extLst>
                  <a:ext uri="{FF2B5EF4-FFF2-40B4-BE49-F238E27FC236}">
                    <a16:creationId xmlns:a16="http://schemas.microsoft.com/office/drawing/2014/main" id="{A17FFC0C-EE21-6636-8C7C-BADBA1141E29}"/>
                  </a:ext>
                </a:extLst>
              </p:cNvPr>
              <p:cNvSpPr txBox="1">
                <a:spLocks noRot="1" noChangeAspect="1" noMove="1" noResize="1" noEditPoints="1" noAdjustHandles="1" noChangeArrowheads="1" noChangeShapeType="1" noTextEdit="1"/>
              </p:cNvSpPr>
              <p:nvPr/>
            </p:nvSpPr>
            <p:spPr>
              <a:xfrm>
                <a:off x="2933317" y="2882405"/>
                <a:ext cx="1775743" cy="523220"/>
              </a:xfrm>
              <a:prstGeom prst="rect">
                <a:avLst/>
              </a:prstGeom>
              <a:blipFill>
                <a:blip r:embed="rId4"/>
                <a:stretch>
                  <a:fillRect t="-14286" r="-6383"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BCC3D678-F233-28F2-BFB2-171B29BCA2AC}"/>
                  </a:ext>
                </a:extLst>
              </p:cNvPr>
              <p:cNvSpPr txBox="1"/>
              <p:nvPr/>
            </p:nvSpPr>
            <p:spPr>
              <a:xfrm>
                <a:off x="6866296" y="3708019"/>
                <a:ext cx="3388591"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ea typeface="Cambria Math" panose="02040503050406030204" pitchFamily="18" charset="0"/>
                        </a:rPr>
                        <m:t>𝑗</m:t>
                      </m:r>
                      <m:r>
                        <a:rPr lang="en-US" altLang="ja-JP" sz="3200" i="1" smtClean="0">
                          <a:latin typeface="Cambria Math" panose="02040503050406030204" pitchFamily="18" charset="0"/>
                          <a:ea typeface="Cambria Math" panose="02040503050406030204" pitchFamily="18" charset="0"/>
                        </a:rPr>
                        <m:t>=1,…,</m:t>
                      </m:r>
                      <m:r>
                        <a:rPr lang="en-US" altLang="ja-JP" sz="3200" i="1" smtClean="0">
                          <a:latin typeface="Cambria Math" panose="02040503050406030204" pitchFamily="18" charset="0"/>
                          <a:ea typeface="Cambria Math" panose="02040503050406030204" pitchFamily="18" charset="0"/>
                        </a:rPr>
                        <m:t>𝑝</m:t>
                      </m:r>
                    </m:oMath>
                  </m:oMathPara>
                </a14:m>
                <a:endParaRPr lang="ja-JP" altLang="en-US" sz="3200"/>
              </a:p>
            </p:txBody>
          </p:sp>
        </mc:Choice>
        <mc:Fallback xmlns="">
          <p:sp>
            <p:nvSpPr>
              <p:cNvPr id="19" name="テキスト ボックス 18">
                <a:extLst>
                  <a:ext uri="{FF2B5EF4-FFF2-40B4-BE49-F238E27FC236}">
                    <a16:creationId xmlns:a16="http://schemas.microsoft.com/office/drawing/2014/main" id="{BCC3D678-F233-28F2-BFB2-171B29BCA2AC}"/>
                  </a:ext>
                </a:extLst>
              </p:cNvPr>
              <p:cNvSpPr txBox="1">
                <a:spLocks noRot="1" noChangeAspect="1" noMove="1" noResize="1" noEditPoints="1" noAdjustHandles="1" noChangeArrowheads="1" noChangeShapeType="1" noTextEdit="1"/>
              </p:cNvSpPr>
              <p:nvPr/>
            </p:nvSpPr>
            <p:spPr>
              <a:xfrm>
                <a:off x="6866296" y="3708019"/>
                <a:ext cx="3388591" cy="584775"/>
              </a:xfrm>
              <a:prstGeom prst="rect">
                <a:avLst/>
              </a:prstGeom>
              <a:blipFill>
                <a:blip r:embed="rId5"/>
                <a:stretch>
                  <a:fillRect b="-212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14A7A6F6-729D-3904-101A-9CA8F50F8E25}"/>
                  </a:ext>
                </a:extLst>
              </p:cNvPr>
              <p:cNvSpPr txBox="1"/>
              <p:nvPr/>
            </p:nvSpPr>
            <p:spPr>
              <a:xfrm>
                <a:off x="1574915" y="6073170"/>
                <a:ext cx="3099566" cy="523220"/>
              </a:xfrm>
              <a:prstGeom prst="rect">
                <a:avLst/>
              </a:prstGeom>
              <a:noFill/>
            </p:spPr>
            <p:txBody>
              <a:bodyPr wrap="none" rtlCol="0">
                <a:spAutoFit/>
              </a:bodyPr>
              <a:lstStyle/>
              <a:p>
                <a:r>
                  <a:rPr kumimoji="1" lang="en-US" altLang="ja-JP" sz="2800" b="0" dirty="0">
                    <a:solidFill>
                      <a:schemeClr val="accent1">
                        <a:lumMod val="90000"/>
                      </a:schemeClr>
                    </a:solidFill>
                    <a:cs typeface="ヒラギノ角ゴ Pro W3"/>
                  </a:rPr>
                  <a:t>(</a:t>
                </a:r>
                <a14:m>
                  <m:oMath xmlns:m="http://schemas.openxmlformats.org/officeDocument/2006/math">
                    <m:r>
                      <a:rPr kumimoji="1" lang="en-US" altLang="ja-JP" sz="2800" b="0" i="1" smtClean="0">
                        <a:solidFill>
                          <a:schemeClr val="accent1">
                            <a:lumMod val="90000"/>
                          </a:schemeClr>
                        </a:solidFill>
                        <a:latin typeface="Cambria Math" panose="02040503050406030204" pitchFamily="18" charset="0"/>
                        <a:cs typeface="ヒラギノ角ゴ Pro W3"/>
                      </a:rPr>
                      <m:t>𝑎</m:t>
                    </m:r>
                    <m:r>
                      <a:rPr lang="en-US" altLang="ja-JP" sz="2800" i="1">
                        <a:solidFill>
                          <a:schemeClr val="accent1">
                            <a:lumMod val="90000"/>
                          </a:schemeClr>
                        </a:solidFill>
                        <a:latin typeface="Cambria Math" panose="02040503050406030204" pitchFamily="18" charset="0"/>
                        <a:ea typeface="Cambria Math" panose="02040503050406030204" pitchFamily="18" charset="0"/>
                        <a:cs typeface="ヒラギノ角ゴ Pro W3"/>
                      </a:rPr>
                      <m:t>∧</m:t>
                    </m:r>
                    <m:r>
                      <a:rPr kumimoji="1" lang="en-US" altLang="ja-JP" sz="2800" b="0" i="1" smtClean="0">
                        <a:solidFill>
                          <a:schemeClr val="accent1">
                            <a:lumMod val="90000"/>
                          </a:schemeClr>
                        </a:solidFill>
                        <a:latin typeface="Cambria Math" panose="02040503050406030204" pitchFamily="18" charset="0"/>
                        <a:cs typeface="ヒラギノ角ゴ Pro W3"/>
                      </a:rPr>
                      <m:t>𝑏</m:t>
                    </m:r>
                    <m:r>
                      <a:rPr kumimoji="1" lang="en-US" altLang="ja-JP" sz="2800" b="0" i="1" smtClean="0">
                        <a:solidFill>
                          <a:schemeClr val="accent1">
                            <a:lumMod val="90000"/>
                          </a:schemeClr>
                        </a:solidFill>
                        <a:latin typeface="Cambria Math" panose="02040503050406030204" pitchFamily="18" charset="0"/>
                        <a:cs typeface="ヒラギノ角ゴ Pro W3"/>
                      </a:rPr>
                      <m:t>=</m:t>
                    </m:r>
                    <m:func>
                      <m:funcPr>
                        <m:ctrlPr>
                          <a:rPr kumimoji="1" lang="en-US" altLang="ja-JP" sz="2800" b="0" i="1" smtClean="0">
                            <a:solidFill>
                              <a:schemeClr val="accent1">
                                <a:lumMod val="90000"/>
                              </a:schemeClr>
                            </a:solidFill>
                            <a:latin typeface="Cambria Math" panose="02040503050406030204" pitchFamily="18" charset="0"/>
                            <a:cs typeface="ヒラギノ角ゴ Pro W3"/>
                          </a:rPr>
                        </m:ctrlPr>
                      </m:funcPr>
                      <m:fName>
                        <m:r>
                          <m:rPr>
                            <m:sty m:val="p"/>
                          </m:rPr>
                          <a:rPr kumimoji="1" lang="en-US" altLang="ja-JP" sz="2800" b="0" i="0" smtClean="0">
                            <a:solidFill>
                              <a:schemeClr val="accent1">
                                <a:lumMod val="90000"/>
                              </a:schemeClr>
                            </a:solidFill>
                            <a:latin typeface="Cambria Math" panose="02040503050406030204" pitchFamily="18" charset="0"/>
                            <a:cs typeface="ヒラギノ角ゴ Pro W3"/>
                          </a:rPr>
                          <m:t>min</m:t>
                        </m:r>
                      </m:fName>
                      <m:e>
                        <m:d>
                          <m:dPr>
                            <m:begChr m:val="{"/>
                            <m:endChr m:val="}"/>
                            <m:ctrlPr>
                              <a:rPr kumimoji="1" lang="en-US" altLang="ja-JP" sz="2800" b="0" i="1" smtClean="0">
                                <a:solidFill>
                                  <a:schemeClr val="accent1">
                                    <a:lumMod val="90000"/>
                                  </a:schemeClr>
                                </a:solidFill>
                                <a:latin typeface="Cambria Math" panose="02040503050406030204" pitchFamily="18" charset="0"/>
                                <a:cs typeface="ヒラギノ角ゴ Pro W3"/>
                              </a:rPr>
                            </m:ctrlPr>
                          </m:dPr>
                          <m:e>
                            <m:r>
                              <a:rPr kumimoji="1" lang="en-US" altLang="ja-JP" sz="2800" b="0" i="1" smtClean="0">
                                <a:solidFill>
                                  <a:schemeClr val="accent1">
                                    <a:lumMod val="90000"/>
                                  </a:schemeClr>
                                </a:solidFill>
                                <a:latin typeface="Cambria Math" panose="02040503050406030204" pitchFamily="18" charset="0"/>
                                <a:cs typeface="ヒラギノ角ゴ Pro W3"/>
                              </a:rPr>
                              <m:t>𝑎</m:t>
                            </m:r>
                            <m:r>
                              <a:rPr kumimoji="1" lang="en-US" altLang="ja-JP" sz="2800" b="0" i="1" smtClean="0">
                                <a:solidFill>
                                  <a:schemeClr val="accent1">
                                    <a:lumMod val="90000"/>
                                  </a:schemeClr>
                                </a:solidFill>
                                <a:latin typeface="Cambria Math" panose="02040503050406030204" pitchFamily="18" charset="0"/>
                                <a:cs typeface="ヒラギノ角ゴ Pro W3"/>
                              </a:rPr>
                              <m:t>,</m:t>
                            </m:r>
                            <m:r>
                              <a:rPr kumimoji="1" lang="en-US" altLang="ja-JP" sz="2800" b="0" i="1" smtClean="0">
                                <a:solidFill>
                                  <a:schemeClr val="accent1">
                                    <a:lumMod val="90000"/>
                                  </a:schemeClr>
                                </a:solidFill>
                                <a:latin typeface="Cambria Math" panose="02040503050406030204" pitchFamily="18" charset="0"/>
                                <a:cs typeface="ヒラギノ角ゴ Pro W3"/>
                              </a:rPr>
                              <m:t>𝑏</m:t>
                            </m:r>
                          </m:e>
                        </m:d>
                      </m:e>
                    </m:func>
                  </m:oMath>
                </a14:m>
                <a:r>
                  <a:rPr kumimoji="1" lang="en-US" altLang="ja-JP" sz="2800" dirty="0">
                    <a:solidFill>
                      <a:schemeClr val="accent1">
                        <a:lumMod val="90000"/>
                      </a:schemeClr>
                    </a:solidFill>
                  </a:rPr>
                  <a:t>)</a:t>
                </a:r>
                <a:endParaRPr kumimoji="1" lang="ja-JP" altLang="en-US" sz="2800">
                  <a:solidFill>
                    <a:schemeClr val="accent1">
                      <a:lumMod val="90000"/>
                    </a:schemeClr>
                  </a:solidFill>
                </a:endParaRPr>
              </a:p>
            </p:txBody>
          </p:sp>
        </mc:Choice>
        <mc:Fallback xmlns="">
          <p:sp>
            <p:nvSpPr>
              <p:cNvPr id="20" name="テキスト ボックス 19">
                <a:extLst>
                  <a:ext uri="{FF2B5EF4-FFF2-40B4-BE49-F238E27FC236}">
                    <a16:creationId xmlns:a16="http://schemas.microsoft.com/office/drawing/2014/main" id="{14A7A6F6-729D-3904-101A-9CA8F50F8E25}"/>
                  </a:ext>
                </a:extLst>
              </p:cNvPr>
              <p:cNvSpPr txBox="1">
                <a:spLocks noRot="1" noChangeAspect="1" noMove="1" noResize="1" noEditPoints="1" noAdjustHandles="1" noChangeArrowheads="1" noChangeShapeType="1" noTextEdit="1"/>
              </p:cNvSpPr>
              <p:nvPr/>
            </p:nvSpPr>
            <p:spPr>
              <a:xfrm>
                <a:off x="1574915" y="6073170"/>
                <a:ext cx="3099566" cy="523220"/>
              </a:xfrm>
              <a:prstGeom prst="rect">
                <a:avLst/>
              </a:prstGeom>
              <a:blipFill>
                <a:blip r:embed="rId6"/>
                <a:stretch>
                  <a:fillRect l="-4065" t="-11905" r="-2033" b="-285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713E963B-9BD8-44B6-2F38-8DDAC0890489}"/>
                  </a:ext>
                </a:extLst>
              </p:cNvPr>
              <p:cNvSpPr txBox="1"/>
              <p:nvPr/>
            </p:nvSpPr>
            <p:spPr>
              <a:xfrm>
                <a:off x="1443346" y="3418338"/>
                <a:ext cx="6034601" cy="1232453"/>
              </a:xfrm>
              <a:prstGeom prst="rect">
                <a:avLst/>
              </a:prstGeom>
              <a:noFill/>
            </p:spPr>
            <p:txBody>
              <a:bodyPr wrap="none" rtlCol="0">
                <a:spAutoFit/>
              </a:bodyPr>
              <a:lstStyle/>
              <a:p>
                <a:pPr/>
                <a:r>
                  <a:rPr kumimoji="1" lang="en-US" altLang="ja-JP" sz="3200" b="0" dirty="0">
                    <a:ea typeface="ヒラギノ角ゴ Pro W3"/>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ea typeface="ヒラギノ角ゴ Pro W3"/>
                            <a:cs typeface="ヒラギノ角ゴ Pro W3"/>
                          </a:rPr>
                        </m:ctrlPr>
                      </m:sSubPr>
                      <m:e>
                        <m:r>
                          <a:rPr kumimoji="1" lang="en-US" altLang="ja-JP" sz="3200" b="0" i="1" smtClean="0">
                            <a:latin typeface="Cambria Math" panose="02040503050406030204" pitchFamily="18" charset="0"/>
                            <a:ea typeface="ヒラギノ角ゴ Pro W3"/>
                            <a:cs typeface="ヒラギノ角ゴ Pro W3"/>
                          </a:rPr>
                          <m:t>𝑍</m:t>
                        </m:r>
                      </m:e>
                      <m:sub>
                        <m:r>
                          <a:rPr kumimoji="1" lang="en-US" altLang="ja-JP" sz="3200" b="0" i="1" smtClean="0">
                            <a:latin typeface="Cambria Math" panose="02040503050406030204" pitchFamily="18" charset="0"/>
                            <a:ea typeface="ヒラギノ角ゴ Pro W3"/>
                            <a:cs typeface="ヒラギノ角ゴ Pro W3"/>
                          </a:rPr>
                          <m:t>𝑘𝑗</m:t>
                        </m:r>
                      </m:sub>
                    </m:sSub>
                    <m:r>
                      <a:rPr kumimoji="1" lang="en-US" altLang="ja-JP" sz="3200" b="0" i="1" smtClean="0">
                        <a:latin typeface="Cambria Math" panose="02040503050406030204" pitchFamily="18" charset="0"/>
                        <a:ea typeface="ヒラギノ角ゴ Pro W3"/>
                        <a:cs typeface="ヒラギノ角ゴ Pro W3"/>
                      </a:rPr>
                      <m:t>       =</m:t>
                    </m:r>
                    <m:func>
                      <m:funcPr>
                        <m:ctrlPr>
                          <a:rPr kumimoji="1" lang="en-US" altLang="ja-JP" sz="3200" b="0" i="1" smtClean="0">
                            <a:latin typeface="Cambria Math" panose="02040503050406030204" pitchFamily="18" charset="0"/>
                            <a:ea typeface="ヒラギノ角ゴ Pro W3"/>
                            <a:cs typeface="ヒラギノ角ゴ Pro W3"/>
                          </a:rPr>
                        </m:ctrlPr>
                      </m:funcPr>
                      <m:fName>
                        <m:r>
                          <m:rPr>
                            <m:sty m:val="p"/>
                          </m:rPr>
                          <a:rPr kumimoji="1" lang="en-US" altLang="ja-JP" sz="3200" b="0" i="0" smtClean="0">
                            <a:latin typeface="Cambria Math" panose="02040503050406030204" pitchFamily="18" charset="0"/>
                            <a:ea typeface="ヒラギノ角ゴ Pro W3"/>
                            <a:cs typeface="ヒラギノ角ゴ Pro W3"/>
                          </a:rPr>
                          <m:t>inf</m:t>
                        </m:r>
                      </m:fName>
                      <m:e>
                        <m:d>
                          <m:dPr>
                            <m:begChr m:val="{"/>
                            <m:endChr m:val="}"/>
                            <m:ctrlPr>
                              <a:rPr kumimoji="1" lang="en-US" altLang="ja-JP" sz="3200" b="0" i="1" smtClean="0">
                                <a:latin typeface="Cambria Math" panose="02040503050406030204" pitchFamily="18" charset="0"/>
                                <a:ea typeface="ヒラギノ角ゴ Pro W3"/>
                                <a:cs typeface="ヒラギノ角ゴ Pro W3"/>
                              </a:rPr>
                            </m:ctrlPr>
                          </m:dPr>
                          <m:e>
                            <m:r>
                              <a:rPr kumimoji="1" lang="en-US" altLang="ja-JP" sz="3200" b="0" i="1" smtClean="0">
                                <a:latin typeface="Cambria Math" panose="02040503050406030204" pitchFamily="18" charset="0"/>
                                <a:ea typeface="ヒラギノ角ゴ Pro W3"/>
                                <a:cs typeface="ヒラギノ角ゴ Pro W3"/>
                              </a:rPr>
                              <m:t>𝑐</m:t>
                            </m:r>
                            <m:r>
                              <a:rPr lang="en-US" altLang="ja-JP" sz="3200" b="0" i="1" smtClean="0">
                                <a:latin typeface="Cambria Math" panose="02040503050406030204" pitchFamily="18" charset="0"/>
                                <a:ea typeface="Cambria Math" panose="02040503050406030204" pitchFamily="18" charset="0"/>
                              </a:rPr>
                              <m:t>:</m:t>
                            </m:r>
                            <m:sSub>
                              <m:sSubPr>
                                <m:ctrlPr>
                                  <a:rPr lang="en-US" altLang="ja-JP" sz="3200" b="1" i="1" smtClean="0">
                                    <a:latin typeface="Cambria Math" panose="02040503050406030204" pitchFamily="18" charset="0"/>
                                    <a:ea typeface="ヒラギノ角ゴ Pro W3"/>
                                  </a:rPr>
                                </m:ctrlPr>
                              </m:sSubPr>
                              <m:e>
                                <m:acc>
                                  <m:accPr>
                                    <m:chr m:val="̂"/>
                                    <m:ctrlPr>
                                      <a:rPr lang="ja-JP" altLang="en-US" sz="3200" i="1">
                                        <a:latin typeface="Cambria Math" panose="02040503050406030204" pitchFamily="18" charset="0"/>
                                        <a:ea typeface="ヒラギノ角ゴ Pro W3"/>
                                      </a:rPr>
                                    </m:ctrlPr>
                                  </m:accPr>
                                  <m:e>
                                    <m:r>
                                      <a:rPr lang="en-US" altLang="ja-JP" sz="3200" b="0" i="1" smtClean="0">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𝑘𝑗</m:t>
                                </m:r>
                              </m:sub>
                            </m:sSub>
                            <m:d>
                              <m:dPr>
                                <m:ctrlPr>
                                  <a:rPr lang="en-US" altLang="ja-JP" sz="3200" i="1">
                                    <a:latin typeface="Cambria Math" panose="02040503050406030204" pitchFamily="18" charset="0"/>
                                    <a:ea typeface="ヒラギノ角ゴ Pro W3"/>
                                  </a:rPr>
                                </m:ctrlPr>
                              </m:dPr>
                              <m:e>
                                <m:r>
                                  <a:rPr lang="en-US" altLang="ja-JP" sz="3200" b="0" i="1" smtClean="0">
                                    <a:latin typeface="Cambria Math" panose="02040503050406030204" pitchFamily="18" charset="0"/>
                                    <a:ea typeface="ヒラギノ角ゴ Pro W3"/>
                                  </a:rPr>
                                  <m:t>𝑐</m:t>
                                </m:r>
                              </m:e>
                            </m:d>
                            <m:r>
                              <a:rPr lang="en-US" altLang="ja-JP" sz="320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0</m:t>
                            </m:r>
                          </m:e>
                        </m:d>
                        <m:r>
                          <a:rPr lang="en-US" altLang="ja-JP" sz="3200" b="0" i="1" smtClean="0">
                            <a:latin typeface="Cambria Math" panose="02040503050406030204" pitchFamily="18" charset="0"/>
                            <a:ea typeface="Cambria Math" panose="02040503050406030204" pitchFamily="18" charset="0"/>
                          </a:rPr>
                          <m:t>, </m:t>
                        </m:r>
                      </m:e>
                    </m:func>
                  </m:oMath>
                </a14:m>
                <a:br>
                  <a:rPr lang="en-US" altLang="ja-JP" sz="3200" b="0" i="1" dirty="0">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kumimoji="1" lang="en-US" altLang="ja-JP" sz="3200" i="1">
                              <a:latin typeface="Cambria Math" panose="02040503050406030204" pitchFamily="18" charset="0"/>
                              <a:ea typeface="ヒラギノ角ゴ Pro W3"/>
                            </a:rPr>
                          </m:ctrlPr>
                        </m:sSubPr>
                        <m:e>
                          <m:acc>
                            <m:accPr>
                              <m:chr m:val="̃"/>
                              <m:ctrlPr>
                                <a:rPr kumimoji="1" lang="en-US" altLang="ja-JP" sz="3200" i="1">
                                  <a:latin typeface="Cambria Math" panose="02040503050406030204" pitchFamily="18" charset="0"/>
                                  <a:ea typeface="ヒラギノ角ゴ Pro W3"/>
                                </a:rPr>
                              </m:ctrlPr>
                            </m:accPr>
                            <m:e>
                              <m:r>
                                <a:rPr kumimoji="1" lang="en-US" altLang="ja-JP" sz="3200" i="1">
                                  <a:latin typeface="Cambria Math" panose="02040503050406030204" pitchFamily="18" charset="0"/>
                                  <a:ea typeface="ヒラギノ角ゴ Pro W3"/>
                                </a:rPr>
                                <m:t>𝑍</m:t>
                              </m:r>
                            </m:e>
                          </m:acc>
                        </m:e>
                        <m:sub>
                          <m:r>
                            <a:rPr kumimoji="1" lang="en-US" altLang="ja-JP" sz="3200" b="0" i="1" smtClean="0">
                              <a:latin typeface="Cambria Math" panose="02040503050406030204" pitchFamily="18" charset="0"/>
                              <a:ea typeface="ヒラギノ角ゴ Pro W3"/>
                            </a:rPr>
                            <m:t>𝑘</m:t>
                          </m:r>
                          <m:r>
                            <a:rPr kumimoji="1" lang="en-US" altLang="ja-JP" sz="3200" b="0" i="1" smtClean="0">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𝑗</m:t>
                          </m:r>
                          <m:r>
                            <a:rPr kumimoji="1" lang="en-US" altLang="ja-JP" sz="3200" i="1">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𝑝</m:t>
                          </m:r>
                          <m:r>
                            <a:rPr kumimoji="1" lang="en-US" altLang="ja-JP" sz="3200" b="0" i="1" smtClean="0">
                              <a:latin typeface="Cambria Math" panose="02040503050406030204" pitchFamily="18" charset="0"/>
                              <a:ea typeface="ヒラギノ角ゴ Pro W3"/>
                            </a:rPr>
                            <m:t>)</m:t>
                          </m:r>
                        </m:sub>
                      </m:sSub>
                      <m:r>
                        <m:rPr>
                          <m:aln/>
                        </m:rPr>
                        <a:rPr kumimoji="1" lang="en-US" altLang="ja-JP" sz="3200" i="1">
                          <a:latin typeface="Cambria Math" panose="02040503050406030204" pitchFamily="18" charset="0"/>
                          <a:ea typeface="ヒラギノ角ゴ Pro W3"/>
                          <a:cs typeface="ヒラギノ角ゴ Pro W3"/>
                        </a:rPr>
                        <m:t>=</m:t>
                      </m:r>
                      <m:func>
                        <m:funcPr>
                          <m:ctrlPr>
                            <a:rPr kumimoji="1" lang="en-US" altLang="ja-JP" sz="3200" i="1">
                              <a:latin typeface="Cambria Math" panose="02040503050406030204" pitchFamily="18" charset="0"/>
                              <a:ea typeface="ヒラギノ角ゴ Pro W3"/>
                              <a:cs typeface="ヒラギノ角ゴ Pro W3"/>
                            </a:rPr>
                          </m:ctrlPr>
                        </m:funcPr>
                        <m:fName>
                          <m:r>
                            <m:rPr>
                              <m:sty m:val="p"/>
                            </m:rPr>
                            <a:rPr kumimoji="1" lang="en-US" altLang="ja-JP" sz="3200">
                              <a:latin typeface="Cambria Math" panose="02040503050406030204" pitchFamily="18" charset="0"/>
                              <a:ea typeface="ヒラギノ角ゴ Pro W3"/>
                              <a:cs typeface="ヒラギノ角ゴ Pro W3"/>
                            </a:rPr>
                            <m:t>inf</m:t>
                          </m:r>
                        </m:fName>
                        <m:e>
                          <m:d>
                            <m:dPr>
                              <m:begChr m:val="{"/>
                              <m:endChr m:val="}"/>
                              <m:ctrlPr>
                                <a:rPr kumimoji="1" lang="en-US" altLang="ja-JP" sz="3200" i="1">
                                  <a:latin typeface="Cambria Math" panose="02040503050406030204" pitchFamily="18" charset="0"/>
                                  <a:ea typeface="ヒラギノ角ゴ Pro W3"/>
                                  <a:cs typeface="ヒラギノ角ゴ Pro W3"/>
                                </a:rPr>
                              </m:ctrlPr>
                            </m:dPr>
                            <m:e>
                              <m:r>
                                <a:rPr kumimoji="1" lang="en-US" altLang="ja-JP" sz="3200" i="1">
                                  <a:latin typeface="Cambria Math" panose="02040503050406030204" pitchFamily="18" charset="0"/>
                                  <a:ea typeface="ヒラギノ角ゴ Pro W3"/>
                                  <a:cs typeface="ヒラギノ角ゴ Pro W3"/>
                                </a:rPr>
                                <m:t>𝑐</m:t>
                              </m:r>
                              <m:r>
                                <a:rPr lang="en-US" altLang="ja-JP" sz="3200" i="1">
                                  <a:latin typeface="Cambria Math" panose="02040503050406030204" pitchFamily="18" charset="0"/>
                                  <a:ea typeface="Cambria Math" panose="02040503050406030204" pitchFamily="18" charset="0"/>
                                </a:rPr>
                                <m:t>:</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ja-JP" altLang="en-US" sz="3200" i="1">
                                          <a:latin typeface="Cambria Math" panose="02040503050406030204" pitchFamily="18" charset="0"/>
                                          <a:ea typeface="ヒラギノ角ゴ Pro W3"/>
                                        </a:rPr>
                                      </m:ctrlPr>
                                    </m:accPr>
                                    <m:e>
                                      <m:r>
                                        <a:rPr lang="en-US" altLang="ja-JP" sz="3200" i="1">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m:t>
                                  </m:r>
                                  <m:r>
                                    <a:rPr lang="en-US" altLang="ja-JP" sz="3200" b="0" i="1" smtClean="0">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𝑗</m:t>
                                  </m:r>
                                  <m:r>
                                    <a:rPr lang="en-US" altLang="ja-JP" sz="3200" i="1">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𝑝</m:t>
                                  </m:r>
                                  <m:r>
                                    <a:rPr lang="en-US" altLang="ja-JP" sz="3200" b="0" i="1" smtClean="0">
                                      <a:latin typeface="Cambria Math" panose="02040503050406030204" pitchFamily="18" charset="0"/>
                                      <a:ea typeface="ヒラギノ角ゴ Pro W3"/>
                                    </a:rPr>
                                    <m:t>)</m:t>
                                  </m:r>
                                </m:sub>
                              </m:sSub>
                              <m:d>
                                <m:dPr>
                                  <m:ctrlPr>
                                    <a:rPr lang="en-US" altLang="ja-JP" sz="3200" i="1">
                                      <a:latin typeface="Cambria Math" panose="02040503050406030204" pitchFamily="18" charset="0"/>
                                      <a:ea typeface="ヒラギノ角ゴ Pro W3"/>
                                    </a:rPr>
                                  </m:ctrlPr>
                                </m:dPr>
                                <m:e>
                                  <m:r>
                                    <a:rPr lang="en-US" altLang="ja-JP" sz="3200" i="1">
                                      <a:latin typeface="Cambria Math" panose="02040503050406030204" pitchFamily="18" charset="0"/>
                                      <a:ea typeface="ヒラギノ角ゴ Pro W3"/>
                                    </a:rPr>
                                    <m:t>𝑐</m:t>
                                  </m:r>
                                </m:e>
                              </m:d>
                              <m:r>
                                <a:rPr lang="en-US" altLang="ja-JP" sz="3200" i="1">
                                  <a:latin typeface="Cambria Math" panose="02040503050406030204" pitchFamily="18" charset="0"/>
                                  <a:ea typeface="Cambria Math" panose="02040503050406030204" pitchFamily="18" charset="0"/>
                                </a:rPr>
                                <m:t>≠0</m:t>
                              </m:r>
                            </m:e>
                          </m:d>
                          <m:r>
                            <a:rPr lang="en-US" altLang="ja-JP" sz="3200" i="1">
                              <a:latin typeface="Cambria Math" panose="02040503050406030204" pitchFamily="18" charset="0"/>
                              <a:ea typeface="Cambria Math" panose="02040503050406030204" pitchFamily="18" charset="0"/>
                            </a:rPr>
                            <m:t>, </m:t>
                          </m:r>
                        </m:e>
                      </m:func>
                    </m:oMath>
                  </m:oMathPara>
                </a14:m>
                <a:br>
                  <a:rPr lang="en-US" altLang="ja-JP" sz="3200" dirty="0">
                    <a:ea typeface="Cambria Math" panose="02040503050406030204" pitchFamily="18" charset="0"/>
                  </a:rPr>
                </a:br>
                <a:endParaRPr kumimoji="1" lang="ja-JP" altLang="en-US" sz="3200"/>
              </a:p>
            </p:txBody>
          </p:sp>
        </mc:Choice>
        <mc:Fallback xmlns="">
          <p:sp>
            <p:nvSpPr>
              <p:cNvPr id="21" name="テキスト ボックス 20">
                <a:extLst>
                  <a:ext uri="{FF2B5EF4-FFF2-40B4-BE49-F238E27FC236}">
                    <a16:creationId xmlns:a16="http://schemas.microsoft.com/office/drawing/2014/main" id="{713E963B-9BD8-44B6-2F38-8DDAC0890489}"/>
                  </a:ext>
                </a:extLst>
              </p:cNvPr>
              <p:cNvSpPr txBox="1">
                <a:spLocks noRot="1" noChangeAspect="1" noMove="1" noResize="1" noEditPoints="1" noAdjustHandles="1" noChangeArrowheads="1" noChangeShapeType="1" noTextEdit="1"/>
              </p:cNvSpPr>
              <p:nvPr/>
            </p:nvSpPr>
            <p:spPr>
              <a:xfrm>
                <a:off x="1443346" y="3418338"/>
                <a:ext cx="6034601" cy="1232453"/>
              </a:xfrm>
              <a:prstGeom prst="rect">
                <a:avLst/>
              </a:prstGeom>
              <a:blipFill>
                <a:blip r:embed="rId7"/>
                <a:stretch>
                  <a:fillRect t="-2041" b="-7143"/>
                </a:stretch>
              </a:blipFill>
            </p:spPr>
            <p:txBody>
              <a:bodyPr/>
              <a:lstStyle/>
              <a:p>
                <a:r>
                  <a:rPr lang="ja-JP" altLang="en-US">
                    <a:noFill/>
                  </a:rPr>
                  <a:t> </a:t>
                </a:r>
              </a:p>
            </p:txBody>
          </p:sp>
        </mc:Fallback>
      </mc:AlternateContent>
      <p:sp>
        <p:nvSpPr>
          <p:cNvPr id="5" name="タイトル 1">
            <a:extLst>
              <a:ext uri="{FF2B5EF4-FFF2-40B4-BE49-F238E27FC236}">
                <a16:creationId xmlns:a16="http://schemas.microsoft.com/office/drawing/2014/main" id="{B2DB027D-816A-6FA0-5564-029CC556822F}"/>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867D2DA9-048D-4659-771D-8AF260F8F6C9}"/>
                  </a:ext>
                </a:extLst>
              </p:cNvPr>
              <p:cNvSpPr txBox="1"/>
              <p:nvPr/>
            </p:nvSpPr>
            <p:spPr>
              <a:xfrm>
                <a:off x="541236" y="4663504"/>
                <a:ext cx="10417277" cy="2126608"/>
              </a:xfrm>
              <a:prstGeom prst="rect">
                <a:avLst/>
              </a:prstGeom>
              <a:solidFill>
                <a:schemeClr val="bg1"/>
              </a:solidFill>
              <a:ln w="25400">
                <a:solidFill>
                  <a:srgbClr val="7030A0"/>
                </a:solidFill>
              </a:ln>
            </p:spPr>
            <p:txBody>
              <a:bodyPr wrap="square" rtlCol="0">
                <a:spAutoFit/>
              </a:bodyPr>
              <a:lstStyle/>
              <a:p>
                <a:r>
                  <a:rPr lang="ja-JP" altLang="en-US" sz="2800">
                    <a:solidFill>
                      <a:schemeClr val="tx1"/>
                    </a:solidFill>
                  </a:rPr>
                  <a:t>・</a:t>
                </a:r>
                <a:r>
                  <a:rPr lang="en-US" altLang="ja-JP" sz="2800" b="1" dirty="0">
                    <a:solidFill>
                      <a:schemeClr val="tx1"/>
                    </a:solidFill>
                  </a:rPr>
                  <a:t> </a:t>
                </a:r>
                <a14:m>
                  <m:oMath xmlns:m="http://schemas.openxmlformats.org/officeDocument/2006/math">
                    <m:r>
                      <a:rPr lang="en-US" altLang="ja-JP" sz="2800" b="1" i="1" smtClean="0">
                        <a:solidFill>
                          <a:schemeClr val="tx1"/>
                        </a:solidFill>
                        <a:latin typeface="Cambria Math" panose="02040503050406030204" pitchFamily="18" charset="0"/>
                      </a:rPr>
                      <m:t>𝑿</m:t>
                    </m:r>
                  </m:oMath>
                </a14:m>
                <a:r>
                  <a:rPr kumimoji="1" lang="ja-JP" altLang="en-US" sz="2800">
                    <a:solidFill>
                      <a:schemeClr val="tx1"/>
                    </a:solidFill>
                  </a:rPr>
                  <a:t>が主成分に寄与する</a:t>
                </a:r>
                <a:r>
                  <a:rPr kumimoji="1" lang="en-US" altLang="ja-JP" sz="2800" dirty="0">
                    <a:solidFill>
                      <a:schemeClr val="tx1"/>
                    </a:solidFill>
                  </a:rPr>
                  <a:t> (</a:t>
                </a:r>
                <a14:m>
                  <m:oMath xmlns:m="http://schemas.openxmlformats.org/officeDocument/2006/math">
                    <m:sSub>
                      <m:sSubPr>
                        <m:ctrlPr>
                          <a:rPr lang="en-US" altLang="ja-JP" sz="2800" i="1">
                            <a:solidFill>
                              <a:schemeClr val="tx1"/>
                            </a:solidFill>
                            <a:latin typeface="Cambria Math" panose="02040503050406030204" pitchFamily="18" charset="0"/>
                          </a:rPr>
                        </m:ctrlPr>
                      </m:sSubPr>
                      <m:e>
                        <m:r>
                          <a:rPr lang="en-US" altLang="ja-JP" sz="2800" b="0" i="1" smtClean="0">
                            <a:solidFill>
                              <a:schemeClr val="tx1"/>
                            </a:solidFill>
                            <a:latin typeface="Cambria Math" panose="02040503050406030204" pitchFamily="18" charset="0"/>
                          </a:rPr>
                          <m:t>𝑣</m:t>
                        </m:r>
                      </m:e>
                      <m:sub>
                        <m:r>
                          <a:rPr lang="en-US" altLang="ja-JP" sz="2800" b="0" i="1" smtClean="0">
                            <a:solidFill>
                              <a:schemeClr val="tx1"/>
                            </a:solidFill>
                            <a:latin typeface="Cambria Math" panose="02040503050406030204" pitchFamily="18" charset="0"/>
                          </a:rPr>
                          <m:t>𝑘</m:t>
                        </m:r>
                        <m:r>
                          <a:rPr lang="en-US" altLang="ja-JP" sz="2800" i="1">
                            <a:solidFill>
                              <a:schemeClr val="tx1"/>
                            </a:solidFill>
                            <a:latin typeface="Cambria Math" panose="02040503050406030204" pitchFamily="18" charset="0"/>
                          </a:rPr>
                          <m:t>𝑗</m:t>
                        </m:r>
                      </m:sub>
                    </m:sSub>
                    <m:r>
                      <a:rPr lang="en-US" altLang="ja-JP" sz="2800" i="1">
                        <a:solidFill>
                          <a:schemeClr val="tx1"/>
                        </a:solidFill>
                        <a:latin typeface="Cambria Math" panose="02040503050406030204" pitchFamily="18" charset="0"/>
                        <a:ea typeface="Cambria Math" panose="02040503050406030204" pitchFamily="18" charset="0"/>
                      </a:rPr>
                      <m:t>≠</m:t>
                    </m:r>
                    <m:r>
                      <a:rPr lang="en-US" altLang="ja-JP" sz="2800" i="1" smtClean="0">
                        <a:solidFill>
                          <a:schemeClr val="tx1"/>
                        </a:solidFill>
                        <a:latin typeface="Cambria Math" panose="02040503050406030204" pitchFamily="18" charset="0"/>
                      </a:rPr>
                      <m:t>0</m:t>
                    </m:r>
                  </m:oMath>
                </a14:m>
                <a:r>
                  <a:rPr kumimoji="1" lang="en-US" altLang="ja-JP" sz="2800" dirty="0">
                    <a:solidFill>
                      <a:schemeClr val="tx1"/>
                    </a:solidFill>
                  </a:rPr>
                  <a:t>)</a:t>
                </a:r>
                <a:r>
                  <a:rPr kumimoji="1" lang="ja-JP" altLang="en-US" sz="2800">
                    <a:solidFill>
                      <a:schemeClr val="tx1"/>
                    </a:solidFill>
                  </a:rPr>
                  <a:t>場合：</a:t>
                </a:r>
                <a:endParaRPr kumimoji="1" lang="en-US" altLang="ja-JP" sz="2800" dirty="0">
                  <a:solidFill>
                    <a:schemeClr val="tx1"/>
                  </a:solidFill>
                </a:endParaRPr>
              </a:p>
              <a:p>
                <a:r>
                  <a:rPr lang="ja-JP" altLang="en-US" sz="2800">
                    <a:solidFill>
                      <a:schemeClr val="tx1"/>
                    </a:solidFill>
                  </a:rPr>
                  <a:t>　</a:t>
                </a:r>
                <a:r>
                  <a:rPr lang="en-US" altLang="ja-JP" sz="2800" b="1" dirty="0">
                    <a:solidFill>
                      <a:schemeClr val="tx1"/>
                    </a:solidFill>
                  </a:rPr>
                  <a:t> </a:t>
                </a:r>
                <a:r>
                  <a:rPr lang="ja-JP" altLang="en-US" sz="2800">
                    <a:solidFill>
                      <a:srgbClr val="FF0000"/>
                    </a:solidFill>
                  </a:rPr>
                  <a:t>必ず</a:t>
                </a:r>
                <a:r>
                  <a:rPr lang="ja-JP" altLang="en-US" sz="2800" b="1">
                    <a:solidFill>
                      <a:srgbClr val="FF0000"/>
                    </a:solidFill>
                  </a:rPr>
                  <a:t>「</a:t>
                </a:r>
                <a:r>
                  <a:rPr kumimoji="1" lang="en-US" altLang="ja-JP" sz="2800" dirty="0">
                    <a:solidFill>
                      <a:srgbClr val="FF0000"/>
                    </a:solidFill>
                    <a:ea typeface="ヒラギノ角ゴ Pro W3"/>
                    <a:cs typeface="ヒラギノ角ゴ Pro W3"/>
                  </a:rPr>
                  <a:t> </a:t>
                </a:r>
                <a14:m>
                  <m:oMath xmlns:m="http://schemas.openxmlformats.org/officeDocument/2006/math">
                    <m:sSub>
                      <m:sSubPr>
                        <m:ctrlPr>
                          <a:rPr kumimoji="1" lang="en-US" altLang="ja-JP" sz="2800" i="1">
                            <a:solidFill>
                              <a:srgbClr val="FF0000"/>
                            </a:solidFill>
                            <a:latin typeface="Cambria Math" panose="02040503050406030204" pitchFamily="18" charset="0"/>
                            <a:ea typeface="ヒラギノ角ゴ Pro W3"/>
                            <a:cs typeface="ヒラギノ角ゴ Pro W3"/>
                          </a:rPr>
                        </m:ctrlPr>
                      </m:sSubPr>
                      <m:e>
                        <m:r>
                          <a:rPr kumimoji="1" lang="en-US" altLang="ja-JP" sz="2800" i="1">
                            <a:solidFill>
                              <a:srgbClr val="FF0000"/>
                            </a:solidFill>
                            <a:latin typeface="Cambria Math" panose="02040503050406030204" pitchFamily="18" charset="0"/>
                            <a:ea typeface="ヒラギノ角ゴ Pro W3"/>
                            <a:cs typeface="ヒラギノ角ゴ Pro W3"/>
                          </a:rPr>
                          <m:t>𝑍</m:t>
                        </m:r>
                      </m:e>
                      <m:sub>
                        <m:r>
                          <a:rPr kumimoji="1" lang="en-US" altLang="ja-JP" sz="2800" i="1">
                            <a:solidFill>
                              <a:srgbClr val="FF0000"/>
                            </a:solidFill>
                            <a:latin typeface="Cambria Math" panose="02040503050406030204" pitchFamily="18" charset="0"/>
                            <a:ea typeface="ヒラギノ角ゴ Pro W3"/>
                            <a:cs typeface="ヒラギノ角ゴ Pro W3"/>
                          </a:rPr>
                          <m:t>𝑘𝑗</m:t>
                        </m:r>
                      </m:sub>
                    </m:sSub>
                    <m:r>
                      <a:rPr kumimoji="1" lang="en-US" altLang="ja-JP" sz="2800" i="1" smtClean="0">
                        <a:solidFill>
                          <a:srgbClr val="FF0000"/>
                        </a:solidFill>
                        <a:latin typeface="Cambria Math" panose="02040503050406030204" pitchFamily="18" charset="0"/>
                        <a:ea typeface="Cambria Math" panose="02040503050406030204" pitchFamily="18" charset="0"/>
                        <a:cs typeface="ヒラギノ角ゴ Pro W3"/>
                      </a:rPr>
                      <m:t>≤</m:t>
                    </m:r>
                    <m:sSub>
                      <m:sSubPr>
                        <m:ctrlPr>
                          <a:rPr kumimoji="1" lang="en-US" altLang="ja-JP" sz="2800" i="1">
                            <a:solidFill>
                              <a:srgbClr val="FF0000"/>
                            </a:solidFill>
                            <a:latin typeface="Cambria Math" panose="02040503050406030204" pitchFamily="18" charset="0"/>
                            <a:ea typeface="ヒラギノ角ゴ Pro W3"/>
                          </a:rPr>
                        </m:ctrlPr>
                      </m:sSubPr>
                      <m:e>
                        <m:acc>
                          <m:accPr>
                            <m:chr m:val="̃"/>
                            <m:ctrlPr>
                              <a:rPr kumimoji="1" lang="en-US" altLang="ja-JP" sz="2800" i="1">
                                <a:solidFill>
                                  <a:srgbClr val="FF0000"/>
                                </a:solidFill>
                                <a:latin typeface="Cambria Math" panose="02040503050406030204" pitchFamily="18" charset="0"/>
                                <a:ea typeface="ヒラギノ角ゴ Pro W3"/>
                              </a:rPr>
                            </m:ctrlPr>
                          </m:accPr>
                          <m:e>
                            <m:r>
                              <a:rPr kumimoji="1" lang="en-US" altLang="ja-JP" sz="2800" i="1">
                                <a:solidFill>
                                  <a:srgbClr val="FF0000"/>
                                </a:solidFill>
                                <a:latin typeface="Cambria Math" panose="02040503050406030204" pitchFamily="18" charset="0"/>
                                <a:ea typeface="ヒラギノ角ゴ Pro W3"/>
                              </a:rPr>
                              <m:t>𝑍</m:t>
                            </m:r>
                          </m:e>
                        </m:acc>
                      </m:e>
                      <m:sub>
                        <m:r>
                          <a:rPr kumimoji="1" lang="en-US" altLang="ja-JP" sz="2800" i="1">
                            <a:solidFill>
                              <a:srgbClr val="FF0000"/>
                            </a:solidFill>
                            <a:latin typeface="Cambria Math" panose="02040503050406030204" pitchFamily="18" charset="0"/>
                            <a:ea typeface="ヒラギノ角ゴ Pro W3"/>
                          </a:rPr>
                          <m:t>𝑘</m:t>
                        </m:r>
                        <m:r>
                          <a:rPr kumimoji="1" lang="en-US" altLang="ja-JP" sz="2800" i="1">
                            <a:solidFill>
                              <a:srgbClr val="FF0000"/>
                            </a:solidFill>
                            <a:latin typeface="Cambria Math" panose="02040503050406030204" pitchFamily="18" charset="0"/>
                            <a:ea typeface="ヒラギノ角ゴ Pro W3"/>
                          </a:rPr>
                          <m:t>(</m:t>
                        </m:r>
                        <m:r>
                          <a:rPr kumimoji="1" lang="en-US" altLang="ja-JP" sz="2800" i="1">
                            <a:solidFill>
                              <a:srgbClr val="FF0000"/>
                            </a:solidFill>
                            <a:latin typeface="Cambria Math" panose="02040503050406030204" pitchFamily="18" charset="0"/>
                            <a:ea typeface="ヒラギノ角ゴ Pro W3"/>
                          </a:rPr>
                          <m:t>𝑗</m:t>
                        </m:r>
                        <m:r>
                          <a:rPr kumimoji="1" lang="en-US" altLang="ja-JP" sz="2800" i="1">
                            <a:solidFill>
                              <a:srgbClr val="FF0000"/>
                            </a:solidFill>
                            <a:latin typeface="Cambria Math" panose="02040503050406030204" pitchFamily="18" charset="0"/>
                            <a:ea typeface="ヒラギノ角ゴ Pro W3"/>
                          </a:rPr>
                          <m:t>+</m:t>
                        </m:r>
                        <m:r>
                          <a:rPr kumimoji="1" lang="en-US" altLang="ja-JP" sz="2800" i="1">
                            <a:solidFill>
                              <a:srgbClr val="FF0000"/>
                            </a:solidFill>
                            <a:latin typeface="Cambria Math" panose="02040503050406030204" pitchFamily="18" charset="0"/>
                            <a:ea typeface="ヒラギノ角ゴ Pro W3"/>
                          </a:rPr>
                          <m:t>𝑝</m:t>
                        </m:r>
                        <m:r>
                          <a:rPr kumimoji="1" lang="en-US" altLang="ja-JP" sz="2800" i="1">
                            <a:solidFill>
                              <a:srgbClr val="FF0000"/>
                            </a:solidFill>
                            <a:latin typeface="Cambria Math" panose="02040503050406030204" pitchFamily="18" charset="0"/>
                            <a:ea typeface="ヒラギノ角ゴ Pro W3"/>
                          </a:rPr>
                          <m:t>)</m:t>
                        </m:r>
                      </m:sub>
                    </m:sSub>
                    <m:r>
                      <a:rPr kumimoji="1" lang="en-US" altLang="ja-JP" sz="2800" i="1">
                        <a:solidFill>
                          <a:srgbClr val="FF0000"/>
                        </a:solidFill>
                        <a:latin typeface="Cambria Math" panose="02040503050406030204" pitchFamily="18" charset="0"/>
                        <a:ea typeface="ヒラギノ角ゴ Pro W3"/>
                      </a:rPr>
                      <m:t> </m:t>
                    </m:r>
                  </m:oMath>
                </a14:m>
                <a:r>
                  <a:rPr kumimoji="1" lang="ja-JP" altLang="en-US" sz="2800">
                    <a:solidFill>
                      <a:srgbClr val="FF0000"/>
                    </a:solidFill>
                    <a:latin typeface="+mn-ea"/>
                  </a:rPr>
                  <a:t>」となる</a:t>
                </a:r>
                <a:endParaRPr kumimoji="1" lang="en-US" altLang="ja-JP" sz="2800" dirty="0">
                  <a:solidFill>
                    <a:schemeClr val="tx1"/>
                  </a:solidFill>
                  <a:latin typeface="+mn-ea"/>
                </a:endParaRPr>
              </a:p>
              <a:p>
                <a:endParaRPr kumimoji="1" lang="en-US" altLang="ja-JP" sz="800" dirty="0">
                  <a:solidFill>
                    <a:schemeClr val="tx1"/>
                  </a:solidFill>
                  <a:latin typeface="+mn-ea"/>
                </a:endParaRPr>
              </a:p>
              <a:p>
                <a:r>
                  <a:rPr lang="ja-JP" altLang="en-US" sz="2800">
                    <a:solidFill>
                      <a:schemeClr val="tx1"/>
                    </a:solidFill>
                  </a:rPr>
                  <a:t>・</a:t>
                </a:r>
                <a:r>
                  <a:rPr lang="en-US" altLang="ja-JP" sz="2800" b="1" dirty="0">
                    <a:solidFill>
                      <a:schemeClr val="tx1"/>
                    </a:solidFill>
                  </a:rPr>
                  <a:t> </a:t>
                </a:r>
                <a14:m>
                  <m:oMath xmlns:m="http://schemas.openxmlformats.org/officeDocument/2006/math">
                    <m:r>
                      <a:rPr lang="en-US" altLang="ja-JP" sz="2800" b="1" i="1" smtClean="0">
                        <a:solidFill>
                          <a:schemeClr val="tx1"/>
                        </a:solidFill>
                        <a:latin typeface="Cambria Math" panose="02040503050406030204" pitchFamily="18" charset="0"/>
                      </a:rPr>
                      <m:t>𝑿</m:t>
                    </m:r>
                  </m:oMath>
                </a14:m>
                <a:r>
                  <a:rPr lang="ja-JP" altLang="en-US" sz="2800">
                    <a:solidFill>
                      <a:schemeClr val="tx1"/>
                    </a:solidFill>
                  </a:rPr>
                  <a:t>が主成分</a:t>
                </a:r>
                <a:r>
                  <a:rPr kumimoji="1" lang="ja-JP" altLang="en-US" sz="2800">
                    <a:solidFill>
                      <a:schemeClr val="tx1"/>
                    </a:solidFill>
                  </a:rPr>
                  <a:t>に寄与しない</a:t>
                </a:r>
                <a:r>
                  <a:rPr kumimoji="1" lang="en-US" altLang="ja-JP" sz="2800" dirty="0">
                    <a:solidFill>
                      <a:schemeClr val="tx1"/>
                    </a:solidFill>
                  </a:rPr>
                  <a:t> (</a:t>
                </a:r>
                <a14:m>
                  <m:oMath xmlns:m="http://schemas.openxmlformats.org/officeDocument/2006/math">
                    <m:sSub>
                      <m:sSubPr>
                        <m:ctrlPr>
                          <a:rPr lang="en-US" altLang="ja-JP" sz="2800" i="1">
                            <a:solidFill>
                              <a:schemeClr val="tx1"/>
                            </a:solidFill>
                            <a:latin typeface="Cambria Math" panose="02040503050406030204" pitchFamily="18" charset="0"/>
                          </a:rPr>
                        </m:ctrlPr>
                      </m:sSubPr>
                      <m:e>
                        <m:r>
                          <a:rPr lang="en-US" altLang="ja-JP" sz="2800" b="0" i="1" smtClean="0">
                            <a:solidFill>
                              <a:schemeClr val="tx1"/>
                            </a:solidFill>
                            <a:latin typeface="Cambria Math" panose="02040503050406030204" pitchFamily="18" charset="0"/>
                          </a:rPr>
                          <m:t>𝑣</m:t>
                        </m:r>
                      </m:e>
                      <m:sub>
                        <m:r>
                          <a:rPr lang="en-US" altLang="ja-JP" sz="2800" b="0" i="1" smtClean="0">
                            <a:solidFill>
                              <a:schemeClr val="tx1"/>
                            </a:solidFill>
                            <a:latin typeface="Cambria Math" panose="02040503050406030204" pitchFamily="18" charset="0"/>
                          </a:rPr>
                          <m:t>𝑘</m:t>
                        </m:r>
                        <m:r>
                          <a:rPr lang="en-US" altLang="ja-JP" sz="2800" i="1">
                            <a:solidFill>
                              <a:schemeClr val="tx1"/>
                            </a:solidFill>
                            <a:latin typeface="Cambria Math" panose="02040503050406030204" pitchFamily="18" charset="0"/>
                          </a:rPr>
                          <m:t>𝑗</m:t>
                        </m:r>
                      </m:sub>
                    </m:sSub>
                    <m:r>
                      <a:rPr lang="en-US" altLang="ja-JP" sz="2800" i="1">
                        <a:solidFill>
                          <a:schemeClr val="tx1"/>
                        </a:solidFill>
                        <a:latin typeface="Cambria Math" panose="02040503050406030204" pitchFamily="18" charset="0"/>
                      </a:rPr>
                      <m:t>=0</m:t>
                    </m:r>
                  </m:oMath>
                </a14:m>
                <a:r>
                  <a:rPr kumimoji="1" lang="en-US" altLang="ja-JP" sz="2800" dirty="0">
                    <a:solidFill>
                      <a:schemeClr val="tx1"/>
                    </a:solidFill>
                  </a:rPr>
                  <a:t>)</a:t>
                </a:r>
                <a:r>
                  <a:rPr kumimoji="1" lang="ja-JP" altLang="en-US" sz="2800">
                    <a:solidFill>
                      <a:schemeClr val="tx1"/>
                    </a:solidFill>
                  </a:rPr>
                  <a:t>場合：</a:t>
                </a:r>
                <a:endParaRPr kumimoji="1" lang="en-US" altLang="ja-JP" sz="2800" dirty="0">
                  <a:solidFill>
                    <a:schemeClr val="tx1"/>
                  </a:solidFill>
                </a:endParaRPr>
              </a:p>
              <a:p>
                <a:r>
                  <a:rPr kumimoji="1" lang="ja-JP" altLang="en-US" sz="2800">
                    <a:solidFill>
                      <a:schemeClr val="tx1"/>
                    </a:solidFill>
                    <a:latin typeface="+mn-ea"/>
                  </a:rPr>
                  <a:t>　</a:t>
                </a:r>
                <a:r>
                  <a:rPr lang="ja-JP" altLang="en-US" sz="2800">
                    <a:solidFill>
                      <a:srgbClr val="FF0000"/>
                    </a:solidFill>
                  </a:rPr>
                  <a:t>「</a:t>
                </a:r>
                <a:r>
                  <a:rPr lang="en-US" altLang="ja-JP" sz="2800" b="1" dirty="0">
                    <a:solidFill>
                      <a:srgbClr val="FF0000"/>
                    </a:solidFill>
                  </a:rPr>
                  <a:t> </a:t>
                </a:r>
                <a14:m>
                  <m:oMath xmlns:m="http://schemas.openxmlformats.org/officeDocument/2006/math">
                    <m:sSub>
                      <m:sSubPr>
                        <m:ctrlPr>
                          <a:rPr kumimoji="1" lang="en-US" altLang="ja-JP" sz="2800" i="1">
                            <a:solidFill>
                              <a:srgbClr val="FF0000"/>
                            </a:solidFill>
                            <a:latin typeface="Cambria Math" panose="02040503050406030204" pitchFamily="18" charset="0"/>
                            <a:ea typeface="ヒラギノ角ゴ Pro W3"/>
                            <a:cs typeface="ヒラギノ角ゴ Pro W3"/>
                          </a:rPr>
                        </m:ctrlPr>
                      </m:sSubPr>
                      <m:e>
                        <m:r>
                          <a:rPr kumimoji="1" lang="en-US" altLang="ja-JP" sz="2800" i="1">
                            <a:solidFill>
                              <a:srgbClr val="FF0000"/>
                            </a:solidFill>
                            <a:latin typeface="Cambria Math" panose="02040503050406030204" pitchFamily="18" charset="0"/>
                            <a:ea typeface="ヒラギノ角ゴ Pro W3"/>
                            <a:cs typeface="ヒラギノ角ゴ Pro W3"/>
                          </a:rPr>
                          <m:t>𝑍</m:t>
                        </m:r>
                      </m:e>
                      <m:sub>
                        <m:r>
                          <a:rPr kumimoji="1" lang="en-US" altLang="ja-JP" sz="2800" i="1">
                            <a:solidFill>
                              <a:srgbClr val="FF0000"/>
                            </a:solidFill>
                            <a:latin typeface="Cambria Math" panose="02040503050406030204" pitchFamily="18" charset="0"/>
                            <a:ea typeface="ヒラギノ角ゴ Pro W3"/>
                            <a:cs typeface="ヒラギノ角ゴ Pro W3"/>
                          </a:rPr>
                          <m:t>𝑘𝑗</m:t>
                        </m:r>
                      </m:sub>
                    </m:sSub>
                    <m:r>
                      <a:rPr lang="en-US" altLang="ja-JP" sz="2800" i="1">
                        <a:solidFill>
                          <a:srgbClr val="FF0000"/>
                        </a:solidFill>
                        <a:latin typeface="Cambria Math" panose="02040503050406030204" pitchFamily="18" charset="0"/>
                      </a:rPr>
                      <m:t>≥</m:t>
                    </m:r>
                  </m:oMath>
                </a14:m>
                <a:r>
                  <a:rPr lang="en-US" altLang="ja-JP" sz="2800" i="1" dirty="0">
                    <a:solidFill>
                      <a:srgbClr val="FF0000"/>
                    </a:solidFill>
                    <a:latin typeface="Cambria Math" panose="02040503050406030204" pitchFamily="18" charset="0"/>
                  </a:rPr>
                  <a:t> </a:t>
                </a:r>
                <a14:m>
                  <m:oMath xmlns:m="http://schemas.openxmlformats.org/officeDocument/2006/math">
                    <m:sSub>
                      <m:sSubPr>
                        <m:ctrlPr>
                          <a:rPr kumimoji="1" lang="en-US" altLang="ja-JP" sz="2800" i="1">
                            <a:solidFill>
                              <a:srgbClr val="FF0000"/>
                            </a:solidFill>
                            <a:latin typeface="Cambria Math" panose="02040503050406030204" pitchFamily="18" charset="0"/>
                            <a:ea typeface="ヒラギノ角ゴ Pro W3"/>
                          </a:rPr>
                        </m:ctrlPr>
                      </m:sSubPr>
                      <m:e>
                        <m:acc>
                          <m:accPr>
                            <m:chr m:val="̃"/>
                            <m:ctrlPr>
                              <a:rPr kumimoji="1" lang="en-US" altLang="ja-JP" sz="2800" i="1">
                                <a:solidFill>
                                  <a:srgbClr val="FF0000"/>
                                </a:solidFill>
                                <a:latin typeface="Cambria Math" panose="02040503050406030204" pitchFamily="18" charset="0"/>
                                <a:ea typeface="ヒラギノ角ゴ Pro W3"/>
                              </a:rPr>
                            </m:ctrlPr>
                          </m:accPr>
                          <m:e>
                            <m:r>
                              <a:rPr kumimoji="1" lang="en-US" altLang="ja-JP" sz="2800" i="1">
                                <a:solidFill>
                                  <a:srgbClr val="FF0000"/>
                                </a:solidFill>
                                <a:latin typeface="Cambria Math" panose="02040503050406030204" pitchFamily="18" charset="0"/>
                                <a:ea typeface="ヒラギノ角ゴ Pro W3"/>
                              </a:rPr>
                              <m:t>𝑍</m:t>
                            </m:r>
                          </m:e>
                        </m:acc>
                      </m:e>
                      <m:sub>
                        <m:r>
                          <a:rPr kumimoji="1" lang="en-US" altLang="ja-JP" sz="2800" i="1">
                            <a:solidFill>
                              <a:srgbClr val="FF0000"/>
                            </a:solidFill>
                            <a:latin typeface="Cambria Math" panose="02040503050406030204" pitchFamily="18" charset="0"/>
                            <a:ea typeface="ヒラギノ角ゴ Pro W3"/>
                          </a:rPr>
                          <m:t>𝑘</m:t>
                        </m:r>
                        <m:r>
                          <a:rPr kumimoji="1" lang="en-US" altLang="ja-JP" sz="2800" i="1">
                            <a:solidFill>
                              <a:srgbClr val="FF0000"/>
                            </a:solidFill>
                            <a:latin typeface="Cambria Math" panose="02040503050406030204" pitchFamily="18" charset="0"/>
                            <a:ea typeface="ヒラギノ角ゴ Pro W3"/>
                          </a:rPr>
                          <m:t>(</m:t>
                        </m:r>
                        <m:r>
                          <a:rPr kumimoji="1" lang="en-US" altLang="ja-JP" sz="2800" i="1">
                            <a:solidFill>
                              <a:srgbClr val="FF0000"/>
                            </a:solidFill>
                            <a:latin typeface="Cambria Math" panose="02040503050406030204" pitchFamily="18" charset="0"/>
                            <a:ea typeface="ヒラギノ角ゴ Pro W3"/>
                          </a:rPr>
                          <m:t>𝑗</m:t>
                        </m:r>
                        <m:r>
                          <a:rPr kumimoji="1" lang="en-US" altLang="ja-JP" sz="2800" i="1">
                            <a:solidFill>
                              <a:srgbClr val="FF0000"/>
                            </a:solidFill>
                            <a:latin typeface="Cambria Math" panose="02040503050406030204" pitchFamily="18" charset="0"/>
                            <a:ea typeface="ヒラギノ角ゴ Pro W3"/>
                          </a:rPr>
                          <m:t>+</m:t>
                        </m:r>
                        <m:r>
                          <a:rPr kumimoji="1" lang="en-US" altLang="ja-JP" sz="2800" i="1">
                            <a:solidFill>
                              <a:srgbClr val="FF0000"/>
                            </a:solidFill>
                            <a:latin typeface="Cambria Math" panose="02040503050406030204" pitchFamily="18" charset="0"/>
                            <a:ea typeface="ヒラギノ角ゴ Pro W3"/>
                          </a:rPr>
                          <m:t>𝑝</m:t>
                        </m:r>
                        <m:r>
                          <a:rPr kumimoji="1" lang="en-US" altLang="ja-JP" sz="2800" i="1">
                            <a:solidFill>
                              <a:srgbClr val="FF0000"/>
                            </a:solidFill>
                            <a:latin typeface="Cambria Math" panose="02040503050406030204" pitchFamily="18" charset="0"/>
                            <a:ea typeface="ヒラギノ角ゴ Pro W3"/>
                          </a:rPr>
                          <m:t>)</m:t>
                        </m:r>
                      </m:sub>
                    </m:sSub>
                    <m:r>
                      <a:rPr kumimoji="1" lang="en-US" altLang="ja-JP" sz="2800" i="1">
                        <a:solidFill>
                          <a:srgbClr val="FF0000"/>
                        </a:solidFill>
                        <a:latin typeface="Cambria Math" panose="02040503050406030204" pitchFamily="18" charset="0"/>
                        <a:ea typeface="ヒラギノ角ゴ Pro W3"/>
                      </a:rPr>
                      <m:t> </m:t>
                    </m:r>
                  </m:oMath>
                </a14:m>
                <a:r>
                  <a:rPr kumimoji="1" lang="ja-JP" altLang="en-US" sz="2800">
                    <a:solidFill>
                      <a:srgbClr val="FF0000"/>
                    </a:solidFill>
                    <a:latin typeface="+mn-ea"/>
                  </a:rPr>
                  <a:t>」</a:t>
                </a:r>
                <a:r>
                  <a:rPr kumimoji="1" lang="en-US" altLang="ja-JP" sz="2800" dirty="0">
                    <a:solidFill>
                      <a:srgbClr val="FF0000"/>
                    </a:solidFill>
                    <a:latin typeface="+mn-ea"/>
                  </a:rPr>
                  <a:t>, </a:t>
                </a:r>
                <a:r>
                  <a:rPr lang="ja-JP" altLang="en-US" sz="2800">
                    <a:solidFill>
                      <a:srgbClr val="FF0000"/>
                    </a:solidFill>
                  </a:rPr>
                  <a:t>「</a:t>
                </a:r>
                <a:r>
                  <a:rPr kumimoji="1" lang="en-US" altLang="ja-JP" sz="2800" dirty="0">
                    <a:solidFill>
                      <a:srgbClr val="FF0000"/>
                    </a:solidFill>
                    <a:ea typeface="ヒラギノ角ゴ Pro W3"/>
                    <a:cs typeface="ヒラギノ角ゴ Pro W3"/>
                  </a:rPr>
                  <a:t> </a:t>
                </a:r>
                <a14:m>
                  <m:oMath xmlns:m="http://schemas.openxmlformats.org/officeDocument/2006/math">
                    <m:sSub>
                      <m:sSubPr>
                        <m:ctrlPr>
                          <a:rPr kumimoji="1" lang="en-US" altLang="ja-JP" sz="2800" i="1">
                            <a:solidFill>
                              <a:srgbClr val="FF0000"/>
                            </a:solidFill>
                            <a:latin typeface="Cambria Math" panose="02040503050406030204" pitchFamily="18" charset="0"/>
                            <a:ea typeface="ヒラギノ角ゴ Pro W3"/>
                            <a:cs typeface="ヒラギノ角ゴ Pro W3"/>
                          </a:rPr>
                        </m:ctrlPr>
                      </m:sSubPr>
                      <m:e>
                        <m:r>
                          <a:rPr kumimoji="1" lang="en-US" altLang="ja-JP" sz="2800" i="1">
                            <a:solidFill>
                              <a:srgbClr val="FF0000"/>
                            </a:solidFill>
                            <a:latin typeface="Cambria Math" panose="02040503050406030204" pitchFamily="18" charset="0"/>
                            <a:ea typeface="ヒラギノ角ゴ Pro W3"/>
                            <a:cs typeface="ヒラギノ角ゴ Pro W3"/>
                          </a:rPr>
                          <m:t>𝑍</m:t>
                        </m:r>
                      </m:e>
                      <m:sub>
                        <m:r>
                          <a:rPr kumimoji="1" lang="en-US" altLang="ja-JP" sz="2800" i="1">
                            <a:solidFill>
                              <a:srgbClr val="FF0000"/>
                            </a:solidFill>
                            <a:latin typeface="Cambria Math" panose="02040503050406030204" pitchFamily="18" charset="0"/>
                            <a:ea typeface="ヒラギノ角ゴ Pro W3"/>
                            <a:cs typeface="ヒラギノ角ゴ Pro W3"/>
                          </a:rPr>
                          <m:t>𝑘𝑗</m:t>
                        </m:r>
                      </m:sub>
                    </m:sSub>
                    <m:r>
                      <a:rPr lang="en-US" altLang="ja-JP" sz="2800" i="1">
                        <a:solidFill>
                          <a:srgbClr val="FF0000"/>
                        </a:solidFill>
                        <a:latin typeface="Cambria Math" panose="02040503050406030204" pitchFamily="18" charset="0"/>
                      </a:rPr>
                      <m:t>≤</m:t>
                    </m:r>
                  </m:oMath>
                </a14:m>
                <a:r>
                  <a:rPr lang="en-US" altLang="ja-JP" sz="2800" i="1" dirty="0">
                    <a:solidFill>
                      <a:srgbClr val="FF0000"/>
                    </a:solidFill>
                    <a:latin typeface="Cambria Math" panose="02040503050406030204" pitchFamily="18" charset="0"/>
                  </a:rPr>
                  <a:t> </a:t>
                </a:r>
                <a14:m>
                  <m:oMath xmlns:m="http://schemas.openxmlformats.org/officeDocument/2006/math">
                    <m:sSub>
                      <m:sSubPr>
                        <m:ctrlPr>
                          <a:rPr kumimoji="1" lang="en-US" altLang="ja-JP" sz="2800" i="1">
                            <a:solidFill>
                              <a:srgbClr val="FF0000"/>
                            </a:solidFill>
                            <a:latin typeface="Cambria Math" panose="02040503050406030204" pitchFamily="18" charset="0"/>
                            <a:ea typeface="ヒラギノ角ゴ Pro W3"/>
                          </a:rPr>
                        </m:ctrlPr>
                      </m:sSubPr>
                      <m:e>
                        <m:acc>
                          <m:accPr>
                            <m:chr m:val="̃"/>
                            <m:ctrlPr>
                              <a:rPr kumimoji="1" lang="en-US" altLang="ja-JP" sz="2800" i="1">
                                <a:solidFill>
                                  <a:srgbClr val="FF0000"/>
                                </a:solidFill>
                                <a:latin typeface="Cambria Math" panose="02040503050406030204" pitchFamily="18" charset="0"/>
                                <a:ea typeface="ヒラギノ角ゴ Pro W3"/>
                              </a:rPr>
                            </m:ctrlPr>
                          </m:accPr>
                          <m:e>
                            <m:r>
                              <a:rPr kumimoji="1" lang="en-US" altLang="ja-JP" sz="2800" i="1">
                                <a:solidFill>
                                  <a:srgbClr val="FF0000"/>
                                </a:solidFill>
                                <a:latin typeface="Cambria Math" panose="02040503050406030204" pitchFamily="18" charset="0"/>
                                <a:ea typeface="ヒラギノ角ゴ Pro W3"/>
                              </a:rPr>
                              <m:t>𝑍</m:t>
                            </m:r>
                          </m:e>
                        </m:acc>
                      </m:e>
                      <m:sub>
                        <m:r>
                          <a:rPr kumimoji="1" lang="en-US" altLang="ja-JP" sz="2800" i="1">
                            <a:solidFill>
                              <a:srgbClr val="FF0000"/>
                            </a:solidFill>
                            <a:latin typeface="Cambria Math" panose="02040503050406030204" pitchFamily="18" charset="0"/>
                            <a:ea typeface="ヒラギノ角ゴ Pro W3"/>
                          </a:rPr>
                          <m:t>𝑘</m:t>
                        </m:r>
                        <m:r>
                          <a:rPr kumimoji="1" lang="en-US" altLang="ja-JP" sz="2800" i="1">
                            <a:solidFill>
                              <a:srgbClr val="FF0000"/>
                            </a:solidFill>
                            <a:latin typeface="Cambria Math" panose="02040503050406030204" pitchFamily="18" charset="0"/>
                            <a:ea typeface="ヒラギノ角ゴ Pro W3"/>
                          </a:rPr>
                          <m:t>(</m:t>
                        </m:r>
                        <m:r>
                          <a:rPr kumimoji="1" lang="en-US" altLang="ja-JP" sz="2800" i="1">
                            <a:solidFill>
                              <a:srgbClr val="FF0000"/>
                            </a:solidFill>
                            <a:latin typeface="Cambria Math" panose="02040503050406030204" pitchFamily="18" charset="0"/>
                            <a:ea typeface="ヒラギノ角ゴ Pro W3"/>
                          </a:rPr>
                          <m:t>𝑗</m:t>
                        </m:r>
                        <m:r>
                          <a:rPr kumimoji="1" lang="en-US" altLang="ja-JP" sz="2800" i="1">
                            <a:solidFill>
                              <a:srgbClr val="FF0000"/>
                            </a:solidFill>
                            <a:latin typeface="Cambria Math" panose="02040503050406030204" pitchFamily="18" charset="0"/>
                            <a:ea typeface="ヒラギノ角ゴ Pro W3"/>
                          </a:rPr>
                          <m:t>+</m:t>
                        </m:r>
                        <m:r>
                          <a:rPr kumimoji="1" lang="en-US" altLang="ja-JP" sz="2800" i="1">
                            <a:solidFill>
                              <a:srgbClr val="FF0000"/>
                            </a:solidFill>
                            <a:latin typeface="Cambria Math" panose="02040503050406030204" pitchFamily="18" charset="0"/>
                            <a:ea typeface="ヒラギノ角ゴ Pro W3"/>
                          </a:rPr>
                          <m:t>𝑝</m:t>
                        </m:r>
                        <m:r>
                          <a:rPr kumimoji="1" lang="en-US" altLang="ja-JP" sz="2800" i="1">
                            <a:solidFill>
                              <a:srgbClr val="FF0000"/>
                            </a:solidFill>
                            <a:latin typeface="Cambria Math" panose="02040503050406030204" pitchFamily="18" charset="0"/>
                            <a:ea typeface="ヒラギノ角ゴ Pro W3"/>
                          </a:rPr>
                          <m:t>)</m:t>
                        </m:r>
                      </m:sub>
                    </m:sSub>
                    <m:r>
                      <a:rPr kumimoji="1" lang="en-US" altLang="ja-JP" sz="2800" i="1">
                        <a:solidFill>
                          <a:srgbClr val="FF0000"/>
                        </a:solidFill>
                        <a:latin typeface="Cambria Math" panose="02040503050406030204" pitchFamily="18" charset="0"/>
                        <a:ea typeface="ヒラギノ角ゴ Pro W3"/>
                      </a:rPr>
                      <m:t> </m:t>
                    </m:r>
                  </m:oMath>
                </a14:m>
                <a:r>
                  <a:rPr kumimoji="1" lang="ja-JP" altLang="en-US" sz="2800">
                    <a:solidFill>
                      <a:srgbClr val="FF0000"/>
                    </a:solidFill>
                    <a:latin typeface="+mn-ea"/>
                  </a:rPr>
                  <a:t>」が等確率で発生する</a:t>
                </a:r>
                <a:endParaRPr kumimoji="1" lang="en-US" altLang="ja-JP" sz="2800" dirty="0">
                  <a:solidFill>
                    <a:schemeClr val="tx1"/>
                  </a:solidFill>
                  <a:latin typeface="+mn-ea"/>
                </a:endParaRPr>
              </a:p>
            </p:txBody>
          </p:sp>
        </mc:Choice>
        <mc:Fallback xmlns="">
          <p:sp>
            <p:nvSpPr>
              <p:cNvPr id="4" name="テキスト ボックス 3">
                <a:extLst>
                  <a:ext uri="{FF2B5EF4-FFF2-40B4-BE49-F238E27FC236}">
                    <a16:creationId xmlns:a16="http://schemas.microsoft.com/office/drawing/2014/main" id="{867D2DA9-048D-4659-771D-8AF260F8F6C9}"/>
                  </a:ext>
                </a:extLst>
              </p:cNvPr>
              <p:cNvSpPr txBox="1">
                <a:spLocks noRot="1" noChangeAspect="1" noMove="1" noResize="1" noEditPoints="1" noAdjustHandles="1" noChangeArrowheads="1" noChangeShapeType="1" noTextEdit="1"/>
              </p:cNvSpPr>
              <p:nvPr/>
            </p:nvSpPr>
            <p:spPr>
              <a:xfrm>
                <a:off x="541236" y="4663504"/>
                <a:ext cx="10417277" cy="2126608"/>
              </a:xfrm>
              <a:prstGeom prst="rect">
                <a:avLst/>
              </a:prstGeom>
              <a:blipFill>
                <a:blip r:embed="rId8"/>
                <a:stretch>
                  <a:fillRect l="-1092" t="-2353" b="-4706"/>
                </a:stretch>
              </a:blipFill>
              <a:ln w="25400">
                <a:solidFill>
                  <a:srgbClr val="7030A0"/>
                </a:solidFill>
              </a:ln>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972EE59F-0D83-F605-080A-F0A91830EC32}"/>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18/28</a:t>
            </a:r>
            <a:endParaRPr kumimoji="1" lang="ja-JP" altLang="en-US" sz="2800">
              <a:latin typeface="+mj-ea"/>
              <a:ea typeface="+mj-ea"/>
            </a:endParaRPr>
          </a:p>
        </p:txBody>
      </p:sp>
    </p:spTree>
    <p:extLst>
      <p:ext uri="{BB962C8B-B14F-4D97-AF65-F5344CB8AC3E}">
        <p14:creationId xmlns:p14="http://schemas.microsoft.com/office/powerpoint/2010/main" val="2959181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3A056-0715-0088-BFD9-4F730A74F524}"/>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E4AC5100-C35B-EBD0-AB8B-C1459439BFE8}"/>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12" name="コンテンツ プレースホルダー 2">
                <a:extLst>
                  <a:ext uri="{FF2B5EF4-FFF2-40B4-BE49-F238E27FC236}">
                    <a16:creationId xmlns:a16="http://schemas.microsoft.com/office/drawing/2014/main" id="{88F8548A-DBDD-46F7-2426-B20E1EB18D42}"/>
                  </a:ext>
                </a:extLst>
              </p:cNvPr>
              <p:cNvSpPr>
                <a:spLocks noGrp="1"/>
              </p:cNvSpPr>
              <p:nvPr>
                <p:ph idx="1"/>
              </p:nvPr>
            </p:nvSpPr>
            <p:spPr>
              <a:xfrm>
                <a:off x="10232" y="1161341"/>
                <a:ext cx="12171534" cy="5678129"/>
              </a:xfrm>
            </p:spPr>
            <p:txBody>
              <a:bodyPr>
                <a:no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2. </a:t>
                </a:r>
                <a:r>
                  <a:rPr lang="ja-JP" altLang="en-US" sz="3200">
                    <a:solidFill>
                      <a:srgbClr val="7030A0"/>
                    </a:solidFill>
                    <a:latin typeface="+mn-ea"/>
                    <a:cs typeface="ヒラギノ角ゴ Pro W3"/>
                  </a:rPr>
                  <a:t>　</a:t>
                </a:r>
                <a:r>
                  <a:rPr kumimoji="1" lang="ja-JP" altLang="en-US" sz="3200">
                    <a:solidFill>
                      <a:srgbClr val="7030A0"/>
                    </a:solidFill>
                    <a:latin typeface="+mn-ea"/>
                    <a:cs typeface="ヒラギノ角ゴ Pro W3"/>
                  </a:rPr>
                  <a:t>統計量</a:t>
                </a:r>
                <a14:m>
                  <m:oMath xmlns:m="http://schemas.openxmlformats.org/officeDocument/2006/math">
                    <m:sSub>
                      <m:sSubPr>
                        <m:ctrlPr>
                          <a:rPr kumimoji="1" lang="en-US" altLang="ja-JP" sz="3200" b="0" i="1" smtClean="0">
                            <a:solidFill>
                              <a:srgbClr val="7030A0"/>
                            </a:solidFill>
                            <a:latin typeface="Cambria Math" panose="02040503050406030204" pitchFamily="18" charset="0"/>
                            <a:cs typeface="ヒラギノ角ゴ Pro W3"/>
                          </a:rPr>
                        </m:ctrlPr>
                      </m:sSubPr>
                      <m:e>
                        <m:r>
                          <a:rPr kumimoji="1" lang="en-US" altLang="ja-JP" sz="3200" b="1" i="1" smtClean="0">
                            <a:solidFill>
                              <a:srgbClr val="7030A0"/>
                            </a:solidFill>
                            <a:latin typeface="Cambria Math" panose="02040503050406030204" pitchFamily="18" charset="0"/>
                            <a:cs typeface="ヒラギノ角ゴ Pro W3"/>
                          </a:rPr>
                          <m:t>𝑾</m:t>
                        </m:r>
                      </m:e>
                      <m:sub>
                        <m:r>
                          <a:rPr kumimoji="1" lang="en-US" altLang="ja-JP" sz="3200" b="0" i="1" smtClean="0">
                            <a:solidFill>
                              <a:srgbClr val="7030A0"/>
                            </a:solidFill>
                            <a:latin typeface="Cambria Math" panose="02040503050406030204" pitchFamily="18" charset="0"/>
                            <a:cs typeface="ヒラギノ角ゴ Pro W3"/>
                          </a:rPr>
                          <m:t>𝑘</m:t>
                        </m:r>
                      </m:sub>
                    </m:sSub>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400" dirty="0">
                  <a:solidFill>
                    <a:srgbClr val="7030A0"/>
                  </a:solidFill>
                  <a:latin typeface="+mn-ea"/>
                  <a:cs typeface="ヒラギノ角ゴ Pro W3"/>
                </a:endParaRPr>
              </a:p>
              <a:p>
                <a:pPr marL="0" indent="0">
                  <a:buNone/>
                </a:pPr>
                <a:r>
                  <a:rPr lang="ja-JP" altLang="en-US">
                    <a:latin typeface="+mn-ea"/>
                    <a:cs typeface="ヒラギノ角ゴ Pro W3"/>
                  </a:rPr>
                  <a:t>・</a:t>
                </a:r>
                <a:r>
                  <a:rPr kumimoji="1" lang="en-US" altLang="ja-JP" dirty="0" err="1">
                    <a:latin typeface="+mn-ea"/>
                    <a:cs typeface="ヒラギノ角ゴ Pro W3"/>
                  </a:rPr>
                  <a:t>SCoTLASS</a:t>
                </a:r>
                <a:r>
                  <a:rPr kumimoji="1" lang="ja-JP" altLang="en-US">
                    <a:latin typeface="+mn-ea"/>
                    <a:cs typeface="ヒラギノ角ゴ Pro W3"/>
                  </a:rPr>
                  <a:t>の拡張版</a:t>
                </a:r>
                <a:r>
                  <a:rPr kumimoji="1" lang="en-US" altLang="ja-JP" dirty="0">
                    <a:latin typeface="+mn-ea"/>
                    <a:cs typeface="ヒラギノ角ゴ Pro W3"/>
                  </a:rPr>
                  <a:t> </a:t>
                </a:r>
                <a14:m>
                  <m:oMath xmlns:m="http://schemas.openxmlformats.org/officeDocument/2006/math">
                    <m:r>
                      <m:rPr>
                        <m:nor/>
                      </m:rPr>
                      <a:rPr lang="en-US" altLang="ja-JP" dirty="0" smtClean="0">
                        <a:latin typeface="+mn-ea"/>
                        <a:cs typeface="ヒラギノ角ゴ Pro W3"/>
                      </a:rPr>
                      <m:t>(</m:t>
                    </m:r>
                    <m:r>
                      <m:rPr>
                        <m:nor/>
                      </m:rPr>
                      <a:rPr lang="en-US" altLang="ja-JP" dirty="0" smtClean="0">
                        <a:latin typeface="+mn-ea"/>
                        <a:cs typeface="ヒラギノ角ゴ Pro W3"/>
                      </a:rPr>
                      <m:t>Witten</m:t>
                    </m:r>
                    <m:r>
                      <m:rPr>
                        <m:nor/>
                      </m:rPr>
                      <a:rPr lang="en-US" altLang="ja-JP" dirty="0" smtClean="0">
                        <a:latin typeface="+mn-ea"/>
                        <a:cs typeface="ヒラギノ角ゴ Pro W3"/>
                      </a:rPr>
                      <m:t> </m:t>
                    </m:r>
                    <m:r>
                      <m:rPr>
                        <m:nor/>
                      </m:rPr>
                      <a:rPr lang="en-US" altLang="ja-JP" dirty="0" smtClean="0">
                        <a:latin typeface="+mn-ea"/>
                        <a:cs typeface="ヒラギノ角ゴ Pro W3"/>
                      </a:rPr>
                      <m:t>et</m:t>
                    </m:r>
                    <m:r>
                      <m:rPr>
                        <m:nor/>
                      </m:rPr>
                      <a:rPr lang="en-US" altLang="ja-JP" dirty="0" smtClean="0">
                        <a:latin typeface="+mn-ea"/>
                        <a:cs typeface="ヒラギノ角ゴ Pro W3"/>
                      </a:rPr>
                      <m:t> </m:t>
                    </m:r>
                    <m:r>
                      <m:rPr>
                        <m:nor/>
                      </m:rPr>
                      <a:rPr lang="en-US" altLang="ja-JP" dirty="0" smtClean="0">
                        <a:latin typeface="+mn-ea"/>
                        <a:cs typeface="ヒラギノ角ゴ Pro W3"/>
                      </a:rPr>
                      <m:t>al</m:t>
                    </m:r>
                    <m:r>
                      <m:rPr>
                        <m:nor/>
                      </m:rPr>
                      <a:rPr lang="en-US" altLang="ja-JP" dirty="0" smtClean="0">
                        <a:latin typeface="+mn-ea"/>
                        <a:cs typeface="ヒラギノ角ゴ Pro W3"/>
                      </a:rPr>
                      <m:t>., 2009)</m:t>
                    </m:r>
                  </m:oMath>
                </a14:m>
                <a:endParaRPr kumimoji="1" lang="en-US" altLang="ja-JP" dirty="0">
                  <a:latin typeface="+mn-ea"/>
                  <a:cs typeface="ヒラギノ角ゴ Pro W3"/>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acc>
                            <m:accPr>
                              <m:chr m:val="̂"/>
                              <m:ctrlPr>
                                <a:rPr lang="en-US" altLang="ja-JP" sz="3200" b="0" i="1" smtClean="0">
                                  <a:latin typeface="Cambria Math" panose="02040503050406030204" pitchFamily="18" charset="0"/>
                                </a:rPr>
                              </m:ctrlPr>
                            </m:accPr>
                            <m:e>
                              <m:r>
                                <a:rPr lang="en-US" altLang="ja-JP" sz="3200" b="1" i="1" smtClean="0">
                                  <a:latin typeface="Cambria Math" panose="02040503050406030204" pitchFamily="18" charset="0"/>
                                </a:rPr>
                                <m:t>𝒗</m:t>
                              </m:r>
                            </m:e>
                          </m:acc>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m:t>
                      </m:r>
                      <m:func>
                        <m:funcPr>
                          <m:ctrlPr>
                            <a:rPr lang="en-US" altLang="ja-JP" sz="3200" i="1" smtClean="0">
                              <a:latin typeface="Cambria Math" panose="02040503050406030204" pitchFamily="18" charset="0"/>
                            </a:rPr>
                          </m:ctrlPr>
                        </m:funcPr>
                        <m:fName>
                          <m:limLow>
                            <m:limLowPr>
                              <m:ctrlPr>
                                <a:rPr lang="en-US" altLang="ja-JP" sz="3200" i="1">
                                  <a:latin typeface="Cambria Math" panose="02040503050406030204" pitchFamily="18" charset="0"/>
                                </a:rPr>
                              </m:ctrlPr>
                            </m:limLowPr>
                            <m:e>
                              <m:r>
                                <m:rPr>
                                  <m:sty m:val="p"/>
                                </m:rPr>
                                <a:rPr lang="en-US" altLang="ja-JP" sz="3200" b="0" i="0" smtClean="0">
                                  <a:latin typeface="Cambria Math" panose="02040503050406030204" pitchFamily="18" charset="0"/>
                                </a:rPr>
                                <m:t>argmax</m:t>
                              </m:r>
                            </m:e>
                            <m:lim>
                              <m:r>
                                <a:rPr lang="en-US" altLang="ja-JP" sz="3200" b="1" i="1" smtClean="0">
                                  <a:latin typeface="Cambria Math" panose="02040503050406030204" pitchFamily="18" charset="0"/>
                                </a:rPr>
                                <m:t> </m:t>
                              </m:r>
                              <m:r>
                                <a:rPr lang="en-US" altLang="ja-JP" sz="3200" b="1" i="1" smtClean="0">
                                  <a:latin typeface="Cambria Math" panose="02040503050406030204" pitchFamily="18" charset="0"/>
                                </a:rPr>
                                <m:t>𝒗</m:t>
                              </m:r>
                            </m:lim>
                          </m:limLow>
                        </m:fName>
                        <m:e>
                          <m:sSubSup>
                            <m:sSubSupPr>
                              <m:ctrlPr>
                                <a:rPr lang="en-US" altLang="ja-JP" sz="3200" b="0" i="1" smtClean="0">
                                  <a:latin typeface="Cambria Math" panose="02040503050406030204" pitchFamily="18" charset="0"/>
                                  <a:ea typeface="Cambria Math" panose="02040503050406030204" pitchFamily="18" charset="0"/>
                                </a:rPr>
                              </m:ctrlPr>
                            </m:sSubSupPr>
                            <m:e>
                              <m:r>
                                <a:rPr lang="en-US" altLang="ja-JP" sz="3200" b="1" i="1" smtClean="0">
                                  <a:latin typeface="Cambria Math" panose="02040503050406030204" pitchFamily="18" charset="0"/>
                                  <a:ea typeface="Cambria Math" panose="02040503050406030204" pitchFamily="18" charset="0"/>
                                </a:rPr>
                                <m:t>𝒗</m:t>
                              </m:r>
                            </m:e>
                            <m:sub>
                              <m:r>
                                <a:rPr lang="en-US" altLang="ja-JP" sz="3200" b="0" i="1" smtClean="0">
                                  <a:latin typeface="Cambria Math" panose="02040503050406030204" pitchFamily="18" charset="0"/>
                                  <a:ea typeface="Cambria Math" panose="02040503050406030204" pitchFamily="18" charset="0"/>
                                </a:rPr>
                                <m:t>𝑘</m:t>
                              </m:r>
                            </m:sub>
                            <m:sup>
                              <m:r>
                                <a:rPr lang="en-US" altLang="ja-JP" sz="3200" b="0" i="1" smtClean="0">
                                  <a:latin typeface="Cambria Math" panose="02040503050406030204" pitchFamily="18" charset="0"/>
                                  <a:ea typeface="Cambria Math" panose="02040503050406030204" pitchFamily="18" charset="0"/>
                                </a:rPr>
                                <m:t>𝑇</m:t>
                              </m:r>
                            </m:sup>
                          </m:sSubSup>
                          <m:sSup>
                            <m:sSupPr>
                              <m:ctrlPr>
                                <a:rPr lang="en-US" altLang="ja-JP" sz="3200" b="0" i="1" smtClean="0">
                                  <a:latin typeface="Cambria Math" panose="02040503050406030204" pitchFamily="18" charset="0"/>
                                  <a:ea typeface="Cambria Math" panose="02040503050406030204" pitchFamily="18" charset="0"/>
                                </a:rPr>
                              </m:ctrlPr>
                            </m:sSupPr>
                            <m:e>
                              <m:d>
                                <m:dPr>
                                  <m:begChr m:val="["/>
                                  <m:endChr m:val="]"/>
                                  <m:ctrlPr>
                                    <a:rPr lang="en-US" altLang="ja-JP" sz="3200" b="0" i="1" smtClean="0">
                                      <a:latin typeface="Cambria Math" panose="02040503050406030204" pitchFamily="18" charset="0"/>
                                      <a:ea typeface="Cambria Math" panose="02040503050406030204" pitchFamily="18" charset="0"/>
                                    </a:rPr>
                                  </m:ctrlPr>
                                </m:dPr>
                                <m:e>
                                  <m:r>
                                    <a:rPr lang="en-US" altLang="ja-JP" sz="3200" b="0" i="1" smtClean="0">
                                      <a:latin typeface="Cambria Math" panose="02040503050406030204" pitchFamily="18" charset="0"/>
                                      <a:ea typeface="Cambria Math" panose="02040503050406030204" pitchFamily="18" charset="0"/>
                                    </a:rPr>
                                    <m:t>𝑋</m:t>
                                  </m:r>
                                  <m:r>
                                    <a:rPr lang="en-US" altLang="ja-JP" sz="3200" b="0" i="1" smtClean="0">
                                      <a:latin typeface="Cambria Math" panose="02040503050406030204" pitchFamily="18" charset="0"/>
                                      <a:ea typeface="Cambria Math" panose="02040503050406030204" pitchFamily="18" charset="0"/>
                                    </a:rPr>
                                    <m:t>,</m:t>
                                  </m:r>
                                  <m:acc>
                                    <m:accPr>
                                      <m:chr m:val="̃"/>
                                      <m:ctrlPr>
                                        <a:rPr lang="en-US" altLang="ja-JP" sz="3200" b="0" i="1" smtClean="0">
                                          <a:latin typeface="Cambria Math" panose="02040503050406030204" pitchFamily="18" charset="0"/>
                                          <a:ea typeface="Cambria Math" panose="02040503050406030204" pitchFamily="18" charset="0"/>
                                        </a:rPr>
                                      </m:ctrlPr>
                                    </m:accPr>
                                    <m:e>
                                      <m:r>
                                        <a:rPr lang="en-US" altLang="ja-JP" sz="3200" b="0" i="1" smtClean="0">
                                          <a:latin typeface="Cambria Math" panose="02040503050406030204" pitchFamily="18" charset="0"/>
                                          <a:ea typeface="Cambria Math" panose="02040503050406030204" pitchFamily="18" charset="0"/>
                                        </a:rPr>
                                        <m:t>𝑋</m:t>
                                      </m:r>
                                    </m:e>
                                  </m:acc>
                                </m:e>
                              </m:d>
                            </m:e>
                            <m:sup>
                              <m:r>
                                <a:rPr lang="en-US" altLang="ja-JP" sz="3200" b="0" i="1" smtClean="0">
                                  <a:latin typeface="Cambria Math" panose="02040503050406030204" pitchFamily="18" charset="0"/>
                                  <a:ea typeface="Cambria Math" panose="02040503050406030204" pitchFamily="18" charset="0"/>
                                </a:rPr>
                                <m:t>𝑇</m:t>
                              </m:r>
                            </m:sup>
                          </m:sSup>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𝑋</m:t>
                          </m:r>
                          <m:r>
                            <a:rPr lang="en-US" altLang="ja-JP" sz="3200" i="1">
                              <a:latin typeface="Cambria Math" panose="02040503050406030204" pitchFamily="18" charset="0"/>
                              <a:ea typeface="Cambria Math" panose="02040503050406030204" pitchFamily="18" charset="0"/>
                            </a:rPr>
                            <m:t>,</m:t>
                          </m:r>
                          <m:acc>
                            <m:accPr>
                              <m:chr m:val="̃"/>
                              <m:ctrlPr>
                                <a:rPr lang="en-US" altLang="ja-JP" sz="3200" i="1">
                                  <a:latin typeface="Cambria Math" panose="02040503050406030204" pitchFamily="18" charset="0"/>
                                  <a:ea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𝑋</m:t>
                              </m:r>
                            </m:e>
                          </m:acc>
                          <m:r>
                            <a:rPr lang="en-US" altLang="ja-JP" sz="3200" i="1">
                              <a:latin typeface="Cambria Math" panose="02040503050406030204" pitchFamily="18" charset="0"/>
                              <a:ea typeface="Cambria Math" panose="02040503050406030204" pitchFamily="18" charset="0"/>
                            </a:rPr>
                            <m:t>]</m:t>
                          </m:r>
                        </m:e>
                      </m:func>
                      <m:sSub>
                        <m:sSubPr>
                          <m:ctrlPr>
                            <a:rPr lang="en-US" altLang="ja-JP" sz="3200" b="0" i="1" smtClean="0">
                              <a:latin typeface="Cambria Math" panose="02040503050406030204" pitchFamily="18" charset="0"/>
                            </a:rPr>
                          </m:ctrlPr>
                        </m:sSubPr>
                        <m:e>
                          <m:r>
                            <a:rPr lang="en-US" altLang="ja-JP" sz="3200" b="1" i="1" smtClean="0">
                              <a:latin typeface="Cambria Math" panose="02040503050406030204" pitchFamily="18" charset="0"/>
                            </a:rPr>
                            <m:t>𝒗</m:t>
                          </m:r>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subject</m:t>
                      </m:r>
                      <m:r>
                        <a:rPr lang="en-US" altLang="ja-JP" sz="3200" b="0" i="0" smtClean="0">
                          <a:latin typeface="Cambria Math" panose="02040503050406030204" pitchFamily="18" charset="0"/>
                        </a:rPr>
                        <m:t> </m:t>
                      </m:r>
                      <m:r>
                        <m:rPr>
                          <m:sty m:val="p"/>
                        </m:rPr>
                        <a:rPr lang="en-US" altLang="ja-JP" sz="3200" b="0" i="0" smtClean="0">
                          <a:latin typeface="Cambria Math" panose="02040503050406030204" pitchFamily="18" charset="0"/>
                        </a:rPr>
                        <m:t>to</m:t>
                      </m:r>
                      <m:r>
                        <a:rPr lang="en-US" altLang="ja-JP" sz="3200" b="0" i="1" smtClean="0">
                          <a:latin typeface="Cambria Math" panose="02040503050406030204" pitchFamily="18" charset="0"/>
                        </a:rPr>
                        <m:t>   </m:t>
                      </m:r>
                      <m:sSubSup>
                        <m:sSubSupPr>
                          <m:ctrlPr>
                            <a:rPr lang="en-US" altLang="ja-JP" sz="3200" b="0" i="1" smtClean="0">
                              <a:latin typeface="Cambria Math" panose="02040503050406030204" pitchFamily="18" charset="0"/>
                            </a:rPr>
                          </m:ctrlPr>
                        </m:sSubSupPr>
                        <m:e>
                          <m:d>
                            <m:dPr>
                              <m:begChr m:val="‖"/>
                              <m:endChr m:val="‖"/>
                              <m:ctrlPr>
                                <a:rPr lang="en-US" altLang="ja-JP" sz="3200" b="0" i="1" smtClean="0">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2</m:t>
                          </m:r>
                        </m:sub>
                        <m:sup>
                          <m:r>
                            <a:rPr lang="en-US" altLang="ja-JP" sz="3200" b="0" i="1" smtClean="0">
                              <a:latin typeface="Cambria Math" panose="02040503050406030204" pitchFamily="18" charset="0"/>
                            </a:rPr>
                            <m:t>2</m:t>
                          </m:r>
                        </m:sup>
                      </m:sSubSup>
                      <m:r>
                        <a:rPr lang="en-US" altLang="ja-JP" sz="3200" i="1">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rPr>
                        <m:t>1,</m:t>
                      </m:r>
                      <m:sSub>
                        <m:sSubPr>
                          <m:ctrlPr>
                            <a:rPr lang="en-US" altLang="ja-JP" sz="3200" b="0" i="1" smtClean="0">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1</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𝑐</m:t>
                      </m:r>
                    </m:oMath>
                  </m:oMathPara>
                </a14:m>
                <a:endParaRPr lang="en-US" altLang="ja-JP" sz="3200" b="0" i="1" dirty="0">
                  <a:latin typeface="Cambria Math" panose="02040503050406030204" pitchFamily="18" charset="0"/>
                  <a:ea typeface="Cambria Math" panose="02040503050406030204" pitchFamily="18" charset="0"/>
                </a:endParaRPr>
              </a:p>
              <a:p>
                <a:pPr marL="0" indent="0" algn="ctr">
                  <a:buNone/>
                </a:pPr>
                <a:r>
                  <a:rPr lang="ja-JP" altLang="en-US">
                    <a:cs typeface="ヒラギノ角ゴ Pro W3"/>
                  </a:rPr>
                  <a:t>　　　　　　　　</a:t>
                </a:r>
                <a:endParaRPr kumimoji="1" lang="en-US" altLang="ja-JP" b="0" i="1" dirty="0">
                  <a:latin typeface="Cambria Math" panose="02040503050406030204" pitchFamily="18" charset="0"/>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lang="en-US" altLang="ja-JP" dirty="0">
                  <a:latin typeface="ヒラギノ角ゴ Pro W3"/>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kumimoji="1" lang="ja-JP" altLang="en-US" sz="800" dirty="0">
                  <a:latin typeface="ヒラギノ角ゴ Pro W3"/>
                  <a:ea typeface="ヒラギノ角ゴ Pro W3"/>
                  <a:cs typeface="ヒラギノ角ゴ Pro W3"/>
                </a:endParaRPr>
              </a:p>
              <a:p>
                <a:pPr marL="0" indent="0">
                  <a:buClr>
                    <a:schemeClr val="accent3"/>
                  </a:buClr>
                  <a:buNone/>
                </a:pPr>
                <a:r>
                  <a:rPr lang="en-US" altLang="ja-JP" dirty="0">
                    <a:solidFill>
                      <a:schemeClr val="tx1"/>
                    </a:solidFill>
                    <a:ea typeface="ヒラギノ角ゴ Pro W3"/>
                    <a:cs typeface="ヒラギノ角ゴ Pro W3"/>
                  </a:rPr>
                  <a:t>                  </a:t>
                </a:r>
                <a14:m>
                  <m:oMath xmlns:m="http://schemas.openxmlformats.org/officeDocument/2006/math">
                    <m:sSub>
                      <m:sSubPr>
                        <m:ctrlPr>
                          <a:rPr kumimoji="1" lang="en-US" altLang="ja-JP" sz="3200" b="0" i="1" smtClean="0">
                            <a:solidFill>
                              <a:schemeClr val="tx1"/>
                            </a:solidFill>
                            <a:latin typeface="Cambria Math" panose="02040503050406030204" pitchFamily="18" charset="0"/>
                            <a:ea typeface="ヒラギノ角ゴ Pro W3"/>
                            <a:cs typeface="ヒラギノ角ゴ Pro W3"/>
                          </a:rPr>
                        </m:ctrlPr>
                      </m:sSubPr>
                      <m:e>
                        <m:r>
                          <a:rPr kumimoji="1" lang="en-US" altLang="ja-JP" sz="3200" b="0" i="1" smtClean="0">
                            <a:solidFill>
                              <a:schemeClr val="tx1"/>
                            </a:solidFill>
                            <a:latin typeface="Cambria Math" panose="02040503050406030204" pitchFamily="18" charset="0"/>
                            <a:ea typeface="ヒラギノ角ゴ Pro W3"/>
                            <a:cs typeface="ヒラギノ角ゴ Pro W3"/>
                          </a:rPr>
                          <m:t>𝑊</m:t>
                        </m:r>
                      </m:e>
                      <m:sub>
                        <m:r>
                          <a:rPr kumimoji="1" lang="en-US" altLang="ja-JP" sz="3200" b="0" i="1" smtClean="0">
                            <a:solidFill>
                              <a:schemeClr val="tx1"/>
                            </a:solidFill>
                            <a:latin typeface="Cambria Math" panose="02040503050406030204" pitchFamily="18" charset="0"/>
                            <a:ea typeface="ヒラギノ角ゴ Pro W3"/>
                            <a:cs typeface="ヒラギノ角ゴ Pro W3"/>
                          </a:rPr>
                          <m:t>𝑘𝑗</m:t>
                        </m:r>
                      </m:sub>
                    </m:sSub>
                    <m:r>
                      <a:rPr kumimoji="1" lang="en-US" altLang="ja-JP" sz="3200" b="0" i="1" smtClean="0">
                        <a:solidFill>
                          <a:schemeClr val="tx1"/>
                        </a:solidFill>
                        <a:latin typeface="Cambria Math" panose="02040503050406030204" pitchFamily="18" charset="0"/>
                        <a:ea typeface="ヒラギノ角ゴ Pro W3"/>
                        <a:cs typeface="ヒラギノ角ゴ Pro W3"/>
                      </a:rPr>
                      <m:t>=</m:t>
                    </m:r>
                    <m:sSub>
                      <m:sSubPr>
                        <m:ctrlPr>
                          <a:rPr lang="en-US" altLang="ja-JP" sz="3200" i="1">
                            <a:solidFill>
                              <a:schemeClr val="tx1"/>
                            </a:solidFill>
                            <a:latin typeface="Cambria Math" panose="02040503050406030204" pitchFamily="18" charset="0"/>
                            <a:cs typeface="ヒラギノ角ゴ Pro W3"/>
                          </a:rPr>
                        </m:ctrlPr>
                      </m:sSubPr>
                      <m:e>
                        <m:r>
                          <a:rPr lang="en-US" altLang="ja-JP" sz="3200" i="1">
                            <a:solidFill>
                              <a:schemeClr val="tx1"/>
                            </a:solidFill>
                            <a:latin typeface="Cambria Math" panose="02040503050406030204" pitchFamily="18" charset="0"/>
                            <a:cs typeface="ヒラギノ角ゴ Pro W3"/>
                          </a:rPr>
                          <m:t>𝑍</m:t>
                        </m:r>
                      </m:e>
                      <m:sub>
                        <m:r>
                          <a:rPr lang="en-US" altLang="ja-JP" sz="3200" b="0" i="1" smtClean="0">
                            <a:solidFill>
                              <a:schemeClr val="tx1"/>
                            </a:solidFill>
                            <a:latin typeface="Cambria Math" panose="02040503050406030204" pitchFamily="18" charset="0"/>
                            <a:cs typeface="ヒラギノ角ゴ Pro W3"/>
                          </a:rPr>
                          <m:t>𝑘</m:t>
                        </m:r>
                        <m:r>
                          <a:rPr lang="en-US" altLang="ja-JP" sz="3200" i="1">
                            <a:solidFill>
                              <a:schemeClr val="tx1"/>
                            </a:solidFill>
                            <a:latin typeface="Cambria Math" panose="02040503050406030204" pitchFamily="18" charset="0"/>
                            <a:cs typeface="ヒラギノ角ゴ Pro W3"/>
                          </a:rPr>
                          <m:t>𝑗</m:t>
                        </m:r>
                      </m:sub>
                    </m:sSub>
                    <m:r>
                      <a:rPr lang="en-US" altLang="ja-JP" sz="3200" i="1">
                        <a:solidFill>
                          <a:schemeClr val="tx1"/>
                        </a:solidFill>
                        <a:latin typeface="Cambria Math" panose="02040503050406030204" pitchFamily="18" charset="0"/>
                        <a:ea typeface="Cambria Math" panose="02040503050406030204" pitchFamily="18" charset="0"/>
                        <a:cs typeface="ヒラギノ角ゴ Pro W3"/>
                      </a:rPr>
                      <m:t>∧</m:t>
                    </m:r>
                    <m:sSub>
                      <m:sSubPr>
                        <m:ctrlPr>
                          <a:rPr lang="en-US" altLang="ja-JP" sz="3200" i="1">
                            <a:solidFill>
                              <a:schemeClr val="tx1"/>
                            </a:solidFill>
                            <a:latin typeface="Cambria Math" panose="02040503050406030204" pitchFamily="18" charset="0"/>
                          </a:rPr>
                        </m:ctrlPr>
                      </m:sSubPr>
                      <m:e>
                        <m:acc>
                          <m:accPr>
                            <m:chr m:val="̃"/>
                            <m:ctrlPr>
                              <a:rPr lang="en-US" altLang="ja-JP" sz="3200" i="1">
                                <a:solidFill>
                                  <a:schemeClr val="tx1"/>
                                </a:solidFill>
                                <a:latin typeface="Cambria Math" panose="02040503050406030204" pitchFamily="18" charset="0"/>
                              </a:rPr>
                            </m:ctrlPr>
                          </m:accPr>
                          <m:e>
                            <m:r>
                              <a:rPr lang="en-US" altLang="ja-JP" sz="3200" i="1">
                                <a:solidFill>
                                  <a:schemeClr val="tx1"/>
                                </a:solidFill>
                                <a:latin typeface="Cambria Math" panose="02040503050406030204" pitchFamily="18" charset="0"/>
                              </a:rPr>
                              <m:t>𝑍</m:t>
                            </m:r>
                          </m:e>
                        </m:acc>
                      </m:e>
                      <m:sub>
                        <m:r>
                          <a:rPr lang="en-US" altLang="ja-JP" sz="3200" b="0" i="1" smtClean="0">
                            <a:solidFill>
                              <a:schemeClr val="tx1"/>
                            </a:solidFill>
                            <a:latin typeface="Cambria Math" panose="02040503050406030204" pitchFamily="18" charset="0"/>
                          </a:rPr>
                          <m:t>𝑘</m:t>
                        </m:r>
                        <m:r>
                          <a:rPr lang="en-US" altLang="ja-JP" sz="3200" b="0" i="1" smtClean="0">
                            <a:solidFill>
                              <a:schemeClr val="tx1"/>
                            </a:solidFill>
                            <a:latin typeface="Cambria Math" panose="02040503050406030204" pitchFamily="18" charset="0"/>
                          </a:rPr>
                          <m:t>(</m:t>
                        </m:r>
                        <m:r>
                          <a:rPr lang="en-US" altLang="ja-JP" sz="3200" i="1">
                            <a:solidFill>
                              <a:schemeClr val="tx1"/>
                            </a:solidFill>
                            <a:latin typeface="Cambria Math" panose="02040503050406030204" pitchFamily="18" charset="0"/>
                          </a:rPr>
                          <m:t>𝑗</m:t>
                        </m:r>
                        <m:r>
                          <a:rPr lang="en-US" altLang="ja-JP" sz="3200" b="0" i="1" smtClean="0">
                            <a:solidFill>
                              <a:schemeClr val="tx1"/>
                            </a:solidFill>
                            <a:latin typeface="Cambria Math" panose="02040503050406030204" pitchFamily="18" charset="0"/>
                          </a:rPr>
                          <m:t>+</m:t>
                        </m:r>
                        <m:r>
                          <a:rPr lang="en-US" altLang="ja-JP" sz="3200" b="0" i="1" smtClean="0">
                            <a:solidFill>
                              <a:schemeClr val="tx1"/>
                            </a:solidFill>
                            <a:latin typeface="Cambria Math" panose="02040503050406030204" pitchFamily="18" charset="0"/>
                          </a:rPr>
                          <m:t>𝑝</m:t>
                        </m:r>
                        <m:r>
                          <a:rPr lang="en-US" altLang="ja-JP" sz="3200" b="0" i="1" smtClean="0">
                            <a:solidFill>
                              <a:schemeClr val="tx1"/>
                            </a:solidFill>
                            <a:latin typeface="Cambria Math" panose="02040503050406030204" pitchFamily="18" charset="0"/>
                          </a:rPr>
                          <m:t>)</m:t>
                        </m:r>
                      </m:sub>
                    </m:sSub>
                    <m:r>
                      <a:rPr lang="en-US" altLang="ja-JP" sz="3200" i="1">
                        <a:solidFill>
                          <a:schemeClr val="tx1"/>
                        </a:solidFill>
                        <a:latin typeface="Cambria Math" panose="02040503050406030204" pitchFamily="18" charset="0"/>
                      </a:rPr>
                      <m:t>∙</m:t>
                    </m:r>
                    <m:func>
                      <m:funcPr>
                        <m:ctrlPr>
                          <a:rPr lang="en-US" altLang="ja-JP" sz="3200" i="1">
                            <a:solidFill>
                              <a:schemeClr val="tx1"/>
                            </a:solidFill>
                            <a:latin typeface="Cambria Math" panose="02040503050406030204" pitchFamily="18" charset="0"/>
                          </a:rPr>
                        </m:ctrlPr>
                      </m:funcPr>
                      <m:fName>
                        <m:r>
                          <m:rPr>
                            <m:sty m:val="p"/>
                          </m:rPr>
                          <a:rPr lang="en-US" altLang="ja-JP" sz="3200">
                            <a:solidFill>
                              <a:schemeClr val="tx1"/>
                            </a:solidFill>
                            <a:latin typeface="Cambria Math" panose="02040503050406030204" pitchFamily="18" charset="0"/>
                          </a:rPr>
                          <m:t>sign</m:t>
                        </m:r>
                      </m:fName>
                      <m:e>
                        <m:d>
                          <m:dPr>
                            <m:ctrlPr>
                              <a:rPr lang="en-US" altLang="ja-JP" sz="3200" i="1">
                                <a:solidFill>
                                  <a:schemeClr val="tx1"/>
                                </a:solidFill>
                                <a:latin typeface="Cambria Math" panose="02040503050406030204" pitchFamily="18" charset="0"/>
                              </a:rPr>
                            </m:ctrlPr>
                          </m:dPr>
                          <m:e>
                            <m:sSub>
                              <m:sSubPr>
                                <m:ctrlPr>
                                  <a:rPr lang="en-US" altLang="ja-JP" sz="3200" i="1">
                                    <a:latin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rPr>
                                      <m:t>𝑍</m:t>
                                    </m:r>
                                  </m:e>
                                </m:acc>
                              </m:e>
                              <m:sub>
                                <m:r>
                                  <a:rPr lang="en-US" altLang="ja-JP" sz="3200" i="1">
                                    <a:latin typeface="Cambria Math" panose="02040503050406030204" pitchFamily="18" charset="0"/>
                                  </a:rPr>
                                  <m:t>𝑘</m:t>
                                </m:r>
                                <m:r>
                                  <a:rPr lang="en-US" altLang="ja-JP" sz="3200" i="1">
                                    <a:latin typeface="Cambria Math" panose="02040503050406030204" pitchFamily="18" charset="0"/>
                                  </a:rPr>
                                  <m:t>(</m:t>
                                </m:r>
                                <m:r>
                                  <a:rPr lang="en-US" altLang="ja-JP" sz="3200" i="1">
                                    <a:latin typeface="Cambria Math" panose="02040503050406030204" pitchFamily="18" charset="0"/>
                                  </a:rPr>
                                  <m:t>𝑗</m:t>
                                </m:r>
                                <m:r>
                                  <a:rPr lang="en-US" altLang="ja-JP" sz="3200" i="1">
                                    <a:latin typeface="Cambria Math" panose="02040503050406030204" pitchFamily="18" charset="0"/>
                                  </a:rPr>
                                  <m:t>+</m:t>
                                </m:r>
                                <m:r>
                                  <a:rPr lang="en-US" altLang="ja-JP" sz="3200" i="1">
                                    <a:latin typeface="Cambria Math" panose="02040503050406030204" pitchFamily="18" charset="0"/>
                                  </a:rPr>
                                  <m:t>𝑝</m:t>
                                </m:r>
                                <m:r>
                                  <a:rPr lang="en-US" altLang="ja-JP" sz="3200" i="1">
                                    <a:latin typeface="Cambria Math" panose="02040503050406030204" pitchFamily="18" charset="0"/>
                                  </a:rPr>
                                  <m:t>)</m:t>
                                </m:r>
                              </m:sub>
                            </m:sSub>
                            <m:r>
                              <a:rPr lang="en-US" altLang="ja-JP" sz="3200" i="1">
                                <a:solidFill>
                                  <a:schemeClr val="tx1"/>
                                </a:solidFill>
                                <a:latin typeface="Cambria Math" panose="02040503050406030204" pitchFamily="18" charset="0"/>
                              </a:rPr>
                              <m:t>−</m:t>
                            </m:r>
                            <m:sSub>
                              <m:sSubPr>
                                <m:ctrlPr>
                                  <a:rPr lang="en-US" altLang="ja-JP" sz="3200" i="1">
                                    <a:latin typeface="Cambria Math" panose="02040503050406030204" pitchFamily="18" charset="0"/>
                                    <a:cs typeface="ヒラギノ角ゴ Pro W3"/>
                                  </a:rPr>
                                </m:ctrlPr>
                              </m:sSubPr>
                              <m:e>
                                <m:r>
                                  <a:rPr lang="en-US" altLang="ja-JP" sz="3200" i="1">
                                    <a:latin typeface="Cambria Math" panose="02040503050406030204" pitchFamily="18" charset="0"/>
                                    <a:cs typeface="ヒラギノ角ゴ Pro W3"/>
                                  </a:rPr>
                                  <m:t>𝑍</m:t>
                                </m:r>
                              </m:e>
                              <m:sub>
                                <m:r>
                                  <a:rPr lang="en-US" altLang="ja-JP" sz="3200" i="1">
                                    <a:latin typeface="Cambria Math" panose="02040503050406030204" pitchFamily="18" charset="0"/>
                                    <a:cs typeface="ヒラギノ角ゴ Pro W3"/>
                                  </a:rPr>
                                  <m:t>𝑘𝑗</m:t>
                                </m:r>
                              </m:sub>
                            </m:sSub>
                          </m:e>
                        </m:d>
                      </m:e>
                    </m:func>
                    <m:r>
                      <a:rPr lang="en-US" altLang="ja-JP" sz="3200" b="0" i="1" smtClean="0">
                        <a:solidFill>
                          <a:schemeClr val="tx1"/>
                        </a:solidFill>
                        <a:latin typeface="Cambria Math" panose="02040503050406030204" pitchFamily="18" charset="0"/>
                        <a:ea typeface="Cambria Math" panose="02040503050406030204" pitchFamily="18" charset="0"/>
                      </a:rPr>
                      <m:t>,  </m:t>
                    </m:r>
                    <m:r>
                      <a:rPr lang="en-US" altLang="ja-JP" sz="3200" i="1">
                        <a:solidFill>
                          <a:schemeClr val="tx1"/>
                        </a:solidFill>
                        <a:latin typeface="Cambria Math" panose="02040503050406030204" pitchFamily="18" charset="0"/>
                        <a:ea typeface="Cambria Math" panose="02040503050406030204" pitchFamily="18" charset="0"/>
                      </a:rPr>
                      <m:t>𝑗</m:t>
                    </m:r>
                    <m:r>
                      <a:rPr lang="en-US" altLang="ja-JP" sz="3200" i="1">
                        <a:solidFill>
                          <a:schemeClr val="tx1"/>
                        </a:solidFill>
                        <a:latin typeface="Cambria Math" panose="02040503050406030204" pitchFamily="18" charset="0"/>
                        <a:ea typeface="Cambria Math" panose="02040503050406030204" pitchFamily="18" charset="0"/>
                      </a:rPr>
                      <m:t>=1,…,</m:t>
                    </m:r>
                    <m:r>
                      <a:rPr lang="en-US" altLang="ja-JP" sz="3200" i="1">
                        <a:solidFill>
                          <a:schemeClr val="tx1"/>
                        </a:solidFill>
                        <a:latin typeface="Cambria Math" panose="02040503050406030204" pitchFamily="18" charset="0"/>
                        <a:ea typeface="Cambria Math" panose="02040503050406030204" pitchFamily="18" charset="0"/>
                      </a:rPr>
                      <m:t>𝑝</m:t>
                    </m:r>
                  </m:oMath>
                </a14:m>
                <a:endParaRPr lang="en-US" altLang="ja-JP" sz="3200" i="1" dirty="0">
                  <a:solidFill>
                    <a:schemeClr val="tx1"/>
                  </a:solidFill>
                  <a:latin typeface="Cambria Math" panose="02040503050406030204" pitchFamily="18" charset="0"/>
                  <a:ea typeface="Cambria Math" panose="02040503050406030204" pitchFamily="18" charset="0"/>
                </a:endParaRPr>
              </a:p>
            </p:txBody>
          </p:sp>
        </mc:Choice>
        <mc:Fallback xmlns="">
          <p:sp>
            <p:nvSpPr>
              <p:cNvPr id="12" name="コンテンツ プレースホルダー 2">
                <a:extLst>
                  <a:ext uri="{FF2B5EF4-FFF2-40B4-BE49-F238E27FC236}">
                    <a16:creationId xmlns:a16="http://schemas.microsoft.com/office/drawing/2014/main" id="{88F8548A-DBDD-46F7-2426-B20E1EB18D42}"/>
                  </a:ext>
                </a:extLst>
              </p:cNvPr>
              <p:cNvSpPr>
                <a:spLocks noGrp="1" noRot="1" noChangeAspect="1" noMove="1" noResize="1" noEditPoints="1" noAdjustHandles="1" noChangeArrowheads="1" noChangeShapeType="1" noTextEdit="1"/>
              </p:cNvSpPr>
              <p:nvPr>
                <p:ph idx="1"/>
              </p:nvPr>
            </p:nvSpPr>
            <p:spPr>
              <a:xfrm>
                <a:off x="10232" y="1161341"/>
                <a:ext cx="12171534" cy="5678129"/>
              </a:xfrm>
              <a:blipFill>
                <a:blip r:embed="rId3"/>
                <a:stretch>
                  <a:fillRect l="-1250" t="-2009"/>
                </a:stretch>
              </a:blipFill>
            </p:spPr>
            <p:txBody>
              <a:bodyPr/>
              <a:lstStyle/>
              <a:p>
                <a:r>
                  <a:rPr lang="ja-JP" altLang="en-US">
                    <a:noFill/>
                  </a:rPr>
                  <a:t> </a:t>
                </a:r>
              </a:p>
            </p:txBody>
          </p:sp>
        </mc:Fallback>
      </mc:AlternateContent>
      <p:sp>
        <p:nvSpPr>
          <p:cNvPr id="15" name="下矢印 14">
            <a:extLst>
              <a:ext uri="{FF2B5EF4-FFF2-40B4-BE49-F238E27FC236}">
                <a16:creationId xmlns:a16="http://schemas.microsoft.com/office/drawing/2014/main" id="{A3139234-C1CC-FDF1-1E95-39F6397C9BD1}"/>
              </a:ext>
            </a:extLst>
          </p:cNvPr>
          <p:cNvSpPr/>
          <p:nvPr/>
        </p:nvSpPr>
        <p:spPr>
          <a:xfrm>
            <a:off x="5366797" y="2944249"/>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7" name="正方形/長方形 16">
            <a:extLst>
              <a:ext uri="{FF2B5EF4-FFF2-40B4-BE49-F238E27FC236}">
                <a16:creationId xmlns:a16="http://schemas.microsoft.com/office/drawing/2014/main" id="{9A1F7261-6655-7363-A29F-501CA7177631}"/>
              </a:ext>
            </a:extLst>
          </p:cNvPr>
          <p:cNvSpPr/>
          <p:nvPr/>
        </p:nvSpPr>
        <p:spPr>
          <a:xfrm>
            <a:off x="3127229" y="2294654"/>
            <a:ext cx="975354" cy="587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4D629F18-83F6-E7D1-0B64-B60064B7DB7F}"/>
                  </a:ext>
                </a:extLst>
              </p:cNvPr>
              <p:cNvSpPr txBox="1"/>
              <p:nvPr/>
            </p:nvSpPr>
            <p:spPr>
              <a:xfrm>
                <a:off x="2933317" y="288240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18" name="テキスト ボックス 17">
                <a:extLst>
                  <a:ext uri="{FF2B5EF4-FFF2-40B4-BE49-F238E27FC236}">
                    <a16:creationId xmlns:a16="http://schemas.microsoft.com/office/drawing/2014/main" id="{4D629F18-83F6-E7D1-0B64-B60064B7DB7F}"/>
                  </a:ext>
                </a:extLst>
              </p:cNvPr>
              <p:cNvSpPr txBox="1">
                <a:spLocks noRot="1" noChangeAspect="1" noMove="1" noResize="1" noEditPoints="1" noAdjustHandles="1" noChangeArrowheads="1" noChangeShapeType="1" noTextEdit="1"/>
              </p:cNvSpPr>
              <p:nvPr/>
            </p:nvSpPr>
            <p:spPr>
              <a:xfrm>
                <a:off x="2933317" y="2882405"/>
                <a:ext cx="1775743" cy="523220"/>
              </a:xfrm>
              <a:prstGeom prst="rect">
                <a:avLst/>
              </a:prstGeom>
              <a:blipFill>
                <a:blip r:embed="rId4"/>
                <a:stretch>
                  <a:fillRect t="-14286" r="-6383"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B3AFA522-FF14-4F03-9D37-F3C8B932F944}"/>
                  </a:ext>
                </a:extLst>
              </p:cNvPr>
              <p:cNvSpPr txBox="1"/>
              <p:nvPr/>
            </p:nvSpPr>
            <p:spPr>
              <a:xfrm>
                <a:off x="6866296" y="3708019"/>
                <a:ext cx="3388591"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ea typeface="Cambria Math" panose="02040503050406030204" pitchFamily="18" charset="0"/>
                        </a:rPr>
                        <m:t>𝑗</m:t>
                      </m:r>
                      <m:r>
                        <a:rPr lang="en-US" altLang="ja-JP" sz="3200" i="1" smtClean="0">
                          <a:latin typeface="Cambria Math" panose="02040503050406030204" pitchFamily="18" charset="0"/>
                          <a:ea typeface="Cambria Math" panose="02040503050406030204" pitchFamily="18" charset="0"/>
                        </a:rPr>
                        <m:t>=1,…,</m:t>
                      </m:r>
                      <m:r>
                        <a:rPr lang="en-US" altLang="ja-JP" sz="3200" i="1" smtClean="0">
                          <a:latin typeface="Cambria Math" panose="02040503050406030204" pitchFamily="18" charset="0"/>
                          <a:ea typeface="Cambria Math" panose="02040503050406030204" pitchFamily="18" charset="0"/>
                        </a:rPr>
                        <m:t>𝑝</m:t>
                      </m:r>
                    </m:oMath>
                  </m:oMathPara>
                </a14:m>
                <a:endParaRPr lang="ja-JP" altLang="en-US" sz="3200"/>
              </a:p>
            </p:txBody>
          </p:sp>
        </mc:Choice>
        <mc:Fallback xmlns="">
          <p:sp>
            <p:nvSpPr>
              <p:cNvPr id="19" name="テキスト ボックス 18">
                <a:extLst>
                  <a:ext uri="{FF2B5EF4-FFF2-40B4-BE49-F238E27FC236}">
                    <a16:creationId xmlns:a16="http://schemas.microsoft.com/office/drawing/2014/main" id="{B3AFA522-FF14-4F03-9D37-F3C8B932F944}"/>
                  </a:ext>
                </a:extLst>
              </p:cNvPr>
              <p:cNvSpPr txBox="1">
                <a:spLocks noRot="1" noChangeAspect="1" noMove="1" noResize="1" noEditPoints="1" noAdjustHandles="1" noChangeArrowheads="1" noChangeShapeType="1" noTextEdit="1"/>
              </p:cNvSpPr>
              <p:nvPr/>
            </p:nvSpPr>
            <p:spPr>
              <a:xfrm>
                <a:off x="6866296" y="3708019"/>
                <a:ext cx="3388591" cy="584775"/>
              </a:xfrm>
              <a:prstGeom prst="rect">
                <a:avLst/>
              </a:prstGeom>
              <a:blipFill>
                <a:blip r:embed="rId5"/>
                <a:stretch>
                  <a:fillRect b="-212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914526E4-0FBC-9C60-F7BB-33600BFC1584}"/>
                  </a:ext>
                </a:extLst>
              </p:cNvPr>
              <p:cNvSpPr txBox="1"/>
              <p:nvPr/>
            </p:nvSpPr>
            <p:spPr>
              <a:xfrm>
                <a:off x="1574915" y="6073170"/>
                <a:ext cx="3099566" cy="523220"/>
              </a:xfrm>
              <a:prstGeom prst="rect">
                <a:avLst/>
              </a:prstGeom>
              <a:noFill/>
            </p:spPr>
            <p:txBody>
              <a:bodyPr wrap="none" rtlCol="0">
                <a:spAutoFit/>
              </a:bodyPr>
              <a:lstStyle/>
              <a:p>
                <a:r>
                  <a:rPr kumimoji="1" lang="en-US" altLang="ja-JP" sz="2800" b="0" dirty="0">
                    <a:solidFill>
                      <a:schemeClr val="tx1"/>
                    </a:solidFill>
                    <a:cs typeface="ヒラギノ角ゴ Pro W3"/>
                  </a:rPr>
                  <a:t>(</a:t>
                </a:r>
                <a14:m>
                  <m:oMath xmlns:m="http://schemas.openxmlformats.org/officeDocument/2006/math">
                    <m:r>
                      <a:rPr kumimoji="1" lang="en-US" altLang="ja-JP" sz="2800" b="0" i="1" smtClean="0">
                        <a:solidFill>
                          <a:schemeClr val="tx1"/>
                        </a:solidFill>
                        <a:latin typeface="Cambria Math" panose="02040503050406030204" pitchFamily="18" charset="0"/>
                        <a:cs typeface="ヒラギノ角ゴ Pro W3"/>
                      </a:rPr>
                      <m:t>𝑎</m:t>
                    </m:r>
                    <m:r>
                      <a:rPr lang="en-US" altLang="ja-JP" sz="2800" i="1">
                        <a:solidFill>
                          <a:schemeClr val="tx1"/>
                        </a:solidFill>
                        <a:latin typeface="Cambria Math" panose="02040503050406030204" pitchFamily="18" charset="0"/>
                        <a:ea typeface="Cambria Math" panose="02040503050406030204" pitchFamily="18" charset="0"/>
                        <a:cs typeface="ヒラギノ角ゴ Pro W3"/>
                      </a:rPr>
                      <m:t>∧</m:t>
                    </m:r>
                    <m:r>
                      <a:rPr kumimoji="1" lang="en-US" altLang="ja-JP" sz="2800" b="0" i="1" smtClean="0">
                        <a:solidFill>
                          <a:schemeClr val="tx1"/>
                        </a:solidFill>
                        <a:latin typeface="Cambria Math" panose="02040503050406030204" pitchFamily="18" charset="0"/>
                        <a:cs typeface="ヒラギノ角ゴ Pro W3"/>
                      </a:rPr>
                      <m:t>𝑏</m:t>
                    </m:r>
                    <m:r>
                      <a:rPr kumimoji="1" lang="en-US" altLang="ja-JP" sz="2800" b="0" i="1" smtClean="0">
                        <a:solidFill>
                          <a:schemeClr val="tx1"/>
                        </a:solidFill>
                        <a:latin typeface="Cambria Math" panose="02040503050406030204" pitchFamily="18" charset="0"/>
                        <a:cs typeface="ヒラギノ角ゴ Pro W3"/>
                      </a:rPr>
                      <m:t>=</m:t>
                    </m:r>
                    <m:func>
                      <m:funcPr>
                        <m:ctrlPr>
                          <a:rPr kumimoji="1" lang="en-US" altLang="ja-JP" sz="2800" b="0" i="1" smtClean="0">
                            <a:solidFill>
                              <a:schemeClr val="tx1"/>
                            </a:solidFill>
                            <a:latin typeface="Cambria Math" panose="02040503050406030204" pitchFamily="18" charset="0"/>
                            <a:cs typeface="ヒラギノ角ゴ Pro W3"/>
                          </a:rPr>
                        </m:ctrlPr>
                      </m:funcPr>
                      <m:fName>
                        <m:r>
                          <m:rPr>
                            <m:sty m:val="p"/>
                          </m:rPr>
                          <a:rPr kumimoji="1" lang="en-US" altLang="ja-JP" sz="2800" b="0" i="0" smtClean="0">
                            <a:solidFill>
                              <a:schemeClr val="tx1"/>
                            </a:solidFill>
                            <a:latin typeface="Cambria Math" panose="02040503050406030204" pitchFamily="18" charset="0"/>
                            <a:cs typeface="ヒラギノ角ゴ Pro W3"/>
                          </a:rPr>
                          <m:t>min</m:t>
                        </m:r>
                      </m:fName>
                      <m:e>
                        <m:d>
                          <m:dPr>
                            <m:begChr m:val="{"/>
                            <m:endChr m:val="}"/>
                            <m:ctrlPr>
                              <a:rPr kumimoji="1" lang="en-US" altLang="ja-JP" sz="2800" b="0" i="1" smtClean="0">
                                <a:solidFill>
                                  <a:schemeClr val="tx1"/>
                                </a:solidFill>
                                <a:latin typeface="Cambria Math" panose="02040503050406030204" pitchFamily="18" charset="0"/>
                                <a:cs typeface="ヒラギノ角ゴ Pro W3"/>
                              </a:rPr>
                            </m:ctrlPr>
                          </m:dPr>
                          <m:e>
                            <m:r>
                              <a:rPr kumimoji="1" lang="en-US" altLang="ja-JP" sz="2800" b="0" i="1" smtClean="0">
                                <a:solidFill>
                                  <a:schemeClr val="tx1"/>
                                </a:solidFill>
                                <a:latin typeface="Cambria Math" panose="02040503050406030204" pitchFamily="18" charset="0"/>
                                <a:cs typeface="ヒラギノ角ゴ Pro W3"/>
                              </a:rPr>
                              <m:t>𝑎</m:t>
                            </m:r>
                            <m:r>
                              <a:rPr kumimoji="1" lang="en-US" altLang="ja-JP" sz="2800" b="0" i="1" smtClean="0">
                                <a:solidFill>
                                  <a:schemeClr val="tx1"/>
                                </a:solidFill>
                                <a:latin typeface="Cambria Math" panose="02040503050406030204" pitchFamily="18" charset="0"/>
                                <a:cs typeface="ヒラギノ角ゴ Pro W3"/>
                              </a:rPr>
                              <m:t>,</m:t>
                            </m:r>
                            <m:r>
                              <a:rPr kumimoji="1" lang="en-US" altLang="ja-JP" sz="2800" b="0" i="1" smtClean="0">
                                <a:solidFill>
                                  <a:schemeClr val="tx1"/>
                                </a:solidFill>
                                <a:latin typeface="Cambria Math" panose="02040503050406030204" pitchFamily="18" charset="0"/>
                                <a:cs typeface="ヒラギノ角ゴ Pro W3"/>
                              </a:rPr>
                              <m:t>𝑏</m:t>
                            </m:r>
                          </m:e>
                        </m:d>
                      </m:e>
                    </m:func>
                  </m:oMath>
                </a14:m>
                <a:r>
                  <a:rPr kumimoji="1" lang="en-US" altLang="ja-JP" sz="2800" dirty="0">
                    <a:solidFill>
                      <a:schemeClr val="tx1"/>
                    </a:solidFill>
                  </a:rPr>
                  <a:t>)</a:t>
                </a:r>
                <a:endParaRPr kumimoji="1" lang="ja-JP" altLang="en-US" sz="2800">
                  <a:solidFill>
                    <a:schemeClr val="tx1"/>
                  </a:solidFill>
                </a:endParaRPr>
              </a:p>
            </p:txBody>
          </p:sp>
        </mc:Choice>
        <mc:Fallback xmlns="">
          <p:sp>
            <p:nvSpPr>
              <p:cNvPr id="20" name="テキスト ボックス 19">
                <a:extLst>
                  <a:ext uri="{FF2B5EF4-FFF2-40B4-BE49-F238E27FC236}">
                    <a16:creationId xmlns:a16="http://schemas.microsoft.com/office/drawing/2014/main" id="{914526E4-0FBC-9C60-F7BB-33600BFC1584}"/>
                  </a:ext>
                </a:extLst>
              </p:cNvPr>
              <p:cNvSpPr txBox="1">
                <a:spLocks noRot="1" noChangeAspect="1" noMove="1" noResize="1" noEditPoints="1" noAdjustHandles="1" noChangeArrowheads="1" noChangeShapeType="1" noTextEdit="1"/>
              </p:cNvSpPr>
              <p:nvPr/>
            </p:nvSpPr>
            <p:spPr>
              <a:xfrm>
                <a:off x="1574915" y="6073170"/>
                <a:ext cx="3099566" cy="523220"/>
              </a:xfrm>
              <a:prstGeom prst="rect">
                <a:avLst/>
              </a:prstGeom>
              <a:blipFill>
                <a:blip r:embed="rId6"/>
                <a:stretch>
                  <a:fillRect l="-4065" t="-11905" r="-2033" b="-285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B9C7F0B9-14B5-20AD-AEFD-7FCE28497B02}"/>
                  </a:ext>
                </a:extLst>
              </p:cNvPr>
              <p:cNvSpPr txBox="1"/>
              <p:nvPr/>
            </p:nvSpPr>
            <p:spPr>
              <a:xfrm>
                <a:off x="1443346" y="3418338"/>
                <a:ext cx="6034601" cy="1232453"/>
              </a:xfrm>
              <a:prstGeom prst="rect">
                <a:avLst/>
              </a:prstGeom>
              <a:noFill/>
            </p:spPr>
            <p:txBody>
              <a:bodyPr wrap="none" rtlCol="0">
                <a:spAutoFit/>
              </a:bodyPr>
              <a:lstStyle/>
              <a:p>
                <a:pPr/>
                <a:r>
                  <a:rPr kumimoji="1" lang="en-US" altLang="ja-JP" sz="3200" b="0" dirty="0">
                    <a:ea typeface="ヒラギノ角ゴ Pro W3"/>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ea typeface="ヒラギノ角ゴ Pro W3"/>
                            <a:cs typeface="ヒラギノ角ゴ Pro W3"/>
                          </a:rPr>
                        </m:ctrlPr>
                      </m:sSubPr>
                      <m:e>
                        <m:r>
                          <a:rPr kumimoji="1" lang="en-US" altLang="ja-JP" sz="3200" b="0" i="1" smtClean="0">
                            <a:latin typeface="Cambria Math" panose="02040503050406030204" pitchFamily="18" charset="0"/>
                            <a:ea typeface="ヒラギノ角ゴ Pro W3"/>
                            <a:cs typeface="ヒラギノ角ゴ Pro W3"/>
                          </a:rPr>
                          <m:t>𝑍</m:t>
                        </m:r>
                      </m:e>
                      <m:sub>
                        <m:r>
                          <a:rPr kumimoji="1" lang="en-US" altLang="ja-JP" sz="3200" b="0" i="1" smtClean="0">
                            <a:latin typeface="Cambria Math" panose="02040503050406030204" pitchFamily="18" charset="0"/>
                            <a:ea typeface="ヒラギノ角ゴ Pro W3"/>
                            <a:cs typeface="ヒラギノ角ゴ Pro W3"/>
                          </a:rPr>
                          <m:t>𝑘𝑗</m:t>
                        </m:r>
                      </m:sub>
                    </m:sSub>
                    <m:r>
                      <a:rPr kumimoji="1" lang="en-US" altLang="ja-JP" sz="3200" b="0" i="1" smtClean="0">
                        <a:latin typeface="Cambria Math" panose="02040503050406030204" pitchFamily="18" charset="0"/>
                        <a:ea typeface="ヒラギノ角ゴ Pro W3"/>
                        <a:cs typeface="ヒラギノ角ゴ Pro W3"/>
                      </a:rPr>
                      <m:t>       =</m:t>
                    </m:r>
                    <m:func>
                      <m:funcPr>
                        <m:ctrlPr>
                          <a:rPr kumimoji="1" lang="en-US" altLang="ja-JP" sz="3200" b="0" i="1" smtClean="0">
                            <a:latin typeface="Cambria Math" panose="02040503050406030204" pitchFamily="18" charset="0"/>
                            <a:ea typeface="ヒラギノ角ゴ Pro W3"/>
                            <a:cs typeface="ヒラギノ角ゴ Pro W3"/>
                          </a:rPr>
                        </m:ctrlPr>
                      </m:funcPr>
                      <m:fName>
                        <m:r>
                          <m:rPr>
                            <m:sty m:val="p"/>
                          </m:rPr>
                          <a:rPr kumimoji="1" lang="en-US" altLang="ja-JP" sz="3200" b="0" i="0" smtClean="0">
                            <a:latin typeface="Cambria Math" panose="02040503050406030204" pitchFamily="18" charset="0"/>
                            <a:ea typeface="ヒラギノ角ゴ Pro W3"/>
                            <a:cs typeface="ヒラギノ角ゴ Pro W3"/>
                          </a:rPr>
                          <m:t>inf</m:t>
                        </m:r>
                      </m:fName>
                      <m:e>
                        <m:d>
                          <m:dPr>
                            <m:begChr m:val="{"/>
                            <m:endChr m:val="}"/>
                            <m:ctrlPr>
                              <a:rPr kumimoji="1" lang="en-US" altLang="ja-JP" sz="3200" b="0" i="1" smtClean="0">
                                <a:latin typeface="Cambria Math" panose="02040503050406030204" pitchFamily="18" charset="0"/>
                                <a:ea typeface="ヒラギノ角ゴ Pro W3"/>
                                <a:cs typeface="ヒラギノ角ゴ Pro W3"/>
                              </a:rPr>
                            </m:ctrlPr>
                          </m:dPr>
                          <m:e>
                            <m:r>
                              <a:rPr kumimoji="1" lang="en-US" altLang="ja-JP" sz="3200" b="0" i="1" smtClean="0">
                                <a:latin typeface="Cambria Math" panose="02040503050406030204" pitchFamily="18" charset="0"/>
                                <a:ea typeface="ヒラギノ角ゴ Pro W3"/>
                                <a:cs typeface="ヒラギノ角ゴ Pro W3"/>
                              </a:rPr>
                              <m:t>𝑐</m:t>
                            </m:r>
                            <m:r>
                              <a:rPr lang="en-US" altLang="ja-JP" sz="3200" b="0" i="1" smtClean="0">
                                <a:latin typeface="Cambria Math" panose="02040503050406030204" pitchFamily="18" charset="0"/>
                                <a:ea typeface="Cambria Math" panose="02040503050406030204" pitchFamily="18" charset="0"/>
                              </a:rPr>
                              <m:t>:</m:t>
                            </m:r>
                            <m:sSub>
                              <m:sSubPr>
                                <m:ctrlPr>
                                  <a:rPr lang="en-US" altLang="ja-JP" sz="3200" b="1" i="1" smtClean="0">
                                    <a:latin typeface="Cambria Math" panose="02040503050406030204" pitchFamily="18" charset="0"/>
                                    <a:ea typeface="ヒラギノ角ゴ Pro W3"/>
                                  </a:rPr>
                                </m:ctrlPr>
                              </m:sSubPr>
                              <m:e>
                                <m:acc>
                                  <m:accPr>
                                    <m:chr m:val="̂"/>
                                    <m:ctrlPr>
                                      <a:rPr lang="ja-JP" altLang="en-US" sz="3200" i="1">
                                        <a:latin typeface="Cambria Math" panose="02040503050406030204" pitchFamily="18" charset="0"/>
                                        <a:ea typeface="ヒラギノ角ゴ Pro W3"/>
                                      </a:rPr>
                                    </m:ctrlPr>
                                  </m:accPr>
                                  <m:e>
                                    <m:r>
                                      <a:rPr lang="en-US" altLang="ja-JP" sz="3200" b="0" i="1" smtClean="0">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𝑘𝑗</m:t>
                                </m:r>
                              </m:sub>
                            </m:sSub>
                            <m:d>
                              <m:dPr>
                                <m:ctrlPr>
                                  <a:rPr lang="en-US" altLang="ja-JP" sz="3200" i="1">
                                    <a:latin typeface="Cambria Math" panose="02040503050406030204" pitchFamily="18" charset="0"/>
                                    <a:ea typeface="ヒラギノ角ゴ Pro W3"/>
                                  </a:rPr>
                                </m:ctrlPr>
                              </m:dPr>
                              <m:e>
                                <m:r>
                                  <a:rPr lang="en-US" altLang="ja-JP" sz="3200" b="0" i="1" smtClean="0">
                                    <a:latin typeface="Cambria Math" panose="02040503050406030204" pitchFamily="18" charset="0"/>
                                    <a:ea typeface="ヒラギノ角ゴ Pro W3"/>
                                  </a:rPr>
                                  <m:t>𝑐</m:t>
                                </m:r>
                              </m:e>
                            </m:d>
                            <m:r>
                              <a:rPr lang="en-US" altLang="ja-JP" sz="320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0</m:t>
                            </m:r>
                          </m:e>
                        </m:d>
                        <m:r>
                          <a:rPr lang="en-US" altLang="ja-JP" sz="3200" b="0" i="1" smtClean="0">
                            <a:latin typeface="Cambria Math" panose="02040503050406030204" pitchFamily="18" charset="0"/>
                            <a:ea typeface="Cambria Math" panose="02040503050406030204" pitchFamily="18" charset="0"/>
                          </a:rPr>
                          <m:t>, </m:t>
                        </m:r>
                      </m:e>
                    </m:func>
                  </m:oMath>
                </a14:m>
                <a:br>
                  <a:rPr lang="en-US" altLang="ja-JP" sz="3200" b="0" i="1" dirty="0">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kumimoji="1" lang="en-US" altLang="ja-JP" sz="3200" i="1">
                              <a:latin typeface="Cambria Math" panose="02040503050406030204" pitchFamily="18" charset="0"/>
                              <a:ea typeface="ヒラギノ角ゴ Pro W3"/>
                            </a:rPr>
                          </m:ctrlPr>
                        </m:sSubPr>
                        <m:e>
                          <m:acc>
                            <m:accPr>
                              <m:chr m:val="̃"/>
                              <m:ctrlPr>
                                <a:rPr kumimoji="1" lang="en-US" altLang="ja-JP" sz="3200" i="1">
                                  <a:latin typeface="Cambria Math" panose="02040503050406030204" pitchFamily="18" charset="0"/>
                                  <a:ea typeface="ヒラギノ角ゴ Pro W3"/>
                                </a:rPr>
                              </m:ctrlPr>
                            </m:accPr>
                            <m:e>
                              <m:r>
                                <a:rPr kumimoji="1" lang="en-US" altLang="ja-JP" sz="3200" i="1">
                                  <a:latin typeface="Cambria Math" panose="02040503050406030204" pitchFamily="18" charset="0"/>
                                  <a:ea typeface="ヒラギノ角ゴ Pro W3"/>
                                </a:rPr>
                                <m:t>𝑍</m:t>
                              </m:r>
                            </m:e>
                          </m:acc>
                        </m:e>
                        <m:sub>
                          <m:r>
                            <a:rPr kumimoji="1" lang="en-US" altLang="ja-JP" sz="3200" b="0" i="1" smtClean="0">
                              <a:latin typeface="Cambria Math" panose="02040503050406030204" pitchFamily="18" charset="0"/>
                              <a:ea typeface="ヒラギノ角ゴ Pro W3"/>
                            </a:rPr>
                            <m:t>𝑘</m:t>
                          </m:r>
                          <m:r>
                            <a:rPr kumimoji="1" lang="en-US" altLang="ja-JP" sz="3200" b="0" i="1" smtClean="0">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𝑗</m:t>
                          </m:r>
                          <m:r>
                            <a:rPr kumimoji="1" lang="en-US" altLang="ja-JP" sz="3200" i="1">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𝑝</m:t>
                          </m:r>
                          <m:r>
                            <a:rPr kumimoji="1" lang="en-US" altLang="ja-JP" sz="3200" b="0" i="1" smtClean="0">
                              <a:latin typeface="Cambria Math" panose="02040503050406030204" pitchFamily="18" charset="0"/>
                              <a:ea typeface="ヒラギノ角ゴ Pro W3"/>
                            </a:rPr>
                            <m:t>)</m:t>
                          </m:r>
                        </m:sub>
                      </m:sSub>
                      <m:r>
                        <m:rPr>
                          <m:aln/>
                        </m:rPr>
                        <a:rPr kumimoji="1" lang="en-US" altLang="ja-JP" sz="3200" i="1">
                          <a:latin typeface="Cambria Math" panose="02040503050406030204" pitchFamily="18" charset="0"/>
                          <a:ea typeface="ヒラギノ角ゴ Pro W3"/>
                          <a:cs typeface="ヒラギノ角ゴ Pro W3"/>
                        </a:rPr>
                        <m:t>=</m:t>
                      </m:r>
                      <m:func>
                        <m:funcPr>
                          <m:ctrlPr>
                            <a:rPr kumimoji="1" lang="en-US" altLang="ja-JP" sz="3200" i="1">
                              <a:latin typeface="Cambria Math" panose="02040503050406030204" pitchFamily="18" charset="0"/>
                              <a:ea typeface="ヒラギノ角ゴ Pro W3"/>
                              <a:cs typeface="ヒラギノ角ゴ Pro W3"/>
                            </a:rPr>
                          </m:ctrlPr>
                        </m:funcPr>
                        <m:fName>
                          <m:r>
                            <m:rPr>
                              <m:sty m:val="p"/>
                            </m:rPr>
                            <a:rPr kumimoji="1" lang="en-US" altLang="ja-JP" sz="3200">
                              <a:latin typeface="Cambria Math" panose="02040503050406030204" pitchFamily="18" charset="0"/>
                              <a:ea typeface="ヒラギノ角ゴ Pro W3"/>
                              <a:cs typeface="ヒラギノ角ゴ Pro W3"/>
                            </a:rPr>
                            <m:t>inf</m:t>
                          </m:r>
                        </m:fName>
                        <m:e>
                          <m:d>
                            <m:dPr>
                              <m:begChr m:val="{"/>
                              <m:endChr m:val="}"/>
                              <m:ctrlPr>
                                <a:rPr kumimoji="1" lang="en-US" altLang="ja-JP" sz="3200" i="1">
                                  <a:latin typeface="Cambria Math" panose="02040503050406030204" pitchFamily="18" charset="0"/>
                                  <a:ea typeface="ヒラギノ角ゴ Pro W3"/>
                                  <a:cs typeface="ヒラギノ角ゴ Pro W3"/>
                                </a:rPr>
                              </m:ctrlPr>
                            </m:dPr>
                            <m:e>
                              <m:r>
                                <a:rPr kumimoji="1" lang="en-US" altLang="ja-JP" sz="3200" i="1">
                                  <a:latin typeface="Cambria Math" panose="02040503050406030204" pitchFamily="18" charset="0"/>
                                  <a:ea typeface="ヒラギノ角ゴ Pro W3"/>
                                  <a:cs typeface="ヒラギノ角ゴ Pro W3"/>
                                </a:rPr>
                                <m:t>𝑐</m:t>
                              </m:r>
                              <m:r>
                                <a:rPr lang="en-US" altLang="ja-JP" sz="3200" i="1">
                                  <a:latin typeface="Cambria Math" panose="02040503050406030204" pitchFamily="18" charset="0"/>
                                  <a:ea typeface="Cambria Math" panose="02040503050406030204" pitchFamily="18" charset="0"/>
                                </a:rPr>
                                <m:t>:</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ja-JP" altLang="en-US" sz="3200" i="1">
                                          <a:latin typeface="Cambria Math" panose="02040503050406030204" pitchFamily="18" charset="0"/>
                                          <a:ea typeface="ヒラギノ角ゴ Pro W3"/>
                                        </a:rPr>
                                      </m:ctrlPr>
                                    </m:accPr>
                                    <m:e>
                                      <m:r>
                                        <a:rPr lang="en-US" altLang="ja-JP" sz="3200" i="1">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m:t>
                                  </m:r>
                                  <m:r>
                                    <a:rPr lang="en-US" altLang="ja-JP" sz="3200" b="0" i="1" smtClean="0">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𝑗</m:t>
                                  </m:r>
                                  <m:r>
                                    <a:rPr lang="en-US" altLang="ja-JP" sz="3200" i="1">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𝑝</m:t>
                                  </m:r>
                                  <m:r>
                                    <a:rPr lang="en-US" altLang="ja-JP" sz="3200" b="0" i="1" smtClean="0">
                                      <a:latin typeface="Cambria Math" panose="02040503050406030204" pitchFamily="18" charset="0"/>
                                      <a:ea typeface="ヒラギノ角ゴ Pro W3"/>
                                    </a:rPr>
                                    <m:t>)</m:t>
                                  </m:r>
                                </m:sub>
                              </m:sSub>
                              <m:d>
                                <m:dPr>
                                  <m:ctrlPr>
                                    <a:rPr lang="en-US" altLang="ja-JP" sz="3200" i="1">
                                      <a:latin typeface="Cambria Math" panose="02040503050406030204" pitchFamily="18" charset="0"/>
                                      <a:ea typeface="ヒラギノ角ゴ Pro W3"/>
                                    </a:rPr>
                                  </m:ctrlPr>
                                </m:dPr>
                                <m:e>
                                  <m:r>
                                    <a:rPr lang="en-US" altLang="ja-JP" sz="3200" i="1">
                                      <a:latin typeface="Cambria Math" panose="02040503050406030204" pitchFamily="18" charset="0"/>
                                      <a:ea typeface="ヒラギノ角ゴ Pro W3"/>
                                    </a:rPr>
                                    <m:t>𝑐</m:t>
                                  </m:r>
                                </m:e>
                              </m:d>
                              <m:r>
                                <a:rPr lang="en-US" altLang="ja-JP" sz="3200" i="1">
                                  <a:latin typeface="Cambria Math" panose="02040503050406030204" pitchFamily="18" charset="0"/>
                                  <a:ea typeface="Cambria Math" panose="02040503050406030204" pitchFamily="18" charset="0"/>
                                </a:rPr>
                                <m:t>≠0</m:t>
                              </m:r>
                            </m:e>
                          </m:d>
                          <m:r>
                            <a:rPr lang="en-US" altLang="ja-JP" sz="3200" i="1">
                              <a:latin typeface="Cambria Math" panose="02040503050406030204" pitchFamily="18" charset="0"/>
                              <a:ea typeface="Cambria Math" panose="02040503050406030204" pitchFamily="18" charset="0"/>
                            </a:rPr>
                            <m:t>, </m:t>
                          </m:r>
                        </m:e>
                      </m:func>
                    </m:oMath>
                  </m:oMathPara>
                </a14:m>
                <a:br>
                  <a:rPr lang="en-US" altLang="ja-JP" sz="3200" dirty="0">
                    <a:ea typeface="Cambria Math" panose="02040503050406030204" pitchFamily="18" charset="0"/>
                  </a:rPr>
                </a:br>
                <a:endParaRPr kumimoji="1" lang="ja-JP" altLang="en-US" sz="3200"/>
              </a:p>
            </p:txBody>
          </p:sp>
        </mc:Choice>
        <mc:Fallback xmlns="">
          <p:sp>
            <p:nvSpPr>
              <p:cNvPr id="21" name="テキスト ボックス 20">
                <a:extLst>
                  <a:ext uri="{FF2B5EF4-FFF2-40B4-BE49-F238E27FC236}">
                    <a16:creationId xmlns:a16="http://schemas.microsoft.com/office/drawing/2014/main" id="{B9C7F0B9-14B5-20AD-AEFD-7FCE28497B02}"/>
                  </a:ext>
                </a:extLst>
              </p:cNvPr>
              <p:cNvSpPr txBox="1">
                <a:spLocks noRot="1" noChangeAspect="1" noMove="1" noResize="1" noEditPoints="1" noAdjustHandles="1" noChangeArrowheads="1" noChangeShapeType="1" noTextEdit="1"/>
              </p:cNvSpPr>
              <p:nvPr/>
            </p:nvSpPr>
            <p:spPr>
              <a:xfrm>
                <a:off x="1443346" y="3418338"/>
                <a:ext cx="6034601" cy="1232453"/>
              </a:xfrm>
              <a:prstGeom prst="rect">
                <a:avLst/>
              </a:prstGeom>
              <a:blipFill>
                <a:blip r:embed="rId7"/>
                <a:stretch>
                  <a:fillRect t="-2041" b="-7143"/>
                </a:stretch>
              </a:blipFill>
            </p:spPr>
            <p:txBody>
              <a:bodyPr/>
              <a:lstStyle/>
              <a:p>
                <a:r>
                  <a:rPr lang="ja-JP" altLang="en-US">
                    <a:noFill/>
                  </a:rPr>
                  <a:t> </a:t>
                </a:r>
              </a:p>
            </p:txBody>
          </p:sp>
        </mc:Fallback>
      </mc:AlternateContent>
      <p:sp>
        <p:nvSpPr>
          <p:cNvPr id="22" name="下矢印 21">
            <a:extLst>
              <a:ext uri="{FF2B5EF4-FFF2-40B4-BE49-F238E27FC236}">
                <a16:creationId xmlns:a16="http://schemas.microsoft.com/office/drawing/2014/main" id="{7F7C8B7C-F28C-4B17-62D7-191CE3426A56}"/>
              </a:ext>
            </a:extLst>
          </p:cNvPr>
          <p:cNvSpPr/>
          <p:nvPr/>
        </p:nvSpPr>
        <p:spPr>
          <a:xfrm>
            <a:off x="5366796" y="4831947"/>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2" name="テキスト ボックス 1">
            <a:extLst>
              <a:ext uri="{FF2B5EF4-FFF2-40B4-BE49-F238E27FC236}">
                <a16:creationId xmlns:a16="http://schemas.microsoft.com/office/drawing/2014/main" id="{467B9D65-2EDB-A13A-3D6E-2347CCCB2A80}"/>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19/28</a:t>
            </a:r>
            <a:endParaRPr kumimoji="1" lang="ja-JP" altLang="en-US" sz="2800">
              <a:latin typeface="+mj-ea"/>
              <a:ea typeface="+mj-ea"/>
            </a:endParaRPr>
          </a:p>
        </p:txBody>
      </p:sp>
    </p:spTree>
    <p:extLst>
      <p:ext uri="{BB962C8B-B14F-4D97-AF65-F5344CB8AC3E}">
        <p14:creationId xmlns:p14="http://schemas.microsoft.com/office/powerpoint/2010/main" val="2950701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2039D0-1CFF-0BE8-40E2-B345A2C25A37}"/>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p:sp>
        <p:nvSpPr>
          <p:cNvPr id="22" name="角丸四角形 21">
            <a:extLst>
              <a:ext uri="{FF2B5EF4-FFF2-40B4-BE49-F238E27FC236}">
                <a16:creationId xmlns:a16="http://schemas.microsoft.com/office/drawing/2014/main" id="{3654DEF8-23B6-34DA-51BE-5C66E3DBA3C4}"/>
              </a:ext>
            </a:extLst>
          </p:cNvPr>
          <p:cNvSpPr/>
          <p:nvPr/>
        </p:nvSpPr>
        <p:spPr>
          <a:xfrm>
            <a:off x="788475" y="3039163"/>
            <a:ext cx="10987790" cy="999163"/>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2CB0568-876F-45E6-6E94-2E817648DC83}"/>
              </a:ext>
            </a:extLst>
          </p:cNvPr>
          <p:cNvSpPr/>
          <p:nvPr/>
        </p:nvSpPr>
        <p:spPr>
          <a:xfrm>
            <a:off x="2789609" y="2880524"/>
            <a:ext cx="6944589" cy="3781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コンテンツ プレースホルダー 2">
                <a:extLst>
                  <a:ext uri="{FF2B5EF4-FFF2-40B4-BE49-F238E27FC236}">
                    <a16:creationId xmlns:a16="http://schemas.microsoft.com/office/drawing/2014/main" id="{AE9442C9-8115-CF19-10D4-06D3B4B70C7D}"/>
                  </a:ext>
                </a:extLst>
              </p:cNvPr>
              <p:cNvSpPr txBox="1">
                <a:spLocks/>
              </p:cNvSpPr>
              <p:nvPr/>
            </p:nvSpPr>
            <p:spPr>
              <a:xfrm>
                <a:off x="6915" y="1002908"/>
                <a:ext cx="12192000" cy="175518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chemeClr val="accent3"/>
                  </a:buClr>
                  <a:buFont typeface="Arial" panose="020B0604020202020204" pitchFamily="34" charse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3</a:t>
                </a:r>
                <a:r>
                  <a:rPr lang="ja-JP" altLang="en-US" sz="3200">
                    <a:solidFill>
                      <a:srgbClr val="7030A0"/>
                    </a:solidFill>
                    <a:latin typeface="+mn-ea"/>
                    <a:cs typeface="ヒラギノ角ゴ Pro W3"/>
                  </a:rPr>
                  <a:t>　しきい値</a:t>
                </a:r>
                <a14:m>
                  <m:oMath xmlns:m="http://schemas.openxmlformats.org/officeDocument/2006/math">
                    <m:sSub>
                      <m:sSubPr>
                        <m:ctrlPr>
                          <a:rPr lang="en-US" altLang="ja-JP" sz="3200" b="0" i="1" smtClean="0">
                            <a:solidFill>
                              <a:srgbClr val="7030A0"/>
                            </a:solidFill>
                            <a:latin typeface="Cambria Math" panose="02040503050406030204" pitchFamily="18" charset="0"/>
                            <a:cs typeface="ヒラギノ角ゴ Pro W3"/>
                          </a:rPr>
                        </m:ctrlPr>
                      </m:sSubPr>
                      <m:e>
                        <m:r>
                          <a:rPr lang="en-US" altLang="ja-JP" sz="3200" b="1" i="1">
                            <a:solidFill>
                              <a:srgbClr val="7030A0"/>
                            </a:solidFill>
                            <a:latin typeface="Cambria Math" panose="02040503050406030204" pitchFamily="18" charset="0"/>
                            <a:cs typeface="ヒラギノ角ゴ Pro W3"/>
                          </a:rPr>
                          <m:t>𝑻</m:t>
                        </m:r>
                      </m:e>
                      <m:sub>
                        <m:r>
                          <a:rPr lang="en-US" altLang="ja-JP" sz="3200" b="0" i="1" smtClean="0">
                            <a:solidFill>
                              <a:srgbClr val="7030A0"/>
                            </a:solidFill>
                            <a:latin typeface="Cambria Math" panose="02040503050406030204" pitchFamily="18" charset="0"/>
                            <a:cs typeface="ヒラギノ角ゴ Pro W3"/>
                          </a:rPr>
                          <m:t>𝑘</m:t>
                        </m:r>
                      </m:sub>
                    </m:sSub>
                  </m:oMath>
                </a14:m>
                <a:r>
                  <a:rPr lang="ja-JP" altLang="en-US" sz="3200">
                    <a:solidFill>
                      <a:srgbClr val="7030A0"/>
                    </a:solidFill>
                    <a:latin typeface="+mn-ea"/>
                    <a:cs typeface="ヒラギノ角ゴ Pro W3"/>
                  </a:rPr>
                  <a:t>の導出</a:t>
                </a:r>
                <a:endParaRPr lang="en-US" altLang="ja-JP" sz="3200" dirty="0">
                  <a:solidFill>
                    <a:srgbClr val="7030A0"/>
                  </a:solidFill>
                  <a:latin typeface="+mn-ea"/>
                  <a:cs typeface="ヒラギノ角ゴ Pro W3"/>
                </a:endParaRPr>
              </a:p>
              <a:p>
                <a:pPr marL="0" indent="0">
                  <a:buClr>
                    <a:schemeClr val="accent3"/>
                  </a:buClr>
                  <a:buFont typeface="Arial" panose="020B0604020202020204" pitchFamily="34" charset="0"/>
                  <a:buNone/>
                </a:pPr>
                <a:endParaRPr lang="en-US" altLang="ja-JP" sz="900" dirty="0">
                  <a:solidFill>
                    <a:srgbClr val="7030A0"/>
                  </a:solidFill>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r>
                            <a:rPr lang="en-US" altLang="ja-JP" sz="3200" b="1" i="1" smtClean="0">
                              <a:latin typeface="Cambria Math" panose="02040503050406030204" pitchFamily="18" charset="0"/>
                            </a:rPr>
                            <m:t>𝑻</m:t>
                          </m:r>
                        </m:e>
                        <m:sub>
                          <m:r>
                            <a:rPr lang="en-US" altLang="ja-JP" sz="3200" b="0" i="1" smtClean="0">
                              <a:latin typeface="Cambria Math" panose="02040503050406030204" pitchFamily="18" charset="0"/>
                            </a:rPr>
                            <m:t>𝑘</m:t>
                          </m:r>
                        </m:sub>
                      </m:sSub>
                      <m:r>
                        <a:rPr lang="en-US" altLang="ja-JP" sz="3200" i="1" smtClean="0">
                          <a:latin typeface="Cambria Math" panose="02040503050406030204" pitchFamily="18" charset="0"/>
                        </a:rPr>
                        <m:t>=</m:t>
                      </m:r>
                      <m:func>
                        <m:funcPr>
                          <m:ctrlPr>
                            <a:rPr lang="en-US" altLang="ja-JP" sz="3200" i="1">
                              <a:latin typeface="Cambria Math" panose="02040503050406030204" pitchFamily="18" charset="0"/>
                            </a:rPr>
                          </m:ctrlPr>
                        </m:funcPr>
                        <m:fName>
                          <m:r>
                            <m:rPr>
                              <m:sty m:val="p"/>
                            </m:rPr>
                            <a:rPr lang="en-US" altLang="ja-JP" sz="3200">
                              <a:latin typeface="Cambria Math" panose="02040503050406030204" pitchFamily="18" charset="0"/>
                            </a:rPr>
                            <m:t>max</m:t>
                          </m:r>
                        </m:fName>
                        <m:e>
                          <m:d>
                            <m:dPr>
                              <m:begChr m:val="{"/>
                              <m:endChr m:val="}"/>
                              <m:ctrlPr>
                                <a:rPr lang="en-US" altLang="ja-JP" sz="3200" i="1">
                                  <a:latin typeface="Cambria Math" panose="02040503050406030204" pitchFamily="18" charset="0"/>
                                </a:rPr>
                              </m:ctrlPr>
                            </m:dPr>
                            <m:e>
                              <m:r>
                                <a:rPr lang="en-US" altLang="ja-JP" sz="3200" i="1">
                                  <a:latin typeface="Cambria Math" panose="02040503050406030204" pitchFamily="18" charset="0"/>
                                </a:rPr>
                                <m:t>𝑡</m:t>
                              </m:r>
                              <m:r>
                                <a:rPr lang="en-US" altLang="ja-JP" sz="3200" i="1">
                                  <a:latin typeface="Cambria Math" panose="02040503050406030204" pitchFamily="18" charset="0"/>
                                </a:rPr>
                                <m:t>∈</m:t>
                              </m:r>
                              <m:d>
                                <m:dPr>
                                  <m:begChr m:val="|"/>
                                  <m:endChr m:val="|"/>
                                  <m:ctrlPr>
                                    <a:rPr lang="en-US" altLang="ja-JP" sz="3200" b="0" i="1" smtClean="0">
                                      <a:latin typeface="Cambria Math" panose="02040503050406030204" pitchFamily="18" charset="0"/>
                                    </a:rPr>
                                  </m:ctrlPr>
                                </m:dPr>
                                <m:e>
                                  <m:sSub>
                                    <m:sSubPr>
                                      <m:ctrlPr>
                                        <a:rPr lang="en-US" altLang="ja-JP" sz="3200" b="0" i="1" smtClean="0">
                                          <a:latin typeface="Cambria Math" panose="02040503050406030204" pitchFamily="18" charset="0"/>
                                        </a:rPr>
                                      </m:ctrlPr>
                                    </m:sSubPr>
                                    <m:e>
                                      <m:r>
                                        <a:rPr lang="en-US" altLang="ja-JP" sz="3200" i="1">
                                          <a:latin typeface="Cambria Math" panose="02040503050406030204" pitchFamily="18" charset="0"/>
                                        </a:rPr>
                                        <m:t>𝑊</m:t>
                                      </m:r>
                                    </m:e>
                                    <m:sub>
                                      <m:r>
                                        <a:rPr lang="en-US" altLang="ja-JP" sz="3200" b="0" i="1" smtClean="0">
                                          <a:latin typeface="Cambria Math" panose="02040503050406030204" pitchFamily="18" charset="0"/>
                                        </a:rPr>
                                        <m:t>𝑘𝑗</m:t>
                                      </m:r>
                                    </m:sub>
                                  </m:sSub>
                                </m:e>
                              </m:d>
                              <m:r>
                                <a:rPr lang="en-US" altLang="ja-JP" sz="3200" i="1">
                                  <a:latin typeface="Cambria Math" panose="02040503050406030204" pitchFamily="18" charset="0"/>
                                </a:rPr>
                                <m:t>:</m:t>
                              </m:r>
                              <m:f>
                                <m:fPr>
                                  <m:ctrlPr>
                                    <a:rPr lang="en-US" altLang="ja-JP" sz="3200" i="1">
                                      <a:latin typeface="Cambria Math" panose="02040503050406030204" pitchFamily="18" charset="0"/>
                                    </a:rPr>
                                  </m:ctrlPr>
                                </m:fPr>
                                <m:num>
                                  <m:r>
                                    <a:rPr lang="en-US" altLang="ja-JP" sz="3200" i="1">
                                      <a:latin typeface="Cambria Math" panose="02040503050406030204" pitchFamily="18" charset="0"/>
                                    </a:rPr>
                                    <m:t>1+#{</m:t>
                                  </m:r>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r>
                                    <a:rPr lang="en-US" altLang="ja-JP" sz="3200" i="1">
                                      <a:latin typeface="Cambria Math" panose="02040503050406030204" pitchFamily="18" charset="0"/>
                                    </a:rPr>
                                    <m:t>𝑡</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𝑊</m:t>
                                      </m:r>
                                    </m:e>
                                    <m:sub>
                                      <m:r>
                                        <a:rPr lang="en-US" altLang="ja-JP" sz="3200" b="0" i="1" smtClean="0">
                                          <a:latin typeface="Cambria Math" panose="02040503050406030204" pitchFamily="18" charset="0"/>
                                        </a:rPr>
                                        <m:t>𝑘</m:t>
                                      </m:r>
                                      <m:r>
                                        <a:rPr lang="en-US" altLang="ja-JP" sz="3200" i="1">
                                          <a:latin typeface="Cambria Math" panose="02040503050406030204" pitchFamily="18" charset="0"/>
                                        </a:rPr>
                                        <m:t>𝑗</m:t>
                                      </m:r>
                                    </m:sub>
                                  </m:sSub>
                                  <m:r>
                                    <a:rPr lang="en-US" altLang="ja-JP" sz="3200" b="0" i="1" smtClean="0">
                                      <a:latin typeface="Cambria Math" panose="02040503050406030204" pitchFamily="18" charset="0"/>
                                    </a:rPr>
                                    <m:t>&lt;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r>
                                    <a:rPr lang="en-US" altLang="ja-JP" sz="3200" i="1">
                                      <a:latin typeface="Cambria Math" panose="02040503050406030204" pitchFamily="18" charset="0"/>
                                    </a:rPr>
                                    <m:t>}</m:t>
                                  </m:r>
                                </m:num>
                                <m:den>
                                  <m:r>
                                    <a:rPr lang="en-US" altLang="ja-JP" sz="3200" i="1">
                                      <a:latin typeface="Cambria Math" panose="02040503050406030204" pitchFamily="18" charset="0"/>
                                    </a:rPr>
                                    <m:t>#{</m:t>
                                  </m:r>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:0&lt;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𝑊</m:t>
                                      </m:r>
                                    </m:e>
                                    <m:sub>
                                      <m:r>
                                        <a:rPr lang="en-US" altLang="ja-JP" sz="3200" b="0" i="1" smtClean="0">
                                          <a:latin typeface="Cambria Math" panose="02040503050406030204" pitchFamily="18" charset="0"/>
                                        </a:rPr>
                                        <m:t>𝑘</m:t>
                                      </m:r>
                                      <m:r>
                                        <a:rPr lang="en-US" altLang="ja-JP" sz="3200" i="1">
                                          <a:latin typeface="Cambria Math" panose="02040503050406030204" pitchFamily="18" charset="0"/>
                                        </a:rPr>
                                        <m:t>𝑗</m:t>
                                      </m:r>
                                    </m:sub>
                                  </m:sSub>
                                  <m:r>
                                    <a:rPr lang="en-US" altLang="ja-JP" sz="3200" i="1">
                                      <a:latin typeface="Cambria Math" panose="02040503050406030204" pitchFamily="18" charset="0"/>
                                    </a:rPr>
                                    <m:t>≤</m:t>
                                  </m:r>
                                  <m:r>
                                    <a:rPr lang="en-US" altLang="ja-JP" sz="3200" i="1">
                                      <a:latin typeface="Cambria Math" panose="02040503050406030204" pitchFamily="18" charset="0"/>
                                    </a:rPr>
                                    <m:t>𝑡</m:t>
                                  </m:r>
                                  <m:r>
                                    <a:rPr lang="en-US" altLang="ja-JP" sz="3200" b="0" i="1" smtClean="0">
                                      <a:latin typeface="Cambria Math" panose="02040503050406030204" pitchFamily="18" charset="0"/>
                                    </a:rPr>
                                    <m:t> </m:t>
                                  </m:r>
                                  <m:r>
                                    <a:rPr lang="en-US" altLang="ja-JP" sz="3200" i="1">
                                      <a:latin typeface="Cambria Math" panose="02040503050406030204" pitchFamily="18" charset="0"/>
                                    </a:rPr>
                                    <m:t>}∨1</m:t>
                                  </m:r>
                                </m:den>
                              </m:f>
                              <m:r>
                                <a:rPr lang="en-US" altLang="ja-JP" sz="3200" i="1">
                                  <a:latin typeface="Cambria Math" panose="02040503050406030204" pitchFamily="18" charset="0"/>
                                </a:rPr>
                                <m:t>≤</m:t>
                              </m:r>
                              <m:r>
                                <a:rPr lang="en-US" altLang="ja-JP" sz="3200" i="1">
                                  <a:latin typeface="Cambria Math" panose="02040503050406030204" pitchFamily="18" charset="0"/>
                                </a:rPr>
                                <m:t>𝑞</m:t>
                              </m:r>
                              <m:d>
                                <m:dPr>
                                  <m:ctrlPr>
                                    <a:rPr lang="en-US" altLang="ja-JP" sz="3200" i="1">
                                      <a:latin typeface="Cambria Math" panose="02040503050406030204" pitchFamily="18" charset="0"/>
                                    </a:rPr>
                                  </m:ctrlPr>
                                </m:dPr>
                                <m:e>
                                  <m:r>
                                    <a:rPr lang="ja-JP" altLang="en-US" sz="3200" i="1">
                                      <a:latin typeface="Cambria Math" panose="02040503050406030204" pitchFamily="18" charset="0"/>
                                    </a:rPr>
                                    <m:t>設定値</m:t>
                                  </m:r>
                                </m:e>
                              </m:d>
                            </m:e>
                          </m:d>
                        </m:e>
                      </m:func>
                      <m:r>
                        <a:rPr lang="en-US" altLang="ja-JP" sz="3200" i="1">
                          <a:latin typeface="Cambria Math" panose="02040503050406030204" pitchFamily="18" charset="0"/>
                        </a:rPr>
                        <m:t> (</m:t>
                      </m:r>
                      <m:r>
                        <a:rPr lang="en-US" altLang="ja-JP" sz="3200" i="1">
                          <a:latin typeface="Cambria Math" panose="02040503050406030204" pitchFamily="18" charset="0"/>
                        </a:rPr>
                        <m:t>𝑡</m:t>
                      </m:r>
                      <m:r>
                        <a:rPr lang="en-US" altLang="ja-JP" sz="3200" i="1">
                          <a:latin typeface="Cambria Math" panose="02040503050406030204" pitchFamily="18" charset="0"/>
                        </a:rPr>
                        <m:t>&gt;0)</m:t>
                      </m:r>
                    </m:oMath>
                  </m:oMathPara>
                </a14:m>
                <a:endParaRPr lang="en-US" altLang="ja-JP" sz="3200" dirty="0">
                  <a:latin typeface="+mn-ea"/>
                </a:endParaRPr>
              </a:p>
            </p:txBody>
          </p:sp>
        </mc:Choice>
        <mc:Fallback xmlns="">
          <p:sp>
            <p:nvSpPr>
              <p:cNvPr id="25" name="コンテンツ プレースホルダー 2">
                <a:extLst>
                  <a:ext uri="{FF2B5EF4-FFF2-40B4-BE49-F238E27FC236}">
                    <a16:creationId xmlns:a16="http://schemas.microsoft.com/office/drawing/2014/main" id="{AE9442C9-8115-CF19-10D4-06D3B4B70C7D}"/>
                  </a:ext>
                </a:extLst>
              </p:cNvPr>
              <p:cNvSpPr txBox="1">
                <a:spLocks noRot="1" noChangeAspect="1" noMove="1" noResize="1" noEditPoints="1" noAdjustHandles="1" noChangeArrowheads="1" noChangeShapeType="1" noTextEdit="1"/>
              </p:cNvSpPr>
              <p:nvPr/>
            </p:nvSpPr>
            <p:spPr>
              <a:xfrm>
                <a:off x="6915" y="1002908"/>
                <a:ext cx="12192000" cy="1755183"/>
              </a:xfrm>
              <a:prstGeom prst="rect">
                <a:avLst/>
              </a:prstGeom>
              <a:blipFill>
                <a:blip r:embed="rId3"/>
                <a:stretch>
                  <a:fillRect l="-1249" t="-9420" r="-416" b="-579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6915" y="2852289"/>
                <a:ext cx="12523808" cy="3846456"/>
              </a:xfrm>
            </p:spPr>
            <p:txBody>
              <a:bodyPr>
                <a:noAutofit/>
              </a:bodyPr>
              <a:lstStyle/>
              <a:p>
                <a:pPr marL="0" indent="0" algn="ctr">
                  <a:buClr>
                    <a:schemeClr val="accent3"/>
                  </a:buClr>
                  <a:buNone/>
                </a:pPr>
                <a:r>
                  <a:rPr lang="ja-JP" altLang="en-US">
                    <a:solidFill>
                      <a:srgbClr val="0070C0"/>
                    </a:solidFill>
                    <a:latin typeface="+mn-ea"/>
                    <a:cs typeface="ヒラギノ角ゴ Pro W3"/>
                  </a:rPr>
                  <a:t>スパース主成分分析における交換可能性</a:t>
                </a:r>
                <a:r>
                  <a:rPr lang="en-US" altLang="ja-JP" dirty="0">
                    <a:solidFill>
                      <a:srgbClr val="0070C0"/>
                    </a:solidFill>
                    <a:latin typeface="+mn-ea"/>
                    <a:cs typeface="ヒラギノ角ゴ Pro W3"/>
                  </a:rPr>
                  <a:t> </a:t>
                </a:r>
                <a:endParaRPr lang="en-US" altLang="ja-JP" sz="800" dirty="0">
                  <a:solidFill>
                    <a:srgbClr val="0070C0"/>
                  </a:solidFill>
                  <a:latin typeface="+mn-ea"/>
                  <a:cs typeface="ヒラギノ角ゴ Pro W3"/>
                </a:endParaRP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b="0" i="1" smtClean="0">
                          <a:latin typeface="Cambria Math" panose="02040503050406030204" pitchFamily="18" charset="0"/>
                          <a:cs typeface="ヒラギノ角ゴ Pro W3"/>
                        </a:rPr>
                        <m:t>#</m:t>
                      </m:r>
                      <m:d>
                        <m:dPr>
                          <m:begChr m:val="{"/>
                          <m:endChr m:val="}"/>
                          <m:ctrlPr>
                            <a:rPr lang="en-US" altLang="ja-JP" b="0" i="1" smtClean="0">
                              <a:latin typeface="Cambria Math" panose="02040503050406030204" pitchFamily="18" charset="0"/>
                              <a:cs typeface="ヒラギノ角ゴ Pro W3"/>
                            </a:rPr>
                          </m:ctrlPr>
                        </m:dPr>
                        <m:e>
                          <m:r>
                            <a:rPr lang="en-US" altLang="ja-JP" b="0" i="1" smtClean="0">
                              <a:latin typeface="Cambria Math" panose="02040503050406030204" pitchFamily="18" charset="0"/>
                              <a:cs typeface="ヒラギノ角ゴ Pro W3"/>
                            </a:rPr>
                            <m:t> </m:t>
                          </m:r>
                          <m:r>
                            <a:rPr lang="en-US" altLang="ja-JP" b="0" i="1" smtClean="0">
                              <a:latin typeface="Cambria Math" panose="02040503050406030204" pitchFamily="18" charset="0"/>
                              <a:cs typeface="ヒラギノ角ゴ Pro W3"/>
                            </a:rPr>
                            <m:t>𝑗</m:t>
                          </m:r>
                          <m:r>
                            <a:rPr lang="en-US" altLang="ja-JP" b="0" i="1" smtClean="0">
                              <a:latin typeface="Cambria Math" panose="02040503050406030204" pitchFamily="18" charset="0"/>
                              <a:cs typeface="ヒラギノ角ゴ Pro W3"/>
                            </a:rPr>
                            <m:t> :</m:t>
                          </m:r>
                          <m:sSub>
                            <m:sSubPr>
                              <m:ctrlPr>
                                <a:rPr lang="en-US" altLang="ja-JP" b="0" i="1">
                                  <a:latin typeface="Cambria Math" panose="02040503050406030204" pitchFamily="18" charset="0"/>
                                  <a:cs typeface="ヒラギノ角ゴ Pro W3"/>
                                </a:rPr>
                              </m:ctrlPr>
                            </m:sSubPr>
                            <m:e>
                              <m:r>
                                <a:rPr lang="en-US" altLang="ja-JP" b="0" i="1" smtClean="0">
                                  <a:latin typeface="Cambria Math" panose="02040503050406030204" pitchFamily="18" charset="0"/>
                                  <a:cs typeface="ヒラギノ角ゴ Pro W3"/>
                                </a:rPr>
                                <m:t>𝑣</m:t>
                              </m:r>
                            </m:e>
                            <m:sub>
                              <m:r>
                                <a:rPr lang="en-US" altLang="ja-JP" b="0" i="1" smtClean="0">
                                  <a:latin typeface="Cambria Math" panose="02040503050406030204" pitchFamily="18" charset="0"/>
                                </a:rPr>
                                <m:t>𝑘𝑗</m:t>
                              </m:r>
                            </m:sub>
                          </m:sSub>
                          <m:r>
                            <a:rPr lang="en-US" altLang="ja-JP" b="0" i="1" smtClean="0">
                              <a:latin typeface="Cambria Math" panose="02040503050406030204" pitchFamily="18" charset="0"/>
                            </a:rPr>
                            <m:t>=0 </m:t>
                          </m:r>
                          <m:r>
                            <a:rPr lang="en-US" altLang="ja-JP" b="0" i="1" smtClean="0">
                              <a:latin typeface="Cambria Math" panose="02040503050406030204" pitchFamily="18" charset="0"/>
                            </a:rPr>
                            <m:t>𝑎𝑛𝑑</m:t>
                          </m:r>
                          <m:r>
                            <a:rPr lang="en-US" altLang="ja-JP" b="0" i="1" smtClean="0">
                              <a:latin typeface="Cambria Math" panose="02040503050406030204" pitchFamily="18" charset="0"/>
                            </a:rPr>
                            <m:t> 0&lt;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𝑘</m:t>
                              </m:r>
                              <m:r>
                                <a:rPr lang="en-US" altLang="ja-JP" i="1">
                                  <a:latin typeface="Cambria Math" panose="02040503050406030204" pitchFamily="18" charset="0"/>
                                </a:rPr>
                                <m:t>𝑗</m:t>
                              </m:r>
                            </m:sub>
                          </m:sSub>
                          <m:r>
                            <a:rPr lang="en-US" altLang="ja-JP" i="1">
                              <a:latin typeface="Cambria Math" panose="02040503050406030204" pitchFamily="18" charset="0"/>
                            </a:rPr>
                            <m:t>≤</m:t>
                          </m:r>
                          <m:r>
                            <a:rPr lang="en-US" altLang="ja-JP" b="0" i="1" smtClean="0">
                              <a:latin typeface="Cambria Math" panose="02040503050406030204" pitchFamily="18" charset="0"/>
                            </a:rPr>
                            <m:t>𝑡</m:t>
                          </m:r>
                        </m:e>
                      </m:d>
                      <m:limUpp>
                        <m:limUppPr>
                          <m:ctrlPr>
                            <a:rPr lang="ar-AE" altLang="ja-JP" i="1">
                              <a:solidFill>
                                <a:srgbClr val="000000"/>
                              </a:solidFill>
                              <a:latin typeface="Cambria Math" panose="02040503050406030204" pitchFamily="18" charset="0"/>
                            </a:rPr>
                          </m:ctrlPr>
                        </m:limUppPr>
                        <m:e>
                          <m:r>
                            <a:rPr lang="ar-AE" altLang="ja-JP" i="1">
                              <a:solidFill>
                                <a:srgbClr val="000000"/>
                              </a:solidFill>
                              <a:latin typeface="Cambria Math" panose="02040503050406030204" pitchFamily="18" charset="0"/>
                            </a:rPr>
                            <m:t>=</m:t>
                          </m:r>
                        </m:e>
                        <m:lim>
                          <m:r>
                            <a:rPr lang="ar-AE" altLang="ja-JP" i="1">
                              <a:solidFill>
                                <a:srgbClr val="000000"/>
                              </a:solidFill>
                              <a:latin typeface="Cambria Math" panose="02040503050406030204" pitchFamily="18" charset="0"/>
                            </a:rPr>
                            <m:t>𝑑</m:t>
                          </m:r>
                        </m:lim>
                      </m:limUpp>
                      <m:r>
                        <a:rPr lang="en-US" altLang="ja-JP" i="1" smtClean="0">
                          <a:latin typeface="Cambria Math" panose="02040503050406030204" pitchFamily="18" charset="0"/>
                          <a:cs typeface="ヒラギノ角ゴ Pro W3"/>
                        </a:rPr>
                        <m:t>#</m:t>
                      </m:r>
                      <m:d>
                        <m:dPr>
                          <m:begChr m:val="{"/>
                          <m:endChr m:val="}"/>
                          <m:ctrlPr>
                            <a:rPr lang="en-US" altLang="ja-JP" i="1">
                              <a:latin typeface="Cambria Math" panose="02040503050406030204" pitchFamily="18" charset="0"/>
                              <a:cs typeface="ヒラギノ角ゴ Pro W3"/>
                            </a:rPr>
                          </m:ctrlPr>
                        </m:dPr>
                        <m:e>
                          <m:r>
                            <a:rPr lang="en-US" altLang="ja-JP" b="0" i="1" smtClean="0">
                              <a:latin typeface="Cambria Math" panose="02040503050406030204" pitchFamily="18" charset="0"/>
                              <a:cs typeface="ヒラギノ角ゴ Pro W3"/>
                            </a:rPr>
                            <m:t> </m:t>
                          </m:r>
                          <m:r>
                            <a:rPr lang="en-US" altLang="ja-JP" i="1">
                              <a:latin typeface="Cambria Math" panose="02040503050406030204" pitchFamily="18" charset="0"/>
                              <a:cs typeface="ヒラギノ角ゴ Pro W3"/>
                            </a:rPr>
                            <m:t>𝑗</m:t>
                          </m:r>
                          <m:r>
                            <a:rPr lang="en-US" altLang="ja-JP" b="0" i="1" smtClean="0">
                              <a:latin typeface="Cambria Math" panose="02040503050406030204" pitchFamily="18" charset="0"/>
                              <a:cs typeface="ヒラギノ角ゴ Pro W3"/>
                            </a:rPr>
                            <m:t> </m:t>
                          </m:r>
                          <m:r>
                            <a:rPr lang="en-US" altLang="ja-JP" i="1">
                              <a:latin typeface="Cambria Math" panose="02040503050406030204" pitchFamily="18" charset="0"/>
                              <a:cs typeface="ヒラギノ角ゴ Pro W3"/>
                            </a:rPr>
                            <m:t>:</m:t>
                          </m:r>
                          <m:sSub>
                            <m:sSubPr>
                              <m:ctrlPr>
                                <a:rPr lang="en-US" altLang="ja-JP" i="1">
                                  <a:latin typeface="Cambria Math" panose="02040503050406030204" pitchFamily="18" charset="0"/>
                                  <a:cs typeface="ヒラギノ角ゴ Pro W3"/>
                                </a:rPr>
                              </m:ctrlPr>
                            </m:sSubPr>
                            <m:e>
                              <m:r>
                                <a:rPr lang="en-US" altLang="ja-JP" b="0" i="1" smtClean="0">
                                  <a:latin typeface="Cambria Math" panose="02040503050406030204" pitchFamily="18" charset="0"/>
                                  <a:cs typeface="ヒラギノ角ゴ Pro W3"/>
                                </a:rPr>
                                <m:t>𝑣</m:t>
                              </m:r>
                            </m:e>
                            <m:sub>
                              <m:r>
                                <a:rPr lang="en-US" altLang="ja-JP" b="0" i="1" smtClean="0">
                                  <a:latin typeface="Cambria Math" panose="02040503050406030204" pitchFamily="18" charset="0"/>
                                </a:rPr>
                                <m:t>𝑘</m:t>
                              </m:r>
                              <m:r>
                                <a:rPr lang="en-US" altLang="ja-JP" i="1">
                                  <a:latin typeface="Cambria Math" panose="02040503050406030204" pitchFamily="18" charset="0"/>
                                </a:rPr>
                                <m:t>𝑗</m:t>
                              </m:r>
                            </m:sub>
                          </m:sSub>
                          <m:r>
                            <a:rPr lang="en-US" altLang="ja-JP" i="1">
                              <a:latin typeface="Cambria Math" panose="02040503050406030204" pitchFamily="18" charset="0"/>
                            </a:rPr>
                            <m:t>=0 </m:t>
                          </m:r>
                          <m:r>
                            <a:rPr lang="en-US" altLang="ja-JP" i="1">
                              <a:latin typeface="Cambria Math" panose="02040503050406030204" pitchFamily="18" charset="0"/>
                            </a:rPr>
                            <m:t>𝑎𝑛𝑑</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𝑘</m:t>
                              </m:r>
                              <m:r>
                                <a:rPr lang="en-US" altLang="ja-JP" i="1">
                                  <a:latin typeface="Cambria Math" panose="02040503050406030204" pitchFamily="18" charset="0"/>
                                </a:rPr>
                                <m:t>𝑗</m:t>
                              </m:r>
                            </m:sub>
                          </m:sSub>
                          <m:r>
                            <a:rPr lang="en-US" altLang="ja-JP" b="0" i="1" smtClean="0">
                              <a:latin typeface="Cambria Math" panose="02040503050406030204" pitchFamily="18" charset="0"/>
                            </a:rPr>
                            <m:t>&lt;</m:t>
                          </m:r>
                          <m:r>
                            <a:rPr lang="en-US" altLang="ja-JP" i="1">
                              <a:latin typeface="Cambria Math" panose="02040503050406030204" pitchFamily="18" charset="0"/>
                            </a:rPr>
                            <m:t>0</m:t>
                          </m:r>
                        </m:e>
                      </m:d>
                    </m:oMath>
                  </m:oMathPara>
                </a14:m>
                <a:endParaRPr lang="en-US" altLang="ja-JP" dirty="0">
                  <a:latin typeface="+mn-ea"/>
                  <a:cs typeface="ヒラギノ角ゴ Pro W3"/>
                </a:endParaRPr>
              </a:p>
              <a:p>
                <a:pPr marL="0" indent="0">
                  <a:buClr>
                    <a:schemeClr val="accent3"/>
                  </a:buClr>
                  <a:buNone/>
                </a:pPr>
                <a:endParaRPr lang="en-US" altLang="ja-JP" sz="800" dirty="0">
                  <a:latin typeface="+mn-ea"/>
                  <a:cs typeface="ヒラギノ角ゴ Pro W3"/>
                </a:endParaRPr>
              </a:p>
              <a:p>
                <a:pPr marL="0" indent="0">
                  <a:buClr>
                    <a:schemeClr val="accent3"/>
                  </a:buClr>
                  <a:buNone/>
                </a:pPr>
                <a:endParaRPr lang="en-US" altLang="ja-JP" sz="100" dirty="0">
                  <a:latin typeface="+mn-ea"/>
                  <a:cs typeface="ヒラギノ角ゴ Pro W3"/>
                </a:endParaRPr>
              </a:p>
              <a:p>
                <a:pPr marL="0" indent="0">
                  <a:buClr>
                    <a:schemeClr val="accent3"/>
                  </a:buClr>
                  <a:buNone/>
                </a:pPr>
                <a:r>
                  <a:rPr lang="ja-JP" altLang="en-US">
                    <a:latin typeface="+mn-ea"/>
                    <a:cs typeface="ヒラギノ角ゴ Pro W3"/>
                  </a:rPr>
                  <a:t>このとき</a:t>
                </a:r>
                <a:r>
                  <a:rPr lang="en-US" altLang="ja-JP" dirty="0">
                    <a:latin typeface="+mn-ea"/>
                    <a:cs typeface="ヒラギノ角ゴ Pro W3"/>
                  </a:rPr>
                  <a:t>, </a:t>
                </a: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6915" y="2852289"/>
                <a:ext cx="12523808" cy="3846456"/>
              </a:xfrm>
              <a:blipFill>
                <a:blip r:embed="rId4"/>
                <a:stretch>
                  <a:fillRect l="-1013" t="-2632"/>
                </a:stretch>
              </a:blipFill>
            </p:spPr>
            <p:txBody>
              <a:bodyPr/>
              <a:lstStyle/>
              <a:p>
                <a:r>
                  <a:rPr lang="ja-JP" altLang="en-US">
                    <a:noFill/>
                  </a:rPr>
                  <a:t> </a:t>
                </a:r>
              </a:p>
            </p:txBody>
          </p:sp>
        </mc:Fallback>
      </mc:AlternateContent>
      <p:sp>
        <p:nvSpPr>
          <p:cNvPr id="29" name="角丸四角形吹き出し 28">
            <a:extLst>
              <a:ext uri="{FF2B5EF4-FFF2-40B4-BE49-F238E27FC236}">
                <a16:creationId xmlns:a16="http://schemas.microsoft.com/office/drawing/2014/main" id="{B07B4C09-A2F4-25AB-4AFA-B336B8F8AE4A}"/>
              </a:ext>
            </a:extLst>
          </p:cNvPr>
          <p:cNvSpPr/>
          <p:nvPr/>
        </p:nvSpPr>
        <p:spPr>
          <a:xfrm>
            <a:off x="8704723" y="4365387"/>
            <a:ext cx="3421129" cy="999163"/>
          </a:xfrm>
          <a:prstGeom prst="wedgeRoundRectCallout">
            <a:avLst>
              <a:gd name="adj1" fmla="val 26028"/>
              <a:gd name="adj2" fmla="val 91785"/>
              <a:gd name="adj3" fmla="val 16667"/>
            </a:avLst>
          </a:prstGeom>
          <a:noFill/>
          <a:ln w="317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6D204FA-9AEA-3BB2-2F09-E485957B536D}"/>
              </a:ext>
            </a:extLst>
          </p:cNvPr>
          <p:cNvSpPr txBox="1"/>
          <p:nvPr/>
        </p:nvSpPr>
        <p:spPr>
          <a:xfrm>
            <a:off x="8810853" y="4433173"/>
            <a:ext cx="3314999" cy="954107"/>
          </a:xfrm>
          <a:prstGeom prst="rect">
            <a:avLst/>
          </a:prstGeom>
          <a:noFill/>
        </p:spPr>
        <p:txBody>
          <a:bodyPr wrap="square" rtlCol="0">
            <a:spAutoFit/>
          </a:bodyPr>
          <a:lstStyle/>
          <a:p>
            <a:r>
              <a:rPr kumimoji="1" lang="en-US" altLang="ja-JP" sz="2800" dirty="0">
                <a:solidFill>
                  <a:schemeClr val="tx1"/>
                </a:solidFill>
                <a:latin typeface="+mn-ea"/>
              </a:rPr>
              <a:t>FDP</a:t>
            </a:r>
            <a:r>
              <a:rPr kumimoji="1" lang="ja-JP" altLang="en-US" sz="2800">
                <a:latin typeface="+mn-ea"/>
              </a:rPr>
              <a:t>の上界の</a:t>
            </a:r>
            <a:r>
              <a:rPr kumimoji="1" lang="ja-JP" altLang="en-US" sz="2800">
                <a:solidFill>
                  <a:schemeClr val="tx1"/>
                </a:solidFill>
              </a:rPr>
              <a:t>計算が可能に</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D66E6069-35ED-ED0A-F916-297AFA42CCB8}"/>
                  </a:ext>
                </a:extLst>
              </p:cNvPr>
              <p:cNvSpPr txBox="1"/>
              <p:nvPr/>
            </p:nvSpPr>
            <p:spPr>
              <a:xfrm>
                <a:off x="-30674" y="4436866"/>
                <a:ext cx="8804590" cy="11450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sz="2800" b="0" i="0" smtClean="0">
                          <a:latin typeface="Cambria Math" panose="02040503050406030204" pitchFamily="18" charset="0"/>
                          <a:ea typeface="Cambria Math" panose="02040503050406030204" pitchFamily="18" charset="0"/>
                        </a:rPr>
                        <m:t>FD</m:t>
                      </m:r>
                      <m:sSub>
                        <m:sSubPr>
                          <m:ctrlPr>
                            <a:rPr lang="en-US" altLang="ja-JP" sz="2800" b="0" i="1" smtClean="0">
                              <a:latin typeface="Cambria Math" panose="02040503050406030204" pitchFamily="18" charset="0"/>
                              <a:ea typeface="Cambria Math" panose="02040503050406030204" pitchFamily="18" charset="0"/>
                            </a:rPr>
                          </m:ctrlPr>
                        </m:sSubPr>
                        <m:e>
                          <m:r>
                            <m:rPr>
                              <m:sty m:val="p"/>
                            </m:rPr>
                            <a:rPr lang="en-US" altLang="ja-JP" sz="2800" b="0" i="0" smtClean="0">
                              <a:latin typeface="Cambria Math" panose="02040503050406030204" pitchFamily="18" charset="0"/>
                              <a:ea typeface="Cambria Math" panose="02040503050406030204" pitchFamily="18" charset="0"/>
                            </a:rPr>
                            <m:t>P</m:t>
                          </m:r>
                        </m:e>
                        <m:sub>
                          <m:r>
                            <a:rPr lang="en-US" altLang="ja-JP" sz="2800" b="0" i="1" smtClean="0">
                              <a:latin typeface="Cambria Math" panose="02040503050406030204" pitchFamily="18" charset="0"/>
                              <a:ea typeface="Cambria Math" panose="02040503050406030204" pitchFamily="18" charset="0"/>
                            </a:rPr>
                            <m:t>𝑘</m:t>
                          </m:r>
                        </m:sub>
                      </m:sSub>
                      <m:r>
                        <a:rPr lang="en-US" altLang="ja-JP" sz="2800" b="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𝑐</m:t>
                      </m:r>
                      <m:r>
                        <a:rPr lang="en-US" altLang="ja-JP" sz="2800" b="0" i="1" smtClean="0">
                          <a:latin typeface="Cambria Math" panose="02040503050406030204" pitchFamily="18" charset="0"/>
                          <a:ea typeface="Cambria Math" panose="02040503050406030204" pitchFamily="18" charset="0"/>
                        </a:rPr>
                        <m:t>)=</m:t>
                      </m:r>
                      <m:f>
                        <m:fPr>
                          <m:ctrlPr>
                            <a:rPr lang="en-US" altLang="ja-JP" sz="2800" i="1" smtClean="0">
                              <a:latin typeface="Cambria Math" panose="02040503050406030204" pitchFamily="18" charset="0"/>
                              <a:ea typeface="Cambria Math" panose="02040503050406030204" pitchFamily="18" charset="0"/>
                            </a:rPr>
                          </m:ctrlPr>
                        </m:fPr>
                        <m:num>
                          <m:sSub>
                            <m:sSubPr>
                              <m:ctrlPr>
                                <a:rPr lang="en-US" altLang="ja-JP" sz="2800" b="0" i="1" smtClean="0">
                                  <a:latin typeface="Cambria Math" panose="02040503050406030204" pitchFamily="18" charset="0"/>
                                  <a:ea typeface="Cambria Math" panose="02040503050406030204" pitchFamily="18" charset="0"/>
                                </a:rPr>
                              </m:ctrlPr>
                            </m:sSubPr>
                            <m:e>
                              <m:r>
                                <a:rPr lang="en-US" altLang="ja-JP" sz="2800" i="1">
                                  <a:latin typeface="Cambria Math" panose="02040503050406030204" pitchFamily="18" charset="0"/>
                                  <a:ea typeface="Cambria Math" panose="02040503050406030204" pitchFamily="18" charset="0"/>
                                </a:rPr>
                                <m:t>𝑉</m:t>
                              </m:r>
                            </m:e>
                            <m:sub>
                              <m:r>
                                <a:rPr lang="en-US" altLang="ja-JP" sz="2800" b="0" i="1" smtClean="0">
                                  <a:latin typeface="Cambria Math" panose="02040503050406030204" pitchFamily="18" charset="0"/>
                                  <a:ea typeface="Cambria Math" panose="02040503050406030204" pitchFamily="18" charset="0"/>
                                </a:rPr>
                                <m:t>𝑘</m:t>
                              </m:r>
                            </m:sub>
                          </m:sSub>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𝑐</m:t>
                          </m:r>
                          <m:r>
                            <a:rPr lang="en-US" altLang="ja-JP" sz="2800" i="1">
                              <a:latin typeface="Cambria Math" panose="02040503050406030204" pitchFamily="18" charset="0"/>
                              <a:ea typeface="Cambria Math" panose="02040503050406030204" pitchFamily="18" charset="0"/>
                            </a:rPr>
                            <m:t>)</m:t>
                          </m:r>
                        </m:num>
                        <m:den>
                          <m:sSub>
                            <m:sSubPr>
                              <m:ctrlPr>
                                <a:rPr lang="en-US" altLang="ja-JP" sz="2800" b="0" i="1" smtClean="0">
                                  <a:latin typeface="Cambria Math" panose="02040503050406030204" pitchFamily="18" charset="0"/>
                                  <a:ea typeface="Cambria Math" panose="02040503050406030204" pitchFamily="18" charset="0"/>
                                </a:rPr>
                              </m:ctrlPr>
                            </m:sSubPr>
                            <m:e>
                              <m:r>
                                <a:rPr lang="en-US" altLang="ja-JP" sz="2800" i="1">
                                  <a:latin typeface="Cambria Math" panose="02040503050406030204" pitchFamily="18" charset="0"/>
                                  <a:ea typeface="Cambria Math" panose="02040503050406030204" pitchFamily="18" charset="0"/>
                                </a:rPr>
                                <m:t>𝑅</m:t>
                              </m:r>
                            </m:e>
                            <m:sub>
                              <m:r>
                                <a:rPr lang="en-US" altLang="ja-JP" sz="2800" b="0" i="1" smtClean="0">
                                  <a:latin typeface="Cambria Math" panose="02040503050406030204" pitchFamily="18" charset="0"/>
                                  <a:ea typeface="Cambria Math" panose="02040503050406030204" pitchFamily="18" charset="0"/>
                                </a:rPr>
                                <m:t>𝑘</m:t>
                              </m:r>
                            </m:sub>
                          </m:sSub>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𝑐</m:t>
                          </m:r>
                          <m:r>
                            <a:rPr lang="en-US" altLang="ja-JP" sz="2800" i="1">
                              <a:latin typeface="Cambria Math" panose="02040503050406030204" pitchFamily="18" charset="0"/>
                              <a:ea typeface="Cambria Math" panose="02040503050406030204" pitchFamily="18" charset="0"/>
                            </a:rPr>
                            <m:t>)</m:t>
                          </m:r>
                        </m:den>
                      </m:f>
                      <m:r>
                        <a:rPr lang="en-US" altLang="ja-JP" sz="2800" b="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1+</m:t>
                          </m:r>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 :</m:t>
                              </m:r>
                              <m:sSub>
                                <m:sSubPr>
                                  <m:ctrlPr>
                                    <a:rPr lang="en-US" altLang="ja-JP" sz="2800" i="1">
                                      <a:latin typeface="Cambria Math" panose="02040503050406030204" pitchFamily="18" charset="0"/>
                                      <a:cs typeface="ヒラギノ角ゴ Pro W3"/>
                                    </a:rPr>
                                  </m:ctrlPr>
                                </m:sSubPr>
                                <m:e>
                                  <m:r>
                                    <a:rPr lang="en-US" altLang="ja-JP" sz="2800" i="1">
                                      <a:latin typeface="Cambria Math" panose="02040503050406030204" pitchFamily="18" charset="0"/>
                                      <a:cs typeface="ヒラギノ角ゴ Pro W3"/>
                                    </a:rPr>
                                    <m:t>𝑣</m:t>
                                  </m:r>
                                </m:e>
                                <m:sub>
                                  <m:r>
                                    <a:rPr lang="en-US" altLang="ja-JP" sz="2800" b="0" i="1" smtClean="0">
                                      <a:latin typeface="Cambria Math" panose="02040503050406030204" pitchFamily="18" charset="0"/>
                                      <a:cs typeface="ヒラギノ角ゴ Pro W3"/>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 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i="1">
                                  <a:latin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i="1">
                                  <a:latin typeface="Cambria Math" panose="02040503050406030204" pitchFamily="18" charset="0"/>
                                </a:rPr>
                                <m:t>𝑡</m:t>
                              </m:r>
                            </m:e>
                          </m:d>
                        </m:den>
                      </m:f>
                    </m:oMath>
                  </m:oMathPara>
                </a14:m>
                <a:endParaRPr kumimoji="1" lang="ja-JP" altLang="en-US" sz="2800"/>
              </a:p>
            </p:txBody>
          </p:sp>
        </mc:Choice>
        <mc:Fallback xmlns="">
          <p:sp>
            <p:nvSpPr>
              <p:cNvPr id="4" name="テキスト ボックス 3">
                <a:extLst>
                  <a:ext uri="{FF2B5EF4-FFF2-40B4-BE49-F238E27FC236}">
                    <a16:creationId xmlns:a16="http://schemas.microsoft.com/office/drawing/2014/main" id="{D66E6069-35ED-ED0A-F916-297AFA42CCB8}"/>
                  </a:ext>
                </a:extLst>
              </p:cNvPr>
              <p:cNvSpPr txBox="1">
                <a:spLocks noRot="1" noChangeAspect="1" noMove="1" noResize="1" noEditPoints="1" noAdjustHandles="1" noChangeArrowheads="1" noChangeShapeType="1" noTextEdit="1"/>
              </p:cNvSpPr>
              <p:nvPr/>
            </p:nvSpPr>
            <p:spPr>
              <a:xfrm>
                <a:off x="-30674" y="4436866"/>
                <a:ext cx="8804590" cy="1145057"/>
              </a:xfrm>
              <a:prstGeom prst="rect">
                <a:avLst/>
              </a:prstGeom>
              <a:blipFill>
                <a:blip r:embed="rId5"/>
                <a:stretch>
                  <a:fillRect b="-549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CB01AE2-F351-8950-F944-45AAF5171478}"/>
                  </a:ext>
                </a:extLst>
              </p:cNvPr>
              <p:cNvSpPr txBox="1"/>
              <p:nvPr/>
            </p:nvSpPr>
            <p:spPr>
              <a:xfrm>
                <a:off x="0" y="5575551"/>
                <a:ext cx="12388969" cy="11450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80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1+</m:t>
                          </m:r>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 :</m:t>
                              </m:r>
                              <m:sSub>
                                <m:sSubPr>
                                  <m:ctrlPr>
                                    <a:rPr lang="en-US" altLang="ja-JP" sz="2800" i="1">
                                      <a:latin typeface="Cambria Math" panose="02040503050406030204" pitchFamily="18" charset="0"/>
                                      <a:cs typeface="ヒラギノ角ゴ Pro W3"/>
                                    </a:rPr>
                                  </m:ctrlPr>
                                </m:sSubPr>
                                <m:e>
                                  <m:r>
                                    <a:rPr lang="en-US" altLang="ja-JP" sz="2800" i="1">
                                      <a:latin typeface="Cambria Math" panose="02040503050406030204" pitchFamily="18" charset="0"/>
                                      <a:cs typeface="ヒラギノ角ゴ Pro W3"/>
                                    </a:rPr>
                                    <m:t>𝑣</m:t>
                                  </m:r>
                                </m:e>
                                <m:sub>
                                  <m:r>
                                    <a:rPr lang="en-US" altLang="ja-JP" sz="2800" b="0" i="1" smtClean="0">
                                      <a:latin typeface="Cambria Math" panose="02040503050406030204" pitchFamily="18" charset="0"/>
                                      <a:cs typeface="ヒラギノ角ゴ Pro W3"/>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m:t>
                              </m:r>
                              <m:r>
                                <a:rPr lang="en-US" altLang="ja-JP" sz="2800" i="1">
                                  <a:latin typeface="Cambria Math" panose="02040503050406030204" pitchFamily="18" charset="0"/>
                                </a:rPr>
                                <m:t>𝑡</m:t>
                              </m:r>
                              <m:r>
                                <a:rPr lang="en-US" altLang="ja-JP" sz="2800" i="1" smtClean="0">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b="0" i="1" smtClean="0">
                                  <a:latin typeface="Cambria Math" panose="02040503050406030204" pitchFamily="18" charset="0"/>
                                </a:rPr>
                                <m:t>&lt;</m:t>
                              </m:r>
                              <m:r>
                                <a:rPr lang="en-US" altLang="ja-JP" sz="2800" i="1">
                                  <a:latin typeface="Cambria Math" panose="02040503050406030204" pitchFamily="18" charset="0"/>
                                </a:rPr>
                                <m:t>0</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i="1">
                                  <a:latin typeface="Cambria Math" panose="02040503050406030204" pitchFamily="18" charset="0"/>
                                </a:rPr>
                                <m:t>𝑡</m:t>
                              </m:r>
                            </m:e>
                          </m:d>
                        </m:den>
                      </m:f>
                      <m:r>
                        <a:rPr lang="en-US" altLang="ja-JP" sz="280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1+</m:t>
                          </m:r>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r>
                                <a:rPr lang="en-US" altLang="ja-JP" sz="2800" i="1">
                                  <a:latin typeface="Cambria Math" panose="02040503050406030204" pitchFamily="18" charset="0"/>
                                </a:rPr>
                                <m:t>𝑡</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b="0" i="1" smtClean="0">
                                  <a:latin typeface="Cambria Math" panose="02040503050406030204" pitchFamily="18" charset="0"/>
                                </a:rPr>
                                <m:t>&lt;</m:t>
                              </m:r>
                              <m:r>
                                <a:rPr lang="en-US" altLang="ja-JP" sz="2800" i="1">
                                  <a:latin typeface="Cambria Math" panose="02040503050406030204" pitchFamily="18" charset="0"/>
                                </a:rPr>
                                <m:t>0</m:t>
                              </m:r>
                              <m:r>
                                <a:rPr lang="en-US" altLang="ja-JP" sz="2800" b="0" i="1" smtClean="0">
                                  <a:latin typeface="Cambria Math" panose="02040503050406030204" pitchFamily="18" charset="0"/>
                                </a:rPr>
                                <m:t> </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i="1">
                                  <a:latin typeface="Cambria Math" panose="02040503050406030204" pitchFamily="18" charset="0"/>
                                </a:rPr>
                                <m:t>𝑡</m:t>
                              </m:r>
                            </m:e>
                          </m:d>
                        </m:den>
                      </m:f>
                      <m:r>
                        <a:rPr lang="en-US" altLang="ja-JP" sz="2800" b="0" i="1" smtClean="0">
                          <a:latin typeface="Cambria Math" panose="02040503050406030204" pitchFamily="18" charset="0"/>
                          <a:ea typeface="Cambria Math" panose="02040503050406030204" pitchFamily="18" charset="0"/>
                        </a:rPr>
                        <m:t>=</m:t>
                      </m:r>
                      <m:sSub>
                        <m:sSubPr>
                          <m:ctrlPr>
                            <a:rPr lang="en-US" altLang="ja-JP" sz="2800" b="0" i="1" smtClean="0">
                              <a:latin typeface="Cambria Math" panose="02040503050406030204" pitchFamily="18" charset="0"/>
                              <a:ea typeface="Cambria Math" panose="02040503050406030204" pitchFamily="18" charset="0"/>
                            </a:rPr>
                          </m:ctrlPr>
                        </m:sSubPr>
                        <m:e>
                          <m:acc>
                            <m:accPr>
                              <m:chr m:val="̂"/>
                              <m:ctrlPr>
                                <a:rPr lang="en-US" altLang="ja-JP" sz="2800" b="0" i="1" smtClean="0">
                                  <a:latin typeface="Cambria Math" panose="02040503050406030204" pitchFamily="18" charset="0"/>
                                  <a:ea typeface="Cambria Math" panose="02040503050406030204" pitchFamily="18" charset="0"/>
                                </a:rPr>
                              </m:ctrlPr>
                            </m:accPr>
                            <m:e>
                              <m:r>
                                <m:rPr>
                                  <m:sty m:val="p"/>
                                </m:rPr>
                                <a:rPr lang="en-US" altLang="ja-JP" sz="2800" i="0">
                                  <a:latin typeface="Cambria Math" panose="02040503050406030204" pitchFamily="18" charset="0"/>
                                  <a:ea typeface="Cambria Math" panose="02040503050406030204" pitchFamily="18" charset="0"/>
                                </a:rPr>
                                <m:t>FDP</m:t>
                              </m:r>
                            </m:e>
                          </m:acc>
                        </m:e>
                        <m:sub>
                          <m:r>
                            <a:rPr lang="en-US" altLang="ja-JP" sz="2800" b="0" i="1" smtClean="0">
                              <a:latin typeface="Cambria Math" panose="02040503050406030204" pitchFamily="18" charset="0"/>
                              <a:ea typeface="Cambria Math" panose="02040503050406030204" pitchFamily="18" charset="0"/>
                            </a:rPr>
                            <m:t>𝑘</m:t>
                          </m:r>
                        </m:sub>
                      </m:sSub>
                      <m:r>
                        <a:rPr lang="en-US" altLang="ja-JP" sz="2800" b="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𝑐</m:t>
                      </m:r>
                      <m:r>
                        <a:rPr lang="en-US" altLang="ja-JP" sz="2800" b="0" i="1" smtClean="0">
                          <a:latin typeface="Cambria Math" panose="02040503050406030204" pitchFamily="18" charset="0"/>
                          <a:ea typeface="Cambria Math" panose="02040503050406030204" pitchFamily="18" charset="0"/>
                        </a:rPr>
                        <m:t>)</m:t>
                      </m:r>
                    </m:oMath>
                  </m:oMathPara>
                </a14:m>
                <a:endParaRPr lang="ja-JP" altLang="en-US" sz="2800" dirty="0">
                  <a:latin typeface="+mn-ea"/>
                  <a:cs typeface="ヒラギノ角ゴ Pro W3"/>
                </a:endParaRPr>
              </a:p>
            </p:txBody>
          </p:sp>
        </mc:Choice>
        <mc:Fallback xmlns="">
          <p:sp>
            <p:nvSpPr>
              <p:cNvPr id="5" name="テキスト ボックス 4">
                <a:extLst>
                  <a:ext uri="{FF2B5EF4-FFF2-40B4-BE49-F238E27FC236}">
                    <a16:creationId xmlns:a16="http://schemas.microsoft.com/office/drawing/2014/main" id="{4CB01AE2-F351-8950-F944-45AAF5171478}"/>
                  </a:ext>
                </a:extLst>
              </p:cNvPr>
              <p:cNvSpPr txBox="1">
                <a:spLocks noRot="1" noChangeAspect="1" noMove="1" noResize="1" noEditPoints="1" noAdjustHandles="1" noChangeArrowheads="1" noChangeShapeType="1" noTextEdit="1"/>
              </p:cNvSpPr>
              <p:nvPr/>
            </p:nvSpPr>
            <p:spPr>
              <a:xfrm>
                <a:off x="0" y="5575551"/>
                <a:ext cx="12388969" cy="1145057"/>
              </a:xfrm>
              <a:prstGeom prst="rect">
                <a:avLst/>
              </a:prstGeom>
              <a:blipFill>
                <a:blip r:embed="rId6"/>
                <a:stretch>
                  <a:fillRect b="-5556"/>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94504A94-2254-4D3F-62F3-841CB9706357}"/>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20/28</a:t>
            </a:r>
            <a:endParaRPr kumimoji="1" lang="ja-JP" altLang="en-US" sz="2800">
              <a:latin typeface="+mj-ea"/>
              <a:ea typeface="+mj-ea"/>
            </a:endParaRPr>
          </a:p>
        </p:txBody>
      </p:sp>
    </p:spTree>
    <p:extLst>
      <p:ext uri="{BB962C8B-B14F-4D97-AF65-F5344CB8AC3E}">
        <p14:creationId xmlns:p14="http://schemas.microsoft.com/office/powerpoint/2010/main" val="1364755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204864" y="2159409"/>
                <a:ext cx="11782271" cy="2906367"/>
              </a:xfrm>
            </p:spPr>
            <p:txBody>
              <a:bodyPr>
                <a:noAutofit/>
              </a:bodyPr>
              <a:lstStyle/>
              <a:p>
                <a:pPr marL="0" indent="0">
                  <a:buClr>
                    <a:schemeClr val="accent3"/>
                  </a:buClr>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4.</a:t>
                </a:r>
                <a:r>
                  <a:rPr lang="ja-JP" altLang="en-US" sz="3200">
                    <a:solidFill>
                      <a:srgbClr val="7030A0"/>
                    </a:solidFill>
                    <a:latin typeface="+mn-ea"/>
                    <a:cs typeface="ヒラギノ角ゴ Pro W3"/>
                  </a:rPr>
                  <a:t>　主成分負荷量の選択，および調整パラメータ</a:t>
                </a:r>
                <a14:m>
                  <m:oMath xmlns:m="http://schemas.openxmlformats.org/officeDocument/2006/math">
                    <m:r>
                      <a:rPr lang="en-US" altLang="ja-JP" sz="3200" b="0" i="1" smtClean="0">
                        <a:solidFill>
                          <a:srgbClr val="7030A0"/>
                        </a:solidFill>
                        <a:latin typeface="Cambria Math" panose="02040503050406030204" pitchFamily="18" charset="0"/>
                        <a:cs typeface="ヒラギノ角ゴ Pro W3"/>
                      </a:rPr>
                      <m:t>𝑐</m:t>
                    </m:r>
                  </m:oMath>
                </a14:m>
                <a:r>
                  <a:rPr kumimoji="1" lang="ja-JP" altLang="en-US" sz="3200">
                    <a:solidFill>
                      <a:srgbClr val="7030A0"/>
                    </a:solidFill>
                    <a:latin typeface="+mn-ea"/>
                    <a:cs typeface="ヒラギノ角ゴ Pro W3"/>
                  </a:rPr>
                  <a:t>の導出</a:t>
                </a:r>
              </a:p>
              <a:p>
                <a:pPr marL="0" indent="0">
                  <a:buClr>
                    <a:schemeClr val="accent3"/>
                  </a:buClr>
                  <a:buNone/>
                </a:pPr>
                <a:r>
                  <a:rPr lang="en-US" altLang="ja-JP" sz="3200" dirty="0"/>
                  <a:t>    </a:t>
                </a:r>
                <a14:m>
                  <m:oMath xmlns:m="http://schemas.openxmlformats.org/officeDocument/2006/math">
                    <m:r>
                      <a:rPr lang="en-US" altLang="ja-JP" sz="3000" i="1">
                        <a:latin typeface="Cambria Math" panose="02040503050406030204" pitchFamily="18" charset="0"/>
                      </a:rPr>
                      <m:t>0</m:t>
                    </m:r>
                    <m:r>
                      <a:rPr lang="en-US" altLang="ja-JP" sz="3000" b="0" i="1" smtClean="0">
                        <a:latin typeface="Cambria Math" panose="02040503050406030204" pitchFamily="18" charset="0"/>
                      </a:rPr>
                      <m:t>&lt;</m:t>
                    </m:r>
                    <m:sSub>
                      <m:sSubPr>
                        <m:ctrlPr>
                          <a:rPr lang="en-US" altLang="ja-JP" sz="3000" i="1">
                            <a:latin typeface="Cambria Math" panose="02040503050406030204" pitchFamily="18" charset="0"/>
                          </a:rPr>
                        </m:ctrlPr>
                      </m:sSubPr>
                      <m:e>
                        <m:r>
                          <a:rPr lang="en-US" altLang="ja-JP" sz="3000" i="1">
                            <a:latin typeface="Cambria Math" panose="02040503050406030204" pitchFamily="18" charset="0"/>
                          </a:rPr>
                          <m:t>𝑊</m:t>
                        </m:r>
                      </m:e>
                      <m:sub>
                        <m:r>
                          <a:rPr lang="en-US" altLang="ja-JP" sz="3000" i="1">
                            <a:latin typeface="Cambria Math" panose="02040503050406030204" pitchFamily="18" charset="0"/>
                          </a:rPr>
                          <m:t>𝑗</m:t>
                        </m:r>
                      </m:sub>
                    </m:sSub>
                    <m:r>
                      <a:rPr lang="en-US" altLang="ja-JP" sz="3000" i="1">
                        <a:latin typeface="Cambria Math" panose="02040503050406030204" pitchFamily="18" charset="0"/>
                      </a:rPr>
                      <m:t>≤</m:t>
                    </m:r>
                    <m:r>
                      <a:rPr lang="en-US" altLang="ja-JP" sz="3000" b="0" i="1" smtClean="0">
                        <a:latin typeface="Cambria Math" panose="02040503050406030204" pitchFamily="18" charset="0"/>
                      </a:rPr>
                      <m:t>𝑇</m:t>
                    </m:r>
                    <m:r>
                      <a:rPr lang="en-US" altLang="ja-JP" sz="3000" b="0" i="1" smtClean="0">
                        <a:latin typeface="Cambria Math" panose="02040503050406030204" pitchFamily="18" charset="0"/>
                      </a:rPr>
                      <m:t> (</m:t>
                    </m:r>
                    <m:r>
                      <a:rPr lang="en-US" altLang="ja-JP" sz="3000" i="1">
                        <a:latin typeface="Cambria Math" panose="02040503050406030204" pitchFamily="18" charset="0"/>
                      </a:rPr>
                      <m:t>𝑗</m:t>
                    </m:r>
                    <m:r>
                      <a:rPr lang="en-US" altLang="ja-JP" sz="3000" i="1">
                        <a:latin typeface="Cambria Math" panose="02040503050406030204" pitchFamily="18" charset="0"/>
                      </a:rPr>
                      <m:t>=1,…,</m:t>
                    </m:r>
                    <m:r>
                      <a:rPr lang="en-US" altLang="ja-JP" sz="3000" i="1">
                        <a:latin typeface="Cambria Math" panose="02040503050406030204" pitchFamily="18" charset="0"/>
                      </a:rPr>
                      <m:t>𝑝</m:t>
                    </m:r>
                    <m:r>
                      <a:rPr lang="en-US" altLang="ja-JP" sz="3000" i="1">
                        <a:latin typeface="Cambria Math" panose="02040503050406030204" pitchFamily="18" charset="0"/>
                      </a:rPr>
                      <m:t>)</m:t>
                    </m:r>
                  </m:oMath>
                </a14:m>
                <a:r>
                  <a:rPr kumimoji="1" lang="ja-JP" altLang="en-US" sz="3000">
                    <a:latin typeface="+mn-ea"/>
                    <a:cs typeface="ヒラギノ角ゴ Pro W3"/>
                  </a:rPr>
                  <a:t>を満たす主成分負荷量の添字番号を選択</a:t>
                </a:r>
                <a:r>
                  <a:rPr kumimoji="1" lang="en-US" altLang="ja-JP" sz="3000" dirty="0">
                    <a:latin typeface="+mn-ea"/>
                    <a:cs typeface="ヒラギノ角ゴ Pro W3"/>
                  </a:rPr>
                  <a:t>      </a:t>
                </a:r>
              </a:p>
              <a:p>
                <a:pPr marL="0" indent="0">
                  <a:buClr>
                    <a:schemeClr val="accent3"/>
                  </a:buClr>
                  <a:buNone/>
                </a:pPr>
                <a:r>
                  <a:rPr kumimoji="1" lang="en-US" altLang="ja-JP" sz="3200" dirty="0">
                    <a:latin typeface="+mn-ea"/>
                    <a:cs typeface="ヒラギノ角ゴ Pro W3"/>
                  </a:rPr>
                  <a:t>          </a:t>
                </a:r>
                <a:r>
                  <a:rPr kumimoji="1" lang="ja-JP" altLang="en-US" sz="3200" dirty="0">
                    <a:latin typeface="+mn-ea"/>
                    <a:cs typeface="ヒラギノ角ゴ Pro W3"/>
                  </a:rPr>
                  <a:t>　</a:t>
                </a:r>
                <a:endParaRPr kumimoji="1" lang="en-US" altLang="ja-JP" sz="3200" dirty="0">
                  <a:latin typeface="+mn-ea"/>
                  <a:cs typeface="ヒラギノ角ゴ Pro W3"/>
                </a:endParaRPr>
              </a:p>
              <a:p>
                <a:pPr marL="0" indent="0">
                  <a:buClr>
                    <a:schemeClr val="accent3"/>
                  </a:buClr>
                  <a:buNone/>
                </a:pPr>
                <a:r>
                  <a:rPr kumimoji="1" lang="en-US" altLang="ja-JP" sz="3200" b="0" dirty="0">
                    <a:cs typeface="ヒラギノ角ゴ Pro W3"/>
                  </a:rPr>
                  <a:t>                                                </a:t>
                </a:r>
                <a14:m>
                  <m:oMath xmlns:m="http://schemas.openxmlformats.org/officeDocument/2006/math">
                    <m:r>
                      <a:rPr kumimoji="1" lang="en-US" altLang="ja-JP" sz="3200" b="0" i="1" smtClean="0">
                        <a:latin typeface="Cambria Math" panose="02040503050406030204" pitchFamily="18" charset="0"/>
                        <a:cs typeface="ヒラギノ角ゴ Pro W3"/>
                      </a:rPr>
                      <m:t>𝑐</m:t>
                    </m:r>
                  </m:oMath>
                </a14:m>
                <a:r>
                  <a:rPr lang="ja-JP" altLang="en-US" sz="3200">
                    <a:latin typeface="+mn-ea"/>
                    <a:cs typeface="ヒラギノ角ゴ Pro W3"/>
                  </a:rPr>
                  <a:t>の範囲を導出</a:t>
                </a:r>
                <a:endParaRPr kumimoji="1" lang="ja-JP" altLang="en-US" sz="3200"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204864" y="2159409"/>
                <a:ext cx="11782271" cy="2906367"/>
              </a:xfrm>
              <a:blipFill>
                <a:blip r:embed="rId3"/>
                <a:stretch>
                  <a:fillRect l="-1293" t="-3913"/>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B18D0EE7-41D9-5201-4E18-258BD75E01A0}"/>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p:sp>
        <p:nvSpPr>
          <p:cNvPr id="2" name="下矢印 1">
            <a:extLst>
              <a:ext uri="{FF2B5EF4-FFF2-40B4-BE49-F238E27FC236}">
                <a16:creationId xmlns:a16="http://schemas.microsoft.com/office/drawing/2014/main" id="{C78D6C98-B700-182C-83C0-EBC8F22ADF63}"/>
              </a:ext>
            </a:extLst>
          </p:cNvPr>
          <p:cNvSpPr/>
          <p:nvPr/>
        </p:nvSpPr>
        <p:spPr>
          <a:xfrm>
            <a:off x="5751614" y="3214625"/>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4" name="テキスト ボックス 3">
            <a:extLst>
              <a:ext uri="{FF2B5EF4-FFF2-40B4-BE49-F238E27FC236}">
                <a16:creationId xmlns:a16="http://schemas.microsoft.com/office/drawing/2014/main" id="{D327005B-592F-FFBF-AB40-918C590507DE}"/>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21/28</a:t>
            </a:r>
            <a:endParaRPr kumimoji="1" lang="ja-JP" altLang="en-US" sz="2800">
              <a:latin typeface="+mj-ea"/>
              <a:ea typeface="+mj-ea"/>
            </a:endParaRPr>
          </a:p>
        </p:txBody>
      </p:sp>
    </p:spTree>
    <p:extLst>
      <p:ext uri="{BB962C8B-B14F-4D97-AF65-F5344CB8AC3E}">
        <p14:creationId xmlns:p14="http://schemas.microsoft.com/office/powerpoint/2010/main" val="232832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E6E8A1E-0A92-BB4C-B5A6-30FEF3F06832}"/>
                  </a:ext>
                </a:extLst>
              </p:cNvPr>
              <p:cNvSpPr>
                <a:spLocks noGrp="1"/>
              </p:cNvSpPr>
              <p:nvPr>
                <p:ph idx="1"/>
              </p:nvPr>
            </p:nvSpPr>
            <p:spPr>
              <a:xfrm>
                <a:off x="62346" y="646820"/>
                <a:ext cx="12067308" cy="5934503"/>
              </a:xfrm>
            </p:spPr>
            <p:txBody>
              <a:bodyPr>
                <a:noAutofit/>
              </a:bodyPr>
              <a:lstStyle/>
              <a:p>
                <a:pPr marL="0" indent="0">
                  <a:buNone/>
                </a:pPr>
                <a:r>
                  <a:rPr lang="ja-JP" altLang="en-US">
                    <a:latin typeface="+mn-ea"/>
                  </a:rPr>
                  <a:t>・人工データ</a:t>
                </a:r>
                <a14:m>
                  <m:oMath xmlns:m="http://schemas.openxmlformats.org/officeDocument/2006/math">
                    <m:r>
                      <a:rPr lang="en-US" altLang="ja-JP" i="1">
                        <a:latin typeface="Cambria Math" panose="02040503050406030204" pitchFamily="18" charset="0"/>
                      </a:rPr>
                      <m:t>𝑋</m:t>
                    </m:r>
                  </m:oMath>
                </a14:m>
                <a:r>
                  <a:rPr lang="ja-JP" altLang="en-US">
                    <a:latin typeface="+mn-ea"/>
                  </a:rPr>
                  <a:t>を発生</a:t>
                </a:r>
                <a:endParaRPr lang="en-US" altLang="ja-JP" dirty="0">
                  <a:latin typeface="+mn-ea"/>
                </a:endParaRPr>
              </a:p>
              <a:p>
                <a:pPr marL="0" indent="0" algn="ctr">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𝑋</m:t>
                      </m:r>
                      <m:r>
                        <a:rPr lang="en-US" altLang="ja-JP" i="1">
                          <a:latin typeface="Cambria Math" panose="02040503050406030204" pitchFamily="18" charset="0"/>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𝑛</m:t>
                                  </m:r>
                                </m:sub>
                              </m:sSub>
                            </m:e>
                          </m:d>
                        </m:e>
                        <m:sup>
                          <m:r>
                            <a:rPr lang="en-US" altLang="ja-JP" i="1">
                              <a:latin typeface="Cambria Math" panose="02040503050406030204" pitchFamily="18" charset="0"/>
                            </a:rPr>
                            <m:t>𝑇</m:t>
                          </m:r>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i="1">
                          <a:latin typeface="Cambria Math" panose="02040503050406030204" pitchFamily="18" charset="0"/>
                        </a:rPr>
                        <m:t>𝑁</m:t>
                      </m:r>
                      <m:d>
                        <m:dPr>
                          <m:ctrlPr>
                            <a:rPr lang="en-US" altLang="ja-JP" i="1">
                              <a:latin typeface="Cambria Math" panose="02040503050406030204" pitchFamily="18" charset="0"/>
                            </a:rPr>
                          </m:ctrlPr>
                        </m:dPr>
                        <m:e>
                          <m:r>
                            <a:rPr lang="en-US" altLang="ja-JP" b="1" i="1">
                              <a:latin typeface="Cambria Math" panose="02040503050406030204" pitchFamily="18" charset="0"/>
                            </a:rPr>
                            <m:t>𝟎</m:t>
                          </m:r>
                          <m:r>
                            <a:rPr lang="en-US" altLang="ja-JP" i="1">
                              <a:latin typeface="Cambria Math" panose="02040503050406030204" pitchFamily="18" charset="0"/>
                            </a:rPr>
                            <m:t>,</m:t>
                          </m:r>
                          <m:r>
                            <m:rPr>
                              <m:sty m:val="p"/>
                            </m:rPr>
                            <a:rPr lang="el-GR" altLang="ja-JP" i="1">
                              <a:latin typeface="Cambria Math" panose="02040503050406030204" pitchFamily="18" charset="0"/>
                              <a:ea typeface="Cambria Math" panose="02040503050406030204" pitchFamily="18" charset="0"/>
                            </a:rPr>
                            <m:t>Σ</m:t>
                          </m:r>
                        </m:e>
                      </m:d>
                    </m:oMath>
                  </m:oMathPara>
                </a14:m>
                <a:endParaRPr lang="en-US" altLang="ja-JP" i="1" dirty="0">
                  <a:latin typeface="Cambria Math" panose="02040503050406030204" pitchFamily="18" charset="0"/>
                </a:endParaRPr>
              </a:p>
              <a:p>
                <a:pPr marL="0" indent="0">
                  <a:buNone/>
                </a:pPr>
                <a:r>
                  <a:rPr lang="ja-JP" altLang="en-US">
                    <a:latin typeface="+mn-ea"/>
                  </a:rPr>
                  <a:t>　分散共分散行列</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Σ</m:t>
                    </m:r>
                  </m:oMath>
                </a14:m>
                <a:r>
                  <a:rPr lang="ja-JP" altLang="en-US">
                    <a:latin typeface="+mn-ea"/>
                  </a:rPr>
                  <a:t>は以下のように設定</a:t>
                </a:r>
                <a:endParaRPr lang="en-US" altLang="ja-JP" dirty="0">
                  <a:latin typeface="+mn-ea"/>
                </a:endParaRPr>
              </a:p>
              <a:p>
                <a:pPr marL="0" indent="0">
                  <a:buNone/>
                </a:pPr>
                <a:r>
                  <a:rPr lang="ja-JP" altLang="en-US">
                    <a:ea typeface="Cambria Math" panose="02040503050406030204" pitchFamily="18" charset="0"/>
                  </a:rPr>
                  <a:t>　　　　　　　　　　　　</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Σ</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𝑃</m:t>
                    </m:r>
                    <m:r>
                      <m:rPr>
                        <m:sty m:val="p"/>
                      </m:rPr>
                      <a:rPr lang="el-GR" altLang="ja-JP" i="1">
                        <a:latin typeface="Cambria Math" panose="02040503050406030204" pitchFamily="18" charset="0"/>
                        <a:ea typeface="Cambria Math" panose="02040503050406030204" pitchFamily="18" charset="0"/>
                      </a:rPr>
                      <m:t>Λ</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𝑃</m:t>
                        </m:r>
                      </m:e>
                      <m:sup>
                        <m:r>
                          <a:rPr lang="en-US" altLang="ja-JP" i="1">
                            <a:latin typeface="Cambria Math" panose="02040503050406030204" pitchFamily="18" charset="0"/>
                            <a:ea typeface="Cambria Math" panose="02040503050406030204" pitchFamily="18" charset="0"/>
                          </a:rPr>
                          <m:t>𝑇</m:t>
                        </m:r>
                      </m:sup>
                    </m:sSup>
                  </m:oMath>
                </a14:m>
                <a:endParaRPr lang="en-US" altLang="ja-JP" dirty="0">
                  <a:latin typeface="Cambria Math" panose="02040503050406030204" pitchFamily="18" charset="0"/>
                </a:endParaRPr>
              </a:p>
              <a:p>
                <a:pPr marL="0" indent="0">
                  <a:buNone/>
                </a:pPr>
                <a:r>
                  <a:rPr lang="ja-JP" altLang="en-US">
                    <a:latin typeface="Cambria Math" panose="02040503050406030204" pitchFamily="18" charset="0"/>
                  </a:rPr>
                  <a:t>　ただし</a:t>
                </a:r>
                <a:r>
                  <a:rPr lang="ja-JP" altLang="en-US"/>
                  <a:t>，</a:t>
                </a:r>
                <a14:m>
                  <m:oMath xmlns:m="http://schemas.openxmlformats.org/officeDocument/2006/math">
                    <m:r>
                      <a:rPr lang="en-US" altLang="ja-JP" i="1">
                        <a:latin typeface="Cambria Math" panose="02040503050406030204" pitchFamily="18" charset="0"/>
                      </a:rPr>
                      <m:t>𝑃</m:t>
                    </m:r>
                    <m:r>
                      <a:rPr lang="en-US" altLang="ja-JP" i="1">
                        <a:latin typeface="Cambria Math" panose="02040503050406030204" pitchFamily="18" charset="0"/>
                      </a:rPr>
                      <m:t>=</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b="1" i="1">
                                <a:latin typeface="Cambria Math" panose="02040503050406030204" pitchFamily="18" charset="0"/>
                              </a:rPr>
                              <m:t>𝒑</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𝒑</m:t>
                            </m:r>
                          </m:e>
                          <m:sub>
                            <m:r>
                              <a:rPr lang="en-US" altLang="ja-JP" i="1">
                                <a:latin typeface="Cambria Math" panose="02040503050406030204" pitchFamily="18" charset="0"/>
                              </a:rPr>
                              <m:t>15</m:t>
                            </m:r>
                          </m:sub>
                        </m:sSub>
                      </m:e>
                    </m:d>
                    <m:r>
                      <a:rPr lang="en-US" altLang="ja-JP" i="1">
                        <a:latin typeface="Cambria Math" panose="02040503050406030204" pitchFamily="18" charset="0"/>
                      </a:rPr>
                      <m:t>,</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smtClean="0">
                                <a:latin typeface="Cambria Math" panose="02040503050406030204" pitchFamily="18" charset="0"/>
                              </a:rPr>
                            </m:ctrlPr>
                          </m:accPr>
                          <m:e>
                            <m:r>
                              <a:rPr lang="en-US" altLang="ja-JP" b="1" i="1" smtClean="0">
                                <a:latin typeface="Cambria Math" panose="02040503050406030204" pitchFamily="18" charset="0"/>
                              </a:rPr>
                              <m:t>𝒑</m:t>
                            </m:r>
                          </m:e>
                        </m:acc>
                      </m:e>
                      <m:sub>
                        <m:r>
                          <a:rPr lang="en-US" altLang="ja-JP" i="1">
                            <a:latin typeface="Cambria Math" panose="02040503050406030204" pitchFamily="18" charset="0"/>
                          </a:rPr>
                          <m:t>1</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(1,1,0,1,0,1,1,0,0,0,0,0,0,0,0)</m:t>
                        </m:r>
                      </m:e>
                      <m:sup>
                        <m:r>
                          <a:rPr lang="en-US" altLang="ja-JP" i="1">
                            <a:latin typeface="Cambria Math" panose="02040503050406030204" pitchFamily="18" charset="0"/>
                          </a:rPr>
                          <m:t>𝑇</m:t>
                        </m:r>
                      </m:sup>
                    </m:sSup>
                    <m:r>
                      <a:rPr lang="en-US" altLang="ja-JP" i="1">
                        <a:latin typeface="Cambria Math" panose="02040503050406030204" pitchFamily="18" charset="0"/>
                      </a:rPr>
                      <m:t>, </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2</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(0,0,0,0,0,0,0,1,1,1,0,1,0,1,0)</m:t>
                        </m:r>
                      </m:e>
                      <m:sup>
                        <m:r>
                          <a:rPr lang="en-US" altLang="ja-JP" i="1">
                            <a:latin typeface="Cambria Math" panose="02040503050406030204" pitchFamily="18" charset="0"/>
                          </a:rPr>
                          <m:t>𝑇</m:t>
                        </m:r>
                      </m:sup>
                    </m:sSup>
                    <m:r>
                      <a:rPr lang="en-US" altLang="ja-JP" b="0" i="1" smtClean="0">
                        <a:latin typeface="Cambria Math" panose="02040503050406030204" pitchFamily="18" charset="0"/>
                      </a:rPr>
                      <m:t>,</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3</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(0,0,1,0,1,0,0,0,0,0,1,0,1,0,1)</m:t>
                        </m:r>
                      </m:e>
                      <m:sup>
                        <m:r>
                          <a:rPr lang="en-US" altLang="ja-JP" i="1">
                            <a:latin typeface="Cambria Math" panose="02040503050406030204" pitchFamily="18" charset="0"/>
                          </a:rPr>
                          <m:t>𝑇</m:t>
                        </m:r>
                      </m:sup>
                    </m:sSup>
                    <m:r>
                      <a:rPr lang="en-US" altLang="ja-JP" i="1">
                        <a:latin typeface="Cambria Math" panose="02040503050406030204" pitchFamily="18" charset="0"/>
                      </a:rPr>
                      <m:t>,</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4</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15</m:t>
                        </m:r>
                      </m:sub>
                    </m:sSub>
                    <m:r>
                      <a:rPr lang="en-US" altLang="ja-JP" i="1">
                        <a:latin typeface="Cambria Math" panose="02040503050406030204" pitchFamily="18" charset="0"/>
                      </a:rPr>
                      <m:t>~</m:t>
                    </m:r>
                    <m:r>
                      <a:rPr lang="en-US" altLang="ja-JP" i="1">
                        <a:latin typeface="Cambria Math" panose="02040503050406030204" pitchFamily="18" charset="0"/>
                      </a:rPr>
                      <m:t>𝑁</m:t>
                    </m:r>
                    <m:r>
                      <a:rPr lang="en-US" altLang="ja-JP" i="1">
                        <a:latin typeface="Cambria Math" panose="02040503050406030204" pitchFamily="18" charset="0"/>
                      </a:rPr>
                      <m:t>(2,1)</m:t>
                    </m:r>
                  </m:oMath>
                </a14:m>
                <a:r>
                  <a:rPr lang="en-US" altLang="ja-JP" dirty="0">
                    <a:ea typeface="Cambria Math" panose="02040503050406030204" pitchFamily="18" charset="0"/>
                  </a:rPr>
                  <a:t>,</a:t>
                </a:r>
                <a:endParaRPr lang="en-US" altLang="ja-JP" i="1" dirty="0">
                  <a:latin typeface="Cambria Math" panose="02040503050406030204" pitchFamily="18" charset="0"/>
                  <a:ea typeface="Cambria Math" panose="02040503050406030204" pitchFamily="18" charset="0"/>
                </a:endParaRPr>
              </a:p>
              <a:p>
                <a:pPr marL="0" indent="0">
                  <a:buNone/>
                </a:pPr>
                <a:r>
                  <a:rPr lang="en-US" altLang="ja-JP" dirty="0">
                    <a:ea typeface="Cambria Math" panose="02040503050406030204" pitchFamily="18" charset="0"/>
                  </a:rPr>
                  <a:t>                </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Λ</m:t>
                    </m:r>
                    <m:r>
                      <a:rPr lang="en-US" altLang="ja-JP" i="1">
                        <a:latin typeface="Cambria Math" panose="02040503050406030204" pitchFamily="18" charset="0"/>
                        <a:ea typeface="Cambria Math" panose="02040503050406030204" pitchFamily="18" charset="0"/>
                      </a:rPr>
                      <m:t>=</m:t>
                    </m:r>
                    <m:r>
                      <m:rPr>
                        <m:sty m:val="p"/>
                      </m:rPr>
                      <a:rPr lang="en-US" altLang="ja-JP">
                        <a:latin typeface="Cambria Math" panose="02040503050406030204" pitchFamily="18" charset="0"/>
                        <a:ea typeface="Cambria Math" panose="02040503050406030204" pitchFamily="18" charset="0"/>
                      </a:rPr>
                      <m:t>diag</m:t>
                    </m:r>
                    <m:d>
                      <m:dPr>
                        <m:ctrlPr>
                          <a:rPr lang="en-US" altLang="ja-JP" i="1">
                            <a:latin typeface="Cambria Math" panose="02040503050406030204" pitchFamily="18" charset="0"/>
                            <a:ea typeface="Cambria Math" panose="02040503050406030204" pitchFamily="18" charset="0"/>
                          </a:rPr>
                        </m:ctrlPr>
                      </m:dPr>
                      <m:e>
                        <m:r>
                          <a:rPr lang="en-US" altLang="ja-JP" b="0" i="1" smtClean="0">
                            <a:latin typeface="Cambria Math" panose="02040503050406030204" pitchFamily="18" charset="0"/>
                            <a:ea typeface="Cambria Math" panose="02040503050406030204" pitchFamily="18" charset="0"/>
                          </a:rPr>
                          <m:t>𝐴</m:t>
                        </m:r>
                        <m:r>
                          <a:rPr lang="en-US" altLang="ja-JP" i="1">
                            <a:latin typeface="Cambria Math" panose="02040503050406030204" pitchFamily="18" charset="0"/>
                            <a:ea typeface="Cambria Math" panose="02040503050406030204" pitchFamily="18" charset="0"/>
                          </a:rPr>
                          <m:t>,5,2,1,1,1,1,1,1,1,1,1,1,1,1</m:t>
                        </m:r>
                      </m:e>
                    </m:d>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𝐴</m:t>
                    </m:r>
                    <m:r>
                      <a:rPr lang="en-US" altLang="ja-JP" b="0" i="1" smtClean="0">
                        <a:latin typeface="Cambria Math" panose="02040503050406030204" pitchFamily="18" charset="0"/>
                        <a:ea typeface="Cambria Math" panose="02040503050406030204" pitchFamily="18" charset="0"/>
                      </a:rPr>
                      <m:t>={20, 50}</m:t>
                    </m:r>
                  </m:oMath>
                </a14:m>
                <a:endParaRPr lang="en-US" altLang="ja-JP" dirty="0">
                  <a:latin typeface="+mn-ea"/>
                </a:endParaRPr>
              </a:p>
              <a:p>
                <a:pPr marL="0" indent="0">
                  <a:buNone/>
                </a:pPr>
                <a:r>
                  <a:rPr lang="en-US" altLang="ja-JP" dirty="0">
                    <a:latin typeface="+mn-ea"/>
                  </a:rPr>
                  <a:t>  </a:t>
                </a:r>
                <a:r>
                  <a:rPr lang="ja-JP" altLang="en-US">
                    <a:latin typeface="+mn-ea"/>
                  </a:rPr>
                  <a:t>・サンプルサイズ</a:t>
                </a:r>
                <a:r>
                  <a:rPr lang="en-US" altLang="ja-JP" dirty="0">
                    <a:latin typeface="+mn-ea"/>
                  </a:rPr>
                  <a:t> </a:t>
                </a:r>
                <a14:m>
                  <m:oMath xmlns:m="http://schemas.openxmlformats.org/officeDocument/2006/math">
                    <m:r>
                      <a:rPr lang="en-US" altLang="ja-JP" i="1">
                        <a:latin typeface="Cambria Math" panose="02040503050406030204" pitchFamily="18" charset="0"/>
                      </a:rPr>
                      <m:t>𝑛</m:t>
                    </m:r>
                    <m:r>
                      <a:rPr lang="en-US" altLang="ja-JP" i="1">
                        <a:latin typeface="Cambria Math" panose="02040503050406030204" pitchFamily="18" charset="0"/>
                      </a:rPr>
                      <m:t>={200, 500}</m:t>
                    </m:r>
                  </m:oMath>
                </a14:m>
                <a:r>
                  <a:rPr lang="en-US" altLang="ja-JP" dirty="0"/>
                  <a:t>           </a:t>
                </a:r>
                <a:r>
                  <a:rPr lang="ja-JP" altLang="en-US"/>
                  <a:t>・</a:t>
                </a:r>
                <a14:m>
                  <m:oMath xmlns:m="http://schemas.openxmlformats.org/officeDocument/2006/math">
                    <m:r>
                      <m:rPr>
                        <m:sty m:val="p"/>
                      </m:rPr>
                      <a:rPr lang="en-US" altLang="ja-JP" i="0" dirty="0" smtClean="0">
                        <a:latin typeface="Cambria Math" panose="02040503050406030204" pitchFamily="18" charset="0"/>
                      </a:rPr>
                      <m:t>FDR</m:t>
                    </m:r>
                  </m:oMath>
                </a14:m>
                <a:r>
                  <a:rPr lang="ja-JP" altLang="en-US"/>
                  <a:t>制御値 </a:t>
                </a:r>
                <a14:m>
                  <m:oMath xmlns:m="http://schemas.openxmlformats.org/officeDocument/2006/math">
                    <m:r>
                      <a:rPr lang="en-US" altLang="ja-JP" b="0" i="1" smtClean="0">
                        <a:latin typeface="Cambria Math" panose="02040503050406030204" pitchFamily="18" charset="0"/>
                      </a:rPr>
                      <m:t>𝑞</m:t>
                    </m:r>
                    <m:r>
                      <a:rPr lang="en-US" altLang="ja-JP" i="1">
                        <a:latin typeface="Cambria Math" panose="02040503050406030204" pitchFamily="18" charset="0"/>
                      </a:rPr>
                      <m:t>=0.2</m:t>
                    </m:r>
                  </m:oMath>
                </a14:m>
                <a:endParaRPr lang="en-US" altLang="ja-JP" dirty="0">
                  <a:latin typeface="+mn-ea"/>
                </a:endParaRPr>
              </a:p>
              <a:p>
                <a:pPr marL="0" indent="0">
                  <a:buNone/>
                </a:pPr>
                <a:r>
                  <a:rPr lang="ja-JP" altLang="en-US">
                    <a:latin typeface="+mn-ea"/>
                  </a:rPr>
                  <a:t>　　　</a:t>
                </a:r>
                <a:r>
                  <a:rPr lang="ja-JP" altLang="en-US" sz="3200">
                    <a:latin typeface="+mn-ea"/>
                  </a:rPr>
                  <a:t>各主成分ごとに</a:t>
                </a:r>
                <a:r>
                  <a:rPr lang="en-US" altLang="ja-JP" sz="3200" dirty="0">
                    <a:latin typeface="+mn-ea"/>
                  </a:rPr>
                  <a:t>FDR, </a:t>
                </a:r>
                <a:r>
                  <a:rPr lang="ja-JP" altLang="en-US" sz="3200">
                    <a:latin typeface="+mn-ea"/>
                  </a:rPr>
                  <a:t>検出力を算出</a:t>
                </a:r>
                <a:endParaRPr lang="en-US" altLang="ja-JP" dirty="0">
                  <a:latin typeface="+mn-ea"/>
                </a:endParaRPr>
              </a:p>
            </p:txBody>
          </p:sp>
        </mc:Choice>
        <mc:Fallback xmlns="">
          <p:sp>
            <p:nvSpPr>
              <p:cNvPr id="3" name="コンテンツ プレースホルダー 2">
                <a:extLst>
                  <a:ext uri="{FF2B5EF4-FFF2-40B4-BE49-F238E27FC236}">
                    <a16:creationId xmlns:a16="http://schemas.microsoft.com/office/drawing/2014/main" id="{1E6E8A1E-0A92-BB4C-B5A6-30FEF3F06832}"/>
                  </a:ext>
                </a:extLst>
              </p:cNvPr>
              <p:cNvSpPr>
                <a:spLocks noGrp="1" noRot="1" noChangeAspect="1" noMove="1" noResize="1" noEditPoints="1" noAdjustHandles="1" noChangeArrowheads="1" noChangeShapeType="1" noTextEdit="1"/>
              </p:cNvSpPr>
              <p:nvPr>
                <p:ph idx="1"/>
              </p:nvPr>
            </p:nvSpPr>
            <p:spPr>
              <a:xfrm>
                <a:off x="62346" y="646820"/>
                <a:ext cx="12067308" cy="5934503"/>
              </a:xfrm>
              <a:blipFill>
                <a:blip r:embed="rId3"/>
                <a:stretch>
                  <a:fillRect l="-1050" t="-1706" b="-4904"/>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DC156765-3001-1148-BCC1-A6AD3380F908}"/>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数値実験</a:t>
            </a:r>
            <a:endParaRPr lang="ja-JP" altLang="en-US" b="1">
              <a:solidFill>
                <a:srgbClr val="FFC000"/>
              </a:solidFill>
              <a:latin typeface="+mj-ea"/>
            </a:endParaRPr>
          </a:p>
        </p:txBody>
      </p:sp>
      <p:sp>
        <p:nvSpPr>
          <p:cNvPr id="2" name="右矢印 1">
            <a:extLst>
              <a:ext uri="{FF2B5EF4-FFF2-40B4-BE49-F238E27FC236}">
                <a16:creationId xmlns:a16="http://schemas.microsoft.com/office/drawing/2014/main" id="{CFFF4B61-1297-A7FB-A763-7626D9A3E4CB}"/>
              </a:ext>
            </a:extLst>
          </p:cNvPr>
          <p:cNvSpPr/>
          <p:nvPr/>
        </p:nvSpPr>
        <p:spPr>
          <a:xfrm>
            <a:off x="62346" y="6149316"/>
            <a:ext cx="1047404" cy="489280"/>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右中かっこ 3">
            <a:extLst>
              <a:ext uri="{FF2B5EF4-FFF2-40B4-BE49-F238E27FC236}">
                <a16:creationId xmlns:a16="http://schemas.microsoft.com/office/drawing/2014/main" id="{40E59F6D-273E-FFF2-C713-AB1C2C58CE9F}"/>
              </a:ext>
            </a:extLst>
          </p:cNvPr>
          <p:cNvSpPr/>
          <p:nvPr/>
        </p:nvSpPr>
        <p:spPr>
          <a:xfrm>
            <a:off x="7038607" y="2971799"/>
            <a:ext cx="309250" cy="1992087"/>
          </a:xfrm>
          <a:prstGeom prst="righ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C9462BB-C2B2-1BCB-D242-2154EF3D15B8}"/>
              </a:ext>
            </a:extLst>
          </p:cNvPr>
          <p:cNvSpPr txBox="1"/>
          <p:nvPr/>
        </p:nvSpPr>
        <p:spPr>
          <a:xfrm>
            <a:off x="7410203" y="3706232"/>
            <a:ext cx="1980029" cy="523220"/>
          </a:xfrm>
          <a:prstGeom prst="rect">
            <a:avLst/>
          </a:prstGeom>
          <a:noFill/>
        </p:spPr>
        <p:txBody>
          <a:bodyPr wrap="none" rtlCol="0">
            <a:spAutoFit/>
          </a:bodyPr>
          <a:lstStyle/>
          <a:p>
            <a:r>
              <a:rPr kumimoji="1" lang="ja-JP" altLang="en-US" sz="2800"/>
              <a:t>直交化する</a:t>
            </a:r>
          </a:p>
        </p:txBody>
      </p:sp>
      <p:sp>
        <p:nvSpPr>
          <p:cNvPr id="7" name="テキスト ボックス 6">
            <a:extLst>
              <a:ext uri="{FF2B5EF4-FFF2-40B4-BE49-F238E27FC236}">
                <a16:creationId xmlns:a16="http://schemas.microsoft.com/office/drawing/2014/main" id="{D1C53580-3F87-12A1-05CD-737945DA7AA2}"/>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22/28</a:t>
            </a:r>
            <a:endParaRPr kumimoji="1" lang="ja-JP" altLang="en-US" sz="2800">
              <a:latin typeface="+mj-ea"/>
              <a:ea typeface="+mj-ea"/>
            </a:endParaRPr>
          </a:p>
        </p:txBody>
      </p:sp>
    </p:spTree>
    <p:extLst>
      <p:ext uri="{BB962C8B-B14F-4D97-AF65-F5344CB8AC3E}">
        <p14:creationId xmlns:p14="http://schemas.microsoft.com/office/powerpoint/2010/main" val="3678110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720AC-54F9-1D62-DFF5-71C5B68F043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1F19D1BF-4AF0-0CF5-B40D-E86C99A9EAC7}"/>
                  </a:ext>
                </a:extLst>
              </p:cNvPr>
              <p:cNvSpPr txBox="1"/>
              <p:nvPr/>
            </p:nvSpPr>
            <p:spPr>
              <a:xfrm>
                <a:off x="7312451" y="1890653"/>
                <a:ext cx="216745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ja-JP" sz="2800" i="1" smtClean="0">
                              <a:latin typeface="Cambria Math" panose="02040503050406030204" pitchFamily="18" charset="0"/>
                            </a:rPr>
                          </m:ctrlPr>
                        </m:dPr>
                        <m:e>
                          <m:r>
                            <a:rPr lang="en-US" altLang="ja-JP" sz="2800" i="1">
                              <a:latin typeface="Cambria Math" panose="02040503050406030204" pitchFamily="18" charset="0"/>
                            </a:rPr>
                            <m:t>𝑗</m:t>
                          </m:r>
                          <m:r>
                            <a:rPr lang="en-US" altLang="ja-JP" sz="2800" i="1">
                              <a:latin typeface="Cambria Math" panose="02040503050406030204" pitchFamily="18" charset="0"/>
                            </a:rPr>
                            <m:t>=1,…,</m:t>
                          </m:r>
                          <m:r>
                            <a:rPr lang="en-US" altLang="ja-JP" sz="2800" i="1">
                              <a:latin typeface="Cambria Math" panose="02040503050406030204" pitchFamily="18" charset="0"/>
                            </a:rPr>
                            <m:t>𝑝</m:t>
                          </m:r>
                        </m:e>
                      </m:d>
                    </m:oMath>
                  </m:oMathPara>
                </a14:m>
                <a:endParaRPr kumimoji="1" lang="ja-JP" altLang="en-US" sz="2800"/>
              </a:p>
            </p:txBody>
          </p:sp>
        </mc:Choice>
        <mc:Fallback xmlns="">
          <p:sp>
            <p:nvSpPr>
              <p:cNvPr id="7" name="テキスト ボックス 6">
                <a:extLst>
                  <a:ext uri="{FF2B5EF4-FFF2-40B4-BE49-F238E27FC236}">
                    <a16:creationId xmlns:a16="http://schemas.microsoft.com/office/drawing/2014/main" id="{1F19D1BF-4AF0-0CF5-B40D-E86C99A9EAC7}"/>
                  </a:ext>
                </a:extLst>
              </p:cNvPr>
              <p:cNvSpPr txBox="1">
                <a:spLocks noRot="1" noChangeAspect="1" noMove="1" noResize="1" noEditPoints="1" noAdjustHandles="1" noChangeArrowheads="1" noChangeShapeType="1" noTextEdit="1"/>
              </p:cNvSpPr>
              <p:nvPr/>
            </p:nvSpPr>
            <p:spPr>
              <a:xfrm>
                <a:off x="7312451" y="1890653"/>
                <a:ext cx="2167453" cy="523220"/>
              </a:xfrm>
              <a:prstGeom prst="rect">
                <a:avLst/>
              </a:prstGeom>
              <a:blipFill>
                <a:blip r:embed="rId3"/>
                <a:stretch>
                  <a:fillRect b="-1395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C9E0F9B-8D2E-C685-B6BD-18B5BFAFF033}"/>
                  </a:ext>
                </a:extLst>
              </p:cNvPr>
              <p:cNvSpPr txBox="1"/>
              <p:nvPr/>
            </p:nvSpPr>
            <p:spPr>
              <a:xfrm>
                <a:off x="568606" y="2905780"/>
                <a:ext cx="7443961" cy="523220"/>
              </a:xfrm>
              <a:prstGeom prst="rect">
                <a:avLst/>
              </a:prstGeom>
              <a:noFill/>
            </p:spPr>
            <p:txBody>
              <a:bodyPr wrap="none" rtlCol="0">
                <a:spAutoFit/>
              </a:bodyPr>
              <a:lstStyle/>
              <a:p>
                <a14:m>
                  <m:oMath xmlns:m="http://schemas.openxmlformats.org/officeDocument/2006/math">
                    <m:r>
                      <a:rPr lang="en-US" altLang="ja-JP" sz="2800" i="1" smtClean="0">
                        <a:latin typeface="Cambria Math" panose="02040503050406030204" pitchFamily="18" charset="0"/>
                      </a:rPr>
                      <m:t>#{</m:t>
                    </m:r>
                    <m:r>
                      <a:rPr lang="en-US" altLang="ja-JP" sz="2800" i="1" smtClean="0">
                        <a:latin typeface="Cambria Math" panose="02040503050406030204" pitchFamily="18" charset="0"/>
                      </a:rPr>
                      <m:t>𝑗</m:t>
                    </m:r>
                    <m:r>
                      <a:rPr lang="en-US" altLang="ja-JP" sz="2800" i="1" smtClean="0">
                        <a:latin typeface="Cambria Math" panose="02040503050406030204" pitchFamily="18" charset="0"/>
                      </a:rPr>
                      <m:t>:</m:t>
                    </m:r>
                    <m:r>
                      <a:rPr lang="en-US" altLang="ja-JP" sz="2800" b="0" i="1" smtClean="0">
                        <a:latin typeface="Cambria Math" panose="02040503050406030204" pitchFamily="18" charset="0"/>
                      </a:rPr>
                      <m:t>𝐴</m:t>
                    </m:r>
                    <m:r>
                      <a:rPr lang="en-US" altLang="ja-JP" sz="2800" i="1" smtClean="0">
                        <a:latin typeface="Cambria Math" panose="02040503050406030204" pitchFamily="18" charset="0"/>
                      </a:rPr>
                      <m:t>}</m:t>
                    </m:r>
                  </m:oMath>
                </a14:m>
                <a:r>
                  <a:rPr kumimoji="1" lang="en-US" altLang="ja-JP" sz="2800" dirty="0"/>
                  <a:t> : </a:t>
                </a:r>
                <a:r>
                  <a:rPr kumimoji="1" lang="ja-JP" altLang="en-US" sz="2800"/>
                  <a:t>条件</a:t>
                </a:r>
                <a14:m>
                  <m:oMath xmlns:m="http://schemas.openxmlformats.org/officeDocument/2006/math">
                    <m:r>
                      <a:rPr kumimoji="1" lang="en-US" altLang="ja-JP" sz="2800" b="0" i="1" smtClean="0">
                        <a:latin typeface="Cambria Math" panose="02040503050406030204" pitchFamily="18" charset="0"/>
                      </a:rPr>
                      <m:t>𝐴</m:t>
                    </m:r>
                  </m:oMath>
                </a14:m>
                <a:r>
                  <a:rPr kumimoji="1" lang="ja-JP" altLang="en-US" sz="2800"/>
                  <a:t>を満たす変数の添字番号の個数</a:t>
                </a:r>
              </a:p>
            </p:txBody>
          </p:sp>
        </mc:Choice>
        <mc:Fallback xmlns="">
          <p:sp>
            <p:nvSpPr>
              <p:cNvPr id="8" name="テキスト ボックス 7">
                <a:extLst>
                  <a:ext uri="{FF2B5EF4-FFF2-40B4-BE49-F238E27FC236}">
                    <a16:creationId xmlns:a16="http://schemas.microsoft.com/office/drawing/2014/main" id="{3C9E0F9B-8D2E-C685-B6BD-18B5BFAFF033}"/>
                  </a:ext>
                </a:extLst>
              </p:cNvPr>
              <p:cNvSpPr txBox="1">
                <a:spLocks noRot="1" noChangeAspect="1" noMove="1" noResize="1" noEditPoints="1" noAdjustHandles="1" noChangeArrowheads="1" noChangeShapeType="1" noTextEdit="1"/>
              </p:cNvSpPr>
              <p:nvPr/>
            </p:nvSpPr>
            <p:spPr>
              <a:xfrm>
                <a:off x="568606" y="2905780"/>
                <a:ext cx="7443961" cy="523220"/>
              </a:xfrm>
              <a:prstGeom prst="rect">
                <a:avLst/>
              </a:prstGeom>
              <a:blipFill>
                <a:blip r:embed="rId4"/>
                <a:stretch>
                  <a:fillRect l="-341" t="-11628" r="-852" b="-302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05D6471C-693C-4361-B736-0E3929FFB9D5}"/>
                  </a:ext>
                </a:extLst>
              </p:cNvPr>
              <p:cNvGraphicFramePr>
                <a:graphicFrameLocks noGrp="1"/>
              </p:cNvGraphicFramePr>
              <p:nvPr>
                <p:extLst>
                  <p:ext uri="{D42A27DB-BD31-4B8C-83A1-F6EECF244321}">
                    <p14:modId xmlns:p14="http://schemas.microsoft.com/office/powerpoint/2010/main" val="1730214708"/>
                  </p:ext>
                </p:extLst>
              </p:nvPr>
            </p:nvGraphicFramePr>
            <p:xfrm>
              <a:off x="117682" y="3672108"/>
              <a:ext cx="8106350" cy="3043985"/>
            </p:xfrm>
            <a:graphic>
              <a:graphicData uri="http://schemas.openxmlformats.org/drawingml/2006/table">
                <a:tbl>
                  <a:tblPr firstRow="1" bandRow="1">
                    <a:tableStyleId>{5940675A-B579-460E-94D1-54222C63F5DA}</a:tableStyleId>
                  </a:tblPr>
                  <a:tblGrid>
                    <a:gridCol w="813650">
                      <a:extLst>
                        <a:ext uri="{9D8B030D-6E8A-4147-A177-3AD203B41FA5}">
                          <a16:colId xmlns:a16="http://schemas.microsoft.com/office/drawing/2014/main" val="2166501344"/>
                        </a:ext>
                      </a:extLst>
                    </a:gridCol>
                    <a:gridCol w="1761893">
                      <a:extLst>
                        <a:ext uri="{9D8B030D-6E8A-4147-A177-3AD203B41FA5}">
                          <a16:colId xmlns:a16="http://schemas.microsoft.com/office/drawing/2014/main" val="3366183821"/>
                        </a:ext>
                      </a:extLst>
                    </a:gridCol>
                    <a:gridCol w="1751652">
                      <a:extLst>
                        <a:ext uri="{9D8B030D-6E8A-4147-A177-3AD203B41FA5}">
                          <a16:colId xmlns:a16="http://schemas.microsoft.com/office/drawing/2014/main" val="122348770"/>
                        </a:ext>
                      </a:extLst>
                    </a:gridCol>
                    <a:gridCol w="1830991">
                      <a:extLst>
                        <a:ext uri="{9D8B030D-6E8A-4147-A177-3AD203B41FA5}">
                          <a16:colId xmlns:a16="http://schemas.microsoft.com/office/drawing/2014/main" val="1265163690"/>
                        </a:ext>
                      </a:extLst>
                    </a:gridCol>
                    <a:gridCol w="1948164">
                      <a:extLst>
                        <a:ext uri="{9D8B030D-6E8A-4147-A177-3AD203B41FA5}">
                          <a16:colId xmlns:a16="http://schemas.microsoft.com/office/drawing/2014/main" val="1115285989"/>
                        </a:ext>
                      </a:extLst>
                    </a:gridCol>
                  </a:tblGrid>
                  <a:tr h="493085">
                    <a:tc rowSpan="2" gridSpan="2">
                      <a:txBody>
                        <a:bodyPr/>
                        <a:lstStyle/>
                        <a:p>
                          <a:pPr algn="ctr"/>
                          <a:endParaRPr kumimoji="1" lang="ja-JP" altLang="en-US" sz="2800">
                            <a:solidFill>
                              <a:schemeClr val="tx2"/>
                            </a:solidFill>
                          </a:endParaRPr>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solidFill>
                                <a:schemeClr val="tx2"/>
                              </a:solidFill>
                            </a:rPr>
                            <a:t>真の状態</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575105">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solidFill>
                                          <a:schemeClr val="tx2"/>
                                        </a:solidFill>
                                        <a:latin typeface="Cambria Math" panose="02040503050406030204" pitchFamily="18" charset="0"/>
                                      </a:rPr>
                                    </m:ctrlPr>
                                  </m:sSubPr>
                                  <m:e>
                                    <m:r>
                                      <a:rPr lang="en-US" altLang="ja-JP" sz="2800" b="0" i="1">
                                        <a:solidFill>
                                          <a:schemeClr val="tx2"/>
                                        </a:solidFill>
                                        <a:latin typeface="Cambria Math" panose="02040503050406030204" pitchFamily="18" charset="0"/>
                                      </a:rPr>
                                      <m:t>𝑣</m:t>
                                    </m:r>
                                  </m:e>
                                  <m:sub>
                                    <m:r>
                                      <a:rPr lang="en-US" altLang="ja-JP" sz="2800" b="0" i="1">
                                        <a:solidFill>
                                          <a:schemeClr val="tx2"/>
                                        </a:solidFill>
                                        <a:latin typeface="Cambria Math" panose="02040503050406030204" pitchFamily="18" charset="0"/>
                                      </a:rPr>
                                      <m:t>𝑘</m:t>
                                    </m:r>
                                    <m:r>
                                      <a:rPr lang="en-US" altLang="ja-JP" sz="2800" b="0" i="1" smtClean="0">
                                        <a:solidFill>
                                          <a:schemeClr val="tx2"/>
                                        </a:solidFill>
                                        <a:latin typeface="Cambria Math" panose="02040503050406030204" pitchFamily="18" charset="0"/>
                                      </a:rPr>
                                      <m:t>𝑗</m:t>
                                    </m:r>
                                  </m:sub>
                                </m:sSub>
                                <m:r>
                                  <a:rPr lang="en-US" altLang="ja-JP" sz="2800" i="1">
                                    <a:solidFill>
                                      <a:schemeClr val="tx2"/>
                                    </a:solidFill>
                                    <a:latin typeface="Cambria Math" panose="02040503050406030204" pitchFamily="18" charset="0"/>
                                    <a:ea typeface="Cambria Math" panose="02040503050406030204" pitchFamily="18" charset="0"/>
                                  </a:rPr>
                                  <m:t>≠</m:t>
                                </m:r>
                                <m:r>
                                  <a:rPr lang="en-US" altLang="ja-JP" sz="2800" b="0" i="1" smtClean="0">
                                    <a:solidFill>
                                      <a:schemeClr val="tx2"/>
                                    </a:solidFill>
                                    <a:latin typeface="Cambria Math" panose="02040503050406030204" pitchFamily="18" charset="0"/>
                                  </a:rPr>
                                  <m:t>0</m:t>
                                </m:r>
                              </m:oMath>
                            </m:oMathPara>
                          </a14:m>
                          <a:endParaRPr kumimoji="1" lang="ja-JP" altLang="en-US" sz="2800">
                            <a:solidFill>
                              <a:schemeClr val="tx2"/>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solidFill>
                                          <a:schemeClr val="tx2"/>
                                        </a:solidFill>
                                        <a:latin typeface="Cambria Math" panose="02040503050406030204" pitchFamily="18" charset="0"/>
                                      </a:rPr>
                                    </m:ctrlPr>
                                  </m:sSubPr>
                                  <m:e>
                                    <m:r>
                                      <a:rPr lang="en-US" altLang="ja-JP" sz="2800" b="0" i="1">
                                        <a:solidFill>
                                          <a:schemeClr val="tx2"/>
                                        </a:solidFill>
                                        <a:latin typeface="Cambria Math" panose="02040503050406030204" pitchFamily="18" charset="0"/>
                                      </a:rPr>
                                      <m:t>𝑣</m:t>
                                    </m:r>
                                  </m:e>
                                  <m:sub>
                                    <m:r>
                                      <a:rPr lang="en-US" altLang="ja-JP" sz="2800" b="0" i="1">
                                        <a:solidFill>
                                          <a:schemeClr val="tx2"/>
                                        </a:solidFill>
                                        <a:latin typeface="Cambria Math" panose="02040503050406030204" pitchFamily="18" charset="0"/>
                                      </a:rPr>
                                      <m:t>𝑘</m:t>
                                    </m:r>
                                    <m:r>
                                      <a:rPr lang="en-US" altLang="ja-JP" sz="2800" b="0" i="1" smtClean="0">
                                        <a:solidFill>
                                          <a:schemeClr val="tx2"/>
                                        </a:solidFill>
                                        <a:latin typeface="Cambria Math" panose="02040503050406030204" pitchFamily="18" charset="0"/>
                                      </a:rPr>
                                      <m:t>𝑗</m:t>
                                    </m:r>
                                  </m:sub>
                                </m:sSub>
                                <m:r>
                                  <a:rPr lang="en-US" altLang="ja-JP" sz="2800" b="0" i="1" smtClean="0">
                                    <a:solidFill>
                                      <a:schemeClr val="tx2"/>
                                    </a:solidFill>
                                    <a:latin typeface="Cambria Math" panose="02040503050406030204" pitchFamily="18" charset="0"/>
                                  </a:rPr>
                                  <m:t>=0</m:t>
                                </m:r>
                              </m:oMath>
                            </m:oMathPara>
                          </a14:m>
                          <a:endParaRPr kumimoji="1" lang="ja-JP" altLang="en-US" sz="2800">
                            <a:solidFill>
                              <a:schemeClr val="tx2"/>
                            </a:solidFill>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solidFill>
                                <a:schemeClr val="tx2"/>
                              </a:solidFill>
                            </a:rPr>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589464">
                    <a:tc rowSpan="3">
                      <a:txBody>
                        <a:bodyPr/>
                        <a:lstStyle/>
                        <a:p>
                          <a:pPr algn="ctr"/>
                          <a:endParaRPr kumimoji="1" lang="en-US" altLang="ja-JP" sz="1000" dirty="0">
                            <a:solidFill>
                              <a:schemeClr val="tx2"/>
                            </a:solidFill>
                          </a:endParaRPr>
                        </a:p>
                        <a:p>
                          <a:pPr algn="ctr"/>
                          <a:r>
                            <a:rPr kumimoji="1" lang="ja-JP" altLang="en-US" sz="2800">
                              <a:solidFill>
                                <a:schemeClr val="tx2"/>
                              </a:solidFill>
                            </a:rPr>
                            <a:t>推</a:t>
                          </a:r>
                          <a:endParaRPr kumimoji="1" lang="en-US" altLang="ja-JP" sz="2800" dirty="0">
                            <a:solidFill>
                              <a:schemeClr val="tx2"/>
                            </a:solidFill>
                          </a:endParaRPr>
                        </a:p>
                        <a:p>
                          <a:pPr algn="ctr"/>
                          <a:r>
                            <a:rPr kumimoji="1" lang="ja-JP" altLang="en-US" sz="2800">
                              <a:solidFill>
                                <a:schemeClr val="tx2"/>
                              </a:solidFill>
                            </a:rPr>
                            <a:t>定</a:t>
                          </a:r>
                          <a:endParaRPr kumimoji="1" lang="en-US" altLang="ja-JP" sz="2800" dirty="0">
                            <a:solidFill>
                              <a:schemeClr val="tx2"/>
                            </a:solidFill>
                          </a:endParaRPr>
                        </a:p>
                        <a:p>
                          <a:pPr algn="ctr"/>
                          <a:r>
                            <a:rPr kumimoji="1" lang="ja-JP" altLang="en-US" sz="2800">
                              <a:solidFill>
                                <a:schemeClr val="tx2"/>
                              </a:solidFill>
                            </a:rPr>
                            <a:t>結果</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solidFill>
                                          <a:schemeClr val="tx2"/>
                                        </a:solidFill>
                                        <a:latin typeface="Cambria Math" panose="02040503050406030204" pitchFamily="18" charset="0"/>
                                        <a:ea typeface="Cambria Math" panose="02040503050406030204" pitchFamily="18" charset="0"/>
                                      </a:rPr>
                                    </m:ctrlPr>
                                  </m:sSubPr>
                                  <m:e>
                                    <m:acc>
                                      <m:accPr>
                                        <m:chr m:val="̂"/>
                                        <m:ctrlPr>
                                          <a:rPr lang="en-US" altLang="ja-JP" sz="2800" i="1" smtClean="0">
                                            <a:solidFill>
                                              <a:schemeClr val="tx2"/>
                                            </a:solidFill>
                                            <a:latin typeface="Cambria Math" panose="02040503050406030204" pitchFamily="18" charset="0"/>
                                          </a:rPr>
                                        </m:ctrlPr>
                                      </m:accPr>
                                      <m:e>
                                        <m:r>
                                          <a:rPr lang="en-US" altLang="ja-JP" sz="2800" b="0" i="1">
                                            <a:solidFill>
                                              <a:schemeClr val="tx2"/>
                                            </a:solidFill>
                                            <a:latin typeface="Cambria Math" panose="02040503050406030204" pitchFamily="18" charset="0"/>
                                            <a:ea typeface="Cambria Math" panose="02040503050406030204" pitchFamily="18" charset="0"/>
                                          </a:rPr>
                                          <m:t>𝑣</m:t>
                                        </m:r>
                                      </m:e>
                                    </m:acc>
                                  </m:e>
                                  <m:sub>
                                    <m:r>
                                      <a:rPr lang="en-US" altLang="ja-JP" sz="2800" b="0" i="1" smtClean="0">
                                        <a:solidFill>
                                          <a:schemeClr val="tx2"/>
                                        </a:solidFill>
                                        <a:latin typeface="Cambria Math" panose="02040503050406030204" pitchFamily="18" charset="0"/>
                                        <a:ea typeface="Cambria Math" panose="02040503050406030204" pitchFamily="18" charset="0"/>
                                      </a:rPr>
                                      <m:t>𝑘𝑗</m:t>
                                    </m:r>
                                  </m:sub>
                                </m:sSub>
                                <m:r>
                                  <a:rPr lang="en-US" altLang="ja-JP" sz="2800" i="1" smtClean="0">
                                    <a:solidFill>
                                      <a:schemeClr val="tx2"/>
                                    </a:solidFill>
                                    <a:latin typeface="Cambria Math" panose="02040503050406030204" pitchFamily="18" charset="0"/>
                                    <a:ea typeface="Cambria Math" panose="02040503050406030204" pitchFamily="18" charset="0"/>
                                  </a:rPr>
                                  <m:t>≠</m:t>
                                </m:r>
                                <m:r>
                                  <a:rPr lang="en-US" altLang="ja-JP" sz="2800" b="0" i="1" smtClean="0">
                                    <a:solidFill>
                                      <a:schemeClr val="tx2"/>
                                    </a:solidFill>
                                    <a:latin typeface="Cambria Math" panose="02040503050406030204" pitchFamily="18" charset="0"/>
                                  </a:rPr>
                                  <m:t>0</m:t>
                                </m:r>
                              </m:oMath>
                            </m:oMathPara>
                          </a14:m>
                          <a:endParaRPr kumimoji="1" lang="ja-JP" altLang="en-US" sz="2800">
                            <a:solidFill>
                              <a:schemeClr val="tx2"/>
                            </a:solidFill>
                          </a:endParaRPr>
                        </a:p>
                      </a:txBody>
                      <a:tcP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solidFill>
                                          <a:schemeClr val="tx2"/>
                                        </a:solidFill>
                                        <a:latin typeface="Cambria Math" panose="02040503050406030204" pitchFamily="18" charset="0"/>
                                      </a:rPr>
                                    </m:ctrlPr>
                                  </m:sSubPr>
                                  <m:e>
                                    <m:r>
                                      <a:rPr lang="en-US" altLang="ja-JP" sz="2800" b="0" i="1" smtClean="0">
                                        <a:solidFill>
                                          <a:schemeClr val="tx2"/>
                                        </a:solidFill>
                                        <a:latin typeface="Cambria Math" panose="02040503050406030204" pitchFamily="18" charset="0"/>
                                      </a:rPr>
                                      <m:t>𝑆</m:t>
                                    </m:r>
                                  </m:e>
                                  <m:sub>
                                    <m:r>
                                      <a:rPr lang="en-US" altLang="ja-JP" sz="2800" b="0" i="1" smtClean="0">
                                        <a:solidFill>
                                          <a:schemeClr val="tx2"/>
                                        </a:solidFill>
                                        <a:latin typeface="Cambria Math" panose="02040503050406030204" pitchFamily="18" charset="0"/>
                                      </a:rPr>
                                      <m:t>𝑘</m:t>
                                    </m:r>
                                  </m:sub>
                                </m:sSub>
                                <m:d>
                                  <m:dPr>
                                    <m:ctrlPr>
                                      <a:rPr lang="en-US" altLang="ja-JP" sz="2800" i="1">
                                        <a:solidFill>
                                          <a:schemeClr val="tx2"/>
                                        </a:solidFill>
                                        <a:latin typeface="Cambria Math" panose="02040503050406030204" pitchFamily="18" charset="0"/>
                                      </a:rPr>
                                    </m:ctrlPr>
                                  </m:dPr>
                                  <m:e>
                                    <m:r>
                                      <a:rPr lang="en-US" altLang="ja-JP" sz="2800" b="0" i="1" smtClean="0">
                                        <a:solidFill>
                                          <a:schemeClr val="tx2"/>
                                        </a:solidFill>
                                        <a:latin typeface="Cambria Math" panose="02040503050406030204" pitchFamily="18" charset="0"/>
                                      </a:rPr>
                                      <m:t>𝑐</m:t>
                                    </m:r>
                                  </m:e>
                                </m:d>
                              </m:oMath>
                            </m:oMathPara>
                          </a14:m>
                          <a:endParaRPr kumimoji="1" lang="ja-JP" altLang="en-US" sz="2800">
                            <a:solidFill>
                              <a:schemeClr val="tx2"/>
                            </a:solidFill>
                            <a:latin typeface="+mn-ea"/>
                            <a:ea typeface="+mn-ea"/>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solidFill>
                                          <a:schemeClr val="tx2"/>
                                        </a:solidFill>
                                        <a:latin typeface="Cambria Math" panose="02040503050406030204" pitchFamily="18" charset="0"/>
                                        <a:ea typeface="+mn-ea"/>
                                      </a:rPr>
                                    </m:ctrlPr>
                                  </m:sSubPr>
                                  <m:e>
                                    <m:r>
                                      <a:rPr lang="en-US" altLang="ja-JP" sz="2800" b="0" i="1" smtClean="0">
                                        <a:solidFill>
                                          <a:schemeClr val="tx2"/>
                                        </a:solidFill>
                                        <a:latin typeface="Cambria Math" panose="02040503050406030204" pitchFamily="18" charset="0"/>
                                        <a:ea typeface="+mn-ea"/>
                                      </a:rPr>
                                      <m:t>𝑉</m:t>
                                    </m:r>
                                  </m:e>
                                  <m:sub>
                                    <m:r>
                                      <a:rPr lang="en-US" altLang="ja-JP" sz="2800" b="0" i="1" smtClean="0">
                                        <a:solidFill>
                                          <a:schemeClr val="tx2"/>
                                        </a:solidFill>
                                        <a:latin typeface="Cambria Math" panose="02040503050406030204" pitchFamily="18" charset="0"/>
                                        <a:ea typeface="+mn-ea"/>
                                      </a:rPr>
                                      <m:t>𝑘</m:t>
                                    </m:r>
                                  </m:sub>
                                </m:sSub>
                                <m:d>
                                  <m:dPr>
                                    <m:ctrlPr>
                                      <a:rPr lang="en-US" altLang="ja-JP" sz="2800" i="1">
                                        <a:solidFill>
                                          <a:schemeClr val="tx2"/>
                                        </a:solidFill>
                                        <a:latin typeface="Cambria Math" panose="02040503050406030204" pitchFamily="18" charset="0"/>
                                        <a:ea typeface="+mn-ea"/>
                                      </a:rPr>
                                    </m:ctrlPr>
                                  </m:dPr>
                                  <m:e>
                                    <m:r>
                                      <a:rPr lang="en-US" altLang="ja-JP" sz="2800" b="0" i="1" smtClean="0">
                                        <a:solidFill>
                                          <a:schemeClr val="tx2"/>
                                        </a:solidFill>
                                        <a:latin typeface="Cambria Math" panose="02040503050406030204" pitchFamily="18" charset="0"/>
                                        <a:ea typeface="+mn-ea"/>
                                      </a:rPr>
                                      <m:t>𝑐</m:t>
                                    </m:r>
                                  </m:e>
                                </m:d>
                              </m:oMath>
                            </m:oMathPara>
                          </a14:m>
                          <a:endParaRPr kumimoji="1" lang="ja-JP" altLang="en-US" sz="2800">
                            <a:solidFill>
                              <a:schemeClr val="tx2"/>
                            </a:solidFill>
                            <a:latin typeface="+mn-ea"/>
                            <a:ea typeface="+mn-ea"/>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solidFill>
                                          <a:schemeClr val="tx2"/>
                                        </a:solidFill>
                                        <a:latin typeface="Cambria Math" panose="02040503050406030204" pitchFamily="18" charset="0"/>
                                        <a:ea typeface="+mn-ea"/>
                                      </a:rPr>
                                    </m:ctrlPr>
                                  </m:sSubPr>
                                  <m:e>
                                    <m:r>
                                      <a:rPr lang="en-US" altLang="ja-JP" sz="2800" b="0" i="1" smtClean="0">
                                        <a:solidFill>
                                          <a:schemeClr val="tx2"/>
                                        </a:solidFill>
                                        <a:latin typeface="Cambria Math" panose="02040503050406030204" pitchFamily="18" charset="0"/>
                                        <a:ea typeface="+mn-ea"/>
                                      </a:rPr>
                                      <m:t>𝑅</m:t>
                                    </m:r>
                                  </m:e>
                                  <m:sub>
                                    <m:r>
                                      <a:rPr lang="en-US" altLang="ja-JP" sz="2800" b="0" i="1" smtClean="0">
                                        <a:solidFill>
                                          <a:schemeClr val="tx2"/>
                                        </a:solidFill>
                                        <a:latin typeface="Cambria Math" panose="02040503050406030204" pitchFamily="18" charset="0"/>
                                        <a:ea typeface="+mn-ea"/>
                                      </a:rPr>
                                      <m:t>𝑘</m:t>
                                    </m:r>
                                  </m:sub>
                                </m:sSub>
                                <m:d>
                                  <m:dPr>
                                    <m:ctrlPr>
                                      <a:rPr lang="en-US" altLang="ja-JP" sz="2800" i="1">
                                        <a:solidFill>
                                          <a:schemeClr val="tx2"/>
                                        </a:solidFill>
                                        <a:latin typeface="Cambria Math" panose="02040503050406030204" pitchFamily="18" charset="0"/>
                                        <a:ea typeface="+mn-ea"/>
                                      </a:rPr>
                                    </m:ctrlPr>
                                  </m:dPr>
                                  <m:e>
                                    <m:r>
                                      <a:rPr lang="en-US" altLang="ja-JP" sz="2800" b="0" i="1" smtClean="0">
                                        <a:solidFill>
                                          <a:schemeClr val="tx2"/>
                                        </a:solidFill>
                                        <a:latin typeface="Cambria Math" panose="02040503050406030204" pitchFamily="18" charset="0"/>
                                        <a:ea typeface="+mn-ea"/>
                                      </a:rPr>
                                      <m:t>𝑐</m:t>
                                    </m:r>
                                  </m:e>
                                </m:d>
                              </m:oMath>
                            </m:oMathPara>
                          </a14:m>
                          <a:endParaRPr kumimoji="1" lang="ja-JP" altLang="en-US" sz="2800" i="1">
                            <a:solidFill>
                              <a:schemeClr val="tx2"/>
                            </a:solidFill>
                            <a:latin typeface="+mn-ea"/>
                            <a:ea typeface="+mn-ea"/>
                          </a:endParaRP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7163058"/>
                      </a:ext>
                    </a:extLst>
                  </a:tr>
                  <a:tr h="585536">
                    <a:tc vMerge="1">
                      <a:txBody>
                        <a:bodyPr/>
                        <a:lstStyle/>
                        <a:p>
                          <a:pPr algn="ctr"/>
                          <a:endParaRPr kumimoji="1" lang="ja-JP"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800" i="1" smtClean="0">
                                        <a:solidFill>
                                          <a:schemeClr val="tx2"/>
                                        </a:solidFill>
                                        <a:latin typeface="Cambria Math" panose="02040503050406030204" pitchFamily="18" charset="0"/>
                                        <a:ea typeface="Cambria Math" panose="02040503050406030204" pitchFamily="18" charset="0"/>
                                      </a:rPr>
                                    </m:ctrlPr>
                                  </m:sSubPr>
                                  <m:e>
                                    <m:acc>
                                      <m:accPr>
                                        <m:chr m:val="̂"/>
                                        <m:ctrlPr>
                                          <a:rPr lang="en-US" altLang="ja-JP" sz="2800" i="1" smtClean="0">
                                            <a:solidFill>
                                              <a:schemeClr val="tx2"/>
                                            </a:solidFill>
                                            <a:latin typeface="Cambria Math" panose="02040503050406030204" pitchFamily="18" charset="0"/>
                                          </a:rPr>
                                        </m:ctrlPr>
                                      </m:accPr>
                                      <m:e>
                                        <m:r>
                                          <a:rPr lang="en-US" altLang="ja-JP" sz="2800" b="0" i="1">
                                            <a:solidFill>
                                              <a:schemeClr val="tx2"/>
                                            </a:solidFill>
                                            <a:latin typeface="Cambria Math" panose="02040503050406030204" pitchFamily="18" charset="0"/>
                                            <a:ea typeface="Cambria Math" panose="02040503050406030204" pitchFamily="18" charset="0"/>
                                          </a:rPr>
                                          <m:t>𝑣</m:t>
                                        </m:r>
                                      </m:e>
                                    </m:acc>
                                  </m:e>
                                  <m:sub>
                                    <m:r>
                                      <a:rPr lang="en-US" altLang="ja-JP" sz="2800" b="0" i="1" smtClean="0">
                                        <a:solidFill>
                                          <a:schemeClr val="tx2"/>
                                        </a:solidFill>
                                        <a:latin typeface="Cambria Math" panose="02040503050406030204" pitchFamily="18" charset="0"/>
                                        <a:ea typeface="Cambria Math" panose="02040503050406030204" pitchFamily="18" charset="0"/>
                                      </a:rPr>
                                      <m:t>𝑘𝑗</m:t>
                                    </m:r>
                                  </m:sub>
                                </m:sSub>
                                <m:r>
                                  <a:rPr lang="en-US" altLang="ja-JP" sz="2800" b="0" i="1" smtClean="0">
                                    <a:solidFill>
                                      <a:schemeClr val="tx2"/>
                                    </a:solidFill>
                                    <a:latin typeface="Cambria Math" panose="02040503050406030204" pitchFamily="18" charset="0"/>
                                  </a:rPr>
                                  <m:t>=0</m:t>
                                </m:r>
                              </m:oMath>
                            </m:oMathPara>
                          </a14:m>
                          <a:endParaRPr kumimoji="1" lang="ja-JP" altLang="en-US" sz="2800">
                            <a:solidFill>
                              <a:schemeClr val="tx2"/>
                            </a:solidFill>
                          </a:endParaRPr>
                        </a:p>
                      </a:txBody>
                      <a:tcPr>
                        <a:lnB w="2857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solidFill>
                              <a:schemeClr val="tx2"/>
                            </a:solidFill>
                          </a:endParaRPr>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solidFill>
                              <a:schemeClr val="tx2"/>
                            </a:solidFill>
                          </a:endParaRPr>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solidFill>
                              <a:schemeClr val="tx2"/>
                            </a:solidFill>
                          </a:endParaRPr>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51695">
                    <a:tc vMerge="1">
                      <a:txBody>
                        <a:bodyPr/>
                        <a:lstStyle/>
                        <a:p>
                          <a:pPr algn="ctr"/>
                          <a:endParaRPr kumimoji="1" lang="ja-JP" altLang="en-US" sz="2800"/>
                        </a:p>
                      </a:txBody>
                      <a:tcPr/>
                    </a:tc>
                    <a:tc>
                      <a:txBody>
                        <a:bodyPr/>
                        <a:lstStyle/>
                        <a:p>
                          <a:pPr algn="ctr"/>
                          <a:r>
                            <a:rPr kumimoji="1" lang="ja-JP" altLang="en-US" sz="2800">
                              <a:solidFill>
                                <a:schemeClr val="tx2"/>
                              </a:solidFill>
                            </a:rPr>
                            <a:t>計</a:t>
                          </a:r>
                        </a:p>
                      </a:txBody>
                      <a:tcPr>
                        <a:lnT w="28575"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800" b="0" i="1" smtClean="0">
                                        <a:solidFill>
                                          <a:schemeClr val="tx2"/>
                                        </a:solidFill>
                                        <a:latin typeface="Cambria Math" panose="02040503050406030204" pitchFamily="18" charset="0"/>
                                      </a:rPr>
                                    </m:ctrlPr>
                                  </m:sSubPr>
                                  <m:e>
                                    <m:r>
                                      <a:rPr lang="en-US" altLang="ja-JP" sz="2800" b="0" i="1" smtClean="0">
                                        <a:solidFill>
                                          <a:schemeClr val="tx2"/>
                                        </a:solidFill>
                                        <a:latin typeface="Cambria Math" panose="02040503050406030204" pitchFamily="18" charset="0"/>
                                      </a:rPr>
                                      <m:t>𝐵</m:t>
                                    </m:r>
                                  </m:e>
                                  <m:sub>
                                    <m:r>
                                      <a:rPr lang="en-US" altLang="ja-JP" sz="2800" b="0" i="1" smtClean="0">
                                        <a:solidFill>
                                          <a:schemeClr val="tx2"/>
                                        </a:solidFill>
                                        <a:latin typeface="Cambria Math" panose="02040503050406030204" pitchFamily="18" charset="0"/>
                                      </a:rPr>
                                      <m:t>𝑘</m:t>
                                    </m:r>
                                  </m:sub>
                                </m:sSub>
                              </m:oMath>
                            </m:oMathPara>
                          </a14:m>
                          <a:endParaRPr kumimoji="1" lang="ja-JP" altLang="en-US" sz="2800" i="1">
                            <a:solidFill>
                              <a:schemeClr val="tx2"/>
                            </a:solidFill>
                          </a:endParaRPr>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solidFill>
                              <a:schemeClr val="tx2"/>
                            </a:solidFill>
                          </a:endParaRPr>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solidFill>
                              <a:schemeClr val="tx2"/>
                            </a:solidFill>
                          </a:endParaRPr>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Choice>
        <mc:Fallback xmlns="">
          <p:graphicFrame>
            <p:nvGraphicFramePr>
              <p:cNvPr id="3" name="表 2">
                <a:extLst>
                  <a:ext uri="{FF2B5EF4-FFF2-40B4-BE49-F238E27FC236}">
                    <a16:creationId xmlns:a16="http://schemas.microsoft.com/office/drawing/2014/main" id="{05D6471C-693C-4361-B736-0E3929FFB9D5}"/>
                  </a:ext>
                </a:extLst>
              </p:cNvPr>
              <p:cNvGraphicFramePr>
                <a:graphicFrameLocks noGrp="1"/>
              </p:cNvGraphicFramePr>
              <p:nvPr>
                <p:extLst>
                  <p:ext uri="{D42A27DB-BD31-4B8C-83A1-F6EECF244321}">
                    <p14:modId xmlns:p14="http://schemas.microsoft.com/office/powerpoint/2010/main" val="1730214708"/>
                  </p:ext>
                </p:extLst>
              </p:nvPr>
            </p:nvGraphicFramePr>
            <p:xfrm>
              <a:off x="117682" y="3672108"/>
              <a:ext cx="8106350" cy="3043985"/>
            </p:xfrm>
            <a:graphic>
              <a:graphicData uri="http://schemas.openxmlformats.org/drawingml/2006/table">
                <a:tbl>
                  <a:tblPr firstRow="1" bandRow="1">
                    <a:tableStyleId>{5940675A-B579-460E-94D1-54222C63F5DA}</a:tableStyleId>
                  </a:tblPr>
                  <a:tblGrid>
                    <a:gridCol w="813650">
                      <a:extLst>
                        <a:ext uri="{9D8B030D-6E8A-4147-A177-3AD203B41FA5}">
                          <a16:colId xmlns:a16="http://schemas.microsoft.com/office/drawing/2014/main" val="2166501344"/>
                        </a:ext>
                      </a:extLst>
                    </a:gridCol>
                    <a:gridCol w="1761893">
                      <a:extLst>
                        <a:ext uri="{9D8B030D-6E8A-4147-A177-3AD203B41FA5}">
                          <a16:colId xmlns:a16="http://schemas.microsoft.com/office/drawing/2014/main" val="3366183821"/>
                        </a:ext>
                      </a:extLst>
                    </a:gridCol>
                    <a:gridCol w="1751652">
                      <a:extLst>
                        <a:ext uri="{9D8B030D-6E8A-4147-A177-3AD203B41FA5}">
                          <a16:colId xmlns:a16="http://schemas.microsoft.com/office/drawing/2014/main" val="122348770"/>
                        </a:ext>
                      </a:extLst>
                    </a:gridCol>
                    <a:gridCol w="1830991">
                      <a:extLst>
                        <a:ext uri="{9D8B030D-6E8A-4147-A177-3AD203B41FA5}">
                          <a16:colId xmlns:a16="http://schemas.microsoft.com/office/drawing/2014/main" val="1265163690"/>
                        </a:ext>
                      </a:extLst>
                    </a:gridCol>
                    <a:gridCol w="1948164">
                      <a:extLst>
                        <a:ext uri="{9D8B030D-6E8A-4147-A177-3AD203B41FA5}">
                          <a16:colId xmlns:a16="http://schemas.microsoft.com/office/drawing/2014/main" val="1115285989"/>
                        </a:ext>
                      </a:extLst>
                    </a:gridCol>
                  </a:tblGrid>
                  <a:tr h="518160">
                    <a:tc rowSpan="2" gridSpan="2">
                      <a:txBody>
                        <a:bodyPr/>
                        <a:lstStyle/>
                        <a:p>
                          <a:pPr algn="ctr"/>
                          <a:endParaRPr kumimoji="1" lang="ja-JP" altLang="en-US" sz="2800">
                            <a:solidFill>
                              <a:schemeClr val="tx2"/>
                            </a:solidFill>
                          </a:endParaRPr>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solidFill>
                                <a:schemeClr val="tx2"/>
                              </a:solidFill>
                            </a:rPr>
                            <a:t>真の状態</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575105">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7826" t="-102222" r="-217391" b="-373333"/>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7500" t="-102222" r="-108333" b="-37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solidFill>
                                <a:schemeClr val="tx2"/>
                              </a:solidFill>
                            </a:rPr>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589464">
                    <a:tc rowSpan="3">
                      <a:txBody>
                        <a:bodyPr/>
                        <a:lstStyle/>
                        <a:p>
                          <a:pPr algn="ctr"/>
                          <a:endParaRPr kumimoji="1" lang="en-US" altLang="ja-JP" sz="1000" dirty="0">
                            <a:solidFill>
                              <a:schemeClr val="tx2"/>
                            </a:solidFill>
                          </a:endParaRPr>
                        </a:p>
                        <a:p>
                          <a:pPr algn="ctr"/>
                          <a:r>
                            <a:rPr kumimoji="1" lang="ja-JP" altLang="en-US" sz="2800">
                              <a:solidFill>
                                <a:schemeClr val="tx2"/>
                              </a:solidFill>
                            </a:rPr>
                            <a:t>推</a:t>
                          </a:r>
                          <a:endParaRPr kumimoji="1" lang="en-US" altLang="ja-JP" sz="2800" dirty="0">
                            <a:solidFill>
                              <a:schemeClr val="tx2"/>
                            </a:solidFill>
                          </a:endParaRPr>
                        </a:p>
                        <a:p>
                          <a:pPr algn="ctr"/>
                          <a:r>
                            <a:rPr kumimoji="1" lang="ja-JP" altLang="en-US" sz="2800">
                              <a:solidFill>
                                <a:schemeClr val="tx2"/>
                              </a:solidFill>
                            </a:rPr>
                            <a:t>定</a:t>
                          </a:r>
                          <a:endParaRPr kumimoji="1" lang="en-US" altLang="ja-JP" sz="2800" dirty="0">
                            <a:solidFill>
                              <a:schemeClr val="tx2"/>
                            </a:solidFill>
                          </a:endParaRPr>
                        </a:p>
                        <a:p>
                          <a:pPr algn="ctr"/>
                          <a:r>
                            <a:rPr kumimoji="1" lang="ja-JP" altLang="en-US" sz="2800">
                              <a:solidFill>
                                <a:schemeClr val="tx2"/>
                              </a:solidFill>
                            </a:rPr>
                            <a:t>結果</a:t>
                          </a:r>
                        </a:p>
                      </a:txBody>
                      <a:tcPr/>
                    </a:tc>
                    <a:tc>
                      <a:txBody>
                        <a:bodyPr/>
                        <a:lstStyle/>
                        <a:p>
                          <a:endParaRPr lang="ja-JP"/>
                        </a:p>
                      </a:txBody>
                      <a:tcPr>
                        <a:lnT w="12700" cap="flat" cmpd="sng" algn="ctr">
                          <a:solidFill>
                            <a:schemeClr val="tx1"/>
                          </a:solidFill>
                          <a:prstDash val="solid"/>
                          <a:round/>
                          <a:headEnd type="none" w="med" len="med"/>
                          <a:tailEnd type="none" w="med" len="med"/>
                        </a:lnT>
                        <a:blipFill>
                          <a:blip r:embed="rId5"/>
                          <a:stretch>
                            <a:fillRect l="-46763" t="-193617" r="-315108" b="-257447"/>
                          </a:stretch>
                        </a:blipFill>
                      </a:tcPr>
                    </a:tc>
                    <a:tc>
                      <a:txBody>
                        <a:bodyPr/>
                        <a:lstStyle/>
                        <a:p>
                          <a:endParaRPr lang="ja-JP"/>
                        </a:p>
                      </a:txBody>
                      <a:tcPr>
                        <a:lnT w="12700" cap="flat" cmpd="sng" algn="ctr">
                          <a:solidFill>
                            <a:schemeClr val="tx1"/>
                          </a:solidFill>
                          <a:prstDash val="solid"/>
                          <a:round/>
                          <a:headEnd type="none" w="med" len="med"/>
                          <a:tailEnd type="none" w="med" len="med"/>
                        </a:lnT>
                        <a:blipFill>
                          <a:blip r:embed="rId5"/>
                          <a:stretch>
                            <a:fillRect l="-147826" t="-193617" r="-217391" b="-257447"/>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5"/>
                          <a:stretch>
                            <a:fillRect l="-237500" t="-193617" r="-108333" b="-257447"/>
                          </a:stretch>
                        </a:blipFill>
                      </a:tcPr>
                    </a:tc>
                    <a:tc>
                      <a:txBody>
                        <a:bodyPr/>
                        <a:lstStyle/>
                        <a:p>
                          <a:endParaRPr lang="ja-JP"/>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5"/>
                          <a:stretch>
                            <a:fillRect l="-315584" t="-193617" r="-1299" b="-257447"/>
                          </a:stretch>
                        </a:blipFill>
                      </a:tcPr>
                    </a:tc>
                    <a:extLst>
                      <a:ext uri="{0D108BD9-81ED-4DB2-BD59-A6C34878D82A}">
                        <a16:rowId xmlns:a16="http://schemas.microsoft.com/office/drawing/2014/main" val="3157163058"/>
                      </a:ext>
                    </a:extLst>
                  </a:tr>
                  <a:tr h="585536">
                    <a:tc vMerge="1">
                      <a:txBody>
                        <a:bodyPr/>
                        <a:lstStyle/>
                        <a:p>
                          <a:pPr algn="ctr"/>
                          <a:endParaRPr kumimoji="1" lang="ja-JP" altLang="en-US"/>
                        </a:p>
                      </a:txBody>
                      <a:tcPr/>
                    </a:tc>
                    <a:tc>
                      <a:txBody>
                        <a:bodyPr/>
                        <a:lstStyle/>
                        <a:p>
                          <a:endParaRPr lang="ja-JP"/>
                        </a:p>
                      </a:txBody>
                      <a:tcPr>
                        <a:lnB w="28575" cap="flat" cmpd="sng" algn="ctr">
                          <a:solidFill>
                            <a:schemeClr val="tx1"/>
                          </a:solidFill>
                          <a:prstDash val="solid"/>
                          <a:round/>
                          <a:headEnd type="none" w="med" len="med"/>
                          <a:tailEnd type="none" w="med" len="med"/>
                        </a:lnB>
                        <a:blipFill>
                          <a:blip r:embed="rId5"/>
                          <a:stretch>
                            <a:fillRect l="-46763" t="-300000" r="-315108" b="-16304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solidFill>
                              <a:schemeClr val="tx2"/>
                            </a:solidFill>
                          </a:endParaRPr>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solidFill>
                              <a:schemeClr val="tx2"/>
                            </a:solidFill>
                          </a:endParaRPr>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solidFill>
                              <a:schemeClr val="tx2"/>
                            </a:solidFill>
                          </a:endParaRPr>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775720">
                    <a:tc vMerge="1">
                      <a:txBody>
                        <a:bodyPr/>
                        <a:lstStyle/>
                        <a:p>
                          <a:pPr algn="ctr"/>
                          <a:endParaRPr kumimoji="1" lang="ja-JP" altLang="en-US" sz="2800"/>
                        </a:p>
                      </a:txBody>
                      <a:tcPr/>
                    </a:tc>
                    <a:tc>
                      <a:txBody>
                        <a:bodyPr/>
                        <a:lstStyle/>
                        <a:p>
                          <a:pPr algn="ctr"/>
                          <a:r>
                            <a:rPr kumimoji="1" lang="ja-JP" altLang="en-US" sz="2800">
                              <a:solidFill>
                                <a:schemeClr val="tx2"/>
                              </a:solidFill>
                            </a:rPr>
                            <a:t>計</a:t>
                          </a:r>
                        </a:p>
                      </a:txBody>
                      <a:tcPr>
                        <a:lnT w="28575" cap="flat" cmpd="sng" algn="ctr">
                          <a:solidFill>
                            <a:schemeClr val="tx1"/>
                          </a:solidFill>
                          <a:prstDash val="solid"/>
                          <a:round/>
                          <a:headEnd type="none" w="med" len="med"/>
                          <a:tailEnd type="none" w="med" len="med"/>
                        </a:lnT>
                        <a:noFill/>
                      </a:tcPr>
                    </a:tc>
                    <a:tc>
                      <a:txBody>
                        <a:bodyPr/>
                        <a:lstStyle/>
                        <a:p>
                          <a:endParaRPr lang="ja-JP"/>
                        </a:p>
                      </a:txBody>
                      <a:tcPr>
                        <a:lnT w="28575" cap="flat" cmpd="sng" algn="ctr">
                          <a:solidFill>
                            <a:schemeClr val="tx1"/>
                          </a:solidFill>
                          <a:prstDash val="solid"/>
                          <a:round/>
                          <a:headEnd type="none" w="med" len="med"/>
                          <a:tailEnd type="none" w="med" len="med"/>
                        </a:lnT>
                        <a:blipFill>
                          <a:blip r:embed="rId5"/>
                          <a:stretch>
                            <a:fillRect l="-147826" t="-301639" r="-217391" b="-22951"/>
                          </a:stretch>
                        </a:blipFill>
                      </a:tcPr>
                    </a:tc>
                    <a:tc>
                      <a:txBody>
                        <a:bodyPr/>
                        <a:lstStyle/>
                        <a:p>
                          <a:pPr algn="ctr"/>
                          <a:endParaRPr kumimoji="1" lang="ja-JP" altLang="en-US" sz="2800">
                            <a:solidFill>
                              <a:schemeClr val="tx2"/>
                            </a:solidFill>
                          </a:endParaRPr>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solidFill>
                              <a:schemeClr val="tx2"/>
                            </a:solidFill>
                          </a:endParaRPr>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Fallback>
      </mc:AlternateContent>
      <p:sp>
        <p:nvSpPr>
          <p:cNvPr id="2" name="タイトル 1">
            <a:extLst>
              <a:ext uri="{FF2B5EF4-FFF2-40B4-BE49-F238E27FC236}">
                <a16:creationId xmlns:a16="http://schemas.microsoft.com/office/drawing/2014/main" id="{F9813EC5-016C-37AD-6256-D792E0195BD2}"/>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数値実験</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FB407EE-4AEA-D7C4-5E21-2BADC3EFE080}"/>
                  </a:ext>
                </a:extLst>
              </p:cNvPr>
              <p:cNvSpPr txBox="1"/>
              <p:nvPr/>
            </p:nvSpPr>
            <p:spPr>
              <a:xfrm>
                <a:off x="-140481" y="1539980"/>
                <a:ext cx="8216900" cy="1224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r>
                            <a:rPr lang="en-US" altLang="ja-JP" sz="3200" b="0" i="1" smtClean="0">
                              <a:latin typeface="Cambria Math" panose="02040503050406030204" pitchFamily="18" charset="0"/>
                            </a:rPr>
                            <m:t>𝑆</m:t>
                          </m:r>
                        </m:e>
                        <m:sub>
                          <m:r>
                            <a:rPr lang="en-US" altLang="ja-JP" sz="3200" b="0" i="1" smtClean="0">
                              <a:latin typeface="Cambria Math" panose="02040503050406030204" pitchFamily="18" charset="0"/>
                            </a:rPr>
                            <m:t>𝑘</m:t>
                          </m:r>
                        </m:sub>
                      </m:sSub>
                      <m:d>
                        <m:dPr>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𝑐</m:t>
                          </m:r>
                        </m:e>
                      </m:d>
                      <m:r>
                        <m:rPr>
                          <m:aln/>
                        </m:rPr>
                        <a:rPr lang="en-US" altLang="ja-JP" sz="3200" i="1">
                          <a:latin typeface="Cambria Math" panose="02040503050406030204" pitchFamily="18" charset="0"/>
                        </a:rPr>
                        <m:t>≡</m:t>
                      </m:r>
                      <m:r>
                        <a:rPr lang="en-US" altLang="ja-JP" sz="3200" b="0" i="1" smtClean="0">
                          <a:latin typeface="Cambria Math" panose="02040503050406030204" pitchFamily="18" charset="0"/>
                        </a:rPr>
                        <m:t>#</m:t>
                      </m:r>
                      <m:d>
                        <m:dPr>
                          <m:begChr m:val="{"/>
                          <m:endChr m:val="}"/>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b="0" i="1">
                                  <a:latin typeface="Cambria Math" panose="02040503050406030204" pitchFamily="18" charset="0"/>
                                </a:rPr>
                                <m:t>𝑣</m:t>
                              </m:r>
                            </m:e>
                            <m:sub>
                              <m:r>
                                <a:rPr lang="en-US" altLang="ja-JP" sz="3200" b="0" i="1">
                                  <a:latin typeface="Cambria Math" panose="02040503050406030204" pitchFamily="18" charset="0"/>
                                </a:rPr>
                                <m:t>𝑘</m:t>
                              </m:r>
                              <m:r>
                                <a:rPr lang="en-US" altLang="ja-JP" sz="3200" b="0" i="1" smtClean="0">
                                  <a:latin typeface="Cambria Math" panose="02040503050406030204" pitchFamily="18" charset="0"/>
                                </a:rPr>
                                <m:t>𝑗</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and</m:t>
                          </m:r>
                          <m:r>
                            <a:rPr lang="en-US" altLang="ja-JP" sz="3200" b="0" i="1" smtClean="0">
                              <a:latin typeface="Cambria Math" panose="02040503050406030204" pitchFamily="18" charset="0"/>
                            </a:rPr>
                            <m:t> </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𝑣</m:t>
                                  </m:r>
                                </m:e>
                              </m:acc>
                            </m:e>
                            <m:sub>
                              <m:r>
                                <a:rPr lang="en-US" altLang="ja-JP" sz="3200" i="1">
                                  <a:latin typeface="Cambria Math" panose="02040503050406030204" pitchFamily="18" charset="0"/>
                                  <a:ea typeface="Cambria Math" panose="02040503050406030204" pitchFamily="18" charset="0"/>
                                </a:rPr>
                                <m:t>𝑘𝑗</m:t>
                              </m:r>
                            </m:sub>
                          </m:sSub>
                          <m:r>
                            <a:rPr lang="en-US" altLang="ja-JP" sz="3200" i="1" smtClean="0">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e>
                      </m:d>
                    </m:oMath>
                  </m:oMathPara>
                </a14:m>
                <a:br>
                  <a:rPr lang="en-US" altLang="ja-JP" sz="3200" b="0" i="1" dirty="0">
                    <a:latin typeface="Cambria Math" panose="02040503050406030204" pitchFamily="18" charset="0"/>
                  </a:rPr>
                </a:br>
                <a:r>
                  <a:rPr lang="ja-JP" altLang="en-US" sz="3200" b="0" i="1" dirty="0">
                    <a:latin typeface="Cambria Math" panose="02040503050406030204" pitchFamily="18" charset="0"/>
                  </a:rPr>
                  <a:t>　　　</a:t>
                </a:r>
                <a:r>
                  <a:rPr lang="en-US" altLang="ja-JP" sz="3200" b="0" i="1" dirty="0">
                    <a:latin typeface="Cambria Math" panose="02040503050406030204" pitchFamily="18" charset="0"/>
                  </a:rPr>
                  <a:t>   </a:t>
                </a:r>
                <a14:m>
                  <m:oMath xmlns:m="http://schemas.openxmlformats.org/officeDocument/2006/math">
                    <m:sSub>
                      <m:sSubPr>
                        <m:ctrlPr>
                          <a:rPr lang="en-US" altLang="ja-JP" sz="3200" b="0" i="1" smtClean="0">
                            <a:latin typeface="Cambria Math" panose="02040503050406030204" pitchFamily="18" charset="0"/>
                          </a:rPr>
                        </m:ctrlPr>
                      </m:sSubPr>
                      <m:e>
                        <m:r>
                          <a:rPr lang="en-US" altLang="ja-JP" sz="3200" b="0" i="1" smtClean="0">
                            <a:latin typeface="Cambria Math" panose="02040503050406030204" pitchFamily="18" charset="0"/>
                          </a:rPr>
                          <m:t>𝐵</m:t>
                        </m:r>
                      </m:e>
                      <m:sub>
                        <m:r>
                          <a:rPr lang="en-US" altLang="ja-JP" sz="3200" b="0" i="1" smtClean="0">
                            <a:latin typeface="Cambria Math" panose="02040503050406030204" pitchFamily="18" charset="0"/>
                          </a:rPr>
                          <m:t>𝑘</m:t>
                        </m:r>
                      </m:sub>
                    </m:sSub>
                    <m:r>
                      <m:rPr>
                        <m:aln/>
                      </m:rPr>
                      <a:rPr lang="en-US" altLang="ja-JP" sz="3200" i="1">
                        <a:latin typeface="Cambria Math" panose="02040503050406030204" pitchFamily="18" charset="0"/>
                      </a:rPr>
                      <m:t>≡</m:t>
                    </m:r>
                    <m:r>
                      <a:rPr lang="en-US" altLang="ja-JP" sz="3200" i="1">
                        <a:latin typeface="Cambria Math" panose="02040503050406030204" pitchFamily="18" charset="0"/>
                      </a:rPr>
                      <m:t>#</m:t>
                    </m:r>
                    <m:d>
                      <m:dPr>
                        <m:begChr m:val="{"/>
                        <m:endChr m:val="}"/>
                        <m:ctrlPr>
                          <a:rPr lang="en-US" altLang="ja-JP" sz="3200" i="1">
                            <a:latin typeface="Cambria Math" panose="02040503050406030204" pitchFamily="18" charset="0"/>
                          </a:rPr>
                        </m:ctrlPr>
                      </m:dPr>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ea typeface="Cambria Math" panose="02040503050406030204" pitchFamily="18" charset="0"/>
                              </a:rPr>
                            </m:ctrlPr>
                          </m:sSubPr>
                          <m:e>
                            <m:r>
                              <a:rPr lang="en-US" altLang="ja-JP" sz="3200" b="0" i="1" smtClean="0">
                                <a:latin typeface="Cambria Math" panose="02040503050406030204" pitchFamily="18" charset="0"/>
                                <a:ea typeface="Cambria Math" panose="02040503050406030204" pitchFamily="18" charset="0"/>
                              </a:rPr>
                              <m:t>𝑣</m:t>
                            </m:r>
                          </m:e>
                          <m:sub>
                            <m:r>
                              <a:rPr lang="en-US" altLang="ja-JP" sz="3200" i="1">
                                <a:latin typeface="Cambria Math" panose="02040503050406030204" pitchFamily="18" charset="0"/>
                                <a:ea typeface="Cambria Math" panose="02040503050406030204" pitchFamily="18" charset="0"/>
                              </a:rPr>
                              <m:t>𝑘𝑗</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0 </m:t>
                        </m:r>
                      </m:e>
                    </m:d>
                  </m:oMath>
                </a14:m>
                <a:endParaRPr lang="ja-JP" altLang="en-US" sz="3200"/>
              </a:p>
            </p:txBody>
          </p:sp>
        </mc:Choice>
        <mc:Fallback xmlns="">
          <p:sp>
            <p:nvSpPr>
              <p:cNvPr id="5" name="テキスト ボックス 4">
                <a:extLst>
                  <a:ext uri="{FF2B5EF4-FFF2-40B4-BE49-F238E27FC236}">
                    <a16:creationId xmlns:a16="http://schemas.microsoft.com/office/drawing/2014/main" id="{AFB407EE-4AEA-D7C4-5E21-2BADC3EFE080}"/>
                  </a:ext>
                </a:extLst>
              </p:cNvPr>
              <p:cNvSpPr txBox="1">
                <a:spLocks noRot="1" noChangeAspect="1" noMove="1" noResize="1" noEditPoints="1" noAdjustHandles="1" noChangeArrowheads="1" noChangeShapeType="1" noTextEdit="1"/>
              </p:cNvSpPr>
              <p:nvPr/>
            </p:nvSpPr>
            <p:spPr>
              <a:xfrm>
                <a:off x="-140481" y="1539980"/>
                <a:ext cx="8216900" cy="1224566"/>
              </a:xfrm>
              <a:prstGeom prst="rect">
                <a:avLst/>
              </a:prstGeom>
              <a:blipFill>
                <a:blip r:embed="rId6"/>
                <a:stretch>
                  <a:fillRect t="-2062" b="-82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CE82593D-7A06-15A5-F1BD-7C0363F06607}"/>
                  </a:ext>
                </a:extLst>
              </p:cNvPr>
              <p:cNvSpPr txBox="1"/>
              <p:nvPr/>
            </p:nvSpPr>
            <p:spPr>
              <a:xfrm>
                <a:off x="8396178" y="4267709"/>
                <a:ext cx="3558410" cy="1261051"/>
              </a:xfrm>
              <a:prstGeom prst="rect">
                <a:avLst/>
              </a:prstGeom>
              <a:noFill/>
              <a:ln w="25400">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3600" b="0" i="1" smtClean="0">
                              <a:latin typeface="Cambria Math" panose="02040503050406030204" pitchFamily="18" charset="0"/>
                              <a:ea typeface="Cambria Math" panose="02040503050406030204" pitchFamily="18" charset="0"/>
                            </a:rPr>
                          </m:ctrlPr>
                        </m:sSubPr>
                        <m:e>
                          <m:r>
                            <a:rPr lang="ja-JP" altLang="en-US" sz="3600" i="0">
                              <a:latin typeface="Cambria Math" panose="02040503050406030204" pitchFamily="18" charset="0"/>
                            </a:rPr>
                            <m:t>検出</m:t>
                          </m:r>
                          <m:r>
                            <a:rPr lang="ja-JP" altLang="en-US" sz="3600" i="0" smtClean="0">
                              <a:latin typeface="Cambria Math" panose="02040503050406030204" pitchFamily="18" charset="0"/>
                            </a:rPr>
                            <m:t>力</m:t>
                          </m:r>
                        </m:e>
                        <m:sub>
                          <m:r>
                            <m:rPr>
                              <m:sty m:val="p"/>
                            </m:rPr>
                            <a:rPr lang="en-US" altLang="ja-JP" sz="3600" b="0" i="0" smtClean="0">
                              <a:latin typeface="Cambria Math" panose="02040503050406030204" pitchFamily="18" charset="0"/>
                              <a:ea typeface="Cambria Math" panose="02040503050406030204" pitchFamily="18" charset="0"/>
                            </a:rPr>
                            <m:t>k</m:t>
                          </m:r>
                        </m:sub>
                      </m:sSub>
                      <m:r>
                        <a:rPr lang="en-US" altLang="ja-JP" sz="3600" i="1">
                          <a:latin typeface="Cambria Math" panose="02040503050406030204" pitchFamily="18" charset="0"/>
                          <a:ea typeface="Cambria Math" panose="02040503050406030204" pitchFamily="18" charset="0"/>
                        </a:rPr>
                        <m:t>=</m:t>
                      </m:r>
                      <m:f>
                        <m:fPr>
                          <m:ctrlPr>
                            <a:rPr lang="en-US" altLang="ja-JP" sz="3600" i="1">
                              <a:latin typeface="Cambria Math" panose="02040503050406030204" pitchFamily="18" charset="0"/>
                              <a:ea typeface="Cambria Math" panose="02040503050406030204" pitchFamily="18" charset="0"/>
                            </a:rPr>
                          </m:ctrlPr>
                        </m:fPr>
                        <m:num>
                          <m:sSub>
                            <m:sSubPr>
                              <m:ctrlPr>
                                <a:rPr lang="en-US" altLang="ja-JP" sz="3600" i="1">
                                  <a:latin typeface="Cambria Math" panose="02040503050406030204" pitchFamily="18" charset="0"/>
                                  <a:ea typeface="Cambria Math" panose="02040503050406030204" pitchFamily="18" charset="0"/>
                                </a:rPr>
                              </m:ctrlPr>
                            </m:sSubPr>
                            <m:e>
                              <m:r>
                                <a:rPr lang="en-US" altLang="ja-JP" sz="3600" i="1">
                                  <a:latin typeface="Cambria Math" panose="02040503050406030204" pitchFamily="18" charset="0"/>
                                  <a:ea typeface="Cambria Math" panose="02040503050406030204" pitchFamily="18" charset="0"/>
                                </a:rPr>
                                <m:t>𝑆</m:t>
                              </m:r>
                            </m:e>
                            <m:sub>
                              <m:r>
                                <a:rPr lang="en-US" altLang="ja-JP" sz="3600" i="1">
                                  <a:latin typeface="Cambria Math" panose="02040503050406030204" pitchFamily="18" charset="0"/>
                                  <a:ea typeface="Cambria Math" panose="02040503050406030204" pitchFamily="18" charset="0"/>
                                </a:rPr>
                                <m:t>𝑘</m:t>
                              </m:r>
                            </m:sub>
                          </m:sSub>
                          <m:d>
                            <m:dPr>
                              <m:ctrlPr>
                                <a:rPr lang="en-US" altLang="ja-JP" sz="3600" i="1">
                                  <a:latin typeface="Cambria Math" panose="02040503050406030204" pitchFamily="18" charset="0"/>
                                </a:rPr>
                              </m:ctrlPr>
                            </m:dPr>
                            <m:e>
                              <m:r>
                                <a:rPr lang="en-US" altLang="ja-JP" sz="3600" i="1">
                                  <a:latin typeface="Cambria Math" panose="02040503050406030204" pitchFamily="18" charset="0"/>
                                </a:rPr>
                                <m:t>𝑐</m:t>
                              </m:r>
                            </m:e>
                          </m:d>
                        </m:num>
                        <m:den>
                          <m:sSub>
                            <m:sSubPr>
                              <m:ctrlPr>
                                <a:rPr lang="en-US" altLang="ja-JP" sz="3600" b="0" i="1" smtClean="0">
                                  <a:latin typeface="Cambria Math" panose="02040503050406030204" pitchFamily="18" charset="0"/>
                                </a:rPr>
                              </m:ctrlPr>
                            </m:sSubPr>
                            <m:e>
                              <m:r>
                                <a:rPr lang="en-US" altLang="ja-JP" sz="3600" b="0" i="1" smtClean="0">
                                  <a:latin typeface="Cambria Math" panose="02040503050406030204" pitchFamily="18" charset="0"/>
                                </a:rPr>
                                <m:t>𝐵</m:t>
                              </m:r>
                            </m:e>
                            <m:sub>
                              <m:r>
                                <a:rPr lang="en-US" altLang="ja-JP" sz="3600" b="0" i="1" smtClean="0">
                                  <a:latin typeface="Cambria Math" panose="02040503050406030204" pitchFamily="18" charset="0"/>
                                </a:rPr>
                                <m:t>𝑘</m:t>
                              </m:r>
                            </m:sub>
                          </m:sSub>
                        </m:den>
                      </m:f>
                    </m:oMath>
                  </m:oMathPara>
                </a14:m>
                <a:endParaRPr lang="en-US" altLang="ja-JP" sz="3600" dirty="0">
                  <a:solidFill>
                    <a:schemeClr val="tx1"/>
                  </a:solidFill>
                  <a:ea typeface="Cambria Math" panose="02040503050406030204" pitchFamily="18" charset="0"/>
                </a:endParaRPr>
              </a:p>
            </p:txBody>
          </p:sp>
        </mc:Choice>
        <mc:Fallback xmlns="">
          <p:sp>
            <p:nvSpPr>
              <p:cNvPr id="6" name="テキスト ボックス 5">
                <a:extLst>
                  <a:ext uri="{FF2B5EF4-FFF2-40B4-BE49-F238E27FC236}">
                    <a16:creationId xmlns:a16="http://schemas.microsoft.com/office/drawing/2014/main" id="{CE82593D-7A06-15A5-F1BD-7C0363F06607}"/>
                  </a:ext>
                </a:extLst>
              </p:cNvPr>
              <p:cNvSpPr txBox="1">
                <a:spLocks noRot="1" noChangeAspect="1" noMove="1" noResize="1" noEditPoints="1" noAdjustHandles="1" noChangeArrowheads="1" noChangeShapeType="1" noTextEdit="1"/>
              </p:cNvSpPr>
              <p:nvPr/>
            </p:nvSpPr>
            <p:spPr>
              <a:xfrm>
                <a:off x="8396178" y="4267709"/>
                <a:ext cx="3558410" cy="1261051"/>
              </a:xfrm>
              <a:prstGeom prst="rect">
                <a:avLst/>
              </a:prstGeom>
              <a:blipFill>
                <a:blip r:embed="rId7"/>
                <a:stretch>
                  <a:fillRect l="-1060" b="-2941"/>
                </a:stretch>
              </a:blipFill>
              <a:ln w="25400">
                <a:solidFill>
                  <a:srgbClr val="0070C0"/>
                </a:solidFill>
              </a:ln>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953C4529-C1A6-1766-6186-8E004EB27B80}"/>
              </a:ext>
            </a:extLst>
          </p:cNvPr>
          <p:cNvSpPr txBox="1"/>
          <p:nvPr/>
        </p:nvSpPr>
        <p:spPr>
          <a:xfrm>
            <a:off x="117682" y="955205"/>
            <a:ext cx="1826141" cy="584775"/>
          </a:xfrm>
          <a:prstGeom prst="rect">
            <a:avLst/>
          </a:prstGeom>
          <a:noFill/>
        </p:spPr>
        <p:txBody>
          <a:bodyPr wrap="none" rtlCol="0">
            <a:spAutoFit/>
          </a:bodyPr>
          <a:lstStyle/>
          <a:p>
            <a:r>
              <a:rPr kumimoji="1" lang="en-US" altLang="ja-JP" sz="3200" dirty="0"/>
              <a:t>&lt;</a:t>
            </a:r>
            <a:r>
              <a:rPr kumimoji="1" lang="ja-JP" altLang="en-US" sz="3200"/>
              <a:t>検出力</a:t>
            </a:r>
            <a:r>
              <a:rPr kumimoji="1" lang="en-US" altLang="ja-JP" sz="3200" dirty="0"/>
              <a:t>&gt;</a:t>
            </a:r>
            <a:endParaRPr kumimoji="1" lang="ja-JP" altLang="en-US" sz="3200"/>
          </a:p>
        </p:txBody>
      </p:sp>
      <p:sp>
        <p:nvSpPr>
          <p:cNvPr id="4" name="テキスト ボックス 3">
            <a:extLst>
              <a:ext uri="{FF2B5EF4-FFF2-40B4-BE49-F238E27FC236}">
                <a16:creationId xmlns:a16="http://schemas.microsoft.com/office/drawing/2014/main" id="{5DEA5E7C-72BD-B5AE-2A3B-73F75FC83E95}"/>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23/28</a:t>
            </a:r>
            <a:endParaRPr kumimoji="1" lang="ja-JP" altLang="en-US" sz="2800">
              <a:latin typeface="+mj-ea"/>
              <a:ea typeface="+mj-ea"/>
            </a:endParaRPr>
          </a:p>
        </p:txBody>
      </p:sp>
    </p:spTree>
    <p:extLst>
      <p:ext uri="{BB962C8B-B14F-4D97-AF65-F5344CB8AC3E}">
        <p14:creationId xmlns:p14="http://schemas.microsoft.com/office/powerpoint/2010/main" val="122724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タイトル 1">
            <a:extLst>
              <a:ext uri="{FF2B5EF4-FFF2-40B4-BE49-F238E27FC236}">
                <a16:creationId xmlns:a16="http://schemas.microsoft.com/office/drawing/2014/main" id="{BAC72FE2-628E-DF43-A62A-1915EC902D82}"/>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実験結果</a:t>
            </a:r>
            <a:endParaRPr lang="ja-JP" altLang="en-US" b="1">
              <a:solidFill>
                <a:srgbClr val="FFC000"/>
              </a:solidFill>
              <a:latin typeface="+mj-ea"/>
            </a:endParaRPr>
          </a:p>
        </p:txBody>
      </p:sp>
      <p:sp>
        <p:nvSpPr>
          <p:cNvPr id="6" name="テキスト ボックス 5">
            <a:extLst>
              <a:ext uri="{FF2B5EF4-FFF2-40B4-BE49-F238E27FC236}">
                <a16:creationId xmlns:a16="http://schemas.microsoft.com/office/drawing/2014/main" id="{11F9568D-1936-562C-416C-0E0192FAC628}"/>
              </a:ext>
            </a:extLst>
          </p:cNvPr>
          <p:cNvSpPr txBox="1"/>
          <p:nvPr/>
        </p:nvSpPr>
        <p:spPr>
          <a:xfrm>
            <a:off x="162232" y="672439"/>
            <a:ext cx="8163100" cy="584775"/>
          </a:xfrm>
          <a:prstGeom prst="rect">
            <a:avLst/>
          </a:prstGeom>
          <a:noFill/>
        </p:spPr>
        <p:txBody>
          <a:bodyPr wrap="square" rtlCol="0">
            <a:spAutoFit/>
          </a:bodyPr>
          <a:lstStyle/>
          <a:p>
            <a:r>
              <a:rPr kumimoji="1" lang="en-US" altLang="ja-JP" sz="3200" dirty="0"/>
              <a:t>&lt;</a:t>
            </a:r>
            <a:r>
              <a:rPr kumimoji="1" lang="ja-JP" altLang="en-US" sz="3200"/>
              <a:t>第</a:t>
            </a:r>
            <a:r>
              <a:rPr kumimoji="1" lang="en-US" altLang="ja-JP" sz="3200" dirty="0"/>
              <a:t>1</a:t>
            </a:r>
            <a:r>
              <a:rPr kumimoji="1" lang="ja-JP" altLang="en-US" sz="3200"/>
              <a:t>主成分</a:t>
            </a:r>
            <a:r>
              <a:rPr kumimoji="1" lang="en-US" altLang="ja-JP" sz="3200" dirty="0"/>
              <a:t>&gt;</a:t>
            </a:r>
            <a:endParaRPr kumimoji="1" lang="ja-JP" altLang="en-US" sz="320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DCE8B618-E4FC-E193-FB3B-F4F9979C08DC}"/>
                  </a:ext>
                </a:extLst>
              </p:cNvPr>
              <p:cNvSpPr txBox="1"/>
              <p:nvPr/>
            </p:nvSpPr>
            <p:spPr>
              <a:xfrm>
                <a:off x="364956" y="5857316"/>
                <a:ext cx="6518003" cy="954107"/>
              </a:xfrm>
              <a:prstGeom prst="rect">
                <a:avLst/>
              </a:prstGeom>
              <a:noFill/>
            </p:spPr>
            <p:txBody>
              <a:bodyPr wrap="none" rtlCol="0">
                <a:spAutoFit/>
              </a:bodyPr>
              <a:lstStyle/>
              <a:p>
                <a:r>
                  <a:rPr lang="ja-JP" altLang="en-US" sz="2800">
                    <a:ea typeface="Cambria Math" panose="02040503050406030204" pitchFamily="18" charset="0"/>
                  </a:rPr>
                  <a:t>・</a:t>
                </a:r>
                <a:r>
                  <a:rPr lang="en-US" altLang="ja-JP" sz="2800" dirty="0">
                    <a:ea typeface="Cambria Math" panose="02040503050406030204" pitchFamily="18" charset="0"/>
                  </a:rPr>
                  <a:t> </a:t>
                </a:r>
                <a14:m>
                  <m:oMath xmlns:m="http://schemas.openxmlformats.org/officeDocument/2006/math">
                    <m:r>
                      <m:rPr>
                        <m:sty m:val="p"/>
                      </m:rPr>
                      <a:rPr lang="en-US" altLang="ja-JP" sz="2800" i="0" dirty="0" smtClean="0">
                        <a:latin typeface="Cambria Math" panose="02040503050406030204" pitchFamily="18" charset="0"/>
                      </a:rPr>
                      <m:t>FDR</m:t>
                    </m:r>
                  </m:oMath>
                </a14:m>
                <a:r>
                  <a:rPr lang="ja-JP" altLang="en-US" sz="2800"/>
                  <a:t>制御値 </a:t>
                </a:r>
                <a14:m>
                  <m:oMath xmlns:m="http://schemas.openxmlformats.org/officeDocument/2006/math">
                    <m:r>
                      <a:rPr lang="en-US" altLang="ja-JP" sz="2800" b="0" i="1" smtClean="0">
                        <a:latin typeface="Cambria Math" panose="02040503050406030204" pitchFamily="18" charset="0"/>
                      </a:rPr>
                      <m:t>𝑞</m:t>
                    </m:r>
                    <m:r>
                      <a:rPr lang="en-US" altLang="ja-JP" sz="2800" i="1">
                        <a:latin typeface="Cambria Math" panose="02040503050406030204" pitchFamily="18" charset="0"/>
                      </a:rPr>
                      <m:t>=0.2</m:t>
                    </m:r>
                  </m:oMath>
                </a14:m>
                <a:r>
                  <a:rPr lang="en-US" altLang="ja-JP" sz="2800" dirty="0">
                    <a:ea typeface="Cambria Math" panose="02040503050406030204" pitchFamily="18" charset="0"/>
                  </a:rPr>
                  <a:t> </a:t>
                </a:r>
              </a:p>
              <a:p>
                <a:r>
                  <a:rPr lang="ja-JP" altLang="en-US" sz="2800">
                    <a:ea typeface="Cambria Math" panose="02040503050406030204" pitchFamily="18" charset="0"/>
                  </a:rPr>
                  <a:t>・</a:t>
                </a:r>
                <a:r>
                  <a:rPr lang="en-US" altLang="ja-JP" sz="2800" dirty="0">
                    <a:ea typeface="Cambria Math" panose="02040503050406030204" pitchFamily="18" charset="0"/>
                  </a:rPr>
                  <a:t> </a:t>
                </a:r>
                <a14:m>
                  <m:oMath xmlns:m="http://schemas.openxmlformats.org/officeDocument/2006/math">
                    <m:r>
                      <m:rPr>
                        <m:sty m:val="p"/>
                      </m:rPr>
                      <a:rPr lang="el-GR" altLang="ja-JP" sz="2800" i="1">
                        <a:latin typeface="Cambria Math" panose="02040503050406030204" pitchFamily="18" charset="0"/>
                        <a:ea typeface="Cambria Math" panose="02040503050406030204" pitchFamily="18" charset="0"/>
                      </a:rPr>
                      <m:t>Λ</m:t>
                    </m:r>
                    <m:r>
                      <a:rPr lang="en-US" altLang="ja-JP" sz="2800" i="1">
                        <a:latin typeface="Cambria Math" panose="02040503050406030204" pitchFamily="18" charset="0"/>
                        <a:ea typeface="Cambria Math" panose="02040503050406030204" pitchFamily="18" charset="0"/>
                      </a:rPr>
                      <m:t>=</m:t>
                    </m:r>
                    <m:r>
                      <m:rPr>
                        <m:sty m:val="p"/>
                      </m:rPr>
                      <a:rPr lang="en-US" altLang="ja-JP" sz="2800">
                        <a:latin typeface="Cambria Math" panose="02040503050406030204" pitchFamily="18" charset="0"/>
                        <a:ea typeface="Cambria Math" panose="02040503050406030204" pitchFamily="18" charset="0"/>
                      </a:rPr>
                      <m:t>diag</m:t>
                    </m:r>
                    <m:d>
                      <m:dPr>
                        <m:ctrlPr>
                          <a:rPr lang="en-US" altLang="ja-JP" sz="2800" i="1">
                            <a:latin typeface="Cambria Math" panose="02040503050406030204" pitchFamily="18" charset="0"/>
                            <a:ea typeface="Cambria Math" panose="02040503050406030204" pitchFamily="18" charset="0"/>
                          </a:rPr>
                        </m:ctrlPr>
                      </m:dPr>
                      <m:e>
                        <m:r>
                          <a:rPr lang="en-US" altLang="ja-JP" sz="2800" b="0" i="1" smtClean="0">
                            <a:latin typeface="Cambria Math" panose="02040503050406030204" pitchFamily="18" charset="0"/>
                            <a:ea typeface="Cambria Math" panose="02040503050406030204" pitchFamily="18" charset="0"/>
                          </a:rPr>
                          <m:t>𝐴</m:t>
                        </m:r>
                        <m:r>
                          <a:rPr lang="en-US" altLang="ja-JP" sz="2800" i="1">
                            <a:latin typeface="Cambria Math" panose="02040503050406030204" pitchFamily="18" charset="0"/>
                            <a:ea typeface="Cambria Math" panose="02040503050406030204" pitchFamily="18" charset="0"/>
                          </a:rPr>
                          <m:t>,5,2,1,1,1,1,1,1,1,1,1,1,1,1</m:t>
                        </m:r>
                      </m:e>
                    </m:d>
                  </m:oMath>
                </a14:m>
                <a:endParaRPr kumimoji="1" lang="ja-JP" altLang="en-US" sz="2800"/>
              </a:p>
            </p:txBody>
          </p:sp>
        </mc:Choice>
        <mc:Fallback xmlns="">
          <p:sp>
            <p:nvSpPr>
              <p:cNvPr id="8" name="テキスト ボックス 7">
                <a:extLst>
                  <a:ext uri="{FF2B5EF4-FFF2-40B4-BE49-F238E27FC236}">
                    <a16:creationId xmlns:a16="http://schemas.microsoft.com/office/drawing/2014/main" id="{DCE8B618-E4FC-E193-FB3B-F4F9979C08DC}"/>
                  </a:ext>
                </a:extLst>
              </p:cNvPr>
              <p:cNvSpPr txBox="1">
                <a:spLocks noRot="1" noChangeAspect="1" noMove="1" noResize="1" noEditPoints="1" noAdjustHandles="1" noChangeArrowheads="1" noChangeShapeType="1" noTextEdit="1"/>
              </p:cNvSpPr>
              <p:nvPr/>
            </p:nvSpPr>
            <p:spPr>
              <a:xfrm>
                <a:off x="364956" y="5857316"/>
                <a:ext cx="6518003" cy="954107"/>
              </a:xfrm>
              <a:prstGeom prst="rect">
                <a:avLst/>
              </a:prstGeom>
              <a:blipFill>
                <a:blip r:embed="rId3"/>
                <a:stretch>
                  <a:fillRect l="-1946" t="-10526" b="-1447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DE44F13A-7944-EC37-512C-CF752E1DA68F}"/>
                  </a:ext>
                </a:extLst>
              </p:cNvPr>
              <p:cNvGraphicFramePr>
                <a:graphicFrameLocks noGrp="1"/>
              </p:cNvGraphicFramePr>
              <p:nvPr>
                <p:extLst>
                  <p:ext uri="{D42A27DB-BD31-4B8C-83A1-F6EECF244321}">
                    <p14:modId xmlns:p14="http://schemas.microsoft.com/office/powerpoint/2010/main" val="2337760678"/>
                  </p:ext>
                </p:extLst>
              </p:nvPr>
            </p:nvGraphicFramePr>
            <p:xfrm>
              <a:off x="225202" y="1187073"/>
              <a:ext cx="11741596" cy="4663440"/>
            </p:xfrm>
            <a:graphic>
              <a:graphicData uri="http://schemas.openxmlformats.org/drawingml/2006/table">
                <a:tbl>
                  <a:tblPr firstRow="1" bandRow="1">
                    <a:tableStyleId>{5940675A-B579-460E-94D1-54222C63F5DA}</a:tableStyleId>
                  </a:tblPr>
                  <a:tblGrid>
                    <a:gridCol w="1563329">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85143">
                    <a:tc>
                      <a:txBody>
                        <a:bodyPr/>
                        <a:lstStyle/>
                        <a:p>
                          <a:pPr algn="ctr"/>
                          <a:endParaRPr kumimoji="1" lang="ja-JP" altLang="en-US" sz="2800"/>
                        </a:p>
                      </a:txBody>
                      <a:tcPr anchor="ctr">
                        <a:lnR w="12700" cmpd="sng">
                          <a:noFill/>
                        </a:lnR>
                      </a:tcPr>
                    </a:tc>
                    <a:tc>
                      <a:txBody>
                        <a:bodyPr/>
                        <a:lstStyle/>
                        <a:p>
                          <a:pPr algn="ctr"/>
                          <a:endParaRPr kumimoji="1" lang="ja-JP" altLang="en-US" sz="2800"/>
                        </a:p>
                      </a:txBody>
                      <a:tcPr anchor="ctr">
                        <a:lnL w="12700" cmpd="sng">
                          <a:noFill/>
                        </a:lnL>
                        <a:lnR w="12700" cmpd="sng">
                          <a:noFill/>
                        </a:lnR>
                      </a:tcPr>
                    </a:tc>
                    <a:tc>
                      <a:txBody>
                        <a:bodyPr/>
                        <a:lstStyle/>
                        <a:p>
                          <a:pPr algn="ctr"/>
                          <a:endParaRPr kumimoji="1" lang="ja-JP" altLang="en-US" sz="2800"/>
                        </a:p>
                      </a:txBody>
                      <a:tcPr anchor="ctr">
                        <a:lnL w="12700" cmpd="sng">
                          <a:noFill/>
                        </a:lnL>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=20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=50</m:t>
                                </m:r>
                              </m:oMath>
                            </m:oMathPara>
                          </a14:m>
                          <a:endParaRPr kumimoji="1" lang="ja-JP" altLang="en-US" sz="2800"/>
                        </a:p>
                      </a:txBody>
                      <a:tcPr anchor="ctr"/>
                    </a:tc>
                    <a:extLst>
                      <a:ext uri="{0D108BD9-81ED-4DB2-BD59-A6C34878D82A}">
                        <a16:rowId xmlns:a16="http://schemas.microsoft.com/office/drawing/2014/main" val="1849278843"/>
                      </a:ext>
                    </a:extLst>
                  </a:tr>
                  <a:tr h="485143">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𝑛</m:t>
                                </m:r>
                                <m:r>
                                  <a:rPr kumimoji="1" lang="en-US" altLang="ja-JP" sz="2800" b="0" i="1" smtClean="0">
                                    <a:latin typeface="Cambria Math" panose="02040503050406030204" pitchFamily="18" charset="0"/>
                                  </a:rPr>
                                  <m:t>=200</m:t>
                                </m:r>
                              </m:oMath>
                            </m:oMathPara>
                          </a14:m>
                          <a:endParaRPr kumimoji="1" lang="ja-JP" altLang="en-US" sz="2800"/>
                        </a:p>
                      </a:txBody>
                      <a:tcPr anchor="ctr">
                        <a:lnB w="12700" cap="flat" cmpd="sng" algn="ctr">
                          <a:solidFill>
                            <a:schemeClr val="tx1"/>
                          </a:solidFill>
                          <a:prstDash val="solid"/>
                          <a:round/>
                          <a:headEnd type="none" w="med" len="med"/>
                          <a:tailEnd type="none" w="med" len="med"/>
                        </a:lnB>
                      </a:tcP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0.1807 (0.06727)</m:t>
                                </m:r>
                              </m:oMath>
                            </m:oMathPara>
                          </a14:m>
                          <a:endParaRPr kumimoji="1" lang="ja-JP" altLang="en-US" sz="28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0.1735 (0.05748)</m:t>
                                </m:r>
                              </m:oMath>
                            </m:oMathPara>
                          </a14:m>
                          <a:endParaRPr kumimoji="1" lang="ja-JP" altLang="en-US" sz="2800">
                            <a:solidFill>
                              <a:srgbClr val="FF0000"/>
                            </a:solidFill>
                          </a:endParaRPr>
                        </a:p>
                      </a:txBody>
                      <a:tcPr anchor="ctr"/>
                    </a:tc>
                    <a:extLst>
                      <a:ext uri="{0D108BD9-81ED-4DB2-BD59-A6C34878D82A}">
                        <a16:rowId xmlns:a16="http://schemas.microsoft.com/office/drawing/2014/main" val="2832404967"/>
                      </a:ext>
                    </a:extLst>
                  </a:tr>
                  <a:tr h="485143">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3032401985"/>
                      </a:ext>
                    </a:extLst>
                  </a:tr>
                  <a:tr h="485143">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0.3225 (0.2084)</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0.3518 (0.1906)</m:t>
                                </m:r>
                              </m:oMath>
                            </m:oMathPara>
                          </a14:m>
                          <a:endParaRPr kumimoji="1" lang="ja-JP" altLang="en-US" sz="2800"/>
                        </a:p>
                      </a:txBody>
                      <a:tcPr anchor="ctr"/>
                    </a:tc>
                    <a:extLst>
                      <a:ext uri="{0D108BD9-81ED-4DB2-BD59-A6C34878D82A}">
                        <a16:rowId xmlns:a16="http://schemas.microsoft.com/office/drawing/2014/main" val="780486150"/>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0.984 (0.1160)</m:t>
                                </m:r>
                              </m:oMath>
                            </m:oMathPara>
                          </a14:m>
                          <a:endParaRPr kumimoji="1" lang="ja-JP" altLang="en-US" sz="280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239069"/>
                      </a:ext>
                    </a:extLst>
                  </a:tr>
                  <a:tr h="485143">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𝑛</m:t>
                                </m:r>
                                <m:r>
                                  <a:rPr kumimoji="1" lang="en-US" altLang="ja-JP" sz="2800" b="0" i="1" smtClean="0">
                                    <a:latin typeface="Cambria Math" panose="02040503050406030204" pitchFamily="18" charset="0"/>
                                  </a:rPr>
                                  <m:t>=500</m:t>
                                </m:r>
                              </m:oMath>
                            </m:oMathPara>
                          </a14:m>
                          <a:endParaRPr kumimoji="1" lang="ja-JP" altLang="en-US" sz="2800"/>
                        </a:p>
                      </a:txBody>
                      <a:tcPr anchor="ctr">
                        <a:lnT w="12700" cap="flat" cmpd="sng" algn="ctr">
                          <a:solidFill>
                            <a:schemeClr val="tx1"/>
                          </a:solidFill>
                          <a:prstDash val="solid"/>
                          <a:round/>
                          <a:headEnd type="none" w="med" len="med"/>
                          <a:tailEnd type="none" w="med" len="med"/>
                        </a:lnT>
                      </a:tcPr>
                    </a:tc>
                    <a:tc rowSpan="2">
                      <a:txBody>
                        <a:bodyPr/>
                        <a:lstStyle/>
                        <a:p>
                          <a:pPr algn="ctr"/>
                          <a:r>
                            <a:rPr kumimoji="1" lang="ja-JP" altLang="en-US" sz="2800"/>
                            <a:t>提案手法</a:t>
                          </a:r>
                        </a:p>
                      </a:txBody>
                      <a:tcPr anchor="ctr">
                        <a:lnT w="12700" cap="flat" cmpd="sng" algn="ctr">
                          <a:solidFill>
                            <a:schemeClr val="tx1"/>
                          </a:solidFill>
                          <a:prstDash val="solid"/>
                          <a:round/>
                          <a:headEnd type="none" w="med" len="med"/>
                          <a:tailEnd type="none" w="med" len="med"/>
                        </a:lnT>
                      </a:tcPr>
                    </a:tc>
                    <a:tc>
                      <a:txBody>
                        <a:bodyPr/>
                        <a:lstStyle/>
                        <a:p>
                          <a:pPr algn="ctr"/>
                          <a:r>
                            <a:rPr kumimoji="1" lang="en-US" altLang="ja-JP" sz="2800" dirty="0"/>
                            <a:t>FDR</a:t>
                          </a:r>
                          <a:endParaRPr kumimoji="1" lang="ja-JP" altLang="en-US" sz="2800"/>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0.1780 (0.06173)</m:t>
                                </m:r>
                              </m:oMath>
                            </m:oMathPara>
                          </a14:m>
                          <a:endParaRPr kumimoji="1" lang="ja-JP" altLang="en-US" sz="2800">
                            <a:solidFill>
                              <a:srgbClr val="FF0000"/>
                            </a:solidFill>
                          </a:endParaRP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0.1871 (0.06809)</m:t>
                                </m:r>
                              </m:oMath>
                            </m:oMathPara>
                          </a14:m>
                          <a:endParaRPr kumimoji="1" lang="ja-JP" altLang="en-US" sz="2800">
                            <a:solidFill>
                              <a:srgbClr val="FF0000"/>
                            </a:solidFill>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19420054"/>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1345976635"/>
                      </a:ext>
                    </a:extLst>
                  </a:tr>
                  <a:tr h="485143">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0.3198 (0.1847)</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0.2986 (0.1792)</m:t>
                                </m:r>
                              </m:oMath>
                            </m:oMathPara>
                          </a14:m>
                          <a:endParaRPr kumimoji="1" lang="ja-JP" altLang="en-US" sz="2800"/>
                        </a:p>
                      </a:txBody>
                      <a:tcPr anchor="ctr"/>
                    </a:tc>
                    <a:extLst>
                      <a:ext uri="{0D108BD9-81ED-4DB2-BD59-A6C34878D82A}">
                        <a16:rowId xmlns:a16="http://schemas.microsoft.com/office/drawing/2014/main" val="1479030581"/>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2748241918"/>
                      </a:ext>
                    </a:extLst>
                  </a:tr>
                </a:tbl>
              </a:graphicData>
            </a:graphic>
          </p:graphicFrame>
        </mc:Choice>
        <mc:Fallback xmlns="">
          <p:graphicFrame>
            <p:nvGraphicFramePr>
              <p:cNvPr id="3" name="表 2">
                <a:extLst>
                  <a:ext uri="{FF2B5EF4-FFF2-40B4-BE49-F238E27FC236}">
                    <a16:creationId xmlns:a16="http://schemas.microsoft.com/office/drawing/2014/main" id="{DE44F13A-7944-EC37-512C-CF752E1DA68F}"/>
                  </a:ext>
                </a:extLst>
              </p:cNvPr>
              <p:cNvGraphicFramePr>
                <a:graphicFrameLocks noGrp="1"/>
              </p:cNvGraphicFramePr>
              <p:nvPr>
                <p:extLst>
                  <p:ext uri="{D42A27DB-BD31-4B8C-83A1-F6EECF244321}">
                    <p14:modId xmlns:p14="http://schemas.microsoft.com/office/powerpoint/2010/main" val="2337760678"/>
                  </p:ext>
                </p:extLst>
              </p:nvPr>
            </p:nvGraphicFramePr>
            <p:xfrm>
              <a:off x="225202" y="1187073"/>
              <a:ext cx="11741596" cy="4663440"/>
            </p:xfrm>
            <a:graphic>
              <a:graphicData uri="http://schemas.openxmlformats.org/drawingml/2006/table">
                <a:tbl>
                  <a:tblPr firstRow="1" bandRow="1">
                    <a:tableStyleId>{5940675A-B579-460E-94D1-54222C63F5DA}</a:tableStyleId>
                  </a:tblPr>
                  <a:tblGrid>
                    <a:gridCol w="1563329">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518160">
                    <a:tc>
                      <a:txBody>
                        <a:bodyPr/>
                        <a:lstStyle/>
                        <a:p>
                          <a:pPr algn="ctr"/>
                          <a:endParaRPr kumimoji="1" lang="ja-JP" altLang="en-US" sz="2800"/>
                        </a:p>
                      </a:txBody>
                      <a:tcPr anchor="ctr">
                        <a:lnR w="12700" cmpd="sng">
                          <a:noFill/>
                        </a:lnR>
                      </a:tcPr>
                    </a:tc>
                    <a:tc>
                      <a:txBody>
                        <a:bodyPr/>
                        <a:lstStyle/>
                        <a:p>
                          <a:pPr algn="ctr"/>
                          <a:endParaRPr kumimoji="1" lang="ja-JP" altLang="en-US" sz="2800"/>
                        </a:p>
                      </a:txBody>
                      <a:tcPr anchor="ctr">
                        <a:lnL w="12700" cmpd="sng">
                          <a:noFill/>
                        </a:lnL>
                        <a:lnR w="12700" cmpd="sng">
                          <a:noFill/>
                        </a:lnR>
                      </a:tcPr>
                    </a:tc>
                    <a:tc>
                      <a:txBody>
                        <a:bodyPr/>
                        <a:lstStyle/>
                        <a:p>
                          <a:pPr algn="ctr"/>
                          <a:endParaRPr kumimoji="1" lang="ja-JP" altLang="en-US" sz="2800"/>
                        </a:p>
                      </a:txBody>
                      <a:tcPr anchor="ctr">
                        <a:lnL w="12700" cmpd="sng">
                          <a:noFill/>
                        </a:lnL>
                      </a:tcPr>
                    </a:tc>
                    <a:tc>
                      <a:txBody>
                        <a:bodyPr/>
                        <a:lstStyle/>
                        <a:p>
                          <a:endParaRPr lang="ja-JP"/>
                        </a:p>
                      </a:txBody>
                      <a:tcPr anchor="ctr">
                        <a:blipFill>
                          <a:blip r:embed="rId4"/>
                          <a:stretch>
                            <a:fillRect l="-171138" t="-2439" r="-106098" b="-831707"/>
                          </a:stretch>
                        </a:blipFill>
                      </a:tcPr>
                    </a:tc>
                    <a:tc>
                      <a:txBody>
                        <a:bodyPr/>
                        <a:lstStyle/>
                        <a:p>
                          <a:endParaRPr lang="ja-JP"/>
                        </a:p>
                      </a:txBody>
                      <a:tcPr anchor="ctr">
                        <a:blipFill>
                          <a:blip r:embed="rId4"/>
                          <a:stretch>
                            <a:fillRect l="-256538" t="-2439" r="-385" b="-831707"/>
                          </a:stretch>
                        </a:blipFill>
                      </a:tcPr>
                    </a:tc>
                    <a:extLst>
                      <a:ext uri="{0D108BD9-81ED-4DB2-BD59-A6C34878D82A}">
                        <a16:rowId xmlns:a16="http://schemas.microsoft.com/office/drawing/2014/main" val="1849278843"/>
                      </a:ext>
                    </a:extLst>
                  </a:tr>
                  <a:tr h="518160">
                    <a:tc rowSpan="4">
                      <a:txBody>
                        <a:bodyPr/>
                        <a:lstStyle/>
                        <a:p>
                          <a:endParaRPr lang="ja-JP"/>
                        </a:p>
                      </a:txBody>
                      <a:tcPr anchor="ctr">
                        <a:lnB w="12700" cap="flat" cmpd="sng" algn="ctr">
                          <a:solidFill>
                            <a:schemeClr val="tx1"/>
                          </a:solidFill>
                          <a:prstDash val="solid"/>
                          <a:round/>
                          <a:headEnd type="none" w="med" len="med"/>
                          <a:tailEnd type="none" w="med" len="med"/>
                        </a:lnB>
                        <a:blipFill>
                          <a:blip r:embed="rId4"/>
                          <a:stretch>
                            <a:fillRect l="-813" t="-25767" r="-653659" b="-109202"/>
                          </a:stretch>
                        </a:blipFill>
                      </a:tcP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102439" r="-106098" b="-731707"/>
                          </a:stretch>
                        </a:blipFill>
                      </a:tcPr>
                    </a:tc>
                    <a:tc>
                      <a:txBody>
                        <a:bodyPr/>
                        <a:lstStyle/>
                        <a:p>
                          <a:endParaRPr lang="ja-JP"/>
                        </a:p>
                      </a:txBody>
                      <a:tcPr anchor="ctr">
                        <a:blipFill>
                          <a:blip r:embed="rId4"/>
                          <a:stretch>
                            <a:fillRect l="-256538" t="-102439" r="-385" b="-731707"/>
                          </a:stretch>
                        </a:blipFill>
                      </a:tcPr>
                    </a:tc>
                    <a:extLst>
                      <a:ext uri="{0D108BD9-81ED-4DB2-BD59-A6C34878D82A}">
                        <a16:rowId xmlns:a16="http://schemas.microsoft.com/office/drawing/2014/main" val="2832404967"/>
                      </a:ext>
                    </a:extLst>
                  </a:tr>
                  <a:tr h="518160">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800"/>
                            <a:t>検出力</a:t>
                          </a:r>
                        </a:p>
                      </a:txBody>
                      <a:tcPr anchor="ctr"/>
                    </a:tc>
                    <a:tc>
                      <a:txBody>
                        <a:bodyPr/>
                        <a:lstStyle/>
                        <a:p>
                          <a:endParaRPr lang="ja-JP"/>
                        </a:p>
                      </a:txBody>
                      <a:tcPr anchor="ctr">
                        <a:blipFill>
                          <a:blip r:embed="rId4"/>
                          <a:stretch>
                            <a:fillRect l="-171138" t="-202439" r="-106098" b="-631707"/>
                          </a:stretch>
                        </a:blipFill>
                      </a:tcPr>
                    </a:tc>
                    <a:tc>
                      <a:txBody>
                        <a:bodyPr/>
                        <a:lstStyle/>
                        <a:p>
                          <a:endParaRPr lang="ja-JP"/>
                        </a:p>
                      </a:txBody>
                      <a:tcPr anchor="ctr">
                        <a:blipFill>
                          <a:blip r:embed="rId4"/>
                          <a:stretch>
                            <a:fillRect l="-256538" t="-202439" r="-385" b="-631707"/>
                          </a:stretch>
                        </a:blipFill>
                      </a:tcPr>
                    </a:tc>
                    <a:extLst>
                      <a:ext uri="{0D108BD9-81ED-4DB2-BD59-A6C34878D82A}">
                        <a16:rowId xmlns:a16="http://schemas.microsoft.com/office/drawing/2014/main" val="3032401985"/>
                      </a:ext>
                    </a:extLst>
                  </a:tr>
                  <a:tr h="518160">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302439" r="-106098" b="-531707"/>
                          </a:stretch>
                        </a:blipFill>
                      </a:tcPr>
                    </a:tc>
                    <a:tc>
                      <a:txBody>
                        <a:bodyPr/>
                        <a:lstStyle/>
                        <a:p>
                          <a:endParaRPr lang="ja-JP"/>
                        </a:p>
                      </a:txBody>
                      <a:tcPr anchor="ctr">
                        <a:blipFill>
                          <a:blip r:embed="rId4"/>
                          <a:stretch>
                            <a:fillRect l="-256538" t="-302439" r="-385" b="-531707"/>
                          </a:stretch>
                        </a:blipFill>
                      </a:tcPr>
                    </a:tc>
                    <a:extLst>
                      <a:ext uri="{0D108BD9-81ED-4DB2-BD59-A6C34878D82A}">
                        <a16:rowId xmlns:a16="http://schemas.microsoft.com/office/drawing/2014/main" val="780486150"/>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4"/>
                          <a:stretch>
                            <a:fillRect l="-171138" t="-412500" r="-106098" b="-445000"/>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4"/>
                          <a:stretch>
                            <a:fillRect l="-256538" t="-412500" r="-385" b="-445000"/>
                          </a:stretch>
                        </a:blipFill>
                      </a:tcPr>
                    </a:tc>
                    <a:extLst>
                      <a:ext uri="{0D108BD9-81ED-4DB2-BD59-A6C34878D82A}">
                        <a16:rowId xmlns:a16="http://schemas.microsoft.com/office/drawing/2014/main" val="3810239069"/>
                      </a:ext>
                    </a:extLst>
                  </a:tr>
                  <a:tr h="518160">
                    <a:tc rowSpan="4">
                      <a:txBody>
                        <a:bodyPr/>
                        <a:lstStyle/>
                        <a:p>
                          <a:endParaRPr lang="ja-JP"/>
                        </a:p>
                      </a:txBody>
                      <a:tcPr anchor="ctr">
                        <a:lnT w="12700" cap="flat" cmpd="sng" algn="ctr">
                          <a:solidFill>
                            <a:schemeClr val="tx1"/>
                          </a:solidFill>
                          <a:prstDash val="solid"/>
                          <a:round/>
                          <a:headEnd type="none" w="med" len="med"/>
                          <a:tailEnd type="none" w="med" len="med"/>
                        </a:lnT>
                        <a:blipFill>
                          <a:blip r:embed="rId4"/>
                          <a:stretch>
                            <a:fillRect l="-813" t="-125000" r="-653659" b="-8537"/>
                          </a:stretch>
                        </a:blipFill>
                      </a:tcPr>
                    </a:tc>
                    <a:tc rowSpan="2">
                      <a:txBody>
                        <a:bodyPr/>
                        <a:lstStyle/>
                        <a:p>
                          <a:pPr algn="ctr"/>
                          <a:r>
                            <a:rPr kumimoji="1" lang="ja-JP" altLang="en-US" sz="2800"/>
                            <a:t>提案手法</a:t>
                          </a:r>
                        </a:p>
                      </a:txBody>
                      <a:tcPr anchor="ctr">
                        <a:lnT w="12700" cap="flat" cmpd="sng" algn="ctr">
                          <a:solidFill>
                            <a:schemeClr val="tx1"/>
                          </a:solidFill>
                          <a:prstDash val="solid"/>
                          <a:round/>
                          <a:headEnd type="none" w="med" len="med"/>
                          <a:tailEnd type="none" w="med" len="med"/>
                        </a:lnT>
                      </a:tcPr>
                    </a:tc>
                    <a:tc>
                      <a:txBody>
                        <a:bodyPr/>
                        <a:lstStyle/>
                        <a:p>
                          <a:pPr algn="ctr"/>
                          <a:r>
                            <a:rPr kumimoji="1" lang="en-US" altLang="ja-JP" sz="2800" dirty="0"/>
                            <a:t>FDR</a:t>
                          </a:r>
                          <a:endParaRPr kumimoji="1" lang="ja-JP" altLang="en-US" sz="2800"/>
                        </a:p>
                      </a:txBody>
                      <a:tcPr anchor="ctr">
                        <a:lnT w="12700" cap="flat" cmpd="sng" algn="ctr">
                          <a:solidFill>
                            <a:schemeClr val="tx1"/>
                          </a:solidFill>
                          <a:prstDash val="solid"/>
                          <a:round/>
                          <a:headEnd type="none" w="med" len="med"/>
                          <a:tailEnd type="none" w="med" len="med"/>
                        </a:lnT>
                      </a:tcPr>
                    </a:tc>
                    <a:tc>
                      <a:txBody>
                        <a:bodyPr/>
                        <a:lstStyle/>
                        <a:p>
                          <a:endParaRPr lang="ja-JP"/>
                        </a:p>
                      </a:txBody>
                      <a:tcPr anchor="ctr">
                        <a:lnT w="12700" cap="flat" cmpd="sng" algn="ctr">
                          <a:solidFill>
                            <a:schemeClr val="tx1"/>
                          </a:solidFill>
                          <a:prstDash val="solid"/>
                          <a:round/>
                          <a:headEnd type="none" w="med" len="med"/>
                          <a:tailEnd type="none" w="med" len="med"/>
                        </a:lnT>
                        <a:blipFill>
                          <a:blip r:embed="rId4"/>
                          <a:stretch>
                            <a:fillRect l="-171138" t="-500000" r="-106098" b="-334146"/>
                          </a:stretch>
                        </a:blipFill>
                      </a:tcPr>
                    </a:tc>
                    <a:tc>
                      <a:txBody>
                        <a:bodyPr/>
                        <a:lstStyle/>
                        <a:p>
                          <a:endParaRPr lang="ja-JP"/>
                        </a:p>
                      </a:txBody>
                      <a:tcPr anchor="ctr">
                        <a:lnT w="12700" cap="flat" cmpd="sng" algn="ctr">
                          <a:solidFill>
                            <a:schemeClr val="tx1"/>
                          </a:solidFill>
                          <a:prstDash val="solid"/>
                          <a:round/>
                          <a:headEnd type="none" w="med" len="med"/>
                          <a:tailEnd type="none" w="med" len="med"/>
                        </a:lnT>
                        <a:blipFill>
                          <a:blip r:embed="rId4"/>
                          <a:stretch>
                            <a:fillRect l="-256538" t="-500000" r="-385" b="-334146"/>
                          </a:stretch>
                        </a:blipFill>
                      </a:tcPr>
                    </a:tc>
                    <a:extLst>
                      <a:ext uri="{0D108BD9-81ED-4DB2-BD59-A6C34878D82A}">
                        <a16:rowId xmlns:a16="http://schemas.microsoft.com/office/drawing/2014/main" val="1919420054"/>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600000" r="-106098" b="-234146"/>
                          </a:stretch>
                        </a:blipFill>
                      </a:tcPr>
                    </a:tc>
                    <a:tc>
                      <a:txBody>
                        <a:bodyPr/>
                        <a:lstStyle/>
                        <a:p>
                          <a:endParaRPr lang="ja-JP"/>
                        </a:p>
                      </a:txBody>
                      <a:tcPr anchor="ctr">
                        <a:blipFill>
                          <a:blip r:embed="rId4"/>
                          <a:stretch>
                            <a:fillRect l="-256538" t="-600000" r="-385" b="-234146"/>
                          </a:stretch>
                        </a:blipFill>
                      </a:tcPr>
                    </a:tc>
                    <a:extLst>
                      <a:ext uri="{0D108BD9-81ED-4DB2-BD59-A6C34878D82A}">
                        <a16:rowId xmlns:a16="http://schemas.microsoft.com/office/drawing/2014/main" val="1345976635"/>
                      </a:ext>
                    </a:extLst>
                  </a:tr>
                  <a:tr h="518160">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700000" r="-106098" b="-134146"/>
                          </a:stretch>
                        </a:blipFill>
                      </a:tcPr>
                    </a:tc>
                    <a:tc>
                      <a:txBody>
                        <a:bodyPr/>
                        <a:lstStyle/>
                        <a:p>
                          <a:endParaRPr lang="ja-JP"/>
                        </a:p>
                      </a:txBody>
                      <a:tcPr anchor="ctr">
                        <a:blipFill>
                          <a:blip r:embed="rId4"/>
                          <a:stretch>
                            <a:fillRect l="-256538" t="-700000" r="-385" b="-134146"/>
                          </a:stretch>
                        </a:blipFill>
                      </a:tcPr>
                    </a:tc>
                    <a:extLst>
                      <a:ext uri="{0D108BD9-81ED-4DB2-BD59-A6C34878D82A}">
                        <a16:rowId xmlns:a16="http://schemas.microsoft.com/office/drawing/2014/main" val="1479030581"/>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800000" r="-106098" b="-34146"/>
                          </a:stretch>
                        </a:blipFill>
                      </a:tcPr>
                    </a:tc>
                    <a:tc>
                      <a:txBody>
                        <a:bodyPr/>
                        <a:lstStyle/>
                        <a:p>
                          <a:endParaRPr lang="ja-JP"/>
                        </a:p>
                      </a:txBody>
                      <a:tcPr anchor="ctr">
                        <a:blipFill>
                          <a:blip r:embed="rId4"/>
                          <a:stretch>
                            <a:fillRect l="-256538" t="-800000" r="-385" b="-34146"/>
                          </a:stretch>
                        </a:blipFill>
                      </a:tcPr>
                    </a:tc>
                    <a:extLst>
                      <a:ext uri="{0D108BD9-81ED-4DB2-BD59-A6C34878D82A}">
                        <a16:rowId xmlns:a16="http://schemas.microsoft.com/office/drawing/2014/main" val="2748241918"/>
                      </a:ext>
                    </a:extLst>
                  </a:tr>
                </a:tbl>
              </a:graphicData>
            </a:graphic>
          </p:graphicFrame>
        </mc:Fallback>
      </mc:AlternateContent>
      <p:sp>
        <p:nvSpPr>
          <p:cNvPr id="4" name="テキスト ボックス 3">
            <a:extLst>
              <a:ext uri="{FF2B5EF4-FFF2-40B4-BE49-F238E27FC236}">
                <a16:creationId xmlns:a16="http://schemas.microsoft.com/office/drawing/2014/main" id="{95359022-8DF0-EAD2-64EF-922350C0CE99}"/>
              </a:ext>
            </a:extLst>
          </p:cNvPr>
          <p:cNvSpPr txBox="1"/>
          <p:nvPr/>
        </p:nvSpPr>
        <p:spPr>
          <a:xfrm>
            <a:off x="2685198" y="703216"/>
            <a:ext cx="2916183" cy="523220"/>
          </a:xfrm>
          <a:prstGeom prst="rect">
            <a:avLst/>
          </a:prstGeom>
          <a:noFill/>
        </p:spPr>
        <p:txBody>
          <a:bodyPr wrap="none" rtlCol="0">
            <a:spAutoFit/>
          </a:bodyPr>
          <a:lstStyle/>
          <a:p>
            <a:r>
              <a:rPr kumimoji="1" lang="en-US" altLang="ja-JP" sz="2800" dirty="0"/>
              <a:t>(</a:t>
            </a:r>
            <a:r>
              <a:rPr kumimoji="1" lang="ja-JP" altLang="en-US" sz="2800"/>
              <a:t>括弧は標準偏差</a:t>
            </a:r>
            <a:r>
              <a:rPr kumimoji="1" lang="en-US" altLang="ja-JP" sz="2800" dirty="0"/>
              <a:t>)</a:t>
            </a:r>
            <a:endParaRPr kumimoji="1" lang="ja-JP" altLang="en-US" sz="2800"/>
          </a:p>
        </p:txBody>
      </p:sp>
      <p:sp>
        <p:nvSpPr>
          <p:cNvPr id="2" name="テキスト ボックス 1">
            <a:extLst>
              <a:ext uri="{FF2B5EF4-FFF2-40B4-BE49-F238E27FC236}">
                <a16:creationId xmlns:a16="http://schemas.microsoft.com/office/drawing/2014/main" id="{8AF55A96-D620-9FA7-691A-A98826E25CF6}"/>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24/28</a:t>
            </a:r>
            <a:endParaRPr kumimoji="1" lang="ja-JP" altLang="en-US" sz="2800">
              <a:latin typeface="+mj-ea"/>
              <a:ea typeface="+mj-ea"/>
            </a:endParaRPr>
          </a:p>
        </p:txBody>
      </p:sp>
    </p:spTree>
    <p:extLst>
      <p:ext uri="{BB962C8B-B14F-4D97-AF65-F5344CB8AC3E}">
        <p14:creationId xmlns:p14="http://schemas.microsoft.com/office/powerpoint/2010/main" val="3160468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8764-0BFB-E888-5DD0-45CC4110695A}"/>
            </a:ext>
          </a:extLst>
        </p:cNvPr>
        <p:cNvGrpSpPr/>
        <p:nvPr/>
      </p:nvGrpSpPr>
      <p:grpSpPr>
        <a:xfrm>
          <a:off x="0" y="0"/>
          <a:ext cx="0" cy="0"/>
          <a:chOff x="0" y="0"/>
          <a:chExt cx="0" cy="0"/>
        </a:xfrm>
      </p:grpSpPr>
      <p:sp>
        <p:nvSpPr>
          <p:cNvPr id="23" name="タイトル 1">
            <a:extLst>
              <a:ext uri="{FF2B5EF4-FFF2-40B4-BE49-F238E27FC236}">
                <a16:creationId xmlns:a16="http://schemas.microsoft.com/office/drawing/2014/main" id="{DB8292E5-A351-E4ED-BF9A-2ADDB66EC1BC}"/>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実験結果</a:t>
            </a:r>
            <a:endParaRPr lang="ja-JP" altLang="en-US" b="1">
              <a:solidFill>
                <a:srgbClr val="FFC000"/>
              </a:solidFill>
              <a:latin typeface="+mj-ea"/>
            </a:endParaRPr>
          </a:p>
        </p:txBody>
      </p:sp>
      <p:sp>
        <p:nvSpPr>
          <p:cNvPr id="6" name="テキスト ボックス 5">
            <a:extLst>
              <a:ext uri="{FF2B5EF4-FFF2-40B4-BE49-F238E27FC236}">
                <a16:creationId xmlns:a16="http://schemas.microsoft.com/office/drawing/2014/main" id="{392DED50-08CB-A2F0-DFF5-BF9F70971C58}"/>
              </a:ext>
            </a:extLst>
          </p:cNvPr>
          <p:cNvSpPr txBox="1"/>
          <p:nvPr/>
        </p:nvSpPr>
        <p:spPr>
          <a:xfrm>
            <a:off x="162232" y="672439"/>
            <a:ext cx="8163100" cy="584775"/>
          </a:xfrm>
          <a:prstGeom prst="rect">
            <a:avLst/>
          </a:prstGeom>
          <a:noFill/>
        </p:spPr>
        <p:txBody>
          <a:bodyPr wrap="square" rtlCol="0">
            <a:spAutoFit/>
          </a:bodyPr>
          <a:lstStyle/>
          <a:p>
            <a:r>
              <a:rPr kumimoji="1" lang="en-US" altLang="ja-JP" sz="3200" dirty="0"/>
              <a:t>&lt;</a:t>
            </a:r>
            <a:r>
              <a:rPr kumimoji="1" lang="ja-JP" altLang="en-US" sz="3200"/>
              <a:t>第</a:t>
            </a:r>
            <a:r>
              <a:rPr kumimoji="1" lang="en-US" altLang="ja-JP" sz="3200" dirty="0"/>
              <a:t>2</a:t>
            </a:r>
            <a:r>
              <a:rPr kumimoji="1" lang="ja-JP" altLang="en-US" sz="3200"/>
              <a:t>主成分</a:t>
            </a:r>
            <a:r>
              <a:rPr kumimoji="1" lang="en-US" altLang="ja-JP" sz="3200" dirty="0"/>
              <a:t>&gt;</a:t>
            </a:r>
            <a:endParaRPr kumimoji="1" lang="ja-JP" altLang="en-US" sz="320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2DAD881D-2255-3D50-FC64-802D4E14BF6D}"/>
                  </a:ext>
                </a:extLst>
              </p:cNvPr>
              <p:cNvSpPr txBox="1"/>
              <p:nvPr/>
            </p:nvSpPr>
            <p:spPr>
              <a:xfrm>
                <a:off x="0" y="5816316"/>
                <a:ext cx="6518003" cy="954107"/>
              </a:xfrm>
              <a:prstGeom prst="rect">
                <a:avLst/>
              </a:prstGeom>
              <a:noFill/>
            </p:spPr>
            <p:txBody>
              <a:bodyPr wrap="none" rtlCol="0">
                <a:spAutoFit/>
              </a:bodyPr>
              <a:lstStyle/>
              <a:p>
                <a:r>
                  <a:rPr lang="ja-JP" altLang="en-US" sz="2800">
                    <a:ea typeface="Cambria Math" panose="02040503050406030204" pitchFamily="18" charset="0"/>
                  </a:rPr>
                  <a:t>・</a:t>
                </a:r>
                <a:r>
                  <a:rPr lang="en-US" altLang="ja-JP" sz="2800" dirty="0">
                    <a:ea typeface="Cambria Math" panose="02040503050406030204" pitchFamily="18" charset="0"/>
                  </a:rPr>
                  <a:t> </a:t>
                </a:r>
                <a14:m>
                  <m:oMath xmlns:m="http://schemas.openxmlformats.org/officeDocument/2006/math">
                    <m:r>
                      <m:rPr>
                        <m:sty m:val="p"/>
                      </m:rPr>
                      <a:rPr lang="en-US" altLang="ja-JP" sz="2800" i="0" dirty="0" smtClean="0">
                        <a:latin typeface="Cambria Math" panose="02040503050406030204" pitchFamily="18" charset="0"/>
                      </a:rPr>
                      <m:t>FDR</m:t>
                    </m:r>
                  </m:oMath>
                </a14:m>
                <a:r>
                  <a:rPr lang="ja-JP" altLang="en-US" sz="2800"/>
                  <a:t>制御値 </a:t>
                </a:r>
                <a14:m>
                  <m:oMath xmlns:m="http://schemas.openxmlformats.org/officeDocument/2006/math">
                    <m:r>
                      <a:rPr lang="en-US" altLang="ja-JP" sz="2800" b="0" i="1" smtClean="0">
                        <a:latin typeface="Cambria Math" panose="02040503050406030204" pitchFamily="18" charset="0"/>
                      </a:rPr>
                      <m:t>𝑞</m:t>
                    </m:r>
                    <m:r>
                      <a:rPr lang="en-US" altLang="ja-JP" sz="2800" i="1">
                        <a:latin typeface="Cambria Math" panose="02040503050406030204" pitchFamily="18" charset="0"/>
                      </a:rPr>
                      <m:t>=0.2</m:t>
                    </m:r>
                  </m:oMath>
                </a14:m>
                <a:r>
                  <a:rPr lang="en-US" altLang="ja-JP" sz="2800" dirty="0">
                    <a:ea typeface="Cambria Math" panose="02040503050406030204" pitchFamily="18" charset="0"/>
                  </a:rPr>
                  <a:t> </a:t>
                </a:r>
              </a:p>
              <a:p>
                <a:r>
                  <a:rPr lang="ja-JP" altLang="en-US" sz="2800">
                    <a:ea typeface="Cambria Math" panose="02040503050406030204" pitchFamily="18" charset="0"/>
                  </a:rPr>
                  <a:t>・</a:t>
                </a:r>
                <a:r>
                  <a:rPr lang="en-US" altLang="ja-JP" sz="2800" dirty="0">
                    <a:ea typeface="Cambria Math" panose="02040503050406030204" pitchFamily="18" charset="0"/>
                  </a:rPr>
                  <a:t> </a:t>
                </a:r>
                <a14:m>
                  <m:oMath xmlns:m="http://schemas.openxmlformats.org/officeDocument/2006/math">
                    <m:r>
                      <m:rPr>
                        <m:sty m:val="p"/>
                      </m:rPr>
                      <a:rPr lang="el-GR" altLang="ja-JP" sz="2800" i="1">
                        <a:latin typeface="Cambria Math" panose="02040503050406030204" pitchFamily="18" charset="0"/>
                        <a:ea typeface="Cambria Math" panose="02040503050406030204" pitchFamily="18" charset="0"/>
                      </a:rPr>
                      <m:t>Λ</m:t>
                    </m:r>
                    <m:r>
                      <a:rPr lang="en-US" altLang="ja-JP" sz="2800" i="1">
                        <a:latin typeface="Cambria Math" panose="02040503050406030204" pitchFamily="18" charset="0"/>
                        <a:ea typeface="Cambria Math" panose="02040503050406030204" pitchFamily="18" charset="0"/>
                      </a:rPr>
                      <m:t>=</m:t>
                    </m:r>
                    <m:r>
                      <m:rPr>
                        <m:sty m:val="p"/>
                      </m:rPr>
                      <a:rPr lang="en-US" altLang="ja-JP" sz="2800">
                        <a:latin typeface="Cambria Math" panose="02040503050406030204" pitchFamily="18" charset="0"/>
                        <a:ea typeface="Cambria Math" panose="02040503050406030204" pitchFamily="18" charset="0"/>
                      </a:rPr>
                      <m:t>diag</m:t>
                    </m:r>
                    <m:d>
                      <m:dPr>
                        <m:ctrlPr>
                          <a:rPr lang="en-US" altLang="ja-JP" sz="2800" i="1">
                            <a:latin typeface="Cambria Math" panose="02040503050406030204" pitchFamily="18" charset="0"/>
                            <a:ea typeface="Cambria Math" panose="02040503050406030204" pitchFamily="18" charset="0"/>
                          </a:rPr>
                        </m:ctrlPr>
                      </m:dPr>
                      <m:e>
                        <m:r>
                          <a:rPr lang="en-US" altLang="ja-JP" sz="2800" b="0" i="1" smtClean="0">
                            <a:latin typeface="Cambria Math" panose="02040503050406030204" pitchFamily="18" charset="0"/>
                            <a:ea typeface="Cambria Math" panose="02040503050406030204" pitchFamily="18" charset="0"/>
                          </a:rPr>
                          <m:t>𝐴</m:t>
                        </m:r>
                        <m:r>
                          <a:rPr lang="en-US" altLang="ja-JP" sz="2800" i="1">
                            <a:latin typeface="Cambria Math" panose="02040503050406030204" pitchFamily="18" charset="0"/>
                            <a:ea typeface="Cambria Math" panose="02040503050406030204" pitchFamily="18" charset="0"/>
                          </a:rPr>
                          <m:t>,5,2,1,1,1,1,1,1,1,1,1,1,1,1</m:t>
                        </m:r>
                      </m:e>
                    </m:d>
                  </m:oMath>
                </a14:m>
                <a:endParaRPr kumimoji="1" lang="ja-JP" altLang="en-US" sz="2800"/>
              </a:p>
            </p:txBody>
          </p:sp>
        </mc:Choice>
        <mc:Fallback xmlns="">
          <p:sp>
            <p:nvSpPr>
              <p:cNvPr id="8" name="テキスト ボックス 7">
                <a:extLst>
                  <a:ext uri="{FF2B5EF4-FFF2-40B4-BE49-F238E27FC236}">
                    <a16:creationId xmlns:a16="http://schemas.microsoft.com/office/drawing/2014/main" id="{2DAD881D-2255-3D50-FC64-802D4E14BF6D}"/>
                  </a:ext>
                </a:extLst>
              </p:cNvPr>
              <p:cNvSpPr txBox="1">
                <a:spLocks noRot="1" noChangeAspect="1" noMove="1" noResize="1" noEditPoints="1" noAdjustHandles="1" noChangeArrowheads="1" noChangeShapeType="1" noTextEdit="1"/>
              </p:cNvSpPr>
              <p:nvPr/>
            </p:nvSpPr>
            <p:spPr>
              <a:xfrm>
                <a:off x="0" y="5816316"/>
                <a:ext cx="6518003" cy="954107"/>
              </a:xfrm>
              <a:prstGeom prst="rect">
                <a:avLst/>
              </a:prstGeom>
              <a:blipFill>
                <a:blip r:embed="rId3"/>
                <a:stretch>
                  <a:fillRect l="-2140" t="-10390" b="-129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07966E4A-A67B-EF1B-491F-216693B12D09}"/>
                  </a:ext>
                </a:extLst>
              </p:cNvPr>
              <p:cNvGraphicFramePr>
                <a:graphicFrameLocks noGrp="1"/>
              </p:cNvGraphicFramePr>
              <p:nvPr>
                <p:extLst>
                  <p:ext uri="{D42A27DB-BD31-4B8C-83A1-F6EECF244321}">
                    <p14:modId xmlns:p14="http://schemas.microsoft.com/office/powerpoint/2010/main" val="3736418197"/>
                  </p:ext>
                </p:extLst>
              </p:nvPr>
            </p:nvGraphicFramePr>
            <p:xfrm>
              <a:off x="225202" y="1187073"/>
              <a:ext cx="11741596" cy="4663440"/>
            </p:xfrm>
            <a:graphic>
              <a:graphicData uri="http://schemas.openxmlformats.org/drawingml/2006/table">
                <a:tbl>
                  <a:tblPr firstRow="1" bandRow="1">
                    <a:tableStyleId>{5940675A-B579-460E-94D1-54222C63F5DA}</a:tableStyleId>
                  </a:tblPr>
                  <a:tblGrid>
                    <a:gridCol w="1563329">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69069">
                      <a:extLst>
                        <a:ext uri="{9D8B030D-6E8A-4147-A177-3AD203B41FA5}">
                          <a16:colId xmlns:a16="http://schemas.microsoft.com/office/drawing/2014/main" val="2771374145"/>
                        </a:ext>
                      </a:extLst>
                    </a:gridCol>
                    <a:gridCol w="3126658">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85143">
                    <a:tc>
                      <a:txBody>
                        <a:bodyPr/>
                        <a:lstStyle/>
                        <a:p>
                          <a:pPr algn="ctr"/>
                          <a:endParaRPr kumimoji="1" lang="ja-JP" altLang="en-US" sz="2800"/>
                        </a:p>
                      </a:txBody>
                      <a:tcPr anchor="ctr">
                        <a:lnR w="12700" cmpd="sng">
                          <a:noFill/>
                        </a:lnR>
                      </a:tcPr>
                    </a:tc>
                    <a:tc>
                      <a:txBody>
                        <a:bodyPr/>
                        <a:lstStyle/>
                        <a:p>
                          <a:pPr algn="ctr"/>
                          <a:endParaRPr kumimoji="1" lang="ja-JP" altLang="en-US" sz="2800"/>
                        </a:p>
                      </a:txBody>
                      <a:tcPr anchor="ctr">
                        <a:lnL w="12700" cmpd="sng">
                          <a:noFill/>
                        </a:lnL>
                        <a:lnR w="12700" cmpd="sng">
                          <a:noFill/>
                        </a:lnR>
                      </a:tcPr>
                    </a:tc>
                    <a:tc>
                      <a:txBody>
                        <a:bodyPr/>
                        <a:lstStyle/>
                        <a:p>
                          <a:pPr algn="ctr"/>
                          <a:endParaRPr kumimoji="1" lang="ja-JP" altLang="en-US" sz="2800"/>
                        </a:p>
                      </a:txBody>
                      <a:tcPr anchor="ctr">
                        <a:lnL w="12700" cmpd="sng">
                          <a:noFill/>
                        </a:lnL>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=20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=50</m:t>
                                </m:r>
                              </m:oMath>
                            </m:oMathPara>
                          </a14:m>
                          <a:endParaRPr kumimoji="1" lang="ja-JP" altLang="en-US" sz="2800"/>
                        </a:p>
                      </a:txBody>
                      <a:tcPr anchor="ctr"/>
                    </a:tc>
                    <a:extLst>
                      <a:ext uri="{0D108BD9-81ED-4DB2-BD59-A6C34878D82A}">
                        <a16:rowId xmlns:a16="http://schemas.microsoft.com/office/drawing/2014/main" val="1849278843"/>
                      </a:ext>
                    </a:extLst>
                  </a:tr>
                  <a:tr h="485143">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𝑛</m:t>
                                </m:r>
                                <m:r>
                                  <a:rPr kumimoji="1" lang="en-US" altLang="ja-JP" sz="2800" b="0" i="1" smtClean="0">
                                    <a:latin typeface="Cambria Math" panose="02040503050406030204" pitchFamily="18" charset="0"/>
                                  </a:rPr>
                                  <m:t>=200</m:t>
                                </m:r>
                              </m:oMath>
                            </m:oMathPara>
                          </a14:m>
                          <a:endParaRPr kumimoji="1" lang="ja-JP" altLang="en-US" sz="2800"/>
                        </a:p>
                      </a:txBody>
                      <a:tcPr anchor="ct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0.1978 (0.05684)</m:t>
                                </m:r>
                              </m:oMath>
                            </m:oMathPara>
                          </a14:m>
                          <a:endParaRPr kumimoji="1" lang="ja-JP" altLang="en-US" sz="28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0.1932 (0.06882)</m:t>
                                </m:r>
                              </m:oMath>
                            </m:oMathPara>
                          </a14:m>
                          <a:endParaRPr kumimoji="1" lang="ja-JP" altLang="en-US" sz="2800">
                            <a:solidFill>
                              <a:srgbClr val="FF0000"/>
                            </a:solidFill>
                          </a:endParaRPr>
                        </a:p>
                      </a:txBody>
                      <a:tcPr anchor="ctr"/>
                    </a:tc>
                    <a:extLst>
                      <a:ext uri="{0D108BD9-81ED-4DB2-BD59-A6C34878D82A}">
                        <a16:rowId xmlns:a16="http://schemas.microsoft.com/office/drawing/2014/main" val="2832404967"/>
                      </a:ext>
                    </a:extLst>
                  </a:tr>
                  <a:tr h="485143">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3032401985"/>
                      </a:ext>
                    </a:extLst>
                  </a:tr>
                  <a:tr h="485143">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0.4578 (0.1475)</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0.4921 (0.1194)</m:t>
                                </m:r>
                              </m:oMath>
                            </m:oMathPara>
                          </a14:m>
                          <a:endParaRPr kumimoji="1" lang="ja-JP" altLang="en-US" sz="2800"/>
                        </a:p>
                      </a:txBody>
                      <a:tcPr anchor="ctr"/>
                    </a:tc>
                    <a:extLst>
                      <a:ext uri="{0D108BD9-81ED-4DB2-BD59-A6C34878D82A}">
                        <a16:rowId xmlns:a16="http://schemas.microsoft.com/office/drawing/2014/main" val="780486150"/>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0.996 (0.02814)</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3810239069"/>
                      </a:ext>
                    </a:extLst>
                  </a:tr>
                  <a:tr h="485143">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𝑛</m:t>
                                </m:r>
                                <m:r>
                                  <a:rPr kumimoji="1" lang="en-US" altLang="ja-JP" sz="2800" b="0" i="1" smtClean="0">
                                    <a:latin typeface="Cambria Math" panose="02040503050406030204" pitchFamily="18" charset="0"/>
                                  </a:rPr>
                                  <m:t>=500</m:t>
                                </m:r>
                              </m:oMath>
                            </m:oMathPara>
                          </a14:m>
                          <a:endParaRPr kumimoji="1" lang="ja-JP" altLang="en-US" sz="2800"/>
                        </a:p>
                      </a:txBody>
                      <a:tcPr anchor="ct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solidFill>
                                      <a:srgbClr val="FF0000"/>
                                    </a:solidFill>
                                    <a:latin typeface="Cambria Math" panose="02040503050406030204" pitchFamily="18" charset="0"/>
                                  </a:rPr>
                                  <m:t>0.1982 (0.06126)</m:t>
                                </m:r>
                              </m:oMath>
                            </m:oMathPara>
                          </a14:m>
                          <a:endParaRPr kumimoji="1" lang="ja-JP" altLang="en-US" sz="28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0.2061 (0.06083)</m:t>
                                </m:r>
                              </m:oMath>
                            </m:oMathPara>
                          </a14:m>
                          <a:endParaRPr kumimoji="1" lang="ja-JP" altLang="en-US" sz="2800"/>
                        </a:p>
                      </a:txBody>
                      <a:tcPr anchor="ctr"/>
                    </a:tc>
                    <a:extLst>
                      <a:ext uri="{0D108BD9-81ED-4DB2-BD59-A6C34878D82A}">
                        <a16:rowId xmlns:a16="http://schemas.microsoft.com/office/drawing/2014/main" val="1919420054"/>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1345976635"/>
                      </a:ext>
                    </a:extLst>
                  </a:tr>
                  <a:tr h="485143">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0.5095 (0.1062)</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0.4782 (0.1138)</m:t>
                                </m:r>
                              </m:oMath>
                            </m:oMathPara>
                          </a14:m>
                          <a:endParaRPr kumimoji="1" lang="ja-JP" altLang="en-US" sz="2800"/>
                        </a:p>
                      </a:txBody>
                      <a:tcPr anchor="ctr"/>
                    </a:tc>
                    <a:extLst>
                      <a:ext uri="{0D108BD9-81ED-4DB2-BD59-A6C34878D82A}">
                        <a16:rowId xmlns:a16="http://schemas.microsoft.com/office/drawing/2014/main" val="1479030581"/>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2748241918"/>
                      </a:ext>
                    </a:extLst>
                  </a:tr>
                </a:tbl>
              </a:graphicData>
            </a:graphic>
          </p:graphicFrame>
        </mc:Choice>
        <mc:Fallback xmlns="">
          <p:graphicFrame>
            <p:nvGraphicFramePr>
              <p:cNvPr id="3" name="表 2">
                <a:extLst>
                  <a:ext uri="{FF2B5EF4-FFF2-40B4-BE49-F238E27FC236}">
                    <a16:creationId xmlns:a16="http://schemas.microsoft.com/office/drawing/2014/main" id="{07966E4A-A67B-EF1B-491F-216693B12D09}"/>
                  </a:ext>
                </a:extLst>
              </p:cNvPr>
              <p:cNvGraphicFramePr>
                <a:graphicFrameLocks noGrp="1"/>
              </p:cNvGraphicFramePr>
              <p:nvPr>
                <p:extLst>
                  <p:ext uri="{D42A27DB-BD31-4B8C-83A1-F6EECF244321}">
                    <p14:modId xmlns:p14="http://schemas.microsoft.com/office/powerpoint/2010/main" val="3736418197"/>
                  </p:ext>
                </p:extLst>
              </p:nvPr>
            </p:nvGraphicFramePr>
            <p:xfrm>
              <a:off x="225202" y="1187073"/>
              <a:ext cx="11741596" cy="4663440"/>
            </p:xfrm>
            <a:graphic>
              <a:graphicData uri="http://schemas.openxmlformats.org/drawingml/2006/table">
                <a:tbl>
                  <a:tblPr firstRow="1" bandRow="1">
                    <a:tableStyleId>{5940675A-B579-460E-94D1-54222C63F5DA}</a:tableStyleId>
                  </a:tblPr>
                  <a:tblGrid>
                    <a:gridCol w="1563329">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69069">
                      <a:extLst>
                        <a:ext uri="{9D8B030D-6E8A-4147-A177-3AD203B41FA5}">
                          <a16:colId xmlns:a16="http://schemas.microsoft.com/office/drawing/2014/main" val="2771374145"/>
                        </a:ext>
                      </a:extLst>
                    </a:gridCol>
                    <a:gridCol w="3126658">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518160">
                    <a:tc>
                      <a:txBody>
                        <a:bodyPr/>
                        <a:lstStyle/>
                        <a:p>
                          <a:pPr algn="ctr"/>
                          <a:endParaRPr kumimoji="1" lang="ja-JP" altLang="en-US" sz="2800"/>
                        </a:p>
                      </a:txBody>
                      <a:tcPr anchor="ctr">
                        <a:lnR w="12700" cmpd="sng">
                          <a:noFill/>
                        </a:lnR>
                      </a:tcPr>
                    </a:tc>
                    <a:tc>
                      <a:txBody>
                        <a:bodyPr/>
                        <a:lstStyle/>
                        <a:p>
                          <a:pPr algn="ctr"/>
                          <a:endParaRPr kumimoji="1" lang="ja-JP" altLang="en-US" sz="2800"/>
                        </a:p>
                      </a:txBody>
                      <a:tcPr anchor="ctr">
                        <a:lnL w="12700" cmpd="sng">
                          <a:noFill/>
                        </a:lnL>
                        <a:lnR w="12700" cmpd="sng">
                          <a:noFill/>
                        </a:lnR>
                      </a:tcPr>
                    </a:tc>
                    <a:tc>
                      <a:txBody>
                        <a:bodyPr/>
                        <a:lstStyle/>
                        <a:p>
                          <a:pPr algn="ctr"/>
                          <a:endParaRPr kumimoji="1" lang="ja-JP" altLang="en-US" sz="2800"/>
                        </a:p>
                      </a:txBody>
                      <a:tcPr anchor="ctr">
                        <a:lnL w="12700" cmpd="sng">
                          <a:noFill/>
                        </a:lnL>
                      </a:tcPr>
                    </a:tc>
                    <a:tc>
                      <a:txBody>
                        <a:bodyPr/>
                        <a:lstStyle/>
                        <a:p>
                          <a:endParaRPr lang="ja-JP"/>
                        </a:p>
                      </a:txBody>
                      <a:tcPr anchor="ctr">
                        <a:blipFill>
                          <a:blip r:embed="rId4"/>
                          <a:stretch>
                            <a:fillRect l="-171138" t="-2439" r="-106098" b="-831707"/>
                          </a:stretch>
                        </a:blipFill>
                      </a:tcPr>
                    </a:tc>
                    <a:tc>
                      <a:txBody>
                        <a:bodyPr/>
                        <a:lstStyle/>
                        <a:p>
                          <a:endParaRPr lang="ja-JP"/>
                        </a:p>
                      </a:txBody>
                      <a:tcPr anchor="ctr">
                        <a:blipFill>
                          <a:blip r:embed="rId4"/>
                          <a:stretch>
                            <a:fillRect l="-256538" t="-2439" r="-385" b="-831707"/>
                          </a:stretch>
                        </a:blipFill>
                      </a:tcPr>
                    </a:tc>
                    <a:extLst>
                      <a:ext uri="{0D108BD9-81ED-4DB2-BD59-A6C34878D82A}">
                        <a16:rowId xmlns:a16="http://schemas.microsoft.com/office/drawing/2014/main" val="1849278843"/>
                      </a:ext>
                    </a:extLst>
                  </a:tr>
                  <a:tr h="518160">
                    <a:tc rowSpan="4">
                      <a:txBody>
                        <a:bodyPr/>
                        <a:lstStyle/>
                        <a:p>
                          <a:endParaRPr lang="ja-JP"/>
                        </a:p>
                      </a:txBody>
                      <a:tcPr anchor="ctr">
                        <a:blipFill>
                          <a:blip r:embed="rId4"/>
                          <a:stretch>
                            <a:fillRect l="-813" t="-25767" r="-653659" b="-109202"/>
                          </a:stretch>
                        </a:blipFill>
                      </a:tcP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102439" r="-106098" b="-731707"/>
                          </a:stretch>
                        </a:blipFill>
                      </a:tcPr>
                    </a:tc>
                    <a:tc>
                      <a:txBody>
                        <a:bodyPr/>
                        <a:lstStyle/>
                        <a:p>
                          <a:endParaRPr lang="ja-JP"/>
                        </a:p>
                      </a:txBody>
                      <a:tcPr anchor="ctr">
                        <a:blipFill>
                          <a:blip r:embed="rId4"/>
                          <a:stretch>
                            <a:fillRect l="-256538" t="-102439" r="-385" b="-731707"/>
                          </a:stretch>
                        </a:blipFill>
                      </a:tcPr>
                    </a:tc>
                    <a:extLst>
                      <a:ext uri="{0D108BD9-81ED-4DB2-BD59-A6C34878D82A}">
                        <a16:rowId xmlns:a16="http://schemas.microsoft.com/office/drawing/2014/main" val="2832404967"/>
                      </a:ext>
                    </a:extLst>
                  </a:tr>
                  <a:tr h="518160">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800"/>
                            <a:t>検出力</a:t>
                          </a:r>
                        </a:p>
                      </a:txBody>
                      <a:tcPr anchor="ctr"/>
                    </a:tc>
                    <a:tc>
                      <a:txBody>
                        <a:bodyPr/>
                        <a:lstStyle/>
                        <a:p>
                          <a:endParaRPr lang="ja-JP"/>
                        </a:p>
                      </a:txBody>
                      <a:tcPr anchor="ctr">
                        <a:blipFill>
                          <a:blip r:embed="rId4"/>
                          <a:stretch>
                            <a:fillRect l="-171138" t="-202439" r="-106098" b="-631707"/>
                          </a:stretch>
                        </a:blipFill>
                      </a:tcPr>
                    </a:tc>
                    <a:tc>
                      <a:txBody>
                        <a:bodyPr/>
                        <a:lstStyle/>
                        <a:p>
                          <a:endParaRPr lang="ja-JP"/>
                        </a:p>
                      </a:txBody>
                      <a:tcPr anchor="ctr">
                        <a:blipFill>
                          <a:blip r:embed="rId4"/>
                          <a:stretch>
                            <a:fillRect l="-256538" t="-202439" r="-385" b="-631707"/>
                          </a:stretch>
                        </a:blipFill>
                      </a:tcPr>
                    </a:tc>
                    <a:extLst>
                      <a:ext uri="{0D108BD9-81ED-4DB2-BD59-A6C34878D82A}">
                        <a16:rowId xmlns:a16="http://schemas.microsoft.com/office/drawing/2014/main" val="3032401985"/>
                      </a:ext>
                    </a:extLst>
                  </a:tr>
                  <a:tr h="518160">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302439" r="-106098" b="-531707"/>
                          </a:stretch>
                        </a:blipFill>
                      </a:tcPr>
                    </a:tc>
                    <a:tc>
                      <a:txBody>
                        <a:bodyPr/>
                        <a:lstStyle/>
                        <a:p>
                          <a:endParaRPr lang="ja-JP"/>
                        </a:p>
                      </a:txBody>
                      <a:tcPr anchor="ctr">
                        <a:blipFill>
                          <a:blip r:embed="rId4"/>
                          <a:stretch>
                            <a:fillRect l="-256538" t="-302439" r="-385" b="-531707"/>
                          </a:stretch>
                        </a:blipFill>
                      </a:tcPr>
                    </a:tc>
                    <a:extLst>
                      <a:ext uri="{0D108BD9-81ED-4DB2-BD59-A6C34878D82A}">
                        <a16:rowId xmlns:a16="http://schemas.microsoft.com/office/drawing/2014/main" val="780486150"/>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412500" r="-106098" b="-445000"/>
                          </a:stretch>
                        </a:blipFill>
                      </a:tcPr>
                    </a:tc>
                    <a:tc>
                      <a:txBody>
                        <a:bodyPr/>
                        <a:lstStyle/>
                        <a:p>
                          <a:endParaRPr lang="ja-JP"/>
                        </a:p>
                      </a:txBody>
                      <a:tcPr anchor="ctr">
                        <a:blipFill>
                          <a:blip r:embed="rId4"/>
                          <a:stretch>
                            <a:fillRect l="-256538" t="-412500" r="-385" b="-445000"/>
                          </a:stretch>
                        </a:blipFill>
                      </a:tcPr>
                    </a:tc>
                    <a:extLst>
                      <a:ext uri="{0D108BD9-81ED-4DB2-BD59-A6C34878D82A}">
                        <a16:rowId xmlns:a16="http://schemas.microsoft.com/office/drawing/2014/main" val="3810239069"/>
                      </a:ext>
                    </a:extLst>
                  </a:tr>
                  <a:tr h="518160">
                    <a:tc rowSpan="4">
                      <a:txBody>
                        <a:bodyPr/>
                        <a:lstStyle/>
                        <a:p>
                          <a:endParaRPr lang="ja-JP"/>
                        </a:p>
                      </a:txBody>
                      <a:tcPr anchor="ctr">
                        <a:blipFill>
                          <a:blip r:embed="rId4"/>
                          <a:stretch>
                            <a:fillRect l="-813" t="-125000" r="-653659" b="-8537"/>
                          </a:stretch>
                        </a:blipFill>
                      </a:tcP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500000" r="-106098" b="-334146"/>
                          </a:stretch>
                        </a:blipFill>
                      </a:tcPr>
                    </a:tc>
                    <a:tc>
                      <a:txBody>
                        <a:bodyPr/>
                        <a:lstStyle/>
                        <a:p>
                          <a:endParaRPr lang="ja-JP"/>
                        </a:p>
                      </a:txBody>
                      <a:tcPr anchor="ctr">
                        <a:blipFill>
                          <a:blip r:embed="rId4"/>
                          <a:stretch>
                            <a:fillRect l="-256538" t="-500000" r="-385" b="-334146"/>
                          </a:stretch>
                        </a:blipFill>
                      </a:tcPr>
                    </a:tc>
                    <a:extLst>
                      <a:ext uri="{0D108BD9-81ED-4DB2-BD59-A6C34878D82A}">
                        <a16:rowId xmlns:a16="http://schemas.microsoft.com/office/drawing/2014/main" val="1919420054"/>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600000" r="-106098" b="-234146"/>
                          </a:stretch>
                        </a:blipFill>
                      </a:tcPr>
                    </a:tc>
                    <a:tc>
                      <a:txBody>
                        <a:bodyPr/>
                        <a:lstStyle/>
                        <a:p>
                          <a:endParaRPr lang="ja-JP"/>
                        </a:p>
                      </a:txBody>
                      <a:tcPr anchor="ctr">
                        <a:blipFill>
                          <a:blip r:embed="rId4"/>
                          <a:stretch>
                            <a:fillRect l="-256538" t="-600000" r="-385" b="-234146"/>
                          </a:stretch>
                        </a:blipFill>
                      </a:tcPr>
                    </a:tc>
                    <a:extLst>
                      <a:ext uri="{0D108BD9-81ED-4DB2-BD59-A6C34878D82A}">
                        <a16:rowId xmlns:a16="http://schemas.microsoft.com/office/drawing/2014/main" val="1345976635"/>
                      </a:ext>
                    </a:extLst>
                  </a:tr>
                  <a:tr h="518160">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700000" r="-106098" b="-134146"/>
                          </a:stretch>
                        </a:blipFill>
                      </a:tcPr>
                    </a:tc>
                    <a:tc>
                      <a:txBody>
                        <a:bodyPr/>
                        <a:lstStyle/>
                        <a:p>
                          <a:endParaRPr lang="ja-JP"/>
                        </a:p>
                      </a:txBody>
                      <a:tcPr anchor="ctr">
                        <a:blipFill>
                          <a:blip r:embed="rId4"/>
                          <a:stretch>
                            <a:fillRect l="-256538" t="-700000" r="-385" b="-134146"/>
                          </a:stretch>
                        </a:blipFill>
                      </a:tcPr>
                    </a:tc>
                    <a:extLst>
                      <a:ext uri="{0D108BD9-81ED-4DB2-BD59-A6C34878D82A}">
                        <a16:rowId xmlns:a16="http://schemas.microsoft.com/office/drawing/2014/main" val="1479030581"/>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800000" r="-106098" b="-34146"/>
                          </a:stretch>
                        </a:blipFill>
                      </a:tcPr>
                    </a:tc>
                    <a:tc>
                      <a:txBody>
                        <a:bodyPr/>
                        <a:lstStyle/>
                        <a:p>
                          <a:endParaRPr lang="ja-JP"/>
                        </a:p>
                      </a:txBody>
                      <a:tcPr anchor="ctr">
                        <a:blipFill>
                          <a:blip r:embed="rId4"/>
                          <a:stretch>
                            <a:fillRect l="-256538" t="-800000" r="-385" b="-34146"/>
                          </a:stretch>
                        </a:blipFill>
                      </a:tcPr>
                    </a:tc>
                    <a:extLst>
                      <a:ext uri="{0D108BD9-81ED-4DB2-BD59-A6C34878D82A}">
                        <a16:rowId xmlns:a16="http://schemas.microsoft.com/office/drawing/2014/main" val="2748241918"/>
                      </a:ext>
                    </a:extLst>
                  </a:tr>
                </a:tbl>
              </a:graphicData>
            </a:graphic>
          </p:graphicFrame>
        </mc:Fallback>
      </mc:AlternateContent>
      <p:sp>
        <p:nvSpPr>
          <p:cNvPr id="7" name="テキスト ボックス 6">
            <a:extLst>
              <a:ext uri="{FF2B5EF4-FFF2-40B4-BE49-F238E27FC236}">
                <a16:creationId xmlns:a16="http://schemas.microsoft.com/office/drawing/2014/main" id="{0292540C-BE1D-2B69-228A-E86ACECCE76E}"/>
              </a:ext>
            </a:extLst>
          </p:cNvPr>
          <p:cNvSpPr txBox="1"/>
          <p:nvPr/>
        </p:nvSpPr>
        <p:spPr>
          <a:xfrm>
            <a:off x="2685198" y="703216"/>
            <a:ext cx="2916183" cy="523220"/>
          </a:xfrm>
          <a:prstGeom prst="rect">
            <a:avLst/>
          </a:prstGeom>
          <a:noFill/>
        </p:spPr>
        <p:txBody>
          <a:bodyPr wrap="none" rtlCol="0">
            <a:spAutoFit/>
          </a:bodyPr>
          <a:lstStyle/>
          <a:p>
            <a:r>
              <a:rPr kumimoji="1" lang="en-US" altLang="ja-JP" sz="2800" dirty="0"/>
              <a:t>(</a:t>
            </a:r>
            <a:r>
              <a:rPr kumimoji="1" lang="ja-JP" altLang="en-US" sz="2800"/>
              <a:t>括弧は標準偏差</a:t>
            </a:r>
            <a:r>
              <a:rPr kumimoji="1" lang="en-US" altLang="ja-JP" sz="2800" dirty="0"/>
              <a:t>)</a:t>
            </a:r>
            <a:endParaRPr kumimoji="1" lang="ja-JP" altLang="en-US" sz="2800"/>
          </a:p>
        </p:txBody>
      </p:sp>
      <p:sp>
        <p:nvSpPr>
          <p:cNvPr id="2" name="テキスト ボックス 1">
            <a:extLst>
              <a:ext uri="{FF2B5EF4-FFF2-40B4-BE49-F238E27FC236}">
                <a16:creationId xmlns:a16="http://schemas.microsoft.com/office/drawing/2014/main" id="{EF913032-5788-91D6-E722-DF4092CF6B00}"/>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25/28</a:t>
            </a:r>
            <a:endParaRPr kumimoji="1" lang="ja-JP" altLang="en-US" sz="2800">
              <a:latin typeface="+mj-ea"/>
              <a:ea typeface="+mj-ea"/>
            </a:endParaRPr>
          </a:p>
        </p:txBody>
      </p:sp>
    </p:spTree>
    <p:extLst>
      <p:ext uri="{BB962C8B-B14F-4D97-AF65-F5344CB8AC3E}">
        <p14:creationId xmlns:p14="http://schemas.microsoft.com/office/powerpoint/2010/main" val="238441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BDC2A-6A39-F9AD-E568-630723FFAAA6}"/>
            </a:ext>
          </a:extLst>
        </p:cNvPr>
        <p:cNvGrpSpPr/>
        <p:nvPr/>
      </p:nvGrpSpPr>
      <p:grpSpPr>
        <a:xfrm>
          <a:off x="0" y="0"/>
          <a:ext cx="0" cy="0"/>
          <a:chOff x="0" y="0"/>
          <a:chExt cx="0" cy="0"/>
        </a:xfrm>
      </p:grpSpPr>
      <p:sp>
        <p:nvSpPr>
          <p:cNvPr id="23" name="タイトル 1">
            <a:extLst>
              <a:ext uri="{FF2B5EF4-FFF2-40B4-BE49-F238E27FC236}">
                <a16:creationId xmlns:a16="http://schemas.microsoft.com/office/drawing/2014/main" id="{627D1BEC-C439-66A5-5D37-862C6F4AEE43}"/>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実験結果</a:t>
            </a:r>
            <a:endParaRPr lang="ja-JP" altLang="en-US" b="1">
              <a:solidFill>
                <a:srgbClr val="FFC000"/>
              </a:solidFill>
              <a:latin typeface="+mj-ea"/>
            </a:endParaRPr>
          </a:p>
        </p:txBody>
      </p:sp>
      <p:sp>
        <p:nvSpPr>
          <p:cNvPr id="6" name="テキスト ボックス 5">
            <a:extLst>
              <a:ext uri="{FF2B5EF4-FFF2-40B4-BE49-F238E27FC236}">
                <a16:creationId xmlns:a16="http://schemas.microsoft.com/office/drawing/2014/main" id="{29AA242A-8092-27CB-CDAD-5397D2FF2536}"/>
              </a:ext>
            </a:extLst>
          </p:cNvPr>
          <p:cNvSpPr txBox="1"/>
          <p:nvPr/>
        </p:nvSpPr>
        <p:spPr>
          <a:xfrm>
            <a:off x="162232" y="672439"/>
            <a:ext cx="8163100" cy="584775"/>
          </a:xfrm>
          <a:prstGeom prst="rect">
            <a:avLst/>
          </a:prstGeom>
          <a:noFill/>
        </p:spPr>
        <p:txBody>
          <a:bodyPr wrap="square" rtlCol="0">
            <a:spAutoFit/>
          </a:bodyPr>
          <a:lstStyle/>
          <a:p>
            <a:r>
              <a:rPr kumimoji="1" lang="en-US" altLang="ja-JP" sz="3200" dirty="0"/>
              <a:t>&lt;</a:t>
            </a:r>
            <a:r>
              <a:rPr kumimoji="1" lang="ja-JP" altLang="en-US" sz="3200"/>
              <a:t>第</a:t>
            </a:r>
            <a:r>
              <a:rPr kumimoji="1" lang="en-US" altLang="ja-JP" sz="3200" dirty="0"/>
              <a:t>3</a:t>
            </a:r>
            <a:r>
              <a:rPr kumimoji="1" lang="ja-JP" altLang="en-US" sz="3200"/>
              <a:t>主成分</a:t>
            </a:r>
            <a:r>
              <a:rPr kumimoji="1" lang="en-US" altLang="ja-JP" sz="3200" dirty="0"/>
              <a:t>&gt;</a:t>
            </a:r>
            <a:endParaRPr kumimoji="1" lang="ja-JP" altLang="en-US" sz="320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2054F8E-2879-1CAD-F922-1CBC4B521927}"/>
                  </a:ext>
                </a:extLst>
              </p:cNvPr>
              <p:cNvSpPr txBox="1"/>
              <p:nvPr/>
            </p:nvSpPr>
            <p:spPr>
              <a:xfrm>
                <a:off x="0" y="5816316"/>
                <a:ext cx="6518003" cy="954107"/>
              </a:xfrm>
              <a:prstGeom prst="rect">
                <a:avLst/>
              </a:prstGeom>
              <a:noFill/>
            </p:spPr>
            <p:txBody>
              <a:bodyPr wrap="none" rtlCol="0">
                <a:spAutoFit/>
              </a:bodyPr>
              <a:lstStyle/>
              <a:p>
                <a:r>
                  <a:rPr lang="ja-JP" altLang="en-US" sz="2800">
                    <a:ea typeface="Cambria Math" panose="02040503050406030204" pitchFamily="18" charset="0"/>
                  </a:rPr>
                  <a:t>・</a:t>
                </a:r>
                <a:r>
                  <a:rPr lang="en-US" altLang="ja-JP" sz="2800" dirty="0">
                    <a:ea typeface="Cambria Math" panose="02040503050406030204" pitchFamily="18" charset="0"/>
                  </a:rPr>
                  <a:t> </a:t>
                </a:r>
                <a14:m>
                  <m:oMath xmlns:m="http://schemas.openxmlformats.org/officeDocument/2006/math">
                    <m:r>
                      <m:rPr>
                        <m:sty m:val="p"/>
                      </m:rPr>
                      <a:rPr lang="en-US" altLang="ja-JP" sz="2800" i="0" dirty="0" smtClean="0">
                        <a:latin typeface="Cambria Math" panose="02040503050406030204" pitchFamily="18" charset="0"/>
                      </a:rPr>
                      <m:t>FDR</m:t>
                    </m:r>
                  </m:oMath>
                </a14:m>
                <a:r>
                  <a:rPr lang="ja-JP" altLang="en-US" sz="2800"/>
                  <a:t>制御値 </a:t>
                </a:r>
                <a14:m>
                  <m:oMath xmlns:m="http://schemas.openxmlformats.org/officeDocument/2006/math">
                    <m:r>
                      <a:rPr lang="en-US" altLang="ja-JP" sz="2800" b="0" i="1" smtClean="0">
                        <a:latin typeface="Cambria Math" panose="02040503050406030204" pitchFamily="18" charset="0"/>
                      </a:rPr>
                      <m:t>𝑞</m:t>
                    </m:r>
                    <m:r>
                      <a:rPr lang="en-US" altLang="ja-JP" sz="2800" i="1">
                        <a:latin typeface="Cambria Math" panose="02040503050406030204" pitchFamily="18" charset="0"/>
                      </a:rPr>
                      <m:t>=0.2</m:t>
                    </m:r>
                  </m:oMath>
                </a14:m>
                <a:r>
                  <a:rPr lang="en-US" altLang="ja-JP" sz="2800" dirty="0">
                    <a:ea typeface="Cambria Math" panose="02040503050406030204" pitchFamily="18" charset="0"/>
                  </a:rPr>
                  <a:t> </a:t>
                </a:r>
              </a:p>
              <a:p>
                <a:r>
                  <a:rPr lang="ja-JP" altLang="en-US" sz="2800">
                    <a:ea typeface="Cambria Math" panose="02040503050406030204" pitchFamily="18" charset="0"/>
                  </a:rPr>
                  <a:t>・</a:t>
                </a:r>
                <a:r>
                  <a:rPr lang="en-US" altLang="ja-JP" sz="2800" dirty="0">
                    <a:ea typeface="Cambria Math" panose="02040503050406030204" pitchFamily="18" charset="0"/>
                  </a:rPr>
                  <a:t> </a:t>
                </a:r>
                <a14:m>
                  <m:oMath xmlns:m="http://schemas.openxmlformats.org/officeDocument/2006/math">
                    <m:r>
                      <m:rPr>
                        <m:sty m:val="p"/>
                      </m:rPr>
                      <a:rPr lang="el-GR" altLang="ja-JP" sz="2800" i="1">
                        <a:latin typeface="Cambria Math" panose="02040503050406030204" pitchFamily="18" charset="0"/>
                        <a:ea typeface="Cambria Math" panose="02040503050406030204" pitchFamily="18" charset="0"/>
                      </a:rPr>
                      <m:t>Λ</m:t>
                    </m:r>
                    <m:r>
                      <a:rPr lang="en-US" altLang="ja-JP" sz="2800" i="1">
                        <a:latin typeface="Cambria Math" panose="02040503050406030204" pitchFamily="18" charset="0"/>
                        <a:ea typeface="Cambria Math" panose="02040503050406030204" pitchFamily="18" charset="0"/>
                      </a:rPr>
                      <m:t>=</m:t>
                    </m:r>
                    <m:r>
                      <m:rPr>
                        <m:sty m:val="p"/>
                      </m:rPr>
                      <a:rPr lang="en-US" altLang="ja-JP" sz="2800">
                        <a:latin typeface="Cambria Math" panose="02040503050406030204" pitchFamily="18" charset="0"/>
                        <a:ea typeface="Cambria Math" panose="02040503050406030204" pitchFamily="18" charset="0"/>
                      </a:rPr>
                      <m:t>diag</m:t>
                    </m:r>
                    <m:d>
                      <m:dPr>
                        <m:ctrlPr>
                          <a:rPr lang="en-US" altLang="ja-JP" sz="2800" i="1">
                            <a:latin typeface="Cambria Math" panose="02040503050406030204" pitchFamily="18" charset="0"/>
                            <a:ea typeface="Cambria Math" panose="02040503050406030204" pitchFamily="18" charset="0"/>
                          </a:rPr>
                        </m:ctrlPr>
                      </m:dPr>
                      <m:e>
                        <m:r>
                          <a:rPr lang="en-US" altLang="ja-JP" sz="2800" b="0" i="1" smtClean="0">
                            <a:latin typeface="Cambria Math" panose="02040503050406030204" pitchFamily="18" charset="0"/>
                            <a:ea typeface="Cambria Math" panose="02040503050406030204" pitchFamily="18" charset="0"/>
                          </a:rPr>
                          <m:t>𝐴</m:t>
                        </m:r>
                        <m:r>
                          <a:rPr lang="en-US" altLang="ja-JP" sz="2800" i="1">
                            <a:latin typeface="Cambria Math" panose="02040503050406030204" pitchFamily="18" charset="0"/>
                            <a:ea typeface="Cambria Math" panose="02040503050406030204" pitchFamily="18" charset="0"/>
                          </a:rPr>
                          <m:t>,5,2,1,1,1,1,1,1,1,1,1,1,1,1</m:t>
                        </m:r>
                      </m:e>
                    </m:d>
                  </m:oMath>
                </a14:m>
                <a:endParaRPr kumimoji="1" lang="ja-JP" altLang="en-US" sz="2800"/>
              </a:p>
            </p:txBody>
          </p:sp>
        </mc:Choice>
        <mc:Fallback xmlns="">
          <p:sp>
            <p:nvSpPr>
              <p:cNvPr id="8" name="テキスト ボックス 7">
                <a:extLst>
                  <a:ext uri="{FF2B5EF4-FFF2-40B4-BE49-F238E27FC236}">
                    <a16:creationId xmlns:a16="http://schemas.microsoft.com/office/drawing/2014/main" id="{E2054F8E-2879-1CAD-F922-1CBC4B521927}"/>
                  </a:ext>
                </a:extLst>
              </p:cNvPr>
              <p:cNvSpPr txBox="1">
                <a:spLocks noRot="1" noChangeAspect="1" noMove="1" noResize="1" noEditPoints="1" noAdjustHandles="1" noChangeArrowheads="1" noChangeShapeType="1" noTextEdit="1"/>
              </p:cNvSpPr>
              <p:nvPr/>
            </p:nvSpPr>
            <p:spPr>
              <a:xfrm>
                <a:off x="0" y="5816316"/>
                <a:ext cx="6518003" cy="954107"/>
              </a:xfrm>
              <a:prstGeom prst="rect">
                <a:avLst/>
              </a:prstGeom>
              <a:blipFill>
                <a:blip r:embed="rId3"/>
                <a:stretch>
                  <a:fillRect l="-2140" t="-10390" b="-129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C9EA0802-31D1-0335-5B99-670BF0AABEF5}"/>
                  </a:ext>
                </a:extLst>
              </p:cNvPr>
              <p:cNvGraphicFramePr>
                <a:graphicFrameLocks noGrp="1"/>
              </p:cNvGraphicFramePr>
              <p:nvPr>
                <p:extLst>
                  <p:ext uri="{D42A27DB-BD31-4B8C-83A1-F6EECF244321}">
                    <p14:modId xmlns:p14="http://schemas.microsoft.com/office/powerpoint/2010/main" val="2989040250"/>
                  </p:ext>
                </p:extLst>
              </p:nvPr>
            </p:nvGraphicFramePr>
            <p:xfrm>
              <a:off x="225202" y="1187073"/>
              <a:ext cx="11741596" cy="4663440"/>
            </p:xfrm>
            <a:graphic>
              <a:graphicData uri="http://schemas.openxmlformats.org/drawingml/2006/table">
                <a:tbl>
                  <a:tblPr firstRow="1" bandRow="1">
                    <a:tableStyleId>{5940675A-B579-460E-94D1-54222C63F5DA}</a:tableStyleId>
                  </a:tblPr>
                  <a:tblGrid>
                    <a:gridCol w="1563329">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85143">
                    <a:tc>
                      <a:txBody>
                        <a:bodyPr/>
                        <a:lstStyle/>
                        <a:p>
                          <a:pPr algn="ctr"/>
                          <a:endParaRPr kumimoji="1" lang="ja-JP" altLang="en-US" sz="2800"/>
                        </a:p>
                      </a:txBody>
                      <a:tcPr anchor="ctr">
                        <a:lnR w="12700" cmpd="sng">
                          <a:noFill/>
                        </a:lnR>
                      </a:tcPr>
                    </a:tc>
                    <a:tc>
                      <a:txBody>
                        <a:bodyPr/>
                        <a:lstStyle/>
                        <a:p>
                          <a:pPr algn="ctr"/>
                          <a:endParaRPr kumimoji="1" lang="ja-JP" altLang="en-US" sz="2800"/>
                        </a:p>
                      </a:txBody>
                      <a:tcPr anchor="ctr">
                        <a:lnL w="12700" cmpd="sng">
                          <a:noFill/>
                        </a:lnL>
                        <a:lnR w="12700" cmpd="sng">
                          <a:noFill/>
                        </a:lnR>
                      </a:tcPr>
                    </a:tc>
                    <a:tc>
                      <a:txBody>
                        <a:bodyPr/>
                        <a:lstStyle/>
                        <a:p>
                          <a:pPr algn="ctr"/>
                          <a:endParaRPr kumimoji="1" lang="ja-JP" altLang="en-US" sz="2800"/>
                        </a:p>
                      </a:txBody>
                      <a:tcPr anchor="ctr">
                        <a:lnL w="12700" cmpd="sng">
                          <a:noFill/>
                        </a:lnL>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=20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=50</m:t>
                                </m:r>
                              </m:oMath>
                            </m:oMathPara>
                          </a14:m>
                          <a:endParaRPr kumimoji="1" lang="ja-JP" altLang="en-US" sz="2800"/>
                        </a:p>
                      </a:txBody>
                      <a:tcPr anchor="ctr"/>
                    </a:tc>
                    <a:extLst>
                      <a:ext uri="{0D108BD9-81ED-4DB2-BD59-A6C34878D82A}">
                        <a16:rowId xmlns:a16="http://schemas.microsoft.com/office/drawing/2014/main" val="1849278843"/>
                      </a:ext>
                    </a:extLst>
                  </a:tr>
                  <a:tr h="485143">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𝑛</m:t>
                                </m:r>
                                <m:r>
                                  <a:rPr kumimoji="1" lang="en-US" altLang="ja-JP" sz="2800" b="0" i="1" smtClean="0">
                                    <a:latin typeface="Cambria Math" panose="02040503050406030204" pitchFamily="18" charset="0"/>
                                  </a:rPr>
                                  <m:t>=200</m:t>
                                </m:r>
                              </m:oMath>
                            </m:oMathPara>
                          </a14:m>
                          <a:endParaRPr kumimoji="1" lang="ja-JP" altLang="en-US" sz="2800"/>
                        </a:p>
                      </a:txBody>
                      <a:tcPr anchor="ct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0.5583 (0.1170)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0.5769 (0.1036)</m:t>
                                </m:r>
                              </m:oMath>
                            </m:oMathPara>
                          </a14:m>
                          <a:endParaRPr kumimoji="1" lang="ja-JP" altLang="en-US" sz="2800"/>
                        </a:p>
                      </a:txBody>
                      <a:tcPr anchor="ctr"/>
                    </a:tc>
                    <a:extLst>
                      <a:ext uri="{0D108BD9-81ED-4DB2-BD59-A6C34878D82A}">
                        <a16:rowId xmlns:a16="http://schemas.microsoft.com/office/drawing/2014/main" val="2832404967"/>
                      </a:ext>
                    </a:extLst>
                  </a:tr>
                  <a:tr h="485143">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0.6598 (0.1583)</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0.6778 (0.1339)</m:t>
                                </m:r>
                              </m:oMath>
                            </m:oMathPara>
                          </a14:m>
                          <a:endParaRPr kumimoji="1" lang="ja-JP" altLang="en-US" sz="2800"/>
                        </a:p>
                      </a:txBody>
                      <a:tcPr anchor="ctr"/>
                    </a:tc>
                    <a:extLst>
                      <a:ext uri="{0D108BD9-81ED-4DB2-BD59-A6C34878D82A}">
                        <a16:rowId xmlns:a16="http://schemas.microsoft.com/office/drawing/2014/main" val="3032401985"/>
                      </a:ext>
                    </a:extLst>
                  </a:tr>
                  <a:tr h="485143">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0.4612 (0.1461)</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0.5392 (0.1105)</m:t>
                                </m:r>
                              </m:oMath>
                            </m:oMathPara>
                          </a14:m>
                          <a:endParaRPr kumimoji="1" lang="ja-JP" altLang="en-US" sz="2800"/>
                        </a:p>
                      </a:txBody>
                      <a:tcPr anchor="ctr"/>
                    </a:tc>
                    <a:extLst>
                      <a:ext uri="{0D108BD9-81ED-4DB2-BD59-A6C34878D82A}">
                        <a16:rowId xmlns:a16="http://schemas.microsoft.com/office/drawing/2014/main" val="780486150"/>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0.976 (0.07670)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0.9820 (0.07018)</m:t>
                                </m:r>
                              </m:oMath>
                            </m:oMathPara>
                          </a14:m>
                          <a:endParaRPr kumimoji="1" lang="ja-JP" altLang="en-US" sz="2800"/>
                        </a:p>
                      </a:txBody>
                      <a:tcPr anchor="ctr"/>
                    </a:tc>
                    <a:extLst>
                      <a:ext uri="{0D108BD9-81ED-4DB2-BD59-A6C34878D82A}">
                        <a16:rowId xmlns:a16="http://schemas.microsoft.com/office/drawing/2014/main" val="3810239069"/>
                      </a:ext>
                    </a:extLst>
                  </a:tr>
                  <a:tr h="485143">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𝑛</m:t>
                                </m:r>
                                <m:r>
                                  <a:rPr kumimoji="1" lang="en-US" altLang="ja-JP" sz="2800" b="0" i="1" smtClean="0">
                                    <a:latin typeface="Cambria Math" panose="02040503050406030204" pitchFamily="18" charset="0"/>
                                  </a:rPr>
                                  <m:t>=500</m:t>
                                </m:r>
                              </m:oMath>
                            </m:oMathPara>
                          </a14:m>
                          <a:endParaRPr kumimoji="1" lang="ja-JP" altLang="en-US" sz="2800"/>
                        </a:p>
                      </a:txBody>
                      <a:tcPr anchor="ct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0.2155 (0.1085)</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0.2074 (0.08062)</m:t>
                                </m:r>
                              </m:oMath>
                            </m:oMathPara>
                          </a14:m>
                          <a:endParaRPr kumimoji="1" lang="ja-JP" altLang="en-US" sz="2800"/>
                        </a:p>
                      </a:txBody>
                      <a:tcPr anchor="ctr"/>
                    </a:tc>
                    <a:extLst>
                      <a:ext uri="{0D108BD9-81ED-4DB2-BD59-A6C34878D82A}">
                        <a16:rowId xmlns:a16="http://schemas.microsoft.com/office/drawing/2014/main" val="1919420054"/>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0.9822 (0.05408)</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0.9902 (0.03526)</m:t>
                                </m:r>
                              </m:oMath>
                            </m:oMathPara>
                          </a14:m>
                          <a:endParaRPr kumimoji="1" lang="ja-JP" altLang="en-US" sz="2800"/>
                        </a:p>
                      </a:txBody>
                      <a:tcPr anchor="ctr"/>
                    </a:tc>
                    <a:extLst>
                      <a:ext uri="{0D108BD9-81ED-4DB2-BD59-A6C34878D82A}">
                        <a16:rowId xmlns:a16="http://schemas.microsoft.com/office/drawing/2014/main" val="1345976635"/>
                      </a:ext>
                    </a:extLst>
                  </a:tr>
                  <a:tr h="485143">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0.5709 (0.07207)</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0.5813 (0.07957)</m:t>
                                </m:r>
                              </m:oMath>
                            </m:oMathPara>
                          </a14:m>
                          <a:endParaRPr kumimoji="1" lang="ja-JP" altLang="en-US" sz="2800"/>
                        </a:p>
                      </a:txBody>
                      <a:tcPr anchor="ctr"/>
                    </a:tc>
                    <a:extLst>
                      <a:ext uri="{0D108BD9-81ED-4DB2-BD59-A6C34878D82A}">
                        <a16:rowId xmlns:a16="http://schemas.microsoft.com/office/drawing/2014/main" val="1479030581"/>
                      </a:ext>
                    </a:extLst>
                  </a:tr>
                  <a:tr h="485143">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1 (0)</m:t>
                                </m:r>
                              </m:oMath>
                            </m:oMathPara>
                          </a14:m>
                          <a:endParaRPr kumimoji="1" lang="ja-JP" altLang="en-US" sz="2800"/>
                        </a:p>
                      </a:txBody>
                      <a:tcPr anchor="ctr"/>
                    </a:tc>
                    <a:extLst>
                      <a:ext uri="{0D108BD9-81ED-4DB2-BD59-A6C34878D82A}">
                        <a16:rowId xmlns:a16="http://schemas.microsoft.com/office/drawing/2014/main" val="2748241918"/>
                      </a:ext>
                    </a:extLst>
                  </a:tr>
                </a:tbl>
              </a:graphicData>
            </a:graphic>
          </p:graphicFrame>
        </mc:Choice>
        <mc:Fallback xmlns="">
          <p:graphicFrame>
            <p:nvGraphicFramePr>
              <p:cNvPr id="3" name="表 2">
                <a:extLst>
                  <a:ext uri="{FF2B5EF4-FFF2-40B4-BE49-F238E27FC236}">
                    <a16:creationId xmlns:a16="http://schemas.microsoft.com/office/drawing/2014/main" id="{C9EA0802-31D1-0335-5B99-670BF0AABEF5}"/>
                  </a:ext>
                </a:extLst>
              </p:cNvPr>
              <p:cNvGraphicFramePr>
                <a:graphicFrameLocks noGrp="1"/>
              </p:cNvGraphicFramePr>
              <p:nvPr>
                <p:extLst>
                  <p:ext uri="{D42A27DB-BD31-4B8C-83A1-F6EECF244321}">
                    <p14:modId xmlns:p14="http://schemas.microsoft.com/office/powerpoint/2010/main" val="2989040250"/>
                  </p:ext>
                </p:extLst>
              </p:nvPr>
            </p:nvGraphicFramePr>
            <p:xfrm>
              <a:off x="225202" y="1187073"/>
              <a:ext cx="11741596" cy="4663440"/>
            </p:xfrm>
            <a:graphic>
              <a:graphicData uri="http://schemas.openxmlformats.org/drawingml/2006/table">
                <a:tbl>
                  <a:tblPr firstRow="1" bandRow="1">
                    <a:tableStyleId>{5940675A-B579-460E-94D1-54222C63F5DA}</a:tableStyleId>
                  </a:tblPr>
                  <a:tblGrid>
                    <a:gridCol w="1563329">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518160">
                    <a:tc>
                      <a:txBody>
                        <a:bodyPr/>
                        <a:lstStyle/>
                        <a:p>
                          <a:pPr algn="ctr"/>
                          <a:endParaRPr kumimoji="1" lang="ja-JP" altLang="en-US" sz="2800"/>
                        </a:p>
                      </a:txBody>
                      <a:tcPr anchor="ctr">
                        <a:lnR w="12700" cmpd="sng">
                          <a:noFill/>
                        </a:lnR>
                      </a:tcPr>
                    </a:tc>
                    <a:tc>
                      <a:txBody>
                        <a:bodyPr/>
                        <a:lstStyle/>
                        <a:p>
                          <a:pPr algn="ctr"/>
                          <a:endParaRPr kumimoji="1" lang="ja-JP" altLang="en-US" sz="2800"/>
                        </a:p>
                      </a:txBody>
                      <a:tcPr anchor="ctr">
                        <a:lnL w="12700" cmpd="sng">
                          <a:noFill/>
                        </a:lnL>
                        <a:lnR w="12700" cmpd="sng">
                          <a:noFill/>
                        </a:lnR>
                      </a:tcPr>
                    </a:tc>
                    <a:tc>
                      <a:txBody>
                        <a:bodyPr/>
                        <a:lstStyle/>
                        <a:p>
                          <a:pPr algn="ctr"/>
                          <a:endParaRPr kumimoji="1" lang="ja-JP" altLang="en-US" sz="2800"/>
                        </a:p>
                      </a:txBody>
                      <a:tcPr anchor="ctr">
                        <a:lnL w="12700" cmpd="sng">
                          <a:noFill/>
                        </a:lnL>
                      </a:tcPr>
                    </a:tc>
                    <a:tc>
                      <a:txBody>
                        <a:bodyPr/>
                        <a:lstStyle/>
                        <a:p>
                          <a:endParaRPr lang="ja-JP"/>
                        </a:p>
                      </a:txBody>
                      <a:tcPr anchor="ctr">
                        <a:blipFill>
                          <a:blip r:embed="rId4"/>
                          <a:stretch>
                            <a:fillRect l="-171138" t="-2439" r="-106098" b="-831707"/>
                          </a:stretch>
                        </a:blipFill>
                      </a:tcPr>
                    </a:tc>
                    <a:tc>
                      <a:txBody>
                        <a:bodyPr/>
                        <a:lstStyle/>
                        <a:p>
                          <a:endParaRPr lang="ja-JP"/>
                        </a:p>
                      </a:txBody>
                      <a:tcPr anchor="ctr">
                        <a:blipFill>
                          <a:blip r:embed="rId4"/>
                          <a:stretch>
                            <a:fillRect l="-256538" t="-2439" r="-385" b="-831707"/>
                          </a:stretch>
                        </a:blipFill>
                      </a:tcPr>
                    </a:tc>
                    <a:extLst>
                      <a:ext uri="{0D108BD9-81ED-4DB2-BD59-A6C34878D82A}">
                        <a16:rowId xmlns:a16="http://schemas.microsoft.com/office/drawing/2014/main" val="1849278843"/>
                      </a:ext>
                    </a:extLst>
                  </a:tr>
                  <a:tr h="518160">
                    <a:tc rowSpan="4">
                      <a:txBody>
                        <a:bodyPr/>
                        <a:lstStyle/>
                        <a:p>
                          <a:endParaRPr lang="ja-JP"/>
                        </a:p>
                      </a:txBody>
                      <a:tcPr anchor="ctr">
                        <a:blipFill>
                          <a:blip r:embed="rId4"/>
                          <a:stretch>
                            <a:fillRect l="-813" t="-25767" r="-653659" b="-109202"/>
                          </a:stretch>
                        </a:blipFill>
                      </a:tcP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102439" r="-106098" b="-731707"/>
                          </a:stretch>
                        </a:blipFill>
                      </a:tcPr>
                    </a:tc>
                    <a:tc>
                      <a:txBody>
                        <a:bodyPr/>
                        <a:lstStyle/>
                        <a:p>
                          <a:endParaRPr lang="ja-JP"/>
                        </a:p>
                      </a:txBody>
                      <a:tcPr anchor="ctr">
                        <a:blipFill>
                          <a:blip r:embed="rId4"/>
                          <a:stretch>
                            <a:fillRect l="-256538" t="-102439" r="-385" b="-731707"/>
                          </a:stretch>
                        </a:blipFill>
                      </a:tcPr>
                    </a:tc>
                    <a:extLst>
                      <a:ext uri="{0D108BD9-81ED-4DB2-BD59-A6C34878D82A}">
                        <a16:rowId xmlns:a16="http://schemas.microsoft.com/office/drawing/2014/main" val="2832404967"/>
                      </a:ext>
                    </a:extLst>
                  </a:tr>
                  <a:tr h="518160">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800"/>
                            <a:t>検出力</a:t>
                          </a:r>
                        </a:p>
                      </a:txBody>
                      <a:tcPr anchor="ctr"/>
                    </a:tc>
                    <a:tc>
                      <a:txBody>
                        <a:bodyPr/>
                        <a:lstStyle/>
                        <a:p>
                          <a:endParaRPr lang="ja-JP"/>
                        </a:p>
                      </a:txBody>
                      <a:tcPr anchor="ctr">
                        <a:blipFill>
                          <a:blip r:embed="rId4"/>
                          <a:stretch>
                            <a:fillRect l="-171138" t="-202439" r="-106098" b="-631707"/>
                          </a:stretch>
                        </a:blipFill>
                      </a:tcPr>
                    </a:tc>
                    <a:tc>
                      <a:txBody>
                        <a:bodyPr/>
                        <a:lstStyle/>
                        <a:p>
                          <a:endParaRPr lang="ja-JP"/>
                        </a:p>
                      </a:txBody>
                      <a:tcPr anchor="ctr">
                        <a:blipFill>
                          <a:blip r:embed="rId4"/>
                          <a:stretch>
                            <a:fillRect l="-256538" t="-202439" r="-385" b="-631707"/>
                          </a:stretch>
                        </a:blipFill>
                      </a:tcPr>
                    </a:tc>
                    <a:extLst>
                      <a:ext uri="{0D108BD9-81ED-4DB2-BD59-A6C34878D82A}">
                        <a16:rowId xmlns:a16="http://schemas.microsoft.com/office/drawing/2014/main" val="3032401985"/>
                      </a:ext>
                    </a:extLst>
                  </a:tr>
                  <a:tr h="518160">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302439" r="-106098" b="-531707"/>
                          </a:stretch>
                        </a:blipFill>
                      </a:tcPr>
                    </a:tc>
                    <a:tc>
                      <a:txBody>
                        <a:bodyPr/>
                        <a:lstStyle/>
                        <a:p>
                          <a:endParaRPr lang="ja-JP"/>
                        </a:p>
                      </a:txBody>
                      <a:tcPr anchor="ctr">
                        <a:blipFill>
                          <a:blip r:embed="rId4"/>
                          <a:stretch>
                            <a:fillRect l="-256538" t="-302439" r="-385" b="-531707"/>
                          </a:stretch>
                        </a:blipFill>
                      </a:tcPr>
                    </a:tc>
                    <a:extLst>
                      <a:ext uri="{0D108BD9-81ED-4DB2-BD59-A6C34878D82A}">
                        <a16:rowId xmlns:a16="http://schemas.microsoft.com/office/drawing/2014/main" val="780486150"/>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412500" r="-106098" b="-445000"/>
                          </a:stretch>
                        </a:blipFill>
                      </a:tcPr>
                    </a:tc>
                    <a:tc>
                      <a:txBody>
                        <a:bodyPr/>
                        <a:lstStyle/>
                        <a:p>
                          <a:endParaRPr lang="ja-JP"/>
                        </a:p>
                      </a:txBody>
                      <a:tcPr anchor="ctr">
                        <a:blipFill>
                          <a:blip r:embed="rId4"/>
                          <a:stretch>
                            <a:fillRect l="-256538" t="-412500" r="-385" b="-445000"/>
                          </a:stretch>
                        </a:blipFill>
                      </a:tcPr>
                    </a:tc>
                    <a:extLst>
                      <a:ext uri="{0D108BD9-81ED-4DB2-BD59-A6C34878D82A}">
                        <a16:rowId xmlns:a16="http://schemas.microsoft.com/office/drawing/2014/main" val="3810239069"/>
                      </a:ext>
                    </a:extLst>
                  </a:tr>
                  <a:tr h="518160">
                    <a:tc rowSpan="4">
                      <a:txBody>
                        <a:bodyPr/>
                        <a:lstStyle/>
                        <a:p>
                          <a:endParaRPr lang="ja-JP"/>
                        </a:p>
                      </a:txBody>
                      <a:tcPr anchor="ctr">
                        <a:blipFill>
                          <a:blip r:embed="rId4"/>
                          <a:stretch>
                            <a:fillRect l="-813" t="-125000" r="-653659" b="-8537"/>
                          </a:stretch>
                        </a:blipFill>
                      </a:tcPr>
                    </a:tc>
                    <a:tc rowSpan="2">
                      <a:txBody>
                        <a:bodyPr/>
                        <a:lstStyle/>
                        <a:p>
                          <a:pPr algn="ctr"/>
                          <a:r>
                            <a:rPr kumimoji="1" lang="ja-JP" altLang="en-US" sz="2800"/>
                            <a:t>提案手法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500000" r="-106098" b="-334146"/>
                          </a:stretch>
                        </a:blipFill>
                      </a:tcPr>
                    </a:tc>
                    <a:tc>
                      <a:txBody>
                        <a:bodyPr/>
                        <a:lstStyle/>
                        <a:p>
                          <a:endParaRPr lang="ja-JP"/>
                        </a:p>
                      </a:txBody>
                      <a:tcPr anchor="ctr">
                        <a:blipFill>
                          <a:blip r:embed="rId4"/>
                          <a:stretch>
                            <a:fillRect l="-256538" t="-500000" r="-385" b="-334146"/>
                          </a:stretch>
                        </a:blipFill>
                      </a:tcPr>
                    </a:tc>
                    <a:extLst>
                      <a:ext uri="{0D108BD9-81ED-4DB2-BD59-A6C34878D82A}">
                        <a16:rowId xmlns:a16="http://schemas.microsoft.com/office/drawing/2014/main" val="1919420054"/>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600000" r="-106098" b="-234146"/>
                          </a:stretch>
                        </a:blipFill>
                      </a:tcPr>
                    </a:tc>
                    <a:tc>
                      <a:txBody>
                        <a:bodyPr/>
                        <a:lstStyle/>
                        <a:p>
                          <a:endParaRPr lang="ja-JP"/>
                        </a:p>
                      </a:txBody>
                      <a:tcPr anchor="ctr">
                        <a:blipFill>
                          <a:blip r:embed="rId4"/>
                          <a:stretch>
                            <a:fillRect l="-256538" t="-600000" r="-385" b="-234146"/>
                          </a:stretch>
                        </a:blipFill>
                      </a:tcPr>
                    </a:tc>
                    <a:extLst>
                      <a:ext uri="{0D108BD9-81ED-4DB2-BD59-A6C34878D82A}">
                        <a16:rowId xmlns:a16="http://schemas.microsoft.com/office/drawing/2014/main" val="1345976635"/>
                      </a:ext>
                    </a:extLst>
                  </a:tr>
                  <a:tr h="518160">
                    <a:tc vMerge="1">
                      <a:txBody>
                        <a:bodyPr/>
                        <a:lstStyle/>
                        <a:p>
                          <a:endParaRPr kumimoji="1" lang="ja-JP" altLang="en-US"/>
                        </a:p>
                      </a:txBody>
                      <a:tcPr/>
                    </a:tc>
                    <a:tc rowSpan="2">
                      <a:txBody>
                        <a:bodyPr/>
                        <a:lstStyle/>
                        <a:p>
                          <a:pPr algn="ctr"/>
                          <a:r>
                            <a:rPr kumimoji="1" lang="en-US" altLang="ja-JP" sz="2800" dirty="0"/>
                            <a:t>BH</a:t>
                          </a:r>
                          <a:r>
                            <a:rPr kumimoji="1" lang="ja-JP" altLang="en-US" sz="2800"/>
                            <a:t>法</a:t>
                          </a:r>
                        </a:p>
                      </a:txBody>
                      <a:tcPr anchor="ctr"/>
                    </a:tc>
                    <a:tc>
                      <a:txBody>
                        <a:bodyPr/>
                        <a:lstStyle/>
                        <a:p>
                          <a:pPr algn="ctr"/>
                          <a:r>
                            <a:rPr kumimoji="1" lang="en-US" altLang="ja-JP" sz="2800" dirty="0"/>
                            <a:t>FDR</a:t>
                          </a:r>
                          <a:endParaRPr kumimoji="1" lang="ja-JP" altLang="en-US" sz="2800"/>
                        </a:p>
                      </a:txBody>
                      <a:tcPr anchor="ctr"/>
                    </a:tc>
                    <a:tc>
                      <a:txBody>
                        <a:bodyPr/>
                        <a:lstStyle/>
                        <a:p>
                          <a:endParaRPr lang="ja-JP"/>
                        </a:p>
                      </a:txBody>
                      <a:tcPr anchor="ctr">
                        <a:blipFill>
                          <a:blip r:embed="rId4"/>
                          <a:stretch>
                            <a:fillRect l="-171138" t="-700000" r="-106098" b="-134146"/>
                          </a:stretch>
                        </a:blipFill>
                      </a:tcPr>
                    </a:tc>
                    <a:tc>
                      <a:txBody>
                        <a:bodyPr/>
                        <a:lstStyle/>
                        <a:p>
                          <a:endParaRPr lang="ja-JP"/>
                        </a:p>
                      </a:txBody>
                      <a:tcPr anchor="ctr">
                        <a:blipFill>
                          <a:blip r:embed="rId4"/>
                          <a:stretch>
                            <a:fillRect l="-256538" t="-700000" r="-385" b="-134146"/>
                          </a:stretch>
                        </a:blipFill>
                      </a:tcPr>
                    </a:tc>
                    <a:extLst>
                      <a:ext uri="{0D108BD9-81ED-4DB2-BD59-A6C34878D82A}">
                        <a16:rowId xmlns:a16="http://schemas.microsoft.com/office/drawing/2014/main" val="1479030581"/>
                      </a:ext>
                    </a:extLst>
                  </a:tr>
                  <a:tr h="51816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検出力</a:t>
                          </a:r>
                        </a:p>
                      </a:txBody>
                      <a:tcPr anchor="ctr"/>
                    </a:tc>
                    <a:tc>
                      <a:txBody>
                        <a:bodyPr/>
                        <a:lstStyle/>
                        <a:p>
                          <a:endParaRPr lang="ja-JP"/>
                        </a:p>
                      </a:txBody>
                      <a:tcPr anchor="ctr">
                        <a:blipFill>
                          <a:blip r:embed="rId4"/>
                          <a:stretch>
                            <a:fillRect l="-171138" t="-800000" r="-106098" b="-34146"/>
                          </a:stretch>
                        </a:blipFill>
                      </a:tcPr>
                    </a:tc>
                    <a:tc>
                      <a:txBody>
                        <a:bodyPr/>
                        <a:lstStyle/>
                        <a:p>
                          <a:endParaRPr lang="ja-JP"/>
                        </a:p>
                      </a:txBody>
                      <a:tcPr anchor="ctr">
                        <a:blipFill>
                          <a:blip r:embed="rId4"/>
                          <a:stretch>
                            <a:fillRect l="-256538" t="-800000" r="-385" b="-34146"/>
                          </a:stretch>
                        </a:blipFill>
                      </a:tcPr>
                    </a:tc>
                    <a:extLst>
                      <a:ext uri="{0D108BD9-81ED-4DB2-BD59-A6C34878D82A}">
                        <a16:rowId xmlns:a16="http://schemas.microsoft.com/office/drawing/2014/main" val="2748241918"/>
                      </a:ext>
                    </a:extLst>
                  </a:tr>
                </a:tbl>
              </a:graphicData>
            </a:graphic>
          </p:graphicFrame>
        </mc:Fallback>
      </mc:AlternateContent>
      <p:sp>
        <p:nvSpPr>
          <p:cNvPr id="2" name="テキスト ボックス 1">
            <a:extLst>
              <a:ext uri="{FF2B5EF4-FFF2-40B4-BE49-F238E27FC236}">
                <a16:creationId xmlns:a16="http://schemas.microsoft.com/office/drawing/2014/main" id="{22879035-FE3F-2420-3C93-E16EA82EB105}"/>
              </a:ext>
            </a:extLst>
          </p:cNvPr>
          <p:cNvSpPr txBox="1"/>
          <p:nvPr/>
        </p:nvSpPr>
        <p:spPr>
          <a:xfrm>
            <a:off x="2685198" y="703216"/>
            <a:ext cx="2916183" cy="523220"/>
          </a:xfrm>
          <a:prstGeom prst="rect">
            <a:avLst/>
          </a:prstGeom>
          <a:noFill/>
        </p:spPr>
        <p:txBody>
          <a:bodyPr wrap="none" rtlCol="0">
            <a:spAutoFit/>
          </a:bodyPr>
          <a:lstStyle/>
          <a:p>
            <a:r>
              <a:rPr kumimoji="1" lang="en-US" altLang="ja-JP" sz="2800" dirty="0"/>
              <a:t>(</a:t>
            </a:r>
            <a:r>
              <a:rPr kumimoji="1" lang="ja-JP" altLang="en-US" sz="2800"/>
              <a:t>括弧は標準偏差</a:t>
            </a:r>
            <a:r>
              <a:rPr kumimoji="1" lang="en-US" altLang="ja-JP" sz="2800" dirty="0"/>
              <a:t>)</a:t>
            </a:r>
            <a:endParaRPr kumimoji="1" lang="ja-JP" altLang="en-US" sz="2800"/>
          </a:p>
        </p:txBody>
      </p:sp>
      <p:sp>
        <p:nvSpPr>
          <p:cNvPr id="4" name="テキスト ボックス 3">
            <a:extLst>
              <a:ext uri="{FF2B5EF4-FFF2-40B4-BE49-F238E27FC236}">
                <a16:creationId xmlns:a16="http://schemas.microsoft.com/office/drawing/2014/main" id="{A7BC484D-31AF-0C72-5B48-114355DC5B9E}"/>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26/28</a:t>
            </a:r>
            <a:endParaRPr kumimoji="1" lang="ja-JP" altLang="en-US" sz="2800">
              <a:latin typeface="+mj-ea"/>
              <a:ea typeface="+mj-ea"/>
            </a:endParaRPr>
          </a:p>
        </p:txBody>
      </p:sp>
    </p:spTree>
    <p:extLst>
      <p:ext uri="{BB962C8B-B14F-4D97-AF65-F5344CB8AC3E}">
        <p14:creationId xmlns:p14="http://schemas.microsoft.com/office/powerpoint/2010/main" val="4245344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7476C86-A3B3-0543-9419-A0051C593EC5}"/>
              </a:ext>
            </a:extLst>
          </p:cNvPr>
          <p:cNvSpPr>
            <a:spLocks noGrp="1"/>
          </p:cNvSpPr>
          <p:nvPr>
            <p:ph idx="1"/>
          </p:nvPr>
        </p:nvSpPr>
        <p:spPr>
          <a:xfrm>
            <a:off x="346363" y="767845"/>
            <a:ext cx="11742718" cy="5728905"/>
          </a:xfrm>
        </p:spPr>
        <p:txBody>
          <a:bodyPr>
            <a:noAutofit/>
          </a:bodyPr>
          <a:lstStyle/>
          <a:p>
            <a:pPr marL="0" indent="0">
              <a:buNone/>
            </a:pPr>
            <a:r>
              <a:rPr kumimoji="1" lang="ja-JP" altLang="en-US" sz="3200">
                <a:latin typeface="+mn-ea"/>
              </a:rPr>
              <a:t>まとめ</a:t>
            </a:r>
            <a:endParaRPr kumimoji="1" lang="en-US" altLang="ja-JP" sz="3200" dirty="0">
              <a:latin typeface="+mn-ea"/>
            </a:endParaRPr>
          </a:p>
          <a:p>
            <a:r>
              <a:rPr lang="en-US" altLang="ja-JP" sz="3200" dirty="0">
                <a:effectLst/>
                <a:latin typeface="+mn-ea"/>
              </a:rPr>
              <a:t>Knockoff </a:t>
            </a:r>
            <a:r>
              <a:rPr lang="ja-JP" altLang="en-US" sz="3200">
                <a:effectLst/>
                <a:latin typeface="+mn-ea"/>
              </a:rPr>
              <a:t>法をスパース主成分分析に拡張し，スパース主成分分析に含まれる調整パラメータの選択方法を提案した</a:t>
            </a:r>
            <a:endParaRPr lang="en-US" altLang="ja-JP" sz="3200" dirty="0">
              <a:effectLst/>
              <a:latin typeface="+mn-ea"/>
            </a:endParaRPr>
          </a:p>
          <a:p>
            <a:r>
              <a:rPr lang="ja-JP" altLang="en-US" sz="3200">
                <a:latin typeface="+mn-ea"/>
              </a:rPr>
              <a:t>実験結果では固有値の値が大きいことや他の主成分の固有値との差が大きい場合に</a:t>
            </a:r>
            <a:r>
              <a:rPr lang="en-US" altLang="ja-JP" sz="3200" dirty="0">
                <a:latin typeface="+mn-ea"/>
              </a:rPr>
              <a:t>FDR</a:t>
            </a:r>
            <a:r>
              <a:rPr lang="ja-JP" altLang="en-US" sz="3200">
                <a:latin typeface="+mn-ea"/>
              </a:rPr>
              <a:t>を制御することができた</a:t>
            </a:r>
            <a:endParaRPr lang="en-US" altLang="ja-JP" sz="3200" dirty="0">
              <a:latin typeface="+mn-ea"/>
            </a:endParaRPr>
          </a:p>
          <a:p>
            <a:pPr marL="0" indent="0">
              <a:buNone/>
            </a:pPr>
            <a:endParaRPr lang="en-US" altLang="ja-JP" sz="3200" dirty="0">
              <a:latin typeface="+mn-ea"/>
            </a:endParaRPr>
          </a:p>
          <a:p>
            <a:pPr marL="0" indent="0">
              <a:buNone/>
            </a:pPr>
            <a:r>
              <a:rPr kumimoji="1" lang="ja-JP" altLang="en-US" sz="3200">
                <a:latin typeface="+mn-ea"/>
              </a:rPr>
              <a:t>今後の課題</a:t>
            </a:r>
            <a:endParaRPr kumimoji="1" lang="en-US" altLang="ja-JP" sz="3200" dirty="0">
              <a:latin typeface="+mn-ea"/>
            </a:endParaRPr>
          </a:p>
          <a:p>
            <a:pPr marL="0" indent="0">
              <a:buNone/>
            </a:pPr>
            <a:r>
              <a:rPr lang="ja-JP" altLang="en-US" sz="3200">
                <a:latin typeface="+mn-ea"/>
              </a:rPr>
              <a:t>・サンプルサイズの値，固有値の値の変更</a:t>
            </a:r>
            <a:endParaRPr kumimoji="1" lang="en-US" altLang="ja-JP" sz="3200" dirty="0">
              <a:latin typeface="+mn-ea"/>
            </a:endParaRPr>
          </a:p>
          <a:p>
            <a:pPr marL="0" indent="0">
              <a:buNone/>
            </a:pPr>
            <a:r>
              <a:rPr lang="ja-JP" altLang="en-US" sz="3200">
                <a:latin typeface="+mn-ea"/>
              </a:rPr>
              <a:t>・他手法との比較</a:t>
            </a:r>
            <a:endParaRPr kumimoji="1" lang="en-US" altLang="ja-JP" sz="3200" dirty="0">
              <a:latin typeface="+mn-ea"/>
            </a:endParaRPr>
          </a:p>
        </p:txBody>
      </p:sp>
      <p:sp>
        <p:nvSpPr>
          <p:cNvPr id="6" name="タイトル 1">
            <a:extLst>
              <a:ext uri="{FF2B5EF4-FFF2-40B4-BE49-F238E27FC236}">
                <a16:creationId xmlns:a16="http://schemas.microsoft.com/office/drawing/2014/main" id="{8835B57C-F58B-114F-B485-C3788384533C}"/>
              </a:ext>
            </a:extLst>
          </p:cNvPr>
          <p:cNvSpPr txBox="1">
            <a:spLocks/>
          </p:cNvSpPr>
          <p:nvPr/>
        </p:nvSpPr>
        <p:spPr>
          <a:xfrm>
            <a:off x="0" y="1335"/>
            <a:ext cx="10016696"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まとめと今後の課題</a:t>
            </a:r>
            <a:endParaRPr lang="ja-JP" altLang="en-US" b="1">
              <a:solidFill>
                <a:srgbClr val="FFC000"/>
              </a:solidFill>
              <a:latin typeface="+mj-ea"/>
            </a:endParaRPr>
          </a:p>
        </p:txBody>
      </p:sp>
      <p:sp>
        <p:nvSpPr>
          <p:cNvPr id="2" name="テキスト ボックス 1">
            <a:extLst>
              <a:ext uri="{FF2B5EF4-FFF2-40B4-BE49-F238E27FC236}">
                <a16:creationId xmlns:a16="http://schemas.microsoft.com/office/drawing/2014/main" id="{3A319C84-5F22-FD47-8058-A44DBB90C9A0}"/>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27/28</a:t>
            </a:r>
            <a:endParaRPr kumimoji="1" lang="ja-JP" altLang="en-US" sz="2800">
              <a:latin typeface="+mj-ea"/>
              <a:ea typeface="+mj-ea"/>
            </a:endParaRPr>
          </a:p>
        </p:txBody>
      </p:sp>
    </p:spTree>
    <p:extLst>
      <p:ext uri="{BB962C8B-B14F-4D97-AF65-F5344CB8AC3E}">
        <p14:creationId xmlns:p14="http://schemas.microsoft.com/office/powerpoint/2010/main" val="1307682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7DBE9FE-0391-AB4E-AEF5-40FE6772893A}"/>
              </a:ext>
            </a:extLst>
          </p:cNvPr>
          <p:cNvSpPr>
            <a:spLocks noGrp="1"/>
          </p:cNvSpPr>
          <p:nvPr>
            <p:ph idx="1"/>
          </p:nvPr>
        </p:nvSpPr>
        <p:spPr>
          <a:xfrm>
            <a:off x="0" y="883404"/>
            <a:ext cx="12192000" cy="6007202"/>
          </a:xfrm>
        </p:spPr>
        <p:txBody>
          <a:bodyPr>
            <a:noAutofit/>
          </a:bodyPr>
          <a:lstStyle/>
          <a:p>
            <a:pPr marL="0" indent="0">
              <a:buNone/>
            </a:pPr>
            <a:r>
              <a:rPr lang="ja-JP" altLang="en-US" sz="1600">
                <a:latin typeface="+mn-ea"/>
              </a:rPr>
              <a:t>・</a:t>
            </a:r>
            <a:r>
              <a:rPr lang="en-US" altLang="ja-JP" sz="1600" dirty="0">
                <a:effectLst/>
                <a:latin typeface="+mn-ea"/>
              </a:rPr>
              <a:t>Barber, R., and </a:t>
            </a:r>
            <a:r>
              <a:rPr lang="en-US" altLang="ja-JP" sz="1600" dirty="0" err="1">
                <a:effectLst/>
                <a:latin typeface="+mn-ea"/>
              </a:rPr>
              <a:t>Candes</a:t>
            </a:r>
            <a:r>
              <a:rPr lang="en-US" altLang="ja-JP" sz="1600" dirty="0">
                <a:effectLst/>
                <a:latin typeface="+mn-ea"/>
              </a:rPr>
              <a:t>, E. (2015). Controlling the false discovery rate via Knockoffs. The Annals of Statistics, 43(5), 2055–</a:t>
            </a:r>
            <a:r>
              <a:rPr lang="ja-JP" altLang="en-US" sz="1600">
                <a:effectLst/>
                <a:latin typeface="+mn-ea"/>
              </a:rPr>
              <a:t>　　　　　</a:t>
            </a:r>
            <a:endParaRPr lang="en-US" altLang="ja-JP" sz="1600" dirty="0">
              <a:effectLst/>
              <a:latin typeface="+mn-ea"/>
            </a:endParaRPr>
          </a:p>
          <a:p>
            <a:pPr marL="0" indent="0">
              <a:buNone/>
            </a:pPr>
            <a:r>
              <a:rPr lang="ja-JP" altLang="en-US" sz="1600">
                <a:latin typeface="+mn-ea"/>
              </a:rPr>
              <a:t>　</a:t>
            </a:r>
            <a:r>
              <a:rPr lang="en-US" altLang="ja-JP" sz="1600" dirty="0">
                <a:effectLst/>
                <a:latin typeface="+mn-ea"/>
              </a:rPr>
              <a:t>2085.</a:t>
            </a:r>
            <a:endParaRPr lang="en-US" altLang="ja-JP" sz="1600" dirty="0">
              <a:latin typeface="+mn-ea"/>
            </a:endParaRPr>
          </a:p>
          <a:p>
            <a:pPr marL="0" indent="0">
              <a:buNone/>
            </a:pPr>
            <a:r>
              <a:rPr lang="ja-JP" altLang="en-US" sz="1600">
                <a:latin typeface="+mn-ea"/>
              </a:rPr>
              <a:t>・</a:t>
            </a:r>
            <a:r>
              <a:rPr lang="en-US" altLang="ja-JP" sz="1600" dirty="0" err="1">
                <a:latin typeface="+mn-ea"/>
              </a:rPr>
              <a:t>Benjamini</a:t>
            </a:r>
            <a:r>
              <a:rPr lang="en-US" altLang="ja-JP" sz="1600" dirty="0">
                <a:latin typeface="+mn-ea"/>
              </a:rPr>
              <a:t>, Y. and Hochberg, Y. (1995). Controlling the false discovery rate: A practical and powerful approach to multiple </a:t>
            </a:r>
          </a:p>
          <a:p>
            <a:pPr marL="0" indent="0">
              <a:buNone/>
            </a:pPr>
            <a:r>
              <a:rPr lang="ja-JP" altLang="en-US" sz="1600">
                <a:latin typeface="+mn-ea"/>
              </a:rPr>
              <a:t>　</a:t>
            </a:r>
            <a:r>
              <a:rPr lang="en-US" altLang="ja-JP" sz="1600" dirty="0">
                <a:latin typeface="+mn-ea"/>
              </a:rPr>
              <a:t>testing. J. R. Stat. Soc. B, 57, 289–300.</a:t>
            </a:r>
          </a:p>
          <a:p>
            <a:pPr marL="0" indent="0">
              <a:buNone/>
            </a:pPr>
            <a:r>
              <a:rPr lang="ja-JP" altLang="en-US" sz="1600">
                <a:effectLst/>
                <a:latin typeface="+mn-ea"/>
              </a:rPr>
              <a:t>・</a:t>
            </a:r>
            <a:r>
              <a:rPr lang="en-US" altLang="ja-JP" sz="1600" dirty="0">
                <a:effectLst/>
                <a:latin typeface="+mn-ea"/>
              </a:rPr>
              <a:t>Fisher, R. (1915). Frequency distribution of the values of the correlation </a:t>
            </a:r>
            <a:r>
              <a:rPr lang="en-US" altLang="ja-JP" sz="1600" dirty="0" err="1">
                <a:effectLst/>
                <a:latin typeface="+mn-ea"/>
              </a:rPr>
              <a:t>coeffcient</a:t>
            </a:r>
            <a:r>
              <a:rPr lang="en-US" altLang="ja-JP" sz="1600" dirty="0">
                <a:effectLst/>
                <a:latin typeface="+mn-ea"/>
              </a:rPr>
              <a:t> in samples from an </a:t>
            </a:r>
            <a:r>
              <a:rPr lang="en-US" altLang="ja-JP" sz="1600" dirty="0" err="1">
                <a:effectLst/>
                <a:latin typeface="+mn-ea"/>
              </a:rPr>
              <a:t>indenitely</a:t>
            </a:r>
            <a:r>
              <a:rPr lang="en-US" altLang="ja-JP" sz="1600" dirty="0">
                <a:effectLst/>
                <a:latin typeface="+mn-ea"/>
              </a:rPr>
              <a:t> large </a:t>
            </a:r>
          </a:p>
          <a:p>
            <a:pPr marL="0" indent="0">
              <a:buNone/>
            </a:pPr>
            <a:r>
              <a:rPr lang="ja-JP" altLang="en-US" sz="1600">
                <a:latin typeface="+mn-ea"/>
              </a:rPr>
              <a:t>　</a:t>
            </a:r>
            <a:r>
              <a:rPr lang="en-US" altLang="ja-JP" sz="1600" dirty="0">
                <a:effectLst/>
                <a:latin typeface="+mn-ea"/>
              </a:rPr>
              <a:t>population. </a:t>
            </a:r>
            <a:r>
              <a:rPr lang="en-US" altLang="ja-JP" sz="1600" dirty="0" err="1">
                <a:effectLst/>
                <a:latin typeface="+mn-ea"/>
              </a:rPr>
              <a:t>Biometrika</a:t>
            </a:r>
            <a:r>
              <a:rPr lang="en-US" altLang="ja-JP" sz="1600" dirty="0">
                <a:effectLst/>
                <a:latin typeface="+mn-ea"/>
              </a:rPr>
              <a:t>, 10(4), 507–521.</a:t>
            </a:r>
          </a:p>
          <a:p>
            <a:pPr marL="0" indent="0">
              <a:buNone/>
            </a:pPr>
            <a:r>
              <a:rPr lang="ja-JP" altLang="en-US" sz="1600">
                <a:latin typeface="+mn-ea"/>
              </a:rPr>
              <a:t>・</a:t>
            </a:r>
            <a:r>
              <a:rPr lang="en-US" altLang="ja-JP" sz="1600" dirty="0">
                <a:latin typeface="+mn-ea"/>
              </a:rPr>
              <a:t>Zou, H and </a:t>
            </a:r>
            <a:r>
              <a:rPr lang="en-US" altLang="ja-JP" sz="1600" dirty="0" err="1">
                <a:latin typeface="+mn-ea"/>
              </a:rPr>
              <a:t>Xue</a:t>
            </a:r>
            <a:r>
              <a:rPr lang="en-US" altLang="ja-JP" sz="1600" dirty="0">
                <a:latin typeface="+mn-ea"/>
              </a:rPr>
              <a:t>, L. (2018). </a:t>
            </a:r>
            <a:r>
              <a:rPr lang="en-US" altLang="ja-JP" sz="1600" i="0" u="none" strike="noStrike" dirty="0">
                <a:effectLst/>
                <a:latin typeface="+mn-ea"/>
              </a:rPr>
              <a:t>A Selective Overview of Sparse Principal Component Analysis. </a:t>
            </a:r>
            <a:r>
              <a:rPr lang="en-US" altLang="ja-JP" sz="1600" dirty="0">
                <a:effectLst/>
                <a:latin typeface="+mn-ea"/>
              </a:rPr>
              <a:t>Proceedings of the IEEE, </a:t>
            </a:r>
          </a:p>
          <a:p>
            <a:pPr marL="0" indent="0">
              <a:buNone/>
            </a:pPr>
            <a:r>
              <a:rPr lang="ja-JP" altLang="en-US" sz="1600">
                <a:latin typeface="+mn-ea"/>
              </a:rPr>
              <a:t>　</a:t>
            </a:r>
            <a:r>
              <a:rPr lang="en-US" altLang="ja-JP" sz="1600" dirty="0">
                <a:effectLst/>
                <a:latin typeface="+mn-ea"/>
              </a:rPr>
              <a:t>106(8), 1311–1320.</a:t>
            </a:r>
          </a:p>
          <a:p>
            <a:pPr marL="0" indent="0">
              <a:buNone/>
            </a:pPr>
            <a:r>
              <a:rPr lang="ja-JP" altLang="en-US" sz="1600">
                <a:effectLst/>
                <a:latin typeface="+mn-ea"/>
              </a:rPr>
              <a:t>・</a:t>
            </a:r>
            <a:r>
              <a:rPr lang="en-US" altLang="ja-JP" sz="1600" dirty="0">
                <a:effectLst/>
                <a:latin typeface="+mn-ea"/>
              </a:rPr>
              <a:t>Jolliffe, I. T. (2002). Principal Component Analysis. </a:t>
            </a:r>
            <a:r>
              <a:rPr lang="en-US" altLang="ja-JP" sz="1600" dirty="0" err="1">
                <a:effectLst/>
                <a:latin typeface="+mn-ea"/>
              </a:rPr>
              <a:t>Spriinger</a:t>
            </a:r>
            <a:r>
              <a:rPr lang="en-US" altLang="ja-JP" sz="1600" dirty="0">
                <a:effectLst/>
                <a:latin typeface="+mn-ea"/>
              </a:rPr>
              <a:t>, New York.</a:t>
            </a:r>
            <a:endParaRPr lang="en-US" altLang="ja-JP" sz="1600" dirty="0">
              <a:latin typeface="+mn-ea"/>
            </a:endParaRPr>
          </a:p>
          <a:p>
            <a:pPr marL="0" indent="0">
              <a:buNone/>
            </a:pPr>
            <a:r>
              <a:rPr lang="ja-JP" altLang="en-US" sz="1600">
                <a:effectLst/>
                <a:latin typeface="+mn-ea"/>
              </a:rPr>
              <a:t>・</a:t>
            </a:r>
            <a:r>
              <a:rPr lang="en-US" altLang="ja-JP" sz="1600" dirty="0">
                <a:effectLst/>
                <a:latin typeface="+mn-ea"/>
              </a:rPr>
              <a:t>Jolliffe, I. T., </a:t>
            </a:r>
            <a:r>
              <a:rPr lang="en-US" altLang="ja-JP" sz="1600" dirty="0" err="1">
                <a:effectLst/>
                <a:latin typeface="+mn-ea"/>
              </a:rPr>
              <a:t>Trendafilov</a:t>
            </a:r>
            <a:r>
              <a:rPr lang="en-US" altLang="ja-JP" sz="1600" dirty="0">
                <a:effectLst/>
                <a:latin typeface="+mn-ea"/>
              </a:rPr>
              <a:t>, N. T., and Uddin, M. (2003). A modified principal component technique based on the LASSO. Journal </a:t>
            </a:r>
          </a:p>
          <a:p>
            <a:pPr marL="0" indent="0">
              <a:buNone/>
            </a:pPr>
            <a:r>
              <a:rPr lang="ja-JP" altLang="en-US" sz="1600">
                <a:latin typeface="+mn-ea"/>
              </a:rPr>
              <a:t>　</a:t>
            </a:r>
            <a:r>
              <a:rPr lang="en-US" altLang="ja-JP" sz="1600" dirty="0">
                <a:effectLst/>
                <a:latin typeface="+mn-ea"/>
              </a:rPr>
              <a:t>of Computational and Graphical Statistics, 12(3), 531–547.</a:t>
            </a:r>
          </a:p>
          <a:p>
            <a:pPr marL="0" indent="0">
              <a:buNone/>
            </a:pPr>
            <a:r>
              <a:rPr lang="ja-JP" altLang="en-US" sz="1600">
                <a:latin typeface="+mn-ea"/>
              </a:rPr>
              <a:t>・</a:t>
            </a:r>
            <a:r>
              <a:rPr lang="en-US" altLang="ja-JP" sz="1600" dirty="0">
                <a:effectLst/>
                <a:latin typeface="+mn-ea"/>
              </a:rPr>
              <a:t> Romano, Y., </a:t>
            </a:r>
            <a:r>
              <a:rPr lang="en-US" altLang="ja-JP" sz="1600" dirty="0" err="1">
                <a:effectLst/>
                <a:latin typeface="+mn-ea"/>
              </a:rPr>
              <a:t>Sesia</a:t>
            </a:r>
            <a:r>
              <a:rPr lang="en-US" altLang="ja-JP" sz="1600" dirty="0">
                <a:effectLst/>
                <a:latin typeface="+mn-ea"/>
              </a:rPr>
              <a:t>, M., and </a:t>
            </a:r>
            <a:r>
              <a:rPr lang="en-US" altLang="ja-JP" sz="1600" dirty="0" err="1">
                <a:effectLst/>
                <a:latin typeface="+mn-ea"/>
              </a:rPr>
              <a:t>Cand`es</a:t>
            </a:r>
            <a:r>
              <a:rPr lang="en-US" altLang="ja-JP" sz="1600" dirty="0">
                <a:effectLst/>
                <a:latin typeface="+mn-ea"/>
              </a:rPr>
              <a:t>, E. J. (2019). Deep knockoffs. Journal of the American Statistical Association, 1–12.</a:t>
            </a:r>
            <a:endParaRPr lang="en-US" altLang="ja-JP" sz="1600" dirty="0">
              <a:latin typeface="+mn-ea"/>
            </a:endParaRPr>
          </a:p>
          <a:p>
            <a:pPr marL="0" indent="0">
              <a:buNone/>
            </a:pPr>
            <a:r>
              <a:rPr lang="ja-JP" altLang="en-US" sz="1600">
                <a:latin typeface="+mn-ea"/>
              </a:rPr>
              <a:t>・</a:t>
            </a:r>
            <a:r>
              <a:rPr lang="en-US" altLang="ja-JP" sz="1600" dirty="0">
                <a:effectLst/>
                <a:latin typeface="+mn-ea"/>
              </a:rPr>
              <a:t> </a:t>
            </a:r>
            <a:r>
              <a:rPr lang="en-US" altLang="ja-JP" sz="1600" dirty="0" err="1">
                <a:effectLst/>
                <a:latin typeface="+mn-ea"/>
              </a:rPr>
              <a:t>Sesia</a:t>
            </a:r>
            <a:r>
              <a:rPr lang="en-US" altLang="ja-JP" sz="1600" dirty="0">
                <a:effectLst/>
                <a:latin typeface="+mn-ea"/>
              </a:rPr>
              <a:t>, M., </a:t>
            </a:r>
            <a:r>
              <a:rPr lang="en-US" altLang="ja-JP" sz="1600" dirty="0" err="1">
                <a:effectLst/>
                <a:latin typeface="+mn-ea"/>
              </a:rPr>
              <a:t>Sabatti</a:t>
            </a:r>
            <a:r>
              <a:rPr lang="en-US" altLang="ja-JP" sz="1600" dirty="0">
                <a:effectLst/>
                <a:latin typeface="+mn-ea"/>
              </a:rPr>
              <a:t>, C., and </a:t>
            </a:r>
            <a:r>
              <a:rPr lang="en-US" altLang="ja-JP" sz="1600" dirty="0" err="1">
                <a:effectLst/>
                <a:latin typeface="+mn-ea"/>
              </a:rPr>
              <a:t>Cand`es</a:t>
            </a:r>
            <a:r>
              <a:rPr lang="en-US" altLang="ja-JP" sz="1600" dirty="0">
                <a:effectLst/>
                <a:latin typeface="+mn-ea"/>
              </a:rPr>
              <a:t>, E. J. (2019). Gene hunting with hidden </a:t>
            </a:r>
            <a:r>
              <a:rPr lang="en-US" altLang="ja-JP" sz="1600" dirty="0" err="1">
                <a:effectLst/>
                <a:latin typeface="+mn-ea"/>
              </a:rPr>
              <a:t>markov</a:t>
            </a:r>
            <a:r>
              <a:rPr lang="en-US" altLang="ja-JP" sz="1600" dirty="0">
                <a:latin typeface="+mn-ea"/>
              </a:rPr>
              <a:t> </a:t>
            </a:r>
            <a:r>
              <a:rPr lang="en-US" altLang="ja-JP" sz="1600" dirty="0">
                <a:effectLst/>
                <a:latin typeface="+mn-ea"/>
              </a:rPr>
              <a:t>model knockoffs. </a:t>
            </a:r>
            <a:r>
              <a:rPr lang="en-US" altLang="ja-JP" sz="1600" dirty="0" err="1">
                <a:effectLst/>
                <a:latin typeface="+mn-ea"/>
              </a:rPr>
              <a:t>Biometrika</a:t>
            </a:r>
            <a:r>
              <a:rPr lang="en-US" altLang="ja-JP" sz="1600" dirty="0">
                <a:effectLst/>
                <a:latin typeface="+mn-ea"/>
              </a:rPr>
              <a:t>, 106(1), 1–18.</a:t>
            </a:r>
            <a:endParaRPr lang="en-US" altLang="ja-JP" sz="1600" dirty="0">
              <a:latin typeface="+mn-ea"/>
            </a:endParaRPr>
          </a:p>
          <a:p>
            <a:pPr marL="0" indent="0">
              <a:buNone/>
            </a:pPr>
            <a:r>
              <a:rPr lang="ja-JP" altLang="en-US" sz="1600">
                <a:latin typeface="+mn-ea"/>
              </a:rPr>
              <a:t>・</a:t>
            </a:r>
            <a:r>
              <a:rPr lang="en-US" altLang="ja-JP" sz="1600" dirty="0" err="1">
                <a:latin typeface="+mn-ea"/>
              </a:rPr>
              <a:t>Tibshirani</a:t>
            </a:r>
            <a:r>
              <a:rPr lang="en-US" altLang="ja-JP" sz="1600" dirty="0">
                <a:latin typeface="+mn-ea"/>
              </a:rPr>
              <a:t>, R. (1996). Regression shrinkage and selection via the lasso. J. R. Stat. Soc. B, 58, 267–288.</a:t>
            </a:r>
          </a:p>
          <a:p>
            <a:pPr marL="0" indent="0">
              <a:buNone/>
            </a:pPr>
            <a:r>
              <a:rPr lang="ja-JP" altLang="en-US" sz="1600">
                <a:latin typeface="+mn-ea"/>
              </a:rPr>
              <a:t>・</a:t>
            </a:r>
            <a:r>
              <a:rPr lang="en-US" altLang="ja-JP" sz="1600" dirty="0">
                <a:effectLst/>
                <a:latin typeface="+mn-ea"/>
              </a:rPr>
              <a:t>Witten, D., </a:t>
            </a:r>
            <a:r>
              <a:rPr lang="en-US" altLang="ja-JP" sz="1600" dirty="0" err="1">
                <a:effectLst/>
                <a:latin typeface="+mn-ea"/>
              </a:rPr>
              <a:t>Tibshirani</a:t>
            </a:r>
            <a:r>
              <a:rPr lang="en-US" altLang="ja-JP" sz="1600" dirty="0">
                <a:effectLst/>
                <a:latin typeface="+mn-ea"/>
              </a:rPr>
              <a:t>, R., and Hastie, T. (2009). A penalized matrix decomposition, with applications to sparse principal </a:t>
            </a:r>
          </a:p>
          <a:p>
            <a:pPr marL="0" indent="0">
              <a:buNone/>
            </a:pPr>
            <a:r>
              <a:rPr lang="ja-JP" altLang="en-US" sz="1600">
                <a:latin typeface="+mn-ea"/>
              </a:rPr>
              <a:t>　</a:t>
            </a:r>
            <a:r>
              <a:rPr lang="en-US" altLang="ja-JP" sz="1600" dirty="0">
                <a:effectLst/>
                <a:latin typeface="+mn-ea"/>
              </a:rPr>
              <a:t>components and canonical correlation analysis. Biostatistics, 10(3), 515–534.</a:t>
            </a:r>
          </a:p>
        </p:txBody>
      </p:sp>
      <p:sp>
        <p:nvSpPr>
          <p:cNvPr id="6" name="タイトル 1">
            <a:extLst>
              <a:ext uri="{FF2B5EF4-FFF2-40B4-BE49-F238E27FC236}">
                <a16:creationId xmlns:a16="http://schemas.microsoft.com/office/drawing/2014/main" id="{8266B76B-52E8-AE4E-A70C-22E8EBA60CAA}"/>
              </a:ext>
            </a:extLst>
          </p:cNvPr>
          <p:cNvSpPr txBox="1">
            <a:spLocks/>
          </p:cNvSpPr>
          <p:nvPr/>
        </p:nvSpPr>
        <p:spPr>
          <a:xfrm>
            <a:off x="0" y="1335"/>
            <a:ext cx="10016696"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参考文献</a:t>
            </a:r>
            <a:endParaRPr lang="ja-JP" altLang="en-US" b="1">
              <a:solidFill>
                <a:srgbClr val="FFC000"/>
              </a:solidFill>
              <a:latin typeface="+mj-ea"/>
            </a:endParaRPr>
          </a:p>
        </p:txBody>
      </p:sp>
      <p:sp>
        <p:nvSpPr>
          <p:cNvPr id="2" name="テキスト ボックス 1">
            <a:extLst>
              <a:ext uri="{FF2B5EF4-FFF2-40B4-BE49-F238E27FC236}">
                <a16:creationId xmlns:a16="http://schemas.microsoft.com/office/drawing/2014/main" id="{F7ADE288-A718-80D9-2A65-D2CC1E1F7143}"/>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28/28</a:t>
            </a:r>
            <a:endParaRPr kumimoji="1" lang="ja-JP" altLang="en-US" sz="2800">
              <a:latin typeface="+mj-ea"/>
              <a:ea typeface="+mj-ea"/>
            </a:endParaRPr>
          </a:p>
        </p:txBody>
      </p:sp>
    </p:spTree>
    <p:extLst>
      <p:ext uri="{BB962C8B-B14F-4D97-AF65-F5344CB8AC3E}">
        <p14:creationId xmlns:p14="http://schemas.microsoft.com/office/powerpoint/2010/main" val="87975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DC156765-3001-1148-BCC1-A6AD3380F908}"/>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数値実験</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2" name="角丸四角形 1">
                <a:extLst>
                  <a:ext uri="{FF2B5EF4-FFF2-40B4-BE49-F238E27FC236}">
                    <a16:creationId xmlns:a16="http://schemas.microsoft.com/office/drawing/2014/main" id="{DCB25E4E-44C2-2F24-F12A-12EE2821B09B}"/>
                  </a:ext>
                </a:extLst>
              </p:cNvPr>
              <p:cNvSpPr/>
              <p:nvPr/>
            </p:nvSpPr>
            <p:spPr>
              <a:xfrm>
                <a:off x="4052454" y="465518"/>
                <a:ext cx="5476345" cy="532014"/>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solidFill>
                      <a:schemeClr val="tx1"/>
                    </a:solidFill>
                  </a:rPr>
                  <a:t>人工データ</a:t>
                </a:r>
                <a14:m>
                  <m:oMath xmlns:m="http://schemas.openxmlformats.org/officeDocument/2006/math">
                    <m:r>
                      <a:rPr kumimoji="1" lang="en-US" altLang="ja-JP" sz="2800" b="0" i="1" smtClean="0">
                        <a:solidFill>
                          <a:schemeClr val="tx1"/>
                        </a:solidFill>
                        <a:latin typeface="Cambria Math" panose="02040503050406030204" pitchFamily="18" charset="0"/>
                      </a:rPr>
                      <m:t>𝑋</m:t>
                    </m:r>
                  </m:oMath>
                </a14:m>
                <a:r>
                  <a:rPr kumimoji="1" lang="ja-JP" altLang="en-US" sz="2800">
                    <a:solidFill>
                      <a:schemeClr val="tx1"/>
                    </a:solidFill>
                  </a:rPr>
                  <a:t>を発生</a:t>
                </a:r>
              </a:p>
            </p:txBody>
          </p:sp>
        </mc:Choice>
        <mc:Fallback xmlns="">
          <p:sp>
            <p:nvSpPr>
              <p:cNvPr id="2" name="角丸四角形 1">
                <a:extLst>
                  <a:ext uri="{FF2B5EF4-FFF2-40B4-BE49-F238E27FC236}">
                    <a16:creationId xmlns:a16="http://schemas.microsoft.com/office/drawing/2014/main" id="{DCB25E4E-44C2-2F24-F12A-12EE2821B09B}"/>
                  </a:ext>
                </a:extLst>
              </p:cNvPr>
              <p:cNvSpPr>
                <a:spLocks noRot="1" noChangeAspect="1" noMove="1" noResize="1" noEditPoints="1" noAdjustHandles="1" noChangeArrowheads="1" noChangeShapeType="1" noTextEdit="1"/>
              </p:cNvSpPr>
              <p:nvPr/>
            </p:nvSpPr>
            <p:spPr>
              <a:xfrm>
                <a:off x="4052454" y="465518"/>
                <a:ext cx="5476345" cy="532014"/>
              </a:xfrm>
              <a:prstGeom prst="roundRect">
                <a:avLst/>
              </a:prstGeom>
              <a:blipFill>
                <a:blip r:embed="rId3"/>
                <a:stretch>
                  <a:fillRect t="-6522" b="-26087"/>
                </a:stretch>
              </a:blipFill>
              <a:ln w="38100">
                <a:solidFill>
                  <a:srgbClr val="0070C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角丸四角形 3">
                <a:extLst>
                  <a:ext uri="{FF2B5EF4-FFF2-40B4-BE49-F238E27FC236}">
                    <a16:creationId xmlns:a16="http://schemas.microsoft.com/office/drawing/2014/main" id="{0C9BB495-BEE8-6B6D-A3AD-719D40A1239C}"/>
                  </a:ext>
                </a:extLst>
              </p:cNvPr>
              <p:cNvSpPr/>
              <p:nvPr/>
            </p:nvSpPr>
            <p:spPr>
              <a:xfrm>
                <a:off x="2990342" y="1226254"/>
                <a:ext cx="9201658" cy="2244436"/>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buAutoNum type="arabicPeriod"/>
                </a:pPr>
                <a:r>
                  <a:rPr lang="en-US" altLang="ja-JP" sz="2800" dirty="0">
                    <a:solidFill>
                      <a:schemeClr val="tx1"/>
                    </a:solidFill>
                    <a:latin typeface="+mn-ea"/>
                    <a:cs typeface="ヒラギノ角ゴ Pro W3"/>
                  </a:rPr>
                  <a:t>Knockoff</a:t>
                </a:r>
                <a:r>
                  <a:rPr lang="ja-JP" altLang="en-US" sz="2800">
                    <a:solidFill>
                      <a:schemeClr val="tx1"/>
                    </a:solidFill>
                    <a:latin typeface="+mn-ea"/>
                    <a:cs typeface="ヒラギノ角ゴ Pro W3"/>
                  </a:rPr>
                  <a:t>変数</a:t>
                </a:r>
                <a14:m>
                  <m:oMath xmlns:m="http://schemas.openxmlformats.org/officeDocument/2006/math">
                    <m:sSub>
                      <m:sSubPr>
                        <m:ctrlPr>
                          <a:rPr lang="en-US" altLang="ja-JP" sz="2800" b="0" i="1" smtClean="0">
                            <a:solidFill>
                              <a:schemeClr val="tx1"/>
                            </a:solidFill>
                            <a:latin typeface="Cambria Math" panose="02040503050406030204" pitchFamily="18" charset="0"/>
                          </a:rPr>
                        </m:ctrlPr>
                      </m:sSubPr>
                      <m:e>
                        <m:acc>
                          <m:accPr>
                            <m:chr m:val="̃"/>
                            <m:ctrlPr>
                              <a:rPr lang="ja-JP" altLang="en-US" sz="2800" i="1" smtClean="0">
                                <a:solidFill>
                                  <a:schemeClr val="tx1"/>
                                </a:solidFill>
                                <a:latin typeface="Cambria Math" panose="02040503050406030204" pitchFamily="18" charset="0"/>
                              </a:rPr>
                            </m:ctrlPr>
                          </m:accPr>
                          <m:e>
                            <m:r>
                              <a:rPr lang="en-US" altLang="ja-JP" sz="2800" b="1" i="1" smtClean="0">
                                <a:solidFill>
                                  <a:schemeClr val="tx1"/>
                                </a:solidFill>
                                <a:latin typeface="Cambria Math" panose="02040503050406030204" pitchFamily="18" charset="0"/>
                              </a:rPr>
                              <m:t>𝒙</m:t>
                            </m:r>
                          </m:e>
                        </m:acc>
                      </m:e>
                      <m:sub>
                        <m:r>
                          <a:rPr lang="en-US" altLang="ja-JP" sz="2800" b="0" i="1" smtClean="0">
                            <a:solidFill>
                              <a:schemeClr val="tx1"/>
                            </a:solidFill>
                            <a:latin typeface="Cambria Math" panose="02040503050406030204" pitchFamily="18" charset="0"/>
                          </a:rPr>
                          <m:t>𝑖</m:t>
                        </m:r>
                      </m:sub>
                    </m:sSub>
                  </m:oMath>
                </a14:m>
                <a:r>
                  <a:rPr lang="ja-JP" altLang="en-US" sz="2800">
                    <a:solidFill>
                      <a:schemeClr val="tx1"/>
                    </a:solidFill>
                    <a:latin typeface="+mn-ea"/>
                    <a:cs typeface="ヒラギノ角ゴ Pro W3"/>
                  </a:rPr>
                  <a:t>の作成</a:t>
                </a:r>
                <a:endParaRPr lang="en-US" altLang="ja-JP" sz="2800" dirty="0">
                  <a:solidFill>
                    <a:schemeClr val="tx1"/>
                  </a:solidFill>
                  <a:latin typeface="+mn-ea"/>
                  <a:cs typeface="ヒラギノ角ゴ Pro W3"/>
                </a:endParaRPr>
              </a:p>
              <a:p>
                <a:pPr marL="514350" indent="-514350">
                  <a:buAutoNum type="arabicPeriod"/>
                </a:pPr>
                <a:endParaRPr lang="en-US" altLang="ja-JP" sz="700" i="1" dirty="0">
                  <a:solidFill>
                    <a:schemeClr val="tx1"/>
                  </a:solidFill>
                  <a:latin typeface="+mn-ea"/>
                  <a:cs typeface="ヒラギノ角ゴ Pro W3"/>
                </a:endParaRPr>
              </a:p>
              <a:p>
                <a:pPr marL="514350" indent="-514350">
                  <a:buAutoNum type="arabicPeriod" startAt="2"/>
                </a:pPr>
                <a:r>
                  <a:rPr kumimoji="1" lang="ja-JP" altLang="en-US" sz="2800">
                    <a:solidFill>
                      <a:schemeClr val="tx1"/>
                    </a:solidFill>
                    <a:latin typeface="+mn-ea"/>
                    <a:cs typeface="ヒラギノ角ゴ Pro W3"/>
                  </a:rPr>
                  <a:t>統計量</a:t>
                </a:r>
                <a14:m>
                  <m:oMath xmlns:m="http://schemas.openxmlformats.org/officeDocument/2006/math">
                    <m:sSub>
                      <m:sSubPr>
                        <m:ctrlPr>
                          <a:rPr kumimoji="1" lang="en-US" altLang="ja-JP" sz="2800" b="0" i="1" smtClean="0">
                            <a:solidFill>
                              <a:schemeClr val="tx1"/>
                            </a:solidFill>
                            <a:latin typeface="Cambria Math" panose="02040503050406030204" pitchFamily="18" charset="0"/>
                            <a:cs typeface="ヒラギノ角ゴ Pro W3"/>
                          </a:rPr>
                        </m:ctrlPr>
                      </m:sSubPr>
                      <m:e>
                        <m:r>
                          <a:rPr kumimoji="1" lang="en-US" altLang="ja-JP" sz="2800" b="1" i="1" smtClean="0">
                            <a:solidFill>
                              <a:schemeClr val="tx1"/>
                            </a:solidFill>
                            <a:latin typeface="Cambria Math" panose="02040503050406030204" pitchFamily="18" charset="0"/>
                            <a:cs typeface="ヒラギノ角ゴ Pro W3"/>
                          </a:rPr>
                          <m:t>𝑾</m:t>
                        </m:r>
                      </m:e>
                      <m:sub>
                        <m:r>
                          <a:rPr kumimoji="1" lang="en-US" altLang="ja-JP" sz="2800" b="0" i="1" smtClean="0">
                            <a:solidFill>
                              <a:schemeClr val="tx1"/>
                            </a:solidFill>
                            <a:latin typeface="Cambria Math" panose="02040503050406030204" pitchFamily="18" charset="0"/>
                            <a:cs typeface="ヒラギノ角ゴ Pro W3"/>
                          </a:rPr>
                          <m:t>𝑘</m:t>
                        </m:r>
                      </m:sub>
                    </m:sSub>
                  </m:oMath>
                </a14:m>
                <a:r>
                  <a:rPr kumimoji="1" lang="ja-JP" altLang="en-US" sz="2800">
                    <a:solidFill>
                      <a:schemeClr val="tx1"/>
                    </a:solidFill>
                    <a:latin typeface="+mn-ea"/>
                    <a:cs typeface="ヒラギノ角ゴ Pro W3"/>
                  </a:rPr>
                  <a:t>の導出</a:t>
                </a:r>
                <a:endParaRPr kumimoji="1" lang="en-US" altLang="ja-JP" sz="2800" dirty="0">
                  <a:solidFill>
                    <a:schemeClr val="tx1"/>
                  </a:solidFill>
                  <a:latin typeface="+mn-ea"/>
                  <a:cs typeface="ヒラギノ角ゴ Pro W3"/>
                </a:endParaRPr>
              </a:p>
              <a:p>
                <a:endParaRPr kumimoji="1" lang="en-US" altLang="ja-JP" sz="700" dirty="0">
                  <a:solidFill>
                    <a:schemeClr val="tx1"/>
                  </a:solidFill>
                  <a:latin typeface="+mn-ea"/>
                  <a:cs typeface="ヒラギノ角ゴ Pro W3"/>
                </a:endParaRPr>
              </a:p>
              <a:p>
                <a:pPr marL="514350" indent="-514350">
                  <a:buAutoNum type="arabicPeriod" startAt="3"/>
                </a:pPr>
                <a:r>
                  <a:rPr lang="ja-JP" altLang="en-US" sz="2800">
                    <a:solidFill>
                      <a:schemeClr val="tx1"/>
                    </a:solidFill>
                    <a:latin typeface="+mn-ea"/>
                    <a:cs typeface="ヒラギノ角ゴ Pro W3"/>
                  </a:rPr>
                  <a:t>しきい値</a:t>
                </a:r>
                <a14:m>
                  <m:oMath xmlns:m="http://schemas.openxmlformats.org/officeDocument/2006/math">
                    <m:sSub>
                      <m:sSubPr>
                        <m:ctrlPr>
                          <a:rPr lang="en-US" altLang="ja-JP" sz="2800" b="0" i="1" smtClean="0">
                            <a:solidFill>
                              <a:schemeClr val="tx1"/>
                            </a:solidFill>
                            <a:latin typeface="Cambria Math" panose="02040503050406030204" pitchFamily="18" charset="0"/>
                            <a:cs typeface="ヒラギノ角ゴ Pro W3"/>
                          </a:rPr>
                        </m:ctrlPr>
                      </m:sSubPr>
                      <m:e>
                        <m:r>
                          <a:rPr lang="en-US" altLang="ja-JP" sz="2800" b="1" i="1">
                            <a:solidFill>
                              <a:schemeClr val="tx1"/>
                            </a:solidFill>
                            <a:latin typeface="Cambria Math" panose="02040503050406030204" pitchFamily="18" charset="0"/>
                            <a:cs typeface="ヒラギノ角ゴ Pro W3"/>
                          </a:rPr>
                          <m:t>𝑻</m:t>
                        </m:r>
                      </m:e>
                      <m:sub>
                        <m:r>
                          <a:rPr lang="en-US" altLang="ja-JP" sz="2800" b="0" i="1" smtClean="0">
                            <a:solidFill>
                              <a:schemeClr val="tx1"/>
                            </a:solidFill>
                            <a:latin typeface="Cambria Math" panose="02040503050406030204" pitchFamily="18" charset="0"/>
                            <a:cs typeface="ヒラギノ角ゴ Pro W3"/>
                          </a:rPr>
                          <m:t>𝑘</m:t>
                        </m:r>
                      </m:sub>
                    </m:sSub>
                  </m:oMath>
                </a14:m>
                <a:r>
                  <a:rPr lang="ja-JP" altLang="en-US" sz="2800">
                    <a:solidFill>
                      <a:schemeClr val="tx1"/>
                    </a:solidFill>
                    <a:latin typeface="+mn-ea"/>
                    <a:cs typeface="ヒラギノ角ゴ Pro W3"/>
                  </a:rPr>
                  <a:t>の導出</a:t>
                </a:r>
                <a:endParaRPr lang="en-US" altLang="ja-JP" sz="2800" dirty="0">
                  <a:solidFill>
                    <a:schemeClr val="tx1"/>
                  </a:solidFill>
                  <a:latin typeface="+mn-ea"/>
                  <a:cs typeface="ヒラギノ角ゴ Pro W3"/>
                </a:endParaRPr>
              </a:p>
              <a:p>
                <a:pPr marL="514350" indent="-514350">
                  <a:buAutoNum type="arabicPeriod" startAt="3"/>
                </a:pPr>
                <a:endParaRPr lang="en-US" altLang="ja-JP" sz="700" dirty="0">
                  <a:solidFill>
                    <a:schemeClr val="tx1"/>
                  </a:solidFill>
                  <a:latin typeface="+mn-ea"/>
                  <a:cs typeface="ヒラギノ角ゴ Pro W3"/>
                </a:endParaRPr>
              </a:p>
              <a:p>
                <a:pPr marL="0" indent="0">
                  <a:buNone/>
                </a:pPr>
                <a:r>
                  <a:rPr lang="en-US" altLang="ja-JP" sz="2800" dirty="0">
                    <a:solidFill>
                      <a:schemeClr val="tx1"/>
                    </a:solidFill>
                    <a:latin typeface="+mn-ea"/>
                    <a:cs typeface="ヒラギノ角ゴ Pro W3"/>
                  </a:rPr>
                  <a:t>4.  </a:t>
                </a:r>
                <a:r>
                  <a:rPr lang="ja-JP" altLang="en-US" sz="2800">
                    <a:solidFill>
                      <a:schemeClr val="tx1"/>
                    </a:solidFill>
                    <a:latin typeface="+mn-ea"/>
                    <a:cs typeface="ヒラギノ角ゴ Pro W3"/>
                  </a:rPr>
                  <a:t>主成分負荷量の選択および調整パラメータ</a:t>
                </a:r>
                <a14:m>
                  <m:oMath xmlns:m="http://schemas.openxmlformats.org/officeDocument/2006/math">
                    <m:r>
                      <m:rPr>
                        <m:sty m:val="p"/>
                      </m:rPr>
                      <a:rPr lang="en-US" altLang="ja-JP" sz="2800" i="1">
                        <a:solidFill>
                          <a:schemeClr val="tx1"/>
                        </a:solidFill>
                        <a:latin typeface="Cambria Math" panose="02040503050406030204" pitchFamily="18" charset="0"/>
                        <a:cs typeface="ヒラギノ角ゴ Pro W3"/>
                      </a:rPr>
                      <m:t>c</m:t>
                    </m:r>
                  </m:oMath>
                </a14:m>
                <a:r>
                  <a:rPr lang="ja-JP" altLang="en-US" sz="2800">
                    <a:solidFill>
                      <a:schemeClr val="tx1"/>
                    </a:solidFill>
                    <a:latin typeface="+mn-ea"/>
                    <a:cs typeface="ヒラギノ角ゴ Pro W3"/>
                  </a:rPr>
                  <a:t>の導出</a:t>
                </a:r>
                <a:endParaRPr kumimoji="1" lang="ja-JP" altLang="en-US" sz="2800">
                  <a:solidFill>
                    <a:schemeClr val="tx1"/>
                  </a:solidFill>
                  <a:latin typeface="+mn-ea"/>
                  <a:cs typeface="ヒラギノ角ゴ Pro W3"/>
                </a:endParaRPr>
              </a:p>
            </p:txBody>
          </p:sp>
        </mc:Choice>
        <mc:Fallback xmlns="">
          <p:sp>
            <p:nvSpPr>
              <p:cNvPr id="4" name="角丸四角形 3">
                <a:extLst>
                  <a:ext uri="{FF2B5EF4-FFF2-40B4-BE49-F238E27FC236}">
                    <a16:creationId xmlns:a16="http://schemas.microsoft.com/office/drawing/2014/main" id="{0C9BB495-BEE8-6B6D-A3AD-719D40A1239C}"/>
                  </a:ext>
                </a:extLst>
              </p:cNvPr>
              <p:cNvSpPr>
                <a:spLocks noRot="1" noChangeAspect="1" noMove="1" noResize="1" noEditPoints="1" noAdjustHandles="1" noChangeArrowheads="1" noChangeShapeType="1" noTextEdit="1"/>
              </p:cNvSpPr>
              <p:nvPr/>
            </p:nvSpPr>
            <p:spPr>
              <a:xfrm>
                <a:off x="2990342" y="1226254"/>
                <a:ext cx="9201658" cy="2244436"/>
              </a:xfrm>
              <a:prstGeom prst="roundRect">
                <a:avLst/>
              </a:prstGeom>
              <a:blipFill>
                <a:blip r:embed="rId4"/>
                <a:stretch>
                  <a:fillRect l="-137" t="-556" b="-4444"/>
                </a:stretch>
              </a:blipFill>
              <a:ln w="38100">
                <a:solidFill>
                  <a:srgbClr val="0070C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角丸四角形 4">
                <a:extLst>
                  <a:ext uri="{FF2B5EF4-FFF2-40B4-BE49-F238E27FC236}">
                    <a16:creationId xmlns:a16="http://schemas.microsoft.com/office/drawing/2014/main" id="{7B6E0420-958B-DF65-7231-C885BAFCD64F}"/>
                  </a:ext>
                </a:extLst>
              </p:cNvPr>
              <p:cNvSpPr/>
              <p:nvPr/>
            </p:nvSpPr>
            <p:spPr>
              <a:xfrm>
                <a:off x="4052454" y="3950805"/>
                <a:ext cx="5660887" cy="1113751"/>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kumimoji="1" lang="en-US" altLang="ja-JP" sz="2800" b="0" i="1" smtClean="0">
                              <a:solidFill>
                                <a:schemeClr val="tx1"/>
                              </a:solidFill>
                              <a:latin typeface="Cambria Math" panose="02040503050406030204" pitchFamily="18" charset="0"/>
                            </a:rPr>
                          </m:ctrlPr>
                        </m:fPr>
                        <m:num>
                          <m:r>
                            <a:rPr lang="en-US" altLang="ja-JP" sz="2800" i="1">
                              <a:solidFill>
                                <a:schemeClr val="tx1"/>
                              </a:solidFill>
                              <a:latin typeface="Cambria Math" panose="02040503050406030204" pitchFamily="18" charset="0"/>
                            </a:rPr>
                            <m:t>#</m:t>
                          </m:r>
                          <m:d>
                            <m:dPr>
                              <m:begChr m:val="{"/>
                              <m:endChr m:val="}"/>
                              <m:ctrlPr>
                                <a:rPr lang="en-US" altLang="ja-JP" sz="2800" i="1">
                                  <a:solidFill>
                                    <a:schemeClr val="tx1"/>
                                  </a:solidFill>
                                  <a:latin typeface="Cambria Math" panose="02040503050406030204" pitchFamily="18" charset="0"/>
                                </a:rPr>
                              </m:ctrlPr>
                            </m:dPr>
                            <m:e>
                              <m:r>
                                <a:rPr lang="en-US" altLang="ja-JP" sz="2800" i="1">
                                  <a:solidFill>
                                    <a:schemeClr val="tx1"/>
                                  </a:solidFill>
                                  <a:latin typeface="Cambria Math" panose="02040503050406030204" pitchFamily="18" charset="0"/>
                                </a:rPr>
                                <m:t>𝑗</m:t>
                              </m:r>
                              <m:r>
                                <a:rPr lang="en-US" altLang="ja-JP" sz="2800" i="1">
                                  <a:solidFill>
                                    <a:schemeClr val="tx1"/>
                                  </a:solidFill>
                                  <a:latin typeface="Cambria Math" panose="02040503050406030204" pitchFamily="18" charset="0"/>
                                </a:rPr>
                                <m:t>:</m:t>
                              </m:r>
                              <m:sSub>
                                <m:sSubPr>
                                  <m:ctrlPr>
                                    <a:rPr lang="en-US" altLang="ja-JP" sz="2800" b="0" i="1" smtClean="0">
                                      <a:solidFill>
                                        <a:schemeClr val="tx1"/>
                                      </a:solidFill>
                                      <a:latin typeface="Cambria Math" panose="02040503050406030204" pitchFamily="18" charset="0"/>
                                    </a:rPr>
                                  </m:ctrlPr>
                                </m:sSubPr>
                                <m:e>
                                  <m:acc>
                                    <m:accPr>
                                      <m:chr m:val="̂"/>
                                      <m:ctrlPr>
                                        <a:rPr lang="en-US" altLang="ja-JP" sz="2800" i="1">
                                          <a:solidFill>
                                            <a:schemeClr val="tx1"/>
                                          </a:solidFill>
                                          <a:latin typeface="Cambria Math" panose="02040503050406030204" pitchFamily="18" charset="0"/>
                                        </a:rPr>
                                      </m:ctrlPr>
                                    </m:accPr>
                                    <m:e>
                                      <m:r>
                                        <a:rPr lang="en-US" altLang="ja-JP" sz="2800" b="0" i="1" smtClean="0">
                                          <a:solidFill>
                                            <a:schemeClr val="tx1"/>
                                          </a:solidFill>
                                          <a:latin typeface="Cambria Math" panose="02040503050406030204" pitchFamily="18" charset="0"/>
                                        </a:rPr>
                                        <m:t>𝑣</m:t>
                                      </m:r>
                                    </m:e>
                                  </m:acc>
                                </m:e>
                                <m:sub>
                                  <m:r>
                                    <a:rPr lang="en-US" altLang="ja-JP" sz="2800" b="0" i="1" smtClean="0">
                                      <a:solidFill>
                                        <a:schemeClr val="tx1"/>
                                      </a:solidFill>
                                      <a:latin typeface="Cambria Math" panose="02040503050406030204" pitchFamily="18" charset="0"/>
                                    </a:rPr>
                                    <m:t>𝑘𝑗</m:t>
                                  </m:r>
                                </m:sub>
                              </m:sSub>
                              <m:r>
                                <a:rPr lang="en-US" altLang="ja-JP" sz="2800" i="1">
                                  <a:solidFill>
                                    <a:schemeClr val="tx1"/>
                                  </a:solidFill>
                                  <a:latin typeface="Cambria Math" panose="02040503050406030204" pitchFamily="18" charset="0"/>
                                </a:rPr>
                                <m:t>≠0,</m:t>
                              </m:r>
                              <m:sSub>
                                <m:sSubPr>
                                  <m:ctrlPr>
                                    <a:rPr lang="en-US" altLang="ja-JP" sz="2800" b="0" i="1" smtClean="0">
                                      <a:solidFill>
                                        <a:schemeClr val="tx1"/>
                                      </a:solidFill>
                                      <a:latin typeface="Cambria Math" panose="02040503050406030204" pitchFamily="18" charset="0"/>
                                    </a:rPr>
                                  </m:ctrlPr>
                                </m:sSubPr>
                                <m:e>
                                  <m:r>
                                    <a:rPr lang="en-US" altLang="ja-JP" sz="2800" i="1" smtClean="0">
                                      <a:solidFill>
                                        <a:schemeClr val="tx1"/>
                                      </a:solidFill>
                                      <a:latin typeface="Cambria Math" panose="02040503050406030204" pitchFamily="18" charset="0"/>
                                    </a:rPr>
                                    <m:t>𝑣</m:t>
                                  </m:r>
                                </m:e>
                                <m:sub>
                                  <m:r>
                                    <a:rPr lang="en-US" altLang="ja-JP" sz="2800" b="0" i="1" smtClean="0">
                                      <a:solidFill>
                                        <a:schemeClr val="tx1"/>
                                      </a:solidFill>
                                      <a:latin typeface="Cambria Math" panose="02040503050406030204" pitchFamily="18" charset="0"/>
                                    </a:rPr>
                                    <m:t>𝑘𝑗</m:t>
                                  </m:r>
                                </m:sub>
                              </m:sSub>
                              <m:r>
                                <a:rPr lang="en-US" altLang="ja-JP" sz="2800" b="0" i="1" smtClean="0">
                                  <a:solidFill>
                                    <a:schemeClr val="tx1"/>
                                  </a:solidFill>
                                  <a:latin typeface="Cambria Math" panose="02040503050406030204" pitchFamily="18" charset="0"/>
                                </a:rPr>
                                <m:t>=</m:t>
                              </m:r>
                              <m:r>
                                <a:rPr lang="en-US" altLang="ja-JP" sz="2800" i="1">
                                  <a:solidFill>
                                    <a:schemeClr val="tx1"/>
                                  </a:solidFill>
                                  <a:latin typeface="Cambria Math" panose="02040503050406030204" pitchFamily="18" charset="0"/>
                                </a:rPr>
                                <m:t>0</m:t>
                              </m:r>
                            </m:e>
                          </m:d>
                        </m:num>
                        <m:den>
                          <m:r>
                            <a:rPr lang="en-US" altLang="ja-JP" sz="2800" i="1">
                              <a:solidFill>
                                <a:schemeClr val="tx1"/>
                              </a:solidFill>
                              <a:latin typeface="Cambria Math" panose="02040503050406030204" pitchFamily="18" charset="0"/>
                            </a:rPr>
                            <m:t>#</m:t>
                          </m:r>
                          <m:d>
                            <m:dPr>
                              <m:begChr m:val="{"/>
                              <m:endChr m:val="}"/>
                              <m:ctrlPr>
                                <a:rPr lang="en-US" altLang="ja-JP" sz="2800" i="1">
                                  <a:solidFill>
                                    <a:schemeClr val="tx1"/>
                                  </a:solidFill>
                                  <a:latin typeface="Cambria Math" panose="02040503050406030204" pitchFamily="18" charset="0"/>
                                </a:rPr>
                              </m:ctrlPr>
                            </m:dPr>
                            <m:e>
                              <m:r>
                                <a:rPr lang="en-US" altLang="ja-JP" sz="2800" i="1">
                                  <a:solidFill>
                                    <a:schemeClr val="tx1"/>
                                  </a:solidFill>
                                  <a:latin typeface="Cambria Math" panose="02040503050406030204" pitchFamily="18" charset="0"/>
                                </a:rPr>
                                <m:t>𝑗</m:t>
                              </m:r>
                              <m:r>
                                <a:rPr lang="en-US" altLang="ja-JP" sz="2800" i="1">
                                  <a:solidFill>
                                    <a:schemeClr val="tx1"/>
                                  </a:solidFill>
                                  <a:latin typeface="Cambria Math" panose="02040503050406030204" pitchFamily="18" charset="0"/>
                                </a:rPr>
                                <m:t>:</m:t>
                              </m:r>
                              <m:sSub>
                                <m:sSubPr>
                                  <m:ctrlPr>
                                    <a:rPr lang="en-US" altLang="ja-JP" sz="2800" i="1">
                                      <a:solidFill>
                                        <a:schemeClr val="tx1"/>
                                      </a:solidFill>
                                      <a:latin typeface="Cambria Math" panose="02040503050406030204" pitchFamily="18" charset="0"/>
                                    </a:rPr>
                                  </m:ctrlPr>
                                </m:sSubPr>
                                <m:e>
                                  <m:acc>
                                    <m:accPr>
                                      <m:chr m:val="̂"/>
                                      <m:ctrlPr>
                                        <a:rPr lang="en-US" altLang="ja-JP" sz="2800" i="1">
                                          <a:solidFill>
                                            <a:schemeClr val="tx1"/>
                                          </a:solidFill>
                                          <a:latin typeface="Cambria Math" panose="02040503050406030204" pitchFamily="18" charset="0"/>
                                        </a:rPr>
                                      </m:ctrlPr>
                                    </m:accPr>
                                    <m:e>
                                      <m:r>
                                        <a:rPr lang="en-US" altLang="ja-JP" sz="2800" i="1">
                                          <a:solidFill>
                                            <a:schemeClr val="tx1"/>
                                          </a:solidFill>
                                          <a:latin typeface="Cambria Math" panose="02040503050406030204" pitchFamily="18" charset="0"/>
                                        </a:rPr>
                                        <m:t>𝑣</m:t>
                                      </m:r>
                                    </m:e>
                                  </m:acc>
                                </m:e>
                                <m:sub>
                                  <m:r>
                                    <a:rPr lang="en-US" altLang="ja-JP" sz="2800" i="1">
                                      <a:solidFill>
                                        <a:schemeClr val="tx1"/>
                                      </a:solidFill>
                                      <a:latin typeface="Cambria Math" panose="02040503050406030204" pitchFamily="18" charset="0"/>
                                    </a:rPr>
                                    <m:t>𝑘𝑗</m:t>
                                  </m:r>
                                </m:sub>
                              </m:sSub>
                              <m:r>
                                <a:rPr lang="en-US" altLang="ja-JP" sz="2800" i="1">
                                  <a:solidFill>
                                    <a:schemeClr val="tx1"/>
                                  </a:solidFill>
                                  <a:latin typeface="Cambria Math" panose="02040503050406030204" pitchFamily="18" charset="0"/>
                                </a:rPr>
                                <m:t>≠0</m:t>
                              </m:r>
                            </m:e>
                          </m:d>
                        </m:den>
                      </m:f>
                      <m:r>
                        <a:rPr kumimoji="1" lang="en-US" altLang="ja-JP" sz="2800" b="0" i="1" smtClean="0">
                          <a:solidFill>
                            <a:schemeClr val="tx1"/>
                          </a:solidFill>
                          <a:latin typeface="Cambria Math" panose="02040503050406030204" pitchFamily="18" charset="0"/>
                        </a:rPr>
                        <m:t>=</m:t>
                      </m:r>
                      <m:r>
                        <m:rPr>
                          <m:sty m:val="p"/>
                        </m:rPr>
                        <a:rPr kumimoji="1" lang="en-US" altLang="ja-JP" sz="2800" b="0" i="0" smtClean="0">
                          <a:solidFill>
                            <a:schemeClr val="tx1"/>
                          </a:solidFill>
                          <a:latin typeface="Cambria Math" panose="02040503050406030204" pitchFamily="18" charset="0"/>
                        </a:rPr>
                        <m:t>fdp</m:t>
                      </m:r>
                    </m:oMath>
                  </m:oMathPara>
                </a14:m>
                <a:endParaRPr kumimoji="1" lang="ja-JP" altLang="en-US" sz="2800">
                  <a:solidFill>
                    <a:schemeClr val="tx1"/>
                  </a:solidFill>
                </a:endParaRPr>
              </a:p>
            </p:txBody>
          </p:sp>
        </mc:Choice>
        <mc:Fallback xmlns="">
          <p:sp>
            <p:nvSpPr>
              <p:cNvPr id="5" name="角丸四角形 4">
                <a:extLst>
                  <a:ext uri="{FF2B5EF4-FFF2-40B4-BE49-F238E27FC236}">
                    <a16:creationId xmlns:a16="http://schemas.microsoft.com/office/drawing/2014/main" id="{7B6E0420-958B-DF65-7231-C885BAFCD64F}"/>
                  </a:ext>
                </a:extLst>
              </p:cNvPr>
              <p:cNvSpPr>
                <a:spLocks noRot="1" noChangeAspect="1" noMove="1" noResize="1" noEditPoints="1" noAdjustHandles="1" noChangeArrowheads="1" noChangeShapeType="1" noTextEdit="1"/>
              </p:cNvSpPr>
              <p:nvPr/>
            </p:nvSpPr>
            <p:spPr>
              <a:xfrm>
                <a:off x="4052454" y="3950805"/>
                <a:ext cx="5660887" cy="1113751"/>
              </a:xfrm>
              <a:prstGeom prst="roundRect">
                <a:avLst/>
              </a:prstGeom>
              <a:blipFill>
                <a:blip r:embed="rId5"/>
                <a:stretch>
                  <a:fillRect b="-5435"/>
                </a:stretch>
              </a:blipFill>
              <a:ln w="38100">
                <a:solidFill>
                  <a:srgbClr val="0070C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角丸四角形 16">
                <a:extLst>
                  <a:ext uri="{FF2B5EF4-FFF2-40B4-BE49-F238E27FC236}">
                    <a16:creationId xmlns:a16="http://schemas.microsoft.com/office/drawing/2014/main" id="{3D88ADD9-A4C0-D077-3FCD-1FED9CE68363}"/>
                  </a:ext>
                </a:extLst>
              </p:cNvPr>
              <p:cNvSpPr/>
              <p:nvPr/>
            </p:nvSpPr>
            <p:spPr>
              <a:xfrm>
                <a:off x="4052454" y="5398300"/>
                <a:ext cx="5660885" cy="532014"/>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kumimoji="1" lang="en-US" altLang="ja-JP" sz="2800" b="0" i="0" smtClean="0">
                          <a:solidFill>
                            <a:schemeClr val="tx1"/>
                          </a:solidFill>
                          <a:latin typeface="Cambria Math" panose="02040503050406030204" pitchFamily="18" charset="0"/>
                        </a:rPr>
                        <m:t>E</m:t>
                      </m:r>
                      <m:d>
                        <m:dPr>
                          <m:begChr m:val="["/>
                          <m:endChr m:val="]"/>
                          <m:ctrlPr>
                            <a:rPr kumimoji="1" lang="en-US" altLang="ja-JP" sz="2800" b="0" i="1" smtClean="0">
                              <a:solidFill>
                                <a:schemeClr val="tx1"/>
                              </a:solidFill>
                              <a:latin typeface="Cambria Math" panose="02040503050406030204" pitchFamily="18" charset="0"/>
                            </a:rPr>
                          </m:ctrlPr>
                        </m:dPr>
                        <m:e>
                          <m:r>
                            <m:rPr>
                              <m:sty m:val="p"/>
                            </m:rPr>
                            <a:rPr kumimoji="1" lang="en-US" altLang="ja-JP" sz="2800" b="0" i="0" smtClean="0">
                              <a:solidFill>
                                <a:schemeClr val="tx1"/>
                              </a:solidFill>
                              <a:latin typeface="Cambria Math" panose="02040503050406030204" pitchFamily="18" charset="0"/>
                            </a:rPr>
                            <m:t>fdp</m:t>
                          </m:r>
                        </m:e>
                      </m:d>
                      <m:r>
                        <a:rPr kumimoji="1" lang="en-US" altLang="ja-JP" sz="2800" b="0" i="1" smtClean="0">
                          <a:solidFill>
                            <a:schemeClr val="tx1"/>
                          </a:solidFill>
                          <a:latin typeface="Cambria Math" panose="02040503050406030204" pitchFamily="18" charset="0"/>
                        </a:rPr>
                        <m:t>=</m:t>
                      </m:r>
                      <m:r>
                        <m:rPr>
                          <m:sty m:val="p"/>
                        </m:rPr>
                        <a:rPr kumimoji="1" lang="en-US" altLang="ja-JP" sz="2800" b="0" i="0" smtClean="0">
                          <a:solidFill>
                            <a:schemeClr val="tx1"/>
                          </a:solidFill>
                          <a:latin typeface="Cambria Math" panose="02040503050406030204" pitchFamily="18" charset="0"/>
                        </a:rPr>
                        <m:t>FDP</m:t>
                      </m:r>
                    </m:oMath>
                  </m:oMathPara>
                </a14:m>
                <a:endParaRPr kumimoji="1" lang="ja-JP" altLang="en-US" sz="2800">
                  <a:solidFill>
                    <a:schemeClr val="tx1"/>
                  </a:solidFill>
                </a:endParaRPr>
              </a:p>
            </p:txBody>
          </p:sp>
        </mc:Choice>
        <mc:Fallback xmlns="">
          <p:sp>
            <p:nvSpPr>
              <p:cNvPr id="17" name="角丸四角形 16">
                <a:extLst>
                  <a:ext uri="{FF2B5EF4-FFF2-40B4-BE49-F238E27FC236}">
                    <a16:creationId xmlns:a16="http://schemas.microsoft.com/office/drawing/2014/main" id="{3D88ADD9-A4C0-D077-3FCD-1FED9CE68363}"/>
                  </a:ext>
                </a:extLst>
              </p:cNvPr>
              <p:cNvSpPr>
                <a:spLocks noRot="1" noChangeAspect="1" noMove="1" noResize="1" noEditPoints="1" noAdjustHandles="1" noChangeArrowheads="1" noChangeShapeType="1" noTextEdit="1"/>
              </p:cNvSpPr>
              <p:nvPr/>
            </p:nvSpPr>
            <p:spPr>
              <a:xfrm>
                <a:off x="4052454" y="5398300"/>
                <a:ext cx="5660885" cy="532014"/>
              </a:xfrm>
              <a:prstGeom prst="roundRect">
                <a:avLst/>
              </a:prstGeom>
              <a:blipFill>
                <a:blip r:embed="rId6"/>
                <a:stretch>
                  <a:fillRect b="-13043"/>
                </a:stretch>
              </a:blipFill>
              <a:ln w="38100">
                <a:solidFill>
                  <a:srgbClr val="0070C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角丸四角形 17">
                <a:extLst>
                  <a:ext uri="{FF2B5EF4-FFF2-40B4-BE49-F238E27FC236}">
                    <a16:creationId xmlns:a16="http://schemas.microsoft.com/office/drawing/2014/main" id="{14AFC9A6-1F9B-AC38-0BD6-79CD87A84B91}"/>
                  </a:ext>
                </a:extLst>
              </p:cNvPr>
              <p:cNvSpPr/>
              <p:nvPr/>
            </p:nvSpPr>
            <p:spPr>
              <a:xfrm>
                <a:off x="4052457" y="6240914"/>
                <a:ext cx="5660882" cy="532014"/>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kumimoji="1" lang="en-US" altLang="ja-JP" sz="2800" b="0" i="0" smtClean="0">
                          <a:solidFill>
                            <a:schemeClr val="tx1"/>
                          </a:solidFill>
                          <a:latin typeface="Cambria Math" panose="02040503050406030204" pitchFamily="18" charset="0"/>
                        </a:rPr>
                        <m:t>E</m:t>
                      </m:r>
                      <m:d>
                        <m:dPr>
                          <m:begChr m:val="["/>
                          <m:endChr m:val="]"/>
                          <m:ctrlPr>
                            <a:rPr kumimoji="1" lang="en-US" altLang="ja-JP" sz="2800" b="0" i="1" smtClean="0">
                              <a:solidFill>
                                <a:schemeClr val="tx1"/>
                              </a:solidFill>
                              <a:latin typeface="Cambria Math" panose="02040503050406030204" pitchFamily="18" charset="0"/>
                            </a:rPr>
                          </m:ctrlPr>
                        </m:dPr>
                        <m:e>
                          <m:r>
                            <m:rPr>
                              <m:sty m:val="p"/>
                            </m:rPr>
                            <a:rPr kumimoji="1" lang="en-US" altLang="ja-JP" sz="2800" b="0" i="0" smtClean="0">
                              <a:solidFill>
                                <a:schemeClr val="tx1"/>
                              </a:solidFill>
                              <a:latin typeface="Cambria Math" panose="02040503050406030204" pitchFamily="18" charset="0"/>
                            </a:rPr>
                            <m:t>FDP</m:t>
                          </m:r>
                        </m:e>
                      </m:d>
                      <m:r>
                        <a:rPr kumimoji="1" lang="en-US" altLang="ja-JP" sz="2800" b="0" i="1" smtClean="0">
                          <a:solidFill>
                            <a:schemeClr val="tx1"/>
                          </a:solidFill>
                          <a:latin typeface="Cambria Math" panose="02040503050406030204" pitchFamily="18" charset="0"/>
                        </a:rPr>
                        <m:t>=</m:t>
                      </m:r>
                      <m:r>
                        <m:rPr>
                          <m:sty m:val="p"/>
                        </m:rPr>
                        <a:rPr kumimoji="1" lang="en-US" altLang="ja-JP" sz="2800" b="0" i="0" smtClean="0">
                          <a:solidFill>
                            <a:schemeClr val="tx1"/>
                          </a:solidFill>
                          <a:latin typeface="Cambria Math" panose="02040503050406030204" pitchFamily="18" charset="0"/>
                        </a:rPr>
                        <m:t>FDR</m:t>
                      </m:r>
                    </m:oMath>
                  </m:oMathPara>
                </a14:m>
                <a:endParaRPr kumimoji="1" lang="ja-JP" altLang="en-US" sz="2800">
                  <a:solidFill>
                    <a:schemeClr val="tx1"/>
                  </a:solidFill>
                </a:endParaRPr>
              </a:p>
            </p:txBody>
          </p:sp>
        </mc:Choice>
        <mc:Fallback xmlns="">
          <p:sp>
            <p:nvSpPr>
              <p:cNvPr id="18" name="角丸四角形 17">
                <a:extLst>
                  <a:ext uri="{FF2B5EF4-FFF2-40B4-BE49-F238E27FC236}">
                    <a16:creationId xmlns:a16="http://schemas.microsoft.com/office/drawing/2014/main" id="{14AFC9A6-1F9B-AC38-0BD6-79CD87A84B91}"/>
                  </a:ext>
                </a:extLst>
              </p:cNvPr>
              <p:cNvSpPr>
                <a:spLocks noRot="1" noChangeAspect="1" noMove="1" noResize="1" noEditPoints="1" noAdjustHandles="1" noChangeArrowheads="1" noChangeShapeType="1" noTextEdit="1"/>
              </p:cNvSpPr>
              <p:nvPr/>
            </p:nvSpPr>
            <p:spPr>
              <a:xfrm>
                <a:off x="4052457" y="6240914"/>
                <a:ext cx="5660882" cy="532014"/>
              </a:xfrm>
              <a:prstGeom prst="roundRect">
                <a:avLst/>
              </a:prstGeom>
              <a:blipFill>
                <a:blip r:embed="rId7"/>
                <a:stretch>
                  <a:fillRect/>
                </a:stretch>
              </a:blipFill>
              <a:ln w="38100">
                <a:solidFill>
                  <a:srgbClr val="0070C0"/>
                </a:solidFill>
              </a:ln>
            </p:spPr>
            <p:txBody>
              <a:bodyPr/>
              <a:lstStyle/>
              <a:p>
                <a:r>
                  <a:rPr lang="ja-JP" altLang="en-US">
                    <a:noFill/>
                  </a:rPr>
                  <a:t> </a:t>
                </a:r>
              </a:p>
            </p:txBody>
          </p:sp>
        </mc:Fallback>
      </mc:AlternateContent>
      <p:cxnSp>
        <p:nvCxnSpPr>
          <p:cNvPr id="31" name="直線矢印コネクタ 30">
            <a:extLst>
              <a:ext uri="{FF2B5EF4-FFF2-40B4-BE49-F238E27FC236}">
                <a16:creationId xmlns:a16="http://schemas.microsoft.com/office/drawing/2014/main" id="{A369145C-90A6-02FF-05F1-85298DBD94B2}"/>
              </a:ext>
            </a:extLst>
          </p:cNvPr>
          <p:cNvCxnSpPr>
            <a:cxnSpLocks/>
          </p:cNvCxnSpPr>
          <p:nvPr/>
        </p:nvCxnSpPr>
        <p:spPr>
          <a:xfrm>
            <a:off x="2219496" y="2423276"/>
            <a:ext cx="805345" cy="0"/>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33" name="直線コネクタ 32">
            <a:extLst>
              <a:ext uri="{FF2B5EF4-FFF2-40B4-BE49-F238E27FC236}">
                <a16:creationId xmlns:a16="http://schemas.microsoft.com/office/drawing/2014/main" id="{C3C73B28-1C15-4640-02D4-004F0F1865BD}"/>
              </a:ext>
            </a:extLst>
          </p:cNvPr>
          <p:cNvCxnSpPr>
            <a:cxnSpLocks/>
          </p:cNvCxnSpPr>
          <p:nvPr/>
        </p:nvCxnSpPr>
        <p:spPr>
          <a:xfrm>
            <a:off x="2219496" y="2402174"/>
            <a:ext cx="0" cy="224745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29CBE320-80CF-9A5D-86C8-7FC1BC3F65B0}"/>
              </a:ext>
            </a:extLst>
          </p:cNvPr>
          <p:cNvCxnSpPr>
            <a:cxnSpLocks/>
          </p:cNvCxnSpPr>
          <p:nvPr/>
        </p:nvCxnSpPr>
        <p:spPr>
          <a:xfrm flipH="1">
            <a:off x="633150" y="5757581"/>
            <a:ext cx="3419304"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666083A4-921D-5EFA-791D-F21767091BDE}"/>
              </a:ext>
            </a:extLst>
          </p:cNvPr>
          <p:cNvCxnSpPr>
            <a:cxnSpLocks/>
          </p:cNvCxnSpPr>
          <p:nvPr/>
        </p:nvCxnSpPr>
        <p:spPr>
          <a:xfrm flipH="1">
            <a:off x="2219496" y="4657193"/>
            <a:ext cx="1832958"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D75F7510-ADEC-CA2B-1DAD-8EDAC3E1B5A0}"/>
              </a:ext>
            </a:extLst>
          </p:cNvPr>
          <p:cNvCxnSpPr>
            <a:cxnSpLocks/>
          </p:cNvCxnSpPr>
          <p:nvPr/>
        </p:nvCxnSpPr>
        <p:spPr>
          <a:xfrm flipV="1">
            <a:off x="633150" y="832073"/>
            <a:ext cx="0" cy="492550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56" name="直線矢印コネクタ 55">
            <a:extLst>
              <a:ext uri="{FF2B5EF4-FFF2-40B4-BE49-F238E27FC236}">
                <a16:creationId xmlns:a16="http://schemas.microsoft.com/office/drawing/2014/main" id="{039F0B7E-D184-83DF-7F84-D294BE751DCF}"/>
              </a:ext>
            </a:extLst>
          </p:cNvPr>
          <p:cNvCxnSpPr>
            <a:cxnSpLocks/>
          </p:cNvCxnSpPr>
          <p:nvPr/>
        </p:nvCxnSpPr>
        <p:spPr>
          <a:xfrm>
            <a:off x="633150" y="832073"/>
            <a:ext cx="3419304" cy="0"/>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58" name="直線矢印コネクタ 57">
            <a:extLst>
              <a:ext uri="{FF2B5EF4-FFF2-40B4-BE49-F238E27FC236}">
                <a16:creationId xmlns:a16="http://schemas.microsoft.com/office/drawing/2014/main" id="{9C4C1529-FDDB-2E1C-17CB-1FEF6B50346A}"/>
              </a:ext>
            </a:extLst>
          </p:cNvPr>
          <p:cNvCxnSpPr>
            <a:cxnSpLocks/>
          </p:cNvCxnSpPr>
          <p:nvPr/>
        </p:nvCxnSpPr>
        <p:spPr>
          <a:xfrm>
            <a:off x="6804537" y="997532"/>
            <a:ext cx="0" cy="228722"/>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61" name="直線矢印コネクタ 60">
            <a:extLst>
              <a:ext uri="{FF2B5EF4-FFF2-40B4-BE49-F238E27FC236}">
                <a16:creationId xmlns:a16="http://schemas.microsoft.com/office/drawing/2014/main" id="{7AFEC7CE-D9A2-8408-D4FE-5EA7C2B7C262}"/>
              </a:ext>
            </a:extLst>
          </p:cNvPr>
          <p:cNvCxnSpPr>
            <a:cxnSpLocks/>
          </p:cNvCxnSpPr>
          <p:nvPr/>
        </p:nvCxnSpPr>
        <p:spPr>
          <a:xfrm>
            <a:off x="6797185" y="3470690"/>
            <a:ext cx="0" cy="508381"/>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65" name="直線矢印コネクタ 64">
            <a:extLst>
              <a:ext uri="{FF2B5EF4-FFF2-40B4-BE49-F238E27FC236}">
                <a16:creationId xmlns:a16="http://schemas.microsoft.com/office/drawing/2014/main" id="{5345AEE4-6AD3-B2A6-CAE3-5E513E80156D}"/>
              </a:ext>
            </a:extLst>
          </p:cNvPr>
          <p:cNvCxnSpPr>
            <a:cxnSpLocks/>
          </p:cNvCxnSpPr>
          <p:nvPr/>
        </p:nvCxnSpPr>
        <p:spPr>
          <a:xfrm>
            <a:off x="6807086" y="5064556"/>
            <a:ext cx="0" cy="355981"/>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43D7692E-9B4C-1035-8387-5FF86BD30A5E}"/>
              </a:ext>
            </a:extLst>
          </p:cNvPr>
          <p:cNvCxnSpPr>
            <a:cxnSpLocks/>
          </p:cNvCxnSpPr>
          <p:nvPr/>
        </p:nvCxnSpPr>
        <p:spPr>
          <a:xfrm>
            <a:off x="6784067" y="5930314"/>
            <a:ext cx="0" cy="333744"/>
          </a:xfrm>
          <a:prstGeom prst="straightConnector1">
            <a:avLst/>
          </a:prstGeom>
          <a:ln w="38100">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70" name="正方形/長方形 69">
            <a:extLst>
              <a:ext uri="{FF2B5EF4-FFF2-40B4-BE49-F238E27FC236}">
                <a16:creationId xmlns:a16="http://schemas.microsoft.com/office/drawing/2014/main" id="{DE9676B0-4C9D-9758-17CC-ADE6A1C8ACB5}"/>
              </a:ext>
            </a:extLst>
          </p:cNvPr>
          <p:cNvSpPr/>
          <p:nvPr/>
        </p:nvSpPr>
        <p:spPr>
          <a:xfrm>
            <a:off x="1552745" y="3032572"/>
            <a:ext cx="1333502" cy="792856"/>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tx1"/>
                </a:solidFill>
              </a:rPr>
              <a:t>100</a:t>
            </a:r>
            <a:r>
              <a:rPr kumimoji="1" lang="ja-JP" altLang="en-US" sz="2800">
                <a:solidFill>
                  <a:schemeClr val="tx1"/>
                </a:solidFill>
              </a:rPr>
              <a:t>回反復</a:t>
            </a:r>
          </a:p>
        </p:txBody>
      </p:sp>
      <p:sp>
        <p:nvSpPr>
          <p:cNvPr id="72" name="正方形/長方形 71">
            <a:extLst>
              <a:ext uri="{FF2B5EF4-FFF2-40B4-BE49-F238E27FC236}">
                <a16:creationId xmlns:a16="http://schemas.microsoft.com/office/drawing/2014/main" id="{CEDDF994-690F-FC7C-3B76-76043EEE3FDF}"/>
              </a:ext>
            </a:extLst>
          </p:cNvPr>
          <p:cNvSpPr/>
          <p:nvPr/>
        </p:nvSpPr>
        <p:spPr>
          <a:xfrm>
            <a:off x="74187" y="3032572"/>
            <a:ext cx="1333502" cy="792856"/>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tx1"/>
                </a:solidFill>
              </a:rPr>
              <a:t>100</a:t>
            </a:r>
            <a:r>
              <a:rPr kumimoji="1" lang="ja-JP" altLang="en-US" sz="2800">
                <a:solidFill>
                  <a:schemeClr val="tx1"/>
                </a:solidFill>
              </a:rPr>
              <a:t>回反復</a:t>
            </a:r>
          </a:p>
        </p:txBody>
      </p:sp>
    </p:spTree>
    <p:extLst>
      <p:ext uri="{BB962C8B-B14F-4D97-AF65-F5344CB8AC3E}">
        <p14:creationId xmlns:p14="http://schemas.microsoft.com/office/powerpoint/2010/main" val="2662515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C258A-E08F-9B39-4931-B248040AD7C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BB7A702-1592-B775-7E6D-139FB5A8FB1A}"/>
                  </a:ext>
                </a:extLst>
              </p:cNvPr>
              <p:cNvSpPr>
                <a:spLocks noGrp="1"/>
              </p:cNvSpPr>
              <p:nvPr>
                <p:ph idx="1"/>
              </p:nvPr>
            </p:nvSpPr>
            <p:spPr>
              <a:xfrm>
                <a:off x="62346" y="646820"/>
                <a:ext cx="12067308" cy="5934503"/>
              </a:xfrm>
            </p:spPr>
            <p:txBody>
              <a:bodyPr>
                <a:noAutofit/>
              </a:bodyPr>
              <a:lstStyle/>
              <a:p>
                <a:pPr marL="0" indent="0">
                  <a:buNone/>
                </a:pPr>
                <a:r>
                  <a:rPr lang="ja-JP" altLang="en-US">
                    <a:latin typeface="+mn-ea"/>
                  </a:rPr>
                  <a:t>・人工データ</a:t>
                </a:r>
                <a14:m>
                  <m:oMath xmlns:m="http://schemas.openxmlformats.org/officeDocument/2006/math">
                    <m:r>
                      <a:rPr lang="en-US" altLang="ja-JP" i="1">
                        <a:latin typeface="Cambria Math" panose="02040503050406030204" pitchFamily="18" charset="0"/>
                      </a:rPr>
                      <m:t>𝑋</m:t>
                    </m:r>
                  </m:oMath>
                </a14:m>
                <a:r>
                  <a:rPr lang="ja-JP" altLang="en-US">
                    <a:latin typeface="+mn-ea"/>
                  </a:rPr>
                  <a:t>を発生</a:t>
                </a:r>
                <a:endParaRPr lang="en-US" altLang="ja-JP" dirty="0">
                  <a:latin typeface="+mn-ea"/>
                </a:endParaRPr>
              </a:p>
              <a:p>
                <a:pPr marL="0" indent="0" algn="ctr">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𝑋</m:t>
                      </m:r>
                      <m:r>
                        <a:rPr lang="en-US" altLang="ja-JP" i="1">
                          <a:latin typeface="Cambria Math" panose="02040503050406030204" pitchFamily="18" charset="0"/>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𝑛</m:t>
                                  </m:r>
                                </m:sub>
                              </m:sSub>
                            </m:e>
                          </m:d>
                        </m:e>
                        <m:sup>
                          <m:r>
                            <a:rPr lang="en-US" altLang="ja-JP" i="1">
                              <a:latin typeface="Cambria Math" panose="02040503050406030204" pitchFamily="18" charset="0"/>
                            </a:rPr>
                            <m:t>𝑇</m:t>
                          </m:r>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𝒙</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i="1">
                          <a:latin typeface="Cambria Math" panose="02040503050406030204" pitchFamily="18" charset="0"/>
                        </a:rPr>
                        <m:t>𝑁</m:t>
                      </m:r>
                      <m:d>
                        <m:dPr>
                          <m:ctrlPr>
                            <a:rPr lang="en-US" altLang="ja-JP" i="1">
                              <a:latin typeface="Cambria Math" panose="02040503050406030204" pitchFamily="18" charset="0"/>
                            </a:rPr>
                          </m:ctrlPr>
                        </m:dPr>
                        <m:e>
                          <m:r>
                            <a:rPr lang="en-US" altLang="ja-JP" b="1" i="1">
                              <a:latin typeface="Cambria Math" panose="02040503050406030204" pitchFamily="18" charset="0"/>
                            </a:rPr>
                            <m:t>𝟎</m:t>
                          </m:r>
                          <m:r>
                            <a:rPr lang="en-US" altLang="ja-JP" i="1">
                              <a:latin typeface="Cambria Math" panose="02040503050406030204" pitchFamily="18" charset="0"/>
                            </a:rPr>
                            <m:t>,</m:t>
                          </m:r>
                          <m:r>
                            <m:rPr>
                              <m:sty m:val="p"/>
                            </m:rPr>
                            <a:rPr lang="el-GR" altLang="ja-JP" i="1">
                              <a:latin typeface="Cambria Math" panose="02040503050406030204" pitchFamily="18" charset="0"/>
                              <a:ea typeface="Cambria Math" panose="02040503050406030204" pitchFamily="18" charset="0"/>
                            </a:rPr>
                            <m:t>Σ</m:t>
                          </m:r>
                        </m:e>
                      </m:d>
                    </m:oMath>
                  </m:oMathPara>
                </a14:m>
                <a:endParaRPr lang="en-US" altLang="ja-JP" i="1" dirty="0">
                  <a:latin typeface="Cambria Math" panose="02040503050406030204" pitchFamily="18" charset="0"/>
                </a:endParaRPr>
              </a:p>
              <a:p>
                <a:pPr marL="0" indent="0">
                  <a:buNone/>
                </a:pPr>
                <a:r>
                  <a:rPr lang="ja-JP" altLang="en-US">
                    <a:latin typeface="+mn-ea"/>
                  </a:rPr>
                  <a:t>　分散共分散行列</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Σ</m:t>
                    </m:r>
                  </m:oMath>
                </a14:m>
                <a:r>
                  <a:rPr lang="ja-JP" altLang="en-US">
                    <a:latin typeface="+mn-ea"/>
                  </a:rPr>
                  <a:t>は以下のように設定</a:t>
                </a:r>
                <a:endParaRPr lang="en-US" altLang="ja-JP" dirty="0">
                  <a:latin typeface="+mn-ea"/>
                </a:endParaRPr>
              </a:p>
              <a:p>
                <a:pPr marL="0" indent="0">
                  <a:buNone/>
                </a:pPr>
                <a:r>
                  <a:rPr lang="ja-JP" altLang="en-US">
                    <a:ea typeface="Cambria Math" panose="02040503050406030204" pitchFamily="18" charset="0"/>
                  </a:rPr>
                  <a:t>　　　　　　　　　　　　</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Σ</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𝑃</m:t>
                    </m:r>
                    <m:r>
                      <m:rPr>
                        <m:sty m:val="p"/>
                      </m:rPr>
                      <a:rPr lang="el-GR" altLang="ja-JP" i="1">
                        <a:latin typeface="Cambria Math" panose="02040503050406030204" pitchFamily="18" charset="0"/>
                        <a:ea typeface="Cambria Math" panose="02040503050406030204" pitchFamily="18" charset="0"/>
                      </a:rPr>
                      <m:t>Λ</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𝑃</m:t>
                        </m:r>
                      </m:e>
                      <m:sup>
                        <m:r>
                          <a:rPr lang="en-US" altLang="ja-JP" i="1">
                            <a:latin typeface="Cambria Math" panose="02040503050406030204" pitchFamily="18" charset="0"/>
                            <a:ea typeface="Cambria Math" panose="02040503050406030204" pitchFamily="18" charset="0"/>
                          </a:rPr>
                          <m:t>𝑇</m:t>
                        </m:r>
                      </m:sup>
                    </m:sSup>
                  </m:oMath>
                </a14:m>
                <a:endParaRPr lang="en-US" altLang="ja-JP" dirty="0">
                  <a:latin typeface="Cambria Math" panose="02040503050406030204" pitchFamily="18" charset="0"/>
                </a:endParaRPr>
              </a:p>
              <a:p>
                <a:pPr marL="0" indent="0">
                  <a:buNone/>
                </a:pPr>
                <a:r>
                  <a:rPr lang="ja-JP" altLang="en-US">
                    <a:latin typeface="Cambria Math" panose="02040503050406030204" pitchFamily="18" charset="0"/>
                  </a:rPr>
                  <a:t>　ただし</a:t>
                </a:r>
                <a:r>
                  <a:rPr lang="ja-JP" altLang="en-US"/>
                  <a:t>，</a:t>
                </a:r>
                <a14:m>
                  <m:oMath xmlns:m="http://schemas.openxmlformats.org/officeDocument/2006/math">
                    <m:r>
                      <a:rPr lang="en-US" altLang="ja-JP" i="1">
                        <a:latin typeface="Cambria Math" panose="02040503050406030204" pitchFamily="18" charset="0"/>
                      </a:rPr>
                      <m:t>𝑃</m:t>
                    </m:r>
                    <m:r>
                      <a:rPr lang="en-US" altLang="ja-JP" i="1">
                        <a:latin typeface="Cambria Math" panose="02040503050406030204" pitchFamily="18" charset="0"/>
                      </a:rPr>
                      <m:t>=</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b="1" i="1">
                                <a:latin typeface="Cambria Math" panose="02040503050406030204" pitchFamily="18" charset="0"/>
                              </a:rPr>
                              <m:t>𝒑</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1" i="1">
                                <a:latin typeface="Cambria Math" panose="02040503050406030204" pitchFamily="18" charset="0"/>
                              </a:rPr>
                              <m:t>𝒑</m:t>
                            </m:r>
                          </m:e>
                          <m:sub>
                            <m:r>
                              <a:rPr lang="en-US" altLang="ja-JP" i="1">
                                <a:latin typeface="Cambria Math" panose="02040503050406030204" pitchFamily="18" charset="0"/>
                              </a:rPr>
                              <m:t>15</m:t>
                            </m:r>
                          </m:sub>
                        </m:sSub>
                      </m:e>
                    </m:d>
                    <m:r>
                      <a:rPr lang="en-US" altLang="ja-JP" i="1">
                        <a:latin typeface="Cambria Math" panose="02040503050406030204" pitchFamily="18" charset="0"/>
                      </a:rPr>
                      <m:t>,</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smtClean="0">
                                <a:latin typeface="Cambria Math" panose="02040503050406030204" pitchFamily="18" charset="0"/>
                              </a:rPr>
                            </m:ctrlPr>
                          </m:accPr>
                          <m:e>
                            <m:r>
                              <a:rPr lang="en-US" altLang="ja-JP" b="1" i="1" smtClean="0">
                                <a:latin typeface="Cambria Math" panose="02040503050406030204" pitchFamily="18" charset="0"/>
                              </a:rPr>
                              <m:t>𝒑</m:t>
                            </m:r>
                          </m:e>
                        </m:acc>
                      </m:e>
                      <m:sub>
                        <m:r>
                          <a:rPr lang="en-US" altLang="ja-JP" i="1">
                            <a:latin typeface="Cambria Math" panose="02040503050406030204" pitchFamily="18" charset="0"/>
                          </a:rPr>
                          <m:t>1</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(1,1,0,1,0,1,1,0,0,0,0,0,0,0,0)</m:t>
                        </m:r>
                      </m:e>
                      <m:sup>
                        <m:r>
                          <a:rPr lang="en-US" altLang="ja-JP" i="1">
                            <a:latin typeface="Cambria Math" panose="02040503050406030204" pitchFamily="18" charset="0"/>
                          </a:rPr>
                          <m:t>𝑇</m:t>
                        </m:r>
                      </m:sup>
                    </m:sSup>
                    <m:r>
                      <a:rPr lang="en-US" altLang="ja-JP" i="1">
                        <a:latin typeface="Cambria Math" panose="02040503050406030204" pitchFamily="18" charset="0"/>
                      </a:rPr>
                      <m:t>, </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2</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(0,0,0,0,0,0,0,1,1,1,0,1,0,1,0)</m:t>
                        </m:r>
                      </m:e>
                      <m:sup>
                        <m:r>
                          <a:rPr lang="en-US" altLang="ja-JP" i="1">
                            <a:latin typeface="Cambria Math" panose="02040503050406030204" pitchFamily="18" charset="0"/>
                          </a:rPr>
                          <m:t>𝑇</m:t>
                        </m:r>
                      </m:sup>
                    </m:sSup>
                    <m:r>
                      <a:rPr lang="en-US" altLang="ja-JP" b="0" i="1" smtClean="0">
                        <a:latin typeface="Cambria Math" panose="02040503050406030204" pitchFamily="18" charset="0"/>
                      </a:rPr>
                      <m:t>,</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3</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(0,0,1,0,1,0,0,0,0,0,1,0,1,0,1)</m:t>
                        </m:r>
                      </m:e>
                      <m:sup>
                        <m:r>
                          <a:rPr lang="en-US" altLang="ja-JP" i="1">
                            <a:latin typeface="Cambria Math" panose="02040503050406030204" pitchFamily="18" charset="0"/>
                          </a:rPr>
                          <m:t>𝑇</m:t>
                        </m:r>
                      </m:sup>
                    </m:sSup>
                    <m:r>
                      <a:rPr lang="en-US" altLang="ja-JP" i="1">
                        <a:latin typeface="Cambria Math" panose="02040503050406030204" pitchFamily="18" charset="0"/>
                      </a:rPr>
                      <m:t>,</m:t>
                    </m:r>
                  </m:oMath>
                </a14:m>
                <a:endParaRPr lang="en-US" altLang="ja-JP" i="1" dirty="0">
                  <a:latin typeface="Cambria Math" panose="02040503050406030204" pitchFamily="18" charset="0"/>
                </a:endParaRPr>
              </a:p>
              <a:p>
                <a:pPr marL="0" indent="0">
                  <a:buNone/>
                </a:pPr>
                <a:r>
                  <a:rPr lang="en-US" altLang="ja-JP" dirty="0"/>
                  <a:t>                </a:t>
                </a:r>
                <a14:m>
                  <m:oMath xmlns:m="http://schemas.openxmlformats.org/officeDocument/2006/math">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4</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1" i="1">
                                <a:latin typeface="Cambria Math" panose="02040503050406030204" pitchFamily="18" charset="0"/>
                              </a:rPr>
                              <m:t>𝒑</m:t>
                            </m:r>
                          </m:e>
                        </m:acc>
                      </m:e>
                      <m:sub>
                        <m:r>
                          <a:rPr lang="en-US" altLang="ja-JP" i="1">
                            <a:latin typeface="Cambria Math" panose="02040503050406030204" pitchFamily="18" charset="0"/>
                          </a:rPr>
                          <m:t>15</m:t>
                        </m:r>
                      </m:sub>
                    </m:sSub>
                    <m:r>
                      <a:rPr lang="en-US" altLang="ja-JP" i="1">
                        <a:latin typeface="Cambria Math" panose="02040503050406030204" pitchFamily="18" charset="0"/>
                      </a:rPr>
                      <m:t>~</m:t>
                    </m:r>
                    <m:r>
                      <a:rPr lang="en-US" altLang="ja-JP" i="1">
                        <a:latin typeface="Cambria Math" panose="02040503050406030204" pitchFamily="18" charset="0"/>
                      </a:rPr>
                      <m:t>𝑁</m:t>
                    </m:r>
                    <m:r>
                      <a:rPr lang="en-US" altLang="ja-JP" i="1">
                        <a:latin typeface="Cambria Math" panose="02040503050406030204" pitchFamily="18" charset="0"/>
                      </a:rPr>
                      <m:t>(2,1)</m:t>
                    </m:r>
                  </m:oMath>
                </a14:m>
                <a:r>
                  <a:rPr lang="en-US" altLang="ja-JP" dirty="0">
                    <a:ea typeface="Cambria Math" panose="02040503050406030204" pitchFamily="18" charset="0"/>
                  </a:rPr>
                  <a:t>,</a:t>
                </a:r>
                <a:endParaRPr lang="en-US" altLang="ja-JP" i="1" dirty="0">
                  <a:latin typeface="Cambria Math" panose="02040503050406030204" pitchFamily="18" charset="0"/>
                  <a:ea typeface="Cambria Math" panose="02040503050406030204" pitchFamily="18" charset="0"/>
                </a:endParaRPr>
              </a:p>
              <a:p>
                <a:pPr marL="0" indent="0">
                  <a:buNone/>
                </a:pPr>
                <a:r>
                  <a:rPr lang="en-US" altLang="ja-JP" dirty="0">
                    <a:ea typeface="Cambria Math" panose="02040503050406030204" pitchFamily="18" charset="0"/>
                  </a:rPr>
                  <a:t>                </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Λ</m:t>
                    </m:r>
                    <m:r>
                      <a:rPr lang="en-US" altLang="ja-JP" i="1">
                        <a:latin typeface="Cambria Math" panose="02040503050406030204" pitchFamily="18" charset="0"/>
                        <a:ea typeface="Cambria Math" panose="02040503050406030204" pitchFamily="18" charset="0"/>
                      </a:rPr>
                      <m:t>=</m:t>
                    </m:r>
                    <m:r>
                      <m:rPr>
                        <m:sty m:val="p"/>
                      </m:rPr>
                      <a:rPr lang="en-US" altLang="ja-JP">
                        <a:latin typeface="Cambria Math" panose="02040503050406030204" pitchFamily="18" charset="0"/>
                        <a:ea typeface="Cambria Math" panose="02040503050406030204" pitchFamily="18" charset="0"/>
                      </a:rPr>
                      <m:t>diag</m:t>
                    </m:r>
                    <m:d>
                      <m:dPr>
                        <m:ctrlPr>
                          <a:rPr lang="en-US" altLang="ja-JP" i="1">
                            <a:latin typeface="Cambria Math" panose="02040503050406030204" pitchFamily="18" charset="0"/>
                            <a:ea typeface="Cambria Math" panose="02040503050406030204" pitchFamily="18" charset="0"/>
                          </a:rPr>
                        </m:ctrlPr>
                      </m:dPr>
                      <m:e>
                        <m:r>
                          <a:rPr lang="en-US" altLang="ja-JP" b="0" i="1" smtClean="0">
                            <a:latin typeface="Cambria Math" panose="02040503050406030204" pitchFamily="18" charset="0"/>
                            <a:ea typeface="Cambria Math" panose="02040503050406030204" pitchFamily="18" charset="0"/>
                          </a:rPr>
                          <m:t>𝐴</m:t>
                        </m:r>
                        <m:r>
                          <a:rPr lang="en-US" altLang="ja-JP" i="1">
                            <a:latin typeface="Cambria Math" panose="02040503050406030204" pitchFamily="18" charset="0"/>
                            <a:ea typeface="Cambria Math" panose="02040503050406030204" pitchFamily="18" charset="0"/>
                          </a:rPr>
                          <m:t>,5,2,1,1,1,1,1,1,1,1,1,1,1,1</m:t>
                        </m:r>
                      </m:e>
                    </m:d>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𝐴</m:t>
                    </m:r>
                    <m:r>
                      <a:rPr lang="en-US" altLang="ja-JP" b="0" i="1" smtClean="0">
                        <a:latin typeface="Cambria Math" panose="02040503050406030204" pitchFamily="18" charset="0"/>
                        <a:ea typeface="Cambria Math" panose="02040503050406030204" pitchFamily="18" charset="0"/>
                      </a:rPr>
                      <m:t>={20, 50}</m:t>
                    </m:r>
                  </m:oMath>
                </a14:m>
                <a:endParaRPr lang="en-US" altLang="ja-JP" dirty="0">
                  <a:latin typeface="+mn-ea"/>
                </a:endParaRPr>
              </a:p>
            </p:txBody>
          </p:sp>
        </mc:Choice>
        <mc:Fallback xmlns="">
          <p:sp>
            <p:nvSpPr>
              <p:cNvPr id="3" name="コンテンツ プレースホルダー 2">
                <a:extLst>
                  <a:ext uri="{FF2B5EF4-FFF2-40B4-BE49-F238E27FC236}">
                    <a16:creationId xmlns:a16="http://schemas.microsoft.com/office/drawing/2014/main" id="{DBB7A702-1592-B775-7E6D-139FB5A8FB1A}"/>
                  </a:ext>
                </a:extLst>
              </p:cNvPr>
              <p:cNvSpPr>
                <a:spLocks noGrp="1" noRot="1" noChangeAspect="1" noMove="1" noResize="1" noEditPoints="1" noAdjustHandles="1" noChangeArrowheads="1" noChangeShapeType="1" noTextEdit="1"/>
              </p:cNvSpPr>
              <p:nvPr>
                <p:ph idx="1"/>
              </p:nvPr>
            </p:nvSpPr>
            <p:spPr>
              <a:xfrm>
                <a:off x="62346" y="646820"/>
                <a:ext cx="12067308" cy="5934503"/>
              </a:xfrm>
              <a:blipFill>
                <a:blip r:embed="rId3"/>
                <a:stretch>
                  <a:fillRect l="-1050" t="-1706"/>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EDDE9C3F-C839-1A31-3274-74FE0C01F155}"/>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rPr>
              <a:t>数値実験</a:t>
            </a:r>
            <a:endParaRPr lang="ja-JP" altLang="en-US" b="1">
              <a:solidFill>
                <a:srgbClr val="FFC000"/>
              </a:solidFill>
              <a:latin typeface="+mj-ea"/>
            </a:endParaRPr>
          </a:p>
        </p:txBody>
      </p:sp>
      <p:sp>
        <p:nvSpPr>
          <p:cNvPr id="4" name="右中かっこ 3">
            <a:extLst>
              <a:ext uri="{FF2B5EF4-FFF2-40B4-BE49-F238E27FC236}">
                <a16:creationId xmlns:a16="http://schemas.microsoft.com/office/drawing/2014/main" id="{0C508BA4-8755-3249-5437-EB6EAD907278}"/>
              </a:ext>
            </a:extLst>
          </p:cNvPr>
          <p:cNvSpPr/>
          <p:nvPr/>
        </p:nvSpPr>
        <p:spPr>
          <a:xfrm>
            <a:off x="7038607" y="2971799"/>
            <a:ext cx="309250" cy="1992087"/>
          </a:xfrm>
          <a:prstGeom prst="righ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7C35CD2A-8EE7-CA07-E2F4-C3D8D14488A0}"/>
              </a:ext>
            </a:extLst>
          </p:cNvPr>
          <p:cNvSpPr txBox="1"/>
          <p:nvPr/>
        </p:nvSpPr>
        <p:spPr>
          <a:xfrm>
            <a:off x="7410203" y="3706232"/>
            <a:ext cx="1980029" cy="523220"/>
          </a:xfrm>
          <a:prstGeom prst="rect">
            <a:avLst/>
          </a:prstGeom>
          <a:noFill/>
        </p:spPr>
        <p:txBody>
          <a:bodyPr wrap="none" rtlCol="0">
            <a:spAutoFit/>
          </a:bodyPr>
          <a:lstStyle/>
          <a:p>
            <a:r>
              <a:rPr kumimoji="1" lang="ja-JP" altLang="en-US" sz="2800"/>
              <a:t>直交化する</a:t>
            </a:r>
          </a:p>
        </p:txBody>
      </p:sp>
    </p:spTree>
    <p:extLst>
      <p:ext uri="{BB962C8B-B14F-4D97-AF65-F5344CB8AC3E}">
        <p14:creationId xmlns:p14="http://schemas.microsoft.com/office/powerpoint/2010/main" val="203026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4FC1-4A1B-B935-5FD4-36063A47004F}"/>
            </a:ext>
          </a:extLst>
        </p:cNvPr>
        <p:cNvGrpSpPr/>
        <p:nvPr/>
      </p:nvGrpSpPr>
      <p:grpSpPr>
        <a:xfrm>
          <a:off x="0" y="0"/>
          <a:ext cx="0" cy="0"/>
          <a:chOff x="0" y="0"/>
          <a:chExt cx="0" cy="0"/>
        </a:xfrm>
      </p:grpSpPr>
      <p:sp>
        <p:nvSpPr>
          <p:cNvPr id="23" name="タイトル 1">
            <a:extLst>
              <a:ext uri="{FF2B5EF4-FFF2-40B4-BE49-F238E27FC236}">
                <a16:creationId xmlns:a16="http://schemas.microsoft.com/office/drawing/2014/main" id="{4245723C-D79D-89AB-F647-E27C36C33E8E}"/>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実験結果</a:t>
            </a:r>
            <a:endParaRPr lang="ja-JP" altLang="en-US" b="1">
              <a:solidFill>
                <a:srgbClr val="FFC000"/>
              </a:solidFill>
              <a:latin typeface="+mj-ea"/>
            </a:endParaRPr>
          </a:p>
        </p:txBody>
      </p:sp>
      <p:sp>
        <p:nvSpPr>
          <p:cNvPr id="6" name="テキスト ボックス 5">
            <a:extLst>
              <a:ext uri="{FF2B5EF4-FFF2-40B4-BE49-F238E27FC236}">
                <a16:creationId xmlns:a16="http://schemas.microsoft.com/office/drawing/2014/main" id="{192D072F-1F73-0EA4-4227-5E4D78E971D3}"/>
              </a:ext>
            </a:extLst>
          </p:cNvPr>
          <p:cNvSpPr txBox="1"/>
          <p:nvPr/>
        </p:nvSpPr>
        <p:spPr>
          <a:xfrm>
            <a:off x="2360141" y="104383"/>
            <a:ext cx="8163100" cy="584775"/>
          </a:xfrm>
          <a:prstGeom prst="rect">
            <a:avLst/>
          </a:prstGeom>
          <a:noFill/>
        </p:spPr>
        <p:txBody>
          <a:bodyPr wrap="square" rtlCol="0">
            <a:spAutoFit/>
          </a:bodyPr>
          <a:lstStyle/>
          <a:p>
            <a:r>
              <a:rPr kumimoji="1" lang="en-US" altLang="ja-JP" sz="3200" dirty="0"/>
              <a:t>&lt;</a:t>
            </a:r>
            <a:r>
              <a:rPr kumimoji="1" lang="ja-JP" altLang="en-US" sz="3200"/>
              <a:t>第</a:t>
            </a:r>
            <a:r>
              <a:rPr kumimoji="1" lang="en-US" altLang="ja-JP" sz="3200" dirty="0"/>
              <a:t>1</a:t>
            </a:r>
            <a:r>
              <a:rPr kumimoji="1" lang="ja-JP" altLang="en-US" sz="3200"/>
              <a:t>主成分</a:t>
            </a:r>
            <a:r>
              <a:rPr kumimoji="1" lang="en-US" altLang="ja-JP" sz="3200" dirty="0"/>
              <a:t>&gt;</a:t>
            </a:r>
            <a:endParaRPr kumimoji="1" lang="ja-JP" altLang="en-US" sz="3200"/>
          </a:p>
        </p:txBody>
      </p:sp>
      <mc:AlternateContent xmlns:mc="http://schemas.openxmlformats.org/markup-compatibility/2006">
        <mc:Choice xmlns:a14="http://schemas.microsoft.com/office/drawing/2010/main" Requires="a14">
          <p:graphicFrame>
            <p:nvGraphicFramePr>
              <p:cNvPr id="3" name="表 2">
                <a:extLst>
                  <a:ext uri="{FF2B5EF4-FFF2-40B4-BE49-F238E27FC236}">
                    <a16:creationId xmlns:a16="http://schemas.microsoft.com/office/drawing/2014/main" id="{3EE789AE-3C91-6092-35FA-FBFC67E04569}"/>
                  </a:ext>
                </a:extLst>
              </p:cNvPr>
              <p:cNvGraphicFramePr>
                <a:graphicFrameLocks noGrp="1"/>
              </p:cNvGraphicFramePr>
              <p:nvPr>
                <p:extLst>
                  <p:ext uri="{D42A27DB-BD31-4B8C-83A1-F6EECF244321}">
                    <p14:modId xmlns:p14="http://schemas.microsoft.com/office/powerpoint/2010/main" val="434870782"/>
                  </p:ext>
                </p:extLst>
              </p:nvPr>
            </p:nvGraphicFramePr>
            <p:xfrm>
              <a:off x="155848" y="689158"/>
              <a:ext cx="11880301" cy="5943600"/>
            </p:xfrm>
            <a:graphic>
              <a:graphicData uri="http://schemas.openxmlformats.org/drawingml/2006/table">
                <a:tbl>
                  <a:tblPr firstRow="1" bandRow="1">
                    <a:tableStyleId>{5940675A-B579-460E-94D1-54222C63F5DA}</a:tableStyleId>
                  </a:tblPr>
                  <a:tblGrid>
                    <a:gridCol w="1702034">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02189">
                    <a:tc>
                      <a:txBody>
                        <a:bodyPr/>
                        <a:lstStyle/>
                        <a:p>
                          <a:pPr algn="ctr"/>
                          <a:endParaRPr kumimoji="1" lang="ja-JP" altLang="en-US" sz="2400"/>
                        </a:p>
                      </a:txBody>
                      <a:tcPr anchor="ctr">
                        <a:lnR w="12700" cmpd="sng">
                          <a:noFill/>
                        </a:lnR>
                      </a:tcPr>
                    </a:tc>
                    <a:tc>
                      <a:txBody>
                        <a:bodyPr/>
                        <a:lstStyle/>
                        <a:p>
                          <a:pPr algn="ctr"/>
                          <a:endParaRPr kumimoji="1" lang="ja-JP" altLang="en-US" sz="2400"/>
                        </a:p>
                      </a:txBody>
                      <a:tcPr anchor="ctr">
                        <a:lnL w="12700" cmpd="sng">
                          <a:noFill/>
                        </a:lnL>
                        <a:lnR w="12700" cmpd="sng">
                          <a:noFill/>
                        </a:lnR>
                      </a:tcPr>
                    </a:tc>
                    <a:tc>
                      <a:txBody>
                        <a:bodyPr/>
                        <a:lstStyle/>
                        <a:p>
                          <a:pPr algn="ctr"/>
                          <a:endParaRPr kumimoji="1" lang="ja-JP" altLang="en-US" sz="2400"/>
                        </a:p>
                      </a:txBody>
                      <a:tcPr anchor="ctr">
                        <a:lnL w="12700" cmpd="sng">
                          <a:noFill/>
                        </a:lnL>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=20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=50</m:t>
                                </m:r>
                              </m:oMath>
                            </m:oMathPara>
                          </a14:m>
                          <a:endParaRPr kumimoji="1" lang="ja-JP" altLang="en-US" sz="2400"/>
                        </a:p>
                      </a:txBody>
                      <a:tcPr anchor="ctr"/>
                    </a:tc>
                    <a:extLst>
                      <a:ext uri="{0D108BD9-81ED-4DB2-BD59-A6C34878D82A}">
                        <a16:rowId xmlns:a16="http://schemas.microsoft.com/office/drawing/2014/main" val="1849278843"/>
                      </a:ext>
                    </a:extLst>
                  </a:tr>
                  <a:tr h="402189">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=200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0.1807 (0.06727)</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0.1735 (0.05748)</m:t>
                                </m:r>
                              </m:oMath>
                            </m:oMathPara>
                          </a14:m>
                          <a:endParaRPr kumimoji="1" lang="ja-JP" altLang="en-US" sz="2400">
                            <a:solidFill>
                              <a:srgbClr val="FF0000"/>
                            </a:solidFill>
                          </a:endParaRPr>
                        </a:p>
                      </a:txBody>
                      <a:tcPr anchor="ctr"/>
                    </a:tc>
                    <a:extLst>
                      <a:ext uri="{0D108BD9-81ED-4DB2-BD59-A6C34878D82A}">
                        <a16:rowId xmlns:a16="http://schemas.microsoft.com/office/drawing/2014/main" val="2832404967"/>
                      </a:ext>
                    </a:extLst>
                  </a:tr>
                  <a:tr h="402189">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3032401985"/>
                      </a:ext>
                    </a:extLst>
                  </a:tr>
                  <a:tr h="402189">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0.3225 (0.2084)</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0.3518 (0.1906)</m:t>
                                </m:r>
                              </m:oMath>
                            </m:oMathPara>
                          </a14:m>
                          <a:endParaRPr kumimoji="1" lang="ja-JP" altLang="en-US" sz="2400"/>
                        </a:p>
                      </a:txBody>
                      <a:tcPr anchor="ctr"/>
                    </a:tc>
                    <a:extLst>
                      <a:ext uri="{0D108BD9-81ED-4DB2-BD59-A6C34878D82A}">
                        <a16:rowId xmlns:a16="http://schemas.microsoft.com/office/drawing/2014/main" val="780486150"/>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0.984 (0.1160)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3810239069"/>
                      </a:ext>
                    </a:extLst>
                  </a:tr>
                  <a:tr h="402189">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=500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0.1780 (0.06173)</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0.1871 (0.06809)</m:t>
                                </m:r>
                              </m:oMath>
                            </m:oMathPara>
                          </a14:m>
                          <a:endParaRPr kumimoji="1" lang="ja-JP" altLang="en-US" sz="2400">
                            <a:solidFill>
                              <a:srgbClr val="FF0000"/>
                            </a:solidFill>
                          </a:endParaRPr>
                        </a:p>
                      </a:txBody>
                      <a:tcPr anchor="ctr"/>
                    </a:tc>
                    <a:extLst>
                      <a:ext uri="{0D108BD9-81ED-4DB2-BD59-A6C34878D82A}">
                        <a16:rowId xmlns:a16="http://schemas.microsoft.com/office/drawing/2014/main" val="1919420054"/>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1345976635"/>
                      </a:ext>
                    </a:extLst>
                  </a:tr>
                  <a:tr h="402189">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0.3198 (0.1847)</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0.2986 (0.1792)</m:t>
                                </m:r>
                              </m:oMath>
                            </m:oMathPara>
                          </a14:m>
                          <a:endParaRPr kumimoji="1" lang="ja-JP" altLang="en-US" sz="2400"/>
                        </a:p>
                      </a:txBody>
                      <a:tcPr anchor="ctr"/>
                    </a:tc>
                    <a:extLst>
                      <a:ext uri="{0D108BD9-81ED-4DB2-BD59-A6C34878D82A}">
                        <a16:rowId xmlns:a16="http://schemas.microsoft.com/office/drawing/2014/main" val="1479030581"/>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2748241918"/>
                      </a:ext>
                    </a:extLst>
                  </a:tr>
                  <a:tr h="40218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=1000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0.1801 (0.05605)</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chemeClr val="tx1"/>
                                    </a:solidFill>
                                    <a:latin typeface="Cambria Math" panose="02040503050406030204" pitchFamily="18" charset="0"/>
                                  </a:rPr>
                                  <m:t>0.20009 (0.06678)</m:t>
                                </m:r>
                              </m:oMath>
                            </m:oMathPara>
                          </a14:m>
                          <a:endParaRPr kumimoji="1" lang="ja-JP" altLang="en-US" sz="2400">
                            <a:solidFill>
                              <a:schemeClr val="tx1"/>
                            </a:solidFill>
                          </a:endParaRPr>
                        </a:p>
                      </a:txBody>
                      <a:tcPr anchor="ctr"/>
                    </a:tc>
                    <a:extLst>
                      <a:ext uri="{0D108BD9-81ED-4DB2-BD59-A6C34878D82A}">
                        <a16:rowId xmlns:a16="http://schemas.microsoft.com/office/drawing/2014/main" val="1625413015"/>
                      </a:ext>
                    </a:extLst>
                  </a:tr>
                  <a:tr h="402189">
                    <a:tc vMerge="1">
                      <a:txBody>
                        <a:bodyPr/>
                        <a:lstStyle/>
                        <a:p>
                          <a:pPr algn="ct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675711395"/>
                      </a:ext>
                    </a:extLst>
                  </a:tr>
                  <a:tr h="40218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2389290887"/>
                      </a:ext>
                    </a:extLst>
                  </a:tr>
                  <a:tr h="40218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3414858699"/>
                      </a:ext>
                    </a:extLst>
                  </a:tr>
                </a:tbl>
              </a:graphicData>
            </a:graphic>
          </p:graphicFrame>
        </mc:Choice>
        <mc:Fallback>
          <p:graphicFrame>
            <p:nvGraphicFramePr>
              <p:cNvPr id="3" name="表 2">
                <a:extLst>
                  <a:ext uri="{FF2B5EF4-FFF2-40B4-BE49-F238E27FC236}">
                    <a16:creationId xmlns:a16="http://schemas.microsoft.com/office/drawing/2014/main" id="{3EE789AE-3C91-6092-35FA-FBFC67E04569}"/>
                  </a:ext>
                </a:extLst>
              </p:cNvPr>
              <p:cNvGraphicFramePr>
                <a:graphicFrameLocks noGrp="1"/>
              </p:cNvGraphicFramePr>
              <p:nvPr>
                <p:extLst>
                  <p:ext uri="{D42A27DB-BD31-4B8C-83A1-F6EECF244321}">
                    <p14:modId xmlns:p14="http://schemas.microsoft.com/office/powerpoint/2010/main" val="434870782"/>
                  </p:ext>
                </p:extLst>
              </p:nvPr>
            </p:nvGraphicFramePr>
            <p:xfrm>
              <a:off x="155848" y="689158"/>
              <a:ext cx="11880301" cy="5943600"/>
            </p:xfrm>
            <a:graphic>
              <a:graphicData uri="http://schemas.openxmlformats.org/drawingml/2006/table">
                <a:tbl>
                  <a:tblPr firstRow="1" bandRow="1">
                    <a:tableStyleId>{5940675A-B579-460E-94D1-54222C63F5DA}</a:tableStyleId>
                  </a:tblPr>
                  <a:tblGrid>
                    <a:gridCol w="1702034">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57200">
                    <a:tc>
                      <a:txBody>
                        <a:bodyPr/>
                        <a:lstStyle/>
                        <a:p>
                          <a:pPr algn="ctr"/>
                          <a:endParaRPr kumimoji="1" lang="ja-JP" altLang="en-US" sz="2400"/>
                        </a:p>
                      </a:txBody>
                      <a:tcPr anchor="ctr">
                        <a:lnR w="12700" cmpd="sng">
                          <a:noFill/>
                        </a:lnR>
                      </a:tcPr>
                    </a:tc>
                    <a:tc>
                      <a:txBody>
                        <a:bodyPr/>
                        <a:lstStyle/>
                        <a:p>
                          <a:pPr algn="ctr"/>
                          <a:endParaRPr kumimoji="1" lang="ja-JP" altLang="en-US" sz="2400"/>
                        </a:p>
                      </a:txBody>
                      <a:tcPr anchor="ctr">
                        <a:lnL w="12700" cmpd="sng">
                          <a:noFill/>
                        </a:lnL>
                        <a:lnR w="12700" cmpd="sng">
                          <a:noFill/>
                        </a:lnR>
                      </a:tcPr>
                    </a:tc>
                    <a:tc>
                      <a:txBody>
                        <a:bodyPr/>
                        <a:lstStyle/>
                        <a:p>
                          <a:pPr algn="ctr"/>
                          <a:endParaRPr kumimoji="1" lang="ja-JP" altLang="en-US" sz="2400"/>
                        </a:p>
                      </a:txBody>
                      <a:tcPr anchor="ctr">
                        <a:lnL w="12700" cmpd="sng">
                          <a:noFill/>
                        </a:lnL>
                      </a:tcPr>
                    </a:tc>
                    <a:tc>
                      <a:txBody>
                        <a:bodyPr/>
                        <a:lstStyle/>
                        <a:p>
                          <a:endParaRPr lang="ja-JP"/>
                        </a:p>
                      </a:txBody>
                      <a:tcPr anchor="ctr">
                        <a:blipFill>
                          <a:blip r:embed="rId3"/>
                          <a:stretch>
                            <a:fillRect l="-175203" t="-2778" r="-106098" b="-1233333"/>
                          </a:stretch>
                        </a:blipFill>
                      </a:tcPr>
                    </a:tc>
                    <a:tc>
                      <a:txBody>
                        <a:bodyPr/>
                        <a:lstStyle/>
                        <a:p>
                          <a:endParaRPr lang="ja-JP"/>
                        </a:p>
                      </a:txBody>
                      <a:tcPr anchor="ctr">
                        <a:blipFill>
                          <a:blip r:embed="rId3"/>
                          <a:stretch>
                            <a:fillRect l="-260385" t="-2778" r="-385" b="-1233333"/>
                          </a:stretch>
                        </a:blipFill>
                      </a:tcPr>
                    </a:tc>
                    <a:extLst>
                      <a:ext uri="{0D108BD9-81ED-4DB2-BD59-A6C34878D82A}">
                        <a16:rowId xmlns:a16="http://schemas.microsoft.com/office/drawing/2014/main" val="1849278843"/>
                      </a:ext>
                    </a:extLst>
                  </a:tr>
                  <a:tr h="457200">
                    <a:tc rowSpan="4">
                      <a:txBody>
                        <a:bodyPr/>
                        <a:lstStyle/>
                        <a:p>
                          <a:endParaRPr lang="ja-JP"/>
                        </a:p>
                      </a:txBody>
                      <a:tcPr anchor="ctr">
                        <a:blipFill>
                          <a:blip r:embed="rId3"/>
                          <a:stretch>
                            <a:fillRect l="-746" t="-25694" r="-599254" b="-208333"/>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102778" r="-106098" b="-1133333"/>
                          </a:stretch>
                        </a:blipFill>
                      </a:tcPr>
                    </a:tc>
                    <a:tc>
                      <a:txBody>
                        <a:bodyPr/>
                        <a:lstStyle/>
                        <a:p>
                          <a:endParaRPr lang="ja-JP"/>
                        </a:p>
                      </a:txBody>
                      <a:tcPr anchor="ctr">
                        <a:blipFill>
                          <a:blip r:embed="rId3"/>
                          <a:stretch>
                            <a:fillRect l="-260385" t="-102778" r="-385" b="-1133333"/>
                          </a:stretch>
                        </a:blipFill>
                      </a:tcPr>
                    </a:tc>
                    <a:extLst>
                      <a:ext uri="{0D108BD9-81ED-4DB2-BD59-A6C34878D82A}">
                        <a16:rowId xmlns:a16="http://schemas.microsoft.com/office/drawing/2014/main" val="2832404967"/>
                      </a:ext>
                    </a:extLst>
                  </a:tr>
                  <a:tr h="457200">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400"/>
                            <a:t>検出力</a:t>
                          </a:r>
                        </a:p>
                      </a:txBody>
                      <a:tcPr anchor="ctr"/>
                    </a:tc>
                    <a:tc>
                      <a:txBody>
                        <a:bodyPr/>
                        <a:lstStyle/>
                        <a:p>
                          <a:endParaRPr lang="ja-JP"/>
                        </a:p>
                      </a:txBody>
                      <a:tcPr anchor="ctr">
                        <a:blipFill>
                          <a:blip r:embed="rId3"/>
                          <a:stretch>
                            <a:fillRect l="-175203" t="-202778" r="-106098" b="-1033333"/>
                          </a:stretch>
                        </a:blipFill>
                      </a:tcPr>
                    </a:tc>
                    <a:tc>
                      <a:txBody>
                        <a:bodyPr/>
                        <a:lstStyle/>
                        <a:p>
                          <a:endParaRPr lang="ja-JP"/>
                        </a:p>
                      </a:txBody>
                      <a:tcPr anchor="ctr">
                        <a:blipFill>
                          <a:blip r:embed="rId3"/>
                          <a:stretch>
                            <a:fillRect l="-260385" t="-202778" r="-385" b="-1033333"/>
                          </a:stretch>
                        </a:blipFill>
                      </a:tcPr>
                    </a:tc>
                    <a:extLst>
                      <a:ext uri="{0D108BD9-81ED-4DB2-BD59-A6C34878D82A}">
                        <a16:rowId xmlns:a16="http://schemas.microsoft.com/office/drawing/2014/main" val="3032401985"/>
                      </a:ext>
                    </a:extLst>
                  </a:tr>
                  <a:tr h="457200">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302778" r="-106098" b="-933333"/>
                          </a:stretch>
                        </a:blipFill>
                      </a:tcPr>
                    </a:tc>
                    <a:tc>
                      <a:txBody>
                        <a:bodyPr/>
                        <a:lstStyle/>
                        <a:p>
                          <a:endParaRPr lang="ja-JP"/>
                        </a:p>
                      </a:txBody>
                      <a:tcPr anchor="ctr">
                        <a:blipFill>
                          <a:blip r:embed="rId3"/>
                          <a:stretch>
                            <a:fillRect l="-260385" t="-302778" r="-385" b="-933333"/>
                          </a:stretch>
                        </a:blipFill>
                      </a:tcPr>
                    </a:tc>
                    <a:extLst>
                      <a:ext uri="{0D108BD9-81ED-4DB2-BD59-A6C34878D82A}">
                        <a16:rowId xmlns:a16="http://schemas.microsoft.com/office/drawing/2014/main" val="780486150"/>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402778" r="-106098" b="-833333"/>
                          </a:stretch>
                        </a:blipFill>
                      </a:tcPr>
                    </a:tc>
                    <a:tc>
                      <a:txBody>
                        <a:bodyPr/>
                        <a:lstStyle/>
                        <a:p>
                          <a:endParaRPr lang="ja-JP"/>
                        </a:p>
                      </a:txBody>
                      <a:tcPr anchor="ctr">
                        <a:blipFill>
                          <a:blip r:embed="rId3"/>
                          <a:stretch>
                            <a:fillRect l="-260385" t="-402778" r="-385" b="-833333"/>
                          </a:stretch>
                        </a:blipFill>
                      </a:tcPr>
                    </a:tc>
                    <a:extLst>
                      <a:ext uri="{0D108BD9-81ED-4DB2-BD59-A6C34878D82A}">
                        <a16:rowId xmlns:a16="http://schemas.microsoft.com/office/drawing/2014/main" val="3810239069"/>
                      </a:ext>
                    </a:extLst>
                  </a:tr>
                  <a:tr h="457200">
                    <a:tc rowSpan="4">
                      <a:txBody>
                        <a:bodyPr/>
                        <a:lstStyle/>
                        <a:p>
                          <a:endParaRPr lang="ja-JP"/>
                        </a:p>
                      </a:txBody>
                      <a:tcPr anchor="ctr">
                        <a:blipFill>
                          <a:blip r:embed="rId3"/>
                          <a:stretch>
                            <a:fillRect l="-746" t="-124828" r="-599254" b="-106897"/>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502778" r="-106098" b="-733333"/>
                          </a:stretch>
                        </a:blipFill>
                      </a:tcPr>
                    </a:tc>
                    <a:tc>
                      <a:txBody>
                        <a:bodyPr/>
                        <a:lstStyle/>
                        <a:p>
                          <a:endParaRPr lang="ja-JP"/>
                        </a:p>
                      </a:txBody>
                      <a:tcPr anchor="ctr">
                        <a:blipFill>
                          <a:blip r:embed="rId3"/>
                          <a:stretch>
                            <a:fillRect l="-260385" t="-502778" r="-385" b="-733333"/>
                          </a:stretch>
                        </a:blipFill>
                      </a:tcPr>
                    </a:tc>
                    <a:extLst>
                      <a:ext uri="{0D108BD9-81ED-4DB2-BD59-A6C34878D82A}">
                        <a16:rowId xmlns:a16="http://schemas.microsoft.com/office/drawing/2014/main" val="1919420054"/>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586486" r="-106098" b="-613514"/>
                          </a:stretch>
                        </a:blipFill>
                      </a:tcPr>
                    </a:tc>
                    <a:tc>
                      <a:txBody>
                        <a:bodyPr/>
                        <a:lstStyle/>
                        <a:p>
                          <a:endParaRPr lang="ja-JP"/>
                        </a:p>
                      </a:txBody>
                      <a:tcPr anchor="ctr">
                        <a:blipFill>
                          <a:blip r:embed="rId3"/>
                          <a:stretch>
                            <a:fillRect l="-260385" t="-586486" r="-385" b="-613514"/>
                          </a:stretch>
                        </a:blipFill>
                      </a:tcPr>
                    </a:tc>
                    <a:extLst>
                      <a:ext uri="{0D108BD9-81ED-4DB2-BD59-A6C34878D82A}">
                        <a16:rowId xmlns:a16="http://schemas.microsoft.com/office/drawing/2014/main" val="1345976635"/>
                      </a:ext>
                    </a:extLst>
                  </a:tr>
                  <a:tr h="457200">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705556" r="-106098" b="-530556"/>
                          </a:stretch>
                        </a:blipFill>
                      </a:tcPr>
                    </a:tc>
                    <a:tc>
                      <a:txBody>
                        <a:bodyPr/>
                        <a:lstStyle/>
                        <a:p>
                          <a:endParaRPr lang="ja-JP"/>
                        </a:p>
                      </a:txBody>
                      <a:tcPr anchor="ctr">
                        <a:blipFill>
                          <a:blip r:embed="rId3"/>
                          <a:stretch>
                            <a:fillRect l="-260385" t="-705556" r="-385" b="-530556"/>
                          </a:stretch>
                        </a:blipFill>
                      </a:tcPr>
                    </a:tc>
                    <a:extLst>
                      <a:ext uri="{0D108BD9-81ED-4DB2-BD59-A6C34878D82A}">
                        <a16:rowId xmlns:a16="http://schemas.microsoft.com/office/drawing/2014/main" val="1479030581"/>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805556" r="-106098" b="-430556"/>
                          </a:stretch>
                        </a:blipFill>
                      </a:tcPr>
                    </a:tc>
                    <a:tc>
                      <a:txBody>
                        <a:bodyPr/>
                        <a:lstStyle/>
                        <a:p>
                          <a:endParaRPr lang="ja-JP"/>
                        </a:p>
                      </a:txBody>
                      <a:tcPr anchor="ctr">
                        <a:blipFill>
                          <a:blip r:embed="rId3"/>
                          <a:stretch>
                            <a:fillRect l="-260385" t="-805556" r="-385" b="-430556"/>
                          </a:stretch>
                        </a:blipFill>
                      </a:tcPr>
                    </a:tc>
                    <a:extLst>
                      <a:ext uri="{0D108BD9-81ED-4DB2-BD59-A6C34878D82A}">
                        <a16:rowId xmlns:a16="http://schemas.microsoft.com/office/drawing/2014/main" val="2748241918"/>
                      </a:ext>
                    </a:extLst>
                  </a:tr>
                  <a:tr h="457200">
                    <a:tc rowSpan="4">
                      <a:txBody>
                        <a:bodyPr/>
                        <a:lstStyle/>
                        <a:p>
                          <a:endParaRPr lang="ja-JP"/>
                        </a:p>
                      </a:txBody>
                      <a:tcPr anchor="ctr">
                        <a:blipFill>
                          <a:blip r:embed="rId3"/>
                          <a:stretch>
                            <a:fillRect l="-746" t="-226389" r="-599254" b="-7639"/>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905556" r="-106098" b="-330556"/>
                          </a:stretch>
                        </a:blipFill>
                      </a:tcPr>
                    </a:tc>
                    <a:tc>
                      <a:txBody>
                        <a:bodyPr/>
                        <a:lstStyle/>
                        <a:p>
                          <a:endParaRPr lang="ja-JP"/>
                        </a:p>
                      </a:txBody>
                      <a:tcPr anchor="ctr">
                        <a:blipFill>
                          <a:blip r:embed="rId3"/>
                          <a:stretch>
                            <a:fillRect l="-260385" t="-905556" r="-385" b="-330556"/>
                          </a:stretch>
                        </a:blipFill>
                      </a:tcPr>
                    </a:tc>
                    <a:extLst>
                      <a:ext uri="{0D108BD9-81ED-4DB2-BD59-A6C34878D82A}">
                        <a16:rowId xmlns:a16="http://schemas.microsoft.com/office/drawing/2014/main" val="1625413015"/>
                      </a:ext>
                    </a:extLst>
                  </a:tr>
                  <a:tr h="457200">
                    <a:tc vMerge="1">
                      <a:txBody>
                        <a:bodyPr/>
                        <a:lstStyle/>
                        <a:p>
                          <a:pPr algn="ct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1005556" r="-106098" b="-230556"/>
                          </a:stretch>
                        </a:blipFill>
                      </a:tcPr>
                    </a:tc>
                    <a:tc>
                      <a:txBody>
                        <a:bodyPr/>
                        <a:lstStyle/>
                        <a:p>
                          <a:endParaRPr lang="ja-JP"/>
                        </a:p>
                      </a:txBody>
                      <a:tcPr anchor="ctr">
                        <a:blipFill>
                          <a:blip r:embed="rId3"/>
                          <a:stretch>
                            <a:fillRect l="-260385" t="-1005556" r="-385" b="-230556"/>
                          </a:stretch>
                        </a:blipFill>
                      </a:tcPr>
                    </a:tc>
                    <a:extLst>
                      <a:ext uri="{0D108BD9-81ED-4DB2-BD59-A6C34878D82A}">
                        <a16:rowId xmlns:a16="http://schemas.microsoft.com/office/drawing/2014/main" val="675711395"/>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2389290887"/>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3414858699"/>
                      </a:ext>
                    </a:extLst>
                  </a:tr>
                </a:tbl>
              </a:graphicData>
            </a:graphic>
          </p:graphicFrame>
        </mc:Fallback>
      </mc:AlternateContent>
      <p:sp>
        <p:nvSpPr>
          <p:cNvPr id="2" name="テキスト ボックス 1">
            <a:extLst>
              <a:ext uri="{FF2B5EF4-FFF2-40B4-BE49-F238E27FC236}">
                <a16:creationId xmlns:a16="http://schemas.microsoft.com/office/drawing/2014/main" id="{86CDC4DB-7781-E9BC-4CE1-EF1BD5EB8D32}"/>
              </a:ext>
            </a:extLst>
          </p:cNvPr>
          <p:cNvSpPr txBox="1"/>
          <p:nvPr/>
        </p:nvSpPr>
        <p:spPr>
          <a:xfrm>
            <a:off x="4637908" y="102568"/>
            <a:ext cx="2916183" cy="523220"/>
          </a:xfrm>
          <a:prstGeom prst="rect">
            <a:avLst/>
          </a:prstGeom>
          <a:noFill/>
        </p:spPr>
        <p:txBody>
          <a:bodyPr wrap="none" rtlCol="0">
            <a:spAutoFit/>
          </a:bodyPr>
          <a:lstStyle/>
          <a:p>
            <a:r>
              <a:rPr kumimoji="1" lang="en-US" altLang="ja-JP" sz="2800" dirty="0"/>
              <a:t>(</a:t>
            </a:r>
            <a:r>
              <a:rPr kumimoji="1" lang="ja-JP" altLang="en-US" sz="2800"/>
              <a:t>括弧は標準偏差</a:t>
            </a:r>
            <a:r>
              <a:rPr kumimoji="1" lang="en-US" altLang="ja-JP" sz="2800" dirty="0"/>
              <a:t>)</a:t>
            </a:r>
            <a:endParaRPr kumimoji="1" lang="ja-JP" altLang="en-US" sz="2800"/>
          </a:p>
        </p:txBody>
      </p:sp>
    </p:spTree>
    <p:extLst>
      <p:ext uri="{BB962C8B-B14F-4D97-AF65-F5344CB8AC3E}">
        <p14:creationId xmlns:p14="http://schemas.microsoft.com/office/powerpoint/2010/main" val="3448964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4FC1-4A1B-B935-5FD4-36063A47004F}"/>
            </a:ext>
          </a:extLst>
        </p:cNvPr>
        <p:cNvGrpSpPr/>
        <p:nvPr/>
      </p:nvGrpSpPr>
      <p:grpSpPr>
        <a:xfrm>
          <a:off x="0" y="0"/>
          <a:ext cx="0" cy="0"/>
          <a:chOff x="0" y="0"/>
          <a:chExt cx="0" cy="0"/>
        </a:xfrm>
      </p:grpSpPr>
      <p:sp>
        <p:nvSpPr>
          <p:cNvPr id="23" name="タイトル 1">
            <a:extLst>
              <a:ext uri="{FF2B5EF4-FFF2-40B4-BE49-F238E27FC236}">
                <a16:creationId xmlns:a16="http://schemas.microsoft.com/office/drawing/2014/main" id="{4245723C-D79D-89AB-F647-E27C36C33E8E}"/>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実験結果</a:t>
            </a:r>
            <a:endParaRPr lang="ja-JP" altLang="en-US" b="1">
              <a:solidFill>
                <a:srgbClr val="FFC000"/>
              </a:solidFill>
              <a:latin typeface="+mj-ea"/>
            </a:endParaRPr>
          </a:p>
        </p:txBody>
      </p:sp>
      <p:sp>
        <p:nvSpPr>
          <p:cNvPr id="6" name="テキスト ボックス 5">
            <a:extLst>
              <a:ext uri="{FF2B5EF4-FFF2-40B4-BE49-F238E27FC236}">
                <a16:creationId xmlns:a16="http://schemas.microsoft.com/office/drawing/2014/main" id="{192D072F-1F73-0EA4-4227-5E4D78E971D3}"/>
              </a:ext>
            </a:extLst>
          </p:cNvPr>
          <p:cNvSpPr txBox="1"/>
          <p:nvPr/>
        </p:nvSpPr>
        <p:spPr>
          <a:xfrm>
            <a:off x="2360141" y="104383"/>
            <a:ext cx="8163100" cy="584775"/>
          </a:xfrm>
          <a:prstGeom prst="rect">
            <a:avLst/>
          </a:prstGeom>
          <a:noFill/>
        </p:spPr>
        <p:txBody>
          <a:bodyPr wrap="square" rtlCol="0">
            <a:spAutoFit/>
          </a:bodyPr>
          <a:lstStyle/>
          <a:p>
            <a:r>
              <a:rPr kumimoji="1" lang="en-US" altLang="ja-JP" sz="3200" dirty="0"/>
              <a:t>&lt;</a:t>
            </a:r>
            <a:r>
              <a:rPr kumimoji="1" lang="ja-JP" altLang="en-US" sz="3200"/>
              <a:t>第</a:t>
            </a:r>
            <a:r>
              <a:rPr kumimoji="1" lang="en-US" altLang="ja-JP" sz="3200" dirty="0"/>
              <a:t>2</a:t>
            </a:r>
            <a:r>
              <a:rPr kumimoji="1" lang="ja-JP" altLang="en-US" sz="3200"/>
              <a:t>主成分</a:t>
            </a:r>
            <a:r>
              <a:rPr kumimoji="1" lang="en-US" altLang="ja-JP" sz="3200" dirty="0"/>
              <a:t>&gt;</a:t>
            </a:r>
            <a:endParaRPr kumimoji="1" lang="ja-JP" altLang="en-US" sz="3200"/>
          </a:p>
        </p:txBody>
      </p:sp>
      <mc:AlternateContent xmlns:mc="http://schemas.openxmlformats.org/markup-compatibility/2006">
        <mc:Choice xmlns:a14="http://schemas.microsoft.com/office/drawing/2010/main" Requires="a14">
          <p:graphicFrame>
            <p:nvGraphicFramePr>
              <p:cNvPr id="3" name="表 2">
                <a:extLst>
                  <a:ext uri="{FF2B5EF4-FFF2-40B4-BE49-F238E27FC236}">
                    <a16:creationId xmlns:a16="http://schemas.microsoft.com/office/drawing/2014/main" id="{3EE789AE-3C91-6092-35FA-FBFC67E04569}"/>
                  </a:ext>
                </a:extLst>
              </p:cNvPr>
              <p:cNvGraphicFramePr>
                <a:graphicFrameLocks noGrp="1"/>
              </p:cNvGraphicFramePr>
              <p:nvPr>
                <p:extLst>
                  <p:ext uri="{D42A27DB-BD31-4B8C-83A1-F6EECF244321}">
                    <p14:modId xmlns:p14="http://schemas.microsoft.com/office/powerpoint/2010/main" val="2936421451"/>
                  </p:ext>
                </p:extLst>
              </p:nvPr>
            </p:nvGraphicFramePr>
            <p:xfrm>
              <a:off x="155848" y="689158"/>
              <a:ext cx="11880301" cy="5943600"/>
            </p:xfrm>
            <a:graphic>
              <a:graphicData uri="http://schemas.openxmlformats.org/drawingml/2006/table">
                <a:tbl>
                  <a:tblPr firstRow="1" bandRow="1">
                    <a:tableStyleId>{5940675A-B579-460E-94D1-54222C63F5DA}</a:tableStyleId>
                  </a:tblPr>
                  <a:tblGrid>
                    <a:gridCol w="1702034">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02189">
                    <a:tc>
                      <a:txBody>
                        <a:bodyPr/>
                        <a:lstStyle/>
                        <a:p>
                          <a:pPr algn="ctr"/>
                          <a:endParaRPr kumimoji="1" lang="ja-JP" altLang="en-US" sz="2400"/>
                        </a:p>
                      </a:txBody>
                      <a:tcPr anchor="ctr">
                        <a:lnR w="12700" cmpd="sng">
                          <a:noFill/>
                        </a:lnR>
                      </a:tcPr>
                    </a:tc>
                    <a:tc>
                      <a:txBody>
                        <a:bodyPr/>
                        <a:lstStyle/>
                        <a:p>
                          <a:pPr algn="ctr"/>
                          <a:endParaRPr kumimoji="1" lang="ja-JP" altLang="en-US" sz="2400"/>
                        </a:p>
                      </a:txBody>
                      <a:tcPr anchor="ctr">
                        <a:lnL w="12700" cmpd="sng">
                          <a:noFill/>
                        </a:lnL>
                        <a:lnR w="12700" cmpd="sng">
                          <a:noFill/>
                        </a:lnR>
                      </a:tcPr>
                    </a:tc>
                    <a:tc>
                      <a:txBody>
                        <a:bodyPr/>
                        <a:lstStyle/>
                        <a:p>
                          <a:pPr algn="ctr"/>
                          <a:endParaRPr kumimoji="1" lang="ja-JP" altLang="en-US" sz="2400"/>
                        </a:p>
                      </a:txBody>
                      <a:tcPr anchor="ctr">
                        <a:lnL w="12700" cmpd="sng">
                          <a:noFill/>
                        </a:lnL>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=20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=50</m:t>
                                </m:r>
                              </m:oMath>
                            </m:oMathPara>
                          </a14:m>
                          <a:endParaRPr kumimoji="1" lang="ja-JP" altLang="en-US" sz="2400"/>
                        </a:p>
                      </a:txBody>
                      <a:tcPr anchor="ctr"/>
                    </a:tc>
                    <a:extLst>
                      <a:ext uri="{0D108BD9-81ED-4DB2-BD59-A6C34878D82A}">
                        <a16:rowId xmlns:a16="http://schemas.microsoft.com/office/drawing/2014/main" val="1849278843"/>
                      </a:ext>
                    </a:extLst>
                  </a:tr>
                  <a:tr h="402189">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=200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0.1978 (0.05684)</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0.1932 (0.06882)</m:t>
                                </m:r>
                              </m:oMath>
                            </m:oMathPara>
                          </a14:m>
                          <a:endParaRPr kumimoji="1" lang="ja-JP" altLang="en-US" sz="2400">
                            <a:solidFill>
                              <a:srgbClr val="FF0000"/>
                            </a:solidFill>
                          </a:endParaRPr>
                        </a:p>
                      </a:txBody>
                      <a:tcPr anchor="ctr"/>
                    </a:tc>
                    <a:extLst>
                      <a:ext uri="{0D108BD9-81ED-4DB2-BD59-A6C34878D82A}">
                        <a16:rowId xmlns:a16="http://schemas.microsoft.com/office/drawing/2014/main" val="2832404967"/>
                      </a:ext>
                    </a:extLst>
                  </a:tr>
                  <a:tr h="402189">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3032401985"/>
                      </a:ext>
                    </a:extLst>
                  </a:tr>
                  <a:tr h="402189">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0.4578 (0.1475)</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0.4921 (0.1194)</m:t>
                                </m:r>
                              </m:oMath>
                            </m:oMathPara>
                          </a14:m>
                          <a:endParaRPr kumimoji="1" lang="ja-JP" altLang="en-US" sz="2400"/>
                        </a:p>
                      </a:txBody>
                      <a:tcPr anchor="ctr"/>
                    </a:tc>
                    <a:extLst>
                      <a:ext uri="{0D108BD9-81ED-4DB2-BD59-A6C34878D82A}">
                        <a16:rowId xmlns:a16="http://schemas.microsoft.com/office/drawing/2014/main" val="780486150"/>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0.996 (0.02814)</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3810239069"/>
                      </a:ext>
                    </a:extLst>
                  </a:tr>
                  <a:tr h="402189">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=500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0.1982 (0.06126)</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0.2061 (0.06083)</m:t>
                                </m:r>
                              </m:oMath>
                            </m:oMathPara>
                          </a14:m>
                          <a:endParaRPr kumimoji="1" lang="ja-JP" altLang="en-US" sz="2400"/>
                        </a:p>
                      </a:txBody>
                      <a:tcPr anchor="ctr"/>
                    </a:tc>
                    <a:extLst>
                      <a:ext uri="{0D108BD9-81ED-4DB2-BD59-A6C34878D82A}">
                        <a16:rowId xmlns:a16="http://schemas.microsoft.com/office/drawing/2014/main" val="1919420054"/>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1345976635"/>
                      </a:ext>
                    </a:extLst>
                  </a:tr>
                  <a:tr h="402189">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0.5095 (0.1062)</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0.4782 (0.1138)</m:t>
                                </m:r>
                              </m:oMath>
                            </m:oMathPara>
                          </a14:m>
                          <a:endParaRPr kumimoji="1" lang="ja-JP" altLang="en-US" sz="2400"/>
                        </a:p>
                      </a:txBody>
                      <a:tcPr anchor="ctr"/>
                    </a:tc>
                    <a:extLst>
                      <a:ext uri="{0D108BD9-81ED-4DB2-BD59-A6C34878D82A}">
                        <a16:rowId xmlns:a16="http://schemas.microsoft.com/office/drawing/2014/main" val="1479030581"/>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2748241918"/>
                      </a:ext>
                    </a:extLst>
                  </a:tr>
                  <a:tr h="40218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=1000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0.1857 (0.06246)</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chemeClr val="tx1"/>
                                    </a:solidFill>
                                    <a:latin typeface="Cambria Math" panose="02040503050406030204" pitchFamily="18" charset="0"/>
                                  </a:rPr>
                                  <m:t>0.2176 (0.05880)</m:t>
                                </m:r>
                              </m:oMath>
                            </m:oMathPara>
                          </a14:m>
                          <a:endParaRPr kumimoji="1" lang="ja-JP" altLang="en-US" sz="2400">
                            <a:solidFill>
                              <a:schemeClr val="tx1"/>
                            </a:solidFill>
                          </a:endParaRPr>
                        </a:p>
                      </a:txBody>
                      <a:tcPr anchor="ctr"/>
                    </a:tc>
                    <a:extLst>
                      <a:ext uri="{0D108BD9-81ED-4DB2-BD59-A6C34878D82A}">
                        <a16:rowId xmlns:a16="http://schemas.microsoft.com/office/drawing/2014/main" val="1625413015"/>
                      </a:ext>
                    </a:extLst>
                  </a:tr>
                  <a:tr h="402189">
                    <a:tc vMerge="1">
                      <a:txBody>
                        <a:bodyPr/>
                        <a:lstStyle/>
                        <a:p>
                          <a:pPr algn="ct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675711395"/>
                      </a:ext>
                    </a:extLst>
                  </a:tr>
                  <a:tr h="40218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2389290887"/>
                      </a:ext>
                    </a:extLst>
                  </a:tr>
                  <a:tr h="40218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3414858699"/>
                      </a:ext>
                    </a:extLst>
                  </a:tr>
                </a:tbl>
              </a:graphicData>
            </a:graphic>
          </p:graphicFrame>
        </mc:Choice>
        <mc:Fallback>
          <p:graphicFrame>
            <p:nvGraphicFramePr>
              <p:cNvPr id="3" name="表 2">
                <a:extLst>
                  <a:ext uri="{FF2B5EF4-FFF2-40B4-BE49-F238E27FC236}">
                    <a16:creationId xmlns:a16="http://schemas.microsoft.com/office/drawing/2014/main" id="{3EE789AE-3C91-6092-35FA-FBFC67E04569}"/>
                  </a:ext>
                </a:extLst>
              </p:cNvPr>
              <p:cNvGraphicFramePr>
                <a:graphicFrameLocks noGrp="1"/>
              </p:cNvGraphicFramePr>
              <p:nvPr>
                <p:extLst>
                  <p:ext uri="{D42A27DB-BD31-4B8C-83A1-F6EECF244321}">
                    <p14:modId xmlns:p14="http://schemas.microsoft.com/office/powerpoint/2010/main" val="2936421451"/>
                  </p:ext>
                </p:extLst>
              </p:nvPr>
            </p:nvGraphicFramePr>
            <p:xfrm>
              <a:off x="155848" y="689158"/>
              <a:ext cx="11880301" cy="5943600"/>
            </p:xfrm>
            <a:graphic>
              <a:graphicData uri="http://schemas.openxmlformats.org/drawingml/2006/table">
                <a:tbl>
                  <a:tblPr firstRow="1" bandRow="1">
                    <a:tableStyleId>{5940675A-B579-460E-94D1-54222C63F5DA}</a:tableStyleId>
                  </a:tblPr>
                  <a:tblGrid>
                    <a:gridCol w="1702034">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57200">
                    <a:tc>
                      <a:txBody>
                        <a:bodyPr/>
                        <a:lstStyle/>
                        <a:p>
                          <a:pPr algn="ctr"/>
                          <a:endParaRPr kumimoji="1" lang="ja-JP" altLang="en-US" sz="2400"/>
                        </a:p>
                      </a:txBody>
                      <a:tcPr anchor="ctr">
                        <a:lnR w="12700" cmpd="sng">
                          <a:noFill/>
                        </a:lnR>
                      </a:tcPr>
                    </a:tc>
                    <a:tc>
                      <a:txBody>
                        <a:bodyPr/>
                        <a:lstStyle/>
                        <a:p>
                          <a:pPr algn="ctr"/>
                          <a:endParaRPr kumimoji="1" lang="ja-JP" altLang="en-US" sz="2400"/>
                        </a:p>
                      </a:txBody>
                      <a:tcPr anchor="ctr">
                        <a:lnL w="12700" cmpd="sng">
                          <a:noFill/>
                        </a:lnL>
                        <a:lnR w="12700" cmpd="sng">
                          <a:noFill/>
                        </a:lnR>
                      </a:tcPr>
                    </a:tc>
                    <a:tc>
                      <a:txBody>
                        <a:bodyPr/>
                        <a:lstStyle/>
                        <a:p>
                          <a:pPr algn="ctr"/>
                          <a:endParaRPr kumimoji="1" lang="ja-JP" altLang="en-US" sz="2400"/>
                        </a:p>
                      </a:txBody>
                      <a:tcPr anchor="ctr">
                        <a:lnL w="12700" cmpd="sng">
                          <a:noFill/>
                        </a:lnL>
                      </a:tcPr>
                    </a:tc>
                    <a:tc>
                      <a:txBody>
                        <a:bodyPr/>
                        <a:lstStyle/>
                        <a:p>
                          <a:endParaRPr lang="ja-JP"/>
                        </a:p>
                      </a:txBody>
                      <a:tcPr anchor="ctr">
                        <a:blipFill>
                          <a:blip r:embed="rId3"/>
                          <a:stretch>
                            <a:fillRect l="-175203" t="-2778" r="-106098" b="-1233333"/>
                          </a:stretch>
                        </a:blipFill>
                      </a:tcPr>
                    </a:tc>
                    <a:tc>
                      <a:txBody>
                        <a:bodyPr/>
                        <a:lstStyle/>
                        <a:p>
                          <a:endParaRPr lang="ja-JP"/>
                        </a:p>
                      </a:txBody>
                      <a:tcPr anchor="ctr">
                        <a:blipFill>
                          <a:blip r:embed="rId3"/>
                          <a:stretch>
                            <a:fillRect l="-260385" t="-2778" r="-385" b="-1233333"/>
                          </a:stretch>
                        </a:blipFill>
                      </a:tcPr>
                    </a:tc>
                    <a:extLst>
                      <a:ext uri="{0D108BD9-81ED-4DB2-BD59-A6C34878D82A}">
                        <a16:rowId xmlns:a16="http://schemas.microsoft.com/office/drawing/2014/main" val="1849278843"/>
                      </a:ext>
                    </a:extLst>
                  </a:tr>
                  <a:tr h="457200">
                    <a:tc rowSpan="4">
                      <a:txBody>
                        <a:bodyPr/>
                        <a:lstStyle/>
                        <a:p>
                          <a:endParaRPr lang="ja-JP"/>
                        </a:p>
                      </a:txBody>
                      <a:tcPr anchor="ctr">
                        <a:blipFill>
                          <a:blip r:embed="rId3"/>
                          <a:stretch>
                            <a:fillRect l="-746" t="-25694" r="-599254" b="-208333"/>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102778" r="-106098" b="-1133333"/>
                          </a:stretch>
                        </a:blipFill>
                      </a:tcPr>
                    </a:tc>
                    <a:tc>
                      <a:txBody>
                        <a:bodyPr/>
                        <a:lstStyle/>
                        <a:p>
                          <a:endParaRPr lang="ja-JP"/>
                        </a:p>
                      </a:txBody>
                      <a:tcPr anchor="ctr">
                        <a:blipFill>
                          <a:blip r:embed="rId3"/>
                          <a:stretch>
                            <a:fillRect l="-260385" t="-102778" r="-385" b="-1133333"/>
                          </a:stretch>
                        </a:blipFill>
                      </a:tcPr>
                    </a:tc>
                    <a:extLst>
                      <a:ext uri="{0D108BD9-81ED-4DB2-BD59-A6C34878D82A}">
                        <a16:rowId xmlns:a16="http://schemas.microsoft.com/office/drawing/2014/main" val="2832404967"/>
                      </a:ext>
                    </a:extLst>
                  </a:tr>
                  <a:tr h="457200">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400"/>
                            <a:t>検出力</a:t>
                          </a:r>
                        </a:p>
                      </a:txBody>
                      <a:tcPr anchor="ctr"/>
                    </a:tc>
                    <a:tc>
                      <a:txBody>
                        <a:bodyPr/>
                        <a:lstStyle/>
                        <a:p>
                          <a:endParaRPr lang="ja-JP"/>
                        </a:p>
                      </a:txBody>
                      <a:tcPr anchor="ctr">
                        <a:blipFill>
                          <a:blip r:embed="rId3"/>
                          <a:stretch>
                            <a:fillRect l="-175203" t="-202778" r="-106098" b="-1033333"/>
                          </a:stretch>
                        </a:blipFill>
                      </a:tcPr>
                    </a:tc>
                    <a:tc>
                      <a:txBody>
                        <a:bodyPr/>
                        <a:lstStyle/>
                        <a:p>
                          <a:endParaRPr lang="ja-JP"/>
                        </a:p>
                      </a:txBody>
                      <a:tcPr anchor="ctr">
                        <a:blipFill>
                          <a:blip r:embed="rId3"/>
                          <a:stretch>
                            <a:fillRect l="-260385" t="-202778" r="-385" b="-1033333"/>
                          </a:stretch>
                        </a:blipFill>
                      </a:tcPr>
                    </a:tc>
                    <a:extLst>
                      <a:ext uri="{0D108BD9-81ED-4DB2-BD59-A6C34878D82A}">
                        <a16:rowId xmlns:a16="http://schemas.microsoft.com/office/drawing/2014/main" val="3032401985"/>
                      </a:ext>
                    </a:extLst>
                  </a:tr>
                  <a:tr h="457200">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302778" r="-106098" b="-933333"/>
                          </a:stretch>
                        </a:blipFill>
                      </a:tcPr>
                    </a:tc>
                    <a:tc>
                      <a:txBody>
                        <a:bodyPr/>
                        <a:lstStyle/>
                        <a:p>
                          <a:endParaRPr lang="ja-JP"/>
                        </a:p>
                      </a:txBody>
                      <a:tcPr anchor="ctr">
                        <a:blipFill>
                          <a:blip r:embed="rId3"/>
                          <a:stretch>
                            <a:fillRect l="-260385" t="-302778" r="-385" b="-933333"/>
                          </a:stretch>
                        </a:blipFill>
                      </a:tcPr>
                    </a:tc>
                    <a:extLst>
                      <a:ext uri="{0D108BD9-81ED-4DB2-BD59-A6C34878D82A}">
                        <a16:rowId xmlns:a16="http://schemas.microsoft.com/office/drawing/2014/main" val="780486150"/>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402778" r="-106098" b="-833333"/>
                          </a:stretch>
                        </a:blipFill>
                      </a:tcPr>
                    </a:tc>
                    <a:tc>
                      <a:txBody>
                        <a:bodyPr/>
                        <a:lstStyle/>
                        <a:p>
                          <a:endParaRPr lang="ja-JP"/>
                        </a:p>
                      </a:txBody>
                      <a:tcPr anchor="ctr">
                        <a:blipFill>
                          <a:blip r:embed="rId3"/>
                          <a:stretch>
                            <a:fillRect l="-260385" t="-402778" r="-385" b="-833333"/>
                          </a:stretch>
                        </a:blipFill>
                      </a:tcPr>
                    </a:tc>
                    <a:extLst>
                      <a:ext uri="{0D108BD9-81ED-4DB2-BD59-A6C34878D82A}">
                        <a16:rowId xmlns:a16="http://schemas.microsoft.com/office/drawing/2014/main" val="3810239069"/>
                      </a:ext>
                    </a:extLst>
                  </a:tr>
                  <a:tr h="457200">
                    <a:tc rowSpan="4">
                      <a:txBody>
                        <a:bodyPr/>
                        <a:lstStyle/>
                        <a:p>
                          <a:endParaRPr lang="ja-JP"/>
                        </a:p>
                      </a:txBody>
                      <a:tcPr anchor="ctr">
                        <a:blipFill>
                          <a:blip r:embed="rId3"/>
                          <a:stretch>
                            <a:fillRect l="-746" t="-124828" r="-599254" b="-106897"/>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502778" r="-106098" b="-733333"/>
                          </a:stretch>
                        </a:blipFill>
                      </a:tcPr>
                    </a:tc>
                    <a:tc>
                      <a:txBody>
                        <a:bodyPr/>
                        <a:lstStyle/>
                        <a:p>
                          <a:endParaRPr lang="ja-JP"/>
                        </a:p>
                      </a:txBody>
                      <a:tcPr anchor="ctr">
                        <a:blipFill>
                          <a:blip r:embed="rId3"/>
                          <a:stretch>
                            <a:fillRect l="-260385" t="-502778" r="-385" b="-733333"/>
                          </a:stretch>
                        </a:blipFill>
                      </a:tcPr>
                    </a:tc>
                    <a:extLst>
                      <a:ext uri="{0D108BD9-81ED-4DB2-BD59-A6C34878D82A}">
                        <a16:rowId xmlns:a16="http://schemas.microsoft.com/office/drawing/2014/main" val="1919420054"/>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586486" r="-106098" b="-613514"/>
                          </a:stretch>
                        </a:blipFill>
                      </a:tcPr>
                    </a:tc>
                    <a:tc>
                      <a:txBody>
                        <a:bodyPr/>
                        <a:lstStyle/>
                        <a:p>
                          <a:endParaRPr lang="ja-JP"/>
                        </a:p>
                      </a:txBody>
                      <a:tcPr anchor="ctr">
                        <a:blipFill>
                          <a:blip r:embed="rId3"/>
                          <a:stretch>
                            <a:fillRect l="-260385" t="-586486" r="-385" b="-613514"/>
                          </a:stretch>
                        </a:blipFill>
                      </a:tcPr>
                    </a:tc>
                    <a:extLst>
                      <a:ext uri="{0D108BD9-81ED-4DB2-BD59-A6C34878D82A}">
                        <a16:rowId xmlns:a16="http://schemas.microsoft.com/office/drawing/2014/main" val="1345976635"/>
                      </a:ext>
                    </a:extLst>
                  </a:tr>
                  <a:tr h="457200">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705556" r="-106098" b="-530556"/>
                          </a:stretch>
                        </a:blipFill>
                      </a:tcPr>
                    </a:tc>
                    <a:tc>
                      <a:txBody>
                        <a:bodyPr/>
                        <a:lstStyle/>
                        <a:p>
                          <a:endParaRPr lang="ja-JP"/>
                        </a:p>
                      </a:txBody>
                      <a:tcPr anchor="ctr">
                        <a:blipFill>
                          <a:blip r:embed="rId3"/>
                          <a:stretch>
                            <a:fillRect l="-260385" t="-705556" r="-385" b="-530556"/>
                          </a:stretch>
                        </a:blipFill>
                      </a:tcPr>
                    </a:tc>
                    <a:extLst>
                      <a:ext uri="{0D108BD9-81ED-4DB2-BD59-A6C34878D82A}">
                        <a16:rowId xmlns:a16="http://schemas.microsoft.com/office/drawing/2014/main" val="1479030581"/>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805556" r="-106098" b="-430556"/>
                          </a:stretch>
                        </a:blipFill>
                      </a:tcPr>
                    </a:tc>
                    <a:tc>
                      <a:txBody>
                        <a:bodyPr/>
                        <a:lstStyle/>
                        <a:p>
                          <a:endParaRPr lang="ja-JP"/>
                        </a:p>
                      </a:txBody>
                      <a:tcPr anchor="ctr">
                        <a:blipFill>
                          <a:blip r:embed="rId3"/>
                          <a:stretch>
                            <a:fillRect l="-260385" t="-805556" r="-385" b="-430556"/>
                          </a:stretch>
                        </a:blipFill>
                      </a:tcPr>
                    </a:tc>
                    <a:extLst>
                      <a:ext uri="{0D108BD9-81ED-4DB2-BD59-A6C34878D82A}">
                        <a16:rowId xmlns:a16="http://schemas.microsoft.com/office/drawing/2014/main" val="2748241918"/>
                      </a:ext>
                    </a:extLst>
                  </a:tr>
                  <a:tr h="457200">
                    <a:tc rowSpan="4">
                      <a:txBody>
                        <a:bodyPr/>
                        <a:lstStyle/>
                        <a:p>
                          <a:endParaRPr lang="ja-JP"/>
                        </a:p>
                      </a:txBody>
                      <a:tcPr anchor="ctr">
                        <a:blipFill>
                          <a:blip r:embed="rId3"/>
                          <a:stretch>
                            <a:fillRect l="-746" t="-226389" r="-599254" b="-7639"/>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905556" r="-106098" b="-330556"/>
                          </a:stretch>
                        </a:blipFill>
                      </a:tcPr>
                    </a:tc>
                    <a:tc>
                      <a:txBody>
                        <a:bodyPr/>
                        <a:lstStyle/>
                        <a:p>
                          <a:endParaRPr lang="ja-JP"/>
                        </a:p>
                      </a:txBody>
                      <a:tcPr anchor="ctr">
                        <a:blipFill>
                          <a:blip r:embed="rId3"/>
                          <a:stretch>
                            <a:fillRect l="-260385" t="-905556" r="-385" b="-330556"/>
                          </a:stretch>
                        </a:blipFill>
                      </a:tcPr>
                    </a:tc>
                    <a:extLst>
                      <a:ext uri="{0D108BD9-81ED-4DB2-BD59-A6C34878D82A}">
                        <a16:rowId xmlns:a16="http://schemas.microsoft.com/office/drawing/2014/main" val="1625413015"/>
                      </a:ext>
                    </a:extLst>
                  </a:tr>
                  <a:tr h="457200">
                    <a:tc vMerge="1">
                      <a:txBody>
                        <a:bodyPr/>
                        <a:lstStyle/>
                        <a:p>
                          <a:pPr algn="ct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1005556" r="-106098" b="-230556"/>
                          </a:stretch>
                        </a:blipFill>
                      </a:tcPr>
                    </a:tc>
                    <a:tc>
                      <a:txBody>
                        <a:bodyPr/>
                        <a:lstStyle/>
                        <a:p>
                          <a:endParaRPr lang="ja-JP"/>
                        </a:p>
                      </a:txBody>
                      <a:tcPr anchor="ctr">
                        <a:blipFill>
                          <a:blip r:embed="rId3"/>
                          <a:stretch>
                            <a:fillRect l="-260385" t="-1005556" r="-385" b="-230556"/>
                          </a:stretch>
                        </a:blipFill>
                      </a:tcPr>
                    </a:tc>
                    <a:extLst>
                      <a:ext uri="{0D108BD9-81ED-4DB2-BD59-A6C34878D82A}">
                        <a16:rowId xmlns:a16="http://schemas.microsoft.com/office/drawing/2014/main" val="675711395"/>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2389290887"/>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3414858699"/>
                      </a:ext>
                    </a:extLst>
                  </a:tr>
                </a:tbl>
              </a:graphicData>
            </a:graphic>
          </p:graphicFrame>
        </mc:Fallback>
      </mc:AlternateContent>
      <p:sp>
        <p:nvSpPr>
          <p:cNvPr id="2" name="テキスト ボックス 1">
            <a:extLst>
              <a:ext uri="{FF2B5EF4-FFF2-40B4-BE49-F238E27FC236}">
                <a16:creationId xmlns:a16="http://schemas.microsoft.com/office/drawing/2014/main" id="{86CDC4DB-7781-E9BC-4CE1-EF1BD5EB8D32}"/>
              </a:ext>
            </a:extLst>
          </p:cNvPr>
          <p:cNvSpPr txBox="1"/>
          <p:nvPr/>
        </p:nvSpPr>
        <p:spPr>
          <a:xfrm>
            <a:off x="4637908" y="102568"/>
            <a:ext cx="2916183" cy="523220"/>
          </a:xfrm>
          <a:prstGeom prst="rect">
            <a:avLst/>
          </a:prstGeom>
          <a:noFill/>
        </p:spPr>
        <p:txBody>
          <a:bodyPr wrap="none" rtlCol="0">
            <a:spAutoFit/>
          </a:bodyPr>
          <a:lstStyle/>
          <a:p>
            <a:r>
              <a:rPr kumimoji="1" lang="en-US" altLang="ja-JP" sz="2800" dirty="0"/>
              <a:t>(</a:t>
            </a:r>
            <a:r>
              <a:rPr kumimoji="1" lang="ja-JP" altLang="en-US" sz="2800"/>
              <a:t>括弧は標準偏差</a:t>
            </a:r>
            <a:r>
              <a:rPr kumimoji="1" lang="en-US" altLang="ja-JP" sz="2800" dirty="0"/>
              <a:t>)</a:t>
            </a:r>
            <a:endParaRPr kumimoji="1" lang="ja-JP" altLang="en-US" sz="2800"/>
          </a:p>
        </p:txBody>
      </p:sp>
    </p:spTree>
    <p:extLst>
      <p:ext uri="{BB962C8B-B14F-4D97-AF65-F5344CB8AC3E}">
        <p14:creationId xmlns:p14="http://schemas.microsoft.com/office/powerpoint/2010/main" val="55044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4FC1-4A1B-B935-5FD4-36063A47004F}"/>
            </a:ext>
          </a:extLst>
        </p:cNvPr>
        <p:cNvGrpSpPr/>
        <p:nvPr/>
      </p:nvGrpSpPr>
      <p:grpSpPr>
        <a:xfrm>
          <a:off x="0" y="0"/>
          <a:ext cx="0" cy="0"/>
          <a:chOff x="0" y="0"/>
          <a:chExt cx="0" cy="0"/>
        </a:xfrm>
      </p:grpSpPr>
      <p:sp>
        <p:nvSpPr>
          <p:cNvPr id="23" name="タイトル 1">
            <a:extLst>
              <a:ext uri="{FF2B5EF4-FFF2-40B4-BE49-F238E27FC236}">
                <a16:creationId xmlns:a16="http://schemas.microsoft.com/office/drawing/2014/main" id="{4245723C-D79D-89AB-F647-E27C36C33E8E}"/>
              </a:ext>
            </a:extLst>
          </p:cNvPr>
          <p:cNvSpPr txBox="1">
            <a:spLocks/>
          </p:cNvSpPr>
          <p:nvPr/>
        </p:nvSpPr>
        <p:spPr>
          <a:xfrm>
            <a:off x="0" y="1335"/>
            <a:ext cx="4973782" cy="7665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実験結果</a:t>
            </a:r>
            <a:endParaRPr lang="ja-JP" altLang="en-US" b="1">
              <a:solidFill>
                <a:srgbClr val="FFC000"/>
              </a:solidFill>
              <a:latin typeface="+mj-ea"/>
            </a:endParaRPr>
          </a:p>
        </p:txBody>
      </p:sp>
      <p:sp>
        <p:nvSpPr>
          <p:cNvPr id="6" name="テキスト ボックス 5">
            <a:extLst>
              <a:ext uri="{FF2B5EF4-FFF2-40B4-BE49-F238E27FC236}">
                <a16:creationId xmlns:a16="http://schemas.microsoft.com/office/drawing/2014/main" id="{192D072F-1F73-0EA4-4227-5E4D78E971D3}"/>
              </a:ext>
            </a:extLst>
          </p:cNvPr>
          <p:cNvSpPr txBox="1"/>
          <p:nvPr/>
        </p:nvSpPr>
        <p:spPr>
          <a:xfrm>
            <a:off x="2360141" y="104383"/>
            <a:ext cx="8163100" cy="584775"/>
          </a:xfrm>
          <a:prstGeom prst="rect">
            <a:avLst/>
          </a:prstGeom>
          <a:noFill/>
        </p:spPr>
        <p:txBody>
          <a:bodyPr wrap="square" rtlCol="0">
            <a:spAutoFit/>
          </a:bodyPr>
          <a:lstStyle/>
          <a:p>
            <a:r>
              <a:rPr kumimoji="1" lang="en-US" altLang="ja-JP" sz="3200" dirty="0"/>
              <a:t>&lt;</a:t>
            </a:r>
            <a:r>
              <a:rPr kumimoji="1" lang="ja-JP" altLang="en-US" sz="3200"/>
              <a:t>第</a:t>
            </a:r>
            <a:r>
              <a:rPr kumimoji="1" lang="en-US" altLang="ja-JP" sz="3200" dirty="0"/>
              <a:t>3</a:t>
            </a:r>
            <a:r>
              <a:rPr kumimoji="1" lang="ja-JP" altLang="en-US" sz="3200"/>
              <a:t>主成分</a:t>
            </a:r>
            <a:r>
              <a:rPr kumimoji="1" lang="en-US" altLang="ja-JP" sz="3200" dirty="0"/>
              <a:t>&gt;</a:t>
            </a:r>
            <a:endParaRPr kumimoji="1" lang="ja-JP" altLang="en-US" sz="3200"/>
          </a:p>
        </p:txBody>
      </p:sp>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3EE789AE-3C91-6092-35FA-FBFC67E04569}"/>
                  </a:ext>
                </a:extLst>
              </p:cNvPr>
              <p:cNvGraphicFramePr>
                <a:graphicFrameLocks noGrp="1"/>
              </p:cNvGraphicFramePr>
              <p:nvPr/>
            </p:nvGraphicFramePr>
            <p:xfrm>
              <a:off x="155848" y="689158"/>
              <a:ext cx="11880301" cy="5943600"/>
            </p:xfrm>
            <a:graphic>
              <a:graphicData uri="http://schemas.openxmlformats.org/drawingml/2006/table">
                <a:tbl>
                  <a:tblPr firstRow="1" bandRow="1">
                    <a:tableStyleId>{5940675A-B579-460E-94D1-54222C63F5DA}</a:tableStyleId>
                  </a:tblPr>
                  <a:tblGrid>
                    <a:gridCol w="1702034">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02189">
                    <a:tc>
                      <a:txBody>
                        <a:bodyPr/>
                        <a:lstStyle/>
                        <a:p>
                          <a:pPr algn="ctr"/>
                          <a:endParaRPr kumimoji="1" lang="ja-JP" altLang="en-US" sz="2400"/>
                        </a:p>
                      </a:txBody>
                      <a:tcPr anchor="ctr">
                        <a:lnR w="12700" cmpd="sng">
                          <a:noFill/>
                        </a:lnR>
                      </a:tcPr>
                    </a:tc>
                    <a:tc>
                      <a:txBody>
                        <a:bodyPr/>
                        <a:lstStyle/>
                        <a:p>
                          <a:pPr algn="ctr"/>
                          <a:endParaRPr kumimoji="1" lang="ja-JP" altLang="en-US" sz="2400"/>
                        </a:p>
                      </a:txBody>
                      <a:tcPr anchor="ctr">
                        <a:lnL w="12700" cmpd="sng">
                          <a:noFill/>
                        </a:lnL>
                        <a:lnR w="12700" cmpd="sng">
                          <a:noFill/>
                        </a:lnR>
                      </a:tcPr>
                    </a:tc>
                    <a:tc>
                      <a:txBody>
                        <a:bodyPr/>
                        <a:lstStyle/>
                        <a:p>
                          <a:pPr algn="ctr"/>
                          <a:endParaRPr kumimoji="1" lang="ja-JP" altLang="en-US" sz="2400"/>
                        </a:p>
                      </a:txBody>
                      <a:tcPr anchor="ctr">
                        <a:lnL w="12700" cmpd="sng">
                          <a:noFill/>
                        </a:lnL>
                      </a:tcP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=20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=50</m:t>
                                </m:r>
                              </m:oMath>
                            </m:oMathPara>
                          </a14:m>
                          <a:endParaRPr kumimoji="1" lang="ja-JP" altLang="en-US" sz="2400"/>
                        </a:p>
                      </a:txBody>
                      <a:tcPr anchor="ctr"/>
                    </a:tc>
                    <a:extLst>
                      <a:ext uri="{0D108BD9-81ED-4DB2-BD59-A6C34878D82A}">
                        <a16:rowId xmlns:a16="http://schemas.microsoft.com/office/drawing/2014/main" val="1849278843"/>
                      </a:ext>
                    </a:extLst>
                  </a:tr>
                  <a:tr h="402189">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=200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0.5583 (0.1170)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0.5769 (0.1036)</m:t>
                                </m:r>
                              </m:oMath>
                            </m:oMathPara>
                          </a14:m>
                          <a:endParaRPr kumimoji="1" lang="ja-JP" altLang="en-US" sz="2400"/>
                        </a:p>
                      </a:txBody>
                      <a:tcPr anchor="ctr"/>
                    </a:tc>
                    <a:extLst>
                      <a:ext uri="{0D108BD9-81ED-4DB2-BD59-A6C34878D82A}">
                        <a16:rowId xmlns:a16="http://schemas.microsoft.com/office/drawing/2014/main" val="2832404967"/>
                      </a:ext>
                    </a:extLst>
                  </a:tr>
                  <a:tr h="402189">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0.6598 (0.1583)</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0.6778 (0.1339)</m:t>
                                </m:r>
                              </m:oMath>
                            </m:oMathPara>
                          </a14:m>
                          <a:endParaRPr kumimoji="1" lang="ja-JP" altLang="en-US" sz="2400"/>
                        </a:p>
                      </a:txBody>
                      <a:tcPr anchor="ctr"/>
                    </a:tc>
                    <a:extLst>
                      <a:ext uri="{0D108BD9-81ED-4DB2-BD59-A6C34878D82A}">
                        <a16:rowId xmlns:a16="http://schemas.microsoft.com/office/drawing/2014/main" val="3032401985"/>
                      </a:ext>
                    </a:extLst>
                  </a:tr>
                  <a:tr h="402189">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0.4612 (0.1461)</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0.5392 (0.1105)</m:t>
                                </m:r>
                              </m:oMath>
                            </m:oMathPara>
                          </a14:m>
                          <a:endParaRPr kumimoji="1" lang="ja-JP" altLang="en-US" sz="2400"/>
                        </a:p>
                      </a:txBody>
                      <a:tcPr anchor="ctr"/>
                    </a:tc>
                    <a:extLst>
                      <a:ext uri="{0D108BD9-81ED-4DB2-BD59-A6C34878D82A}">
                        <a16:rowId xmlns:a16="http://schemas.microsoft.com/office/drawing/2014/main" val="780486150"/>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0.976 (0.07670)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0.9820 (0.07018)</m:t>
                                </m:r>
                              </m:oMath>
                            </m:oMathPara>
                          </a14:m>
                          <a:endParaRPr kumimoji="1" lang="ja-JP" altLang="en-US" sz="2400"/>
                        </a:p>
                      </a:txBody>
                      <a:tcPr anchor="ctr"/>
                    </a:tc>
                    <a:extLst>
                      <a:ext uri="{0D108BD9-81ED-4DB2-BD59-A6C34878D82A}">
                        <a16:rowId xmlns:a16="http://schemas.microsoft.com/office/drawing/2014/main" val="3810239069"/>
                      </a:ext>
                    </a:extLst>
                  </a:tr>
                  <a:tr h="402189">
                    <a:tc rowSpan="4">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=500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0.2155 (0.1085)</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0.2074 (0.08062)</m:t>
                                </m:r>
                              </m:oMath>
                            </m:oMathPara>
                          </a14:m>
                          <a:endParaRPr kumimoji="1" lang="ja-JP" altLang="en-US" sz="2400"/>
                        </a:p>
                      </a:txBody>
                      <a:tcPr anchor="ctr"/>
                    </a:tc>
                    <a:extLst>
                      <a:ext uri="{0D108BD9-81ED-4DB2-BD59-A6C34878D82A}">
                        <a16:rowId xmlns:a16="http://schemas.microsoft.com/office/drawing/2014/main" val="1919420054"/>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0.9822 (0.05408)</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0.9902 (0.03526)</m:t>
                                </m:r>
                              </m:oMath>
                            </m:oMathPara>
                          </a14:m>
                          <a:endParaRPr kumimoji="1" lang="ja-JP" altLang="en-US" sz="2400"/>
                        </a:p>
                      </a:txBody>
                      <a:tcPr anchor="ctr"/>
                    </a:tc>
                    <a:extLst>
                      <a:ext uri="{0D108BD9-81ED-4DB2-BD59-A6C34878D82A}">
                        <a16:rowId xmlns:a16="http://schemas.microsoft.com/office/drawing/2014/main" val="1345976635"/>
                      </a:ext>
                    </a:extLst>
                  </a:tr>
                  <a:tr h="402189">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0.5709 (0.07207)</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0.5813 (0.07957)</m:t>
                                </m:r>
                              </m:oMath>
                            </m:oMathPara>
                          </a14:m>
                          <a:endParaRPr kumimoji="1" lang="ja-JP" altLang="en-US" sz="2400"/>
                        </a:p>
                      </a:txBody>
                      <a:tcPr anchor="ctr"/>
                    </a:tc>
                    <a:extLst>
                      <a:ext uri="{0D108BD9-81ED-4DB2-BD59-A6C34878D82A}">
                        <a16:rowId xmlns:a16="http://schemas.microsoft.com/office/drawing/2014/main" val="1479030581"/>
                      </a:ext>
                    </a:extLst>
                  </a:tr>
                  <a:tr h="402189">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2748241918"/>
                      </a:ext>
                    </a:extLst>
                  </a:tr>
                  <a:tr h="40218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𝑛</m:t>
                                </m:r>
                                <m:r>
                                  <a:rPr kumimoji="1" lang="en-US" altLang="ja-JP" sz="2400" b="0" i="1" smtClean="0">
                                    <a:latin typeface="Cambria Math" panose="02040503050406030204" pitchFamily="18" charset="0"/>
                                  </a:rPr>
                                  <m:t>=1000</m:t>
                                </m:r>
                              </m:oMath>
                            </m:oMathPara>
                          </a14:m>
                          <a:endParaRPr kumimoji="1" lang="ja-JP" altLang="en-US" sz="2400"/>
                        </a:p>
                      </a:txBody>
                      <a:tcPr anchor="ct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0.1782 (0.05629)</m:t>
                                </m:r>
                              </m:oMath>
                            </m:oMathPara>
                          </a14:m>
                          <a:endParaRPr kumimoji="1" lang="ja-JP" altLang="en-US" sz="240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0.1906 (0.06115)</m:t>
                                </m:r>
                              </m:oMath>
                            </m:oMathPara>
                          </a14:m>
                          <a:endParaRPr kumimoji="1" lang="ja-JP" altLang="en-US" sz="2400">
                            <a:solidFill>
                              <a:srgbClr val="FF0000"/>
                            </a:solidFill>
                          </a:endParaRPr>
                        </a:p>
                      </a:txBody>
                      <a:tcPr anchor="ctr"/>
                    </a:tc>
                    <a:extLst>
                      <a:ext uri="{0D108BD9-81ED-4DB2-BD59-A6C34878D82A}">
                        <a16:rowId xmlns:a16="http://schemas.microsoft.com/office/drawing/2014/main" val="1625413015"/>
                      </a:ext>
                    </a:extLst>
                  </a:tr>
                  <a:tr h="402189">
                    <a:tc vMerge="1">
                      <a:txBody>
                        <a:bodyPr/>
                        <a:lstStyle/>
                        <a:p>
                          <a:pPr algn="ct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 (0)</m:t>
                                </m:r>
                              </m:oMath>
                            </m:oMathPara>
                          </a14:m>
                          <a:endParaRPr kumimoji="1" lang="ja-JP" altLang="en-US" sz="2400"/>
                        </a:p>
                      </a:txBody>
                      <a:tcPr anchor="ctr"/>
                    </a:tc>
                    <a:extLst>
                      <a:ext uri="{0D108BD9-81ED-4DB2-BD59-A6C34878D82A}">
                        <a16:rowId xmlns:a16="http://schemas.microsoft.com/office/drawing/2014/main" val="675711395"/>
                      </a:ext>
                    </a:extLst>
                  </a:tr>
                  <a:tr h="40218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2389290887"/>
                      </a:ext>
                    </a:extLst>
                  </a:tr>
                  <a:tr h="40218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3414858699"/>
                      </a:ext>
                    </a:extLst>
                  </a:tr>
                </a:tbl>
              </a:graphicData>
            </a:graphic>
          </p:graphicFrame>
        </mc:Choice>
        <mc:Fallback xmlns="">
          <p:graphicFrame>
            <p:nvGraphicFramePr>
              <p:cNvPr id="3" name="表 2">
                <a:extLst>
                  <a:ext uri="{FF2B5EF4-FFF2-40B4-BE49-F238E27FC236}">
                    <a16:creationId xmlns:a16="http://schemas.microsoft.com/office/drawing/2014/main" id="{3EE789AE-3C91-6092-35FA-FBFC67E04569}"/>
                  </a:ext>
                </a:extLst>
              </p:cNvPr>
              <p:cNvGraphicFramePr>
                <a:graphicFrameLocks noGrp="1"/>
              </p:cNvGraphicFramePr>
              <p:nvPr>
                <p:extLst>
                  <p:ext uri="{D42A27DB-BD31-4B8C-83A1-F6EECF244321}">
                    <p14:modId xmlns:p14="http://schemas.microsoft.com/office/powerpoint/2010/main" val="2446244606"/>
                  </p:ext>
                </p:extLst>
              </p:nvPr>
            </p:nvGraphicFramePr>
            <p:xfrm>
              <a:off x="155848" y="689158"/>
              <a:ext cx="11880301" cy="5943600"/>
            </p:xfrm>
            <a:graphic>
              <a:graphicData uri="http://schemas.openxmlformats.org/drawingml/2006/table">
                <a:tbl>
                  <a:tblPr firstRow="1" bandRow="1">
                    <a:tableStyleId>{5940675A-B579-460E-94D1-54222C63F5DA}</a:tableStyleId>
                  </a:tblPr>
                  <a:tblGrid>
                    <a:gridCol w="1702034">
                      <a:extLst>
                        <a:ext uri="{9D8B030D-6E8A-4147-A177-3AD203B41FA5}">
                          <a16:colId xmlns:a16="http://schemas.microsoft.com/office/drawing/2014/main" val="1882950195"/>
                        </a:ext>
                      </a:extLst>
                    </a:gridCol>
                    <a:gridCol w="1887794">
                      <a:extLst>
                        <a:ext uri="{9D8B030D-6E8A-4147-A177-3AD203B41FA5}">
                          <a16:colId xmlns:a16="http://schemas.microsoft.com/office/drawing/2014/main" val="3692332175"/>
                        </a:ext>
                      </a:extLst>
                    </a:gridCol>
                    <a:gridCol w="1873045">
                      <a:extLst>
                        <a:ext uri="{9D8B030D-6E8A-4147-A177-3AD203B41FA5}">
                          <a16:colId xmlns:a16="http://schemas.microsoft.com/office/drawing/2014/main" val="2771374145"/>
                        </a:ext>
                      </a:extLst>
                    </a:gridCol>
                    <a:gridCol w="3122682">
                      <a:extLst>
                        <a:ext uri="{9D8B030D-6E8A-4147-A177-3AD203B41FA5}">
                          <a16:colId xmlns:a16="http://schemas.microsoft.com/office/drawing/2014/main" val="918996523"/>
                        </a:ext>
                      </a:extLst>
                    </a:gridCol>
                    <a:gridCol w="3294746">
                      <a:extLst>
                        <a:ext uri="{9D8B030D-6E8A-4147-A177-3AD203B41FA5}">
                          <a16:colId xmlns:a16="http://schemas.microsoft.com/office/drawing/2014/main" val="4179090761"/>
                        </a:ext>
                      </a:extLst>
                    </a:gridCol>
                  </a:tblGrid>
                  <a:tr h="457200">
                    <a:tc>
                      <a:txBody>
                        <a:bodyPr/>
                        <a:lstStyle/>
                        <a:p>
                          <a:pPr algn="ctr"/>
                          <a:endParaRPr kumimoji="1" lang="ja-JP" altLang="en-US" sz="2400"/>
                        </a:p>
                      </a:txBody>
                      <a:tcPr anchor="ctr">
                        <a:lnR w="12700" cmpd="sng">
                          <a:noFill/>
                        </a:lnR>
                      </a:tcPr>
                    </a:tc>
                    <a:tc>
                      <a:txBody>
                        <a:bodyPr/>
                        <a:lstStyle/>
                        <a:p>
                          <a:pPr algn="ctr"/>
                          <a:endParaRPr kumimoji="1" lang="ja-JP" altLang="en-US" sz="2400"/>
                        </a:p>
                      </a:txBody>
                      <a:tcPr anchor="ctr">
                        <a:lnL w="12700" cmpd="sng">
                          <a:noFill/>
                        </a:lnL>
                        <a:lnR w="12700" cmpd="sng">
                          <a:noFill/>
                        </a:lnR>
                      </a:tcPr>
                    </a:tc>
                    <a:tc>
                      <a:txBody>
                        <a:bodyPr/>
                        <a:lstStyle/>
                        <a:p>
                          <a:pPr algn="ctr"/>
                          <a:endParaRPr kumimoji="1" lang="ja-JP" altLang="en-US" sz="2400"/>
                        </a:p>
                      </a:txBody>
                      <a:tcPr anchor="ctr">
                        <a:lnL w="12700" cmpd="sng">
                          <a:noFill/>
                        </a:lnL>
                      </a:tcPr>
                    </a:tc>
                    <a:tc>
                      <a:txBody>
                        <a:bodyPr/>
                        <a:lstStyle/>
                        <a:p>
                          <a:endParaRPr lang="ja-JP"/>
                        </a:p>
                      </a:txBody>
                      <a:tcPr anchor="ctr">
                        <a:blipFill>
                          <a:blip r:embed="rId3"/>
                          <a:stretch>
                            <a:fillRect l="-175203" t="-2778" r="-106098" b="-1233333"/>
                          </a:stretch>
                        </a:blipFill>
                      </a:tcPr>
                    </a:tc>
                    <a:tc>
                      <a:txBody>
                        <a:bodyPr/>
                        <a:lstStyle/>
                        <a:p>
                          <a:endParaRPr lang="ja-JP"/>
                        </a:p>
                      </a:txBody>
                      <a:tcPr anchor="ctr">
                        <a:blipFill>
                          <a:blip r:embed="rId3"/>
                          <a:stretch>
                            <a:fillRect l="-260385" t="-2778" r="-385" b="-1233333"/>
                          </a:stretch>
                        </a:blipFill>
                      </a:tcPr>
                    </a:tc>
                    <a:extLst>
                      <a:ext uri="{0D108BD9-81ED-4DB2-BD59-A6C34878D82A}">
                        <a16:rowId xmlns:a16="http://schemas.microsoft.com/office/drawing/2014/main" val="1849278843"/>
                      </a:ext>
                    </a:extLst>
                  </a:tr>
                  <a:tr h="457200">
                    <a:tc rowSpan="4">
                      <a:txBody>
                        <a:bodyPr/>
                        <a:lstStyle/>
                        <a:p>
                          <a:endParaRPr lang="ja-JP"/>
                        </a:p>
                      </a:txBody>
                      <a:tcPr anchor="ctr">
                        <a:blipFill>
                          <a:blip r:embed="rId3"/>
                          <a:stretch>
                            <a:fillRect l="-746" t="-25694" r="-599254" b="-208333"/>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102778" r="-106098" b="-1133333"/>
                          </a:stretch>
                        </a:blipFill>
                      </a:tcPr>
                    </a:tc>
                    <a:tc>
                      <a:txBody>
                        <a:bodyPr/>
                        <a:lstStyle/>
                        <a:p>
                          <a:endParaRPr lang="ja-JP"/>
                        </a:p>
                      </a:txBody>
                      <a:tcPr anchor="ctr">
                        <a:blipFill>
                          <a:blip r:embed="rId3"/>
                          <a:stretch>
                            <a:fillRect l="-260385" t="-102778" r="-385" b="-1133333"/>
                          </a:stretch>
                        </a:blipFill>
                      </a:tcPr>
                    </a:tc>
                    <a:extLst>
                      <a:ext uri="{0D108BD9-81ED-4DB2-BD59-A6C34878D82A}">
                        <a16:rowId xmlns:a16="http://schemas.microsoft.com/office/drawing/2014/main" val="2832404967"/>
                      </a:ext>
                    </a:extLst>
                  </a:tr>
                  <a:tr h="457200">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2400"/>
                            <a:t>検出力</a:t>
                          </a:r>
                        </a:p>
                      </a:txBody>
                      <a:tcPr anchor="ctr"/>
                    </a:tc>
                    <a:tc>
                      <a:txBody>
                        <a:bodyPr/>
                        <a:lstStyle/>
                        <a:p>
                          <a:endParaRPr lang="ja-JP"/>
                        </a:p>
                      </a:txBody>
                      <a:tcPr anchor="ctr">
                        <a:blipFill>
                          <a:blip r:embed="rId3"/>
                          <a:stretch>
                            <a:fillRect l="-175203" t="-202778" r="-106098" b="-1033333"/>
                          </a:stretch>
                        </a:blipFill>
                      </a:tcPr>
                    </a:tc>
                    <a:tc>
                      <a:txBody>
                        <a:bodyPr/>
                        <a:lstStyle/>
                        <a:p>
                          <a:endParaRPr lang="ja-JP"/>
                        </a:p>
                      </a:txBody>
                      <a:tcPr anchor="ctr">
                        <a:blipFill>
                          <a:blip r:embed="rId3"/>
                          <a:stretch>
                            <a:fillRect l="-260385" t="-202778" r="-385" b="-1033333"/>
                          </a:stretch>
                        </a:blipFill>
                      </a:tcPr>
                    </a:tc>
                    <a:extLst>
                      <a:ext uri="{0D108BD9-81ED-4DB2-BD59-A6C34878D82A}">
                        <a16:rowId xmlns:a16="http://schemas.microsoft.com/office/drawing/2014/main" val="3032401985"/>
                      </a:ext>
                    </a:extLst>
                  </a:tr>
                  <a:tr h="457200">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302778" r="-106098" b="-933333"/>
                          </a:stretch>
                        </a:blipFill>
                      </a:tcPr>
                    </a:tc>
                    <a:tc>
                      <a:txBody>
                        <a:bodyPr/>
                        <a:lstStyle/>
                        <a:p>
                          <a:endParaRPr lang="ja-JP"/>
                        </a:p>
                      </a:txBody>
                      <a:tcPr anchor="ctr">
                        <a:blipFill>
                          <a:blip r:embed="rId3"/>
                          <a:stretch>
                            <a:fillRect l="-260385" t="-302778" r="-385" b="-933333"/>
                          </a:stretch>
                        </a:blipFill>
                      </a:tcPr>
                    </a:tc>
                    <a:extLst>
                      <a:ext uri="{0D108BD9-81ED-4DB2-BD59-A6C34878D82A}">
                        <a16:rowId xmlns:a16="http://schemas.microsoft.com/office/drawing/2014/main" val="780486150"/>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402778" r="-106098" b="-833333"/>
                          </a:stretch>
                        </a:blipFill>
                      </a:tcPr>
                    </a:tc>
                    <a:tc>
                      <a:txBody>
                        <a:bodyPr/>
                        <a:lstStyle/>
                        <a:p>
                          <a:endParaRPr lang="ja-JP"/>
                        </a:p>
                      </a:txBody>
                      <a:tcPr anchor="ctr">
                        <a:blipFill>
                          <a:blip r:embed="rId3"/>
                          <a:stretch>
                            <a:fillRect l="-260385" t="-402778" r="-385" b="-833333"/>
                          </a:stretch>
                        </a:blipFill>
                      </a:tcPr>
                    </a:tc>
                    <a:extLst>
                      <a:ext uri="{0D108BD9-81ED-4DB2-BD59-A6C34878D82A}">
                        <a16:rowId xmlns:a16="http://schemas.microsoft.com/office/drawing/2014/main" val="3810239069"/>
                      </a:ext>
                    </a:extLst>
                  </a:tr>
                  <a:tr h="457200">
                    <a:tc rowSpan="4">
                      <a:txBody>
                        <a:bodyPr/>
                        <a:lstStyle/>
                        <a:p>
                          <a:endParaRPr lang="ja-JP"/>
                        </a:p>
                      </a:txBody>
                      <a:tcPr anchor="ctr">
                        <a:blipFill>
                          <a:blip r:embed="rId3"/>
                          <a:stretch>
                            <a:fillRect l="-746" t="-124828" r="-599254" b="-106897"/>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502778" r="-106098" b="-733333"/>
                          </a:stretch>
                        </a:blipFill>
                      </a:tcPr>
                    </a:tc>
                    <a:tc>
                      <a:txBody>
                        <a:bodyPr/>
                        <a:lstStyle/>
                        <a:p>
                          <a:endParaRPr lang="ja-JP"/>
                        </a:p>
                      </a:txBody>
                      <a:tcPr anchor="ctr">
                        <a:blipFill>
                          <a:blip r:embed="rId3"/>
                          <a:stretch>
                            <a:fillRect l="-260385" t="-502778" r="-385" b="-733333"/>
                          </a:stretch>
                        </a:blipFill>
                      </a:tcPr>
                    </a:tc>
                    <a:extLst>
                      <a:ext uri="{0D108BD9-81ED-4DB2-BD59-A6C34878D82A}">
                        <a16:rowId xmlns:a16="http://schemas.microsoft.com/office/drawing/2014/main" val="1919420054"/>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586486" r="-106098" b="-613514"/>
                          </a:stretch>
                        </a:blipFill>
                      </a:tcPr>
                    </a:tc>
                    <a:tc>
                      <a:txBody>
                        <a:bodyPr/>
                        <a:lstStyle/>
                        <a:p>
                          <a:endParaRPr lang="ja-JP"/>
                        </a:p>
                      </a:txBody>
                      <a:tcPr anchor="ctr">
                        <a:blipFill>
                          <a:blip r:embed="rId3"/>
                          <a:stretch>
                            <a:fillRect l="-260385" t="-586486" r="-385" b="-613514"/>
                          </a:stretch>
                        </a:blipFill>
                      </a:tcPr>
                    </a:tc>
                    <a:extLst>
                      <a:ext uri="{0D108BD9-81ED-4DB2-BD59-A6C34878D82A}">
                        <a16:rowId xmlns:a16="http://schemas.microsoft.com/office/drawing/2014/main" val="1345976635"/>
                      </a:ext>
                    </a:extLst>
                  </a:tr>
                  <a:tr h="457200">
                    <a:tc vMerge="1">
                      <a:txBody>
                        <a:bodyPr/>
                        <a:lstStyle/>
                        <a:p>
                          <a:endParaRPr kumimoji="1" lang="ja-JP" altLang="en-US"/>
                        </a:p>
                      </a:txBody>
                      <a:tcPr/>
                    </a:tc>
                    <a:tc rowSpan="2">
                      <a:txBody>
                        <a:bodyPr/>
                        <a:lstStyle/>
                        <a:p>
                          <a:pPr algn="ct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705556" r="-106098" b="-530556"/>
                          </a:stretch>
                        </a:blipFill>
                      </a:tcPr>
                    </a:tc>
                    <a:tc>
                      <a:txBody>
                        <a:bodyPr/>
                        <a:lstStyle/>
                        <a:p>
                          <a:endParaRPr lang="ja-JP"/>
                        </a:p>
                      </a:txBody>
                      <a:tcPr anchor="ctr">
                        <a:blipFill>
                          <a:blip r:embed="rId3"/>
                          <a:stretch>
                            <a:fillRect l="-260385" t="-705556" r="-385" b="-530556"/>
                          </a:stretch>
                        </a:blipFill>
                      </a:tcPr>
                    </a:tc>
                    <a:extLst>
                      <a:ext uri="{0D108BD9-81ED-4DB2-BD59-A6C34878D82A}">
                        <a16:rowId xmlns:a16="http://schemas.microsoft.com/office/drawing/2014/main" val="1479030581"/>
                      </a:ext>
                    </a:extLst>
                  </a:tr>
                  <a:tr h="457200">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805556" r="-106098" b="-430556"/>
                          </a:stretch>
                        </a:blipFill>
                      </a:tcPr>
                    </a:tc>
                    <a:tc>
                      <a:txBody>
                        <a:bodyPr/>
                        <a:lstStyle/>
                        <a:p>
                          <a:endParaRPr lang="ja-JP"/>
                        </a:p>
                      </a:txBody>
                      <a:tcPr anchor="ctr">
                        <a:blipFill>
                          <a:blip r:embed="rId3"/>
                          <a:stretch>
                            <a:fillRect l="-260385" t="-805556" r="-385" b="-430556"/>
                          </a:stretch>
                        </a:blipFill>
                      </a:tcPr>
                    </a:tc>
                    <a:extLst>
                      <a:ext uri="{0D108BD9-81ED-4DB2-BD59-A6C34878D82A}">
                        <a16:rowId xmlns:a16="http://schemas.microsoft.com/office/drawing/2014/main" val="2748241918"/>
                      </a:ext>
                    </a:extLst>
                  </a:tr>
                  <a:tr h="457200">
                    <a:tc rowSpan="4">
                      <a:txBody>
                        <a:bodyPr/>
                        <a:lstStyle/>
                        <a:p>
                          <a:endParaRPr lang="ja-JP"/>
                        </a:p>
                      </a:txBody>
                      <a:tcPr anchor="ctr">
                        <a:blipFill>
                          <a:blip r:embed="rId3"/>
                          <a:stretch>
                            <a:fillRect l="-746" t="-226389" r="-599254" b="-7639"/>
                          </a:stretch>
                        </a:blipFill>
                      </a:tcPr>
                    </a:tc>
                    <a:tc rowSpan="2">
                      <a:txBody>
                        <a:bodyPr/>
                        <a:lstStyle/>
                        <a:p>
                          <a:pPr algn="ctr"/>
                          <a:r>
                            <a:rPr kumimoji="1" lang="ja-JP" altLang="en-US" sz="2400"/>
                            <a:t>提案手法</a:t>
                          </a:r>
                        </a:p>
                      </a:txBody>
                      <a:tcPr anchor="ctr"/>
                    </a:tc>
                    <a:tc>
                      <a:txBody>
                        <a:bodyPr/>
                        <a:lstStyle/>
                        <a:p>
                          <a:pPr algn="ctr"/>
                          <a:r>
                            <a:rPr kumimoji="1" lang="en-US" altLang="ja-JP" sz="2400" dirty="0"/>
                            <a:t>FDR</a:t>
                          </a:r>
                          <a:endParaRPr kumimoji="1" lang="ja-JP" altLang="en-US" sz="2400"/>
                        </a:p>
                      </a:txBody>
                      <a:tcPr anchor="ctr"/>
                    </a:tc>
                    <a:tc>
                      <a:txBody>
                        <a:bodyPr/>
                        <a:lstStyle/>
                        <a:p>
                          <a:endParaRPr lang="ja-JP"/>
                        </a:p>
                      </a:txBody>
                      <a:tcPr anchor="ctr">
                        <a:blipFill>
                          <a:blip r:embed="rId3"/>
                          <a:stretch>
                            <a:fillRect l="-175203" t="-905556" r="-106098" b="-330556"/>
                          </a:stretch>
                        </a:blipFill>
                      </a:tcPr>
                    </a:tc>
                    <a:tc>
                      <a:txBody>
                        <a:bodyPr/>
                        <a:lstStyle/>
                        <a:p>
                          <a:endParaRPr lang="ja-JP"/>
                        </a:p>
                      </a:txBody>
                      <a:tcPr anchor="ctr">
                        <a:blipFill>
                          <a:blip r:embed="rId3"/>
                          <a:stretch>
                            <a:fillRect l="-260385" t="-905556" r="-385" b="-330556"/>
                          </a:stretch>
                        </a:blipFill>
                      </a:tcPr>
                    </a:tc>
                    <a:extLst>
                      <a:ext uri="{0D108BD9-81ED-4DB2-BD59-A6C34878D82A}">
                        <a16:rowId xmlns:a16="http://schemas.microsoft.com/office/drawing/2014/main" val="1625413015"/>
                      </a:ext>
                    </a:extLst>
                  </a:tr>
                  <a:tr h="457200">
                    <a:tc vMerge="1">
                      <a:txBody>
                        <a:bodyPr/>
                        <a:lstStyle/>
                        <a:p>
                          <a:pPr algn="ct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endParaRPr lang="ja-JP"/>
                        </a:p>
                      </a:txBody>
                      <a:tcPr anchor="ctr">
                        <a:blipFill>
                          <a:blip r:embed="rId3"/>
                          <a:stretch>
                            <a:fillRect l="-175203" t="-1005556" r="-106098" b="-230556"/>
                          </a:stretch>
                        </a:blipFill>
                      </a:tcPr>
                    </a:tc>
                    <a:tc>
                      <a:txBody>
                        <a:bodyPr/>
                        <a:lstStyle/>
                        <a:p>
                          <a:endParaRPr lang="ja-JP"/>
                        </a:p>
                      </a:txBody>
                      <a:tcPr anchor="ctr">
                        <a:blipFill>
                          <a:blip r:embed="rId3"/>
                          <a:stretch>
                            <a:fillRect l="-260385" t="-1005556" r="-385" b="-230556"/>
                          </a:stretch>
                        </a:blipFill>
                      </a:tcPr>
                    </a:tc>
                    <a:extLst>
                      <a:ext uri="{0D108BD9-81ED-4DB2-BD59-A6C34878D82A}">
                        <a16:rowId xmlns:a16="http://schemas.microsoft.com/office/drawing/2014/main" val="675711395"/>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dirty="0"/>
                            <a:t>BH</a:t>
                          </a:r>
                          <a:r>
                            <a:rPr kumimoji="1" lang="ja-JP" altLang="en-US" sz="2400"/>
                            <a:t>法</a:t>
                          </a:r>
                        </a:p>
                      </a:txBody>
                      <a:tcPr anchor="ctr"/>
                    </a:tc>
                    <a:tc>
                      <a:txBody>
                        <a:bodyPr/>
                        <a:lstStyle/>
                        <a:p>
                          <a:pPr algn="ctr"/>
                          <a:r>
                            <a:rPr kumimoji="1" lang="en-US" altLang="ja-JP" sz="2400" dirty="0"/>
                            <a:t>FDR</a:t>
                          </a: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2389290887"/>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400"/>
                        </a:p>
                      </a:txBody>
                      <a:tcPr anchor="ctr"/>
                    </a:tc>
                    <a:tc vMerge="1">
                      <a:txBody>
                        <a:bodyPr/>
                        <a:lstStyle/>
                        <a:p>
                          <a:pPr algn="ctr"/>
                          <a:endParaRPr kumimoji="1" lang="ja-JP" altLang="en-US" sz="24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検出力</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実験中</a:t>
                          </a:r>
                        </a:p>
                      </a:txBody>
                      <a:tcPr anchor="ctr"/>
                    </a:tc>
                    <a:extLst>
                      <a:ext uri="{0D108BD9-81ED-4DB2-BD59-A6C34878D82A}">
                        <a16:rowId xmlns:a16="http://schemas.microsoft.com/office/drawing/2014/main" val="3414858699"/>
                      </a:ext>
                    </a:extLst>
                  </a:tr>
                </a:tbl>
              </a:graphicData>
            </a:graphic>
          </p:graphicFrame>
        </mc:Fallback>
      </mc:AlternateContent>
      <p:sp>
        <p:nvSpPr>
          <p:cNvPr id="2" name="テキスト ボックス 1">
            <a:extLst>
              <a:ext uri="{FF2B5EF4-FFF2-40B4-BE49-F238E27FC236}">
                <a16:creationId xmlns:a16="http://schemas.microsoft.com/office/drawing/2014/main" id="{86CDC4DB-7781-E9BC-4CE1-EF1BD5EB8D32}"/>
              </a:ext>
            </a:extLst>
          </p:cNvPr>
          <p:cNvSpPr txBox="1"/>
          <p:nvPr/>
        </p:nvSpPr>
        <p:spPr>
          <a:xfrm>
            <a:off x="4637908" y="102568"/>
            <a:ext cx="2916183" cy="523220"/>
          </a:xfrm>
          <a:prstGeom prst="rect">
            <a:avLst/>
          </a:prstGeom>
          <a:noFill/>
        </p:spPr>
        <p:txBody>
          <a:bodyPr wrap="none" rtlCol="0">
            <a:spAutoFit/>
          </a:bodyPr>
          <a:lstStyle/>
          <a:p>
            <a:r>
              <a:rPr kumimoji="1" lang="en-US" altLang="ja-JP" sz="2800" dirty="0"/>
              <a:t>(</a:t>
            </a:r>
            <a:r>
              <a:rPr kumimoji="1" lang="ja-JP" altLang="en-US" sz="2800"/>
              <a:t>括弧は標準偏差</a:t>
            </a:r>
            <a:r>
              <a:rPr kumimoji="1" lang="en-US" altLang="ja-JP" sz="2800" dirty="0"/>
              <a:t>)</a:t>
            </a:r>
            <a:endParaRPr kumimoji="1" lang="ja-JP" altLang="en-US" sz="2800"/>
          </a:p>
        </p:txBody>
      </p:sp>
    </p:spTree>
    <p:extLst>
      <p:ext uri="{BB962C8B-B14F-4D97-AF65-F5344CB8AC3E}">
        <p14:creationId xmlns:p14="http://schemas.microsoft.com/office/powerpoint/2010/main" val="3408610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角丸四角形 10">
            <a:extLst>
              <a:ext uri="{FF2B5EF4-FFF2-40B4-BE49-F238E27FC236}">
                <a16:creationId xmlns:a16="http://schemas.microsoft.com/office/drawing/2014/main" id="{CF9D89B0-C153-DEE4-9891-F2DABDDD83B0}"/>
              </a:ext>
            </a:extLst>
          </p:cNvPr>
          <p:cNvSpPr/>
          <p:nvPr/>
        </p:nvSpPr>
        <p:spPr>
          <a:xfrm>
            <a:off x="824273" y="969679"/>
            <a:ext cx="10563922" cy="866299"/>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553F830-01D0-7BBD-0EC6-DCB68D0686B3}"/>
              </a:ext>
            </a:extLst>
          </p:cNvPr>
          <p:cNvSpPr/>
          <p:nvPr/>
        </p:nvSpPr>
        <p:spPr>
          <a:xfrm>
            <a:off x="2420243" y="779085"/>
            <a:ext cx="7404410" cy="289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20467" y="1968566"/>
                <a:ext cx="12171534" cy="4791198"/>
              </a:xfrm>
            </p:spPr>
            <p:txBody>
              <a:bodyPr>
                <a:normAutofit/>
              </a:bodyPr>
              <a:lstStyle/>
              <a:p>
                <a:pPr marL="0" indent="0">
                  <a:buNone/>
                </a:pPr>
                <a:r>
                  <a:rPr lang="en-US" altLang="ja-JP" dirty="0">
                    <a:latin typeface="+mn-ea"/>
                    <a:cs typeface="ヒラギノ角ゴ Pro W3"/>
                  </a:rPr>
                  <a:t> </a:t>
                </a:r>
                <a14:m>
                  <m:oMath xmlns:m="http://schemas.openxmlformats.org/officeDocument/2006/math">
                    <m:sSub>
                      <m:sSubPr>
                        <m:ctrlPr>
                          <a:rPr lang="en-US" altLang="ja-JP" b="0" i="1" smtClean="0">
                            <a:latin typeface="Cambria Math" panose="02040503050406030204" pitchFamily="18" charset="0"/>
                            <a:cs typeface="ヒラギノ角ゴ Pro W3"/>
                          </a:rPr>
                        </m:ctrlPr>
                      </m:sSubPr>
                      <m:e>
                        <m:r>
                          <a:rPr lang="en-US" altLang="ja-JP" b="0" i="1" smtClean="0">
                            <a:latin typeface="Cambria Math" panose="02040503050406030204" pitchFamily="18" charset="0"/>
                            <a:cs typeface="ヒラギノ角ゴ Pro W3"/>
                          </a:rPr>
                          <m:t>𝑣</m:t>
                        </m:r>
                      </m:e>
                      <m:sub>
                        <m:r>
                          <a:rPr lang="en-US" altLang="ja-JP" b="0" i="1" smtClean="0">
                            <a:latin typeface="Cambria Math" panose="02040503050406030204" pitchFamily="18" charset="0"/>
                            <a:cs typeface="ヒラギノ角ゴ Pro W3"/>
                          </a:rPr>
                          <m:t>𝑗</m:t>
                        </m:r>
                      </m:sub>
                    </m:sSub>
                    <m:r>
                      <a:rPr lang="en-US" altLang="ja-JP" b="0" i="1" smtClean="0">
                        <a:latin typeface="Cambria Math" panose="02040503050406030204" pitchFamily="18" charset="0"/>
                        <a:cs typeface="ヒラギノ角ゴ Pro W3"/>
                      </a:rPr>
                      <m:t>=0</m:t>
                    </m:r>
                  </m:oMath>
                </a14:m>
                <a:r>
                  <a:rPr lang="ja-JP" altLang="en-US">
                    <a:latin typeface="+mn-ea"/>
                    <a:cs typeface="ヒラギノ角ゴ Pro W3"/>
                  </a:rPr>
                  <a:t>となる</a:t>
                </a:r>
                <a14:m>
                  <m:oMath xmlns:m="http://schemas.openxmlformats.org/officeDocument/2006/math">
                    <m:r>
                      <a:rPr lang="en-US" altLang="ja-JP" b="0" i="1" smtClean="0">
                        <a:latin typeface="Cambria Math" panose="02040503050406030204" pitchFamily="18" charset="0"/>
                        <a:cs typeface="ヒラギノ角ゴ Pro W3"/>
                      </a:rPr>
                      <m:t>𝑗</m:t>
                    </m:r>
                  </m:oMath>
                </a14:m>
                <a:r>
                  <a:rPr lang="ja-JP" altLang="en-US" dirty="0">
                    <a:latin typeface="+mn-ea"/>
                    <a:cs typeface="ヒラギノ角ゴ Pro W3"/>
                  </a:rPr>
                  <a:t>に対して</a:t>
                </a:r>
                <a:endParaRPr lang="en-US" altLang="ja-JP" dirty="0">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r>
                        <a:rPr lang="en-US" altLang="ja-JP" b="0" i="1" smtClean="0">
                          <a:latin typeface="Cambria Math" panose="02040503050406030204" pitchFamily="18" charset="0"/>
                          <a:cs typeface="ヒラギノ角ゴ Pro W3"/>
                        </a:rPr>
                        <m:t>=</m:t>
                      </m:r>
                      <m:sSub>
                        <m:sSubPr>
                          <m:ctrlPr>
                            <a:rPr lang="en-US" altLang="ja-JP" i="1">
                              <a:latin typeface="Cambria Math" panose="02040503050406030204" pitchFamily="18" charset="0"/>
                              <a:cs typeface="ヒラギノ角ゴ Pro W3"/>
                            </a:rPr>
                          </m:ctrlPr>
                        </m:sSubPr>
                        <m:e>
                          <m:d>
                            <m:dPr>
                              <m:ctrlPr>
                                <a:rPr lang="en-US" altLang="ja-JP" i="1">
                                  <a:latin typeface="Cambria Math" panose="02040503050406030204" pitchFamily="18" charset="0"/>
                                  <a:cs typeface="ヒラギノ角ゴ Pro W3"/>
                                </a:rPr>
                              </m:ctrlPr>
                            </m:dPr>
                            <m:e>
                              <m:sSub>
                                <m:sSubPr>
                                  <m:ctrlPr>
                                    <a:rPr lang="en-US" altLang="ja-JP" i="1">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i="1">
                                      <a:latin typeface="Cambria Math" panose="02040503050406030204" pitchFamily="18" charset="0"/>
                                      <a:cs typeface="ヒラギノ角ゴ Pro W3"/>
                                    </a:rPr>
                                    <m:t>𝑠𝑤𝑎𝑝</m:t>
                                  </m:r>
                                  <m:d>
                                    <m:dPr>
                                      <m:ctrlPr>
                                        <a:rPr lang="en-US" altLang="ja-JP" i="1">
                                          <a:latin typeface="Cambria Math" panose="02040503050406030204" pitchFamily="18" charset="0"/>
                                          <a:cs typeface="ヒラギノ角ゴ Pro W3"/>
                                        </a:rPr>
                                      </m:ctrlPr>
                                    </m:dPr>
                                    <m:e>
                                      <m:r>
                                        <a:rPr lang="en-US" altLang="ja-JP" i="1">
                                          <a:latin typeface="Cambria Math" panose="02040503050406030204" pitchFamily="18" charset="0"/>
                                          <a:cs typeface="ヒラギノ角ゴ Pro W3"/>
                                        </a:rPr>
                                        <m:t>𝑆</m:t>
                                      </m:r>
                                    </m:e>
                                  </m:d>
                                </m:sub>
                              </m:sSub>
                            </m:e>
                          </m:d>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limUpp>
                        <m:limUppPr>
                          <m:ctrlPr>
                            <a:rPr lang="ar-AE" altLang="ja-JP" i="1">
                              <a:solidFill>
                                <a:srgbClr val="000000"/>
                              </a:solidFill>
                              <a:latin typeface="Cambria Math" panose="02040503050406030204" pitchFamily="18" charset="0"/>
                            </a:rPr>
                          </m:ctrlPr>
                        </m:limUppPr>
                        <m:e>
                          <m:r>
                            <a:rPr lang="ar-AE" altLang="ja-JP" i="1">
                              <a:solidFill>
                                <a:srgbClr val="000000"/>
                              </a:solidFill>
                              <a:latin typeface="Cambria Math" panose="02040503050406030204" pitchFamily="18" charset="0"/>
                            </a:rPr>
                            <m:t>=</m:t>
                          </m:r>
                        </m:e>
                        <m:lim>
                          <m:r>
                            <a:rPr lang="ar-AE" altLang="ja-JP" i="1">
                              <a:solidFill>
                                <a:srgbClr val="000000"/>
                              </a:solidFill>
                              <a:latin typeface="Cambria Math" panose="02040503050406030204" pitchFamily="18" charset="0"/>
                            </a:rPr>
                            <m:t>𝑑</m:t>
                          </m:r>
                        </m:lim>
                      </m:limUpp>
                      <m:r>
                        <a:rPr lang="en-US" altLang="ja-JP" b="0" i="1" smtClean="0">
                          <a:solidFill>
                            <a:srgbClr val="000000"/>
                          </a:solidFill>
                          <a:latin typeface="Cambria Math" panose="02040503050406030204" pitchFamily="18" charset="0"/>
                        </a:rPr>
                        <m:t>−</m:t>
                      </m:r>
                      <m:sSub>
                        <m:sSubPr>
                          <m:ctrlPr>
                            <a:rPr lang="en-US" altLang="ja-JP" i="1">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oMath>
                  </m:oMathPara>
                </a14:m>
                <a:endParaRPr lang="en-US" altLang="ja-JP"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20467" y="1968566"/>
                <a:ext cx="12171534" cy="4791198"/>
              </a:xfrm>
              <a:blipFill>
                <a:blip r:embed="rId3"/>
                <a:stretch>
                  <a:fillRect t="-2116"/>
                </a:stretch>
              </a:blipFill>
            </p:spPr>
            <p:txBody>
              <a:bodyPr/>
              <a:lstStyle/>
              <a:p>
                <a:r>
                  <a:rPr lang="ja-JP" altLang="en-US">
                    <a:noFill/>
                  </a:rPr>
                  <a:t> </a:t>
                </a:r>
              </a:p>
            </p:txBody>
          </p:sp>
        </mc:Fallback>
      </mc:AlternateContent>
      <p:sp>
        <p:nvSpPr>
          <p:cNvPr id="4" name="タイトル 1">
            <a:extLst>
              <a:ext uri="{FF2B5EF4-FFF2-40B4-BE49-F238E27FC236}">
                <a16:creationId xmlns:a16="http://schemas.microsoft.com/office/drawing/2014/main" id="{8FA0BC1B-2B6E-EBED-AC8A-79E7FC702B67}"/>
              </a:ext>
            </a:extLst>
          </p:cNvPr>
          <p:cNvSpPr txBox="1">
            <a:spLocks/>
          </p:cNvSpPr>
          <p:nvPr/>
        </p:nvSpPr>
        <p:spPr>
          <a:xfrm>
            <a:off x="0" y="1335"/>
            <a:ext cx="12244898" cy="835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交換可能性の証明</a:t>
            </a:r>
          </a:p>
        </p:txBody>
      </p:sp>
      <p:sp>
        <p:nvSpPr>
          <p:cNvPr id="5" name="テキスト ボックス 4">
            <a:extLst>
              <a:ext uri="{FF2B5EF4-FFF2-40B4-BE49-F238E27FC236}">
                <a16:creationId xmlns:a16="http://schemas.microsoft.com/office/drawing/2014/main" id="{96A87F2D-5942-F76C-B77B-D9B13C22DE92}"/>
              </a:ext>
            </a:extLst>
          </p:cNvPr>
          <p:cNvSpPr txBox="1"/>
          <p:nvPr/>
        </p:nvSpPr>
        <p:spPr>
          <a:xfrm>
            <a:off x="4084860" y="3457228"/>
            <a:ext cx="1415772" cy="584775"/>
          </a:xfrm>
          <a:prstGeom prst="rect">
            <a:avLst/>
          </a:prstGeom>
          <a:noFill/>
        </p:spPr>
        <p:txBody>
          <a:bodyPr wrap="none" rtlCol="0">
            <a:spAutoFit/>
          </a:bodyPr>
          <a:lstStyle/>
          <a:p>
            <a:r>
              <a:rPr kumimoji="1" lang="en-US" altLang="ja-JP" sz="3200" dirty="0"/>
              <a:t>①</a:t>
            </a:r>
            <a:r>
              <a:rPr kumimoji="1" lang="ja-JP" altLang="en-US" sz="3200"/>
              <a:t>より</a:t>
            </a:r>
          </a:p>
        </p:txBody>
      </p:sp>
      <p:sp>
        <p:nvSpPr>
          <p:cNvPr id="6" name="テキスト ボックス 5">
            <a:extLst>
              <a:ext uri="{FF2B5EF4-FFF2-40B4-BE49-F238E27FC236}">
                <a16:creationId xmlns:a16="http://schemas.microsoft.com/office/drawing/2014/main" id="{A641CC78-AA36-96B6-650B-867B4BB1608F}"/>
              </a:ext>
            </a:extLst>
          </p:cNvPr>
          <p:cNvSpPr txBox="1"/>
          <p:nvPr/>
        </p:nvSpPr>
        <p:spPr>
          <a:xfrm>
            <a:off x="6553394" y="3457228"/>
            <a:ext cx="1415772" cy="584775"/>
          </a:xfrm>
          <a:prstGeom prst="rect">
            <a:avLst/>
          </a:prstGeom>
          <a:noFill/>
        </p:spPr>
        <p:txBody>
          <a:bodyPr wrap="none" rtlCol="0">
            <a:spAutoFit/>
          </a:bodyPr>
          <a:lstStyle/>
          <a:p>
            <a:r>
              <a:rPr kumimoji="1" lang="en-US" altLang="ja-JP" sz="3200" dirty="0"/>
              <a:t>②</a:t>
            </a:r>
            <a:r>
              <a:rPr kumimoji="1" lang="ja-JP" altLang="en-US" sz="3200"/>
              <a:t>より</a:t>
            </a:r>
          </a:p>
        </p:txBody>
      </p:sp>
      <p:sp>
        <p:nvSpPr>
          <p:cNvPr id="7" name="下矢印 6">
            <a:extLst>
              <a:ext uri="{FF2B5EF4-FFF2-40B4-BE49-F238E27FC236}">
                <a16:creationId xmlns:a16="http://schemas.microsoft.com/office/drawing/2014/main" id="{295ADAA3-3C02-D259-4913-7085D85C1082}"/>
              </a:ext>
            </a:extLst>
          </p:cNvPr>
          <p:cNvSpPr/>
          <p:nvPr/>
        </p:nvSpPr>
        <p:spPr>
          <a:xfrm>
            <a:off x="4496770" y="2976989"/>
            <a:ext cx="433952" cy="462005"/>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下矢印 7">
            <a:extLst>
              <a:ext uri="{FF2B5EF4-FFF2-40B4-BE49-F238E27FC236}">
                <a16:creationId xmlns:a16="http://schemas.microsoft.com/office/drawing/2014/main" id="{D337CEA9-CE51-EFDA-5F15-A0DF0BC20312}"/>
              </a:ext>
            </a:extLst>
          </p:cNvPr>
          <p:cNvSpPr/>
          <p:nvPr/>
        </p:nvSpPr>
        <p:spPr>
          <a:xfrm>
            <a:off x="7044304" y="2959299"/>
            <a:ext cx="433952" cy="462005"/>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3C365AAC-410D-A900-D8DB-32F2371427B8}"/>
                  </a:ext>
                </a:extLst>
              </p:cNvPr>
              <p:cNvSpPr txBox="1"/>
              <p:nvPr/>
            </p:nvSpPr>
            <p:spPr>
              <a:xfrm>
                <a:off x="431180" y="677630"/>
                <a:ext cx="11329639" cy="1113253"/>
              </a:xfrm>
              <a:prstGeom prst="rect">
                <a:avLst/>
              </a:prstGeom>
              <a:noFill/>
            </p:spPr>
            <p:txBody>
              <a:bodyPr wrap="square">
                <a:spAutoFit/>
              </a:bodyPr>
              <a:lstStyle/>
              <a:p>
                <a:pPr marL="0" indent="0" algn="ctr">
                  <a:buClr>
                    <a:schemeClr val="accent3"/>
                  </a:buClr>
                  <a:buNone/>
                </a:pPr>
                <a:r>
                  <a:rPr lang="ja-JP" altLang="en-US" sz="2800">
                    <a:solidFill>
                      <a:srgbClr val="0070C0"/>
                    </a:solidFill>
                    <a:latin typeface="+mn-ea"/>
                    <a:cs typeface="ヒラギノ角ゴ Pro W3"/>
                  </a:rPr>
                  <a:t>スパース主成分分析における交換可能性</a:t>
                </a:r>
                <a:r>
                  <a:rPr lang="en-US" altLang="ja-JP" sz="2800" dirty="0">
                    <a:solidFill>
                      <a:srgbClr val="0070C0"/>
                    </a:solidFill>
                    <a:latin typeface="+mn-ea"/>
                    <a:cs typeface="ヒラギノ角ゴ Pro W3"/>
                  </a:rPr>
                  <a:t> </a:t>
                </a: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sz="2800" b="0" i="1" smtClean="0">
                          <a:latin typeface="Cambria Math" panose="02040503050406030204" pitchFamily="18" charset="0"/>
                          <a:cs typeface="ヒラギノ角ゴ Pro W3"/>
                        </a:rPr>
                        <m:t>#</m:t>
                      </m:r>
                      <m:d>
                        <m:dPr>
                          <m:begChr m:val="{"/>
                          <m:endChr m:val="}"/>
                          <m:ctrlPr>
                            <a:rPr lang="en-US" altLang="ja-JP" sz="2800" b="0" i="1" smtClean="0">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sSub>
                            <m:sSubPr>
                              <m:ctrlPr>
                                <a:rPr lang="en-US" altLang="ja-JP" sz="2800" b="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𝑘𝑗</m:t>
                              </m:r>
                            </m:sub>
                          </m:sSub>
                          <m:r>
                            <a:rPr lang="en-US" altLang="ja-JP" sz="2800" b="0" i="1" smtClean="0">
                              <a:latin typeface="Cambria Math" panose="02040503050406030204" pitchFamily="18" charset="0"/>
                            </a:rPr>
                            <m:t>=0 </m:t>
                          </m:r>
                          <m:r>
                            <a:rPr lang="en-US" altLang="ja-JP" sz="2800" b="0" i="1" smtClean="0">
                              <a:latin typeface="Cambria Math" panose="02040503050406030204" pitchFamily="18" charset="0"/>
                            </a:rPr>
                            <m:t>𝑎𝑛𝑑</m:t>
                          </m:r>
                          <m:r>
                            <a:rPr lang="en-US" altLang="ja-JP" sz="2800" b="0" i="1" smtClean="0">
                              <a:latin typeface="Cambria Math" panose="02040503050406030204" pitchFamily="18" charset="0"/>
                            </a:rPr>
                            <m:t> 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b="0" i="1" smtClean="0">
                              <a:latin typeface="Cambria Math" panose="02040503050406030204" pitchFamily="18" charset="0"/>
                            </a:rPr>
                            <m:t>𝑡</m:t>
                          </m:r>
                        </m:e>
                      </m:d>
                      <m:limUpp>
                        <m:limUppPr>
                          <m:ctrlPr>
                            <a:rPr lang="ar-AE" altLang="ja-JP" sz="2800" i="1">
                              <a:solidFill>
                                <a:srgbClr val="000000"/>
                              </a:solidFill>
                              <a:latin typeface="Cambria Math" panose="02040503050406030204" pitchFamily="18" charset="0"/>
                            </a:rPr>
                          </m:ctrlPr>
                        </m:limUppPr>
                        <m:e>
                          <m:r>
                            <a:rPr lang="ar-AE" altLang="ja-JP" sz="2800" i="1">
                              <a:solidFill>
                                <a:srgbClr val="000000"/>
                              </a:solidFill>
                              <a:latin typeface="Cambria Math" panose="02040503050406030204" pitchFamily="18" charset="0"/>
                            </a:rPr>
                            <m:t>=</m:t>
                          </m:r>
                        </m:e>
                        <m:lim>
                          <m:r>
                            <a:rPr lang="ar-AE" altLang="ja-JP" sz="2800" i="1">
                              <a:solidFill>
                                <a:srgbClr val="000000"/>
                              </a:solidFill>
                              <a:latin typeface="Cambria Math" panose="02040503050406030204" pitchFamily="18" charset="0"/>
                            </a:rPr>
                            <m:t>𝑑</m:t>
                          </m:r>
                        </m:lim>
                      </m:limUpp>
                      <m:r>
                        <a:rPr lang="en-US" altLang="ja-JP" sz="2800" i="1" smtClean="0">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m:t>
                          </m:r>
                          <m:r>
                            <a:rPr lang="en-US" altLang="ja-JP" sz="2800" i="1">
                              <a:latin typeface="Cambria Math" panose="02040503050406030204" pitchFamily="18" charset="0"/>
                            </a:rPr>
                            <m:t>𝑡</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b="0" i="1" smtClean="0">
                              <a:latin typeface="Cambria Math" panose="02040503050406030204" pitchFamily="18" charset="0"/>
                            </a:rPr>
                            <m:t>&lt;</m:t>
                          </m:r>
                          <m:r>
                            <a:rPr lang="en-US" altLang="ja-JP" sz="2800" i="1">
                              <a:latin typeface="Cambria Math" panose="02040503050406030204" pitchFamily="18" charset="0"/>
                            </a:rPr>
                            <m:t>0</m:t>
                          </m:r>
                        </m:e>
                      </m:d>
                    </m:oMath>
                  </m:oMathPara>
                </a14:m>
                <a:endParaRPr lang="ja-JP" altLang="en-US" sz="2800"/>
              </a:p>
            </p:txBody>
          </p:sp>
        </mc:Choice>
        <mc:Fallback xmlns="">
          <p:sp>
            <p:nvSpPr>
              <p:cNvPr id="10" name="テキスト ボックス 9">
                <a:extLst>
                  <a:ext uri="{FF2B5EF4-FFF2-40B4-BE49-F238E27FC236}">
                    <a16:creationId xmlns:a16="http://schemas.microsoft.com/office/drawing/2014/main" id="{3C365AAC-410D-A900-D8DB-32F2371427B8}"/>
                  </a:ext>
                </a:extLst>
              </p:cNvPr>
              <p:cNvSpPr txBox="1">
                <a:spLocks noRot="1" noChangeAspect="1" noMove="1" noResize="1" noEditPoints="1" noAdjustHandles="1" noChangeArrowheads="1" noChangeShapeType="1" noTextEdit="1"/>
              </p:cNvSpPr>
              <p:nvPr/>
            </p:nvSpPr>
            <p:spPr>
              <a:xfrm>
                <a:off x="431180" y="677630"/>
                <a:ext cx="11329639" cy="1113253"/>
              </a:xfrm>
              <a:prstGeom prst="rect">
                <a:avLst/>
              </a:prstGeom>
              <a:blipFill>
                <a:blip r:embed="rId4"/>
                <a:stretch>
                  <a:fillRect t="-5618" b="-67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12217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7603F-8826-73C7-1E95-0DEE651AF3BB}"/>
            </a:ext>
          </a:extLst>
        </p:cNvPr>
        <p:cNvGrpSpPr/>
        <p:nvPr/>
      </p:nvGrpSpPr>
      <p:grpSpPr>
        <a:xfrm>
          <a:off x="0" y="0"/>
          <a:ext cx="0" cy="0"/>
          <a:chOff x="0" y="0"/>
          <a:chExt cx="0" cy="0"/>
        </a:xfrm>
      </p:grpSpPr>
      <p:sp>
        <p:nvSpPr>
          <p:cNvPr id="11" name="角丸四角形 10">
            <a:extLst>
              <a:ext uri="{FF2B5EF4-FFF2-40B4-BE49-F238E27FC236}">
                <a16:creationId xmlns:a16="http://schemas.microsoft.com/office/drawing/2014/main" id="{E941680F-3C58-3495-1D13-BC3802A94100}"/>
              </a:ext>
            </a:extLst>
          </p:cNvPr>
          <p:cNvSpPr/>
          <p:nvPr/>
        </p:nvSpPr>
        <p:spPr>
          <a:xfrm>
            <a:off x="824273" y="969679"/>
            <a:ext cx="10563922" cy="866299"/>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34CEEE0-205B-9155-E070-AF4F8FFC305D}"/>
              </a:ext>
            </a:extLst>
          </p:cNvPr>
          <p:cNvSpPr/>
          <p:nvPr/>
        </p:nvSpPr>
        <p:spPr>
          <a:xfrm>
            <a:off x="2420243" y="779085"/>
            <a:ext cx="7404410" cy="289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62ED68B-7357-7C47-F74D-E8FFEA809595}"/>
                  </a:ext>
                </a:extLst>
              </p:cNvPr>
              <p:cNvSpPr>
                <a:spLocks noGrp="1"/>
              </p:cNvSpPr>
              <p:nvPr>
                <p:ph idx="1"/>
              </p:nvPr>
            </p:nvSpPr>
            <p:spPr>
              <a:xfrm>
                <a:off x="20467" y="1968566"/>
                <a:ext cx="12171534" cy="4791198"/>
              </a:xfrm>
            </p:spPr>
            <p:txBody>
              <a:bodyPr>
                <a:normAutofit/>
              </a:bodyPr>
              <a:lstStyle/>
              <a:p>
                <a:pPr marL="0" indent="0">
                  <a:buNone/>
                </a:pPr>
                <a:r>
                  <a:rPr lang="en-US" altLang="ja-JP" dirty="0">
                    <a:latin typeface="+mn-ea"/>
                    <a:cs typeface="ヒラギノ角ゴ Pro W3"/>
                  </a:rPr>
                  <a:t>① </a:t>
                </a:r>
                <a14:m>
                  <m:oMath xmlns:m="http://schemas.openxmlformats.org/officeDocument/2006/math">
                    <m:r>
                      <a:rPr lang="en-US" altLang="ja-JP" i="1">
                        <a:latin typeface="Cambria Math" panose="02040503050406030204" pitchFamily="18" charset="0"/>
                        <a:ea typeface="Cambria Math" panose="02040503050406030204" pitchFamily="18" charset="0"/>
                      </a:rPr>
                      <m:t>𝑆</m:t>
                    </m:r>
                    <m:r>
                      <a:rPr lang="en-US" altLang="ja-JP" i="1">
                        <a:latin typeface="Cambria Math" panose="02040503050406030204" pitchFamily="18" charset="0"/>
                        <a:ea typeface="Cambria Math" panose="02040503050406030204" pitchFamily="18" charset="0"/>
                      </a:rPr>
                      <m:t>⊂{1,…</m:t>
                    </m:r>
                    <m:r>
                      <a:rPr lang="en-US" altLang="ja-JP" i="1">
                        <a:latin typeface="Cambria Math" panose="02040503050406030204" pitchFamily="18" charset="0"/>
                        <a:ea typeface="Cambria Math" panose="02040503050406030204" pitchFamily="18" charset="0"/>
                      </a:rPr>
                      <m:t>𝑝</m:t>
                    </m:r>
                    <m:r>
                      <a:rPr lang="en-US" altLang="ja-JP" i="1">
                        <a:latin typeface="Cambria Math" panose="02040503050406030204" pitchFamily="18" charset="0"/>
                        <a:ea typeface="Cambria Math" panose="02040503050406030204" pitchFamily="18" charset="0"/>
                      </a:rPr>
                      <m:t>}</m:t>
                    </m:r>
                  </m:oMath>
                </a14:m>
                <a:r>
                  <a:rPr lang="ja-JP" altLang="en-US">
                    <a:latin typeface="+mn-ea"/>
                    <a:cs typeface="ヒラギノ角ゴ Pro W3"/>
                  </a:rPr>
                  <a:t>に対して</a:t>
                </a:r>
                <a:endParaRPr lang="en-US" altLang="ja-JP" dirty="0">
                  <a:latin typeface="+mn-ea"/>
                  <a:cs typeface="ヒラギノ角ゴ Pro W3"/>
                </a:endParaRPr>
              </a:p>
              <a:p>
                <a:pPr marL="0" indent="0">
                  <a:buNone/>
                </a:pPr>
                <a:endParaRPr lang="en-US" altLang="ja-JP" sz="500" dirty="0">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b="0" i="1" smtClean="0">
                              <a:latin typeface="Cambria Math" panose="02040503050406030204" pitchFamily="18" charset="0"/>
                              <a:cs typeface="ヒラギノ角ゴ Pro W3"/>
                            </a:rPr>
                          </m:ctrlPr>
                        </m:sSubPr>
                        <m:e>
                          <m:d>
                            <m:dPr>
                              <m:ctrlPr>
                                <a:rPr lang="en-US" altLang="ja-JP" b="0" i="1" smtClean="0">
                                  <a:latin typeface="Cambria Math" panose="02040503050406030204" pitchFamily="18" charset="0"/>
                                  <a:cs typeface="ヒラギノ角ゴ Pro W3"/>
                                </a:rPr>
                              </m:ctrlPr>
                            </m:dPr>
                            <m:e>
                              <m:sSub>
                                <m:sSubPr>
                                  <m:ctrlPr>
                                    <a:rPr lang="en-US" altLang="ja-JP" b="0" i="1" smtClean="0">
                                      <a:latin typeface="Cambria Math" panose="02040503050406030204" pitchFamily="18" charset="0"/>
                                      <a:cs typeface="ヒラギノ角ゴ Pro W3"/>
                                    </a:rPr>
                                  </m:ctrlPr>
                                </m:sSubPr>
                                <m:e>
                                  <m:r>
                                    <a:rPr lang="en-US" altLang="ja-JP" b="1" i="1" smtClean="0">
                                      <a:latin typeface="Cambria Math" panose="02040503050406030204" pitchFamily="18" charset="0"/>
                                      <a:cs typeface="ヒラギノ角ゴ Pro W3"/>
                                    </a:rPr>
                                    <m:t>𝑾</m:t>
                                  </m:r>
                                </m:e>
                                <m:sub>
                                  <m:r>
                                    <a:rPr lang="en-US" altLang="ja-JP" b="0" i="1" smtClean="0">
                                      <a:latin typeface="Cambria Math" panose="02040503050406030204" pitchFamily="18" charset="0"/>
                                      <a:cs typeface="ヒラギノ角ゴ Pro W3"/>
                                    </a:rPr>
                                    <m:t>𝑠𝑤𝑎𝑝</m:t>
                                  </m:r>
                                  <m:d>
                                    <m:dPr>
                                      <m:ctrlPr>
                                        <a:rPr lang="en-US" altLang="ja-JP" b="0" i="1" smtClean="0">
                                          <a:latin typeface="Cambria Math" panose="02040503050406030204" pitchFamily="18" charset="0"/>
                                          <a:cs typeface="ヒラギノ角ゴ Pro W3"/>
                                        </a:rPr>
                                      </m:ctrlPr>
                                    </m:dPr>
                                    <m:e>
                                      <m:r>
                                        <a:rPr lang="en-US" altLang="ja-JP" b="0" i="1" smtClean="0">
                                          <a:latin typeface="Cambria Math" panose="02040503050406030204" pitchFamily="18" charset="0"/>
                                          <a:cs typeface="ヒラギノ角ゴ Pro W3"/>
                                        </a:rPr>
                                        <m:t>𝑆</m:t>
                                      </m:r>
                                    </m:e>
                                  </m:d>
                                </m:sub>
                              </m:sSub>
                            </m:e>
                          </m:d>
                        </m:e>
                        <m:sub>
                          <m:r>
                            <a:rPr lang="en-US" altLang="ja-JP" b="0" i="1" smtClean="0">
                              <a:latin typeface="Cambria Math" panose="02040503050406030204" pitchFamily="18" charset="0"/>
                              <a:cs typeface="ヒラギノ角ゴ Pro W3"/>
                            </a:rPr>
                            <m:t>𝑘𝑗</m:t>
                          </m:r>
                        </m:sub>
                      </m:sSub>
                      <m:r>
                        <a:rPr lang="en-US" altLang="ja-JP" i="1">
                          <a:latin typeface="Cambria Math" panose="02040503050406030204" pitchFamily="18" charset="0"/>
                          <a:cs typeface="ヒラギノ角ゴ Pro W3"/>
                        </a:rPr>
                        <m:t>=</m:t>
                      </m:r>
                      <m:sSub>
                        <m:sSubPr>
                          <m:ctrlPr>
                            <a:rPr lang="en-US" altLang="ja-JP" b="0" i="1" smtClean="0">
                              <a:latin typeface="Cambria Math" panose="02040503050406030204" pitchFamily="18" charset="0"/>
                              <a:cs typeface="ヒラギノ角ゴ Pro W3"/>
                            </a:rPr>
                          </m:ctrlPr>
                        </m:sSubPr>
                        <m:e>
                          <m:r>
                            <a:rPr lang="en-US" altLang="ja-JP" b="0" i="1">
                              <a:latin typeface="Cambria Math" panose="02040503050406030204" pitchFamily="18" charset="0"/>
                              <a:cs typeface="ヒラギノ角ゴ Pro W3"/>
                            </a:rPr>
                            <m:t>𝑊</m:t>
                          </m:r>
                        </m:e>
                        <m:sub>
                          <m:r>
                            <a:rPr lang="en-US" altLang="ja-JP" b="0" i="1" smtClean="0">
                              <a:latin typeface="Cambria Math" panose="02040503050406030204" pitchFamily="18" charset="0"/>
                              <a:cs typeface="ヒラギノ角ゴ Pro W3"/>
                            </a:rPr>
                            <m:t>𝑘𝑗</m:t>
                          </m:r>
                        </m:sub>
                      </m:sSub>
                      <m:r>
                        <a:rPr lang="en-US" altLang="ja-JP" i="1">
                          <a:latin typeface="Cambria Math" panose="02040503050406030204" pitchFamily="18" charset="0"/>
                          <a:ea typeface="Cambria Math" panose="02040503050406030204" pitchFamily="18" charset="0"/>
                          <a:cs typeface="ヒラギノ角ゴ Pro W3"/>
                        </a:rPr>
                        <m:t>∙</m:t>
                      </m:r>
                      <m:d>
                        <m:dPr>
                          <m:begChr m:val="{"/>
                          <m:endChr m:val=""/>
                          <m:ctrlPr>
                            <a:rPr lang="en-US" altLang="ja-JP" i="1">
                              <a:latin typeface="Cambria Math" panose="02040503050406030204" pitchFamily="18" charset="0"/>
                              <a:ea typeface="Cambria Math" panose="02040503050406030204" pitchFamily="18" charset="0"/>
                            </a:rPr>
                          </m:ctrlPr>
                        </m:dPr>
                        <m:e>
                          <m:eqArr>
                            <m:eqArrPr>
                              <m:ctrlPr>
                                <a:rPr lang="en-US" altLang="ja-JP" i="1">
                                  <a:latin typeface="Cambria Math" panose="02040503050406030204" pitchFamily="18" charset="0"/>
                                  <a:ea typeface="Cambria Math" panose="02040503050406030204" pitchFamily="18" charset="0"/>
                                </a:rPr>
                              </m:ctrlPr>
                            </m:eqArrPr>
                            <m:e>
                              <m:r>
                                <a:rPr lang="en-US" altLang="ja-JP" i="1">
                                  <a:latin typeface="Cambria Math" panose="02040503050406030204" pitchFamily="18" charset="0"/>
                                  <a:ea typeface="Cambria Math" panose="02040503050406030204" pitchFamily="18" charset="0"/>
                                </a:rPr>
                                <m:t>1</m:t>
                              </m:r>
                              <m:r>
                                <a:rPr lang="en-US" altLang="ja-JP" b="0" i="1" smtClean="0">
                                  <a:latin typeface="Cambria Math" panose="02040503050406030204" pitchFamily="18" charset="0"/>
                                  <a:ea typeface="Cambria Math" panose="02040503050406030204" pitchFamily="18" charset="0"/>
                                </a:rPr>
                                <m:t>           </m:t>
                              </m:r>
                              <m:r>
                                <a:rPr lang="en-US" altLang="ja-JP" i="1">
                                  <a:latin typeface="Cambria Math" panose="02040503050406030204" pitchFamily="18" charset="0"/>
                                  <a:ea typeface="Cambria Math" panose="02040503050406030204" pitchFamily="18" charset="0"/>
                                </a:rPr>
                                <m:t>𝑗</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𝑆</m:t>
                              </m:r>
                            </m:e>
                            <m:e>
                              <m:r>
                                <a:rPr lang="en-US" altLang="ja-JP" i="1">
                                  <a:latin typeface="Cambria Math" panose="02040503050406030204" pitchFamily="18" charset="0"/>
                                  <a:ea typeface="Cambria Math" panose="02040503050406030204" pitchFamily="18" charset="0"/>
                                </a:rPr>
                                <m:t>−1</m:t>
                              </m:r>
                              <m:r>
                                <a:rPr lang="en-US" altLang="ja-JP" b="0" i="1" smtClean="0">
                                  <a:latin typeface="Cambria Math" panose="02040503050406030204" pitchFamily="18" charset="0"/>
                                  <a:ea typeface="Cambria Math" panose="02040503050406030204" pitchFamily="18" charset="0"/>
                                </a:rPr>
                                <m:t>        </m:t>
                              </m:r>
                              <m:r>
                                <a:rPr lang="en-US" altLang="ja-JP" i="1">
                                  <a:latin typeface="Cambria Math" panose="02040503050406030204" pitchFamily="18" charset="0"/>
                                  <a:ea typeface="Cambria Math" panose="02040503050406030204" pitchFamily="18" charset="0"/>
                                </a:rPr>
                                <m:t>𝑗</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𝑆</m:t>
                              </m:r>
                            </m:e>
                          </m:eqArr>
                        </m:e>
                      </m:d>
                    </m:oMath>
                  </m:oMathPara>
                </a14:m>
                <a:endParaRPr lang="en-US" altLang="ja-JP" b="0" dirty="0">
                  <a:latin typeface="+mn-ea"/>
                  <a:ea typeface="Cambria Math" panose="02040503050406030204" pitchFamily="18" charset="0"/>
                </a:endParaRPr>
              </a:p>
              <a:p>
                <a:pPr marL="0" indent="0">
                  <a:buNone/>
                </a:pPr>
                <a:r>
                  <a:rPr lang="en-US" altLang="ja-JP" sz="2400" b="0" dirty="0">
                    <a:cs typeface="ヒラギノ角ゴ Pro W3"/>
                  </a:rPr>
                  <a:t>       </a:t>
                </a:r>
                <a14:m>
                  <m:oMath xmlns:m="http://schemas.openxmlformats.org/officeDocument/2006/math">
                    <m:sSub>
                      <m:sSubPr>
                        <m:ctrlPr>
                          <a:rPr lang="en-US" altLang="ja-JP" sz="2400" b="0" i="1" smtClean="0">
                            <a:latin typeface="Cambria Math" panose="02040503050406030204" pitchFamily="18" charset="0"/>
                            <a:cs typeface="ヒラギノ角ゴ Pro W3"/>
                          </a:rPr>
                        </m:ctrlPr>
                      </m:sSubPr>
                      <m:e>
                        <m:r>
                          <a:rPr lang="en-US" altLang="ja-JP" sz="2400" b="1" i="1" smtClean="0">
                            <a:latin typeface="Cambria Math" panose="02040503050406030204" pitchFamily="18" charset="0"/>
                            <a:cs typeface="ヒラギノ角ゴ Pro W3"/>
                          </a:rPr>
                          <m:t>𝑾</m:t>
                        </m:r>
                      </m:e>
                      <m:sub>
                        <m:r>
                          <a:rPr lang="en-US" altLang="ja-JP" sz="2400" b="0" i="1" smtClean="0">
                            <a:latin typeface="Cambria Math" panose="02040503050406030204" pitchFamily="18" charset="0"/>
                            <a:cs typeface="ヒラギノ角ゴ Pro W3"/>
                          </a:rPr>
                          <m:t>𝑠𝑤𝑎𝑝</m:t>
                        </m:r>
                        <m:d>
                          <m:dPr>
                            <m:ctrlPr>
                              <a:rPr lang="en-US" altLang="ja-JP" sz="2400" b="0" i="1" smtClean="0">
                                <a:latin typeface="Cambria Math" panose="02040503050406030204" pitchFamily="18" charset="0"/>
                                <a:cs typeface="ヒラギノ角ゴ Pro W3"/>
                              </a:rPr>
                            </m:ctrlPr>
                          </m:dPr>
                          <m:e>
                            <m:r>
                              <a:rPr lang="en-US" altLang="ja-JP" sz="2400" b="0" i="1" smtClean="0">
                                <a:latin typeface="Cambria Math" panose="02040503050406030204" pitchFamily="18" charset="0"/>
                                <a:cs typeface="ヒラギノ角ゴ Pro W3"/>
                              </a:rPr>
                              <m:t>𝑆</m:t>
                            </m:r>
                          </m:e>
                        </m:d>
                      </m:sub>
                    </m:sSub>
                  </m:oMath>
                </a14:m>
                <a:r>
                  <a:rPr lang="en-US" altLang="ja-JP" sz="2400" b="0" dirty="0">
                    <a:latin typeface="+mn-ea"/>
                    <a:ea typeface="Cambria Math" panose="02040503050406030204" pitchFamily="18" charset="0"/>
                  </a:rPr>
                  <a:t>…</a:t>
                </a:r>
                <a:r>
                  <a:rPr lang="en-US" altLang="ja-JP" sz="2400" dirty="0">
                    <a:cs typeface="ヒラギノ角ゴ Pro W3"/>
                  </a:rPr>
                  <a:t> </a:t>
                </a:r>
                <a14:m>
                  <m:oMath xmlns:m="http://schemas.openxmlformats.org/officeDocument/2006/math">
                    <m:sSub>
                      <m:sSubPr>
                        <m:ctrlPr>
                          <a:rPr lang="en-US" altLang="ja-JP" sz="2400" i="1">
                            <a:latin typeface="Cambria Math" panose="02040503050406030204" pitchFamily="18" charset="0"/>
                            <a:cs typeface="ヒラギノ角ゴ Pro W3"/>
                          </a:rPr>
                        </m:ctrlPr>
                      </m:sSubPr>
                      <m:e>
                        <m:r>
                          <a:rPr lang="en-US" altLang="ja-JP" sz="2400" i="1">
                            <a:latin typeface="Cambria Math" panose="02040503050406030204" pitchFamily="18" charset="0"/>
                            <a:cs typeface="ヒラギノ角ゴ Pro W3"/>
                          </a:rPr>
                          <m:t>𝐶</m:t>
                        </m:r>
                      </m:e>
                      <m:sub>
                        <m:r>
                          <a:rPr lang="en-US" altLang="ja-JP" sz="2400" i="1">
                            <a:latin typeface="Cambria Math" panose="02040503050406030204" pitchFamily="18" charset="0"/>
                            <a:cs typeface="ヒラギノ角ゴ Pro W3"/>
                          </a:rPr>
                          <m:t>𝑖𝑗</m:t>
                        </m:r>
                      </m:sub>
                    </m:sSub>
                  </m:oMath>
                </a14:m>
                <a:r>
                  <a:rPr lang="ja-JP" altLang="en-US" sz="2400" b="0" dirty="0">
                    <a:latin typeface="+mn-ea"/>
                  </a:rPr>
                  <a:t>と</a:t>
                </a:r>
                <a14:m>
                  <m:oMath xmlns:m="http://schemas.openxmlformats.org/officeDocument/2006/math">
                    <m:sSub>
                      <m:sSubPr>
                        <m:ctrlPr>
                          <a:rPr lang="en-US" altLang="ja-JP" sz="2400" i="1">
                            <a:latin typeface="Cambria Math" panose="02040503050406030204" pitchFamily="18" charset="0"/>
                            <a:cs typeface="ヒラギノ角ゴ Pro W3"/>
                          </a:rPr>
                        </m:ctrlPr>
                      </m:sSubPr>
                      <m:e>
                        <m:acc>
                          <m:accPr>
                            <m:chr m:val="̃"/>
                            <m:ctrlPr>
                              <a:rPr lang="en-US" altLang="ja-JP" sz="2400" i="1" smtClean="0">
                                <a:latin typeface="Cambria Math" panose="02040503050406030204" pitchFamily="18" charset="0"/>
                              </a:rPr>
                            </m:ctrlPr>
                          </m:accPr>
                          <m:e>
                            <m:r>
                              <a:rPr lang="en-US" altLang="ja-JP" sz="2400" b="0" i="1" smtClean="0">
                                <a:latin typeface="Cambria Math" panose="02040503050406030204" pitchFamily="18" charset="0"/>
                              </a:rPr>
                              <m:t>𝐶</m:t>
                            </m:r>
                          </m:e>
                        </m:acc>
                      </m:e>
                      <m:sub>
                        <m:r>
                          <a:rPr lang="en-US" altLang="ja-JP" sz="2400" i="1">
                            <a:latin typeface="Cambria Math" panose="02040503050406030204" pitchFamily="18" charset="0"/>
                            <a:cs typeface="ヒラギノ角ゴ Pro W3"/>
                          </a:rPr>
                          <m:t>𝑖𝑗</m:t>
                        </m:r>
                      </m:sub>
                    </m:sSub>
                    <m:r>
                      <a:rPr lang="en-US" altLang="ja-JP" sz="2400" b="0" i="1" smtClean="0">
                        <a:latin typeface="Cambria Math" panose="02040503050406030204" pitchFamily="18" charset="0"/>
                        <a:cs typeface="ヒラギノ角ゴ Pro W3"/>
                      </a:rPr>
                      <m:t> (</m:t>
                    </m:r>
                    <m:r>
                      <a:rPr lang="en-US" altLang="ja-JP" sz="2400" b="0" i="1" smtClean="0">
                        <a:latin typeface="Cambria Math" panose="02040503050406030204" pitchFamily="18" charset="0"/>
                        <a:cs typeface="ヒラギノ角ゴ Pro W3"/>
                      </a:rPr>
                      <m:t>𝑖</m:t>
                    </m:r>
                    <m:r>
                      <a:rPr lang="en-US" altLang="ja-JP" sz="2400" b="0" i="1" smtClean="0">
                        <a:latin typeface="Cambria Math" panose="02040503050406030204" pitchFamily="18" charset="0"/>
                        <a:cs typeface="ヒラギノ角ゴ Pro W3"/>
                      </a:rPr>
                      <m:t>,</m:t>
                    </m:r>
                    <m:r>
                      <a:rPr lang="en-US" altLang="ja-JP" sz="2400" b="0" i="1" smtClean="0">
                        <a:latin typeface="Cambria Math" panose="02040503050406030204" pitchFamily="18" charset="0"/>
                        <a:cs typeface="ヒラギノ角ゴ Pro W3"/>
                      </a:rPr>
                      <m:t>𝑗</m:t>
                    </m:r>
                    <m:r>
                      <a:rPr lang="en-US" altLang="ja-JP" sz="2400" b="0" i="1" smtClean="0">
                        <a:latin typeface="Cambria Math" panose="02040503050406030204" pitchFamily="18" charset="0"/>
                        <a:cs typeface="ヒラギノ角ゴ Pro W3"/>
                      </a:rPr>
                      <m:t> ∈</m:t>
                    </m:r>
                    <m:r>
                      <a:rPr lang="en-US" altLang="ja-JP" sz="2400" b="0" i="1" smtClean="0">
                        <a:latin typeface="Cambria Math" panose="02040503050406030204" pitchFamily="18" charset="0"/>
                        <a:ea typeface="Cambria Math" panose="02040503050406030204" pitchFamily="18" charset="0"/>
                        <a:cs typeface="ヒラギノ角ゴ Pro W3"/>
                      </a:rPr>
                      <m:t>𝑆</m:t>
                    </m:r>
                    <m:r>
                      <a:rPr lang="en-US" altLang="ja-JP" sz="2400" b="0" i="1" smtClean="0">
                        <a:latin typeface="Cambria Math" panose="02040503050406030204" pitchFamily="18" charset="0"/>
                        <a:cs typeface="ヒラギノ角ゴ Pro W3"/>
                      </a:rPr>
                      <m:t>)</m:t>
                    </m:r>
                  </m:oMath>
                </a14:m>
                <a:r>
                  <a:rPr lang="ja-JP" altLang="en-US" sz="2400" b="0">
                    <a:latin typeface="+mn-ea"/>
                  </a:rPr>
                  <a:t>の位置を交換して計算された統計量</a:t>
                </a:r>
                <a:endParaRPr lang="en-US" altLang="ja-JP" sz="2400" b="0" dirty="0">
                  <a:latin typeface="+mn-ea"/>
                </a:endParaRPr>
              </a:p>
              <a:p>
                <a:pPr marL="0" indent="0">
                  <a:buNone/>
                </a:pPr>
                <a:endParaRPr lang="en-US" altLang="ja-JP" b="0" dirty="0">
                  <a:latin typeface="+mn-ea"/>
                </a:endParaRPr>
              </a:p>
            </p:txBody>
          </p:sp>
        </mc:Choice>
        <mc:Fallback xmlns="">
          <p:sp>
            <p:nvSpPr>
              <p:cNvPr id="3" name="コンテンツ プレースホルダー 2">
                <a:extLst>
                  <a:ext uri="{FF2B5EF4-FFF2-40B4-BE49-F238E27FC236}">
                    <a16:creationId xmlns:a16="http://schemas.microsoft.com/office/drawing/2014/main" id="{D62ED68B-7357-7C47-F74D-E8FFEA809595}"/>
                  </a:ext>
                </a:extLst>
              </p:cNvPr>
              <p:cNvSpPr>
                <a:spLocks noGrp="1" noRot="1" noChangeAspect="1" noMove="1" noResize="1" noEditPoints="1" noAdjustHandles="1" noChangeArrowheads="1" noChangeShapeType="1" noTextEdit="1"/>
              </p:cNvSpPr>
              <p:nvPr>
                <p:ph idx="1"/>
              </p:nvPr>
            </p:nvSpPr>
            <p:spPr>
              <a:xfrm>
                <a:off x="20467" y="1968566"/>
                <a:ext cx="12171534" cy="4791198"/>
              </a:xfrm>
              <a:blipFill>
                <a:blip r:embed="rId3"/>
                <a:stretch>
                  <a:fillRect l="-1042" t="-34127"/>
                </a:stretch>
              </a:blipFill>
            </p:spPr>
            <p:txBody>
              <a:bodyPr/>
              <a:lstStyle/>
              <a:p>
                <a:r>
                  <a:rPr lang="ja-JP" altLang="en-US">
                    <a:noFill/>
                  </a:rPr>
                  <a:t> </a:t>
                </a:r>
              </a:p>
            </p:txBody>
          </p:sp>
        </mc:Fallback>
      </mc:AlternateContent>
      <p:sp>
        <p:nvSpPr>
          <p:cNvPr id="4" name="タイトル 1">
            <a:extLst>
              <a:ext uri="{FF2B5EF4-FFF2-40B4-BE49-F238E27FC236}">
                <a16:creationId xmlns:a16="http://schemas.microsoft.com/office/drawing/2014/main" id="{C44C59A6-122D-19A4-69DC-66E05207A654}"/>
              </a:ext>
            </a:extLst>
          </p:cNvPr>
          <p:cNvSpPr txBox="1">
            <a:spLocks/>
          </p:cNvSpPr>
          <p:nvPr/>
        </p:nvSpPr>
        <p:spPr>
          <a:xfrm>
            <a:off x="0" y="1335"/>
            <a:ext cx="12244898" cy="835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交換可能性の証明</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325DCAA-D3E6-A6D1-4569-359B5997A6A4}"/>
                  </a:ext>
                </a:extLst>
              </p:cNvPr>
              <p:cNvSpPr txBox="1"/>
              <p:nvPr/>
            </p:nvSpPr>
            <p:spPr>
              <a:xfrm>
                <a:off x="431180" y="677630"/>
                <a:ext cx="11329639" cy="1113253"/>
              </a:xfrm>
              <a:prstGeom prst="rect">
                <a:avLst/>
              </a:prstGeom>
              <a:noFill/>
            </p:spPr>
            <p:txBody>
              <a:bodyPr wrap="square">
                <a:spAutoFit/>
              </a:bodyPr>
              <a:lstStyle/>
              <a:p>
                <a:pPr marL="0" indent="0" algn="ctr">
                  <a:buClr>
                    <a:schemeClr val="accent3"/>
                  </a:buClr>
                  <a:buNone/>
                </a:pPr>
                <a:r>
                  <a:rPr lang="ja-JP" altLang="en-US" sz="2800">
                    <a:solidFill>
                      <a:srgbClr val="0070C0"/>
                    </a:solidFill>
                    <a:latin typeface="+mn-ea"/>
                    <a:cs typeface="ヒラギノ角ゴ Pro W3"/>
                  </a:rPr>
                  <a:t>スパース主成分分析における交換可能性</a:t>
                </a:r>
                <a:r>
                  <a:rPr lang="en-US" altLang="ja-JP" sz="2800" dirty="0">
                    <a:solidFill>
                      <a:srgbClr val="0070C0"/>
                    </a:solidFill>
                    <a:latin typeface="+mn-ea"/>
                    <a:cs typeface="ヒラギノ角ゴ Pro W3"/>
                  </a:rPr>
                  <a:t> </a:t>
                </a: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sz="2800" b="0" i="1" smtClean="0">
                          <a:latin typeface="Cambria Math" panose="02040503050406030204" pitchFamily="18" charset="0"/>
                          <a:cs typeface="ヒラギノ角ゴ Pro W3"/>
                        </a:rPr>
                        <m:t>#</m:t>
                      </m:r>
                      <m:d>
                        <m:dPr>
                          <m:begChr m:val="{"/>
                          <m:endChr m:val="}"/>
                          <m:ctrlPr>
                            <a:rPr lang="en-US" altLang="ja-JP" sz="2800" b="0" i="1" smtClean="0">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sSub>
                            <m:sSubPr>
                              <m:ctrlPr>
                                <a:rPr lang="en-US" altLang="ja-JP" sz="2800" b="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𝑘𝑗</m:t>
                              </m:r>
                            </m:sub>
                          </m:sSub>
                          <m:r>
                            <a:rPr lang="en-US" altLang="ja-JP" sz="2800" b="0" i="1" smtClean="0">
                              <a:latin typeface="Cambria Math" panose="02040503050406030204" pitchFamily="18" charset="0"/>
                            </a:rPr>
                            <m:t>=0 </m:t>
                          </m:r>
                          <m:r>
                            <a:rPr lang="en-US" altLang="ja-JP" sz="2800" b="0" i="1" smtClean="0">
                              <a:latin typeface="Cambria Math" panose="02040503050406030204" pitchFamily="18" charset="0"/>
                            </a:rPr>
                            <m:t>𝑎𝑛𝑑</m:t>
                          </m:r>
                          <m:r>
                            <a:rPr lang="en-US" altLang="ja-JP" sz="2800" b="0" i="1" smtClean="0">
                              <a:latin typeface="Cambria Math" panose="02040503050406030204" pitchFamily="18" charset="0"/>
                            </a:rPr>
                            <m:t> 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b="0" i="1" smtClean="0">
                              <a:latin typeface="Cambria Math" panose="02040503050406030204" pitchFamily="18" charset="0"/>
                            </a:rPr>
                            <m:t>𝑡</m:t>
                          </m:r>
                        </m:e>
                      </m:d>
                      <m:limUpp>
                        <m:limUppPr>
                          <m:ctrlPr>
                            <a:rPr lang="ar-AE" altLang="ja-JP" sz="2800" i="1">
                              <a:solidFill>
                                <a:srgbClr val="000000"/>
                              </a:solidFill>
                              <a:latin typeface="Cambria Math" panose="02040503050406030204" pitchFamily="18" charset="0"/>
                            </a:rPr>
                          </m:ctrlPr>
                        </m:limUppPr>
                        <m:e>
                          <m:r>
                            <a:rPr lang="ar-AE" altLang="ja-JP" sz="2800" i="1">
                              <a:solidFill>
                                <a:srgbClr val="000000"/>
                              </a:solidFill>
                              <a:latin typeface="Cambria Math" panose="02040503050406030204" pitchFamily="18" charset="0"/>
                            </a:rPr>
                            <m:t>=</m:t>
                          </m:r>
                        </m:e>
                        <m:lim>
                          <m:r>
                            <a:rPr lang="ar-AE" altLang="ja-JP" sz="2800" i="1">
                              <a:solidFill>
                                <a:srgbClr val="000000"/>
                              </a:solidFill>
                              <a:latin typeface="Cambria Math" panose="02040503050406030204" pitchFamily="18" charset="0"/>
                            </a:rPr>
                            <m:t>𝑑</m:t>
                          </m:r>
                        </m:lim>
                      </m:limUpp>
                      <m:r>
                        <a:rPr lang="en-US" altLang="ja-JP" sz="2800" i="1" smtClean="0">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m:t>
                          </m:r>
                          <m:r>
                            <a:rPr lang="en-US" altLang="ja-JP" sz="2800" i="1">
                              <a:latin typeface="Cambria Math" panose="02040503050406030204" pitchFamily="18" charset="0"/>
                            </a:rPr>
                            <m:t>𝑡</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b="0" i="1" smtClean="0">
                              <a:latin typeface="Cambria Math" panose="02040503050406030204" pitchFamily="18" charset="0"/>
                            </a:rPr>
                            <m:t>&lt;</m:t>
                          </m:r>
                          <m:r>
                            <a:rPr lang="en-US" altLang="ja-JP" sz="2800" i="1">
                              <a:latin typeface="Cambria Math" panose="02040503050406030204" pitchFamily="18" charset="0"/>
                            </a:rPr>
                            <m:t>0</m:t>
                          </m:r>
                        </m:e>
                      </m:d>
                    </m:oMath>
                  </m:oMathPara>
                </a14:m>
                <a:endParaRPr lang="ja-JP" altLang="en-US" sz="2800"/>
              </a:p>
            </p:txBody>
          </p:sp>
        </mc:Choice>
        <mc:Fallback xmlns="">
          <p:sp>
            <p:nvSpPr>
              <p:cNvPr id="10" name="テキスト ボックス 9">
                <a:extLst>
                  <a:ext uri="{FF2B5EF4-FFF2-40B4-BE49-F238E27FC236}">
                    <a16:creationId xmlns:a16="http://schemas.microsoft.com/office/drawing/2014/main" id="{9325DCAA-D3E6-A6D1-4569-359B5997A6A4}"/>
                  </a:ext>
                </a:extLst>
              </p:cNvPr>
              <p:cNvSpPr txBox="1">
                <a:spLocks noRot="1" noChangeAspect="1" noMove="1" noResize="1" noEditPoints="1" noAdjustHandles="1" noChangeArrowheads="1" noChangeShapeType="1" noTextEdit="1"/>
              </p:cNvSpPr>
              <p:nvPr/>
            </p:nvSpPr>
            <p:spPr>
              <a:xfrm>
                <a:off x="431180" y="677630"/>
                <a:ext cx="11329639" cy="1113253"/>
              </a:xfrm>
              <a:prstGeom prst="rect">
                <a:avLst/>
              </a:prstGeom>
              <a:blipFill>
                <a:blip r:embed="rId4"/>
                <a:stretch>
                  <a:fillRect t="-5618" b="-67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正方形/長方形 8">
                <a:extLst>
                  <a:ext uri="{FF2B5EF4-FFF2-40B4-BE49-F238E27FC236}">
                    <a16:creationId xmlns:a16="http://schemas.microsoft.com/office/drawing/2014/main" id="{91CDDE87-A249-4921-9771-5E35076EADA9}"/>
                  </a:ext>
                </a:extLst>
              </p:cNvPr>
              <p:cNvSpPr/>
              <p:nvPr/>
            </p:nvSpPr>
            <p:spPr>
              <a:xfrm>
                <a:off x="824273" y="4024364"/>
                <a:ext cx="10197954" cy="183530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800">
                    <a:solidFill>
                      <a:schemeClr val="tx1"/>
                    </a:solidFill>
                    <a:ea typeface="ヒラギノ角ゴ Pro W3"/>
                    <a:cs typeface="ヒラギノ角ゴ Pro W3"/>
                  </a:rPr>
                  <a:t>手順</a:t>
                </a:r>
                <a:r>
                  <a:rPr lang="en-US" altLang="ja-JP" sz="2800" dirty="0">
                    <a:solidFill>
                      <a:schemeClr val="tx1"/>
                    </a:solidFill>
                    <a:ea typeface="ヒラギノ角ゴ Pro W3"/>
                    <a:cs typeface="ヒラギノ角ゴ Pro W3"/>
                  </a:rPr>
                  <a:t>2:</a:t>
                </a:r>
                <a:r>
                  <a:rPr lang="ja-JP" altLang="en-US" sz="2800">
                    <a:solidFill>
                      <a:schemeClr val="tx1"/>
                    </a:solidFill>
                    <a:ea typeface="ヒラギノ角ゴ Pro W3"/>
                    <a:cs typeface="ヒラギノ角ゴ Pro W3"/>
                  </a:rPr>
                  <a:t>統計量の導出</a:t>
                </a:r>
                <a:r>
                  <a:rPr lang="en-US" altLang="ja-JP" sz="2800" dirty="0">
                    <a:solidFill>
                      <a:schemeClr val="tx1"/>
                    </a:solidFill>
                    <a:ea typeface="ヒラギノ角ゴ Pro W3"/>
                    <a:cs typeface="ヒラギノ角ゴ Pro W3"/>
                  </a:rPr>
                  <a:t> </a:t>
                </a:r>
              </a:p>
              <a:p>
                <a:pPr algn="ctr"/>
                <a14:m>
                  <m:oMathPara xmlns:m="http://schemas.openxmlformats.org/officeDocument/2006/math">
                    <m:oMathParaPr>
                      <m:jc m:val="centerGroup"/>
                    </m:oMathParaPr>
                    <m:oMath xmlns:m="http://schemas.openxmlformats.org/officeDocument/2006/math">
                      <m:sSub>
                        <m:sSubPr>
                          <m:ctrlPr>
                            <a:rPr kumimoji="1" lang="en-US" altLang="ja-JP" sz="2800" b="0" i="1" smtClean="0">
                              <a:solidFill>
                                <a:schemeClr val="tx1"/>
                              </a:solidFill>
                              <a:latin typeface="Cambria Math" panose="02040503050406030204" pitchFamily="18" charset="0"/>
                              <a:ea typeface="ヒラギノ角ゴ Pro W3"/>
                              <a:cs typeface="ヒラギノ角ゴ Pro W3"/>
                            </a:rPr>
                          </m:ctrlPr>
                        </m:sSubPr>
                        <m:e>
                          <m:r>
                            <a:rPr kumimoji="1" lang="en-US" altLang="ja-JP" sz="2800" b="0" i="1" smtClean="0">
                              <a:solidFill>
                                <a:schemeClr val="tx1"/>
                              </a:solidFill>
                              <a:latin typeface="Cambria Math" panose="02040503050406030204" pitchFamily="18" charset="0"/>
                              <a:ea typeface="ヒラギノ角ゴ Pro W3"/>
                              <a:cs typeface="ヒラギノ角ゴ Pro W3"/>
                            </a:rPr>
                            <m:t>𝑊</m:t>
                          </m:r>
                        </m:e>
                        <m:sub>
                          <m:r>
                            <a:rPr kumimoji="1" lang="en-US" altLang="ja-JP" sz="2800" b="0" i="1" smtClean="0">
                              <a:solidFill>
                                <a:schemeClr val="tx1"/>
                              </a:solidFill>
                              <a:latin typeface="Cambria Math" panose="02040503050406030204" pitchFamily="18" charset="0"/>
                              <a:ea typeface="ヒラギノ角ゴ Pro W3"/>
                              <a:cs typeface="ヒラギノ角ゴ Pro W3"/>
                            </a:rPr>
                            <m:t>𝑘𝑗</m:t>
                          </m:r>
                        </m:sub>
                      </m:sSub>
                      <m:r>
                        <a:rPr kumimoji="1" lang="en-US" altLang="ja-JP" sz="2800" b="0" i="1" smtClean="0">
                          <a:solidFill>
                            <a:schemeClr val="tx1"/>
                          </a:solidFill>
                          <a:latin typeface="Cambria Math" panose="02040503050406030204" pitchFamily="18" charset="0"/>
                          <a:ea typeface="ヒラギノ角ゴ Pro W3"/>
                          <a:cs typeface="ヒラギノ角ゴ Pro W3"/>
                        </a:rPr>
                        <m:t>=</m:t>
                      </m:r>
                      <m:sSub>
                        <m:sSubPr>
                          <m:ctrlPr>
                            <a:rPr lang="en-US" altLang="ja-JP" sz="2800" i="1">
                              <a:solidFill>
                                <a:schemeClr val="tx1"/>
                              </a:solidFill>
                              <a:latin typeface="Cambria Math" panose="02040503050406030204" pitchFamily="18" charset="0"/>
                              <a:cs typeface="ヒラギノ角ゴ Pro W3"/>
                            </a:rPr>
                          </m:ctrlPr>
                        </m:sSubPr>
                        <m:e>
                          <m:r>
                            <a:rPr lang="en-US" altLang="ja-JP" sz="2800" i="1">
                              <a:solidFill>
                                <a:schemeClr val="tx1"/>
                              </a:solidFill>
                              <a:latin typeface="Cambria Math" panose="02040503050406030204" pitchFamily="18" charset="0"/>
                              <a:cs typeface="ヒラギノ角ゴ Pro W3"/>
                            </a:rPr>
                            <m:t>𝑍</m:t>
                          </m:r>
                        </m:e>
                        <m:sub>
                          <m:r>
                            <a:rPr lang="en-US" altLang="ja-JP" sz="2800" b="0" i="1" smtClean="0">
                              <a:solidFill>
                                <a:schemeClr val="tx1"/>
                              </a:solidFill>
                              <a:latin typeface="Cambria Math" panose="02040503050406030204" pitchFamily="18" charset="0"/>
                              <a:cs typeface="ヒラギノ角ゴ Pro W3"/>
                            </a:rPr>
                            <m:t>𝑘</m:t>
                          </m:r>
                          <m:r>
                            <a:rPr lang="en-US" altLang="ja-JP" sz="2800" i="1">
                              <a:solidFill>
                                <a:schemeClr val="tx1"/>
                              </a:solidFill>
                              <a:latin typeface="Cambria Math" panose="02040503050406030204" pitchFamily="18" charset="0"/>
                              <a:cs typeface="ヒラギノ角ゴ Pro W3"/>
                            </a:rPr>
                            <m:t>𝑗</m:t>
                          </m:r>
                        </m:sub>
                      </m:sSub>
                      <m:r>
                        <a:rPr lang="en-US" altLang="ja-JP" sz="2800" i="1">
                          <a:solidFill>
                            <a:schemeClr val="tx1"/>
                          </a:solidFill>
                          <a:latin typeface="Cambria Math" panose="02040503050406030204" pitchFamily="18" charset="0"/>
                          <a:ea typeface="Cambria Math" panose="02040503050406030204" pitchFamily="18" charset="0"/>
                          <a:cs typeface="ヒラギノ角ゴ Pro W3"/>
                        </a:rPr>
                        <m:t>∧</m:t>
                      </m:r>
                      <m:sSub>
                        <m:sSubPr>
                          <m:ctrlPr>
                            <a:rPr lang="en-US" altLang="ja-JP" sz="2800" i="1">
                              <a:solidFill>
                                <a:schemeClr val="tx1"/>
                              </a:solidFill>
                              <a:latin typeface="Cambria Math" panose="02040503050406030204" pitchFamily="18" charset="0"/>
                            </a:rPr>
                          </m:ctrlPr>
                        </m:sSubPr>
                        <m:e>
                          <m:acc>
                            <m:accPr>
                              <m:chr m:val="̃"/>
                              <m:ctrlPr>
                                <a:rPr lang="en-US" altLang="ja-JP" sz="2800" i="1">
                                  <a:solidFill>
                                    <a:schemeClr val="tx1"/>
                                  </a:solidFill>
                                  <a:latin typeface="Cambria Math" panose="02040503050406030204" pitchFamily="18" charset="0"/>
                                </a:rPr>
                              </m:ctrlPr>
                            </m:accPr>
                            <m:e>
                              <m:r>
                                <a:rPr lang="en-US" altLang="ja-JP" sz="2800" i="1">
                                  <a:solidFill>
                                    <a:schemeClr val="tx1"/>
                                  </a:solidFill>
                                  <a:latin typeface="Cambria Math" panose="02040503050406030204" pitchFamily="18" charset="0"/>
                                </a:rPr>
                                <m:t>𝑍</m:t>
                              </m:r>
                            </m:e>
                          </m:acc>
                        </m:e>
                        <m:sub>
                          <m:r>
                            <a:rPr lang="en-US" altLang="ja-JP" sz="2800" b="0" i="1" smtClean="0">
                              <a:solidFill>
                                <a:schemeClr val="tx1"/>
                              </a:solidFill>
                              <a:latin typeface="Cambria Math" panose="02040503050406030204" pitchFamily="18" charset="0"/>
                            </a:rPr>
                            <m:t>𝑘</m:t>
                          </m:r>
                          <m:r>
                            <a:rPr lang="en-US" altLang="ja-JP" sz="2800" b="0" i="1" smtClean="0">
                              <a:solidFill>
                                <a:schemeClr val="tx1"/>
                              </a:solidFill>
                              <a:latin typeface="Cambria Math" panose="02040503050406030204" pitchFamily="18" charset="0"/>
                            </a:rPr>
                            <m:t>(</m:t>
                          </m:r>
                          <m:r>
                            <a:rPr lang="en-US" altLang="ja-JP" sz="2800" i="1">
                              <a:solidFill>
                                <a:schemeClr val="tx1"/>
                              </a:solidFill>
                              <a:latin typeface="Cambria Math" panose="02040503050406030204" pitchFamily="18" charset="0"/>
                            </a:rPr>
                            <m:t>𝑗</m:t>
                          </m:r>
                          <m:r>
                            <a:rPr lang="en-US" altLang="ja-JP" sz="2800" b="0" i="1" smtClean="0">
                              <a:solidFill>
                                <a:schemeClr val="tx1"/>
                              </a:solidFill>
                              <a:latin typeface="Cambria Math" panose="02040503050406030204" pitchFamily="18" charset="0"/>
                            </a:rPr>
                            <m:t>+</m:t>
                          </m:r>
                          <m:r>
                            <a:rPr lang="en-US" altLang="ja-JP" sz="2800" b="0" i="1" smtClean="0">
                              <a:solidFill>
                                <a:schemeClr val="tx1"/>
                              </a:solidFill>
                              <a:latin typeface="Cambria Math" panose="02040503050406030204" pitchFamily="18" charset="0"/>
                            </a:rPr>
                            <m:t>𝑝</m:t>
                          </m:r>
                          <m:r>
                            <a:rPr lang="en-US" altLang="ja-JP" sz="2800" b="0" i="1" smtClean="0">
                              <a:solidFill>
                                <a:schemeClr val="tx1"/>
                              </a:solidFill>
                              <a:latin typeface="Cambria Math" panose="02040503050406030204" pitchFamily="18" charset="0"/>
                            </a:rPr>
                            <m:t>)</m:t>
                          </m:r>
                        </m:sub>
                      </m:sSub>
                      <m:r>
                        <a:rPr lang="en-US" altLang="ja-JP" sz="2800" i="1">
                          <a:solidFill>
                            <a:schemeClr val="tx1"/>
                          </a:solidFill>
                          <a:latin typeface="Cambria Math" panose="02040503050406030204" pitchFamily="18" charset="0"/>
                        </a:rPr>
                        <m:t>∙</m:t>
                      </m:r>
                      <m:func>
                        <m:funcPr>
                          <m:ctrlPr>
                            <a:rPr lang="en-US" altLang="ja-JP" sz="2800" i="1">
                              <a:solidFill>
                                <a:schemeClr val="tx1"/>
                              </a:solidFill>
                              <a:latin typeface="Cambria Math" panose="02040503050406030204" pitchFamily="18" charset="0"/>
                            </a:rPr>
                          </m:ctrlPr>
                        </m:funcPr>
                        <m:fName>
                          <m:r>
                            <m:rPr>
                              <m:sty m:val="p"/>
                            </m:rPr>
                            <a:rPr lang="en-US" altLang="ja-JP" sz="2800">
                              <a:solidFill>
                                <a:schemeClr val="tx1"/>
                              </a:solidFill>
                              <a:latin typeface="Cambria Math" panose="02040503050406030204" pitchFamily="18" charset="0"/>
                            </a:rPr>
                            <m:t>sign</m:t>
                          </m:r>
                        </m:fName>
                        <m:e>
                          <m:d>
                            <m:dPr>
                              <m:ctrlPr>
                                <a:rPr lang="en-US" altLang="ja-JP" sz="2800" i="1">
                                  <a:solidFill>
                                    <a:schemeClr val="tx1"/>
                                  </a:solidFill>
                                  <a:latin typeface="Cambria Math" panose="02040503050406030204" pitchFamily="18" charset="0"/>
                                </a:rPr>
                              </m:ctrlPr>
                            </m:dPr>
                            <m:e>
                              <m:sSub>
                                <m:sSubPr>
                                  <m:ctrlPr>
                                    <a:rPr lang="en-US" altLang="ja-JP" sz="2800" i="1">
                                      <a:solidFill>
                                        <a:schemeClr val="tx1"/>
                                      </a:solidFill>
                                      <a:latin typeface="Cambria Math" panose="02040503050406030204" pitchFamily="18" charset="0"/>
                                    </a:rPr>
                                  </m:ctrlPr>
                                </m:sSubPr>
                                <m:e>
                                  <m:acc>
                                    <m:accPr>
                                      <m:chr m:val="̃"/>
                                      <m:ctrlPr>
                                        <a:rPr lang="en-US" altLang="ja-JP" sz="2800" i="1">
                                          <a:solidFill>
                                            <a:schemeClr val="tx1"/>
                                          </a:solidFill>
                                          <a:latin typeface="Cambria Math" panose="02040503050406030204" pitchFamily="18" charset="0"/>
                                        </a:rPr>
                                      </m:ctrlPr>
                                    </m:accPr>
                                    <m:e>
                                      <m:r>
                                        <a:rPr lang="en-US" altLang="ja-JP" sz="2800" i="1">
                                          <a:solidFill>
                                            <a:schemeClr val="tx1"/>
                                          </a:solidFill>
                                          <a:latin typeface="Cambria Math" panose="02040503050406030204" pitchFamily="18" charset="0"/>
                                        </a:rPr>
                                        <m:t>𝑍</m:t>
                                      </m:r>
                                    </m:e>
                                  </m:acc>
                                </m:e>
                                <m:sub>
                                  <m:r>
                                    <a:rPr lang="en-US" altLang="ja-JP" sz="2800" i="1">
                                      <a:solidFill>
                                        <a:schemeClr val="tx1"/>
                                      </a:solidFill>
                                      <a:latin typeface="Cambria Math" panose="02040503050406030204" pitchFamily="18" charset="0"/>
                                    </a:rPr>
                                    <m:t>𝑘</m:t>
                                  </m:r>
                                  <m:r>
                                    <a:rPr lang="en-US" altLang="ja-JP" sz="2800" i="1">
                                      <a:solidFill>
                                        <a:schemeClr val="tx1"/>
                                      </a:solidFill>
                                      <a:latin typeface="Cambria Math" panose="02040503050406030204" pitchFamily="18" charset="0"/>
                                    </a:rPr>
                                    <m:t>(</m:t>
                                  </m:r>
                                  <m:r>
                                    <a:rPr lang="en-US" altLang="ja-JP" sz="2800" i="1">
                                      <a:solidFill>
                                        <a:schemeClr val="tx1"/>
                                      </a:solidFill>
                                      <a:latin typeface="Cambria Math" panose="02040503050406030204" pitchFamily="18" charset="0"/>
                                    </a:rPr>
                                    <m:t>𝑗</m:t>
                                  </m:r>
                                  <m:r>
                                    <a:rPr lang="en-US" altLang="ja-JP" sz="2800" i="1">
                                      <a:solidFill>
                                        <a:schemeClr val="tx1"/>
                                      </a:solidFill>
                                      <a:latin typeface="Cambria Math" panose="02040503050406030204" pitchFamily="18" charset="0"/>
                                    </a:rPr>
                                    <m:t>+</m:t>
                                  </m:r>
                                  <m:r>
                                    <a:rPr lang="en-US" altLang="ja-JP" sz="2800" i="1">
                                      <a:solidFill>
                                        <a:schemeClr val="tx1"/>
                                      </a:solidFill>
                                      <a:latin typeface="Cambria Math" panose="02040503050406030204" pitchFamily="18" charset="0"/>
                                    </a:rPr>
                                    <m:t>𝑝</m:t>
                                  </m:r>
                                  <m:r>
                                    <a:rPr lang="en-US" altLang="ja-JP" sz="2800" i="1">
                                      <a:solidFill>
                                        <a:schemeClr val="tx1"/>
                                      </a:solidFill>
                                      <a:latin typeface="Cambria Math" panose="02040503050406030204" pitchFamily="18" charset="0"/>
                                    </a:rPr>
                                    <m:t>)</m:t>
                                  </m:r>
                                </m:sub>
                              </m:sSub>
                              <m:r>
                                <a:rPr lang="en-US" altLang="ja-JP" sz="2800" i="1">
                                  <a:solidFill>
                                    <a:schemeClr val="tx1"/>
                                  </a:solidFill>
                                  <a:latin typeface="Cambria Math" panose="02040503050406030204" pitchFamily="18" charset="0"/>
                                </a:rPr>
                                <m:t>−</m:t>
                              </m:r>
                              <m:sSub>
                                <m:sSubPr>
                                  <m:ctrlPr>
                                    <a:rPr lang="en-US" altLang="ja-JP" sz="2800" i="1">
                                      <a:solidFill>
                                        <a:schemeClr val="tx1"/>
                                      </a:solidFill>
                                      <a:latin typeface="Cambria Math" panose="02040503050406030204" pitchFamily="18" charset="0"/>
                                      <a:cs typeface="ヒラギノ角ゴ Pro W3"/>
                                    </a:rPr>
                                  </m:ctrlPr>
                                </m:sSubPr>
                                <m:e>
                                  <m:r>
                                    <a:rPr lang="en-US" altLang="ja-JP" sz="2800" i="1">
                                      <a:solidFill>
                                        <a:schemeClr val="tx1"/>
                                      </a:solidFill>
                                      <a:latin typeface="Cambria Math" panose="02040503050406030204" pitchFamily="18" charset="0"/>
                                      <a:cs typeface="ヒラギノ角ゴ Pro W3"/>
                                    </a:rPr>
                                    <m:t>𝑍</m:t>
                                  </m:r>
                                </m:e>
                                <m:sub>
                                  <m:r>
                                    <a:rPr lang="en-US" altLang="ja-JP" sz="2800" i="1">
                                      <a:solidFill>
                                        <a:schemeClr val="tx1"/>
                                      </a:solidFill>
                                      <a:latin typeface="Cambria Math" panose="02040503050406030204" pitchFamily="18" charset="0"/>
                                      <a:cs typeface="ヒラギノ角ゴ Pro W3"/>
                                    </a:rPr>
                                    <m:t>𝑘𝑗</m:t>
                                  </m:r>
                                </m:sub>
                              </m:sSub>
                            </m:e>
                          </m:d>
                        </m:e>
                      </m:func>
                      <m:r>
                        <a:rPr lang="en-US" altLang="ja-JP" sz="2800" b="0" i="1" smtClean="0">
                          <a:solidFill>
                            <a:schemeClr val="tx1"/>
                          </a:solidFill>
                          <a:latin typeface="Cambria Math" panose="02040503050406030204" pitchFamily="18" charset="0"/>
                          <a:ea typeface="Cambria Math" panose="02040503050406030204" pitchFamily="18" charset="0"/>
                        </a:rPr>
                        <m:t>,  </m:t>
                      </m:r>
                      <m:r>
                        <a:rPr lang="en-US" altLang="ja-JP" sz="2800" i="1">
                          <a:solidFill>
                            <a:schemeClr val="tx1"/>
                          </a:solidFill>
                          <a:latin typeface="Cambria Math" panose="02040503050406030204" pitchFamily="18" charset="0"/>
                          <a:ea typeface="Cambria Math" panose="02040503050406030204" pitchFamily="18" charset="0"/>
                        </a:rPr>
                        <m:t>𝑗</m:t>
                      </m:r>
                      <m:r>
                        <a:rPr lang="en-US" altLang="ja-JP" sz="2800" i="1">
                          <a:solidFill>
                            <a:schemeClr val="tx1"/>
                          </a:solidFill>
                          <a:latin typeface="Cambria Math" panose="02040503050406030204" pitchFamily="18" charset="0"/>
                          <a:ea typeface="Cambria Math" panose="02040503050406030204" pitchFamily="18" charset="0"/>
                        </a:rPr>
                        <m:t>=1,…,</m:t>
                      </m:r>
                      <m:r>
                        <a:rPr lang="en-US" altLang="ja-JP" sz="2800" i="1">
                          <a:solidFill>
                            <a:schemeClr val="tx1"/>
                          </a:solidFill>
                          <a:latin typeface="Cambria Math" panose="02040503050406030204" pitchFamily="18" charset="0"/>
                          <a:ea typeface="Cambria Math" panose="02040503050406030204" pitchFamily="18" charset="0"/>
                        </a:rPr>
                        <m:t>𝑝</m:t>
                      </m:r>
                    </m:oMath>
                  </m:oMathPara>
                </a14:m>
                <a:endParaRPr kumimoji="1" lang="en-US" altLang="ja-JP" sz="2800" dirty="0"/>
              </a:p>
              <a:p>
                <a:r>
                  <a:rPr kumimoji="1" lang="ja-JP" altLang="en-US" sz="2800">
                    <a:solidFill>
                      <a:schemeClr val="tx1"/>
                    </a:solidFill>
                  </a:rPr>
                  <a:t>→</a:t>
                </a:r>
                <a14:m>
                  <m:oMath xmlns:m="http://schemas.openxmlformats.org/officeDocument/2006/math">
                    <m:r>
                      <a:rPr kumimoji="1" lang="en-US" altLang="ja-JP" sz="2800" b="0" i="1" smtClean="0">
                        <a:solidFill>
                          <a:schemeClr val="tx1"/>
                        </a:solidFill>
                        <a:latin typeface="Cambria Math" panose="02040503050406030204" pitchFamily="18" charset="0"/>
                      </a:rPr>
                      <m:t>𝑆</m:t>
                    </m:r>
                    <m:r>
                      <a:rPr kumimoji="1" lang="en-US" altLang="ja-JP" sz="2800" b="0" i="1" smtClean="0">
                        <a:solidFill>
                          <a:schemeClr val="tx1"/>
                        </a:solidFill>
                        <a:latin typeface="Cambria Math" panose="02040503050406030204" pitchFamily="18" charset="0"/>
                      </a:rPr>
                      <m:t>={</m:t>
                    </m:r>
                    <m:r>
                      <a:rPr kumimoji="1" lang="ja-JP" altLang="en-US" sz="2800" i="1">
                        <a:solidFill>
                          <a:schemeClr val="tx1"/>
                        </a:solidFill>
                        <a:latin typeface="Cambria Math" panose="02040503050406030204" pitchFamily="18" charset="0"/>
                      </a:rPr>
                      <m:t>主成分</m:t>
                    </m:r>
                    <m:r>
                      <a:rPr kumimoji="1" lang="ja-JP" altLang="en-US" sz="2800" i="1" smtClean="0">
                        <a:solidFill>
                          <a:schemeClr val="tx1"/>
                        </a:solidFill>
                        <a:latin typeface="Cambria Math" panose="02040503050406030204" pitchFamily="18" charset="0"/>
                      </a:rPr>
                      <m:t>に</m:t>
                    </m:r>
                    <m:r>
                      <a:rPr kumimoji="1" lang="ja-JP" altLang="en-US" sz="2800" i="1">
                        <a:solidFill>
                          <a:schemeClr val="tx1"/>
                        </a:solidFill>
                        <a:latin typeface="Cambria Math" panose="02040503050406030204" pitchFamily="18" charset="0"/>
                      </a:rPr>
                      <m:t>寄与</m:t>
                    </m:r>
                    <m:r>
                      <a:rPr kumimoji="1" lang="ja-JP" altLang="en-US" sz="2800" i="1">
                        <a:solidFill>
                          <a:schemeClr val="tx1"/>
                        </a:solidFill>
                        <a:latin typeface="Cambria Math" panose="02040503050406030204" pitchFamily="18" charset="0"/>
                      </a:rPr>
                      <m:t>する</m:t>
                    </m:r>
                    <m:r>
                      <a:rPr kumimoji="1" lang="ja-JP" altLang="en-US" sz="2800" i="1" smtClean="0">
                        <a:solidFill>
                          <a:schemeClr val="tx1"/>
                        </a:solidFill>
                        <a:latin typeface="Cambria Math" panose="02040503050406030204" pitchFamily="18" charset="0"/>
                      </a:rPr>
                      <m:t>添字番号</m:t>
                    </m:r>
                    <m:r>
                      <a:rPr kumimoji="1" lang="en-US" altLang="ja-JP" sz="2800" b="0" i="1" smtClean="0">
                        <a:solidFill>
                          <a:schemeClr val="tx1"/>
                        </a:solidFill>
                        <a:latin typeface="Cambria Math" panose="02040503050406030204" pitchFamily="18" charset="0"/>
                      </a:rPr>
                      <m:t>}</m:t>
                    </m:r>
                  </m:oMath>
                </a14:m>
                <a:r>
                  <a:rPr kumimoji="1" lang="ja-JP" altLang="en-US" sz="2800">
                    <a:solidFill>
                      <a:schemeClr val="tx1"/>
                    </a:solidFill>
                  </a:rPr>
                  <a:t>と設定すれば明らか</a:t>
                </a:r>
              </a:p>
            </p:txBody>
          </p:sp>
        </mc:Choice>
        <mc:Fallback xmlns="">
          <p:sp>
            <p:nvSpPr>
              <p:cNvPr id="9" name="正方形/長方形 8">
                <a:extLst>
                  <a:ext uri="{FF2B5EF4-FFF2-40B4-BE49-F238E27FC236}">
                    <a16:creationId xmlns:a16="http://schemas.microsoft.com/office/drawing/2014/main" id="{91CDDE87-A249-4921-9771-5E35076EADA9}"/>
                  </a:ext>
                </a:extLst>
              </p:cNvPr>
              <p:cNvSpPr>
                <a:spLocks noRot="1" noChangeAspect="1" noMove="1" noResize="1" noEditPoints="1" noAdjustHandles="1" noChangeArrowheads="1" noChangeShapeType="1" noTextEdit="1"/>
              </p:cNvSpPr>
              <p:nvPr/>
            </p:nvSpPr>
            <p:spPr>
              <a:xfrm>
                <a:off x="824273" y="4024364"/>
                <a:ext cx="10197954" cy="1835305"/>
              </a:xfrm>
              <a:prstGeom prst="rect">
                <a:avLst/>
              </a:prstGeom>
              <a:blipFill>
                <a:blip r:embed="rId5"/>
                <a:stretch>
                  <a:fillRect l="-1242"/>
                </a:stretch>
              </a:blipFill>
              <a:ln>
                <a:solidFill>
                  <a:srgbClr val="0070C0"/>
                </a:solidFill>
              </a:ln>
            </p:spPr>
            <p:txBody>
              <a:bodyPr/>
              <a:lstStyle/>
              <a:p>
                <a:r>
                  <a:rPr lang="ja-JP" altLang="en-US">
                    <a:noFill/>
                  </a:rPr>
                  <a:t> </a:t>
                </a:r>
              </a:p>
            </p:txBody>
          </p:sp>
        </mc:Fallback>
      </mc:AlternateContent>
    </p:spTree>
    <p:extLst>
      <p:ext uri="{BB962C8B-B14F-4D97-AF65-F5344CB8AC3E}">
        <p14:creationId xmlns:p14="http://schemas.microsoft.com/office/powerpoint/2010/main" val="779307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EEC8-5643-4A3D-CCA1-AB3C8D643E52}"/>
            </a:ext>
          </a:extLst>
        </p:cNvPr>
        <p:cNvGrpSpPr/>
        <p:nvPr/>
      </p:nvGrpSpPr>
      <p:grpSpPr>
        <a:xfrm>
          <a:off x="0" y="0"/>
          <a:ext cx="0" cy="0"/>
          <a:chOff x="0" y="0"/>
          <a:chExt cx="0" cy="0"/>
        </a:xfrm>
      </p:grpSpPr>
      <p:sp>
        <p:nvSpPr>
          <p:cNvPr id="11" name="角丸四角形 10">
            <a:extLst>
              <a:ext uri="{FF2B5EF4-FFF2-40B4-BE49-F238E27FC236}">
                <a16:creationId xmlns:a16="http://schemas.microsoft.com/office/drawing/2014/main" id="{DBA1B66B-8AD3-F2B9-7212-8AB530850AED}"/>
              </a:ext>
            </a:extLst>
          </p:cNvPr>
          <p:cNvSpPr/>
          <p:nvPr/>
        </p:nvSpPr>
        <p:spPr>
          <a:xfrm>
            <a:off x="824273" y="969679"/>
            <a:ext cx="10563922" cy="866299"/>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1BD155F-2487-FAE7-BC9A-4C72C5466C8B}"/>
              </a:ext>
            </a:extLst>
          </p:cNvPr>
          <p:cNvSpPr/>
          <p:nvPr/>
        </p:nvSpPr>
        <p:spPr>
          <a:xfrm>
            <a:off x="2420243" y="779085"/>
            <a:ext cx="7404410" cy="289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32DE2D0-E4EF-78AA-7DEC-2D6D054ECE8B}"/>
                  </a:ext>
                </a:extLst>
              </p:cNvPr>
              <p:cNvSpPr>
                <a:spLocks noGrp="1"/>
              </p:cNvSpPr>
              <p:nvPr>
                <p:ph idx="1"/>
              </p:nvPr>
            </p:nvSpPr>
            <p:spPr>
              <a:xfrm>
                <a:off x="20467" y="1968566"/>
                <a:ext cx="12171534" cy="4791198"/>
              </a:xfrm>
            </p:spPr>
            <p:txBody>
              <a:bodyPr>
                <a:normAutofit/>
              </a:bodyPr>
              <a:lstStyle/>
              <a:p>
                <a:pPr marL="0" indent="0">
                  <a:buNone/>
                </a:pPr>
                <a:r>
                  <a:rPr lang="en-US" altLang="ja-JP" b="0" dirty="0">
                    <a:latin typeface="+mn-ea"/>
                  </a:rPr>
                  <a:t>②</a:t>
                </a:r>
                <a:r>
                  <a:rPr lang="en-US" altLang="ja-JP" b="0" dirty="0">
                    <a:cs typeface="ヒラギノ角ゴ Pro W3"/>
                  </a:rPr>
                  <a:t> </a:t>
                </a:r>
                <a14:m>
                  <m:oMath xmlns:m="http://schemas.openxmlformats.org/officeDocument/2006/math">
                    <m:sSub>
                      <m:sSubPr>
                        <m:ctrlPr>
                          <a:rPr lang="en-US" altLang="ja-JP" b="0" i="1" smtClean="0">
                            <a:latin typeface="Cambria Math" panose="02040503050406030204" pitchFamily="18" charset="0"/>
                            <a:cs typeface="ヒラギノ角ゴ Pro W3"/>
                          </a:rPr>
                        </m:ctrlPr>
                      </m:sSubPr>
                      <m:e>
                        <m:r>
                          <a:rPr lang="en-US" altLang="ja-JP" b="0" i="1" smtClean="0">
                            <a:latin typeface="Cambria Math" panose="02040503050406030204" pitchFamily="18" charset="0"/>
                            <a:cs typeface="ヒラギノ角ゴ Pro W3"/>
                          </a:rPr>
                          <m:t>𝑣</m:t>
                        </m:r>
                      </m:e>
                      <m:sub>
                        <m:r>
                          <a:rPr lang="en-US" altLang="ja-JP" b="0" i="1" smtClean="0">
                            <a:latin typeface="Cambria Math" panose="02040503050406030204" pitchFamily="18" charset="0"/>
                            <a:cs typeface="ヒラギノ角ゴ Pro W3"/>
                          </a:rPr>
                          <m:t>𝑗</m:t>
                        </m:r>
                      </m:sub>
                    </m:sSub>
                    <m:r>
                      <a:rPr lang="en-US" altLang="ja-JP" b="0" i="1" smtClean="0">
                        <a:latin typeface="Cambria Math" panose="02040503050406030204" pitchFamily="18" charset="0"/>
                        <a:cs typeface="ヒラギノ角ゴ Pro W3"/>
                      </a:rPr>
                      <m:t>=0</m:t>
                    </m:r>
                  </m:oMath>
                </a14:m>
                <a:r>
                  <a:rPr lang="ja-JP" altLang="en-US">
                    <a:latin typeface="+mn-ea"/>
                    <a:cs typeface="ヒラギノ角ゴ Pro W3"/>
                  </a:rPr>
                  <a:t>となる</a:t>
                </a:r>
                <a14:m>
                  <m:oMath xmlns:m="http://schemas.openxmlformats.org/officeDocument/2006/math">
                    <m:r>
                      <a:rPr lang="en-US" altLang="ja-JP" b="0" i="1" smtClean="0">
                        <a:latin typeface="Cambria Math" panose="02040503050406030204" pitchFamily="18" charset="0"/>
                        <a:cs typeface="ヒラギノ角ゴ Pro W3"/>
                      </a:rPr>
                      <m:t>𝑗</m:t>
                    </m:r>
                  </m:oMath>
                </a14:m>
                <a:r>
                  <a:rPr lang="ja-JP" altLang="en-US">
                    <a:latin typeface="+mn-ea"/>
                    <a:cs typeface="ヒラギノ角ゴ Pro W3"/>
                  </a:rPr>
                  <a:t>に対して</a:t>
                </a:r>
                <a:endParaRPr lang="en-US" altLang="ja-JP" dirty="0">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i="1">
                              <a:latin typeface="Cambria Math" panose="02040503050406030204" pitchFamily="18" charset="0"/>
                              <a:cs typeface="ヒラギノ角ゴ Pro W3"/>
                            </a:rPr>
                          </m:ctrlPr>
                        </m:sSubPr>
                        <m:e>
                          <m:d>
                            <m:dPr>
                              <m:ctrlPr>
                                <a:rPr lang="en-US" altLang="ja-JP" i="1">
                                  <a:latin typeface="Cambria Math" panose="02040503050406030204" pitchFamily="18" charset="0"/>
                                  <a:cs typeface="ヒラギノ角ゴ Pro W3"/>
                                </a:rPr>
                              </m:ctrlPr>
                            </m:dPr>
                            <m:e>
                              <m:sSub>
                                <m:sSubPr>
                                  <m:ctrlPr>
                                    <a:rPr lang="en-US" altLang="ja-JP" i="1">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i="1">
                                      <a:latin typeface="Cambria Math" panose="02040503050406030204" pitchFamily="18" charset="0"/>
                                      <a:cs typeface="ヒラギノ角ゴ Pro W3"/>
                                    </a:rPr>
                                    <m:t>𝑠𝑤𝑎𝑝</m:t>
                                  </m:r>
                                  <m:d>
                                    <m:dPr>
                                      <m:ctrlPr>
                                        <a:rPr lang="en-US" altLang="ja-JP" i="1">
                                          <a:latin typeface="Cambria Math" panose="02040503050406030204" pitchFamily="18" charset="0"/>
                                          <a:cs typeface="ヒラギノ角ゴ Pro W3"/>
                                        </a:rPr>
                                      </m:ctrlPr>
                                    </m:dPr>
                                    <m:e>
                                      <m:r>
                                        <a:rPr lang="en-US" altLang="ja-JP" i="1">
                                          <a:latin typeface="Cambria Math" panose="02040503050406030204" pitchFamily="18" charset="0"/>
                                          <a:cs typeface="ヒラギノ角ゴ Pro W3"/>
                                        </a:rPr>
                                        <m:t>𝑆</m:t>
                                      </m:r>
                                    </m:e>
                                  </m:d>
                                </m:sub>
                              </m:sSub>
                            </m:e>
                          </m:d>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limUpp>
                        <m:limUppPr>
                          <m:ctrlPr>
                            <a:rPr lang="ar-AE" altLang="ja-JP" i="1">
                              <a:solidFill>
                                <a:srgbClr val="000000"/>
                              </a:solidFill>
                              <a:latin typeface="Cambria Math" panose="02040503050406030204" pitchFamily="18" charset="0"/>
                            </a:rPr>
                          </m:ctrlPr>
                        </m:limUppPr>
                        <m:e>
                          <m:r>
                            <a:rPr lang="ar-AE" altLang="ja-JP" i="1">
                              <a:solidFill>
                                <a:srgbClr val="000000"/>
                              </a:solidFill>
                              <a:latin typeface="Cambria Math" panose="02040503050406030204" pitchFamily="18" charset="0"/>
                            </a:rPr>
                            <m:t>=</m:t>
                          </m:r>
                        </m:e>
                        <m:lim>
                          <m:r>
                            <a:rPr lang="ar-AE" altLang="ja-JP" i="1">
                              <a:solidFill>
                                <a:srgbClr val="000000"/>
                              </a:solidFill>
                              <a:latin typeface="Cambria Math" panose="02040503050406030204" pitchFamily="18" charset="0"/>
                            </a:rPr>
                            <m:t>𝑑</m:t>
                          </m:r>
                        </m:lim>
                      </m:limUpp>
                      <m:sSub>
                        <m:sSubPr>
                          <m:ctrlPr>
                            <a:rPr lang="en-US" altLang="ja-JP" i="1">
                              <a:latin typeface="Cambria Math" panose="02040503050406030204" pitchFamily="18" charset="0"/>
                              <a:cs typeface="ヒラギノ角ゴ Pro W3"/>
                            </a:rPr>
                          </m:ctrlPr>
                        </m:sSubPr>
                        <m:e>
                          <m:r>
                            <a:rPr lang="en-US" altLang="ja-JP" b="0" i="1">
                              <a:latin typeface="Cambria Math" panose="02040503050406030204" pitchFamily="18" charset="0"/>
                              <a:cs typeface="ヒラギノ角ゴ Pro W3"/>
                            </a:rPr>
                            <m:t>𝑊</m:t>
                          </m:r>
                        </m:e>
                        <m:sub>
                          <m:r>
                            <a:rPr lang="en-US" altLang="ja-JP" b="0" i="1" smtClean="0">
                              <a:latin typeface="Cambria Math" panose="02040503050406030204" pitchFamily="18" charset="0"/>
                              <a:cs typeface="ヒラギノ角ゴ Pro W3"/>
                            </a:rPr>
                            <m:t>𝑘</m:t>
                          </m:r>
                          <m:r>
                            <a:rPr lang="en-US" altLang="ja-JP" b="0" i="1">
                              <a:latin typeface="Cambria Math" panose="02040503050406030204" pitchFamily="18" charset="0"/>
                              <a:cs typeface="ヒラギノ角ゴ Pro W3"/>
                            </a:rPr>
                            <m:t>𝑗</m:t>
                          </m:r>
                        </m:sub>
                      </m:sSub>
                    </m:oMath>
                  </m:oMathPara>
                </a14:m>
                <a:endParaRPr lang="en-US" altLang="ja-JP" b="0" dirty="0">
                  <a:latin typeface="+mn-ea"/>
                </a:endParaRPr>
              </a:p>
              <a:p>
                <a:pPr marL="0" indent="0">
                  <a:buNone/>
                </a:pPr>
                <a:endParaRPr lang="en-US" altLang="ja-JP" b="0" dirty="0">
                  <a:latin typeface="+mn-ea"/>
                </a:endParaRPr>
              </a:p>
              <a:p>
                <a:pPr marL="0" indent="0">
                  <a:buNone/>
                </a:pPr>
                <a:endParaRPr lang="en-US" altLang="ja-JP" b="0" dirty="0">
                  <a:latin typeface="+mn-ea"/>
                </a:endParaRPr>
              </a:p>
            </p:txBody>
          </p:sp>
        </mc:Choice>
        <mc:Fallback xmlns="">
          <p:sp>
            <p:nvSpPr>
              <p:cNvPr id="3" name="コンテンツ プレースホルダー 2">
                <a:extLst>
                  <a:ext uri="{FF2B5EF4-FFF2-40B4-BE49-F238E27FC236}">
                    <a16:creationId xmlns:a16="http://schemas.microsoft.com/office/drawing/2014/main" id="{532DE2D0-E4EF-78AA-7DEC-2D6D054ECE8B}"/>
                  </a:ext>
                </a:extLst>
              </p:cNvPr>
              <p:cNvSpPr>
                <a:spLocks noGrp="1" noRot="1" noChangeAspect="1" noMove="1" noResize="1" noEditPoints="1" noAdjustHandles="1" noChangeArrowheads="1" noChangeShapeType="1" noTextEdit="1"/>
              </p:cNvSpPr>
              <p:nvPr>
                <p:ph idx="1"/>
              </p:nvPr>
            </p:nvSpPr>
            <p:spPr>
              <a:xfrm>
                <a:off x="20467" y="1968566"/>
                <a:ext cx="12171534" cy="4791198"/>
              </a:xfrm>
              <a:blipFill>
                <a:blip r:embed="rId3"/>
                <a:stretch>
                  <a:fillRect l="-1042" t="-2116"/>
                </a:stretch>
              </a:blipFill>
            </p:spPr>
            <p:txBody>
              <a:bodyPr/>
              <a:lstStyle/>
              <a:p>
                <a:r>
                  <a:rPr lang="ja-JP" altLang="en-US">
                    <a:noFill/>
                  </a:rPr>
                  <a:t> </a:t>
                </a:r>
              </a:p>
            </p:txBody>
          </p:sp>
        </mc:Fallback>
      </mc:AlternateContent>
      <p:sp>
        <p:nvSpPr>
          <p:cNvPr id="4" name="タイトル 1">
            <a:extLst>
              <a:ext uri="{FF2B5EF4-FFF2-40B4-BE49-F238E27FC236}">
                <a16:creationId xmlns:a16="http://schemas.microsoft.com/office/drawing/2014/main" id="{B387E1EC-22E5-7369-5948-65BFFFB235B0}"/>
              </a:ext>
            </a:extLst>
          </p:cNvPr>
          <p:cNvSpPr txBox="1">
            <a:spLocks/>
          </p:cNvSpPr>
          <p:nvPr/>
        </p:nvSpPr>
        <p:spPr>
          <a:xfrm>
            <a:off x="0" y="1335"/>
            <a:ext cx="12244898" cy="835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交換可能性の証明</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48F1825-975F-107A-E5B5-A09BB6BC21AE}"/>
                  </a:ext>
                </a:extLst>
              </p:cNvPr>
              <p:cNvSpPr txBox="1"/>
              <p:nvPr/>
            </p:nvSpPr>
            <p:spPr>
              <a:xfrm>
                <a:off x="431180" y="677630"/>
                <a:ext cx="11329639" cy="1113253"/>
              </a:xfrm>
              <a:prstGeom prst="rect">
                <a:avLst/>
              </a:prstGeom>
              <a:noFill/>
            </p:spPr>
            <p:txBody>
              <a:bodyPr wrap="square">
                <a:spAutoFit/>
              </a:bodyPr>
              <a:lstStyle/>
              <a:p>
                <a:pPr marL="0" indent="0" algn="ctr">
                  <a:buClr>
                    <a:schemeClr val="accent3"/>
                  </a:buClr>
                  <a:buNone/>
                </a:pPr>
                <a:r>
                  <a:rPr lang="ja-JP" altLang="en-US" sz="2800">
                    <a:solidFill>
                      <a:srgbClr val="0070C0"/>
                    </a:solidFill>
                    <a:latin typeface="+mn-ea"/>
                    <a:cs typeface="ヒラギノ角ゴ Pro W3"/>
                  </a:rPr>
                  <a:t>スパース主成分分析における交換可能性</a:t>
                </a:r>
                <a:r>
                  <a:rPr lang="en-US" altLang="ja-JP" sz="2800" dirty="0">
                    <a:solidFill>
                      <a:srgbClr val="0070C0"/>
                    </a:solidFill>
                    <a:latin typeface="+mn-ea"/>
                    <a:cs typeface="ヒラギノ角ゴ Pro W3"/>
                  </a:rPr>
                  <a:t> </a:t>
                </a: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sz="2800" b="0" i="1" smtClean="0">
                          <a:latin typeface="Cambria Math" panose="02040503050406030204" pitchFamily="18" charset="0"/>
                          <a:cs typeface="ヒラギノ角ゴ Pro W3"/>
                        </a:rPr>
                        <m:t>#</m:t>
                      </m:r>
                      <m:d>
                        <m:dPr>
                          <m:begChr m:val="{"/>
                          <m:endChr m:val="}"/>
                          <m:ctrlPr>
                            <a:rPr lang="en-US" altLang="ja-JP" sz="2800" b="0" i="1" smtClean="0">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sSub>
                            <m:sSubPr>
                              <m:ctrlPr>
                                <a:rPr lang="en-US" altLang="ja-JP" sz="2800" b="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𝑘𝑗</m:t>
                              </m:r>
                            </m:sub>
                          </m:sSub>
                          <m:r>
                            <a:rPr lang="en-US" altLang="ja-JP" sz="2800" b="0" i="1" smtClean="0">
                              <a:latin typeface="Cambria Math" panose="02040503050406030204" pitchFamily="18" charset="0"/>
                            </a:rPr>
                            <m:t>=0 </m:t>
                          </m:r>
                          <m:r>
                            <a:rPr lang="en-US" altLang="ja-JP" sz="2800" b="0" i="1" smtClean="0">
                              <a:latin typeface="Cambria Math" panose="02040503050406030204" pitchFamily="18" charset="0"/>
                            </a:rPr>
                            <m:t>𝑎𝑛𝑑</m:t>
                          </m:r>
                          <m:r>
                            <a:rPr lang="en-US" altLang="ja-JP" sz="2800" b="0" i="1" smtClean="0">
                              <a:latin typeface="Cambria Math" panose="02040503050406030204" pitchFamily="18" charset="0"/>
                            </a:rPr>
                            <m:t> 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b="0" i="1" smtClean="0">
                              <a:latin typeface="Cambria Math" panose="02040503050406030204" pitchFamily="18" charset="0"/>
                            </a:rPr>
                            <m:t>𝑡</m:t>
                          </m:r>
                        </m:e>
                      </m:d>
                      <m:limUpp>
                        <m:limUppPr>
                          <m:ctrlPr>
                            <a:rPr lang="ar-AE" altLang="ja-JP" sz="2800" i="1">
                              <a:solidFill>
                                <a:srgbClr val="000000"/>
                              </a:solidFill>
                              <a:latin typeface="Cambria Math" panose="02040503050406030204" pitchFamily="18" charset="0"/>
                            </a:rPr>
                          </m:ctrlPr>
                        </m:limUppPr>
                        <m:e>
                          <m:r>
                            <a:rPr lang="ar-AE" altLang="ja-JP" sz="2800" i="1">
                              <a:solidFill>
                                <a:srgbClr val="000000"/>
                              </a:solidFill>
                              <a:latin typeface="Cambria Math" panose="02040503050406030204" pitchFamily="18" charset="0"/>
                            </a:rPr>
                            <m:t>=</m:t>
                          </m:r>
                        </m:e>
                        <m:lim>
                          <m:r>
                            <a:rPr lang="ar-AE" altLang="ja-JP" sz="2800" i="1">
                              <a:solidFill>
                                <a:srgbClr val="000000"/>
                              </a:solidFill>
                              <a:latin typeface="Cambria Math" panose="02040503050406030204" pitchFamily="18" charset="0"/>
                            </a:rPr>
                            <m:t>𝑑</m:t>
                          </m:r>
                        </m:lim>
                      </m:limUpp>
                      <m:r>
                        <a:rPr lang="en-US" altLang="ja-JP" sz="2800" i="1" smtClean="0">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m:t>
                          </m:r>
                          <m:r>
                            <a:rPr lang="en-US" altLang="ja-JP" sz="2800" i="1">
                              <a:latin typeface="Cambria Math" panose="02040503050406030204" pitchFamily="18" charset="0"/>
                            </a:rPr>
                            <m:t>𝑡</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b="0" i="1" smtClean="0">
                              <a:latin typeface="Cambria Math" panose="02040503050406030204" pitchFamily="18" charset="0"/>
                            </a:rPr>
                            <m:t>&lt;</m:t>
                          </m:r>
                          <m:r>
                            <a:rPr lang="en-US" altLang="ja-JP" sz="2800" i="1">
                              <a:latin typeface="Cambria Math" panose="02040503050406030204" pitchFamily="18" charset="0"/>
                            </a:rPr>
                            <m:t>0</m:t>
                          </m:r>
                        </m:e>
                      </m:d>
                    </m:oMath>
                  </m:oMathPara>
                </a14:m>
                <a:endParaRPr lang="ja-JP" altLang="en-US" sz="2800"/>
              </a:p>
            </p:txBody>
          </p:sp>
        </mc:Choice>
        <mc:Fallback xmlns="">
          <p:sp>
            <p:nvSpPr>
              <p:cNvPr id="10" name="テキスト ボックス 9">
                <a:extLst>
                  <a:ext uri="{FF2B5EF4-FFF2-40B4-BE49-F238E27FC236}">
                    <a16:creationId xmlns:a16="http://schemas.microsoft.com/office/drawing/2014/main" id="{A48F1825-975F-107A-E5B5-A09BB6BC21AE}"/>
                  </a:ext>
                </a:extLst>
              </p:cNvPr>
              <p:cNvSpPr txBox="1">
                <a:spLocks noRot="1" noChangeAspect="1" noMove="1" noResize="1" noEditPoints="1" noAdjustHandles="1" noChangeArrowheads="1" noChangeShapeType="1" noTextEdit="1"/>
              </p:cNvSpPr>
              <p:nvPr/>
            </p:nvSpPr>
            <p:spPr>
              <a:xfrm>
                <a:off x="431180" y="677630"/>
                <a:ext cx="11329639" cy="1113253"/>
              </a:xfrm>
              <a:prstGeom prst="rect">
                <a:avLst/>
              </a:prstGeom>
              <a:blipFill>
                <a:blip r:embed="rId4"/>
                <a:stretch>
                  <a:fillRect t="-5618" b="-67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正方形/長方形 7">
                <a:extLst>
                  <a:ext uri="{FF2B5EF4-FFF2-40B4-BE49-F238E27FC236}">
                    <a16:creationId xmlns:a16="http://schemas.microsoft.com/office/drawing/2014/main" id="{1E8907F2-5EF2-30B9-89A5-D168BFDA7329}"/>
                  </a:ext>
                </a:extLst>
              </p:cNvPr>
              <p:cNvSpPr/>
              <p:nvPr/>
            </p:nvSpPr>
            <p:spPr>
              <a:xfrm>
                <a:off x="662530" y="3608173"/>
                <a:ext cx="11298811" cy="2755557"/>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ja-JP" altLang="en-US" sz="2800">
                    <a:solidFill>
                      <a:schemeClr val="tx1"/>
                    </a:solidFill>
                    <a:latin typeface="+mn-ea"/>
                    <a:cs typeface="ヒラギノ角ゴ Pro W3"/>
                  </a:rPr>
                  <a:t>手順</a:t>
                </a:r>
                <a:r>
                  <a:rPr lang="en-US" altLang="ja-JP" sz="2800" dirty="0">
                    <a:solidFill>
                      <a:schemeClr val="tx1"/>
                    </a:solidFill>
                    <a:latin typeface="+mn-ea"/>
                    <a:cs typeface="ヒラギノ角ゴ Pro W3"/>
                  </a:rPr>
                  <a:t>1.</a:t>
                </a:r>
                <a:r>
                  <a:rPr lang="ja-JP" altLang="en-US" sz="2800">
                    <a:solidFill>
                      <a:schemeClr val="tx1"/>
                    </a:solidFill>
                    <a:latin typeface="+mn-ea"/>
                    <a:cs typeface="ヒラギノ角ゴ Pro W3"/>
                  </a:rPr>
                  <a:t>　</a:t>
                </a:r>
                <a:r>
                  <a:rPr lang="en-US" altLang="ja-JP" sz="2800" dirty="0">
                    <a:solidFill>
                      <a:schemeClr val="tx1"/>
                    </a:solidFill>
                    <a:latin typeface="+mn-ea"/>
                    <a:cs typeface="ヒラギノ角ゴ Pro W3"/>
                  </a:rPr>
                  <a:t>Knockoff</a:t>
                </a:r>
                <a:r>
                  <a:rPr lang="ja-JP" altLang="en-US" sz="2800">
                    <a:solidFill>
                      <a:schemeClr val="tx1"/>
                    </a:solidFill>
                    <a:latin typeface="+mn-ea"/>
                    <a:cs typeface="ヒラギノ角ゴ Pro W3"/>
                  </a:rPr>
                  <a:t>変数</a:t>
                </a:r>
                <a14:m>
                  <m:oMath xmlns:m="http://schemas.openxmlformats.org/officeDocument/2006/math">
                    <m:sSub>
                      <m:sSubPr>
                        <m:ctrlPr>
                          <a:rPr lang="en-US" altLang="ja-JP" sz="2800" i="1">
                            <a:solidFill>
                              <a:schemeClr val="tx1"/>
                            </a:solidFill>
                            <a:latin typeface="Cambria Math" panose="02040503050406030204" pitchFamily="18" charset="0"/>
                          </a:rPr>
                        </m:ctrlPr>
                      </m:sSubPr>
                      <m:e>
                        <m:acc>
                          <m:accPr>
                            <m:chr m:val="̃"/>
                            <m:ctrlPr>
                              <a:rPr lang="ja-JP" altLang="en-US" sz="2800" i="1">
                                <a:solidFill>
                                  <a:schemeClr val="tx1"/>
                                </a:solidFill>
                                <a:latin typeface="Cambria Math" panose="02040503050406030204" pitchFamily="18" charset="0"/>
                              </a:rPr>
                            </m:ctrlPr>
                          </m:accPr>
                          <m:e>
                            <m:r>
                              <a:rPr lang="en-US" altLang="ja-JP" sz="2800" b="1" i="1">
                                <a:solidFill>
                                  <a:schemeClr val="tx1"/>
                                </a:solidFill>
                                <a:latin typeface="Cambria Math" panose="02040503050406030204" pitchFamily="18" charset="0"/>
                              </a:rPr>
                              <m:t>𝒙</m:t>
                            </m:r>
                          </m:e>
                        </m:acc>
                      </m:e>
                      <m:sub>
                        <m:r>
                          <a:rPr lang="en-US" altLang="ja-JP" sz="2800" i="1">
                            <a:solidFill>
                              <a:schemeClr val="tx1"/>
                            </a:solidFill>
                            <a:latin typeface="Cambria Math" panose="02040503050406030204" pitchFamily="18" charset="0"/>
                          </a:rPr>
                          <m:t>𝑖</m:t>
                        </m:r>
                      </m:sub>
                    </m:sSub>
                  </m:oMath>
                </a14:m>
                <a:r>
                  <a:rPr lang="ja-JP" altLang="en-US" sz="2800">
                    <a:solidFill>
                      <a:schemeClr val="tx1"/>
                    </a:solidFill>
                    <a:latin typeface="+mn-ea"/>
                    <a:cs typeface="ヒラギノ角ゴ Pro W3"/>
                  </a:rPr>
                  <a:t>の作成</a:t>
                </a:r>
                <a:endParaRPr lang="en-US" altLang="ja-JP" sz="2800" dirty="0">
                  <a:solidFill>
                    <a:schemeClr val="tx1"/>
                  </a:solidFill>
                  <a:latin typeface="+mn-ea"/>
                  <a:cs typeface="ヒラギノ角ゴ Pro W3"/>
                </a:endParaRPr>
              </a:p>
              <a:p>
                <a:pPr algn="ctr"/>
                <a:r>
                  <a:rPr lang="en-US" altLang="ja-JP" sz="2800" dirty="0">
                    <a:solidFill>
                      <a:schemeClr val="tx1"/>
                    </a:solidFill>
                    <a:latin typeface="+mn-ea"/>
                    <a:cs typeface="ヒラギノ角ゴ Pro W3"/>
                  </a:rPr>
                  <a:t>Knockoff</a:t>
                </a:r>
                <a:r>
                  <a:rPr lang="ja-JP" altLang="en-US" sz="2800">
                    <a:solidFill>
                      <a:schemeClr val="tx1"/>
                    </a:solidFill>
                    <a:latin typeface="+mn-ea"/>
                    <a:cs typeface="ヒラギノ角ゴ Pro W3"/>
                  </a:rPr>
                  <a:t>相関行列</a:t>
                </a:r>
                <a:r>
                  <a:rPr lang="en-US" altLang="ja-JP" sz="2800" dirty="0">
                    <a:solidFill>
                      <a:schemeClr val="tx1"/>
                    </a:solidFill>
                    <a:latin typeface="+mn-ea"/>
                    <a:cs typeface="ヒラギノ角ゴ Pro W3"/>
                  </a:rPr>
                  <a:t> : </a:t>
                </a:r>
                <a14:m>
                  <m:oMath xmlns:m="http://schemas.openxmlformats.org/officeDocument/2006/math">
                    <m:sSub>
                      <m:sSubPr>
                        <m:ctrlPr>
                          <a:rPr lang="en-US" altLang="ja-JP" sz="2800" b="0" i="1" smtClean="0">
                            <a:solidFill>
                              <a:schemeClr val="tx1"/>
                            </a:solidFill>
                            <a:latin typeface="Cambria Math" panose="02040503050406030204" pitchFamily="18" charset="0"/>
                          </a:rPr>
                        </m:ctrlPr>
                      </m:sSubPr>
                      <m:e>
                        <m:acc>
                          <m:accPr>
                            <m:chr m:val="̃"/>
                            <m:ctrlPr>
                              <a:rPr lang="en-US" altLang="ja-JP" sz="2800" i="1" smtClean="0">
                                <a:solidFill>
                                  <a:schemeClr val="tx1"/>
                                </a:solidFill>
                                <a:latin typeface="Cambria Math" panose="02040503050406030204" pitchFamily="18" charset="0"/>
                              </a:rPr>
                            </m:ctrlPr>
                          </m:accPr>
                          <m:e>
                            <m:r>
                              <a:rPr lang="en-US" altLang="ja-JP" sz="2800" b="0" i="1" smtClean="0">
                                <a:solidFill>
                                  <a:schemeClr val="tx1"/>
                                </a:solidFill>
                                <a:latin typeface="Cambria Math" panose="02040503050406030204" pitchFamily="18" charset="0"/>
                              </a:rPr>
                              <m:t>𝐶</m:t>
                            </m:r>
                          </m:e>
                        </m:acc>
                      </m:e>
                      <m:sub>
                        <m:r>
                          <a:rPr lang="en-US" altLang="ja-JP" sz="2800" b="0" i="1" smtClean="0">
                            <a:solidFill>
                              <a:schemeClr val="tx1"/>
                            </a:solidFill>
                            <a:latin typeface="Cambria Math" panose="02040503050406030204" pitchFamily="18" charset="0"/>
                          </a:rPr>
                          <m:t>𝑖𝑗</m:t>
                        </m:r>
                      </m:sub>
                    </m:sSub>
                    <m:r>
                      <a:rPr lang="en-US" altLang="ja-JP" sz="2800" b="0" i="1" smtClean="0">
                        <a:solidFill>
                          <a:schemeClr val="tx1"/>
                        </a:solidFill>
                        <a:latin typeface="Cambria Math" panose="02040503050406030204" pitchFamily="18" charset="0"/>
                      </a:rPr>
                      <m:t>=</m:t>
                    </m:r>
                    <m:d>
                      <m:dPr>
                        <m:begChr m:val="{"/>
                        <m:endChr m:val=""/>
                        <m:ctrlPr>
                          <a:rPr lang="en-US" altLang="ja-JP" sz="2800" b="0" i="1" smtClean="0">
                            <a:solidFill>
                              <a:schemeClr val="tx1"/>
                            </a:solidFill>
                            <a:latin typeface="Cambria Math" panose="02040503050406030204" pitchFamily="18" charset="0"/>
                          </a:rPr>
                        </m:ctrlPr>
                      </m:dPr>
                      <m:e>
                        <m:eqArr>
                          <m:eqArrPr>
                            <m:ctrlPr>
                              <a:rPr lang="en-US" altLang="ja-JP" sz="2800" b="0" i="1" smtClean="0">
                                <a:solidFill>
                                  <a:schemeClr val="tx1"/>
                                </a:solidFill>
                                <a:latin typeface="Cambria Math" panose="02040503050406030204" pitchFamily="18" charset="0"/>
                              </a:rPr>
                            </m:ctrlPr>
                          </m:eqArrPr>
                          <m:e>
                            <m:r>
                              <a:rPr lang="en-US" altLang="ja-JP" sz="2800" b="0" i="1" smtClean="0">
                                <a:solidFill>
                                  <a:schemeClr val="tx1"/>
                                </a:solidFill>
                                <a:latin typeface="Cambria Math" panose="02040503050406030204" pitchFamily="18" charset="0"/>
                              </a:rPr>
                              <m:t>1,               </m:t>
                            </m:r>
                            <m:r>
                              <a:rPr lang="en-US" altLang="ja-JP" sz="2800" i="1">
                                <a:solidFill>
                                  <a:schemeClr val="tx1"/>
                                </a:solidFill>
                                <a:latin typeface="Cambria Math" panose="02040503050406030204" pitchFamily="18" charset="0"/>
                              </a:rPr>
                              <m:t>𝑖</m:t>
                            </m:r>
                            <m:r>
                              <a:rPr lang="en-US" altLang="ja-JP" sz="2800" i="1">
                                <a:solidFill>
                                  <a:schemeClr val="tx1"/>
                                </a:solidFill>
                                <a:latin typeface="Cambria Math" panose="02040503050406030204" pitchFamily="18" charset="0"/>
                              </a:rPr>
                              <m:t>=</m:t>
                            </m:r>
                            <m:r>
                              <a:rPr lang="en-US" altLang="ja-JP" sz="2800" i="1">
                                <a:solidFill>
                                  <a:schemeClr val="tx1"/>
                                </a:solidFill>
                                <a:latin typeface="Cambria Math" panose="02040503050406030204" pitchFamily="18" charset="0"/>
                              </a:rPr>
                              <m:t>𝑗</m:t>
                            </m:r>
                          </m:e>
                          <m:e>
                            <m:f>
                              <m:fPr>
                                <m:ctrlPr>
                                  <a:rPr lang="en-US" altLang="ja-JP" sz="2800" b="0" i="1" smtClean="0">
                                    <a:solidFill>
                                      <a:schemeClr val="tx1"/>
                                    </a:solidFill>
                                    <a:latin typeface="Cambria Math" panose="02040503050406030204" pitchFamily="18" charset="0"/>
                                  </a:rPr>
                                </m:ctrlPr>
                              </m:fPr>
                              <m:num>
                                <m:sSub>
                                  <m:sSubPr>
                                    <m:ctrlPr>
                                      <a:rPr lang="en-US" altLang="ja-JP" sz="2800" b="0" i="1" smtClean="0">
                                        <a:solidFill>
                                          <a:schemeClr val="tx1"/>
                                        </a:solidFill>
                                        <a:latin typeface="Cambria Math" panose="02040503050406030204" pitchFamily="18" charset="0"/>
                                      </a:rPr>
                                    </m:ctrlPr>
                                  </m:sSubPr>
                                  <m:e>
                                    <m:r>
                                      <a:rPr lang="en-US" altLang="ja-JP" sz="2800" b="0" i="1" smtClean="0">
                                        <a:solidFill>
                                          <a:schemeClr val="tx1"/>
                                        </a:solidFill>
                                        <a:latin typeface="Cambria Math" panose="02040503050406030204" pitchFamily="18" charset="0"/>
                                      </a:rPr>
                                      <m:t>𝑅</m:t>
                                    </m:r>
                                  </m:e>
                                  <m:sub>
                                    <m:r>
                                      <a:rPr lang="en-US" altLang="ja-JP" sz="2800" b="0" i="1" smtClean="0">
                                        <a:solidFill>
                                          <a:schemeClr val="tx1"/>
                                        </a:solidFill>
                                        <a:latin typeface="Cambria Math" panose="02040503050406030204" pitchFamily="18" charset="0"/>
                                      </a:rPr>
                                      <m:t>𝑖𝑗</m:t>
                                    </m:r>
                                  </m:sub>
                                </m:sSub>
                              </m:num>
                              <m:den>
                                <m:rad>
                                  <m:radPr>
                                    <m:degHide m:val="on"/>
                                    <m:ctrlPr>
                                      <a:rPr lang="en-US" altLang="ja-JP" sz="2800" b="0" i="1" smtClean="0">
                                        <a:solidFill>
                                          <a:schemeClr val="tx1"/>
                                        </a:solidFill>
                                        <a:latin typeface="Cambria Math" panose="02040503050406030204" pitchFamily="18" charset="0"/>
                                      </a:rPr>
                                    </m:ctrlPr>
                                  </m:radPr>
                                  <m:deg/>
                                  <m:e>
                                    <m:r>
                                      <a:rPr lang="en-US" altLang="ja-JP" sz="2800" b="0" i="1" smtClean="0">
                                        <a:solidFill>
                                          <a:schemeClr val="tx1"/>
                                        </a:solidFill>
                                        <a:latin typeface="Cambria Math" panose="02040503050406030204" pitchFamily="18" charset="0"/>
                                      </a:rPr>
                                      <m:t>𝑛</m:t>
                                    </m:r>
                                    <m:r>
                                      <a:rPr lang="en-US" altLang="ja-JP" sz="2800" b="0" i="1" smtClean="0">
                                        <a:solidFill>
                                          <a:schemeClr val="tx1"/>
                                        </a:solidFill>
                                        <a:latin typeface="Cambria Math" panose="02040503050406030204" pitchFamily="18" charset="0"/>
                                      </a:rPr>
                                      <m:t>−2+</m:t>
                                    </m:r>
                                    <m:sSubSup>
                                      <m:sSubSupPr>
                                        <m:ctrlPr>
                                          <a:rPr lang="en-US" altLang="ja-JP" sz="2800" b="0" i="1" smtClean="0">
                                            <a:solidFill>
                                              <a:schemeClr val="tx1"/>
                                            </a:solidFill>
                                            <a:latin typeface="Cambria Math" panose="02040503050406030204" pitchFamily="18" charset="0"/>
                                          </a:rPr>
                                        </m:ctrlPr>
                                      </m:sSubSupPr>
                                      <m:e>
                                        <m:r>
                                          <a:rPr lang="en-US" altLang="ja-JP" sz="2800" b="0" i="1" smtClean="0">
                                            <a:solidFill>
                                              <a:schemeClr val="tx1"/>
                                            </a:solidFill>
                                            <a:latin typeface="Cambria Math" panose="02040503050406030204" pitchFamily="18" charset="0"/>
                                          </a:rPr>
                                          <m:t>𝑅</m:t>
                                        </m:r>
                                      </m:e>
                                      <m:sub>
                                        <m:r>
                                          <a:rPr lang="en-US" altLang="ja-JP" sz="2800" b="0" i="1" smtClean="0">
                                            <a:solidFill>
                                              <a:schemeClr val="tx1"/>
                                            </a:solidFill>
                                            <a:latin typeface="Cambria Math" panose="02040503050406030204" pitchFamily="18" charset="0"/>
                                          </a:rPr>
                                          <m:t>𝑖𝑗</m:t>
                                        </m:r>
                                      </m:sub>
                                      <m:sup>
                                        <m:r>
                                          <a:rPr lang="en-US" altLang="ja-JP" sz="2800" b="0" i="1" smtClean="0">
                                            <a:solidFill>
                                              <a:schemeClr val="tx1"/>
                                            </a:solidFill>
                                            <a:latin typeface="Cambria Math" panose="02040503050406030204" pitchFamily="18" charset="0"/>
                                          </a:rPr>
                                          <m:t>2</m:t>
                                        </m:r>
                                      </m:sup>
                                    </m:sSubSup>
                                  </m:e>
                                </m:rad>
                              </m:den>
                            </m:f>
                            <m:r>
                              <a:rPr lang="en-US" altLang="ja-JP" sz="2800" i="1">
                                <a:solidFill>
                                  <a:schemeClr val="tx1"/>
                                </a:solidFill>
                                <a:latin typeface="Cambria Math" panose="02040503050406030204" pitchFamily="18" charset="0"/>
                              </a:rPr>
                              <m:t>,</m:t>
                            </m:r>
                            <m:r>
                              <a:rPr lang="en-US" altLang="ja-JP" sz="2800" b="0" i="1" smtClean="0">
                                <a:solidFill>
                                  <a:schemeClr val="tx1"/>
                                </a:solidFill>
                                <a:latin typeface="Cambria Math" panose="02040503050406030204" pitchFamily="18" charset="0"/>
                              </a:rPr>
                              <m:t>  </m:t>
                            </m:r>
                            <m:r>
                              <a:rPr lang="en-US" altLang="ja-JP" sz="2800" i="1">
                                <a:solidFill>
                                  <a:schemeClr val="tx1"/>
                                </a:solidFill>
                                <a:latin typeface="Cambria Math" panose="02040503050406030204" pitchFamily="18" charset="0"/>
                              </a:rPr>
                              <m:t>𝑖</m:t>
                            </m:r>
                            <m:r>
                              <a:rPr lang="en-US" altLang="ja-JP" sz="2800" i="1" smtClean="0">
                                <a:solidFill>
                                  <a:schemeClr val="tx1"/>
                                </a:solidFill>
                                <a:latin typeface="Cambria Math" panose="02040503050406030204" pitchFamily="18" charset="0"/>
                              </a:rPr>
                              <m:t>≠</m:t>
                            </m:r>
                            <m:r>
                              <a:rPr lang="en-US" altLang="ja-JP" sz="2800" i="1">
                                <a:solidFill>
                                  <a:schemeClr val="tx1"/>
                                </a:solidFill>
                                <a:latin typeface="Cambria Math" panose="02040503050406030204" pitchFamily="18" charset="0"/>
                              </a:rPr>
                              <m:t>𝑗</m:t>
                            </m:r>
                          </m:e>
                        </m:eqArr>
                      </m:e>
                    </m:d>
                  </m:oMath>
                </a14:m>
                <a:endParaRPr kumimoji="1" lang="en-US" altLang="ja-JP" sz="2800" dirty="0">
                  <a:solidFill>
                    <a:schemeClr val="tx1"/>
                  </a:solidFill>
                </a:endParaRPr>
              </a:p>
              <a:p>
                <a:pPr algn="ctr"/>
                <a:endParaRPr kumimoji="1" lang="ja-JP" altLang="en-US" sz="2800">
                  <a:solidFill>
                    <a:schemeClr val="tx1"/>
                  </a:solidFill>
                </a:endParaRPr>
              </a:p>
            </p:txBody>
          </p:sp>
        </mc:Choice>
        <mc:Fallback xmlns="">
          <p:sp>
            <p:nvSpPr>
              <p:cNvPr id="8" name="正方形/長方形 7">
                <a:extLst>
                  <a:ext uri="{FF2B5EF4-FFF2-40B4-BE49-F238E27FC236}">
                    <a16:creationId xmlns:a16="http://schemas.microsoft.com/office/drawing/2014/main" id="{1E8907F2-5EF2-30B9-89A5-D168BFDA7329}"/>
                  </a:ext>
                </a:extLst>
              </p:cNvPr>
              <p:cNvSpPr>
                <a:spLocks noRot="1" noChangeAspect="1" noMove="1" noResize="1" noEditPoints="1" noAdjustHandles="1" noChangeArrowheads="1" noChangeShapeType="1" noTextEdit="1"/>
              </p:cNvSpPr>
              <p:nvPr/>
            </p:nvSpPr>
            <p:spPr>
              <a:xfrm>
                <a:off x="662530" y="3608173"/>
                <a:ext cx="11298811" cy="2755557"/>
              </a:xfrm>
              <a:prstGeom prst="rect">
                <a:avLst/>
              </a:prstGeom>
              <a:blipFill>
                <a:blip r:embed="rId5"/>
                <a:stretch>
                  <a:fillRect l="-1009" t="-113699" b="-170776"/>
                </a:stretch>
              </a:blipFill>
              <a:ln>
                <a:solidFill>
                  <a:srgbClr val="0070C0"/>
                </a:solidFill>
              </a:ln>
            </p:spPr>
            <p:txBody>
              <a:bodyPr/>
              <a:lstStyle/>
              <a:p>
                <a:r>
                  <a:rPr lang="ja-JP" altLang="en-US">
                    <a:noFill/>
                  </a:rPr>
                  <a:t> </a:t>
                </a:r>
              </a:p>
            </p:txBody>
          </p:sp>
        </mc:Fallback>
      </mc:AlternateContent>
      <p:sp>
        <p:nvSpPr>
          <p:cNvPr id="13" name="正方形/長方形 12">
            <a:extLst>
              <a:ext uri="{FF2B5EF4-FFF2-40B4-BE49-F238E27FC236}">
                <a16:creationId xmlns:a16="http://schemas.microsoft.com/office/drawing/2014/main" id="{C21E1D3D-577A-C450-F7FD-712DA2F10994}"/>
              </a:ext>
            </a:extLst>
          </p:cNvPr>
          <p:cNvSpPr/>
          <p:nvPr/>
        </p:nvSpPr>
        <p:spPr>
          <a:xfrm>
            <a:off x="7278130" y="4712612"/>
            <a:ext cx="2693773" cy="1055875"/>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4D792BA-C3C3-DB32-C17C-6B0D7359026C}"/>
                  </a:ext>
                </a:extLst>
              </p:cNvPr>
              <p:cNvSpPr txBox="1"/>
              <p:nvPr/>
            </p:nvSpPr>
            <p:spPr>
              <a:xfrm>
                <a:off x="6956854" y="5768488"/>
                <a:ext cx="5123262" cy="523220"/>
              </a:xfrm>
              <a:prstGeom prst="rect">
                <a:avLst/>
              </a:prstGeom>
              <a:noFill/>
            </p:spPr>
            <p:txBody>
              <a:bodyPr wrap="none" rtlCol="0">
                <a:spAutoFit/>
              </a:bodyPr>
              <a:lstStyle/>
              <a:p>
                <a:r>
                  <a:rPr kumimoji="1" lang="ja-JP" altLang="en-US" sz="2800" b="0">
                    <a:solidFill>
                      <a:srgbClr val="0070C0"/>
                    </a:solidFill>
                  </a:rPr>
                  <a:t>自由度</a:t>
                </a:r>
                <a14:m>
                  <m:oMath xmlns:m="http://schemas.openxmlformats.org/officeDocument/2006/math">
                    <m:r>
                      <a:rPr kumimoji="1" lang="en-US" altLang="ja-JP" sz="2800" b="0" i="1" smtClean="0">
                        <a:solidFill>
                          <a:srgbClr val="0070C0"/>
                        </a:solidFill>
                        <a:latin typeface="Cambria Math" panose="02040503050406030204" pitchFamily="18" charset="0"/>
                      </a:rPr>
                      <m:t>𝑛</m:t>
                    </m:r>
                    <m:r>
                      <a:rPr kumimoji="1" lang="en-US" altLang="ja-JP" sz="2800" b="0" i="1" smtClean="0">
                        <a:solidFill>
                          <a:srgbClr val="0070C0"/>
                        </a:solidFill>
                        <a:latin typeface="Cambria Math" panose="02040503050406030204" pitchFamily="18" charset="0"/>
                      </a:rPr>
                      <m:t>−2</m:t>
                    </m:r>
                  </m:oMath>
                </a14:m>
                <a:r>
                  <a:rPr kumimoji="1" lang="ja-JP" altLang="en-US" sz="2800" b="0">
                    <a:solidFill>
                      <a:srgbClr val="0070C0"/>
                    </a:solidFill>
                  </a:rPr>
                  <a:t>の</a:t>
                </a:r>
                <a14:m>
                  <m:oMath xmlns:m="http://schemas.openxmlformats.org/officeDocument/2006/math">
                    <m:r>
                      <a:rPr kumimoji="1" lang="en-US" altLang="ja-JP" sz="2800" b="0" i="1" smtClean="0">
                        <a:solidFill>
                          <a:srgbClr val="0070C0"/>
                        </a:solidFill>
                        <a:latin typeface="Cambria Math" panose="02040503050406030204" pitchFamily="18" charset="0"/>
                      </a:rPr>
                      <m:t>𝑡</m:t>
                    </m:r>
                  </m:oMath>
                </a14:m>
                <a:r>
                  <a:rPr kumimoji="1" lang="ja-JP" altLang="en-US" sz="2800">
                    <a:solidFill>
                      <a:srgbClr val="0070C0"/>
                    </a:solidFill>
                  </a:rPr>
                  <a:t>分布にしたがう</a:t>
                </a:r>
              </a:p>
            </p:txBody>
          </p:sp>
        </mc:Choice>
        <mc:Fallback xmlns="">
          <p:sp>
            <p:nvSpPr>
              <p:cNvPr id="14" name="テキスト ボックス 13">
                <a:extLst>
                  <a:ext uri="{FF2B5EF4-FFF2-40B4-BE49-F238E27FC236}">
                    <a16:creationId xmlns:a16="http://schemas.microsoft.com/office/drawing/2014/main" id="{74D792BA-C3C3-DB32-C17C-6B0D7359026C}"/>
                  </a:ext>
                </a:extLst>
              </p:cNvPr>
              <p:cNvSpPr txBox="1">
                <a:spLocks noRot="1" noChangeAspect="1" noMove="1" noResize="1" noEditPoints="1" noAdjustHandles="1" noChangeArrowheads="1" noChangeShapeType="1" noTextEdit="1"/>
              </p:cNvSpPr>
              <p:nvPr/>
            </p:nvSpPr>
            <p:spPr>
              <a:xfrm>
                <a:off x="6956854" y="5768488"/>
                <a:ext cx="5123262" cy="523220"/>
              </a:xfrm>
              <a:prstGeom prst="rect">
                <a:avLst/>
              </a:prstGeom>
              <a:blipFill>
                <a:blip r:embed="rId6"/>
                <a:stretch>
                  <a:fillRect l="-2469" t="-11905" r="-1481" b="-33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88291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A4137-3534-4B55-F36B-D46B825D2B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C4EBE06-B876-F2F9-6004-E41B7815E7AC}"/>
                  </a:ext>
                </a:extLst>
              </p:cNvPr>
              <p:cNvSpPr>
                <a:spLocks noGrp="1"/>
              </p:cNvSpPr>
              <p:nvPr>
                <p:ph idx="1"/>
              </p:nvPr>
            </p:nvSpPr>
            <p:spPr>
              <a:xfrm>
                <a:off x="95003" y="1104405"/>
                <a:ext cx="12096997" cy="6020085"/>
              </a:xfrm>
            </p:spPr>
            <p:txBody>
              <a:bodyPr>
                <a:norm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1.</a:t>
                </a:r>
                <a:r>
                  <a:rPr lang="ja-JP" altLang="en-US" sz="3200">
                    <a:solidFill>
                      <a:srgbClr val="7030A0"/>
                    </a:solidFill>
                    <a:latin typeface="+mn-ea"/>
                    <a:cs typeface="ヒラギノ角ゴ Pro W3"/>
                  </a:rPr>
                  <a:t>　</a:t>
                </a:r>
                <a:r>
                  <a:rPr lang="en-US" altLang="ja-JP" sz="3200" dirty="0">
                    <a:solidFill>
                      <a:srgbClr val="7030A0"/>
                    </a:solidFill>
                    <a:latin typeface="+mn-ea"/>
                    <a:cs typeface="ヒラギノ角ゴ Pro W3"/>
                  </a:rPr>
                  <a:t>Knockoff</a:t>
                </a:r>
                <a:r>
                  <a:rPr lang="ja-JP" altLang="en-US" sz="3200">
                    <a:solidFill>
                      <a:srgbClr val="7030A0"/>
                    </a:solidFill>
                    <a:latin typeface="+mn-ea"/>
                    <a:cs typeface="ヒラギノ角ゴ Pro W3"/>
                  </a:rPr>
                  <a:t>変数</a:t>
                </a:r>
                <a14:m>
                  <m:oMath xmlns:m="http://schemas.openxmlformats.org/officeDocument/2006/math">
                    <m:sSub>
                      <m:sSubPr>
                        <m:ctrlPr>
                          <a:rPr lang="en-US" altLang="ja-JP" sz="3200" i="1">
                            <a:solidFill>
                              <a:srgbClr val="7030A0"/>
                            </a:solidFill>
                            <a:latin typeface="Cambria Math" panose="02040503050406030204" pitchFamily="18" charset="0"/>
                          </a:rPr>
                        </m:ctrlPr>
                      </m:sSubPr>
                      <m:e>
                        <m:acc>
                          <m:accPr>
                            <m:chr m:val="̃"/>
                            <m:ctrlPr>
                              <a:rPr lang="ja-JP" altLang="en-US" sz="3200" i="1">
                                <a:solidFill>
                                  <a:srgbClr val="7030A0"/>
                                </a:solidFill>
                                <a:latin typeface="Cambria Math" panose="02040503050406030204" pitchFamily="18" charset="0"/>
                              </a:rPr>
                            </m:ctrlPr>
                          </m:accPr>
                          <m:e>
                            <m:r>
                              <a:rPr lang="en-US" altLang="ja-JP" sz="3200" b="1" i="1">
                                <a:solidFill>
                                  <a:srgbClr val="7030A0"/>
                                </a:solidFill>
                                <a:latin typeface="Cambria Math" panose="02040503050406030204" pitchFamily="18" charset="0"/>
                              </a:rPr>
                              <m:t>𝒙</m:t>
                            </m:r>
                          </m:e>
                        </m:acc>
                      </m:e>
                      <m:sub>
                        <m:r>
                          <a:rPr lang="en-US" altLang="ja-JP" sz="3200" i="1">
                            <a:solidFill>
                              <a:srgbClr val="7030A0"/>
                            </a:solidFill>
                            <a:latin typeface="Cambria Math" panose="02040503050406030204" pitchFamily="18" charset="0"/>
                          </a:rPr>
                          <m:t>𝑖</m:t>
                        </m:r>
                      </m:sub>
                    </m:sSub>
                  </m:oMath>
                </a14:m>
                <a:r>
                  <a:rPr lang="ja-JP" altLang="en-US" sz="3200">
                    <a:solidFill>
                      <a:srgbClr val="7030A0"/>
                    </a:solidFill>
                    <a:latin typeface="+mn-ea"/>
                    <a:cs typeface="ヒラギノ角ゴ Pro W3"/>
                  </a:rPr>
                  <a:t>の作成</a:t>
                </a:r>
                <a:endParaRPr lang="en-US" altLang="ja-JP" sz="3200" dirty="0">
                  <a:solidFill>
                    <a:srgbClr val="7030A0"/>
                  </a:solidFill>
                  <a:latin typeface="+mn-ea"/>
                  <a:cs typeface="ヒラギノ角ゴ Pro W3"/>
                </a:endParaRPr>
              </a:p>
              <a:p>
                <a:pPr marL="0" indent="0">
                  <a:buNone/>
                </a:pPr>
                <a:endParaRPr lang="en-US" altLang="ja-JP" sz="1050" dirty="0">
                  <a:solidFill>
                    <a:srgbClr val="7030A0"/>
                  </a:solidFill>
                  <a:latin typeface="+mn-ea"/>
                  <a:cs typeface="ヒラギノ角ゴ Pro W3"/>
                </a:endParaRPr>
              </a:p>
              <a:p>
                <a:pPr marL="0" indent="0">
                  <a:buNone/>
                </a:pPr>
                <a:r>
                  <a:rPr kumimoji="1" lang="ja-JP" altLang="en-US" sz="2800">
                    <a:latin typeface="+mn-ea"/>
                    <a:cs typeface="ヒラギノ角ゴ Pro W3"/>
                  </a:rPr>
                  <a:t>　母集団の相関係数が</a:t>
                </a:r>
                <a:r>
                  <a:rPr kumimoji="1" lang="en-US" altLang="ja-JP" sz="2800" dirty="0">
                    <a:latin typeface="+mn-ea"/>
                    <a:cs typeface="ヒラギノ角ゴ Pro W3"/>
                  </a:rPr>
                  <a:t>0</a:t>
                </a:r>
                <a:r>
                  <a:rPr lang="ja-JP" altLang="en-US" sz="2800">
                    <a:latin typeface="+mn-ea"/>
                    <a:cs typeface="ヒラギノ角ゴ Pro W3"/>
                  </a:rPr>
                  <a:t>という仮説のもとで</a:t>
                </a:r>
                <a:r>
                  <a:rPr lang="en-US" altLang="ja-JP" sz="2800" dirty="0">
                    <a:latin typeface="+mn-ea"/>
                    <a:cs typeface="ヒラギノ角ゴ Pro W3"/>
                  </a:rPr>
                  <a:t>, </a:t>
                </a:r>
                <a:r>
                  <a:rPr lang="ja-JP" altLang="en-US">
                    <a:latin typeface="+mn-ea"/>
                    <a:cs typeface="ヒラギノ角ゴ Pro W3"/>
                  </a:rPr>
                  <a:t>以下が成立</a:t>
                </a:r>
                <a:r>
                  <a:rPr lang="en-US" altLang="ja-JP" dirty="0">
                    <a:latin typeface="+mn-ea"/>
                    <a:cs typeface="ヒラギノ角ゴ Pro W3"/>
                  </a:rPr>
                  <a:t> (Fisher, 1915)</a:t>
                </a:r>
                <a:r>
                  <a:rPr kumimoji="1" lang="en-US" altLang="ja-JP" b="0" dirty="0">
                    <a:cs typeface="ヒラギノ角ゴ Pro W3"/>
                  </a:rPr>
                  <a:t> </a:t>
                </a:r>
                <a:endParaRPr lang="en-US" altLang="ja-JP" sz="2800" dirty="0">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𝑅</m:t>
                          </m:r>
                        </m:e>
                        <m:sub>
                          <m:r>
                            <a:rPr kumimoji="1" lang="en-US" altLang="ja-JP" sz="3200" b="0" i="1" smtClean="0">
                              <a:latin typeface="Cambria Math" panose="02040503050406030204" pitchFamily="18" charset="0"/>
                              <a:cs typeface="ヒラギノ角ゴ Pro W3"/>
                            </a:rPr>
                            <m:t>𝑖𝑗</m:t>
                          </m:r>
                        </m:sub>
                      </m:sSub>
                      <m:r>
                        <a:rPr kumimoji="1" lang="en-US" altLang="ja-JP" sz="3200" b="0" i="1" smtClean="0">
                          <a:latin typeface="Cambria Math" panose="02040503050406030204" pitchFamily="18" charset="0"/>
                          <a:cs typeface="ヒラギノ角ゴ Pro W3"/>
                        </a:rPr>
                        <m:t>=</m:t>
                      </m:r>
                      <m:f>
                        <m:fPr>
                          <m:ctrlPr>
                            <a:rPr kumimoji="1" lang="en-US" altLang="ja-JP" sz="3200" b="0" i="1" smtClean="0">
                              <a:latin typeface="Cambria Math" panose="02040503050406030204" pitchFamily="18" charset="0"/>
                            </a:rPr>
                          </m:ctrlPr>
                        </m:fPr>
                        <m:num>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𝐶</m:t>
                              </m:r>
                            </m:e>
                            <m:sub>
                              <m:r>
                                <a:rPr kumimoji="1" lang="en-US" altLang="ja-JP" sz="3200" b="0" i="1" smtClean="0">
                                  <a:latin typeface="Cambria Math" panose="02040503050406030204" pitchFamily="18" charset="0"/>
                                </a:rPr>
                                <m:t>𝑖𝑗</m:t>
                              </m:r>
                            </m:sub>
                          </m:sSub>
                        </m:num>
                        <m:den>
                          <m:rad>
                            <m:radPr>
                              <m:degHide m:val="on"/>
                              <m:ctrlPr>
                                <a:rPr kumimoji="1" lang="en-US" altLang="ja-JP" sz="3200" b="0" i="1" smtClean="0">
                                  <a:latin typeface="Cambria Math" panose="02040503050406030204" pitchFamily="18" charset="0"/>
                                </a:rPr>
                              </m:ctrlPr>
                            </m:radPr>
                            <m:deg/>
                            <m:e>
                              <m:r>
                                <a:rPr kumimoji="1" lang="en-US" altLang="ja-JP" sz="3200" b="0" i="1" smtClean="0">
                                  <a:latin typeface="Cambria Math" panose="02040503050406030204" pitchFamily="18" charset="0"/>
                                </a:rPr>
                                <m:t>(1−</m:t>
                              </m:r>
                              <m:sSubSup>
                                <m:sSubSupPr>
                                  <m:ctrlPr>
                                    <a:rPr kumimoji="1" lang="en-US" altLang="ja-JP" sz="3200" b="0" i="1" smtClean="0">
                                      <a:latin typeface="Cambria Math" panose="02040503050406030204" pitchFamily="18" charset="0"/>
                                    </a:rPr>
                                  </m:ctrlPr>
                                </m:sSubSupPr>
                                <m:e>
                                  <m:r>
                                    <a:rPr kumimoji="1" lang="en-US" altLang="ja-JP" sz="3200" b="0" i="1" smtClean="0">
                                      <a:latin typeface="Cambria Math" panose="02040503050406030204" pitchFamily="18" charset="0"/>
                                    </a:rPr>
                                    <m:t>𝐶</m:t>
                                  </m:r>
                                </m:e>
                                <m:sub>
                                  <m:r>
                                    <a:rPr kumimoji="1" lang="en-US" altLang="ja-JP" sz="3200" b="0" i="1" smtClean="0">
                                      <a:latin typeface="Cambria Math" panose="02040503050406030204" pitchFamily="18" charset="0"/>
                                    </a:rPr>
                                    <m:t>𝑖𝑗</m:t>
                                  </m:r>
                                </m:sub>
                                <m:sup>
                                  <m:r>
                                    <a:rPr kumimoji="1" lang="en-US" altLang="ja-JP" sz="3200" b="0" i="1" smtClean="0">
                                      <a:latin typeface="Cambria Math" panose="02040503050406030204" pitchFamily="18" charset="0"/>
                                    </a:rPr>
                                    <m:t>2</m:t>
                                  </m:r>
                                </m:sup>
                              </m:sSubSup>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𝑛</m:t>
                              </m:r>
                              <m:r>
                                <a:rPr kumimoji="1" lang="en-US" altLang="ja-JP" sz="3200" b="0" i="1" smtClean="0">
                                  <a:latin typeface="Cambria Math" panose="02040503050406030204" pitchFamily="18" charset="0"/>
                                </a:rPr>
                                <m:t>−2)</m:t>
                              </m:r>
                            </m:e>
                          </m:rad>
                        </m:den>
                      </m:f>
                      <m:r>
                        <a:rPr kumimoji="1" lang="en-US" altLang="ja-JP" sz="3200" b="0" i="1" smtClean="0">
                          <a:latin typeface="Cambria Math" panose="02040503050406030204" pitchFamily="18" charset="0"/>
                        </a:rPr>
                        <m:t> ~ </m:t>
                      </m:r>
                      <m:r>
                        <m:rPr>
                          <m:sty m:val="p"/>
                        </m:rPr>
                        <a:rPr kumimoji="1" lang="en-US" altLang="ja-JP" sz="3200" b="0" i="0" smtClean="0">
                          <a:latin typeface="Cambria Math" panose="02040503050406030204" pitchFamily="18" charset="0"/>
                        </a:rPr>
                        <m:t>t</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𝑛</m:t>
                          </m:r>
                          <m:r>
                            <a:rPr kumimoji="1" lang="en-US" altLang="ja-JP" sz="3200" b="0" i="1" smtClean="0">
                              <a:latin typeface="Cambria Math" panose="02040503050406030204" pitchFamily="18" charset="0"/>
                            </a:rPr>
                            <m:t>−2</m:t>
                          </m:r>
                        </m:e>
                      </m:d>
                      <m:r>
                        <a:rPr kumimoji="1" lang="en-US" altLang="ja-JP" sz="3200" b="0" i="1" smtClean="0">
                          <a:latin typeface="Cambria Math" panose="02040503050406030204" pitchFamily="18" charset="0"/>
                        </a:rPr>
                        <m:t>,  </m:t>
                      </m:r>
                      <m:r>
                        <a:rPr lang="en-US" altLang="ja-JP" sz="3200" i="1">
                          <a:latin typeface="Cambria Math" panose="02040503050406030204" pitchFamily="18" charset="0"/>
                          <a:cs typeface="ヒラギノ角ゴ Pro W3"/>
                        </a:rPr>
                        <m:t>𝑖</m:t>
                      </m:r>
                      <m:r>
                        <a:rPr lang="en-US" altLang="ja-JP" sz="3200" i="1">
                          <a:latin typeface="Cambria Math" panose="02040503050406030204" pitchFamily="18" charset="0"/>
                          <a:cs typeface="ヒラギノ角ゴ Pro W3"/>
                        </a:rPr>
                        <m:t>,</m:t>
                      </m:r>
                      <m:r>
                        <a:rPr lang="en-US" altLang="ja-JP" sz="3200" i="1">
                          <a:latin typeface="Cambria Math" panose="02040503050406030204" pitchFamily="18" charset="0"/>
                          <a:cs typeface="ヒラギノ角ゴ Pro W3"/>
                        </a:rPr>
                        <m:t>𝑗</m:t>
                      </m:r>
                      <m:r>
                        <a:rPr lang="en-US" altLang="ja-JP" sz="3200" i="1">
                          <a:latin typeface="Cambria Math" panose="02040503050406030204" pitchFamily="18" charset="0"/>
                          <a:cs typeface="ヒラギノ角ゴ Pro W3"/>
                        </a:rPr>
                        <m:t>=1,…,</m:t>
                      </m:r>
                      <m:r>
                        <a:rPr lang="en-US" altLang="ja-JP" sz="3200" i="1">
                          <a:latin typeface="Cambria Math" panose="02040503050406030204" pitchFamily="18" charset="0"/>
                          <a:cs typeface="ヒラギノ角ゴ Pro W3"/>
                        </a:rPr>
                        <m:t>𝑝</m:t>
                      </m:r>
                    </m:oMath>
                  </m:oMathPara>
                </a14:m>
                <a:endParaRPr kumimoji="1" lang="en-US" altLang="ja-JP" sz="3200" b="0" dirty="0">
                  <a:latin typeface="+mn-ea"/>
                </a:endParaRPr>
              </a:p>
              <a:p>
                <a:pPr marL="0" indent="0">
                  <a:buNone/>
                </a:pPr>
                <a:r>
                  <a:rPr kumimoji="1" lang="en-US" altLang="ja-JP" sz="2400" b="0" dirty="0">
                    <a:cs typeface="ヒラギノ角ゴ Pro W3"/>
                  </a:rPr>
                  <a:t>  </a:t>
                </a:r>
                <a:r>
                  <a:rPr lang="en-US" altLang="ja-JP" sz="2400" dirty="0">
                    <a:cs typeface="ヒラギノ角ゴ Pro W3"/>
                  </a:rPr>
                  <a:t>    </a:t>
                </a:r>
                <a14:m>
                  <m:oMath xmlns:m="http://schemas.openxmlformats.org/officeDocument/2006/math">
                    <m:r>
                      <a:rPr kumimoji="1" lang="en-US" altLang="ja-JP" sz="2400" b="0" i="1" smtClean="0">
                        <a:latin typeface="Cambria Math" panose="02040503050406030204" pitchFamily="18" charset="0"/>
                        <a:cs typeface="ヒラギノ角ゴ Pro W3"/>
                      </a:rPr>
                      <m:t>𝑋</m:t>
                    </m:r>
                  </m:oMath>
                </a14:m>
                <a:r>
                  <a:rPr kumimoji="1" lang="ja-JP" altLang="en-US" sz="2400">
                    <a:latin typeface="+mn-ea"/>
                    <a:cs typeface="ヒラギノ角ゴ Pro W3"/>
                  </a:rPr>
                  <a:t>の標本相関行</a:t>
                </a:r>
                <a14:m>
                  <m:oMath xmlns:m="http://schemas.openxmlformats.org/officeDocument/2006/math">
                    <m:r>
                      <a:rPr lang="ja-JP" altLang="en-US" sz="2400" b="0" i="1">
                        <a:latin typeface="Cambria Math" panose="02040503050406030204" pitchFamily="18" charset="0"/>
                        <a:cs typeface="ヒラギノ角ゴ Pro W3"/>
                      </a:rPr>
                      <m:t>列</m:t>
                    </m:r>
                    <m:r>
                      <a:rPr lang="en-US" altLang="ja-JP" sz="2400" b="0" i="1" smtClean="0">
                        <a:latin typeface="Cambria Math" panose="02040503050406030204" pitchFamily="18" charset="0"/>
                        <a:cs typeface="ヒラギノ角ゴ Pro W3"/>
                      </a:rPr>
                      <m:t>𝐶</m:t>
                    </m:r>
                    <m:r>
                      <a:rPr lang="ja-JP" altLang="en-US" sz="2400" b="1" i="1">
                        <a:latin typeface="Cambria Math" panose="02040503050406030204" pitchFamily="18" charset="0"/>
                      </a:rPr>
                      <m:t>：</m:t>
                    </m:r>
                    <m:r>
                      <a:rPr kumimoji="1" lang="en-US" altLang="ja-JP" sz="2400" b="0" i="0" smtClean="0">
                        <a:latin typeface="Cambria Math" panose="02040503050406030204" pitchFamily="18" charset="0"/>
                        <a:cs typeface="ヒラギノ角ゴ Pro W3"/>
                      </a:rPr>
                      <m:t>{</m:t>
                    </m:r>
                    <m:sSub>
                      <m:sSubPr>
                        <m:ctrlPr>
                          <a:rPr kumimoji="1" lang="en-US" altLang="ja-JP" sz="2400" b="0" i="1" smtClean="0">
                            <a:latin typeface="Cambria Math" panose="02040503050406030204" pitchFamily="18" charset="0"/>
                            <a:cs typeface="ヒラギノ角ゴ Pro W3"/>
                          </a:rPr>
                        </m:ctrlPr>
                      </m:sSubPr>
                      <m:e>
                        <m:r>
                          <a:rPr kumimoji="1" lang="en-US" altLang="ja-JP" sz="2400" b="0" i="1" smtClean="0">
                            <a:latin typeface="Cambria Math" panose="02040503050406030204" pitchFamily="18" charset="0"/>
                            <a:cs typeface="ヒラギノ角ゴ Pro W3"/>
                          </a:rPr>
                          <m:t>𝐶</m:t>
                        </m:r>
                      </m:e>
                      <m:sub>
                        <m:r>
                          <a:rPr kumimoji="1" lang="en-US" altLang="ja-JP" sz="2400" b="0" i="1" smtClean="0">
                            <a:latin typeface="Cambria Math" panose="02040503050406030204" pitchFamily="18" charset="0"/>
                            <a:cs typeface="ヒラギノ角ゴ Pro W3"/>
                          </a:rPr>
                          <m:t>𝑖𝑗</m:t>
                        </m:r>
                      </m:sub>
                    </m:sSub>
                    <m:r>
                      <a:rPr kumimoji="1" lang="en-US" altLang="ja-JP" sz="2400" b="0" i="1" smtClean="0">
                        <a:latin typeface="Cambria Math" panose="02040503050406030204" pitchFamily="18" charset="0"/>
                        <a:cs typeface="ヒラギノ角ゴ Pro W3"/>
                      </a:rPr>
                      <m:t>,</m:t>
                    </m:r>
                    <m:r>
                      <a:rPr kumimoji="1" lang="en-US" altLang="ja-JP" sz="2400" b="0" i="1" smtClean="0">
                        <a:latin typeface="Cambria Math" panose="02040503050406030204" pitchFamily="18" charset="0"/>
                        <a:cs typeface="ヒラギノ角ゴ Pro W3"/>
                      </a:rPr>
                      <m:t>𝑖</m:t>
                    </m:r>
                    <m:r>
                      <a:rPr kumimoji="1" lang="en-US" altLang="ja-JP" sz="2400" b="0" i="1" smtClean="0">
                        <a:latin typeface="Cambria Math" panose="02040503050406030204" pitchFamily="18" charset="0"/>
                        <a:cs typeface="ヒラギノ角ゴ Pro W3"/>
                      </a:rPr>
                      <m:t>,</m:t>
                    </m:r>
                    <m:r>
                      <a:rPr kumimoji="1" lang="en-US" altLang="ja-JP" sz="2400" b="0" i="1" smtClean="0">
                        <a:latin typeface="Cambria Math" panose="02040503050406030204" pitchFamily="18" charset="0"/>
                        <a:cs typeface="ヒラギノ角ゴ Pro W3"/>
                      </a:rPr>
                      <m:t>𝑗</m:t>
                    </m:r>
                    <m:r>
                      <a:rPr kumimoji="1" lang="en-US" altLang="ja-JP" sz="2400" b="0" i="1" smtClean="0">
                        <a:latin typeface="Cambria Math" panose="02040503050406030204" pitchFamily="18" charset="0"/>
                        <a:cs typeface="ヒラギノ角ゴ Pro W3"/>
                      </a:rPr>
                      <m:t>=1,…,</m:t>
                    </m:r>
                    <m:r>
                      <a:rPr kumimoji="1" lang="en-US" altLang="ja-JP" sz="2400" b="0" i="1" smtClean="0">
                        <a:latin typeface="Cambria Math" panose="02040503050406030204" pitchFamily="18" charset="0"/>
                        <a:cs typeface="ヒラギノ角ゴ Pro W3"/>
                      </a:rPr>
                      <m:t>𝑝</m:t>
                    </m:r>
                    <m:r>
                      <a:rPr kumimoji="1" lang="en-US" altLang="ja-JP" sz="2400" b="0" i="1" smtClean="0">
                        <a:latin typeface="Cambria Math" panose="02040503050406030204" pitchFamily="18" charset="0"/>
                        <a:cs typeface="ヒラギノ角ゴ Pro W3"/>
                      </a:rPr>
                      <m:t>}</m:t>
                    </m:r>
                  </m:oMath>
                </a14:m>
                <a:endParaRPr kumimoji="1" lang="en-US" altLang="ja-JP" sz="800" b="0" dirty="0">
                  <a:latin typeface="+mn-ea"/>
                </a:endParaRPr>
              </a:p>
              <a:p>
                <a:pPr marL="0" indent="0">
                  <a:buNone/>
                </a:pPr>
                <a:endParaRPr kumimoji="1" lang="en-US" altLang="ja-JP" sz="1600" b="0" dirty="0">
                  <a:latin typeface="+mn-ea"/>
                </a:endParaRPr>
              </a:p>
              <a:p>
                <a:pPr marL="0" indent="0">
                  <a:buNone/>
                </a:pPr>
                <a:r>
                  <a:rPr lang="en-US" altLang="ja-JP" sz="2800" dirty="0">
                    <a:latin typeface="+mn-ea"/>
                    <a:cs typeface="ヒラギノ角ゴ Pro W3"/>
                  </a:rPr>
                  <a:t>Knockoff</a:t>
                </a:r>
                <a:r>
                  <a:rPr lang="ja-JP" altLang="en-US" sz="2800">
                    <a:latin typeface="+mn-ea"/>
                    <a:cs typeface="ヒラギノ角ゴ Pro W3"/>
                  </a:rPr>
                  <a:t>相関行列</a:t>
                </a:r>
                <a:r>
                  <a:rPr lang="en-US" altLang="ja-JP" sz="2800" dirty="0">
                    <a:latin typeface="+mn-ea"/>
                    <a:cs typeface="ヒラギノ角ゴ Pro W3"/>
                  </a:rPr>
                  <a:t> : </a:t>
                </a:r>
                <a14:m>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b="0" i="1" smtClean="0">
                                <a:latin typeface="Cambria Math" panose="02040503050406030204" pitchFamily="18" charset="0"/>
                              </a:rPr>
                              <m:t>𝐶</m:t>
                            </m:r>
                          </m:e>
                        </m:acc>
                      </m:e>
                      <m:sub>
                        <m:r>
                          <a:rPr lang="en-US" altLang="ja-JP" sz="2800" b="0" i="1" smtClean="0">
                            <a:latin typeface="Cambria Math" panose="02040503050406030204" pitchFamily="18" charset="0"/>
                          </a:rPr>
                          <m:t>𝑖𝑗</m:t>
                        </m:r>
                      </m:sub>
                    </m:sSub>
                    <m:r>
                      <a:rPr lang="en-US" altLang="ja-JP" sz="2800" b="0" i="1" smtClean="0">
                        <a:latin typeface="Cambria Math" panose="02040503050406030204" pitchFamily="18" charset="0"/>
                      </a:rPr>
                      <m:t>=</m:t>
                    </m:r>
                    <m:d>
                      <m:dPr>
                        <m:begChr m:val="{"/>
                        <m:endChr m:val=""/>
                        <m:ctrlPr>
                          <a:rPr lang="en-US" altLang="ja-JP" sz="2800" b="0" i="1" smtClean="0">
                            <a:latin typeface="Cambria Math" panose="02040503050406030204" pitchFamily="18" charset="0"/>
                          </a:rPr>
                        </m:ctrlPr>
                      </m:dPr>
                      <m:e>
                        <m:eqArr>
                          <m:eqArrPr>
                            <m:ctrlPr>
                              <a:rPr lang="en-US" altLang="ja-JP" sz="2800" b="0" i="1" smtClean="0">
                                <a:latin typeface="Cambria Math" panose="02040503050406030204" pitchFamily="18" charset="0"/>
                              </a:rPr>
                            </m:ctrlPr>
                          </m:eqArrPr>
                          <m:e>
                            <m:r>
                              <a:rPr lang="en-US" altLang="ja-JP" sz="2800" b="0" i="1" smtClean="0">
                                <a:latin typeface="Cambria Math" panose="02040503050406030204" pitchFamily="18" charset="0"/>
                              </a:rPr>
                              <m:t>1,               </m:t>
                            </m:r>
                            <m:r>
                              <a:rPr lang="en-US" altLang="ja-JP" sz="2800" i="1">
                                <a:latin typeface="Cambria Math" panose="02040503050406030204" pitchFamily="18" charset="0"/>
                              </a:rPr>
                              <m:t>𝑖</m:t>
                            </m:r>
                            <m:r>
                              <a:rPr lang="en-US" altLang="ja-JP" sz="2800" i="1">
                                <a:latin typeface="Cambria Math" panose="02040503050406030204" pitchFamily="18" charset="0"/>
                              </a:rPr>
                              <m:t>=</m:t>
                            </m:r>
                            <m:r>
                              <a:rPr lang="en-US" altLang="ja-JP" sz="2800" i="1">
                                <a:latin typeface="Cambria Math" panose="02040503050406030204" pitchFamily="18" charset="0"/>
                              </a:rPr>
                              <m:t>𝑗</m:t>
                            </m:r>
                          </m:e>
                          <m:e>
                            <m:f>
                              <m:fPr>
                                <m:ctrlPr>
                                  <a:rPr lang="en-US" altLang="ja-JP" sz="2800" b="0" i="1" smtClean="0">
                                    <a:latin typeface="Cambria Math" panose="02040503050406030204" pitchFamily="18" charset="0"/>
                                  </a:rPr>
                                </m:ctrlPr>
                              </m:fPr>
                              <m:num>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𝑅</m:t>
                                    </m:r>
                                  </m:e>
                                  <m:sub>
                                    <m:r>
                                      <a:rPr lang="en-US" altLang="ja-JP" sz="2800" b="0" i="1" smtClean="0">
                                        <a:latin typeface="Cambria Math" panose="02040503050406030204" pitchFamily="18" charset="0"/>
                                      </a:rPr>
                                      <m:t>𝑖𝑗</m:t>
                                    </m:r>
                                  </m:sub>
                                </m:sSub>
                              </m:num>
                              <m:den>
                                <m:rad>
                                  <m:radPr>
                                    <m:degHide m:val="on"/>
                                    <m:ctrlPr>
                                      <a:rPr lang="en-US" altLang="ja-JP" sz="2800" b="0" i="1" smtClean="0">
                                        <a:latin typeface="Cambria Math" panose="02040503050406030204" pitchFamily="18" charset="0"/>
                                      </a:rPr>
                                    </m:ctrlPr>
                                  </m:radPr>
                                  <m:deg/>
                                  <m:e>
                                    <m:r>
                                      <a:rPr lang="en-US" altLang="ja-JP" sz="2800" b="0" i="1" smtClean="0">
                                        <a:latin typeface="Cambria Math" panose="02040503050406030204" pitchFamily="18" charset="0"/>
                                      </a:rPr>
                                      <m:t>𝑛</m:t>
                                    </m:r>
                                    <m:r>
                                      <a:rPr lang="en-US" altLang="ja-JP" sz="2800" b="0" i="1" smtClean="0">
                                        <a:latin typeface="Cambria Math" panose="02040503050406030204" pitchFamily="18" charset="0"/>
                                      </a:rPr>
                                      <m:t>−2+</m:t>
                                    </m:r>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𝑅</m:t>
                                        </m:r>
                                      </m:e>
                                      <m:sub>
                                        <m:r>
                                          <a:rPr lang="en-US" altLang="ja-JP" sz="2800" b="0" i="1" smtClean="0">
                                            <a:latin typeface="Cambria Math" panose="02040503050406030204" pitchFamily="18" charset="0"/>
                                          </a:rPr>
                                          <m:t>𝑖𝑗</m:t>
                                        </m:r>
                                      </m:sub>
                                      <m:sup>
                                        <m:r>
                                          <a:rPr lang="en-US" altLang="ja-JP" sz="2800" b="0" i="1" smtClean="0">
                                            <a:latin typeface="Cambria Math" panose="02040503050406030204" pitchFamily="18" charset="0"/>
                                          </a:rPr>
                                          <m:t>2</m:t>
                                        </m:r>
                                      </m:sup>
                                    </m:sSubSup>
                                  </m:e>
                                </m:rad>
                              </m:den>
                            </m:f>
                            <m:r>
                              <a:rPr lang="en-US" altLang="ja-JP" sz="2800" i="1">
                                <a:latin typeface="Cambria Math" panose="02040503050406030204" pitchFamily="18" charset="0"/>
                              </a:rPr>
                              <m:t>,</m:t>
                            </m:r>
                            <m:r>
                              <a:rPr lang="en-US" altLang="ja-JP" sz="2800" b="0" i="1" smtClean="0">
                                <a:latin typeface="Cambria Math" panose="02040503050406030204" pitchFamily="18" charset="0"/>
                              </a:rPr>
                              <m:t>  </m:t>
                            </m:r>
                            <m:r>
                              <a:rPr lang="en-US" altLang="ja-JP" sz="2800" i="1">
                                <a:latin typeface="Cambria Math" panose="02040503050406030204" pitchFamily="18" charset="0"/>
                              </a:rPr>
                              <m:t>𝑖</m:t>
                            </m:r>
                            <m:r>
                              <a:rPr lang="en-US" altLang="ja-JP" sz="2800" i="1" smtClean="0">
                                <a:latin typeface="Cambria Math" panose="02040503050406030204" pitchFamily="18" charset="0"/>
                              </a:rPr>
                              <m:t>≠</m:t>
                            </m:r>
                            <m:r>
                              <a:rPr lang="en-US" altLang="ja-JP" sz="2800" i="1">
                                <a:latin typeface="Cambria Math" panose="02040503050406030204" pitchFamily="18" charset="0"/>
                              </a:rPr>
                              <m:t>𝑗</m:t>
                            </m:r>
                          </m:e>
                        </m:eqArr>
                      </m:e>
                    </m:d>
                  </m:oMath>
                </a14:m>
                <a:endParaRPr lang="en-US" altLang="ja-JP" sz="2800"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95003" y="1104405"/>
                <a:ext cx="12096997" cy="6020085"/>
              </a:xfrm>
              <a:blipFill>
                <a:blip r:embed="rId3"/>
                <a:stretch>
                  <a:fillRect l="-1258" t="-4412" b="-72269"/>
                </a:stretch>
              </a:blipFill>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361263D9-98C6-F382-5A7F-203F96BD5BE0}"/>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p:sp>
        <p:nvSpPr>
          <p:cNvPr id="4" name="角丸四角形 3">
            <a:extLst>
              <a:ext uri="{FF2B5EF4-FFF2-40B4-BE49-F238E27FC236}">
                <a16:creationId xmlns:a16="http://schemas.microsoft.com/office/drawing/2014/main" id="{97A3F0A5-AD71-4775-2660-E45025A035FC}"/>
              </a:ext>
            </a:extLst>
          </p:cNvPr>
          <p:cNvSpPr/>
          <p:nvPr/>
        </p:nvSpPr>
        <p:spPr>
          <a:xfrm>
            <a:off x="308757" y="1828203"/>
            <a:ext cx="11364687" cy="2590197"/>
          </a:xfrm>
          <a:prstGeom prst="roundRect">
            <a:avLst/>
          </a:prstGeom>
          <a:noFill/>
          <a:ln w="254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501C9A8-1363-5F84-100B-078EA8265623}"/>
                  </a:ext>
                </a:extLst>
              </p:cNvPr>
              <p:cNvSpPr txBox="1"/>
              <p:nvPr/>
            </p:nvSpPr>
            <p:spPr>
              <a:xfrm>
                <a:off x="7960617" y="4830036"/>
                <a:ext cx="4326387" cy="961802"/>
              </a:xfrm>
              <a:prstGeom prst="rect">
                <a:avLst/>
              </a:prstGeom>
              <a:noFill/>
            </p:spPr>
            <p:txBody>
              <a:bodyPr wrap="square" rtlCol="0">
                <a:spAutoFit/>
              </a:bodyPr>
              <a:lstStyle/>
              <a:p>
                <a:r>
                  <a:rPr lang="en-US" altLang="ja-JP" sz="2800" dirty="0">
                    <a:latin typeface="+mn-ea"/>
                    <a:cs typeface="ヒラギノ角ゴ Pro W3"/>
                  </a:rPr>
                  <a:t>Knockoff</a:t>
                </a:r>
                <a:r>
                  <a:rPr lang="ja-JP" altLang="en-US" sz="2800">
                    <a:latin typeface="+mn-ea"/>
                    <a:cs typeface="ヒラギノ角ゴ Pro W3"/>
                  </a:rPr>
                  <a:t>変数</a:t>
                </a:r>
                <a14:m>
                  <m:oMath xmlns:m="http://schemas.openxmlformats.org/officeDocument/2006/math">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i="1">
                            <a:latin typeface="Cambria Math" panose="02040503050406030204" pitchFamily="18" charset="0"/>
                          </a:rPr>
                          <m:t>𝑖</m:t>
                        </m:r>
                        <m:r>
                          <a:rPr lang="en-US" altLang="ja-JP" sz="2800" i="1">
                            <a:latin typeface="Cambria Math" panose="02040503050406030204" pitchFamily="18" charset="0"/>
                          </a:rPr>
                          <m:t> </m:t>
                        </m:r>
                      </m:sub>
                    </m:sSub>
                  </m:oMath>
                </a14:m>
                <a:r>
                  <a:rPr lang="ja-JP" altLang="en-US" sz="2800" dirty="0">
                    <a:latin typeface="+mn-ea"/>
                    <a:cs typeface="ヒラギノ角ゴ Pro W3"/>
                  </a:rPr>
                  <a:t>を</a:t>
                </a:r>
                <a:r>
                  <a:rPr lang="ja-JP" altLang="en-US" sz="2800">
                    <a:latin typeface="+mn-ea"/>
                    <a:cs typeface="ヒラギノ角ゴ Pro W3"/>
                  </a:rPr>
                  <a:t>抽出し</a:t>
                </a:r>
                <a:r>
                  <a:rPr lang="en-US" altLang="ja-JP" sz="2800" dirty="0">
                    <a:latin typeface="+mn-ea"/>
                    <a:cs typeface="ヒラギノ角ゴ Pro W3"/>
                  </a:rPr>
                  <a:t>, </a:t>
                </a:r>
              </a:p>
              <a:p>
                <a:r>
                  <a:rPr lang="ja-JP" altLang="en-US" sz="2800">
                    <a:latin typeface="+mn-ea"/>
                    <a:cs typeface="ヒラギノ角ゴ Pro W3"/>
                  </a:rPr>
                  <a:t>行列</a:t>
                </a:r>
                <a14:m>
                  <m:oMath xmlns:m="http://schemas.openxmlformats.org/officeDocument/2006/math">
                    <m:acc>
                      <m:accPr>
                        <m:chr m:val="̃"/>
                        <m:ctrlPr>
                          <a:rPr lang="ja-JP" altLang="en-US" sz="2800" i="1" smtClean="0">
                            <a:latin typeface="Cambria Math" panose="02040503050406030204" pitchFamily="18" charset="0"/>
                          </a:rPr>
                        </m:ctrlPr>
                      </m:accPr>
                      <m:e>
                        <m:r>
                          <a:rPr lang="en-US" altLang="ja-JP" sz="2800" b="0" i="1" smtClean="0">
                            <a:latin typeface="Cambria Math" panose="02040503050406030204" pitchFamily="18" charset="0"/>
                          </a:rPr>
                          <m:t>𝑋</m:t>
                        </m:r>
                      </m:e>
                    </m:acc>
                    <m:r>
                      <a:rPr lang="en-US" altLang="ja-JP" sz="2800" i="1">
                        <a:latin typeface="Cambria Math" panose="02040503050406030204" pitchFamily="18" charset="0"/>
                      </a:rPr>
                      <m:t>=</m:t>
                    </m:r>
                    <m:sSup>
                      <m:sSupPr>
                        <m:ctrlPr>
                          <a:rPr lang="en-US" altLang="ja-JP" sz="2800" i="1">
                            <a:latin typeface="Cambria Math" panose="02040503050406030204" pitchFamily="18" charset="0"/>
                          </a:rPr>
                        </m:ctrlPr>
                      </m:sSupPr>
                      <m:e>
                        <m:d>
                          <m:dPr>
                            <m:ctrlPr>
                              <a:rPr lang="en-US" altLang="ja-JP" sz="2800" i="1">
                                <a:latin typeface="Cambria Math" panose="02040503050406030204" pitchFamily="18" charset="0"/>
                              </a:rPr>
                            </m:ctrlPr>
                          </m:dPr>
                          <m:e>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i="1">
                                    <a:latin typeface="Cambria Math" panose="02040503050406030204" pitchFamily="18" charset="0"/>
                                  </a:rPr>
                                  <m:t>1 </m:t>
                                </m:r>
                              </m:sub>
                            </m:sSub>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i="1">
                                    <a:latin typeface="Cambria Math" panose="02040503050406030204" pitchFamily="18" charset="0"/>
                                  </a:rPr>
                                  <m:t>𝑛</m:t>
                                </m:r>
                                <m:r>
                                  <a:rPr lang="en-US" altLang="ja-JP" sz="2800" i="1">
                                    <a:latin typeface="Cambria Math" panose="02040503050406030204" pitchFamily="18" charset="0"/>
                                  </a:rPr>
                                  <m:t> </m:t>
                                </m:r>
                              </m:sub>
                            </m:sSub>
                          </m:e>
                        </m:d>
                      </m:e>
                      <m:sup>
                        <m:r>
                          <a:rPr lang="en-US" altLang="ja-JP" sz="2800" i="1">
                            <a:latin typeface="Cambria Math" panose="02040503050406030204" pitchFamily="18" charset="0"/>
                          </a:rPr>
                          <m:t>𝑇</m:t>
                        </m:r>
                      </m:sup>
                    </m:sSup>
                  </m:oMath>
                </a14:m>
                <a:r>
                  <a:rPr kumimoji="1" lang="ja-JP" altLang="en-US" sz="2800"/>
                  <a:t>作成</a:t>
                </a:r>
              </a:p>
            </p:txBody>
          </p:sp>
        </mc:Choice>
        <mc:Fallback xmlns="">
          <p:sp>
            <p:nvSpPr>
              <p:cNvPr id="5" name="テキスト ボックス 4">
                <a:extLst>
                  <a:ext uri="{FF2B5EF4-FFF2-40B4-BE49-F238E27FC236}">
                    <a16:creationId xmlns:a16="http://schemas.microsoft.com/office/drawing/2014/main" id="{368DFE7B-3617-BA3A-3922-863734093741}"/>
                  </a:ext>
                </a:extLst>
              </p:cNvPr>
              <p:cNvSpPr txBox="1">
                <a:spLocks noRot="1" noChangeAspect="1" noMove="1" noResize="1" noEditPoints="1" noAdjustHandles="1" noChangeArrowheads="1" noChangeShapeType="1" noTextEdit="1"/>
              </p:cNvSpPr>
              <p:nvPr/>
            </p:nvSpPr>
            <p:spPr>
              <a:xfrm>
                <a:off x="7960617" y="4830036"/>
                <a:ext cx="4326387" cy="961802"/>
              </a:xfrm>
              <a:prstGeom prst="rect">
                <a:avLst/>
              </a:prstGeom>
              <a:blipFill>
                <a:blip r:embed="rId4"/>
                <a:stretch>
                  <a:fillRect l="-2924" t="-6494" r="-3509" b="-15584"/>
                </a:stretch>
              </a:blipFill>
            </p:spPr>
            <p:txBody>
              <a:bodyPr/>
              <a:lstStyle/>
              <a:p>
                <a:r>
                  <a:rPr lang="ja-JP" altLang="en-US">
                    <a:noFill/>
                  </a:rPr>
                  <a:t> </a:t>
                </a:r>
              </a:p>
            </p:txBody>
          </p:sp>
        </mc:Fallback>
      </mc:AlternateContent>
      <p:sp>
        <p:nvSpPr>
          <p:cNvPr id="6" name="右矢印 5">
            <a:extLst>
              <a:ext uri="{FF2B5EF4-FFF2-40B4-BE49-F238E27FC236}">
                <a16:creationId xmlns:a16="http://schemas.microsoft.com/office/drawing/2014/main" id="{48FCCB5C-D3F0-5420-9BA7-2DE3457D7959}"/>
              </a:ext>
            </a:extLst>
          </p:cNvPr>
          <p:cNvSpPr/>
          <p:nvPr/>
        </p:nvSpPr>
        <p:spPr>
          <a:xfrm>
            <a:off x="7021533" y="5040806"/>
            <a:ext cx="889626" cy="503085"/>
          </a:xfrm>
          <a:prstGeom prst="rightArrow">
            <a:avLst>
              <a:gd name="adj1" fmla="val 50000"/>
              <a:gd name="adj2" fmla="val 5000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7" name="テキスト ボックス 6">
            <a:extLst>
              <a:ext uri="{FF2B5EF4-FFF2-40B4-BE49-F238E27FC236}">
                <a16:creationId xmlns:a16="http://schemas.microsoft.com/office/drawing/2014/main" id="{341B9A74-B577-536F-EC1F-1FC4018F703E}"/>
              </a:ext>
            </a:extLst>
          </p:cNvPr>
          <p:cNvSpPr txBox="1"/>
          <p:nvPr/>
        </p:nvSpPr>
        <p:spPr>
          <a:xfrm>
            <a:off x="11074386" y="6333446"/>
            <a:ext cx="1117614" cy="523220"/>
          </a:xfrm>
          <a:prstGeom prst="rect">
            <a:avLst/>
          </a:prstGeom>
          <a:noFill/>
        </p:spPr>
        <p:txBody>
          <a:bodyPr wrap="none" rtlCol="0">
            <a:spAutoFit/>
          </a:bodyPr>
          <a:lstStyle/>
          <a:p>
            <a:r>
              <a:rPr kumimoji="1" lang="en-US" altLang="ja-JP" sz="2800" dirty="0">
                <a:latin typeface="+mj-ea"/>
                <a:ea typeface="+mj-ea"/>
              </a:rPr>
              <a:t>15/28</a:t>
            </a:r>
            <a:endParaRPr kumimoji="1" lang="ja-JP" altLang="en-US" sz="2800">
              <a:latin typeface="+mj-ea"/>
              <a:ea typeface="+mj-ea"/>
            </a:endParaRPr>
          </a:p>
        </p:txBody>
      </p:sp>
    </p:spTree>
    <p:extLst>
      <p:ext uri="{BB962C8B-B14F-4D97-AF65-F5344CB8AC3E}">
        <p14:creationId xmlns:p14="http://schemas.microsoft.com/office/powerpoint/2010/main" val="3851888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BE86-04B4-829D-1DED-F3C5E744553D}"/>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5CDAFAD8-FDBC-BB98-0420-2AC667CCA70D}"/>
              </a:ext>
            </a:extLst>
          </p:cNvPr>
          <p:cNvSpPr txBox="1">
            <a:spLocks/>
          </p:cNvSpPr>
          <p:nvPr/>
        </p:nvSpPr>
        <p:spPr>
          <a:xfrm>
            <a:off x="-1" y="1335"/>
            <a:ext cx="12192001" cy="1316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提案手法</a:t>
            </a:r>
            <a:r>
              <a:rPr lang="en-US" altLang="ja-JP" b="1" dirty="0">
                <a:solidFill>
                  <a:srgbClr val="0070C0"/>
                </a:solidFill>
                <a:latin typeface="+mj-ea"/>
              </a:rPr>
              <a:t>:</a:t>
            </a:r>
            <a:r>
              <a:rPr lang="ja-JP" altLang="en-US" b="1">
                <a:solidFill>
                  <a:srgbClr val="0070C0"/>
                </a:solidFill>
                <a:latin typeface="+mj-ea"/>
              </a:rPr>
              <a:t>スパース主成分分析における　　　</a:t>
            </a:r>
            <a:endParaRPr lang="en-US" altLang="ja-JP" b="1" dirty="0">
              <a:solidFill>
                <a:srgbClr val="0070C0"/>
              </a:solidFill>
              <a:latin typeface="+mj-ea"/>
            </a:endParaRPr>
          </a:p>
          <a:p>
            <a:r>
              <a:rPr lang="ja-JP" altLang="en-US" b="1">
                <a:solidFill>
                  <a:srgbClr val="0070C0"/>
                </a:solidFill>
                <a:latin typeface="+mj-ea"/>
              </a:rPr>
              <a:t>　　　　　　　　　　　　　　　　</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12" name="コンテンツ プレースホルダー 2">
                <a:extLst>
                  <a:ext uri="{FF2B5EF4-FFF2-40B4-BE49-F238E27FC236}">
                    <a16:creationId xmlns:a16="http://schemas.microsoft.com/office/drawing/2014/main" id="{F1CBBF58-563C-D978-92EE-9DD3608B17AA}"/>
                  </a:ext>
                </a:extLst>
              </p:cNvPr>
              <p:cNvSpPr>
                <a:spLocks noGrp="1"/>
              </p:cNvSpPr>
              <p:nvPr>
                <p:ph idx="1"/>
              </p:nvPr>
            </p:nvSpPr>
            <p:spPr>
              <a:xfrm>
                <a:off x="10232" y="1161341"/>
                <a:ext cx="12171534" cy="5678129"/>
              </a:xfrm>
            </p:spPr>
            <p:txBody>
              <a:bodyPr>
                <a:noAutofit/>
              </a:bodyPr>
              <a:lstStyle/>
              <a:p>
                <a:pPr marL="0" indent="0">
                  <a:buNone/>
                </a:pPr>
                <a:r>
                  <a:rPr lang="ja-JP" altLang="en-US" sz="3200">
                    <a:solidFill>
                      <a:srgbClr val="7030A0"/>
                    </a:solidFill>
                    <a:latin typeface="+mn-ea"/>
                    <a:cs typeface="ヒラギノ角ゴ Pro W3"/>
                  </a:rPr>
                  <a:t>手順</a:t>
                </a:r>
                <a:r>
                  <a:rPr lang="en-US" altLang="ja-JP" sz="3200" dirty="0">
                    <a:solidFill>
                      <a:srgbClr val="7030A0"/>
                    </a:solidFill>
                    <a:latin typeface="+mn-ea"/>
                    <a:cs typeface="ヒラギノ角ゴ Pro W3"/>
                  </a:rPr>
                  <a:t>2. </a:t>
                </a:r>
                <a:r>
                  <a:rPr lang="ja-JP" altLang="en-US" sz="3200">
                    <a:solidFill>
                      <a:srgbClr val="7030A0"/>
                    </a:solidFill>
                    <a:latin typeface="+mn-ea"/>
                    <a:cs typeface="ヒラギノ角ゴ Pro W3"/>
                  </a:rPr>
                  <a:t>　</a:t>
                </a:r>
                <a:r>
                  <a:rPr kumimoji="1" lang="ja-JP" altLang="en-US" sz="3200">
                    <a:solidFill>
                      <a:srgbClr val="7030A0"/>
                    </a:solidFill>
                    <a:latin typeface="+mn-ea"/>
                    <a:cs typeface="ヒラギノ角ゴ Pro W3"/>
                  </a:rPr>
                  <a:t>統計量</a:t>
                </a:r>
                <a14:m>
                  <m:oMath xmlns:m="http://schemas.openxmlformats.org/officeDocument/2006/math">
                    <m:sSub>
                      <m:sSubPr>
                        <m:ctrlPr>
                          <a:rPr kumimoji="1" lang="en-US" altLang="ja-JP" sz="3200" b="0" i="1" smtClean="0">
                            <a:solidFill>
                              <a:srgbClr val="7030A0"/>
                            </a:solidFill>
                            <a:latin typeface="Cambria Math" panose="02040503050406030204" pitchFamily="18" charset="0"/>
                            <a:cs typeface="ヒラギノ角ゴ Pro W3"/>
                          </a:rPr>
                        </m:ctrlPr>
                      </m:sSubPr>
                      <m:e>
                        <m:r>
                          <a:rPr kumimoji="1" lang="en-US" altLang="ja-JP" sz="3200" b="1" i="1" smtClean="0">
                            <a:solidFill>
                              <a:srgbClr val="7030A0"/>
                            </a:solidFill>
                            <a:latin typeface="Cambria Math" panose="02040503050406030204" pitchFamily="18" charset="0"/>
                            <a:cs typeface="ヒラギノ角ゴ Pro W3"/>
                          </a:rPr>
                          <m:t>𝑾</m:t>
                        </m:r>
                      </m:e>
                      <m:sub>
                        <m:r>
                          <a:rPr kumimoji="1" lang="en-US" altLang="ja-JP" sz="3200" b="0" i="1" smtClean="0">
                            <a:solidFill>
                              <a:srgbClr val="7030A0"/>
                            </a:solidFill>
                            <a:latin typeface="Cambria Math" panose="02040503050406030204" pitchFamily="18" charset="0"/>
                            <a:cs typeface="ヒラギノ角ゴ Pro W3"/>
                          </a:rPr>
                          <m:t>𝑘</m:t>
                        </m:r>
                      </m:sub>
                    </m:sSub>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400" dirty="0">
                  <a:solidFill>
                    <a:srgbClr val="7030A0"/>
                  </a:solidFill>
                  <a:latin typeface="+mn-ea"/>
                  <a:cs typeface="ヒラギノ角ゴ Pro W3"/>
                </a:endParaRPr>
              </a:p>
              <a:p>
                <a:pPr marL="0" indent="0">
                  <a:buNone/>
                </a:pPr>
                <a:r>
                  <a:rPr lang="ja-JP" altLang="en-US">
                    <a:latin typeface="+mn-ea"/>
                    <a:cs typeface="ヒラギノ角ゴ Pro W3"/>
                  </a:rPr>
                  <a:t>・</a:t>
                </a:r>
                <a:r>
                  <a:rPr kumimoji="1" lang="en-US" altLang="ja-JP" dirty="0" err="1">
                    <a:latin typeface="+mn-ea"/>
                    <a:cs typeface="ヒラギノ角ゴ Pro W3"/>
                  </a:rPr>
                  <a:t>SCoTLASS</a:t>
                </a:r>
                <a:r>
                  <a:rPr kumimoji="1" lang="ja-JP" altLang="en-US">
                    <a:latin typeface="+mn-ea"/>
                    <a:cs typeface="ヒラギノ角ゴ Pro W3"/>
                  </a:rPr>
                  <a:t>の拡張版</a:t>
                </a:r>
                <a:r>
                  <a:rPr kumimoji="1" lang="en-US" altLang="ja-JP" dirty="0">
                    <a:latin typeface="+mn-ea"/>
                    <a:cs typeface="ヒラギノ角ゴ Pro W3"/>
                  </a:rPr>
                  <a:t> </a:t>
                </a:r>
                <a14:m>
                  <m:oMath xmlns:m="http://schemas.openxmlformats.org/officeDocument/2006/math">
                    <m:r>
                      <m:rPr>
                        <m:nor/>
                      </m:rPr>
                      <a:rPr lang="en-US" altLang="ja-JP" dirty="0" smtClean="0">
                        <a:latin typeface="+mn-ea"/>
                        <a:cs typeface="ヒラギノ角ゴ Pro W3"/>
                      </a:rPr>
                      <m:t>(</m:t>
                    </m:r>
                    <m:r>
                      <m:rPr>
                        <m:nor/>
                      </m:rPr>
                      <a:rPr lang="en-US" altLang="ja-JP" dirty="0" smtClean="0">
                        <a:latin typeface="+mn-ea"/>
                        <a:cs typeface="ヒラギノ角ゴ Pro W3"/>
                      </a:rPr>
                      <m:t>Witten</m:t>
                    </m:r>
                    <m:r>
                      <m:rPr>
                        <m:nor/>
                      </m:rPr>
                      <a:rPr lang="en-US" altLang="ja-JP" dirty="0" smtClean="0">
                        <a:latin typeface="+mn-ea"/>
                        <a:cs typeface="ヒラギノ角ゴ Pro W3"/>
                      </a:rPr>
                      <m:t> </m:t>
                    </m:r>
                    <m:r>
                      <m:rPr>
                        <m:nor/>
                      </m:rPr>
                      <a:rPr lang="en-US" altLang="ja-JP" dirty="0" smtClean="0">
                        <a:latin typeface="+mn-ea"/>
                        <a:cs typeface="ヒラギノ角ゴ Pro W3"/>
                      </a:rPr>
                      <m:t>et</m:t>
                    </m:r>
                    <m:r>
                      <m:rPr>
                        <m:nor/>
                      </m:rPr>
                      <a:rPr lang="en-US" altLang="ja-JP" dirty="0" smtClean="0">
                        <a:latin typeface="+mn-ea"/>
                        <a:cs typeface="ヒラギノ角ゴ Pro W3"/>
                      </a:rPr>
                      <m:t> </m:t>
                    </m:r>
                    <m:r>
                      <m:rPr>
                        <m:nor/>
                      </m:rPr>
                      <a:rPr lang="en-US" altLang="ja-JP" dirty="0" smtClean="0">
                        <a:latin typeface="+mn-ea"/>
                        <a:cs typeface="ヒラギノ角ゴ Pro W3"/>
                      </a:rPr>
                      <m:t>al</m:t>
                    </m:r>
                    <m:r>
                      <m:rPr>
                        <m:nor/>
                      </m:rPr>
                      <a:rPr lang="en-US" altLang="ja-JP" dirty="0" smtClean="0">
                        <a:latin typeface="+mn-ea"/>
                        <a:cs typeface="ヒラギノ角ゴ Pro W3"/>
                      </a:rPr>
                      <m:t>., 2009)</m:t>
                    </m:r>
                  </m:oMath>
                </a14:m>
                <a:endParaRPr kumimoji="1" lang="en-US" altLang="ja-JP" dirty="0">
                  <a:latin typeface="+mn-ea"/>
                  <a:cs typeface="ヒラギノ角ゴ Pro W3"/>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ja-JP" sz="3200" b="0" i="1" smtClean="0">
                              <a:latin typeface="Cambria Math" panose="02040503050406030204" pitchFamily="18" charset="0"/>
                            </a:rPr>
                          </m:ctrlPr>
                        </m:sSubPr>
                        <m:e>
                          <m:acc>
                            <m:accPr>
                              <m:chr m:val="̂"/>
                              <m:ctrlPr>
                                <a:rPr lang="en-US" altLang="ja-JP" sz="3200" b="0" i="1" smtClean="0">
                                  <a:latin typeface="Cambria Math" panose="02040503050406030204" pitchFamily="18" charset="0"/>
                                </a:rPr>
                              </m:ctrlPr>
                            </m:accPr>
                            <m:e>
                              <m:r>
                                <a:rPr lang="en-US" altLang="ja-JP" sz="3200" b="1" i="1" smtClean="0">
                                  <a:latin typeface="Cambria Math" panose="02040503050406030204" pitchFamily="18" charset="0"/>
                                </a:rPr>
                                <m:t>𝒗</m:t>
                              </m:r>
                            </m:e>
                          </m:acc>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m:t>
                      </m:r>
                      <m:func>
                        <m:funcPr>
                          <m:ctrlPr>
                            <a:rPr lang="en-US" altLang="ja-JP" sz="3200" i="1" smtClean="0">
                              <a:latin typeface="Cambria Math" panose="02040503050406030204" pitchFamily="18" charset="0"/>
                            </a:rPr>
                          </m:ctrlPr>
                        </m:funcPr>
                        <m:fName>
                          <m:limLow>
                            <m:limLowPr>
                              <m:ctrlPr>
                                <a:rPr lang="en-US" altLang="ja-JP" sz="3200" i="1">
                                  <a:latin typeface="Cambria Math" panose="02040503050406030204" pitchFamily="18" charset="0"/>
                                </a:rPr>
                              </m:ctrlPr>
                            </m:limLowPr>
                            <m:e>
                              <m:r>
                                <m:rPr>
                                  <m:sty m:val="p"/>
                                </m:rPr>
                                <a:rPr lang="en-US" altLang="ja-JP" sz="3200" b="0" i="0" smtClean="0">
                                  <a:latin typeface="Cambria Math" panose="02040503050406030204" pitchFamily="18" charset="0"/>
                                </a:rPr>
                                <m:t>argmax</m:t>
                              </m:r>
                            </m:e>
                            <m:lim>
                              <m:r>
                                <a:rPr lang="en-US" altLang="ja-JP" sz="3200" b="1" i="1" smtClean="0">
                                  <a:latin typeface="Cambria Math" panose="02040503050406030204" pitchFamily="18" charset="0"/>
                                </a:rPr>
                                <m:t> </m:t>
                              </m:r>
                              <m:r>
                                <a:rPr lang="en-US" altLang="ja-JP" sz="3200" b="1" i="1" smtClean="0">
                                  <a:latin typeface="Cambria Math" panose="02040503050406030204" pitchFamily="18" charset="0"/>
                                </a:rPr>
                                <m:t>𝒗</m:t>
                              </m:r>
                            </m:lim>
                          </m:limLow>
                        </m:fName>
                        <m:e>
                          <m:sSubSup>
                            <m:sSubSupPr>
                              <m:ctrlPr>
                                <a:rPr lang="en-US" altLang="ja-JP" sz="3200" b="0" i="1" smtClean="0">
                                  <a:latin typeface="Cambria Math" panose="02040503050406030204" pitchFamily="18" charset="0"/>
                                  <a:ea typeface="Cambria Math" panose="02040503050406030204" pitchFamily="18" charset="0"/>
                                </a:rPr>
                              </m:ctrlPr>
                            </m:sSubSupPr>
                            <m:e>
                              <m:r>
                                <a:rPr lang="en-US" altLang="ja-JP" sz="3200" b="1" i="1" smtClean="0">
                                  <a:latin typeface="Cambria Math" panose="02040503050406030204" pitchFamily="18" charset="0"/>
                                  <a:ea typeface="Cambria Math" panose="02040503050406030204" pitchFamily="18" charset="0"/>
                                </a:rPr>
                                <m:t>𝒗</m:t>
                              </m:r>
                            </m:e>
                            <m:sub>
                              <m:r>
                                <a:rPr lang="en-US" altLang="ja-JP" sz="3200" b="0" i="1" smtClean="0">
                                  <a:latin typeface="Cambria Math" panose="02040503050406030204" pitchFamily="18" charset="0"/>
                                  <a:ea typeface="Cambria Math" panose="02040503050406030204" pitchFamily="18" charset="0"/>
                                </a:rPr>
                                <m:t>𝑘</m:t>
                              </m:r>
                            </m:sub>
                            <m:sup>
                              <m:r>
                                <a:rPr lang="en-US" altLang="ja-JP" sz="3200" b="0" i="1" smtClean="0">
                                  <a:latin typeface="Cambria Math" panose="02040503050406030204" pitchFamily="18" charset="0"/>
                                  <a:ea typeface="Cambria Math" panose="02040503050406030204" pitchFamily="18" charset="0"/>
                                </a:rPr>
                                <m:t>𝑇</m:t>
                              </m:r>
                            </m:sup>
                          </m:sSubSup>
                          <m:sSup>
                            <m:sSupPr>
                              <m:ctrlPr>
                                <a:rPr lang="en-US" altLang="ja-JP" sz="3200" b="0" i="1" smtClean="0">
                                  <a:latin typeface="Cambria Math" panose="02040503050406030204" pitchFamily="18" charset="0"/>
                                  <a:ea typeface="Cambria Math" panose="02040503050406030204" pitchFamily="18" charset="0"/>
                                </a:rPr>
                              </m:ctrlPr>
                            </m:sSupPr>
                            <m:e>
                              <m:d>
                                <m:dPr>
                                  <m:begChr m:val="["/>
                                  <m:endChr m:val="]"/>
                                  <m:ctrlPr>
                                    <a:rPr lang="en-US" altLang="ja-JP" sz="3200" b="0" i="1" smtClean="0">
                                      <a:latin typeface="Cambria Math" panose="02040503050406030204" pitchFamily="18" charset="0"/>
                                      <a:ea typeface="Cambria Math" panose="02040503050406030204" pitchFamily="18" charset="0"/>
                                    </a:rPr>
                                  </m:ctrlPr>
                                </m:dPr>
                                <m:e>
                                  <m:r>
                                    <a:rPr lang="en-US" altLang="ja-JP" sz="3200" b="0" i="1" smtClean="0">
                                      <a:latin typeface="Cambria Math" panose="02040503050406030204" pitchFamily="18" charset="0"/>
                                      <a:ea typeface="Cambria Math" panose="02040503050406030204" pitchFamily="18" charset="0"/>
                                    </a:rPr>
                                    <m:t>𝑋</m:t>
                                  </m:r>
                                  <m:r>
                                    <a:rPr lang="en-US" altLang="ja-JP" sz="3200" b="0" i="1" smtClean="0">
                                      <a:latin typeface="Cambria Math" panose="02040503050406030204" pitchFamily="18" charset="0"/>
                                      <a:ea typeface="Cambria Math" panose="02040503050406030204" pitchFamily="18" charset="0"/>
                                    </a:rPr>
                                    <m:t>,</m:t>
                                  </m:r>
                                  <m:acc>
                                    <m:accPr>
                                      <m:chr m:val="̃"/>
                                      <m:ctrlPr>
                                        <a:rPr lang="en-US" altLang="ja-JP" sz="3200" b="0" i="1" smtClean="0">
                                          <a:latin typeface="Cambria Math" panose="02040503050406030204" pitchFamily="18" charset="0"/>
                                          <a:ea typeface="Cambria Math" panose="02040503050406030204" pitchFamily="18" charset="0"/>
                                        </a:rPr>
                                      </m:ctrlPr>
                                    </m:accPr>
                                    <m:e>
                                      <m:r>
                                        <a:rPr lang="en-US" altLang="ja-JP" sz="3200" b="0" i="1" smtClean="0">
                                          <a:latin typeface="Cambria Math" panose="02040503050406030204" pitchFamily="18" charset="0"/>
                                          <a:ea typeface="Cambria Math" panose="02040503050406030204" pitchFamily="18" charset="0"/>
                                        </a:rPr>
                                        <m:t>𝑋</m:t>
                                      </m:r>
                                    </m:e>
                                  </m:acc>
                                </m:e>
                              </m:d>
                            </m:e>
                            <m:sup>
                              <m:r>
                                <a:rPr lang="en-US" altLang="ja-JP" sz="3200" b="0" i="1" smtClean="0">
                                  <a:latin typeface="Cambria Math" panose="02040503050406030204" pitchFamily="18" charset="0"/>
                                  <a:ea typeface="Cambria Math" panose="02040503050406030204" pitchFamily="18" charset="0"/>
                                </a:rPr>
                                <m:t>𝑇</m:t>
                              </m:r>
                            </m:sup>
                          </m:sSup>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ea typeface="Cambria Math" panose="02040503050406030204" pitchFamily="18" charset="0"/>
                            </a:rPr>
                            <m:t>𝑋</m:t>
                          </m:r>
                          <m:r>
                            <a:rPr lang="en-US" altLang="ja-JP" sz="3200" i="1">
                              <a:latin typeface="Cambria Math" panose="02040503050406030204" pitchFamily="18" charset="0"/>
                              <a:ea typeface="Cambria Math" panose="02040503050406030204" pitchFamily="18" charset="0"/>
                            </a:rPr>
                            <m:t>,</m:t>
                          </m:r>
                          <m:acc>
                            <m:accPr>
                              <m:chr m:val="̃"/>
                              <m:ctrlPr>
                                <a:rPr lang="en-US" altLang="ja-JP" sz="3200" i="1">
                                  <a:latin typeface="Cambria Math" panose="02040503050406030204" pitchFamily="18" charset="0"/>
                                  <a:ea typeface="Cambria Math" panose="02040503050406030204" pitchFamily="18" charset="0"/>
                                </a:rPr>
                              </m:ctrlPr>
                            </m:accPr>
                            <m:e>
                              <m:r>
                                <a:rPr lang="en-US" altLang="ja-JP" sz="3200" i="1">
                                  <a:latin typeface="Cambria Math" panose="02040503050406030204" pitchFamily="18" charset="0"/>
                                  <a:ea typeface="Cambria Math" panose="02040503050406030204" pitchFamily="18" charset="0"/>
                                </a:rPr>
                                <m:t>𝑋</m:t>
                              </m:r>
                            </m:e>
                          </m:acc>
                          <m:r>
                            <a:rPr lang="en-US" altLang="ja-JP" sz="3200" i="1">
                              <a:latin typeface="Cambria Math" panose="02040503050406030204" pitchFamily="18" charset="0"/>
                              <a:ea typeface="Cambria Math" panose="02040503050406030204" pitchFamily="18" charset="0"/>
                            </a:rPr>
                            <m:t>]</m:t>
                          </m:r>
                        </m:e>
                      </m:func>
                      <m:sSub>
                        <m:sSubPr>
                          <m:ctrlPr>
                            <a:rPr lang="en-US" altLang="ja-JP" sz="3200" b="0" i="1" smtClean="0">
                              <a:latin typeface="Cambria Math" panose="02040503050406030204" pitchFamily="18" charset="0"/>
                            </a:rPr>
                          </m:ctrlPr>
                        </m:sSubPr>
                        <m:e>
                          <m:r>
                            <a:rPr lang="en-US" altLang="ja-JP" sz="3200" b="1" i="1" smtClean="0">
                              <a:latin typeface="Cambria Math" panose="02040503050406030204" pitchFamily="18" charset="0"/>
                            </a:rPr>
                            <m:t>𝒗</m:t>
                          </m:r>
                        </m:e>
                        <m:sub>
                          <m:r>
                            <a:rPr lang="en-US" altLang="ja-JP" sz="3200" b="0" i="1" smtClean="0">
                              <a:latin typeface="Cambria Math" panose="02040503050406030204" pitchFamily="18" charset="0"/>
                            </a:rPr>
                            <m:t>𝑘</m:t>
                          </m:r>
                        </m:sub>
                      </m:sSub>
                      <m:r>
                        <a:rPr lang="en-US" altLang="ja-JP" sz="3200" b="0" i="1" smtClean="0">
                          <a:latin typeface="Cambria Math" panose="02040503050406030204" pitchFamily="18" charset="0"/>
                        </a:rPr>
                        <m:t>    </m:t>
                      </m:r>
                      <m:r>
                        <m:rPr>
                          <m:sty m:val="p"/>
                        </m:rPr>
                        <a:rPr lang="en-US" altLang="ja-JP" sz="3200" b="0" i="0" smtClean="0">
                          <a:latin typeface="Cambria Math" panose="02040503050406030204" pitchFamily="18" charset="0"/>
                        </a:rPr>
                        <m:t>subject</m:t>
                      </m:r>
                      <m:r>
                        <a:rPr lang="en-US" altLang="ja-JP" sz="3200" b="0" i="0" smtClean="0">
                          <a:latin typeface="Cambria Math" panose="02040503050406030204" pitchFamily="18" charset="0"/>
                        </a:rPr>
                        <m:t> </m:t>
                      </m:r>
                      <m:r>
                        <m:rPr>
                          <m:sty m:val="p"/>
                        </m:rPr>
                        <a:rPr lang="en-US" altLang="ja-JP" sz="3200" b="0" i="0" smtClean="0">
                          <a:latin typeface="Cambria Math" panose="02040503050406030204" pitchFamily="18" charset="0"/>
                        </a:rPr>
                        <m:t>to</m:t>
                      </m:r>
                      <m:r>
                        <a:rPr lang="en-US" altLang="ja-JP" sz="3200" b="0" i="1" smtClean="0">
                          <a:latin typeface="Cambria Math" panose="02040503050406030204" pitchFamily="18" charset="0"/>
                        </a:rPr>
                        <m:t>   </m:t>
                      </m:r>
                      <m:sSubSup>
                        <m:sSubSupPr>
                          <m:ctrlPr>
                            <a:rPr lang="en-US" altLang="ja-JP" sz="3200" b="0" i="1" smtClean="0">
                              <a:latin typeface="Cambria Math" panose="02040503050406030204" pitchFamily="18" charset="0"/>
                            </a:rPr>
                          </m:ctrlPr>
                        </m:sSubSupPr>
                        <m:e>
                          <m:d>
                            <m:dPr>
                              <m:begChr m:val="‖"/>
                              <m:endChr m:val="‖"/>
                              <m:ctrlPr>
                                <a:rPr lang="en-US" altLang="ja-JP" sz="3200" b="0" i="1" smtClean="0">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2</m:t>
                          </m:r>
                        </m:sub>
                        <m:sup>
                          <m:r>
                            <a:rPr lang="en-US" altLang="ja-JP" sz="3200" b="0" i="1" smtClean="0">
                              <a:latin typeface="Cambria Math" panose="02040503050406030204" pitchFamily="18" charset="0"/>
                            </a:rPr>
                            <m:t>2</m:t>
                          </m:r>
                        </m:sup>
                      </m:sSubSup>
                      <m:r>
                        <a:rPr lang="en-US" altLang="ja-JP" sz="3200" i="1">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rPr>
                        <m:t>1,</m:t>
                      </m:r>
                      <m:sSub>
                        <m:sSubPr>
                          <m:ctrlPr>
                            <a:rPr lang="en-US" altLang="ja-JP" sz="3200" b="0" i="1" smtClean="0">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b="1" i="1">
                                      <a:latin typeface="Cambria Math" panose="02040503050406030204" pitchFamily="18" charset="0"/>
                                    </a:rPr>
                                    <m:t>𝒗</m:t>
                                  </m:r>
                                </m:e>
                                <m:sub>
                                  <m:r>
                                    <a:rPr lang="en-US" altLang="ja-JP" sz="3200" i="1">
                                      <a:latin typeface="Cambria Math" panose="02040503050406030204" pitchFamily="18" charset="0"/>
                                    </a:rPr>
                                    <m:t>𝑘</m:t>
                                  </m:r>
                                </m:sub>
                              </m:sSub>
                            </m:e>
                          </m:d>
                        </m:e>
                        <m:sub>
                          <m:r>
                            <a:rPr lang="en-US" altLang="ja-JP" sz="3200" b="0" i="1" smtClean="0">
                              <a:latin typeface="Cambria Math" panose="02040503050406030204" pitchFamily="18" charset="0"/>
                            </a:rPr>
                            <m:t>1</m:t>
                          </m:r>
                        </m:sub>
                      </m:sSub>
                      <m:r>
                        <a:rPr lang="en-US" altLang="ja-JP" sz="3200" b="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𝑐</m:t>
                      </m:r>
                    </m:oMath>
                  </m:oMathPara>
                </a14:m>
                <a:endParaRPr lang="en-US" altLang="ja-JP" sz="3200" b="0" i="1" dirty="0">
                  <a:latin typeface="Cambria Math" panose="02040503050406030204" pitchFamily="18" charset="0"/>
                  <a:ea typeface="Cambria Math" panose="02040503050406030204" pitchFamily="18" charset="0"/>
                </a:endParaRPr>
              </a:p>
              <a:p>
                <a:pPr marL="0" indent="0" algn="ctr">
                  <a:buNone/>
                </a:pPr>
                <a:r>
                  <a:rPr lang="ja-JP" altLang="en-US">
                    <a:cs typeface="ヒラギノ角ゴ Pro W3"/>
                  </a:rPr>
                  <a:t>　　　　　　　　</a:t>
                </a:r>
                <a:endParaRPr kumimoji="1" lang="en-US" altLang="ja-JP" b="0" i="1" dirty="0">
                  <a:latin typeface="Cambria Math" panose="02040503050406030204" pitchFamily="18" charset="0"/>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lang="en-US" altLang="ja-JP" dirty="0">
                  <a:latin typeface="ヒラギノ角ゴ Pro W3"/>
                  <a:ea typeface="ヒラギノ角ゴ Pro W3"/>
                  <a:cs typeface="ヒラギノ角ゴ Pro W3"/>
                </a:endParaRPr>
              </a:p>
              <a:p>
                <a:pPr marL="0" indent="0" algn="ctr">
                  <a:buNone/>
                </a:pPr>
                <a:endParaRPr kumimoji="1" lang="en-US" altLang="ja-JP" dirty="0">
                  <a:latin typeface="ヒラギノ角ゴ Pro W3"/>
                  <a:ea typeface="ヒラギノ角ゴ Pro W3"/>
                  <a:cs typeface="ヒラギノ角ゴ Pro W3"/>
                </a:endParaRPr>
              </a:p>
              <a:p>
                <a:pPr marL="0" indent="0" algn="ctr">
                  <a:buNone/>
                </a:pPr>
                <a:endParaRPr kumimoji="1" lang="ja-JP" altLang="en-US" sz="800" dirty="0">
                  <a:latin typeface="ヒラギノ角ゴ Pro W3"/>
                  <a:ea typeface="ヒラギノ角ゴ Pro W3"/>
                  <a:cs typeface="ヒラギノ角ゴ Pro W3"/>
                </a:endParaRPr>
              </a:p>
              <a:p>
                <a:pPr marL="0" indent="0">
                  <a:buClr>
                    <a:schemeClr val="accent3"/>
                  </a:buClr>
                  <a:buNone/>
                </a:pPr>
                <a:r>
                  <a:rPr lang="en-US" altLang="ja-JP" dirty="0">
                    <a:solidFill>
                      <a:schemeClr val="tx1"/>
                    </a:solidFill>
                    <a:ea typeface="ヒラギノ角ゴ Pro W3"/>
                    <a:cs typeface="ヒラギノ角ゴ Pro W3"/>
                  </a:rPr>
                  <a:t>                  </a:t>
                </a:r>
                <a14:m>
                  <m:oMath xmlns:m="http://schemas.openxmlformats.org/officeDocument/2006/math">
                    <m:sSub>
                      <m:sSubPr>
                        <m:ctrlPr>
                          <a:rPr kumimoji="1" lang="en-US" altLang="ja-JP" sz="3200" b="0" i="1" smtClean="0">
                            <a:solidFill>
                              <a:schemeClr val="tx1"/>
                            </a:solidFill>
                            <a:latin typeface="Cambria Math" panose="02040503050406030204" pitchFamily="18" charset="0"/>
                            <a:ea typeface="ヒラギノ角ゴ Pro W3"/>
                            <a:cs typeface="ヒラギノ角ゴ Pro W3"/>
                          </a:rPr>
                        </m:ctrlPr>
                      </m:sSubPr>
                      <m:e>
                        <m:r>
                          <a:rPr kumimoji="1" lang="en-US" altLang="ja-JP" sz="3200" b="0" i="1" smtClean="0">
                            <a:solidFill>
                              <a:schemeClr val="tx1"/>
                            </a:solidFill>
                            <a:latin typeface="Cambria Math" panose="02040503050406030204" pitchFamily="18" charset="0"/>
                            <a:ea typeface="ヒラギノ角ゴ Pro W3"/>
                            <a:cs typeface="ヒラギノ角ゴ Pro W3"/>
                          </a:rPr>
                          <m:t>𝑊</m:t>
                        </m:r>
                      </m:e>
                      <m:sub>
                        <m:r>
                          <a:rPr kumimoji="1" lang="en-US" altLang="ja-JP" sz="3200" b="0" i="1" smtClean="0">
                            <a:solidFill>
                              <a:schemeClr val="tx1"/>
                            </a:solidFill>
                            <a:latin typeface="Cambria Math" panose="02040503050406030204" pitchFamily="18" charset="0"/>
                            <a:ea typeface="ヒラギノ角ゴ Pro W3"/>
                            <a:cs typeface="ヒラギノ角ゴ Pro W3"/>
                          </a:rPr>
                          <m:t>𝑘𝑗</m:t>
                        </m:r>
                      </m:sub>
                    </m:sSub>
                    <m:r>
                      <a:rPr kumimoji="1" lang="en-US" altLang="ja-JP" sz="3200" b="0" i="1" smtClean="0">
                        <a:solidFill>
                          <a:schemeClr val="tx1"/>
                        </a:solidFill>
                        <a:latin typeface="Cambria Math" panose="02040503050406030204" pitchFamily="18" charset="0"/>
                        <a:ea typeface="ヒラギノ角ゴ Pro W3"/>
                        <a:cs typeface="ヒラギノ角ゴ Pro W3"/>
                      </a:rPr>
                      <m:t>=</m:t>
                    </m:r>
                    <m:sSub>
                      <m:sSubPr>
                        <m:ctrlPr>
                          <a:rPr lang="en-US" altLang="ja-JP" sz="3200" i="1">
                            <a:solidFill>
                              <a:schemeClr val="tx1"/>
                            </a:solidFill>
                            <a:latin typeface="Cambria Math" panose="02040503050406030204" pitchFamily="18" charset="0"/>
                            <a:cs typeface="ヒラギノ角ゴ Pro W3"/>
                          </a:rPr>
                        </m:ctrlPr>
                      </m:sSubPr>
                      <m:e>
                        <m:r>
                          <a:rPr lang="en-US" altLang="ja-JP" sz="3200" i="1">
                            <a:solidFill>
                              <a:schemeClr val="tx1"/>
                            </a:solidFill>
                            <a:latin typeface="Cambria Math" panose="02040503050406030204" pitchFamily="18" charset="0"/>
                            <a:cs typeface="ヒラギノ角ゴ Pro W3"/>
                          </a:rPr>
                          <m:t>𝑍</m:t>
                        </m:r>
                      </m:e>
                      <m:sub>
                        <m:r>
                          <a:rPr lang="en-US" altLang="ja-JP" sz="3200" b="0" i="1" smtClean="0">
                            <a:solidFill>
                              <a:schemeClr val="tx1"/>
                            </a:solidFill>
                            <a:latin typeface="Cambria Math" panose="02040503050406030204" pitchFamily="18" charset="0"/>
                            <a:cs typeface="ヒラギノ角ゴ Pro W3"/>
                          </a:rPr>
                          <m:t>𝑘</m:t>
                        </m:r>
                        <m:r>
                          <a:rPr lang="en-US" altLang="ja-JP" sz="3200" i="1">
                            <a:solidFill>
                              <a:schemeClr val="tx1"/>
                            </a:solidFill>
                            <a:latin typeface="Cambria Math" panose="02040503050406030204" pitchFamily="18" charset="0"/>
                            <a:cs typeface="ヒラギノ角ゴ Pro W3"/>
                          </a:rPr>
                          <m:t>𝑗</m:t>
                        </m:r>
                      </m:sub>
                    </m:sSub>
                    <m:r>
                      <a:rPr lang="en-US" altLang="ja-JP" sz="3200" i="1">
                        <a:solidFill>
                          <a:schemeClr val="tx1"/>
                        </a:solidFill>
                        <a:latin typeface="Cambria Math" panose="02040503050406030204" pitchFamily="18" charset="0"/>
                        <a:ea typeface="Cambria Math" panose="02040503050406030204" pitchFamily="18" charset="0"/>
                        <a:cs typeface="ヒラギノ角ゴ Pro W3"/>
                      </a:rPr>
                      <m:t>∧</m:t>
                    </m:r>
                    <m:sSub>
                      <m:sSubPr>
                        <m:ctrlPr>
                          <a:rPr lang="en-US" altLang="ja-JP" sz="3200" i="1">
                            <a:solidFill>
                              <a:schemeClr val="tx1"/>
                            </a:solidFill>
                            <a:latin typeface="Cambria Math" panose="02040503050406030204" pitchFamily="18" charset="0"/>
                          </a:rPr>
                        </m:ctrlPr>
                      </m:sSubPr>
                      <m:e>
                        <m:acc>
                          <m:accPr>
                            <m:chr m:val="̃"/>
                            <m:ctrlPr>
                              <a:rPr lang="en-US" altLang="ja-JP" sz="3200" i="1">
                                <a:solidFill>
                                  <a:schemeClr val="tx1"/>
                                </a:solidFill>
                                <a:latin typeface="Cambria Math" panose="02040503050406030204" pitchFamily="18" charset="0"/>
                              </a:rPr>
                            </m:ctrlPr>
                          </m:accPr>
                          <m:e>
                            <m:r>
                              <a:rPr lang="en-US" altLang="ja-JP" sz="3200" i="1">
                                <a:solidFill>
                                  <a:schemeClr val="tx1"/>
                                </a:solidFill>
                                <a:latin typeface="Cambria Math" panose="02040503050406030204" pitchFamily="18" charset="0"/>
                              </a:rPr>
                              <m:t>𝑍</m:t>
                            </m:r>
                          </m:e>
                        </m:acc>
                      </m:e>
                      <m:sub>
                        <m:r>
                          <a:rPr lang="en-US" altLang="ja-JP" sz="3200" b="0" i="1" smtClean="0">
                            <a:solidFill>
                              <a:schemeClr val="tx1"/>
                            </a:solidFill>
                            <a:latin typeface="Cambria Math" panose="02040503050406030204" pitchFamily="18" charset="0"/>
                          </a:rPr>
                          <m:t>𝑘</m:t>
                        </m:r>
                        <m:r>
                          <a:rPr lang="en-US" altLang="ja-JP" sz="3200" b="0" i="1" smtClean="0">
                            <a:solidFill>
                              <a:schemeClr val="tx1"/>
                            </a:solidFill>
                            <a:latin typeface="Cambria Math" panose="02040503050406030204" pitchFamily="18" charset="0"/>
                          </a:rPr>
                          <m:t>(</m:t>
                        </m:r>
                        <m:r>
                          <a:rPr lang="en-US" altLang="ja-JP" sz="3200" i="1">
                            <a:solidFill>
                              <a:schemeClr val="tx1"/>
                            </a:solidFill>
                            <a:latin typeface="Cambria Math" panose="02040503050406030204" pitchFamily="18" charset="0"/>
                          </a:rPr>
                          <m:t>𝑗</m:t>
                        </m:r>
                        <m:r>
                          <a:rPr lang="en-US" altLang="ja-JP" sz="3200" b="0" i="1" smtClean="0">
                            <a:solidFill>
                              <a:schemeClr val="tx1"/>
                            </a:solidFill>
                            <a:latin typeface="Cambria Math" panose="02040503050406030204" pitchFamily="18" charset="0"/>
                          </a:rPr>
                          <m:t>+</m:t>
                        </m:r>
                        <m:r>
                          <a:rPr lang="en-US" altLang="ja-JP" sz="3200" b="0" i="1" smtClean="0">
                            <a:solidFill>
                              <a:schemeClr val="tx1"/>
                            </a:solidFill>
                            <a:latin typeface="Cambria Math" panose="02040503050406030204" pitchFamily="18" charset="0"/>
                          </a:rPr>
                          <m:t>𝑝</m:t>
                        </m:r>
                        <m:r>
                          <a:rPr lang="en-US" altLang="ja-JP" sz="3200" b="0" i="1" smtClean="0">
                            <a:solidFill>
                              <a:schemeClr val="tx1"/>
                            </a:solidFill>
                            <a:latin typeface="Cambria Math" panose="02040503050406030204" pitchFamily="18" charset="0"/>
                          </a:rPr>
                          <m:t>)</m:t>
                        </m:r>
                      </m:sub>
                    </m:sSub>
                    <m:r>
                      <a:rPr lang="en-US" altLang="ja-JP" sz="3200" i="1">
                        <a:solidFill>
                          <a:schemeClr val="tx1"/>
                        </a:solidFill>
                        <a:latin typeface="Cambria Math" panose="02040503050406030204" pitchFamily="18" charset="0"/>
                      </a:rPr>
                      <m:t>∙</m:t>
                    </m:r>
                    <m:func>
                      <m:funcPr>
                        <m:ctrlPr>
                          <a:rPr lang="en-US" altLang="ja-JP" sz="3200" i="1">
                            <a:solidFill>
                              <a:schemeClr val="tx1"/>
                            </a:solidFill>
                            <a:latin typeface="Cambria Math" panose="02040503050406030204" pitchFamily="18" charset="0"/>
                          </a:rPr>
                        </m:ctrlPr>
                      </m:funcPr>
                      <m:fName>
                        <m:r>
                          <m:rPr>
                            <m:sty m:val="p"/>
                          </m:rPr>
                          <a:rPr lang="en-US" altLang="ja-JP" sz="3200">
                            <a:solidFill>
                              <a:schemeClr val="tx1"/>
                            </a:solidFill>
                            <a:latin typeface="Cambria Math" panose="02040503050406030204" pitchFamily="18" charset="0"/>
                          </a:rPr>
                          <m:t>sign</m:t>
                        </m:r>
                      </m:fName>
                      <m:e>
                        <m:d>
                          <m:dPr>
                            <m:ctrlPr>
                              <a:rPr lang="en-US" altLang="ja-JP" sz="3200" i="1">
                                <a:solidFill>
                                  <a:schemeClr val="tx1"/>
                                </a:solidFill>
                                <a:latin typeface="Cambria Math" panose="02040503050406030204" pitchFamily="18" charset="0"/>
                              </a:rPr>
                            </m:ctrlPr>
                          </m:dPr>
                          <m:e>
                            <m:sSub>
                              <m:sSubPr>
                                <m:ctrlPr>
                                  <a:rPr lang="en-US" altLang="ja-JP" sz="3200" b="0" i="1" smtClean="0">
                                    <a:solidFill>
                                      <a:schemeClr val="tx1"/>
                                    </a:solidFill>
                                    <a:latin typeface="Cambria Math" panose="02040503050406030204" pitchFamily="18" charset="0"/>
                                  </a:rPr>
                                </m:ctrlPr>
                              </m:sSubPr>
                              <m:e>
                                <m:acc>
                                  <m:accPr>
                                    <m:chr m:val="̃"/>
                                    <m:ctrlPr>
                                      <a:rPr lang="en-US" altLang="ja-JP" sz="3200" i="1">
                                        <a:solidFill>
                                          <a:schemeClr val="tx1"/>
                                        </a:solidFill>
                                        <a:latin typeface="Cambria Math" panose="02040503050406030204" pitchFamily="18" charset="0"/>
                                      </a:rPr>
                                    </m:ctrlPr>
                                  </m:accPr>
                                  <m:e>
                                    <m:r>
                                      <a:rPr lang="en-US" altLang="ja-JP" sz="3200" b="0" i="1" smtClean="0">
                                        <a:solidFill>
                                          <a:schemeClr val="tx1"/>
                                        </a:solidFill>
                                        <a:latin typeface="Cambria Math" panose="02040503050406030204" pitchFamily="18" charset="0"/>
                                      </a:rPr>
                                      <m:t>𝑍</m:t>
                                    </m:r>
                                  </m:e>
                                </m:acc>
                              </m:e>
                              <m:sub>
                                <m:r>
                                  <a:rPr lang="en-US" altLang="ja-JP" sz="3200" b="0" i="1" smtClean="0">
                                    <a:solidFill>
                                      <a:schemeClr val="tx1"/>
                                    </a:solidFill>
                                    <a:latin typeface="Cambria Math" panose="02040503050406030204" pitchFamily="18" charset="0"/>
                                  </a:rPr>
                                  <m:t>𝑘𝑗</m:t>
                                </m:r>
                              </m:sub>
                            </m:sSub>
                            <m:r>
                              <a:rPr lang="en-US" altLang="ja-JP" sz="3200" i="1">
                                <a:solidFill>
                                  <a:schemeClr val="tx1"/>
                                </a:solidFill>
                                <a:latin typeface="Cambria Math" panose="02040503050406030204" pitchFamily="18" charset="0"/>
                              </a:rPr>
                              <m:t>−</m:t>
                            </m:r>
                            <m:sSub>
                              <m:sSubPr>
                                <m:ctrlPr>
                                  <a:rPr lang="en-US" altLang="ja-JP" sz="3200" i="1">
                                    <a:solidFill>
                                      <a:schemeClr val="tx1"/>
                                    </a:solidFill>
                                    <a:latin typeface="Cambria Math" panose="02040503050406030204" pitchFamily="18" charset="0"/>
                                  </a:rPr>
                                </m:ctrlPr>
                              </m:sSubPr>
                              <m:e>
                                <m:r>
                                  <a:rPr lang="en-US" altLang="ja-JP" sz="3200" i="1">
                                    <a:solidFill>
                                      <a:schemeClr val="tx1"/>
                                    </a:solidFill>
                                    <a:latin typeface="Cambria Math" panose="02040503050406030204" pitchFamily="18" charset="0"/>
                                  </a:rPr>
                                  <m:t>𝑍</m:t>
                                </m:r>
                              </m:e>
                              <m:sub>
                                <m:r>
                                  <a:rPr lang="en-US" altLang="ja-JP" sz="3200" b="0" i="1" smtClean="0">
                                    <a:solidFill>
                                      <a:schemeClr val="tx1"/>
                                    </a:solidFill>
                                    <a:latin typeface="Cambria Math" panose="02040503050406030204" pitchFamily="18" charset="0"/>
                                  </a:rPr>
                                  <m:t>𝑘</m:t>
                                </m:r>
                                <m:r>
                                  <a:rPr lang="en-US" altLang="ja-JP" sz="3200" b="0" i="1" smtClean="0">
                                    <a:solidFill>
                                      <a:schemeClr val="tx1"/>
                                    </a:solidFill>
                                    <a:latin typeface="Cambria Math" panose="02040503050406030204" pitchFamily="18" charset="0"/>
                                  </a:rPr>
                                  <m:t>(</m:t>
                                </m:r>
                                <m:r>
                                  <a:rPr lang="en-US" altLang="ja-JP" sz="3200" i="1">
                                    <a:solidFill>
                                      <a:schemeClr val="tx1"/>
                                    </a:solidFill>
                                    <a:latin typeface="Cambria Math" panose="02040503050406030204" pitchFamily="18" charset="0"/>
                                  </a:rPr>
                                  <m:t>𝑗</m:t>
                                </m:r>
                                <m:r>
                                  <a:rPr lang="en-US" altLang="ja-JP" sz="3200" b="0" i="1" smtClean="0">
                                    <a:solidFill>
                                      <a:schemeClr val="tx1"/>
                                    </a:solidFill>
                                    <a:latin typeface="Cambria Math" panose="02040503050406030204" pitchFamily="18" charset="0"/>
                                  </a:rPr>
                                  <m:t>+</m:t>
                                </m:r>
                                <m:r>
                                  <a:rPr lang="en-US" altLang="ja-JP" sz="3200" b="0" i="1" smtClean="0">
                                    <a:solidFill>
                                      <a:schemeClr val="tx1"/>
                                    </a:solidFill>
                                    <a:latin typeface="Cambria Math" panose="02040503050406030204" pitchFamily="18" charset="0"/>
                                  </a:rPr>
                                  <m:t>𝑝</m:t>
                                </m:r>
                                <m:r>
                                  <a:rPr lang="en-US" altLang="ja-JP" sz="3200" b="0" i="1" smtClean="0">
                                    <a:solidFill>
                                      <a:schemeClr val="tx1"/>
                                    </a:solidFill>
                                    <a:latin typeface="Cambria Math" panose="02040503050406030204" pitchFamily="18" charset="0"/>
                                  </a:rPr>
                                  <m:t>)</m:t>
                                </m:r>
                              </m:sub>
                            </m:sSub>
                          </m:e>
                        </m:d>
                      </m:e>
                    </m:func>
                    <m:r>
                      <a:rPr lang="en-US" altLang="ja-JP" sz="3200" b="0" i="1" smtClean="0">
                        <a:solidFill>
                          <a:schemeClr val="tx1"/>
                        </a:solidFill>
                        <a:latin typeface="Cambria Math" panose="02040503050406030204" pitchFamily="18" charset="0"/>
                        <a:ea typeface="Cambria Math" panose="02040503050406030204" pitchFamily="18" charset="0"/>
                      </a:rPr>
                      <m:t>,  </m:t>
                    </m:r>
                    <m:r>
                      <a:rPr lang="en-US" altLang="ja-JP" sz="3200" i="1">
                        <a:solidFill>
                          <a:schemeClr val="tx1"/>
                        </a:solidFill>
                        <a:latin typeface="Cambria Math" panose="02040503050406030204" pitchFamily="18" charset="0"/>
                        <a:ea typeface="Cambria Math" panose="02040503050406030204" pitchFamily="18" charset="0"/>
                      </a:rPr>
                      <m:t>𝑗</m:t>
                    </m:r>
                    <m:r>
                      <a:rPr lang="en-US" altLang="ja-JP" sz="3200" i="1">
                        <a:solidFill>
                          <a:schemeClr val="tx1"/>
                        </a:solidFill>
                        <a:latin typeface="Cambria Math" panose="02040503050406030204" pitchFamily="18" charset="0"/>
                        <a:ea typeface="Cambria Math" panose="02040503050406030204" pitchFamily="18" charset="0"/>
                      </a:rPr>
                      <m:t>=1,…,</m:t>
                    </m:r>
                    <m:r>
                      <a:rPr lang="en-US" altLang="ja-JP" sz="3200" i="1">
                        <a:solidFill>
                          <a:schemeClr val="tx1"/>
                        </a:solidFill>
                        <a:latin typeface="Cambria Math" panose="02040503050406030204" pitchFamily="18" charset="0"/>
                        <a:ea typeface="Cambria Math" panose="02040503050406030204" pitchFamily="18" charset="0"/>
                      </a:rPr>
                      <m:t>𝑝</m:t>
                    </m:r>
                  </m:oMath>
                </a14:m>
                <a:endParaRPr lang="en-US" altLang="ja-JP" sz="3200" i="1" dirty="0">
                  <a:solidFill>
                    <a:schemeClr val="tx1"/>
                  </a:solidFill>
                  <a:latin typeface="Cambria Math" panose="02040503050406030204" pitchFamily="18" charset="0"/>
                  <a:ea typeface="Cambria Math" panose="02040503050406030204" pitchFamily="18" charset="0"/>
                </a:endParaRPr>
              </a:p>
            </p:txBody>
          </p:sp>
        </mc:Choice>
        <mc:Fallback xmlns="">
          <p:sp>
            <p:nvSpPr>
              <p:cNvPr id="12" name="コンテンツ プレースホルダー 2">
                <a:extLst>
                  <a:ext uri="{FF2B5EF4-FFF2-40B4-BE49-F238E27FC236}">
                    <a16:creationId xmlns:a16="http://schemas.microsoft.com/office/drawing/2014/main" id="{88F8548A-DBDD-46F7-2426-B20E1EB18D42}"/>
                  </a:ext>
                </a:extLst>
              </p:cNvPr>
              <p:cNvSpPr>
                <a:spLocks noGrp="1" noRot="1" noChangeAspect="1" noMove="1" noResize="1" noEditPoints="1" noAdjustHandles="1" noChangeArrowheads="1" noChangeShapeType="1" noTextEdit="1"/>
              </p:cNvSpPr>
              <p:nvPr>
                <p:ph idx="1"/>
              </p:nvPr>
            </p:nvSpPr>
            <p:spPr>
              <a:xfrm>
                <a:off x="10232" y="1161341"/>
                <a:ext cx="12171534" cy="5678129"/>
              </a:xfrm>
              <a:blipFill>
                <a:blip r:embed="rId3"/>
                <a:stretch>
                  <a:fillRect l="-1250" t="-2009"/>
                </a:stretch>
              </a:blipFill>
            </p:spPr>
            <p:txBody>
              <a:bodyPr/>
              <a:lstStyle/>
              <a:p>
                <a:r>
                  <a:rPr lang="ja-JP" altLang="en-US">
                    <a:noFill/>
                  </a:rPr>
                  <a:t> </a:t>
                </a:r>
              </a:p>
            </p:txBody>
          </p:sp>
        </mc:Fallback>
      </mc:AlternateContent>
      <p:sp>
        <p:nvSpPr>
          <p:cNvPr id="15" name="下矢印 14">
            <a:extLst>
              <a:ext uri="{FF2B5EF4-FFF2-40B4-BE49-F238E27FC236}">
                <a16:creationId xmlns:a16="http://schemas.microsoft.com/office/drawing/2014/main" id="{C8250BE3-0482-E969-7275-E7FD7224CE72}"/>
              </a:ext>
            </a:extLst>
          </p:cNvPr>
          <p:cNvSpPr/>
          <p:nvPr/>
        </p:nvSpPr>
        <p:spPr>
          <a:xfrm>
            <a:off x="5366797" y="2944249"/>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7" name="正方形/長方形 16">
            <a:extLst>
              <a:ext uri="{FF2B5EF4-FFF2-40B4-BE49-F238E27FC236}">
                <a16:creationId xmlns:a16="http://schemas.microsoft.com/office/drawing/2014/main" id="{C7A0FF11-170A-D02C-C8E0-986CF08F2E0E}"/>
              </a:ext>
            </a:extLst>
          </p:cNvPr>
          <p:cNvSpPr/>
          <p:nvPr/>
        </p:nvSpPr>
        <p:spPr>
          <a:xfrm>
            <a:off x="3127229" y="2294654"/>
            <a:ext cx="975354" cy="587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FA60387-B30B-5F08-2B12-DB79C41C6D2C}"/>
                  </a:ext>
                </a:extLst>
              </p:cNvPr>
              <p:cNvSpPr txBox="1"/>
              <p:nvPr/>
            </p:nvSpPr>
            <p:spPr>
              <a:xfrm>
                <a:off x="2933317" y="288240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18" name="テキスト ボックス 17">
                <a:extLst>
                  <a:ext uri="{FF2B5EF4-FFF2-40B4-BE49-F238E27FC236}">
                    <a16:creationId xmlns:a16="http://schemas.microsoft.com/office/drawing/2014/main" id="{4D629F18-83F6-E7D1-0B64-B60064B7DB7F}"/>
                  </a:ext>
                </a:extLst>
              </p:cNvPr>
              <p:cNvSpPr txBox="1">
                <a:spLocks noRot="1" noChangeAspect="1" noMove="1" noResize="1" noEditPoints="1" noAdjustHandles="1" noChangeArrowheads="1" noChangeShapeType="1" noTextEdit="1"/>
              </p:cNvSpPr>
              <p:nvPr/>
            </p:nvSpPr>
            <p:spPr>
              <a:xfrm>
                <a:off x="2933317" y="2882405"/>
                <a:ext cx="1775743" cy="523220"/>
              </a:xfrm>
              <a:prstGeom prst="rect">
                <a:avLst/>
              </a:prstGeom>
              <a:blipFill>
                <a:blip r:embed="rId4"/>
                <a:stretch>
                  <a:fillRect t="-14286" r="-6383"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98AD517D-39FC-C2B4-29CF-A06CCBC3F3FE}"/>
                  </a:ext>
                </a:extLst>
              </p:cNvPr>
              <p:cNvSpPr txBox="1"/>
              <p:nvPr/>
            </p:nvSpPr>
            <p:spPr>
              <a:xfrm>
                <a:off x="6866296" y="3708019"/>
                <a:ext cx="3388591"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ea typeface="Cambria Math" panose="02040503050406030204" pitchFamily="18" charset="0"/>
                        </a:rPr>
                        <m:t>𝑗</m:t>
                      </m:r>
                      <m:r>
                        <a:rPr lang="en-US" altLang="ja-JP" sz="3200" i="1" smtClean="0">
                          <a:latin typeface="Cambria Math" panose="02040503050406030204" pitchFamily="18" charset="0"/>
                          <a:ea typeface="Cambria Math" panose="02040503050406030204" pitchFamily="18" charset="0"/>
                        </a:rPr>
                        <m:t>=1,…,</m:t>
                      </m:r>
                      <m:r>
                        <a:rPr lang="en-US" altLang="ja-JP" sz="3200" i="1" smtClean="0">
                          <a:latin typeface="Cambria Math" panose="02040503050406030204" pitchFamily="18" charset="0"/>
                          <a:ea typeface="Cambria Math" panose="02040503050406030204" pitchFamily="18" charset="0"/>
                        </a:rPr>
                        <m:t>𝑝</m:t>
                      </m:r>
                    </m:oMath>
                  </m:oMathPara>
                </a14:m>
                <a:endParaRPr lang="ja-JP" altLang="en-US" sz="3200"/>
              </a:p>
            </p:txBody>
          </p:sp>
        </mc:Choice>
        <mc:Fallback xmlns="">
          <p:sp>
            <p:nvSpPr>
              <p:cNvPr id="19" name="テキスト ボックス 18">
                <a:extLst>
                  <a:ext uri="{FF2B5EF4-FFF2-40B4-BE49-F238E27FC236}">
                    <a16:creationId xmlns:a16="http://schemas.microsoft.com/office/drawing/2014/main" id="{B3AFA522-FF14-4F03-9D37-F3C8B932F944}"/>
                  </a:ext>
                </a:extLst>
              </p:cNvPr>
              <p:cNvSpPr txBox="1">
                <a:spLocks noRot="1" noChangeAspect="1" noMove="1" noResize="1" noEditPoints="1" noAdjustHandles="1" noChangeArrowheads="1" noChangeShapeType="1" noTextEdit="1"/>
              </p:cNvSpPr>
              <p:nvPr/>
            </p:nvSpPr>
            <p:spPr>
              <a:xfrm>
                <a:off x="6866296" y="3708019"/>
                <a:ext cx="3388591" cy="584775"/>
              </a:xfrm>
              <a:prstGeom prst="rect">
                <a:avLst/>
              </a:prstGeom>
              <a:blipFill>
                <a:blip r:embed="rId5"/>
                <a:stretch>
                  <a:fillRect b="-212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845F2346-44EE-2D60-346D-4FB73F74813E}"/>
                  </a:ext>
                </a:extLst>
              </p:cNvPr>
              <p:cNvSpPr txBox="1"/>
              <p:nvPr/>
            </p:nvSpPr>
            <p:spPr>
              <a:xfrm>
                <a:off x="1574915" y="6073170"/>
                <a:ext cx="3099566" cy="523220"/>
              </a:xfrm>
              <a:prstGeom prst="rect">
                <a:avLst/>
              </a:prstGeom>
              <a:noFill/>
            </p:spPr>
            <p:txBody>
              <a:bodyPr wrap="none" rtlCol="0">
                <a:spAutoFit/>
              </a:bodyPr>
              <a:lstStyle/>
              <a:p>
                <a:r>
                  <a:rPr kumimoji="1" lang="en-US" altLang="ja-JP" sz="2800" b="0" dirty="0">
                    <a:solidFill>
                      <a:schemeClr val="tx1"/>
                    </a:solidFill>
                    <a:cs typeface="ヒラギノ角ゴ Pro W3"/>
                  </a:rPr>
                  <a:t>(</a:t>
                </a:r>
                <a14:m>
                  <m:oMath xmlns:m="http://schemas.openxmlformats.org/officeDocument/2006/math">
                    <m:r>
                      <a:rPr kumimoji="1" lang="en-US" altLang="ja-JP" sz="2800" b="0" i="1" smtClean="0">
                        <a:solidFill>
                          <a:schemeClr val="tx1"/>
                        </a:solidFill>
                        <a:latin typeface="Cambria Math" panose="02040503050406030204" pitchFamily="18" charset="0"/>
                        <a:cs typeface="ヒラギノ角ゴ Pro W3"/>
                      </a:rPr>
                      <m:t>𝑎</m:t>
                    </m:r>
                    <m:r>
                      <a:rPr lang="en-US" altLang="ja-JP" sz="2800" i="1">
                        <a:solidFill>
                          <a:schemeClr val="tx1"/>
                        </a:solidFill>
                        <a:latin typeface="Cambria Math" panose="02040503050406030204" pitchFamily="18" charset="0"/>
                        <a:ea typeface="Cambria Math" panose="02040503050406030204" pitchFamily="18" charset="0"/>
                        <a:cs typeface="ヒラギノ角ゴ Pro W3"/>
                      </a:rPr>
                      <m:t>∧</m:t>
                    </m:r>
                    <m:r>
                      <a:rPr kumimoji="1" lang="en-US" altLang="ja-JP" sz="2800" b="0" i="1" smtClean="0">
                        <a:solidFill>
                          <a:schemeClr val="tx1"/>
                        </a:solidFill>
                        <a:latin typeface="Cambria Math" panose="02040503050406030204" pitchFamily="18" charset="0"/>
                        <a:cs typeface="ヒラギノ角ゴ Pro W3"/>
                      </a:rPr>
                      <m:t>𝑏</m:t>
                    </m:r>
                    <m:r>
                      <a:rPr kumimoji="1" lang="en-US" altLang="ja-JP" sz="2800" b="0" i="1" smtClean="0">
                        <a:solidFill>
                          <a:schemeClr val="tx1"/>
                        </a:solidFill>
                        <a:latin typeface="Cambria Math" panose="02040503050406030204" pitchFamily="18" charset="0"/>
                        <a:cs typeface="ヒラギノ角ゴ Pro W3"/>
                      </a:rPr>
                      <m:t>=</m:t>
                    </m:r>
                    <m:func>
                      <m:funcPr>
                        <m:ctrlPr>
                          <a:rPr kumimoji="1" lang="en-US" altLang="ja-JP" sz="2800" b="0" i="1" smtClean="0">
                            <a:solidFill>
                              <a:schemeClr val="tx1"/>
                            </a:solidFill>
                            <a:latin typeface="Cambria Math" panose="02040503050406030204" pitchFamily="18" charset="0"/>
                            <a:cs typeface="ヒラギノ角ゴ Pro W3"/>
                          </a:rPr>
                        </m:ctrlPr>
                      </m:funcPr>
                      <m:fName>
                        <m:r>
                          <m:rPr>
                            <m:sty m:val="p"/>
                          </m:rPr>
                          <a:rPr kumimoji="1" lang="en-US" altLang="ja-JP" sz="2800" b="0" i="0" smtClean="0">
                            <a:solidFill>
                              <a:schemeClr val="tx1"/>
                            </a:solidFill>
                            <a:latin typeface="Cambria Math" panose="02040503050406030204" pitchFamily="18" charset="0"/>
                            <a:cs typeface="ヒラギノ角ゴ Pro W3"/>
                          </a:rPr>
                          <m:t>min</m:t>
                        </m:r>
                      </m:fName>
                      <m:e>
                        <m:d>
                          <m:dPr>
                            <m:begChr m:val="{"/>
                            <m:endChr m:val="}"/>
                            <m:ctrlPr>
                              <a:rPr kumimoji="1" lang="en-US" altLang="ja-JP" sz="2800" b="0" i="1" smtClean="0">
                                <a:solidFill>
                                  <a:schemeClr val="tx1"/>
                                </a:solidFill>
                                <a:latin typeface="Cambria Math" panose="02040503050406030204" pitchFamily="18" charset="0"/>
                                <a:cs typeface="ヒラギノ角ゴ Pro W3"/>
                              </a:rPr>
                            </m:ctrlPr>
                          </m:dPr>
                          <m:e>
                            <m:r>
                              <a:rPr kumimoji="1" lang="en-US" altLang="ja-JP" sz="2800" b="0" i="1" smtClean="0">
                                <a:solidFill>
                                  <a:schemeClr val="tx1"/>
                                </a:solidFill>
                                <a:latin typeface="Cambria Math" panose="02040503050406030204" pitchFamily="18" charset="0"/>
                                <a:cs typeface="ヒラギノ角ゴ Pro W3"/>
                              </a:rPr>
                              <m:t>𝑎</m:t>
                            </m:r>
                            <m:r>
                              <a:rPr kumimoji="1" lang="en-US" altLang="ja-JP" sz="2800" b="0" i="1" smtClean="0">
                                <a:solidFill>
                                  <a:schemeClr val="tx1"/>
                                </a:solidFill>
                                <a:latin typeface="Cambria Math" panose="02040503050406030204" pitchFamily="18" charset="0"/>
                                <a:cs typeface="ヒラギノ角ゴ Pro W3"/>
                              </a:rPr>
                              <m:t>,</m:t>
                            </m:r>
                            <m:r>
                              <a:rPr kumimoji="1" lang="en-US" altLang="ja-JP" sz="2800" b="0" i="1" smtClean="0">
                                <a:solidFill>
                                  <a:schemeClr val="tx1"/>
                                </a:solidFill>
                                <a:latin typeface="Cambria Math" panose="02040503050406030204" pitchFamily="18" charset="0"/>
                                <a:cs typeface="ヒラギノ角ゴ Pro W3"/>
                              </a:rPr>
                              <m:t>𝑏</m:t>
                            </m:r>
                          </m:e>
                        </m:d>
                      </m:e>
                    </m:func>
                  </m:oMath>
                </a14:m>
                <a:r>
                  <a:rPr kumimoji="1" lang="en-US" altLang="ja-JP" sz="2800" dirty="0">
                    <a:solidFill>
                      <a:schemeClr val="tx1"/>
                    </a:solidFill>
                  </a:rPr>
                  <a:t>)</a:t>
                </a:r>
                <a:endParaRPr kumimoji="1" lang="ja-JP" altLang="en-US" sz="2800">
                  <a:solidFill>
                    <a:schemeClr val="tx1"/>
                  </a:solidFill>
                </a:endParaRPr>
              </a:p>
            </p:txBody>
          </p:sp>
        </mc:Choice>
        <mc:Fallback xmlns="">
          <p:sp>
            <p:nvSpPr>
              <p:cNvPr id="20" name="テキスト ボックス 19">
                <a:extLst>
                  <a:ext uri="{FF2B5EF4-FFF2-40B4-BE49-F238E27FC236}">
                    <a16:creationId xmlns:a16="http://schemas.microsoft.com/office/drawing/2014/main" id="{914526E4-0FBC-9C60-F7BB-33600BFC1584}"/>
                  </a:ext>
                </a:extLst>
              </p:cNvPr>
              <p:cNvSpPr txBox="1">
                <a:spLocks noRot="1" noChangeAspect="1" noMove="1" noResize="1" noEditPoints="1" noAdjustHandles="1" noChangeArrowheads="1" noChangeShapeType="1" noTextEdit="1"/>
              </p:cNvSpPr>
              <p:nvPr/>
            </p:nvSpPr>
            <p:spPr>
              <a:xfrm>
                <a:off x="1574915" y="6073170"/>
                <a:ext cx="3099566" cy="523220"/>
              </a:xfrm>
              <a:prstGeom prst="rect">
                <a:avLst/>
              </a:prstGeom>
              <a:blipFill>
                <a:blip r:embed="rId6"/>
                <a:stretch>
                  <a:fillRect l="-4065" t="-11905" r="-2033" b="-285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7C7342F4-11FD-22CA-0688-1C55840101DD}"/>
                  </a:ext>
                </a:extLst>
              </p:cNvPr>
              <p:cNvSpPr txBox="1"/>
              <p:nvPr/>
            </p:nvSpPr>
            <p:spPr>
              <a:xfrm>
                <a:off x="1443346" y="3418338"/>
                <a:ext cx="6034601" cy="1232453"/>
              </a:xfrm>
              <a:prstGeom prst="rect">
                <a:avLst/>
              </a:prstGeom>
              <a:noFill/>
            </p:spPr>
            <p:txBody>
              <a:bodyPr wrap="none" rtlCol="0">
                <a:spAutoFit/>
              </a:bodyPr>
              <a:lstStyle/>
              <a:p>
                <a:pPr/>
                <a:r>
                  <a:rPr kumimoji="1" lang="en-US" altLang="ja-JP" sz="3200" b="0" dirty="0">
                    <a:ea typeface="ヒラギノ角ゴ Pro W3"/>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ea typeface="ヒラギノ角ゴ Pro W3"/>
                            <a:cs typeface="ヒラギノ角ゴ Pro W3"/>
                          </a:rPr>
                        </m:ctrlPr>
                      </m:sSubPr>
                      <m:e>
                        <m:r>
                          <a:rPr kumimoji="1" lang="en-US" altLang="ja-JP" sz="3200" b="0" i="1" smtClean="0">
                            <a:latin typeface="Cambria Math" panose="02040503050406030204" pitchFamily="18" charset="0"/>
                            <a:ea typeface="ヒラギノ角ゴ Pro W3"/>
                            <a:cs typeface="ヒラギノ角ゴ Pro W3"/>
                          </a:rPr>
                          <m:t>𝑍</m:t>
                        </m:r>
                      </m:e>
                      <m:sub>
                        <m:r>
                          <a:rPr kumimoji="1" lang="en-US" altLang="ja-JP" sz="3200" b="0" i="1" smtClean="0">
                            <a:latin typeface="Cambria Math" panose="02040503050406030204" pitchFamily="18" charset="0"/>
                            <a:ea typeface="ヒラギノ角ゴ Pro W3"/>
                            <a:cs typeface="ヒラギノ角ゴ Pro W3"/>
                          </a:rPr>
                          <m:t>𝑘𝑗</m:t>
                        </m:r>
                      </m:sub>
                    </m:sSub>
                    <m:r>
                      <a:rPr kumimoji="1" lang="en-US" altLang="ja-JP" sz="3200" b="0" i="1" smtClean="0">
                        <a:latin typeface="Cambria Math" panose="02040503050406030204" pitchFamily="18" charset="0"/>
                        <a:ea typeface="ヒラギノ角ゴ Pro W3"/>
                        <a:cs typeface="ヒラギノ角ゴ Pro W3"/>
                      </a:rPr>
                      <m:t>       =</m:t>
                    </m:r>
                    <m:func>
                      <m:funcPr>
                        <m:ctrlPr>
                          <a:rPr kumimoji="1" lang="en-US" altLang="ja-JP" sz="3200" b="0" i="1" smtClean="0">
                            <a:latin typeface="Cambria Math" panose="02040503050406030204" pitchFamily="18" charset="0"/>
                            <a:ea typeface="ヒラギノ角ゴ Pro W3"/>
                            <a:cs typeface="ヒラギノ角ゴ Pro W3"/>
                          </a:rPr>
                        </m:ctrlPr>
                      </m:funcPr>
                      <m:fName>
                        <m:r>
                          <m:rPr>
                            <m:sty m:val="p"/>
                          </m:rPr>
                          <a:rPr kumimoji="1" lang="en-US" altLang="ja-JP" sz="3200" b="0" i="0" smtClean="0">
                            <a:latin typeface="Cambria Math" panose="02040503050406030204" pitchFamily="18" charset="0"/>
                            <a:ea typeface="ヒラギノ角ゴ Pro W3"/>
                            <a:cs typeface="ヒラギノ角ゴ Pro W3"/>
                          </a:rPr>
                          <m:t>inf</m:t>
                        </m:r>
                      </m:fName>
                      <m:e>
                        <m:d>
                          <m:dPr>
                            <m:begChr m:val="{"/>
                            <m:endChr m:val="}"/>
                            <m:ctrlPr>
                              <a:rPr kumimoji="1" lang="en-US" altLang="ja-JP" sz="3200" b="0" i="1" smtClean="0">
                                <a:latin typeface="Cambria Math" panose="02040503050406030204" pitchFamily="18" charset="0"/>
                                <a:ea typeface="ヒラギノ角ゴ Pro W3"/>
                                <a:cs typeface="ヒラギノ角ゴ Pro W3"/>
                              </a:rPr>
                            </m:ctrlPr>
                          </m:dPr>
                          <m:e>
                            <m:r>
                              <a:rPr kumimoji="1" lang="en-US" altLang="ja-JP" sz="3200" b="0" i="1" smtClean="0">
                                <a:latin typeface="Cambria Math" panose="02040503050406030204" pitchFamily="18" charset="0"/>
                                <a:ea typeface="ヒラギノ角ゴ Pro W3"/>
                                <a:cs typeface="ヒラギノ角ゴ Pro W3"/>
                              </a:rPr>
                              <m:t>𝑐</m:t>
                            </m:r>
                            <m:r>
                              <a:rPr lang="en-US" altLang="ja-JP" sz="3200" b="0" i="1" smtClean="0">
                                <a:latin typeface="Cambria Math" panose="02040503050406030204" pitchFamily="18" charset="0"/>
                                <a:ea typeface="Cambria Math" panose="02040503050406030204" pitchFamily="18" charset="0"/>
                              </a:rPr>
                              <m:t>:</m:t>
                            </m:r>
                            <m:sSub>
                              <m:sSubPr>
                                <m:ctrlPr>
                                  <a:rPr lang="en-US" altLang="ja-JP" sz="3200" b="1" i="1" smtClean="0">
                                    <a:latin typeface="Cambria Math" panose="02040503050406030204" pitchFamily="18" charset="0"/>
                                    <a:ea typeface="ヒラギノ角ゴ Pro W3"/>
                                  </a:rPr>
                                </m:ctrlPr>
                              </m:sSubPr>
                              <m:e>
                                <m:acc>
                                  <m:accPr>
                                    <m:chr m:val="̂"/>
                                    <m:ctrlPr>
                                      <a:rPr lang="ja-JP" altLang="en-US" sz="3200" i="1">
                                        <a:latin typeface="Cambria Math" panose="02040503050406030204" pitchFamily="18" charset="0"/>
                                        <a:ea typeface="ヒラギノ角ゴ Pro W3"/>
                                      </a:rPr>
                                    </m:ctrlPr>
                                  </m:accPr>
                                  <m:e>
                                    <m:r>
                                      <a:rPr lang="en-US" altLang="ja-JP" sz="3200" b="0" i="1" smtClean="0">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𝑘𝑗</m:t>
                                </m:r>
                              </m:sub>
                            </m:sSub>
                            <m:d>
                              <m:dPr>
                                <m:ctrlPr>
                                  <a:rPr lang="en-US" altLang="ja-JP" sz="3200" i="1">
                                    <a:latin typeface="Cambria Math" panose="02040503050406030204" pitchFamily="18" charset="0"/>
                                    <a:ea typeface="ヒラギノ角ゴ Pro W3"/>
                                  </a:rPr>
                                </m:ctrlPr>
                              </m:dPr>
                              <m:e>
                                <m:r>
                                  <a:rPr lang="en-US" altLang="ja-JP" sz="3200" b="0" i="1" smtClean="0">
                                    <a:latin typeface="Cambria Math" panose="02040503050406030204" pitchFamily="18" charset="0"/>
                                    <a:ea typeface="ヒラギノ角ゴ Pro W3"/>
                                  </a:rPr>
                                  <m:t>𝑐</m:t>
                                </m:r>
                              </m:e>
                            </m:d>
                            <m:r>
                              <a:rPr lang="en-US" altLang="ja-JP" sz="3200" i="1" smtClean="0">
                                <a:latin typeface="Cambria Math" panose="02040503050406030204" pitchFamily="18" charset="0"/>
                                <a:ea typeface="Cambria Math" panose="02040503050406030204" pitchFamily="18" charset="0"/>
                              </a:rPr>
                              <m:t>≠</m:t>
                            </m:r>
                            <m:r>
                              <a:rPr lang="en-US" altLang="ja-JP" sz="3200" b="0" i="1" smtClean="0">
                                <a:latin typeface="Cambria Math" panose="02040503050406030204" pitchFamily="18" charset="0"/>
                                <a:ea typeface="Cambria Math" panose="02040503050406030204" pitchFamily="18" charset="0"/>
                              </a:rPr>
                              <m:t>0</m:t>
                            </m:r>
                          </m:e>
                        </m:d>
                        <m:r>
                          <a:rPr lang="en-US" altLang="ja-JP" sz="3200" b="0" i="1" smtClean="0">
                            <a:latin typeface="Cambria Math" panose="02040503050406030204" pitchFamily="18" charset="0"/>
                            <a:ea typeface="Cambria Math" panose="02040503050406030204" pitchFamily="18" charset="0"/>
                          </a:rPr>
                          <m:t>, </m:t>
                        </m:r>
                      </m:e>
                    </m:func>
                  </m:oMath>
                </a14:m>
                <a:br>
                  <a:rPr lang="en-US" altLang="ja-JP" sz="3200" b="0" i="1" dirty="0">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kumimoji="1" lang="en-US" altLang="ja-JP" sz="3200" i="1">
                              <a:latin typeface="Cambria Math" panose="02040503050406030204" pitchFamily="18" charset="0"/>
                              <a:ea typeface="ヒラギノ角ゴ Pro W3"/>
                            </a:rPr>
                          </m:ctrlPr>
                        </m:sSubPr>
                        <m:e>
                          <m:acc>
                            <m:accPr>
                              <m:chr m:val="̃"/>
                              <m:ctrlPr>
                                <a:rPr kumimoji="1" lang="en-US" altLang="ja-JP" sz="3200" i="1">
                                  <a:latin typeface="Cambria Math" panose="02040503050406030204" pitchFamily="18" charset="0"/>
                                  <a:ea typeface="ヒラギノ角ゴ Pro W3"/>
                                </a:rPr>
                              </m:ctrlPr>
                            </m:accPr>
                            <m:e>
                              <m:r>
                                <a:rPr kumimoji="1" lang="en-US" altLang="ja-JP" sz="3200" i="1">
                                  <a:latin typeface="Cambria Math" panose="02040503050406030204" pitchFamily="18" charset="0"/>
                                  <a:ea typeface="ヒラギノ角ゴ Pro W3"/>
                                </a:rPr>
                                <m:t>𝑍</m:t>
                              </m:r>
                            </m:e>
                          </m:acc>
                        </m:e>
                        <m:sub>
                          <m:r>
                            <a:rPr kumimoji="1" lang="en-US" altLang="ja-JP" sz="3200" b="0" i="1" smtClean="0">
                              <a:latin typeface="Cambria Math" panose="02040503050406030204" pitchFamily="18" charset="0"/>
                              <a:ea typeface="ヒラギノ角ゴ Pro W3"/>
                            </a:rPr>
                            <m:t>𝑘</m:t>
                          </m:r>
                          <m:r>
                            <a:rPr kumimoji="1" lang="en-US" altLang="ja-JP" sz="3200" b="0" i="1" smtClean="0">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𝑗</m:t>
                          </m:r>
                          <m:r>
                            <a:rPr kumimoji="1" lang="en-US" altLang="ja-JP" sz="3200" i="1">
                              <a:latin typeface="Cambria Math" panose="02040503050406030204" pitchFamily="18" charset="0"/>
                              <a:ea typeface="ヒラギノ角ゴ Pro W3"/>
                            </a:rPr>
                            <m:t>+</m:t>
                          </m:r>
                          <m:r>
                            <a:rPr kumimoji="1" lang="en-US" altLang="ja-JP" sz="3200" i="1">
                              <a:latin typeface="Cambria Math" panose="02040503050406030204" pitchFamily="18" charset="0"/>
                              <a:ea typeface="ヒラギノ角ゴ Pro W3"/>
                            </a:rPr>
                            <m:t>𝑝</m:t>
                          </m:r>
                          <m:r>
                            <a:rPr kumimoji="1" lang="en-US" altLang="ja-JP" sz="3200" b="0" i="1" smtClean="0">
                              <a:latin typeface="Cambria Math" panose="02040503050406030204" pitchFamily="18" charset="0"/>
                              <a:ea typeface="ヒラギノ角ゴ Pro W3"/>
                            </a:rPr>
                            <m:t>)</m:t>
                          </m:r>
                        </m:sub>
                      </m:sSub>
                      <m:r>
                        <m:rPr>
                          <m:aln/>
                        </m:rPr>
                        <a:rPr kumimoji="1" lang="en-US" altLang="ja-JP" sz="3200" i="1">
                          <a:latin typeface="Cambria Math" panose="02040503050406030204" pitchFamily="18" charset="0"/>
                          <a:ea typeface="ヒラギノ角ゴ Pro W3"/>
                          <a:cs typeface="ヒラギノ角ゴ Pro W3"/>
                        </a:rPr>
                        <m:t>=</m:t>
                      </m:r>
                      <m:func>
                        <m:funcPr>
                          <m:ctrlPr>
                            <a:rPr kumimoji="1" lang="en-US" altLang="ja-JP" sz="3200" i="1">
                              <a:latin typeface="Cambria Math" panose="02040503050406030204" pitchFamily="18" charset="0"/>
                              <a:ea typeface="ヒラギノ角ゴ Pro W3"/>
                              <a:cs typeface="ヒラギノ角ゴ Pro W3"/>
                            </a:rPr>
                          </m:ctrlPr>
                        </m:funcPr>
                        <m:fName>
                          <m:r>
                            <m:rPr>
                              <m:sty m:val="p"/>
                            </m:rPr>
                            <a:rPr kumimoji="1" lang="en-US" altLang="ja-JP" sz="3200">
                              <a:latin typeface="Cambria Math" panose="02040503050406030204" pitchFamily="18" charset="0"/>
                              <a:ea typeface="ヒラギノ角ゴ Pro W3"/>
                              <a:cs typeface="ヒラギノ角ゴ Pro W3"/>
                            </a:rPr>
                            <m:t>inf</m:t>
                          </m:r>
                        </m:fName>
                        <m:e>
                          <m:d>
                            <m:dPr>
                              <m:begChr m:val="{"/>
                              <m:endChr m:val="}"/>
                              <m:ctrlPr>
                                <a:rPr kumimoji="1" lang="en-US" altLang="ja-JP" sz="3200" i="1">
                                  <a:latin typeface="Cambria Math" panose="02040503050406030204" pitchFamily="18" charset="0"/>
                                  <a:ea typeface="ヒラギノ角ゴ Pro W3"/>
                                  <a:cs typeface="ヒラギノ角ゴ Pro W3"/>
                                </a:rPr>
                              </m:ctrlPr>
                            </m:dPr>
                            <m:e>
                              <m:r>
                                <a:rPr kumimoji="1" lang="en-US" altLang="ja-JP" sz="3200" i="1">
                                  <a:latin typeface="Cambria Math" panose="02040503050406030204" pitchFamily="18" charset="0"/>
                                  <a:ea typeface="ヒラギノ角ゴ Pro W3"/>
                                  <a:cs typeface="ヒラギノ角ゴ Pro W3"/>
                                </a:rPr>
                                <m:t>𝑐</m:t>
                              </m:r>
                              <m:r>
                                <a:rPr lang="en-US" altLang="ja-JP" sz="3200" i="1">
                                  <a:latin typeface="Cambria Math" panose="02040503050406030204" pitchFamily="18" charset="0"/>
                                  <a:ea typeface="Cambria Math" panose="02040503050406030204" pitchFamily="18" charset="0"/>
                                </a:rPr>
                                <m:t>:</m:t>
                              </m:r>
                              <m:sSub>
                                <m:sSubPr>
                                  <m:ctrlPr>
                                    <a:rPr lang="en-US" altLang="ja-JP" sz="3200" i="1">
                                      <a:latin typeface="Cambria Math" panose="02040503050406030204" pitchFamily="18" charset="0"/>
                                      <a:ea typeface="Cambria Math" panose="02040503050406030204" pitchFamily="18" charset="0"/>
                                    </a:rPr>
                                  </m:ctrlPr>
                                </m:sSubPr>
                                <m:e>
                                  <m:acc>
                                    <m:accPr>
                                      <m:chr m:val="̂"/>
                                      <m:ctrlPr>
                                        <a:rPr lang="ja-JP" altLang="en-US" sz="3200" i="1">
                                          <a:latin typeface="Cambria Math" panose="02040503050406030204" pitchFamily="18" charset="0"/>
                                          <a:ea typeface="ヒラギノ角ゴ Pro W3"/>
                                        </a:rPr>
                                      </m:ctrlPr>
                                    </m:accPr>
                                    <m:e>
                                      <m:r>
                                        <a:rPr lang="en-US" altLang="ja-JP" sz="3200" i="1">
                                          <a:latin typeface="Cambria Math" panose="02040503050406030204" pitchFamily="18" charset="0"/>
                                          <a:ea typeface="ヒラギノ角ゴ Pro W3"/>
                                        </a:rPr>
                                        <m:t>𝑣</m:t>
                                      </m:r>
                                    </m:e>
                                  </m:acc>
                                </m:e>
                                <m:sub>
                                  <m:r>
                                    <a:rPr lang="en-US" altLang="ja-JP" sz="3200" b="0" i="1" smtClean="0">
                                      <a:latin typeface="Cambria Math" panose="02040503050406030204" pitchFamily="18" charset="0"/>
                                      <a:ea typeface="ヒラギノ角ゴ Pro W3"/>
                                    </a:rPr>
                                    <m:t>𝑘</m:t>
                                  </m:r>
                                  <m:r>
                                    <a:rPr lang="en-US" altLang="ja-JP" sz="3200" b="0" i="1" smtClean="0">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𝑗</m:t>
                                  </m:r>
                                  <m:r>
                                    <a:rPr lang="en-US" altLang="ja-JP" sz="3200" i="1">
                                      <a:latin typeface="Cambria Math" panose="02040503050406030204" pitchFamily="18" charset="0"/>
                                      <a:ea typeface="ヒラギノ角ゴ Pro W3"/>
                                    </a:rPr>
                                    <m:t>+</m:t>
                                  </m:r>
                                  <m:r>
                                    <a:rPr lang="en-US" altLang="ja-JP" sz="3200" i="1">
                                      <a:latin typeface="Cambria Math" panose="02040503050406030204" pitchFamily="18" charset="0"/>
                                      <a:ea typeface="ヒラギノ角ゴ Pro W3"/>
                                    </a:rPr>
                                    <m:t>𝑝</m:t>
                                  </m:r>
                                  <m:r>
                                    <a:rPr lang="en-US" altLang="ja-JP" sz="3200" b="0" i="1" smtClean="0">
                                      <a:latin typeface="Cambria Math" panose="02040503050406030204" pitchFamily="18" charset="0"/>
                                      <a:ea typeface="ヒラギノ角ゴ Pro W3"/>
                                    </a:rPr>
                                    <m:t>)</m:t>
                                  </m:r>
                                </m:sub>
                              </m:sSub>
                              <m:d>
                                <m:dPr>
                                  <m:ctrlPr>
                                    <a:rPr lang="en-US" altLang="ja-JP" sz="3200" i="1">
                                      <a:latin typeface="Cambria Math" panose="02040503050406030204" pitchFamily="18" charset="0"/>
                                      <a:ea typeface="ヒラギノ角ゴ Pro W3"/>
                                    </a:rPr>
                                  </m:ctrlPr>
                                </m:dPr>
                                <m:e>
                                  <m:r>
                                    <a:rPr lang="en-US" altLang="ja-JP" sz="3200" i="1">
                                      <a:latin typeface="Cambria Math" panose="02040503050406030204" pitchFamily="18" charset="0"/>
                                      <a:ea typeface="ヒラギノ角ゴ Pro W3"/>
                                    </a:rPr>
                                    <m:t>𝑐</m:t>
                                  </m:r>
                                </m:e>
                              </m:d>
                              <m:r>
                                <a:rPr lang="en-US" altLang="ja-JP" sz="3200" i="1">
                                  <a:latin typeface="Cambria Math" panose="02040503050406030204" pitchFamily="18" charset="0"/>
                                  <a:ea typeface="Cambria Math" panose="02040503050406030204" pitchFamily="18" charset="0"/>
                                </a:rPr>
                                <m:t>≠0</m:t>
                              </m:r>
                            </m:e>
                          </m:d>
                          <m:r>
                            <a:rPr lang="en-US" altLang="ja-JP" sz="3200" i="1">
                              <a:latin typeface="Cambria Math" panose="02040503050406030204" pitchFamily="18" charset="0"/>
                              <a:ea typeface="Cambria Math" panose="02040503050406030204" pitchFamily="18" charset="0"/>
                            </a:rPr>
                            <m:t>, </m:t>
                          </m:r>
                        </m:e>
                      </m:func>
                    </m:oMath>
                  </m:oMathPara>
                </a14:m>
                <a:br>
                  <a:rPr lang="en-US" altLang="ja-JP" sz="3200" dirty="0">
                    <a:ea typeface="Cambria Math" panose="02040503050406030204" pitchFamily="18" charset="0"/>
                  </a:rPr>
                </a:br>
                <a:endParaRPr kumimoji="1" lang="ja-JP" altLang="en-US" sz="3200"/>
              </a:p>
            </p:txBody>
          </p:sp>
        </mc:Choice>
        <mc:Fallback xmlns="">
          <p:sp>
            <p:nvSpPr>
              <p:cNvPr id="21" name="テキスト ボックス 20">
                <a:extLst>
                  <a:ext uri="{FF2B5EF4-FFF2-40B4-BE49-F238E27FC236}">
                    <a16:creationId xmlns:a16="http://schemas.microsoft.com/office/drawing/2014/main" id="{B9C7F0B9-14B5-20AD-AEFD-7FCE28497B02}"/>
                  </a:ext>
                </a:extLst>
              </p:cNvPr>
              <p:cNvSpPr txBox="1">
                <a:spLocks noRot="1" noChangeAspect="1" noMove="1" noResize="1" noEditPoints="1" noAdjustHandles="1" noChangeArrowheads="1" noChangeShapeType="1" noTextEdit="1"/>
              </p:cNvSpPr>
              <p:nvPr/>
            </p:nvSpPr>
            <p:spPr>
              <a:xfrm>
                <a:off x="1443346" y="3418338"/>
                <a:ext cx="6034601" cy="1232453"/>
              </a:xfrm>
              <a:prstGeom prst="rect">
                <a:avLst/>
              </a:prstGeom>
              <a:blipFill>
                <a:blip r:embed="rId7"/>
                <a:stretch>
                  <a:fillRect t="-2041" b="-7143"/>
                </a:stretch>
              </a:blipFill>
            </p:spPr>
            <p:txBody>
              <a:bodyPr/>
              <a:lstStyle/>
              <a:p>
                <a:r>
                  <a:rPr lang="ja-JP" altLang="en-US">
                    <a:noFill/>
                  </a:rPr>
                  <a:t> </a:t>
                </a:r>
              </a:p>
            </p:txBody>
          </p:sp>
        </mc:Fallback>
      </mc:AlternateContent>
      <p:sp>
        <p:nvSpPr>
          <p:cNvPr id="22" name="下矢印 21">
            <a:extLst>
              <a:ext uri="{FF2B5EF4-FFF2-40B4-BE49-F238E27FC236}">
                <a16:creationId xmlns:a16="http://schemas.microsoft.com/office/drawing/2014/main" id="{23590F89-9D52-555A-64D6-F998BC8B51B5}"/>
              </a:ext>
            </a:extLst>
          </p:cNvPr>
          <p:cNvSpPr/>
          <p:nvPr/>
        </p:nvSpPr>
        <p:spPr>
          <a:xfrm>
            <a:off x="5366796" y="4831947"/>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Tree>
    <p:extLst>
      <p:ext uri="{BB962C8B-B14F-4D97-AF65-F5344CB8AC3E}">
        <p14:creationId xmlns:p14="http://schemas.microsoft.com/office/powerpoint/2010/main" val="1000634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D98AD-CF77-151B-B2FD-AEB32634F6D7}"/>
            </a:ext>
          </a:extLst>
        </p:cNvPr>
        <p:cNvGrpSpPr/>
        <p:nvPr/>
      </p:nvGrpSpPr>
      <p:grpSpPr>
        <a:xfrm>
          <a:off x="0" y="0"/>
          <a:ext cx="0" cy="0"/>
          <a:chOff x="0" y="0"/>
          <a:chExt cx="0" cy="0"/>
        </a:xfrm>
      </p:grpSpPr>
      <p:sp>
        <p:nvSpPr>
          <p:cNvPr id="11" name="角丸四角形 10">
            <a:extLst>
              <a:ext uri="{FF2B5EF4-FFF2-40B4-BE49-F238E27FC236}">
                <a16:creationId xmlns:a16="http://schemas.microsoft.com/office/drawing/2014/main" id="{A1CB1D75-57BE-3B35-AB12-5A5D9E9D12CF}"/>
              </a:ext>
            </a:extLst>
          </p:cNvPr>
          <p:cNvSpPr/>
          <p:nvPr/>
        </p:nvSpPr>
        <p:spPr>
          <a:xfrm>
            <a:off x="824273" y="969679"/>
            <a:ext cx="10563922" cy="866299"/>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87C2016-1E2D-7119-ABA5-ABE7ED1ECBB9}"/>
              </a:ext>
            </a:extLst>
          </p:cNvPr>
          <p:cNvSpPr/>
          <p:nvPr/>
        </p:nvSpPr>
        <p:spPr>
          <a:xfrm>
            <a:off x="2420243" y="779085"/>
            <a:ext cx="7404410" cy="289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299F31C-24F7-A1E9-2191-69E9657597D4}"/>
                  </a:ext>
                </a:extLst>
              </p:cNvPr>
              <p:cNvSpPr>
                <a:spLocks noGrp="1"/>
              </p:cNvSpPr>
              <p:nvPr>
                <p:ph idx="1"/>
              </p:nvPr>
            </p:nvSpPr>
            <p:spPr>
              <a:xfrm>
                <a:off x="20467" y="1968566"/>
                <a:ext cx="12171534" cy="4791198"/>
              </a:xfrm>
            </p:spPr>
            <p:txBody>
              <a:bodyPr>
                <a:normAutofit/>
              </a:bodyPr>
              <a:lstStyle/>
              <a:p>
                <a:pPr marL="0" indent="0">
                  <a:buNone/>
                </a:pPr>
                <a:r>
                  <a:rPr lang="en-US" altLang="ja-JP" dirty="0">
                    <a:latin typeface="+mn-ea"/>
                    <a:cs typeface="ヒラギノ角ゴ Pro W3"/>
                  </a:rPr>
                  <a:t>① </a:t>
                </a:r>
                <a:r>
                  <a:rPr lang="ja-JP" altLang="en-US">
                    <a:latin typeface="+mn-ea"/>
                    <a:cs typeface="ヒラギノ角ゴ Pro W3"/>
                  </a:rPr>
                  <a:t>全ての変数</a:t>
                </a:r>
                <a14:m>
                  <m:oMath xmlns:m="http://schemas.openxmlformats.org/officeDocument/2006/math">
                    <m:r>
                      <a:rPr lang="en-US" altLang="ja-JP" i="1">
                        <a:latin typeface="Cambria Math" panose="02040503050406030204" pitchFamily="18" charset="0"/>
                        <a:ea typeface="Cambria Math" panose="02040503050406030204" pitchFamily="18" charset="0"/>
                      </a:rPr>
                      <m:t>𝑆</m:t>
                    </m:r>
                    <m:r>
                      <a:rPr lang="en-US" altLang="ja-JP" i="1">
                        <a:latin typeface="Cambria Math" panose="02040503050406030204" pitchFamily="18" charset="0"/>
                        <a:ea typeface="Cambria Math" panose="02040503050406030204" pitchFamily="18" charset="0"/>
                      </a:rPr>
                      <m:t>⊂{1,…</m:t>
                    </m:r>
                    <m:r>
                      <a:rPr lang="en-US" altLang="ja-JP" i="1">
                        <a:latin typeface="Cambria Math" panose="02040503050406030204" pitchFamily="18" charset="0"/>
                        <a:ea typeface="Cambria Math" panose="02040503050406030204" pitchFamily="18" charset="0"/>
                      </a:rPr>
                      <m:t>𝑝</m:t>
                    </m:r>
                    <m:r>
                      <a:rPr lang="en-US" altLang="ja-JP" i="1">
                        <a:latin typeface="Cambria Math" panose="02040503050406030204" pitchFamily="18" charset="0"/>
                        <a:ea typeface="Cambria Math" panose="02040503050406030204" pitchFamily="18" charset="0"/>
                      </a:rPr>
                      <m:t>}</m:t>
                    </m:r>
                  </m:oMath>
                </a14:m>
                <a:r>
                  <a:rPr lang="ja-JP" altLang="en-US">
                    <a:latin typeface="+mn-ea"/>
                    <a:cs typeface="ヒラギノ角ゴ Pro W3"/>
                  </a:rPr>
                  <a:t>に対して</a:t>
                </a:r>
                <a14:m>
                  <m:oMath xmlns:m="http://schemas.openxmlformats.org/officeDocument/2006/math">
                    <m:sSub>
                      <m:sSubPr>
                        <m:ctrlPr>
                          <a:rPr lang="en-US" altLang="ja-JP" b="0" i="1" smtClean="0">
                            <a:latin typeface="Cambria Math" panose="02040503050406030204" pitchFamily="18" charset="0"/>
                            <a:cs typeface="ヒラギノ角ゴ Pro W3"/>
                          </a:rPr>
                        </m:ctrlPr>
                      </m:sSubPr>
                      <m:e>
                        <m:d>
                          <m:dPr>
                            <m:ctrlPr>
                              <a:rPr lang="en-US" altLang="ja-JP" b="0" i="1" smtClean="0">
                                <a:latin typeface="Cambria Math" panose="02040503050406030204" pitchFamily="18" charset="0"/>
                                <a:cs typeface="ヒラギノ角ゴ Pro W3"/>
                              </a:rPr>
                            </m:ctrlPr>
                          </m:dPr>
                          <m:e>
                            <m:sSub>
                              <m:sSubPr>
                                <m:ctrlPr>
                                  <a:rPr lang="en-US" altLang="ja-JP" b="0" i="1" smtClean="0">
                                    <a:latin typeface="Cambria Math" panose="02040503050406030204" pitchFamily="18" charset="0"/>
                                    <a:cs typeface="ヒラギノ角ゴ Pro W3"/>
                                  </a:rPr>
                                </m:ctrlPr>
                              </m:sSubPr>
                              <m:e>
                                <m:r>
                                  <a:rPr lang="en-US" altLang="ja-JP" b="1" i="1" smtClean="0">
                                    <a:latin typeface="Cambria Math" panose="02040503050406030204" pitchFamily="18" charset="0"/>
                                    <a:cs typeface="ヒラギノ角ゴ Pro W3"/>
                                  </a:rPr>
                                  <m:t>𝑾</m:t>
                                </m:r>
                              </m:e>
                              <m:sub>
                                <m:r>
                                  <a:rPr lang="en-US" altLang="ja-JP" b="0" i="1" smtClean="0">
                                    <a:latin typeface="Cambria Math" panose="02040503050406030204" pitchFamily="18" charset="0"/>
                                    <a:cs typeface="ヒラギノ角ゴ Pro W3"/>
                                  </a:rPr>
                                  <m:t>𝑠𝑤𝑎𝑝</m:t>
                                </m:r>
                                <m:d>
                                  <m:dPr>
                                    <m:ctrlPr>
                                      <a:rPr lang="en-US" altLang="ja-JP" b="0" i="1" smtClean="0">
                                        <a:latin typeface="Cambria Math" panose="02040503050406030204" pitchFamily="18" charset="0"/>
                                        <a:cs typeface="ヒラギノ角ゴ Pro W3"/>
                                      </a:rPr>
                                    </m:ctrlPr>
                                  </m:dPr>
                                  <m:e>
                                    <m:r>
                                      <a:rPr lang="en-US" altLang="ja-JP" b="0" i="1" smtClean="0">
                                        <a:latin typeface="Cambria Math" panose="02040503050406030204" pitchFamily="18" charset="0"/>
                                        <a:cs typeface="ヒラギノ角ゴ Pro W3"/>
                                      </a:rPr>
                                      <m:t>𝑆</m:t>
                                    </m:r>
                                  </m:e>
                                </m:d>
                              </m:sub>
                            </m:sSub>
                          </m:e>
                        </m:d>
                      </m:e>
                      <m:sub>
                        <m:r>
                          <a:rPr lang="en-US" altLang="ja-JP" b="0" i="1" smtClean="0">
                            <a:latin typeface="Cambria Math" panose="02040503050406030204" pitchFamily="18" charset="0"/>
                            <a:cs typeface="ヒラギノ角ゴ Pro W3"/>
                          </a:rPr>
                          <m:t>𝑘𝑗</m:t>
                        </m:r>
                      </m:sub>
                    </m:sSub>
                    <m:r>
                      <a:rPr lang="en-US" altLang="ja-JP" i="1">
                        <a:latin typeface="Cambria Math" panose="02040503050406030204" pitchFamily="18" charset="0"/>
                        <a:cs typeface="ヒラギノ角ゴ Pro W3"/>
                      </a:rPr>
                      <m:t>=</m:t>
                    </m:r>
                    <m:sSub>
                      <m:sSubPr>
                        <m:ctrlPr>
                          <a:rPr lang="en-US" altLang="ja-JP" b="0" i="1" smtClean="0">
                            <a:latin typeface="Cambria Math" panose="02040503050406030204" pitchFamily="18" charset="0"/>
                            <a:cs typeface="ヒラギノ角ゴ Pro W3"/>
                          </a:rPr>
                        </m:ctrlPr>
                      </m:sSubPr>
                      <m:e>
                        <m:r>
                          <a:rPr lang="en-US" altLang="ja-JP" b="0" i="1">
                            <a:latin typeface="Cambria Math" panose="02040503050406030204" pitchFamily="18" charset="0"/>
                            <a:cs typeface="ヒラギノ角ゴ Pro W3"/>
                          </a:rPr>
                          <m:t>𝑊</m:t>
                        </m:r>
                      </m:e>
                      <m:sub>
                        <m:r>
                          <a:rPr lang="en-US" altLang="ja-JP" b="0" i="1" smtClean="0">
                            <a:latin typeface="Cambria Math" panose="02040503050406030204" pitchFamily="18" charset="0"/>
                            <a:cs typeface="ヒラギノ角ゴ Pro W3"/>
                          </a:rPr>
                          <m:t>𝑘𝑗</m:t>
                        </m:r>
                      </m:sub>
                    </m:sSub>
                    <m:r>
                      <a:rPr lang="en-US" altLang="ja-JP" i="1">
                        <a:latin typeface="Cambria Math" panose="02040503050406030204" pitchFamily="18" charset="0"/>
                        <a:ea typeface="Cambria Math" panose="02040503050406030204" pitchFamily="18" charset="0"/>
                        <a:cs typeface="ヒラギノ角ゴ Pro W3"/>
                      </a:rPr>
                      <m:t>∙</m:t>
                    </m:r>
                    <m:d>
                      <m:dPr>
                        <m:begChr m:val="{"/>
                        <m:endChr m:val=""/>
                        <m:ctrlPr>
                          <a:rPr lang="en-US" altLang="ja-JP" i="1">
                            <a:latin typeface="Cambria Math" panose="02040503050406030204" pitchFamily="18" charset="0"/>
                            <a:ea typeface="Cambria Math" panose="02040503050406030204" pitchFamily="18" charset="0"/>
                          </a:rPr>
                        </m:ctrlPr>
                      </m:dPr>
                      <m:e>
                        <m:eqArr>
                          <m:eqArrPr>
                            <m:ctrlPr>
                              <a:rPr lang="en-US" altLang="ja-JP" i="1">
                                <a:latin typeface="Cambria Math" panose="02040503050406030204" pitchFamily="18" charset="0"/>
                                <a:ea typeface="Cambria Math" panose="02040503050406030204" pitchFamily="18" charset="0"/>
                              </a:rPr>
                            </m:ctrlPr>
                          </m:eqArrPr>
                          <m:e>
                            <m:r>
                              <a:rPr lang="en-US" altLang="ja-JP" i="1">
                                <a:latin typeface="Cambria Math" panose="02040503050406030204" pitchFamily="18" charset="0"/>
                                <a:ea typeface="Cambria Math" panose="02040503050406030204" pitchFamily="18" charset="0"/>
                              </a:rPr>
                              <m:t>1</m:t>
                            </m:r>
                            <m:r>
                              <a:rPr lang="en-US" altLang="ja-JP" b="0" i="1" smtClean="0">
                                <a:latin typeface="Cambria Math" panose="02040503050406030204" pitchFamily="18" charset="0"/>
                                <a:ea typeface="Cambria Math" panose="02040503050406030204" pitchFamily="18" charset="0"/>
                              </a:rPr>
                              <m:t>          </m:t>
                            </m:r>
                            <m:r>
                              <a:rPr lang="en-US" altLang="ja-JP" i="1">
                                <a:latin typeface="Cambria Math" panose="02040503050406030204" pitchFamily="18" charset="0"/>
                                <a:ea typeface="Cambria Math" panose="02040503050406030204" pitchFamily="18" charset="0"/>
                              </a:rPr>
                              <m:t>𝑗</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𝑆</m:t>
                            </m:r>
                          </m:e>
                          <m:e>
                            <m:r>
                              <a:rPr lang="en-US" altLang="ja-JP" i="1">
                                <a:latin typeface="Cambria Math" panose="02040503050406030204" pitchFamily="18" charset="0"/>
                                <a:ea typeface="Cambria Math" panose="02040503050406030204" pitchFamily="18" charset="0"/>
                              </a:rPr>
                              <m:t>−1</m:t>
                            </m:r>
                            <m:r>
                              <a:rPr lang="en-US" altLang="ja-JP" b="0" i="1" smtClean="0">
                                <a:latin typeface="Cambria Math" panose="02040503050406030204" pitchFamily="18" charset="0"/>
                                <a:ea typeface="Cambria Math" panose="02040503050406030204" pitchFamily="18" charset="0"/>
                              </a:rPr>
                              <m:t>      </m:t>
                            </m:r>
                            <m:r>
                              <a:rPr lang="en-US" altLang="ja-JP" i="1">
                                <a:latin typeface="Cambria Math" panose="02040503050406030204" pitchFamily="18" charset="0"/>
                                <a:ea typeface="Cambria Math" panose="02040503050406030204" pitchFamily="18" charset="0"/>
                              </a:rPr>
                              <m:t>𝑗</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𝑆</m:t>
                            </m:r>
                          </m:e>
                        </m:eqArr>
                      </m:e>
                    </m:d>
                  </m:oMath>
                </a14:m>
                <a:endParaRPr lang="en-US" altLang="ja-JP" b="0" i="1" dirty="0">
                  <a:latin typeface="Cambria Math" panose="02040503050406030204" pitchFamily="18" charset="0"/>
                  <a:cs typeface="ヒラギノ角ゴ Pro W3"/>
                </a:endParaRPr>
              </a:p>
              <a:p>
                <a:pPr marL="0" indent="0">
                  <a:buNone/>
                </a:pPr>
                <a:r>
                  <a:rPr lang="en-US" altLang="ja-JP" dirty="0">
                    <a:latin typeface="+mn-ea"/>
                    <a:cs typeface="ヒラギノ角ゴ Pro W3"/>
                  </a:rPr>
                  <a:t>② </a:t>
                </a:r>
                <a14:m>
                  <m:oMath xmlns:m="http://schemas.openxmlformats.org/officeDocument/2006/math">
                    <m:sSub>
                      <m:sSubPr>
                        <m:ctrlPr>
                          <a:rPr lang="en-US" altLang="ja-JP" b="0" i="1" smtClean="0">
                            <a:latin typeface="Cambria Math" panose="02040503050406030204" pitchFamily="18" charset="0"/>
                            <a:cs typeface="ヒラギノ角ゴ Pro W3"/>
                          </a:rPr>
                        </m:ctrlPr>
                      </m:sSubPr>
                      <m:e>
                        <m:r>
                          <a:rPr lang="en-US" altLang="ja-JP" b="0" i="1" smtClean="0">
                            <a:latin typeface="Cambria Math" panose="02040503050406030204" pitchFamily="18" charset="0"/>
                            <a:cs typeface="ヒラギノ角ゴ Pro W3"/>
                          </a:rPr>
                          <m:t>𝑣</m:t>
                        </m:r>
                      </m:e>
                      <m:sub>
                        <m:r>
                          <a:rPr lang="en-US" altLang="ja-JP" b="0" i="1" smtClean="0">
                            <a:latin typeface="Cambria Math" panose="02040503050406030204" pitchFamily="18" charset="0"/>
                            <a:cs typeface="ヒラギノ角ゴ Pro W3"/>
                          </a:rPr>
                          <m:t>𝑗</m:t>
                        </m:r>
                      </m:sub>
                    </m:sSub>
                    <m:r>
                      <a:rPr lang="en-US" altLang="ja-JP" b="0" i="1" smtClean="0">
                        <a:latin typeface="Cambria Math" panose="02040503050406030204" pitchFamily="18" charset="0"/>
                        <a:cs typeface="ヒラギノ角ゴ Pro W3"/>
                      </a:rPr>
                      <m:t>=0</m:t>
                    </m:r>
                  </m:oMath>
                </a14:m>
                <a:r>
                  <a:rPr lang="ja-JP" altLang="en-US">
                    <a:latin typeface="+mn-ea"/>
                    <a:cs typeface="ヒラギノ角ゴ Pro W3"/>
                  </a:rPr>
                  <a:t>となる</a:t>
                </a:r>
                <a14:m>
                  <m:oMath xmlns:m="http://schemas.openxmlformats.org/officeDocument/2006/math">
                    <m:r>
                      <a:rPr lang="en-US" altLang="ja-JP" b="0" i="1" smtClean="0">
                        <a:latin typeface="Cambria Math" panose="02040503050406030204" pitchFamily="18" charset="0"/>
                        <a:cs typeface="ヒラギノ角ゴ Pro W3"/>
                      </a:rPr>
                      <m:t>𝑗</m:t>
                    </m:r>
                  </m:oMath>
                </a14:m>
                <a:r>
                  <a:rPr lang="ja-JP" altLang="en-US" dirty="0">
                    <a:latin typeface="+mn-ea"/>
                    <a:cs typeface="ヒラギノ角ゴ Pro W3"/>
                  </a:rPr>
                  <a:t>に対して</a:t>
                </a:r>
                <a:r>
                  <a:rPr lang="en-US" altLang="ja-JP" dirty="0">
                    <a:latin typeface="+mn-ea"/>
                    <a:cs typeface="ヒラギノ角ゴ Pro W3"/>
                  </a:rPr>
                  <a:t> </a:t>
                </a:r>
                <a14:m>
                  <m:oMath xmlns:m="http://schemas.openxmlformats.org/officeDocument/2006/math">
                    <m:sSub>
                      <m:sSubPr>
                        <m:ctrlPr>
                          <a:rPr lang="en-US" altLang="ja-JP" i="1">
                            <a:latin typeface="Cambria Math" panose="02040503050406030204" pitchFamily="18" charset="0"/>
                            <a:cs typeface="ヒラギノ角ゴ Pro W3"/>
                          </a:rPr>
                        </m:ctrlPr>
                      </m:sSubPr>
                      <m:e>
                        <m:d>
                          <m:dPr>
                            <m:ctrlPr>
                              <a:rPr lang="en-US" altLang="ja-JP" i="1">
                                <a:latin typeface="Cambria Math" panose="02040503050406030204" pitchFamily="18" charset="0"/>
                                <a:cs typeface="ヒラギノ角ゴ Pro W3"/>
                              </a:rPr>
                            </m:ctrlPr>
                          </m:dPr>
                          <m:e>
                            <m:sSub>
                              <m:sSubPr>
                                <m:ctrlPr>
                                  <a:rPr lang="en-US" altLang="ja-JP" i="1">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i="1">
                                    <a:latin typeface="Cambria Math" panose="02040503050406030204" pitchFamily="18" charset="0"/>
                                    <a:cs typeface="ヒラギノ角ゴ Pro W3"/>
                                  </a:rPr>
                                  <m:t>𝑠𝑤𝑎𝑝</m:t>
                                </m:r>
                                <m:d>
                                  <m:dPr>
                                    <m:ctrlPr>
                                      <a:rPr lang="en-US" altLang="ja-JP" i="1">
                                        <a:latin typeface="Cambria Math" panose="02040503050406030204" pitchFamily="18" charset="0"/>
                                        <a:cs typeface="ヒラギノ角ゴ Pro W3"/>
                                      </a:rPr>
                                    </m:ctrlPr>
                                  </m:dPr>
                                  <m:e>
                                    <m:r>
                                      <a:rPr lang="en-US" altLang="ja-JP" i="1">
                                        <a:latin typeface="Cambria Math" panose="02040503050406030204" pitchFamily="18" charset="0"/>
                                        <a:cs typeface="ヒラギノ角ゴ Pro W3"/>
                                      </a:rPr>
                                      <m:t>𝑆</m:t>
                                    </m:r>
                                  </m:e>
                                </m:d>
                              </m:sub>
                            </m:sSub>
                          </m:e>
                        </m:d>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limUpp>
                      <m:limUppPr>
                        <m:ctrlPr>
                          <a:rPr lang="ar-AE" altLang="ja-JP" i="1">
                            <a:solidFill>
                              <a:srgbClr val="000000"/>
                            </a:solidFill>
                            <a:latin typeface="Cambria Math" panose="02040503050406030204" pitchFamily="18" charset="0"/>
                          </a:rPr>
                        </m:ctrlPr>
                      </m:limUppPr>
                      <m:e>
                        <m:r>
                          <a:rPr lang="ar-AE" altLang="ja-JP" i="1">
                            <a:solidFill>
                              <a:srgbClr val="000000"/>
                            </a:solidFill>
                            <a:latin typeface="Cambria Math" panose="02040503050406030204" pitchFamily="18" charset="0"/>
                          </a:rPr>
                          <m:t>=</m:t>
                        </m:r>
                      </m:e>
                      <m:lim>
                        <m:r>
                          <a:rPr lang="ar-AE" altLang="ja-JP" i="1">
                            <a:solidFill>
                              <a:srgbClr val="000000"/>
                            </a:solidFill>
                            <a:latin typeface="Cambria Math" panose="02040503050406030204" pitchFamily="18" charset="0"/>
                          </a:rPr>
                          <m:t>𝑑</m:t>
                        </m:r>
                      </m:lim>
                    </m:limUpp>
                    <m:sSub>
                      <m:sSubPr>
                        <m:ctrlPr>
                          <a:rPr lang="en-US" altLang="ja-JP" i="1">
                            <a:latin typeface="Cambria Math" panose="02040503050406030204" pitchFamily="18" charset="0"/>
                            <a:cs typeface="ヒラギノ角ゴ Pro W3"/>
                          </a:rPr>
                        </m:ctrlPr>
                      </m:sSubPr>
                      <m:e>
                        <m:r>
                          <a:rPr lang="en-US" altLang="ja-JP" b="0" i="1">
                            <a:latin typeface="Cambria Math" panose="02040503050406030204" pitchFamily="18" charset="0"/>
                            <a:cs typeface="ヒラギノ角ゴ Pro W3"/>
                          </a:rPr>
                          <m:t>𝑊</m:t>
                        </m:r>
                      </m:e>
                      <m:sub>
                        <m:r>
                          <a:rPr lang="en-US" altLang="ja-JP" b="0" i="1" smtClean="0">
                            <a:latin typeface="Cambria Math" panose="02040503050406030204" pitchFamily="18" charset="0"/>
                            <a:cs typeface="ヒラギノ角ゴ Pro W3"/>
                          </a:rPr>
                          <m:t>𝑘</m:t>
                        </m:r>
                        <m:r>
                          <a:rPr lang="en-US" altLang="ja-JP" b="0" i="1">
                            <a:latin typeface="Cambria Math" panose="02040503050406030204" pitchFamily="18" charset="0"/>
                            <a:cs typeface="ヒラギノ角ゴ Pro W3"/>
                          </a:rPr>
                          <m:t>𝑗</m:t>
                        </m:r>
                      </m:sub>
                    </m:sSub>
                  </m:oMath>
                </a14:m>
                <a:endParaRPr lang="en-US" altLang="ja-JP" dirty="0">
                  <a:latin typeface="+mn-ea"/>
                  <a:cs typeface="ヒラギノ角ゴ Pro W3"/>
                </a:endParaRPr>
              </a:p>
              <a:p>
                <a:pPr marL="0" indent="0">
                  <a:buNone/>
                </a:pPr>
                <a:endParaRPr lang="en-US" altLang="ja-JP" b="0" i="1" dirty="0">
                  <a:latin typeface="Cambria Math" panose="02040503050406030204" pitchFamily="18" charset="0"/>
                  <a:cs typeface="ヒラギノ角ゴ Pro W3"/>
                </a:endParaRPr>
              </a:p>
              <a:p>
                <a:pPr marL="0" indent="0">
                  <a:buNone/>
                </a:pPr>
                <a:r>
                  <a:rPr lang="en-US" altLang="ja-JP" dirty="0">
                    <a:latin typeface="+mn-ea"/>
                    <a:cs typeface="ヒラギノ角ゴ Pro W3"/>
                  </a:rPr>
                  <a:t>① ②</a:t>
                </a:r>
                <a:r>
                  <a:rPr lang="ja-JP" altLang="en-US">
                    <a:latin typeface="+mn-ea"/>
                    <a:cs typeface="ヒラギノ角ゴ Pro W3"/>
                  </a:rPr>
                  <a:t>より，</a:t>
                </a:r>
                <a14:m>
                  <m:oMath xmlns:m="http://schemas.openxmlformats.org/officeDocument/2006/math">
                    <m:sSub>
                      <m:sSubPr>
                        <m:ctrlPr>
                          <a:rPr lang="en-US" altLang="ja-JP" b="0" i="1" smtClean="0">
                            <a:latin typeface="Cambria Math" panose="02040503050406030204" pitchFamily="18" charset="0"/>
                            <a:cs typeface="ヒラギノ角ゴ Pro W3"/>
                          </a:rPr>
                        </m:ctrlPr>
                      </m:sSubPr>
                      <m:e>
                        <m:r>
                          <a:rPr lang="en-US" altLang="ja-JP" b="0" i="1" smtClean="0">
                            <a:latin typeface="Cambria Math" panose="02040503050406030204" pitchFamily="18" charset="0"/>
                            <a:cs typeface="ヒラギノ角ゴ Pro W3"/>
                          </a:rPr>
                          <m:t>𝑣</m:t>
                        </m:r>
                      </m:e>
                      <m:sub>
                        <m:r>
                          <a:rPr lang="en-US" altLang="ja-JP" b="0" i="1" smtClean="0">
                            <a:latin typeface="Cambria Math" panose="02040503050406030204" pitchFamily="18" charset="0"/>
                            <a:cs typeface="ヒラギノ角ゴ Pro W3"/>
                          </a:rPr>
                          <m:t>𝑗</m:t>
                        </m:r>
                      </m:sub>
                    </m:sSub>
                    <m:r>
                      <a:rPr lang="en-US" altLang="ja-JP" b="0" i="1" smtClean="0">
                        <a:latin typeface="Cambria Math" panose="02040503050406030204" pitchFamily="18" charset="0"/>
                        <a:cs typeface="ヒラギノ角ゴ Pro W3"/>
                      </a:rPr>
                      <m:t>=0</m:t>
                    </m:r>
                  </m:oMath>
                </a14:m>
                <a:r>
                  <a:rPr lang="ja-JP" altLang="en-US">
                    <a:latin typeface="+mn-ea"/>
                    <a:cs typeface="ヒラギノ角ゴ Pro W3"/>
                  </a:rPr>
                  <a:t>となる</a:t>
                </a:r>
                <a14:m>
                  <m:oMath xmlns:m="http://schemas.openxmlformats.org/officeDocument/2006/math">
                    <m:r>
                      <a:rPr lang="en-US" altLang="ja-JP" b="0" i="1" smtClean="0">
                        <a:latin typeface="Cambria Math" panose="02040503050406030204" pitchFamily="18" charset="0"/>
                        <a:cs typeface="ヒラギノ角ゴ Pro W3"/>
                      </a:rPr>
                      <m:t>𝑗</m:t>
                    </m:r>
                  </m:oMath>
                </a14:m>
                <a:r>
                  <a:rPr lang="ja-JP" altLang="en-US" dirty="0">
                    <a:latin typeface="+mn-ea"/>
                    <a:cs typeface="ヒラギノ角ゴ Pro W3"/>
                  </a:rPr>
                  <a:t>に対して</a:t>
                </a:r>
                <a:endParaRPr lang="en-US" altLang="ja-JP" dirty="0">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r>
                        <a:rPr lang="en-US" altLang="ja-JP" b="0" i="1" smtClean="0">
                          <a:latin typeface="Cambria Math" panose="02040503050406030204" pitchFamily="18" charset="0"/>
                          <a:cs typeface="ヒラギノ角ゴ Pro W3"/>
                        </a:rPr>
                        <m:t>=</m:t>
                      </m:r>
                      <m:sSub>
                        <m:sSubPr>
                          <m:ctrlPr>
                            <a:rPr lang="en-US" altLang="ja-JP" i="1">
                              <a:latin typeface="Cambria Math" panose="02040503050406030204" pitchFamily="18" charset="0"/>
                              <a:cs typeface="ヒラギノ角ゴ Pro W3"/>
                            </a:rPr>
                          </m:ctrlPr>
                        </m:sSubPr>
                        <m:e>
                          <m:d>
                            <m:dPr>
                              <m:ctrlPr>
                                <a:rPr lang="en-US" altLang="ja-JP" i="1">
                                  <a:latin typeface="Cambria Math" panose="02040503050406030204" pitchFamily="18" charset="0"/>
                                  <a:cs typeface="ヒラギノ角ゴ Pro W3"/>
                                </a:rPr>
                              </m:ctrlPr>
                            </m:dPr>
                            <m:e>
                              <m:sSub>
                                <m:sSubPr>
                                  <m:ctrlPr>
                                    <a:rPr lang="en-US" altLang="ja-JP" i="1">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i="1">
                                      <a:latin typeface="Cambria Math" panose="02040503050406030204" pitchFamily="18" charset="0"/>
                                      <a:cs typeface="ヒラギノ角ゴ Pro W3"/>
                                    </a:rPr>
                                    <m:t>𝑠𝑤𝑎𝑝</m:t>
                                  </m:r>
                                  <m:d>
                                    <m:dPr>
                                      <m:ctrlPr>
                                        <a:rPr lang="en-US" altLang="ja-JP" i="1">
                                          <a:latin typeface="Cambria Math" panose="02040503050406030204" pitchFamily="18" charset="0"/>
                                          <a:cs typeface="ヒラギノ角ゴ Pro W3"/>
                                        </a:rPr>
                                      </m:ctrlPr>
                                    </m:dPr>
                                    <m:e>
                                      <m:r>
                                        <a:rPr lang="en-US" altLang="ja-JP" i="1">
                                          <a:latin typeface="Cambria Math" panose="02040503050406030204" pitchFamily="18" charset="0"/>
                                          <a:cs typeface="ヒラギノ角ゴ Pro W3"/>
                                        </a:rPr>
                                        <m:t>𝑆</m:t>
                                      </m:r>
                                    </m:e>
                                  </m:d>
                                </m:sub>
                              </m:sSub>
                            </m:e>
                          </m:d>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limUpp>
                        <m:limUppPr>
                          <m:ctrlPr>
                            <a:rPr lang="ar-AE" altLang="ja-JP" i="1">
                              <a:solidFill>
                                <a:srgbClr val="000000"/>
                              </a:solidFill>
                              <a:latin typeface="Cambria Math" panose="02040503050406030204" pitchFamily="18" charset="0"/>
                            </a:rPr>
                          </m:ctrlPr>
                        </m:limUppPr>
                        <m:e>
                          <m:r>
                            <a:rPr lang="ar-AE" altLang="ja-JP" i="1">
                              <a:solidFill>
                                <a:srgbClr val="000000"/>
                              </a:solidFill>
                              <a:latin typeface="Cambria Math" panose="02040503050406030204" pitchFamily="18" charset="0"/>
                            </a:rPr>
                            <m:t>=</m:t>
                          </m:r>
                        </m:e>
                        <m:lim>
                          <m:r>
                            <a:rPr lang="ar-AE" altLang="ja-JP" i="1">
                              <a:solidFill>
                                <a:srgbClr val="000000"/>
                              </a:solidFill>
                              <a:latin typeface="Cambria Math" panose="02040503050406030204" pitchFamily="18" charset="0"/>
                            </a:rPr>
                            <m:t>𝑑</m:t>
                          </m:r>
                        </m:lim>
                      </m:limUpp>
                      <m:r>
                        <a:rPr lang="en-US" altLang="ja-JP" b="0" i="1" smtClean="0">
                          <a:solidFill>
                            <a:srgbClr val="000000"/>
                          </a:solidFill>
                          <a:latin typeface="Cambria Math" panose="02040503050406030204" pitchFamily="18" charset="0"/>
                        </a:rPr>
                        <m:t>−</m:t>
                      </m:r>
                      <m:sSub>
                        <m:sSubPr>
                          <m:ctrlPr>
                            <a:rPr lang="en-US" altLang="ja-JP" i="1">
                              <a:latin typeface="Cambria Math" panose="02040503050406030204" pitchFamily="18" charset="0"/>
                              <a:cs typeface="ヒラギノ角ゴ Pro W3"/>
                            </a:rPr>
                          </m:ctrlPr>
                        </m:sSubPr>
                        <m:e>
                          <m:r>
                            <a:rPr lang="en-US" altLang="ja-JP" b="1" i="1">
                              <a:latin typeface="Cambria Math" panose="02040503050406030204" pitchFamily="18" charset="0"/>
                              <a:cs typeface="ヒラギノ角ゴ Pro W3"/>
                            </a:rPr>
                            <m:t>𝑾</m:t>
                          </m:r>
                        </m:e>
                        <m:sub>
                          <m:r>
                            <a:rPr lang="en-US" altLang="ja-JP" b="0" i="1" smtClean="0">
                              <a:latin typeface="Cambria Math" panose="02040503050406030204" pitchFamily="18" charset="0"/>
                              <a:cs typeface="ヒラギノ角ゴ Pro W3"/>
                            </a:rPr>
                            <m:t>𝑘</m:t>
                          </m:r>
                          <m:r>
                            <a:rPr lang="en-US" altLang="ja-JP" i="1">
                              <a:latin typeface="Cambria Math" panose="02040503050406030204" pitchFamily="18" charset="0"/>
                              <a:cs typeface="ヒラギノ角ゴ Pro W3"/>
                            </a:rPr>
                            <m:t>𝑗</m:t>
                          </m:r>
                        </m:sub>
                      </m:sSub>
                    </m:oMath>
                  </m:oMathPara>
                </a14:m>
                <a:endParaRPr lang="en-US" altLang="ja-JP"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A299F31C-24F7-A1E9-2191-69E9657597D4}"/>
                  </a:ext>
                </a:extLst>
              </p:cNvPr>
              <p:cNvSpPr>
                <a:spLocks noGrp="1" noRot="1" noChangeAspect="1" noMove="1" noResize="1" noEditPoints="1" noAdjustHandles="1" noChangeArrowheads="1" noChangeShapeType="1" noTextEdit="1"/>
              </p:cNvSpPr>
              <p:nvPr>
                <p:ph idx="1"/>
              </p:nvPr>
            </p:nvSpPr>
            <p:spPr>
              <a:xfrm>
                <a:off x="20467" y="1968566"/>
                <a:ext cx="12171534" cy="4791198"/>
              </a:xfrm>
              <a:blipFill>
                <a:blip r:embed="rId3"/>
                <a:stretch>
                  <a:fillRect l="-1042" t="-46296"/>
                </a:stretch>
              </a:blipFill>
            </p:spPr>
            <p:txBody>
              <a:bodyPr/>
              <a:lstStyle/>
              <a:p>
                <a:r>
                  <a:rPr lang="ja-JP" altLang="en-US">
                    <a:noFill/>
                  </a:rPr>
                  <a:t> </a:t>
                </a:r>
              </a:p>
            </p:txBody>
          </p:sp>
        </mc:Fallback>
      </mc:AlternateContent>
      <p:sp>
        <p:nvSpPr>
          <p:cNvPr id="4" name="タイトル 1">
            <a:extLst>
              <a:ext uri="{FF2B5EF4-FFF2-40B4-BE49-F238E27FC236}">
                <a16:creationId xmlns:a16="http://schemas.microsoft.com/office/drawing/2014/main" id="{9AE01412-39B8-749D-4200-8CD96B96285A}"/>
              </a:ext>
            </a:extLst>
          </p:cNvPr>
          <p:cNvSpPr txBox="1">
            <a:spLocks/>
          </p:cNvSpPr>
          <p:nvPr/>
        </p:nvSpPr>
        <p:spPr>
          <a:xfrm>
            <a:off x="0" y="1335"/>
            <a:ext cx="12244898" cy="835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交換可能性の証明</a:t>
            </a:r>
          </a:p>
        </p:txBody>
      </p:sp>
      <p:sp>
        <p:nvSpPr>
          <p:cNvPr id="5" name="テキスト ボックス 4">
            <a:extLst>
              <a:ext uri="{FF2B5EF4-FFF2-40B4-BE49-F238E27FC236}">
                <a16:creationId xmlns:a16="http://schemas.microsoft.com/office/drawing/2014/main" id="{82B29124-FEF6-6719-A0D3-9C4C1F4A2A93}"/>
              </a:ext>
            </a:extLst>
          </p:cNvPr>
          <p:cNvSpPr txBox="1"/>
          <p:nvPr/>
        </p:nvSpPr>
        <p:spPr>
          <a:xfrm>
            <a:off x="4017003" y="5896131"/>
            <a:ext cx="1415772" cy="584775"/>
          </a:xfrm>
          <a:prstGeom prst="rect">
            <a:avLst/>
          </a:prstGeom>
          <a:noFill/>
        </p:spPr>
        <p:txBody>
          <a:bodyPr wrap="none" rtlCol="0">
            <a:spAutoFit/>
          </a:bodyPr>
          <a:lstStyle/>
          <a:p>
            <a:r>
              <a:rPr kumimoji="1" lang="en-US" altLang="ja-JP" sz="3200" dirty="0"/>
              <a:t>①</a:t>
            </a:r>
            <a:r>
              <a:rPr kumimoji="1" lang="ja-JP" altLang="en-US" sz="3200"/>
              <a:t>より</a:t>
            </a:r>
          </a:p>
        </p:txBody>
      </p:sp>
      <p:sp>
        <p:nvSpPr>
          <p:cNvPr id="6" name="テキスト ボックス 5">
            <a:extLst>
              <a:ext uri="{FF2B5EF4-FFF2-40B4-BE49-F238E27FC236}">
                <a16:creationId xmlns:a16="http://schemas.microsoft.com/office/drawing/2014/main" id="{441CFE02-5D13-F1A8-D0F8-8785C499ED88}"/>
              </a:ext>
            </a:extLst>
          </p:cNvPr>
          <p:cNvSpPr txBox="1"/>
          <p:nvPr/>
        </p:nvSpPr>
        <p:spPr>
          <a:xfrm>
            <a:off x="6491986" y="5896131"/>
            <a:ext cx="1415772" cy="584775"/>
          </a:xfrm>
          <a:prstGeom prst="rect">
            <a:avLst/>
          </a:prstGeom>
          <a:noFill/>
        </p:spPr>
        <p:txBody>
          <a:bodyPr wrap="none" rtlCol="0">
            <a:spAutoFit/>
          </a:bodyPr>
          <a:lstStyle/>
          <a:p>
            <a:r>
              <a:rPr kumimoji="1" lang="en-US" altLang="ja-JP" sz="3200" dirty="0"/>
              <a:t>②</a:t>
            </a:r>
            <a:r>
              <a:rPr kumimoji="1" lang="ja-JP" altLang="en-US" sz="3200"/>
              <a:t>より</a:t>
            </a:r>
          </a:p>
        </p:txBody>
      </p:sp>
      <p:sp>
        <p:nvSpPr>
          <p:cNvPr id="7" name="下矢印 6">
            <a:extLst>
              <a:ext uri="{FF2B5EF4-FFF2-40B4-BE49-F238E27FC236}">
                <a16:creationId xmlns:a16="http://schemas.microsoft.com/office/drawing/2014/main" id="{9A823407-7218-348D-B1DD-4E47B6D9E239}"/>
              </a:ext>
            </a:extLst>
          </p:cNvPr>
          <p:cNvSpPr/>
          <p:nvPr/>
        </p:nvSpPr>
        <p:spPr>
          <a:xfrm>
            <a:off x="4457648" y="5270548"/>
            <a:ext cx="534482" cy="462005"/>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1A0CE274-84E1-632F-95DC-CE41C3BC3694}"/>
                  </a:ext>
                </a:extLst>
              </p:cNvPr>
              <p:cNvSpPr txBox="1"/>
              <p:nvPr/>
            </p:nvSpPr>
            <p:spPr>
              <a:xfrm>
                <a:off x="431180" y="677630"/>
                <a:ext cx="11329639" cy="1113253"/>
              </a:xfrm>
              <a:prstGeom prst="rect">
                <a:avLst/>
              </a:prstGeom>
              <a:noFill/>
            </p:spPr>
            <p:txBody>
              <a:bodyPr wrap="square">
                <a:spAutoFit/>
              </a:bodyPr>
              <a:lstStyle/>
              <a:p>
                <a:pPr marL="0" indent="0" algn="ctr">
                  <a:buClr>
                    <a:schemeClr val="accent3"/>
                  </a:buClr>
                  <a:buNone/>
                </a:pPr>
                <a:r>
                  <a:rPr lang="ja-JP" altLang="en-US" sz="2800">
                    <a:solidFill>
                      <a:srgbClr val="0070C0"/>
                    </a:solidFill>
                    <a:latin typeface="+mn-ea"/>
                    <a:cs typeface="ヒラギノ角ゴ Pro W3"/>
                  </a:rPr>
                  <a:t>スパース主成分分析における交換可能性</a:t>
                </a:r>
                <a:r>
                  <a:rPr lang="en-US" altLang="ja-JP" sz="2800" dirty="0">
                    <a:solidFill>
                      <a:srgbClr val="0070C0"/>
                    </a:solidFill>
                    <a:latin typeface="+mn-ea"/>
                    <a:cs typeface="ヒラギノ角ゴ Pro W3"/>
                  </a:rPr>
                  <a:t> </a:t>
                </a: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sz="2800" b="0" i="1" smtClean="0">
                          <a:latin typeface="Cambria Math" panose="02040503050406030204" pitchFamily="18" charset="0"/>
                          <a:cs typeface="ヒラギノ角ゴ Pro W3"/>
                        </a:rPr>
                        <m:t>#</m:t>
                      </m:r>
                      <m:d>
                        <m:dPr>
                          <m:begChr m:val="{"/>
                          <m:endChr m:val="}"/>
                          <m:ctrlPr>
                            <a:rPr lang="en-US" altLang="ja-JP" sz="2800" b="0" i="1" smtClean="0">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sSub>
                            <m:sSubPr>
                              <m:ctrlPr>
                                <a:rPr lang="en-US" altLang="ja-JP" sz="2800" b="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𝑘𝑗</m:t>
                              </m:r>
                            </m:sub>
                          </m:sSub>
                          <m:r>
                            <a:rPr lang="en-US" altLang="ja-JP" sz="2800" b="0" i="1" smtClean="0">
                              <a:latin typeface="Cambria Math" panose="02040503050406030204" pitchFamily="18" charset="0"/>
                            </a:rPr>
                            <m:t>=0 </m:t>
                          </m:r>
                          <m:r>
                            <a:rPr lang="en-US" altLang="ja-JP" sz="2800" b="0" i="1" smtClean="0">
                              <a:latin typeface="Cambria Math" panose="02040503050406030204" pitchFamily="18" charset="0"/>
                            </a:rPr>
                            <m:t>𝑎𝑛𝑑</m:t>
                          </m:r>
                          <m:r>
                            <a:rPr lang="en-US" altLang="ja-JP" sz="2800" b="0" i="1" smtClean="0">
                              <a:latin typeface="Cambria Math" panose="02040503050406030204" pitchFamily="18" charset="0"/>
                            </a:rPr>
                            <m:t> 0&lt;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m:t>
                          </m:r>
                          <m:r>
                            <a:rPr lang="en-US" altLang="ja-JP" sz="2800" b="0" i="1" smtClean="0">
                              <a:latin typeface="Cambria Math" panose="02040503050406030204" pitchFamily="18" charset="0"/>
                            </a:rPr>
                            <m:t>𝑡</m:t>
                          </m:r>
                        </m:e>
                      </m:d>
                      <m:limUpp>
                        <m:limUppPr>
                          <m:ctrlPr>
                            <a:rPr lang="ar-AE" altLang="ja-JP" sz="2800" i="1">
                              <a:solidFill>
                                <a:srgbClr val="000000"/>
                              </a:solidFill>
                              <a:latin typeface="Cambria Math" panose="02040503050406030204" pitchFamily="18" charset="0"/>
                            </a:rPr>
                          </m:ctrlPr>
                        </m:limUppPr>
                        <m:e>
                          <m:r>
                            <a:rPr lang="ar-AE" altLang="ja-JP" sz="2800" i="1">
                              <a:solidFill>
                                <a:srgbClr val="000000"/>
                              </a:solidFill>
                              <a:latin typeface="Cambria Math" panose="02040503050406030204" pitchFamily="18" charset="0"/>
                            </a:rPr>
                            <m:t>=</m:t>
                          </m:r>
                        </m:e>
                        <m:lim>
                          <m:r>
                            <a:rPr lang="ar-AE" altLang="ja-JP" sz="2800" i="1">
                              <a:solidFill>
                                <a:srgbClr val="000000"/>
                              </a:solidFill>
                              <a:latin typeface="Cambria Math" panose="02040503050406030204" pitchFamily="18" charset="0"/>
                            </a:rPr>
                            <m:t>𝑑</m:t>
                          </m:r>
                        </m:lim>
                      </m:limUpp>
                      <m:r>
                        <a:rPr lang="en-US" altLang="ja-JP" sz="2800" i="1" smtClean="0">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b="0" i="1" smtClean="0">
                                  <a:latin typeface="Cambria Math" panose="02040503050406030204" pitchFamily="18" charset="0"/>
                                  <a:cs typeface="ヒラギノ角ゴ Pro W3"/>
                                </a:rPr>
                                <m:t>𝑣</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m:t>
                          </m:r>
                          <m:r>
                            <a:rPr lang="en-US" altLang="ja-JP" sz="2800" i="1">
                              <a:latin typeface="Cambria Math" panose="02040503050406030204" pitchFamily="18" charset="0"/>
                            </a:rPr>
                            <m:t>𝑡</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𝑘</m:t>
                              </m:r>
                              <m:r>
                                <a:rPr lang="en-US" altLang="ja-JP" sz="2800" i="1">
                                  <a:latin typeface="Cambria Math" panose="02040503050406030204" pitchFamily="18" charset="0"/>
                                </a:rPr>
                                <m:t>𝑗</m:t>
                              </m:r>
                            </m:sub>
                          </m:sSub>
                          <m:r>
                            <a:rPr lang="en-US" altLang="ja-JP" sz="2800" b="0" i="1" smtClean="0">
                              <a:latin typeface="Cambria Math" panose="02040503050406030204" pitchFamily="18" charset="0"/>
                            </a:rPr>
                            <m:t>&lt;</m:t>
                          </m:r>
                          <m:r>
                            <a:rPr lang="en-US" altLang="ja-JP" sz="2800" i="1">
                              <a:latin typeface="Cambria Math" panose="02040503050406030204" pitchFamily="18" charset="0"/>
                            </a:rPr>
                            <m:t>0</m:t>
                          </m:r>
                        </m:e>
                      </m:d>
                    </m:oMath>
                  </m:oMathPara>
                </a14:m>
                <a:endParaRPr lang="ja-JP" altLang="en-US" sz="2800"/>
              </a:p>
            </p:txBody>
          </p:sp>
        </mc:Choice>
        <mc:Fallback xmlns="">
          <p:sp>
            <p:nvSpPr>
              <p:cNvPr id="10" name="テキスト ボックス 9">
                <a:extLst>
                  <a:ext uri="{FF2B5EF4-FFF2-40B4-BE49-F238E27FC236}">
                    <a16:creationId xmlns:a16="http://schemas.microsoft.com/office/drawing/2014/main" id="{1A0CE274-84E1-632F-95DC-CE41C3BC3694}"/>
                  </a:ext>
                </a:extLst>
              </p:cNvPr>
              <p:cNvSpPr txBox="1">
                <a:spLocks noRot="1" noChangeAspect="1" noMove="1" noResize="1" noEditPoints="1" noAdjustHandles="1" noChangeArrowheads="1" noChangeShapeType="1" noTextEdit="1"/>
              </p:cNvSpPr>
              <p:nvPr/>
            </p:nvSpPr>
            <p:spPr>
              <a:xfrm>
                <a:off x="431180" y="677630"/>
                <a:ext cx="11329639" cy="1113253"/>
              </a:xfrm>
              <a:prstGeom prst="rect">
                <a:avLst/>
              </a:prstGeom>
              <a:blipFill>
                <a:blip r:embed="rId4"/>
                <a:stretch>
                  <a:fillRect t="-5618" b="-6742"/>
                </a:stretch>
              </a:blipFill>
            </p:spPr>
            <p:txBody>
              <a:bodyPr/>
              <a:lstStyle/>
              <a:p>
                <a:r>
                  <a:rPr lang="ja-JP" altLang="en-US">
                    <a:noFill/>
                  </a:rPr>
                  <a:t> </a:t>
                </a:r>
              </a:p>
            </p:txBody>
          </p:sp>
        </mc:Fallback>
      </mc:AlternateContent>
      <p:sp>
        <p:nvSpPr>
          <p:cNvPr id="2" name="下矢印 1">
            <a:extLst>
              <a:ext uri="{FF2B5EF4-FFF2-40B4-BE49-F238E27FC236}">
                <a16:creationId xmlns:a16="http://schemas.microsoft.com/office/drawing/2014/main" id="{83440A27-D6F6-26F5-F1FD-44C3410CBD9F}"/>
              </a:ext>
            </a:extLst>
          </p:cNvPr>
          <p:cNvSpPr/>
          <p:nvPr/>
        </p:nvSpPr>
        <p:spPr>
          <a:xfrm>
            <a:off x="6932631" y="5278606"/>
            <a:ext cx="534482" cy="462005"/>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27316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62A03B73-18EC-4DD2-D06C-C475C88CBAF8}"/>
              </a:ext>
            </a:extLst>
          </p:cNvPr>
          <p:cNvSpPr txBox="1"/>
          <p:nvPr/>
        </p:nvSpPr>
        <p:spPr>
          <a:xfrm>
            <a:off x="142504" y="4621212"/>
            <a:ext cx="11839699" cy="1985159"/>
          </a:xfrm>
          <a:prstGeom prst="rect">
            <a:avLst/>
          </a:prstGeom>
          <a:noFill/>
        </p:spPr>
        <p:txBody>
          <a:bodyPr wrap="square" rtlCol="0">
            <a:spAutoFit/>
          </a:bodyPr>
          <a:lstStyle/>
          <a:p>
            <a:pPr algn="ctr"/>
            <a:r>
              <a:rPr lang="ja-JP" altLang="en-US" sz="2800">
                <a:latin typeface="+mn-ea"/>
              </a:rPr>
              <a:t>正則化パラメータの値によって非ゼロと推定される回帰係数の個数が</a:t>
            </a:r>
            <a:r>
              <a:rPr lang="en-US" altLang="ja-JP" sz="2800" dirty="0">
                <a:latin typeface="+mn-ea"/>
              </a:rPr>
              <a:t> </a:t>
            </a:r>
          </a:p>
          <a:p>
            <a:r>
              <a:rPr lang="en-US" altLang="ja-JP" sz="2800" dirty="0">
                <a:latin typeface="+mn-ea"/>
              </a:rPr>
              <a:t>   </a:t>
            </a:r>
            <a:r>
              <a:rPr lang="ja-JP" altLang="en-US" sz="2800">
                <a:latin typeface="+mn-ea"/>
              </a:rPr>
              <a:t>異なる</a:t>
            </a:r>
            <a:endParaRPr lang="en-US" altLang="ja-JP" sz="2800" dirty="0">
              <a:latin typeface="+mn-ea"/>
            </a:endParaRPr>
          </a:p>
          <a:p>
            <a:pPr algn="ctr"/>
            <a:endParaRPr kumimoji="1" lang="en-US" altLang="ja-JP" sz="1100" b="0" dirty="0">
              <a:latin typeface="+mn-ea"/>
            </a:endParaRPr>
          </a:p>
          <a:p>
            <a:pPr algn="ctr"/>
            <a:endParaRPr kumimoji="1" lang="en-US" altLang="ja-JP" sz="2800" b="0" dirty="0">
              <a:latin typeface="+mn-ea"/>
            </a:endParaRPr>
          </a:p>
          <a:p>
            <a:pPr marL="0" indent="0" algn="ctr">
              <a:buNone/>
            </a:pPr>
            <a:r>
              <a:rPr kumimoji="1" lang="ja-JP" altLang="en-US" sz="2800" b="0">
                <a:latin typeface="+mn-ea"/>
              </a:rPr>
              <a:t>正則化パラメータと回帰係数の関係を測る評価指標に</a:t>
            </a:r>
            <a:r>
              <a:rPr kumimoji="1" lang="en-US" altLang="ja-JP" sz="2800" b="0" dirty="0">
                <a:latin typeface="+mn-ea"/>
              </a:rPr>
              <a:t>FDR</a:t>
            </a:r>
            <a:r>
              <a:rPr kumimoji="1" lang="ja-JP" altLang="en-US" sz="2800" b="0">
                <a:latin typeface="+mn-ea"/>
              </a:rPr>
              <a:t>を採用</a:t>
            </a:r>
            <a:endParaRPr kumimoji="1" lang="en-US" altLang="ja-JP" sz="2800" b="0" dirty="0">
              <a:latin typeface="+mn-ea"/>
            </a:endParaRPr>
          </a:p>
        </p:txBody>
      </p:sp>
      <p:sp>
        <p:nvSpPr>
          <p:cNvPr id="5" name="角丸四角形 4">
            <a:extLst>
              <a:ext uri="{FF2B5EF4-FFF2-40B4-BE49-F238E27FC236}">
                <a16:creationId xmlns:a16="http://schemas.microsoft.com/office/drawing/2014/main" id="{4E6927F9-9D34-5D28-0E8E-1042CB903A87}"/>
              </a:ext>
            </a:extLst>
          </p:cNvPr>
          <p:cNvSpPr/>
          <p:nvPr/>
        </p:nvSpPr>
        <p:spPr>
          <a:xfrm>
            <a:off x="228598" y="1833058"/>
            <a:ext cx="11553673" cy="2725032"/>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B48C190B-C280-7B9A-A648-D4BF3F4A6AF5}"/>
              </a:ext>
            </a:extLst>
          </p:cNvPr>
          <p:cNvSpPr/>
          <p:nvPr/>
        </p:nvSpPr>
        <p:spPr>
          <a:xfrm>
            <a:off x="555585" y="1625105"/>
            <a:ext cx="4375230" cy="4159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6DB814E-54F2-3B47-B645-B6FDA8814373}"/>
                  </a:ext>
                </a:extLst>
              </p:cNvPr>
              <p:cNvSpPr>
                <a:spLocks noGrp="1"/>
              </p:cNvSpPr>
              <p:nvPr>
                <p:ph idx="1"/>
              </p:nvPr>
            </p:nvSpPr>
            <p:spPr>
              <a:xfrm>
                <a:off x="-61356" y="1518376"/>
                <a:ext cx="12247417" cy="5057349"/>
              </a:xfrm>
              <a:noFill/>
            </p:spPr>
            <p:txBody>
              <a:bodyPr>
                <a:normAutofit/>
              </a:bodyPr>
              <a:lstStyle/>
              <a:p>
                <a:pPr marL="0" indent="0">
                  <a:buNone/>
                </a:pPr>
                <a:r>
                  <a:rPr kumimoji="1" lang="en-US" altLang="ja-JP" sz="3200" b="0" dirty="0">
                    <a:latin typeface="+mn-ea"/>
                  </a:rPr>
                  <a:t>     lasso</a:t>
                </a:r>
                <a:r>
                  <a:rPr kumimoji="1" lang="en-US" altLang="ja-JP" sz="3200" b="1" dirty="0">
                    <a:solidFill>
                      <a:srgbClr val="0070C0"/>
                    </a:solidFill>
                    <a:latin typeface="+mj-ea"/>
                  </a:rPr>
                  <a:t> </a:t>
                </a:r>
                <a:r>
                  <a:rPr lang="en-US" altLang="ja-JP" sz="3200" b="1" dirty="0">
                    <a:latin typeface="+mj-ea"/>
                  </a:rPr>
                  <a:t>(</a:t>
                </a:r>
                <a:r>
                  <a:rPr lang="en-US" altLang="ja-JP" sz="3200" b="1" dirty="0" err="1">
                    <a:latin typeface="+mj-ea"/>
                  </a:rPr>
                  <a:t>Tibshirani</a:t>
                </a:r>
                <a:r>
                  <a:rPr lang="en-US" altLang="ja-JP" sz="3200" b="1" dirty="0">
                    <a:latin typeface="+mj-ea"/>
                  </a:rPr>
                  <a:t>, 1996)</a:t>
                </a:r>
                <a:endParaRPr kumimoji="1" lang="en-US" altLang="ja-JP" sz="3200" b="0" dirty="0">
                  <a:latin typeface="+mn-ea"/>
                </a:endParaRPr>
              </a:p>
              <a:p>
                <a:pPr marL="0" indent="0">
                  <a:buNone/>
                </a:pPr>
                <a14:m>
                  <m:oMathPara xmlns:m="http://schemas.openxmlformats.org/officeDocument/2006/math">
                    <m:oMathParaPr>
                      <m:jc m:val="centerGroup"/>
                    </m:oMathParaPr>
                    <m:oMath xmlns:m="http://schemas.openxmlformats.org/officeDocument/2006/math">
                      <m:func>
                        <m:funcPr>
                          <m:ctrlPr>
                            <a:rPr kumimoji="1" lang="en-US" altLang="ja-JP" sz="3600" b="0" i="1" smtClean="0">
                              <a:latin typeface="Cambria Math" panose="02040503050406030204" pitchFamily="18" charset="0"/>
                            </a:rPr>
                          </m:ctrlPr>
                        </m:funcPr>
                        <m:fName>
                          <m:limLow>
                            <m:limLowPr>
                              <m:ctrlPr>
                                <a:rPr kumimoji="1" lang="en-US" altLang="ja-JP" sz="3600" b="0" i="1" smtClean="0">
                                  <a:latin typeface="Cambria Math" panose="02040503050406030204" pitchFamily="18" charset="0"/>
                                </a:rPr>
                              </m:ctrlPr>
                            </m:limLowPr>
                            <m:e>
                              <m:r>
                                <m:rPr>
                                  <m:sty m:val="p"/>
                                </m:rPr>
                                <a:rPr kumimoji="1" lang="en-US" altLang="ja-JP" sz="3600" b="0" i="0" smtClean="0">
                                  <a:latin typeface="Cambria Math" panose="02040503050406030204" pitchFamily="18" charset="0"/>
                                </a:rPr>
                                <m:t>min</m:t>
                              </m:r>
                            </m:e>
                            <m:lim>
                              <m:r>
                                <a:rPr kumimoji="1" lang="en-US" altLang="ja-JP" sz="3600" b="1" i="1" smtClean="0">
                                  <a:latin typeface="Cambria Math" panose="02040503050406030204" pitchFamily="18" charset="0"/>
                                  <a:ea typeface="Cambria Math" panose="02040503050406030204" pitchFamily="18" charset="0"/>
                                </a:rPr>
                                <m:t>𝜷</m:t>
                              </m:r>
                            </m:lim>
                          </m:limLow>
                        </m:fName>
                        <m:e>
                          <m:r>
                            <a:rPr kumimoji="1" lang="en-US" altLang="ja-JP" sz="3600" b="0" i="1" smtClean="0">
                              <a:latin typeface="Cambria Math" panose="02040503050406030204" pitchFamily="18" charset="0"/>
                            </a:rPr>
                            <m:t>{</m:t>
                          </m:r>
                          <m:f>
                            <m:fPr>
                              <m:ctrlPr>
                                <a:rPr kumimoji="1" lang="en-US" altLang="ja-JP" sz="3600" b="0" i="1" smtClean="0">
                                  <a:latin typeface="Cambria Math" panose="02040503050406030204" pitchFamily="18" charset="0"/>
                                </a:rPr>
                              </m:ctrlPr>
                            </m:fPr>
                            <m:num>
                              <m:r>
                                <a:rPr kumimoji="1" lang="en-US" altLang="ja-JP" sz="3600" b="0" i="1" smtClean="0">
                                  <a:latin typeface="Cambria Math" panose="02040503050406030204" pitchFamily="18" charset="0"/>
                                </a:rPr>
                                <m:t>1</m:t>
                              </m:r>
                            </m:num>
                            <m:den>
                              <m:r>
                                <a:rPr kumimoji="1" lang="en-US" altLang="ja-JP" sz="3600" b="0" i="1" smtClean="0">
                                  <a:latin typeface="Cambria Math" panose="02040503050406030204" pitchFamily="18" charset="0"/>
                                </a:rPr>
                                <m:t>2</m:t>
                              </m:r>
                              <m:r>
                                <a:rPr kumimoji="1" lang="en-US" altLang="ja-JP" sz="3600" b="0" i="1" smtClean="0">
                                  <a:latin typeface="Cambria Math" panose="02040503050406030204" pitchFamily="18" charset="0"/>
                                </a:rPr>
                                <m:t>𝑛</m:t>
                              </m:r>
                            </m:den>
                          </m:f>
                          <m:sSubSup>
                            <m:sSubSupPr>
                              <m:ctrlPr>
                                <a:rPr kumimoji="1" lang="en-US" altLang="ja-JP" sz="3600" b="0" i="1" smtClean="0">
                                  <a:latin typeface="Cambria Math" panose="02040503050406030204" pitchFamily="18" charset="0"/>
                                </a:rPr>
                              </m:ctrlPr>
                            </m:sSubSupPr>
                            <m:e>
                              <m:d>
                                <m:dPr>
                                  <m:begChr m:val="‖"/>
                                  <m:endChr m:val="‖"/>
                                  <m:ctrlPr>
                                    <a:rPr lang="en-US" altLang="ja-JP" sz="3600" i="1">
                                      <a:latin typeface="Cambria Math" panose="02040503050406030204" pitchFamily="18" charset="0"/>
                                    </a:rPr>
                                  </m:ctrlPr>
                                </m:dPr>
                                <m:e>
                                  <m:r>
                                    <a:rPr lang="en-US" altLang="ja-JP" sz="3600" b="1" i="1">
                                      <a:latin typeface="Cambria Math" panose="02040503050406030204" pitchFamily="18" charset="0"/>
                                    </a:rPr>
                                    <m:t>𝒚</m:t>
                                  </m:r>
                                  <m:r>
                                    <a:rPr lang="en-US" altLang="ja-JP" sz="3600" i="1">
                                      <a:latin typeface="Cambria Math" panose="02040503050406030204" pitchFamily="18" charset="0"/>
                                    </a:rPr>
                                    <m:t>−</m:t>
                                  </m:r>
                                  <m:r>
                                    <a:rPr lang="en-US" altLang="ja-JP" sz="3600" i="1">
                                      <a:latin typeface="Cambria Math" panose="02040503050406030204" pitchFamily="18" charset="0"/>
                                    </a:rPr>
                                    <m:t>𝑋</m:t>
                                  </m:r>
                                  <m:r>
                                    <a:rPr lang="en-US" altLang="ja-JP" sz="3600" b="1" i="1">
                                      <a:latin typeface="Cambria Math" panose="02040503050406030204" pitchFamily="18" charset="0"/>
                                      <a:ea typeface="Cambria Math" panose="02040503050406030204" pitchFamily="18" charset="0"/>
                                    </a:rPr>
                                    <m:t>𝜷</m:t>
                                  </m:r>
                                </m:e>
                              </m:d>
                            </m:e>
                            <m:sub>
                              <m:r>
                                <a:rPr kumimoji="1" lang="en-US" altLang="ja-JP" sz="3600" b="0" i="1" smtClean="0">
                                  <a:latin typeface="Cambria Math" panose="02040503050406030204" pitchFamily="18" charset="0"/>
                                </a:rPr>
                                <m:t>2</m:t>
                              </m:r>
                            </m:sub>
                            <m:sup>
                              <m:r>
                                <a:rPr kumimoji="1" lang="en-US" altLang="ja-JP" sz="3600" b="0" i="1" smtClean="0">
                                  <a:latin typeface="Cambria Math" panose="02040503050406030204" pitchFamily="18" charset="0"/>
                                </a:rPr>
                                <m:t>2</m:t>
                              </m:r>
                            </m:sup>
                          </m:sSubSup>
                          <m:r>
                            <a:rPr kumimoji="1" lang="en-US" altLang="ja-JP" sz="3600" b="0" i="1" smtClean="0">
                              <a:latin typeface="Cambria Math" panose="02040503050406030204" pitchFamily="18" charset="0"/>
                            </a:rPr>
                            <m:t>+</m:t>
                          </m:r>
                          <m:r>
                            <a:rPr kumimoji="1" lang="en-US" altLang="ja-JP" sz="3600" b="0" i="1" smtClean="0">
                              <a:latin typeface="Cambria Math" panose="02040503050406030204" pitchFamily="18" charset="0"/>
                              <a:ea typeface="Cambria Math" panose="02040503050406030204" pitchFamily="18" charset="0"/>
                            </a:rPr>
                            <m:t>𝜆</m:t>
                          </m:r>
                          <m:sSub>
                            <m:sSubPr>
                              <m:ctrlPr>
                                <a:rPr kumimoji="1" lang="en-US" altLang="ja-JP" sz="3600" b="0" i="1" smtClean="0">
                                  <a:latin typeface="Cambria Math" panose="02040503050406030204" pitchFamily="18" charset="0"/>
                                  <a:ea typeface="Cambria Math" panose="02040503050406030204" pitchFamily="18" charset="0"/>
                                </a:rPr>
                              </m:ctrlPr>
                            </m:sSubPr>
                            <m:e>
                              <m:d>
                                <m:dPr>
                                  <m:begChr m:val="‖"/>
                                  <m:endChr m:val="‖"/>
                                  <m:ctrlPr>
                                    <a:rPr lang="en-US" altLang="ja-JP" sz="3600" i="1">
                                      <a:latin typeface="Cambria Math" panose="02040503050406030204" pitchFamily="18" charset="0"/>
                                    </a:rPr>
                                  </m:ctrlPr>
                                </m:dPr>
                                <m:e>
                                  <m:r>
                                    <a:rPr lang="en-US" altLang="ja-JP" sz="3600" b="1" i="1">
                                      <a:latin typeface="Cambria Math" panose="02040503050406030204" pitchFamily="18" charset="0"/>
                                      <a:ea typeface="Cambria Math" panose="02040503050406030204" pitchFamily="18" charset="0"/>
                                    </a:rPr>
                                    <m:t>𝜷</m:t>
                                  </m:r>
                                </m:e>
                              </m:d>
                            </m:e>
                            <m:sub>
                              <m:r>
                                <a:rPr kumimoji="1" lang="en-US" altLang="ja-JP" sz="3600" b="0" i="1" smtClean="0">
                                  <a:latin typeface="Cambria Math" panose="02040503050406030204" pitchFamily="18" charset="0"/>
                                  <a:ea typeface="Cambria Math" panose="02040503050406030204" pitchFamily="18" charset="0"/>
                                </a:rPr>
                                <m:t>1</m:t>
                              </m:r>
                            </m:sub>
                          </m:sSub>
                          <m:r>
                            <a:rPr kumimoji="1" lang="en-US" altLang="ja-JP" sz="3600" b="0" i="1" smtClean="0">
                              <a:latin typeface="Cambria Math" panose="02040503050406030204" pitchFamily="18" charset="0"/>
                            </a:rPr>
                            <m:t>}</m:t>
                          </m:r>
                        </m:e>
                      </m:func>
                    </m:oMath>
                  </m:oMathPara>
                </a14:m>
                <a:endParaRPr kumimoji="1" lang="en-US" altLang="ja-JP" sz="4400" b="0" dirty="0"/>
              </a:p>
              <a:p>
                <a:pPr marL="0" indent="0">
                  <a:buNone/>
                </a:pPr>
                <a:endParaRPr kumimoji="1" lang="en-US" altLang="ja-JP" sz="1200" b="0" dirty="0"/>
              </a:p>
              <a:p>
                <a:pPr marL="0" indent="0">
                  <a:buNone/>
                </a:pPr>
                <a:r>
                  <a:rPr lang="en-US" altLang="ja-JP" sz="2600" dirty="0">
                    <a:latin typeface="+mn-ea"/>
                  </a:rPr>
                  <a:t>    </a:t>
                </a:r>
                <a:r>
                  <a:rPr lang="ja-JP" altLang="en-US" sz="2600">
                    <a:latin typeface="+mn-ea"/>
                  </a:rPr>
                  <a:t>目的変数</a:t>
                </a:r>
                <a14:m>
                  <m:oMath xmlns:m="http://schemas.openxmlformats.org/officeDocument/2006/math">
                    <m:r>
                      <a:rPr lang="en-US" altLang="ja-JP" sz="2600" b="1" i="1">
                        <a:latin typeface="Cambria Math" panose="02040503050406030204" pitchFamily="18" charset="0"/>
                      </a:rPr>
                      <m:t>𝒚</m:t>
                    </m:r>
                    <m:r>
                      <a:rPr lang="ja-JP" altLang="en-US" sz="2600" b="1" i="1">
                        <a:latin typeface="Cambria Math" panose="02040503050406030204" pitchFamily="18" charset="0"/>
                      </a:rPr>
                      <m:t>：</m:t>
                    </m:r>
                    <m:sSup>
                      <m:sSupPr>
                        <m:ctrlPr>
                          <a:rPr lang="en-US" altLang="ja-JP" sz="2600" i="1">
                            <a:latin typeface="Cambria Math" panose="02040503050406030204" pitchFamily="18" charset="0"/>
                          </a:rPr>
                        </m:ctrlPr>
                      </m:sSupPr>
                      <m:e>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𝑦</m:t>
                                </m:r>
                              </m:e>
                              <m:sub>
                                <m:r>
                                  <a:rPr lang="en-US" altLang="ja-JP" sz="2600" i="1">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𝑦</m:t>
                                </m:r>
                              </m:e>
                              <m:sub>
                                <m:r>
                                  <a:rPr lang="en-US" altLang="ja-JP" sz="2600" i="1">
                                    <a:latin typeface="Cambria Math" panose="02040503050406030204" pitchFamily="18" charset="0"/>
                                  </a:rPr>
                                  <m:t>𝑛</m:t>
                                </m:r>
                              </m:sub>
                            </m:sSub>
                          </m:e>
                        </m:d>
                      </m:e>
                      <m:sup>
                        <m:r>
                          <a:rPr lang="en-US" altLang="ja-JP" sz="2600" i="1">
                            <a:latin typeface="Cambria Math" panose="02040503050406030204" pitchFamily="18" charset="0"/>
                          </a:rPr>
                          <m:t>𝑇</m:t>
                        </m:r>
                      </m:sup>
                    </m:sSup>
                  </m:oMath>
                </a14:m>
                <a:r>
                  <a:rPr lang="en-US" altLang="ja-JP" sz="2600" dirty="0">
                    <a:latin typeface="+mn-ea"/>
                  </a:rPr>
                  <a:t>, </a:t>
                </a:r>
                <a:r>
                  <a:rPr lang="ja-JP" altLang="en-US" sz="2600">
                    <a:latin typeface="+mn-ea"/>
                  </a:rPr>
                  <a:t>回帰係数</a:t>
                </a:r>
                <a14:m>
                  <m:oMath xmlns:m="http://schemas.openxmlformats.org/officeDocument/2006/math">
                    <m:r>
                      <a:rPr lang="en-US" altLang="ja-JP" sz="2600" b="1" i="1">
                        <a:latin typeface="Cambria Math" panose="02040503050406030204" pitchFamily="18" charset="0"/>
                      </a:rPr>
                      <m:t>𝜷</m:t>
                    </m:r>
                    <m:r>
                      <a:rPr lang="ja-JP" altLang="en-US" sz="2600" b="1" i="1">
                        <a:latin typeface="Cambria Math" panose="02040503050406030204" pitchFamily="18" charset="0"/>
                      </a:rPr>
                      <m:t>：</m:t>
                    </m:r>
                    <m:sSup>
                      <m:sSupPr>
                        <m:ctrlPr>
                          <a:rPr lang="en-US" altLang="ja-JP" sz="2600" i="1">
                            <a:latin typeface="Cambria Math" panose="02040503050406030204" pitchFamily="18" charset="0"/>
                          </a:rPr>
                        </m:ctrlPr>
                      </m:sSupPr>
                      <m:e>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𝛽</m:t>
                                </m:r>
                              </m:e>
                              <m:sub>
                                <m:r>
                                  <a:rPr lang="en-US" altLang="ja-JP" sz="2600" i="1">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𝛽</m:t>
                                </m:r>
                              </m:e>
                              <m:sub>
                                <m:r>
                                  <a:rPr lang="en-US" altLang="ja-JP" sz="2600" b="0" i="1" smtClean="0">
                                    <a:latin typeface="Cambria Math" panose="02040503050406030204" pitchFamily="18" charset="0"/>
                                  </a:rPr>
                                  <m:t>𝑝</m:t>
                                </m:r>
                              </m:sub>
                            </m:sSub>
                          </m:e>
                        </m:d>
                      </m:e>
                      <m:sup>
                        <m:r>
                          <a:rPr lang="en-US" altLang="ja-JP" sz="2600" i="1">
                            <a:latin typeface="Cambria Math" panose="02040503050406030204" pitchFamily="18" charset="0"/>
                          </a:rPr>
                          <m:t>𝑇</m:t>
                        </m:r>
                      </m:sup>
                    </m:sSup>
                  </m:oMath>
                </a14:m>
                <a:r>
                  <a:rPr lang="en-US" altLang="ja-JP" sz="2600" dirty="0">
                    <a:latin typeface="+mn-ea"/>
                  </a:rPr>
                  <a:t>, </a:t>
                </a:r>
              </a:p>
              <a:p>
                <a:pPr marL="0" indent="0">
                  <a:buNone/>
                </a:pPr>
                <a:r>
                  <a:rPr lang="en-US" altLang="ja-JP" sz="2600" dirty="0">
                    <a:latin typeface="+mn-ea"/>
                  </a:rPr>
                  <a:t>    </a:t>
                </a:r>
                <a:r>
                  <a:rPr lang="ja-JP" altLang="en-US" sz="2600">
                    <a:latin typeface="+mn-ea"/>
                  </a:rPr>
                  <a:t>計画行列</a:t>
                </a:r>
                <a14:m>
                  <m:oMath xmlns:m="http://schemas.openxmlformats.org/officeDocument/2006/math">
                    <m:r>
                      <a:rPr lang="en-US" altLang="ja-JP" sz="2600" i="1">
                        <a:latin typeface="Cambria Math" panose="02040503050406030204" pitchFamily="18" charset="0"/>
                      </a:rPr>
                      <m:t>𝑋</m:t>
                    </m:r>
                    <m:r>
                      <a:rPr lang="ja-JP" altLang="en-US" sz="2600" i="1">
                        <a:latin typeface="Cambria Math" panose="02040503050406030204" pitchFamily="18" charset="0"/>
                      </a:rPr>
                      <m:t>：</m:t>
                    </m:r>
                    <m:sSup>
                      <m:sSupPr>
                        <m:ctrlPr>
                          <a:rPr lang="en-US" altLang="ja-JP" sz="2600" b="0" i="1" smtClean="0">
                            <a:latin typeface="Cambria Math" panose="02040503050406030204" pitchFamily="18" charset="0"/>
                          </a:rPr>
                        </m:ctrlPr>
                      </m:sSupPr>
                      <m:e>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b="1" i="1">
                                    <a:latin typeface="Cambria Math" panose="02040503050406030204" pitchFamily="18" charset="0"/>
                                  </a:rPr>
                                  <m:t>𝒙</m:t>
                                </m:r>
                              </m:e>
                              <m:sub>
                                <m:r>
                                  <a:rPr lang="en-US" altLang="ja-JP" sz="2600" b="0" i="1" smtClean="0">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b="1" i="1">
                                    <a:latin typeface="Cambria Math" panose="02040503050406030204" pitchFamily="18" charset="0"/>
                                  </a:rPr>
                                  <m:t>𝒙</m:t>
                                </m:r>
                              </m:e>
                              <m:sub>
                                <m:r>
                                  <a:rPr lang="en-US" altLang="ja-JP" sz="2600" b="0" i="1" smtClean="0">
                                    <a:latin typeface="Cambria Math" panose="02040503050406030204" pitchFamily="18" charset="0"/>
                                  </a:rPr>
                                  <m:t>𝑛</m:t>
                                </m:r>
                              </m:sub>
                            </m:sSub>
                          </m:e>
                        </m:d>
                      </m:e>
                      <m:sup>
                        <m:r>
                          <a:rPr lang="en-US" altLang="ja-JP" sz="2600" b="0" i="1" smtClean="0">
                            <a:latin typeface="Cambria Math" panose="02040503050406030204" pitchFamily="18" charset="0"/>
                          </a:rPr>
                          <m:t>𝑇</m:t>
                        </m:r>
                      </m:sup>
                    </m:sSup>
                  </m:oMath>
                </a14:m>
                <a:r>
                  <a:rPr lang="en-US" altLang="ja-JP" sz="2600" dirty="0">
                    <a:latin typeface="+mn-ea"/>
                  </a:rPr>
                  <a:t>,</a:t>
                </a:r>
                <a:r>
                  <a:rPr lang="ja-JP" altLang="en-US" sz="2600">
                    <a:latin typeface="+mn-ea"/>
                  </a:rPr>
                  <a:t>説明変数</a:t>
                </a:r>
                <a14:m>
                  <m:oMath xmlns:m="http://schemas.openxmlformats.org/officeDocument/2006/math">
                    <m:sSub>
                      <m:sSubPr>
                        <m:ctrlPr>
                          <a:rPr lang="en-US" altLang="ja-JP" sz="2600" i="1">
                            <a:latin typeface="Cambria Math" panose="02040503050406030204" pitchFamily="18" charset="0"/>
                          </a:rPr>
                        </m:ctrlPr>
                      </m:sSubPr>
                      <m:e>
                        <m:r>
                          <a:rPr lang="en-US" altLang="ja-JP" sz="2600" b="1" i="1">
                            <a:latin typeface="Cambria Math" panose="02040503050406030204" pitchFamily="18" charset="0"/>
                          </a:rPr>
                          <m:t>𝒙</m:t>
                        </m:r>
                      </m:e>
                      <m:sub>
                        <m:r>
                          <a:rPr lang="en-US" altLang="ja-JP" sz="2600" b="0" i="1" smtClean="0">
                            <a:latin typeface="Cambria Math" panose="02040503050406030204" pitchFamily="18" charset="0"/>
                          </a:rPr>
                          <m:t>𝑖</m:t>
                        </m:r>
                      </m:sub>
                    </m:sSub>
                    <m:r>
                      <a:rPr lang="ja-JP" altLang="en-US" sz="2600" i="1">
                        <a:latin typeface="Cambria Math" panose="02040503050406030204" pitchFamily="18" charset="0"/>
                      </a:rPr>
                      <m:t>：</m:t>
                    </m:r>
                    <m:d>
                      <m:dPr>
                        <m:ctrlPr>
                          <a:rPr lang="en-US" altLang="ja-JP" sz="2600" i="1">
                            <a:latin typeface="Cambria Math" panose="02040503050406030204" pitchFamily="18" charset="0"/>
                          </a:rPr>
                        </m:ctrlPr>
                      </m:dPr>
                      <m:e>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𝑥</m:t>
                            </m:r>
                          </m:e>
                          <m:sub>
                            <m:r>
                              <a:rPr lang="en-US" altLang="ja-JP" sz="2600" b="0" i="1" smtClean="0">
                                <a:latin typeface="Cambria Math" panose="02040503050406030204" pitchFamily="18" charset="0"/>
                              </a:rPr>
                              <m:t>𝑖</m:t>
                            </m:r>
                            <m:r>
                              <a:rPr lang="en-US" altLang="ja-JP" sz="2600" i="1">
                                <a:latin typeface="Cambria Math" panose="02040503050406030204" pitchFamily="18" charset="0"/>
                              </a:rPr>
                              <m:t>1</m:t>
                            </m:r>
                          </m:sub>
                        </m:sSub>
                        <m:r>
                          <a:rPr lang="en-US" altLang="ja-JP" sz="2600" i="1">
                            <a:latin typeface="Cambria Math" panose="02040503050406030204" pitchFamily="18" charset="0"/>
                          </a:rPr>
                          <m:t>,…,</m:t>
                        </m:r>
                        <m:sSub>
                          <m:sSubPr>
                            <m:ctrlPr>
                              <a:rPr lang="en-US" altLang="ja-JP" sz="2600" i="1">
                                <a:latin typeface="Cambria Math" panose="02040503050406030204" pitchFamily="18" charset="0"/>
                              </a:rPr>
                            </m:ctrlPr>
                          </m:sSubPr>
                          <m:e>
                            <m:r>
                              <a:rPr lang="en-US" altLang="ja-JP" sz="2600" i="1">
                                <a:latin typeface="Cambria Math" panose="02040503050406030204" pitchFamily="18" charset="0"/>
                              </a:rPr>
                              <m:t>𝑥</m:t>
                            </m:r>
                          </m:e>
                          <m:sub>
                            <m:r>
                              <a:rPr lang="en-US" altLang="ja-JP" sz="2600" b="0" i="1" smtClean="0">
                                <a:latin typeface="Cambria Math" panose="02040503050406030204" pitchFamily="18" charset="0"/>
                              </a:rPr>
                              <m:t>𝑖</m:t>
                            </m:r>
                            <m:r>
                              <a:rPr lang="en-US" altLang="ja-JP" sz="2600" i="1">
                                <a:latin typeface="Cambria Math" panose="02040503050406030204" pitchFamily="18" charset="0"/>
                              </a:rPr>
                              <m:t>𝑝</m:t>
                            </m:r>
                          </m:sub>
                        </m:sSub>
                      </m:e>
                    </m:d>
                  </m:oMath>
                </a14:m>
                <a:endParaRPr lang="en-US" altLang="ja-JP" dirty="0"/>
              </a:p>
              <a:p>
                <a:pPr marL="0" indent="0">
                  <a:buNone/>
                </a:pPr>
                <a:endParaRPr kumimoji="1" lang="en-US" altLang="ja-JP" sz="3000" b="0" dirty="0">
                  <a:latin typeface="+mn-ea"/>
                </a:endParaRPr>
              </a:p>
              <a:p>
                <a:pPr marL="0" indent="0">
                  <a:buNone/>
                </a:pPr>
                <a:r>
                  <a:rPr kumimoji="1" lang="ja-JP" altLang="en-US" sz="3000" b="0">
                    <a:latin typeface="+mn-ea"/>
                  </a:rPr>
                  <a:t>　　　</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C6DB814E-54F2-3B47-B645-B6FDA8814373}"/>
                  </a:ext>
                </a:extLst>
              </p:cNvPr>
              <p:cNvSpPr>
                <a:spLocks noGrp="1" noRot="1" noChangeAspect="1" noMove="1" noResize="1" noEditPoints="1" noAdjustHandles="1" noChangeArrowheads="1" noChangeShapeType="1" noTextEdit="1"/>
              </p:cNvSpPr>
              <p:nvPr>
                <p:ph idx="1"/>
              </p:nvPr>
            </p:nvSpPr>
            <p:spPr>
              <a:xfrm>
                <a:off x="-61356" y="1518376"/>
                <a:ext cx="12247417" cy="5057349"/>
              </a:xfrm>
              <a:blipFill>
                <a:blip r:embed="rId3"/>
                <a:stretch>
                  <a:fillRect t="-2506"/>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3359609E-3EAD-324C-8AE5-1CBCD0925AB6}"/>
              </a:ext>
            </a:extLst>
          </p:cNvPr>
          <p:cNvSpPr/>
          <p:nvPr/>
        </p:nvSpPr>
        <p:spPr>
          <a:xfrm>
            <a:off x="7428239" y="2255291"/>
            <a:ext cx="280662" cy="5249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F939B05-2447-02E2-1898-06C44198A6C7}"/>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6" name="右矢印 5">
            <a:extLst>
              <a:ext uri="{FF2B5EF4-FFF2-40B4-BE49-F238E27FC236}">
                <a16:creationId xmlns:a16="http://schemas.microsoft.com/office/drawing/2014/main" id="{2B0116D0-1EF0-BC6D-C0AD-7D4293CBB1CF}"/>
              </a:ext>
            </a:extLst>
          </p:cNvPr>
          <p:cNvSpPr/>
          <p:nvPr/>
        </p:nvSpPr>
        <p:spPr>
          <a:xfrm rot="5400000">
            <a:off x="5735064" y="5249158"/>
            <a:ext cx="540739" cy="747854"/>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2" name="テキスト ボックス 11">
            <a:extLst>
              <a:ext uri="{FF2B5EF4-FFF2-40B4-BE49-F238E27FC236}">
                <a16:creationId xmlns:a16="http://schemas.microsoft.com/office/drawing/2014/main" id="{51DE13F4-EA2D-39A5-DDBB-BF46ACFA06E5}"/>
              </a:ext>
            </a:extLst>
          </p:cNvPr>
          <p:cNvSpPr txBox="1"/>
          <p:nvPr/>
        </p:nvSpPr>
        <p:spPr>
          <a:xfrm>
            <a:off x="7251811" y="2847490"/>
            <a:ext cx="3057247" cy="523220"/>
          </a:xfrm>
          <a:prstGeom prst="rect">
            <a:avLst/>
          </a:prstGeom>
          <a:noFill/>
        </p:spPr>
        <p:txBody>
          <a:bodyPr wrap="none" rtlCol="0">
            <a:spAutoFit/>
          </a:bodyPr>
          <a:lstStyle/>
          <a:p>
            <a:r>
              <a:rPr lang="ja-JP" altLang="en-US" sz="2800">
                <a:solidFill>
                  <a:srgbClr val="FF0000"/>
                </a:solidFill>
                <a:latin typeface="+mn-ea"/>
              </a:rPr>
              <a:t>正則化パラメータ</a:t>
            </a:r>
            <a:endParaRPr kumimoji="1" lang="ja-JP" altLang="en-US" sz="2800">
              <a:solidFill>
                <a:srgbClr val="FF0000"/>
              </a:solidFill>
              <a:latin typeface="+mn-ea"/>
            </a:endParaRPr>
          </a:p>
        </p:txBody>
      </p:sp>
    </p:spTree>
    <p:extLst>
      <p:ext uri="{BB962C8B-B14F-4D97-AF65-F5344CB8AC3E}">
        <p14:creationId xmlns:p14="http://schemas.microsoft.com/office/powerpoint/2010/main" val="175997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
            <a:extLst>
              <a:ext uri="{FF2B5EF4-FFF2-40B4-BE49-F238E27FC236}">
                <a16:creationId xmlns:a16="http://schemas.microsoft.com/office/drawing/2014/main" id="{B7DC2F06-B39A-864F-90F5-2ABE5AA0CA48}"/>
              </a:ext>
            </a:extLst>
          </p:cNvPr>
          <p:cNvSpPr txBox="1">
            <a:spLocks/>
          </p:cNvSpPr>
          <p:nvPr/>
        </p:nvSpPr>
        <p:spPr>
          <a:xfrm>
            <a:off x="-1" y="1334"/>
            <a:ext cx="12191999" cy="148110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457E0B9A-AE18-3608-65C6-86E6C9602A86}"/>
                  </a:ext>
                </a:extLst>
              </p:cNvPr>
              <p:cNvGraphicFramePr>
                <a:graphicFrameLocks noGrp="1"/>
              </p:cNvGraphicFramePr>
              <p:nvPr>
                <p:extLst>
                  <p:ext uri="{D42A27DB-BD31-4B8C-83A1-F6EECF244321}">
                    <p14:modId xmlns:p14="http://schemas.microsoft.com/office/powerpoint/2010/main" val="1698313175"/>
                  </p:ext>
                </p:extLst>
              </p:nvPr>
            </p:nvGraphicFramePr>
            <p:xfrm>
              <a:off x="237550" y="3608390"/>
              <a:ext cx="6192001" cy="2988000"/>
            </p:xfrm>
            <a:graphic>
              <a:graphicData uri="http://schemas.openxmlformats.org/drawingml/2006/table">
                <a:tbl>
                  <a:tblPr firstRow="1" bandRow="1">
                    <a:tableStyleId>{5940675A-B579-460E-94D1-54222C63F5DA}</a:tableStyleId>
                  </a:tblPr>
                  <a:tblGrid>
                    <a:gridCol w="621503">
                      <a:extLst>
                        <a:ext uri="{9D8B030D-6E8A-4147-A177-3AD203B41FA5}">
                          <a16:colId xmlns:a16="http://schemas.microsoft.com/office/drawing/2014/main" val="2166501344"/>
                        </a:ext>
                      </a:extLst>
                    </a:gridCol>
                    <a:gridCol w="1345814">
                      <a:extLst>
                        <a:ext uri="{9D8B030D-6E8A-4147-A177-3AD203B41FA5}">
                          <a16:colId xmlns:a16="http://schemas.microsoft.com/office/drawing/2014/main" val="3366183821"/>
                        </a:ext>
                      </a:extLst>
                    </a:gridCol>
                    <a:gridCol w="1337992">
                      <a:extLst>
                        <a:ext uri="{9D8B030D-6E8A-4147-A177-3AD203B41FA5}">
                          <a16:colId xmlns:a16="http://schemas.microsoft.com/office/drawing/2014/main" val="122348770"/>
                        </a:ext>
                      </a:extLst>
                    </a:gridCol>
                    <a:gridCol w="1398595">
                      <a:extLst>
                        <a:ext uri="{9D8B030D-6E8A-4147-A177-3AD203B41FA5}">
                          <a16:colId xmlns:a16="http://schemas.microsoft.com/office/drawing/2014/main" val="1265163690"/>
                        </a:ext>
                      </a:extLst>
                    </a:gridCol>
                    <a:gridCol w="1488097">
                      <a:extLst>
                        <a:ext uri="{9D8B030D-6E8A-4147-A177-3AD203B41FA5}">
                          <a16:colId xmlns:a16="http://schemas.microsoft.com/office/drawing/2014/main" val="1115285989"/>
                        </a:ext>
                      </a:extLst>
                    </a:gridCol>
                  </a:tblGrid>
                  <a:tr h="520849">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607487">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b="0" i="1" smtClean="0">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b="0" i="1" smtClean="0">
                                        <a:latin typeface="Cambria Math" panose="02040503050406030204" pitchFamily="18" charset="0"/>
                                      </a:rPr>
                                      <m:t>𝑗</m:t>
                                    </m:r>
                                  </m:sub>
                                </m:sSub>
                                <m:r>
                                  <a:rPr lang="en-US" altLang="ja-JP" sz="2800" b="0" i="1" smtClean="0">
                                    <a:latin typeface="Cambria Math" panose="02040503050406030204" pitchFamily="18" charset="0"/>
                                  </a:rPr>
                                  <m:t>=0</m:t>
                                </m:r>
                              </m:oMath>
                            </m:oMathPara>
                          </a14:m>
                          <a:endParaRPr kumimoji="1" lang="ja-JP" altLang="en-US" sz="2800"/>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622654">
                    <a:tc rowSpan="3">
                      <a:txBody>
                        <a:bodyPr/>
                        <a:lstStyle/>
                        <a:p>
                          <a:pPr algn="ctr"/>
                          <a:endParaRPr kumimoji="1" lang="en-US" altLang="ja-JP" sz="1000" dirty="0"/>
                        </a:p>
                        <a:p>
                          <a:pPr algn="ctr"/>
                          <a:endParaRPr kumimoji="1" lang="en-US" altLang="ja-JP" sz="1000" dirty="0"/>
                        </a:p>
                        <a:p>
                          <a:pPr algn="ctr"/>
                          <a:endParaRPr kumimoji="1" lang="en-US" altLang="ja-JP" sz="1400" dirty="0"/>
                        </a:p>
                        <a:p>
                          <a:pPr algn="ctr"/>
                          <a:r>
                            <a:rPr kumimoji="1" lang="ja-JP" altLang="en-US" sz="2800"/>
                            <a:t>推</a:t>
                          </a:r>
                          <a:endParaRPr kumimoji="1" lang="en-US" altLang="ja-JP" sz="2800" dirty="0"/>
                        </a:p>
                        <a:p>
                          <a:pPr algn="ctr"/>
                          <a:r>
                            <a:rPr kumimoji="1" lang="ja-JP" altLang="en-US" sz="2800"/>
                            <a:t>定</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i="1" smtClean="0">
                                            <a:latin typeface="Cambria Math" panose="02040503050406030204" pitchFamily="18" charset="0"/>
                                            <a:ea typeface="Cambria Math" panose="02040503050406030204" pitchFamily="18" charset="0"/>
                                          </a:rPr>
                                          <m:t>𝛽</m:t>
                                        </m:r>
                                      </m:e>
                                    </m:acc>
                                  </m:e>
                                  <m:sub>
                                    <m:r>
                                      <a:rPr lang="en-US" altLang="ja-JP" sz="2800" b="0" i="1" smtClean="0">
                                        <a:latin typeface="Cambria Math" panose="02040503050406030204" pitchFamily="18" charset="0"/>
                                      </a:rPr>
                                      <m:t>𝑗</m:t>
                                    </m:r>
                                  </m:sub>
                                </m:sSub>
                                <m:r>
                                  <a:rPr lang="en-US" altLang="ja-JP" sz="280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ea typeface="+mn-ea"/>
                                  </a:rPr>
                                  <m:t>𝑆</m:t>
                                </m:r>
                                <m:d>
                                  <m:dPr>
                                    <m:ctrlPr>
                                      <a:rPr lang="en-US" altLang="ja-JP" sz="2800" i="1">
                                        <a:latin typeface="Cambria Math" panose="02040503050406030204" pitchFamily="18" charset="0"/>
                                        <a:ea typeface="+mn-ea"/>
                                      </a:rPr>
                                    </m:ctrlPr>
                                  </m:dPr>
                                  <m:e>
                                    <m:r>
                                      <a:rPr kumimoji="1" lang="en-US" altLang="ja-JP" sz="2800" b="0" i="1" smtClean="0">
                                        <a:latin typeface="Cambria Math" panose="02040503050406030204" pitchFamily="18" charset="0"/>
                                        <a:ea typeface="Cambria Math" panose="02040503050406030204" pitchFamily="18" charset="0"/>
                                      </a:rPr>
                                      <m:t>𝜆</m:t>
                                    </m:r>
                                  </m:e>
                                </m:d>
                              </m:oMath>
                            </m:oMathPara>
                          </a14:m>
                          <a:endParaRPr kumimoji="1" lang="ja-JP" altLang="en-US" sz="2800" i="1">
                            <a:latin typeface="+mn-ea"/>
                            <a:ea typeface="+mn-ea"/>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ea typeface="+mn-ea"/>
                                  </a:rPr>
                                  <m:t>𝑉</m:t>
                                </m:r>
                                <m:d>
                                  <m:dPr>
                                    <m:ctrlPr>
                                      <a:rPr lang="en-US" altLang="ja-JP" sz="2800" i="1" smtClean="0">
                                        <a:latin typeface="Cambria Math" panose="02040503050406030204" pitchFamily="18" charset="0"/>
                                        <a:ea typeface="+mn-ea"/>
                                      </a:rPr>
                                    </m:ctrlPr>
                                  </m:dPr>
                                  <m:e>
                                    <m:r>
                                      <a:rPr kumimoji="1" lang="en-US" altLang="ja-JP" sz="2800" b="0" i="1" smtClean="0">
                                        <a:latin typeface="Cambria Math" panose="02040503050406030204" pitchFamily="18" charset="0"/>
                                        <a:ea typeface="Cambria Math" panose="02040503050406030204" pitchFamily="18" charset="0"/>
                                      </a:rPr>
                                      <m:t>𝜆</m:t>
                                    </m:r>
                                  </m:e>
                                </m:d>
                              </m:oMath>
                            </m:oMathPara>
                          </a14:m>
                          <a:endParaRPr kumimoji="1" lang="ja-JP" altLang="en-US" sz="2800" i="1">
                            <a:latin typeface="+mn-ea"/>
                            <a:ea typeface="+mn-ea"/>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ea typeface="+mn-ea"/>
                                  </a:rPr>
                                  <m:t>𝑅</m:t>
                                </m:r>
                                <m:d>
                                  <m:dPr>
                                    <m:ctrlPr>
                                      <a:rPr lang="en-US" altLang="ja-JP" sz="2800" i="1">
                                        <a:latin typeface="Cambria Math" panose="02040503050406030204" pitchFamily="18" charset="0"/>
                                        <a:ea typeface="+mn-ea"/>
                                      </a:rPr>
                                    </m:ctrlPr>
                                  </m:dPr>
                                  <m:e>
                                    <m:r>
                                      <a:rPr kumimoji="1" lang="en-US" altLang="ja-JP" sz="2800" b="0" i="1" smtClean="0">
                                        <a:latin typeface="Cambria Math" panose="02040503050406030204" pitchFamily="18" charset="0"/>
                                        <a:ea typeface="Cambria Math" panose="02040503050406030204" pitchFamily="18" charset="0"/>
                                      </a:rPr>
                                      <m:t>𝜆</m:t>
                                    </m:r>
                                  </m:e>
                                </m:d>
                              </m:oMath>
                            </m:oMathPara>
                          </a14:m>
                          <a:endParaRPr kumimoji="1" lang="ja-JP" altLang="en-US" sz="2800" i="1">
                            <a:latin typeface="+mn-ea"/>
                            <a:ea typeface="+mn-ea"/>
                          </a:endParaRP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7163058"/>
                      </a:ext>
                    </a:extLst>
                  </a:tr>
                  <a:tr h="618505">
                    <a:tc vMerge="1">
                      <a:txBody>
                        <a:bodyPr/>
                        <a:lstStyle/>
                        <a:p>
                          <a:pPr algn="ctr"/>
                          <a:endParaRPr kumimoji="1" lang="ja-JP"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i="1" smtClean="0">
                                            <a:latin typeface="Cambria Math" panose="02040503050406030204" pitchFamily="18" charset="0"/>
                                            <a:ea typeface="Cambria Math" panose="02040503050406030204" pitchFamily="18" charset="0"/>
                                          </a:rPr>
                                          <m:t>𝛽</m:t>
                                        </m:r>
                                      </m:e>
                                    </m:acc>
                                  </m:e>
                                  <m:sub>
                                    <m:r>
                                      <a:rPr lang="en-US" altLang="ja-JP" sz="2800" b="0" i="1" smtClean="0">
                                        <a:latin typeface="Cambria Math" panose="02040503050406030204" pitchFamily="18" charset="0"/>
                                      </a:rPr>
                                      <m:t>𝑗</m:t>
                                    </m:r>
                                  </m:sub>
                                </m:sSub>
                                <m:r>
                                  <a:rPr lang="en-US" altLang="ja-JP" sz="2800" b="0" i="1" smtClean="0">
                                    <a:latin typeface="Cambria Math" panose="02040503050406030204" pitchFamily="18" charset="0"/>
                                  </a:rPr>
                                  <m:t>=0</m:t>
                                </m:r>
                              </m:oMath>
                            </m:oMathPara>
                          </a14:m>
                          <a:endParaRPr kumimoji="1" lang="ja-JP" altLang="en-US" sz="2800"/>
                        </a:p>
                      </a:txBody>
                      <a:tcPr>
                        <a:lnB w="2857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18505">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Choice>
        <mc:Fallback xmlns="">
          <p:graphicFrame>
            <p:nvGraphicFramePr>
              <p:cNvPr id="5" name="表 4">
                <a:extLst>
                  <a:ext uri="{FF2B5EF4-FFF2-40B4-BE49-F238E27FC236}">
                    <a16:creationId xmlns:a16="http://schemas.microsoft.com/office/drawing/2014/main" id="{457E0B9A-AE18-3608-65C6-86E6C9602A86}"/>
                  </a:ext>
                </a:extLst>
              </p:cNvPr>
              <p:cNvGraphicFramePr>
                <a:graphicFrameLocks noGrp="1"/>
              </p:cNvGraphicFramePr>
              <p:nvPr>
                <p:extLst>
                  <p:ext uri="{D42A27DB-BD31-4B8C-83A1-F6EECF244321}">
                    <p14:modId xmlns:p14="http://schemas.microsoft.com/office/powerpoint/2010/main" val="1698313175"/>
                  </p:ext>
                </p:extLst>
              </p:nvPr>
            </p:nvGraphicFramePr>
            <p:xfrm>
              <a:off x="237550" y="3608390"/>
              <a:ext cx="6192001" cy="2988000"/>
            </p:xfrm>
            <a:graphic>
              <a:graphicData uri="http://schemas.openxmlformats.org/drawingml/2006/table">
                <a:tbl>
                  <a:tblPr firstRow="1" bandRow="1">
                    <a:tableStyleId>{5940675A-B579-460E-94D1-54222C63F5DA}</a:tableStyleId>
                  </a:tblPr>
                  <a:tblGrid>
                    <a:gridCol w="621503">
                      <a:extLst>
                        <a:ext uri="{9D8B030D-6E8A-4147-A177-3AD203B41FA5}">
                          <a16:colId xmlns:a16="http://schemas.microsoft.com/office/drawing/2014/main" val="2166501344"/>
                        </a:ext>
                      </a:extLst>
                    </a:gridCol>
                    <a:gridCol w="1345814">
                      <a:extLst>
                        <a:ext uri="{9D8B030D-6E8A-4147-A177-3AD203B41FA5}">
                          <a16:colId xmlns:a16="http://schemas.microsoft.com/office/drawing/2014/main" val="3366183821"/>
                        </a:ext>
                      </a:extLst>
                    </a:gridCol>
                    <a:gridCol w="1337992">
                      <a:extLst>
                        <a:ext uri="{9D8B030D-6E8A-4147-A177-3AD203B41FA5}">
                          <a16:colId xmlns:a16="http://schemas.microsoft.com/office/drawing/2014/main" val="122348770"/>
                        </a:ext>
                      </a:extLst>
                    </a:gridCol>
                    <a:gridCol w="1398595">
                      <a:extLst>
                        <a:ext uri="{9D8B030D-6E8A-4147-A177-3AD203B41FA5}">
                          <a16:colId xmlns:a16="http://schemas.microsoft.com/office/drawing/2014/main" val="1265163690"/>
                        </a:ext>
                      </a:extLst>
                    </a:gridCol>
                    <a:gridCol w="1488097">
                      <a:extLst>
                        <a:ext uri="{9D8B030D-6E8A-4147-A177-3AD203B41FA5}">
                          <a16:colId xmlns:a16="http://schemas.microsoft.com/office/drawing/2014/main" val="1115285989"/>
                        </a:ext>
                      </a:extLst>
                    </a:gridCol>
                  </a:tblGrid>
                  <a:tr h="520849">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607487">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7170" t="-97917" r="-216981" b="-318750"/>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8182" t="-97917" r="-109091" b="-31875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622654">
                    <a:tc rowSpan="3">
                      <a:txBody>
                        <a:bodyPr/>
                        <a:lstStyle/>
                        <a:p>
                          <a:pPr algn="ctr"/>
                          <a:endParaRPr kumimoji="1" lang="en-US" altLang="ja-JP" sz="1000" dirty="0"/>
                        </a:p>
                        <a:p>
                          <a:pPr algn="ctr"/>
                          <a:endParaRPr kumimoji="1" lang="en-US" altLang="ja-JP" sz="1000" dirty="0"/>
                        </a:p>
                        <a:p>
                          <a:pPr algn="ctr"/>
                          <a:endParaRPr kumimoji="1" lang="en-US" altLang="ja-JP" sz="1400" dirty="0"/>
                        </a:p>
                        <a:p>
                          <a:pPr algn="ctr"/>
                          <a:r>
                            <a:rPr kumimoji="1" lang="ja-JP" altLang="en-US" sz="2800"/>
                            <a:t>推</a:t>
                          </a:r>
                          <a:endParaRPr kumimoji="1" lang="en-US" altLang="ja-JP" sz="2800" dirty="0"/>
                        </a:p>
                        <a:p>
                          <a:pPr algn="ctr"/>
                          <a:r>
                            <a:rPr kumimoji="1" lang="ja-JP" altLang="en-US" sz="2800"/>
                            <a:t>定</a:t>
                          </a:r>
                        </a:p>
                      </a:txBody>
                      <a:tcPr/>
                    </a:tc>
                    <a:tc>
                      <a:txBody>
                        <a:bodyPr/>
                        <a:lstStyle/>
                        <a:p>
                          <a:endParaRPr lang="ja-JP"/>
                        </a:p>
                      </a:txBody>
                      <a:tcPr>
                        <a:lnT w="12700" cap="flat" cmpd="sng" algn="ctr">
                          <a:solidFill>
                            <a:schemeClr val="tx1"/>
                          </a:solidFill>
                          <a:prstDash val="solid"/>
                          <a:round/>
                          <a:headEnd type="none" w="med" len="med"/>
                          <a:tailEnd type="none" w="med" len="med"/>
                        </a:lnT>
                        <a:blipFill>
                          <a:blip r:embed="rId3"/>
                          <a:stretch>
                            <a:fillRect l="-47170" t="-193878" r="-316981" b="-212245"/>
                          </a:stretch>
                        </a:blipFill>
                      </a:tcPr>
                    </a:tc>
                    <a:tc>
                      <a:txBody>
                        <a:bodyPr/>
                        <a:lstStyle/>
                        <a:p>
                          <a:endParaRPr lang="ja-JP"/>
                        </a:p>
                      </a:txBody>
                      <a:tcPr>
                        <a:lnT w="12700" cap="flat" cmpd="sng" algn="ctr">
                          <a:solidFill>
                            <a:schemeClr val="tx1"/>
                          </a:solidFill>
                          <a:prstDash val="solid"/>
                          <a:round/>
                          <a:headEnd type="none" w="med" len="med"/>
                          <a:tailEnd type="none" w="med" len="med"/>
                        </a:lnT>
                        <a:blipFill>
                          <a:blip r:embed="rId3"/>
                          <a:stretch>
                            <a:fillRect l="-147170" t="-193878" r="-216981" b="-212245"/>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3"/>
                          <a:stretch>
                            <a:fillRect l="-238182" t="-193878" r="-109091" b="-212245"/>
                          </a:stretch>
                        </a:blipFill>
                      </a:tcPr>
                    </a:tc>
                    <a:tc>
                      <a:txBody>
                        <a:bodyPr/>
                        <a:lstStyle/>
                        <a:p>
                          <a:endParaRPr lang="ja-JP"/>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3"/>
                          <a:stretch>
                            <a:fillRect l="-315254" t="-193878" r="-1695" b="-212245"/>
                          </a:stretch>
                        </a:blipFill>
                      </a:tcPr>
                    </a:tc>
                    <a:extLst>
                      <a:ext uri="{0D108BD9-81ED-4DB2-BD59-A6C34878D82A}">
                        <a16:rowId xmlns:a16="http://schemas.microsoft.com/office/drawing/2014/main" val="3157163058"/>
                      </a:ext>
                    </a:extLst>
                  </a:tr>
                  <a:tr h="618505">
                    <a:tc vMerge="1">
                      <a:txBody>
                        <a:bodyPr/>
                        <a:lstStyle/>
                        <a:p>
                          <a:pPr algn="ctr"/>
                          <a:endParaRPr kumimoji="1" lang="ja-JP" altLang="en-US"/>
                        </a:p>
                      </a:txBody>
                      <a:tcPr/>
                    </a:tc>
                    <a:tc>
                      <a:txBody>
                        <a:bodyPr/>
                        <a:lstStyle/>
                        <a:p>
                          <a:endParaRPr lang="ja-JP"/>
                        </a:p>
                      </a:txBody>
                      <a:tcPr>
                        <a:lnB w="28575" cap="flat" cmpd="sng" algn="ctr">
                          <a:solidFill>
                            <a:schemeClr val="tx1"/>
                          </a:solidFill>
                          <a:prstDash val="solid"/>
                          <a:round/>
                          <a:headEnd type="none" w="med" len="med"/>
                          <a:tailEnd type="none" w="med" len="med"/>
                        </a:lnB>
                        <a:blipFill>
                          <a:blip r:embed="rId3"/>
                          <a:stretch>
                            <a:fillRect l="-47170" t="-293878" r="-316981" b="-112245"/>
                          </a:stretch>
                        </a:blip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18505">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AFB2463-4286-C348-52B7-EEFE293DD437}"/>
                  </a:ext>
                </a:extLst>
              </p:cNvPr>
              <p:cNvSpPr txBox="1"/>
              <p:nvPr/>
            </p:nvSpPr>
            <p:spPr>
              <a:xfrm>
                <a:off x="446900" y="1672023"/>
                <a:ext cx="10195700" cy="16954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rPr>
                          </m:ctrlPr>
                        </m:sSubPr>
                        <m:e>
                          <m:r>
                            <m:rPr>
                              <m:sty m:val="p"/>
                            </m:rPr>
                            <a:rPr kumimoji="1" lang="en-US" altLang="ja-JP" sz="3200" b="0" i="0" smtClean="0">
                              <a:latin typeface="Cambria Math" panose="02040503050406030204" pitchFamily="18" charset="0"/>
                            </a:rPr>
                            <m:t>H</m:t>
                          </m:r>
                        </m:e>
                        <m:sub>
                          <m:r>
                            <a:rPr kumimoji="1" lang="en-US" altLang="ja-JP" sz="3200" b="0" i="1" smtClean="0">
                              <a:latin typeface="Cambria Math" panose="02040503050406030204" pitchFamily="18" charset="0"/>
                            </a:rPr>
                            <m:t>0,</m:t>
                          </m:r>
                          <m:r>
                            <a:rPr kumimoji="1" lang="en-US" altLang="ja-JP" sz="3200" b="0" i="1" smtClean="0">
                              <a:latin typeface="Cambria Math" panose="02040503050406030204" pitchFamily="18" charset="0"/>
                            </a:rPr>
                            <m:t>𝑗</m:t>
                          </m:r>
                        </m:sub>
                      </m:sSub>
                      <m:r>
                        <a:rPr kumimoji="1" lang="en-US" altLang="ja-JP" sz="3200" b="0" i="1" smtClean="0">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𝛽</m:t>
                          </m:r>
                        </m:e>
                        <m:sub>
                          <m:r>
                            <a:rPr lang="en-US" altLang="ja-JP" sz="3200" b="0" i="1" smtClean="0">
                              <a:latin typeface="Cambria Math" panose="02040503050406030204" pitchFamily="18" charset="0"/>
                            </a:rPr>
                            <m:t>𝑗</m:t>
                          </m:r>
                        </m:sub>
                      </m:sSub>
                      <m:r>
                        <a:rPr lang="en-US" altLang="ja-JP" sz="3200" i="1">
                          <a:latin typeface="Cambria Math" panose="02040503050406030204" pitchFamily="18" charset="0"/>
                        </a:rPr>
                        <m:t>=0</m:t>
                      </m:r>
                      <m:r>
                        <a:rPr lang="en-US" altLang="ja-JP" sz="3200" b="0" i="1" smtClean="0">
                          <a:latin typeface="Cambria Math" panose="02040503050406030204" pitchFamily="18" charset="0"/>
                        </a:rPr>
                        <m:t>,  </m:t>
                      </m:r>
                      <m:sSub>
                        <m:sSubPr>
                          <m:ctrlPr>
                            <a:rPr lang="en-US" altLang="ja-JP" sz="3200" b="0" i="1" smtClean="0">
                              <a:latin typeface="Cambria Math" panose="02040503050406030204" pitchFamily="18" charset="0"/>
                            </a:rPr>
                          </m:ctrlPr>
                        </m:sSubPr>
                        <m:e>
                          <m:r>
                            <m:rPr>
                              <m:sty m:val="p"/>
                            </m:rPr>
                            <a:rPr lang="en-US" altLang="ja-JP" sz="3200" b="0" i="0" smtClean="0">
                              <a:latin typeface="Cambria Math" panose="02040503050406030204" pitchFamily="18" charset="0"/>
                            </a:rPr>
                            <m:t>H</m:t>
                          </m:r>
                        </m:e>
                        <m:sub>
                          <m:r>
                            <a:rPr lang="en-US" altLang="ja-JP" sz="3200" b="0" i="1" smtClean="0">
                              <a:latin typeface="Cambria Math" panose="02040503050406030204" pitchFamily="18" charset="0"/>
                            </a:rPr>
                            <m:t>1,</m:t>
                          </m:r>
                          <m:r>
                            <a:rPr lang="en-US" altLang="ja-JP" sz="3200" b="0" i="1" smtClean="0">
                              <a:latin typeface="Cambria Math" panose="02040503050406030204" pitchFamily="18" charset="0"/>
                            </a:rPr>
                            <m:t>𝑗</m:t>
                          </m:r>
                        </m:sub>
                      </m:sSub>
                      <m:r>
                        <a:rPr lang="en-US" altLang="ja-JP" sz="3200" b="0" i="1" smtClean="0">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𝛽</m:t>
                          </m:r>
                        </m:e>
                        <m:sub>
                          <m:r>
                            <a:rPr lang="en-US" altLang="ja-JP" sz="3200" b="0" i="1" smtClean="0">
                              <a:latin typeface="Cambria Math" panose="02040503050406030204" pitchFamily="18" charset="0"/>
                            </a:rPr>
                            <m:t>𝑗</m:t>
                          </m:r>
                        </m:sub>
                      </m:sSub>
                      <m:r>
                        <a:rPr lang="en-US" altLang="ja-JP" sz="3200" i="1">
                          <a:latin typeface="Cambria Math" panose="02040503050406030204" pitchFamily="18" charset="0"/>
                          <a:ea typeface="Cambria Math" panose="02040503050406030204" pitchFamily="18" charset="0"/>
                        </a:rPr>
                        <m:t>≠</m:t>
                      </m:r>
                      <m:r>
                        <a:rPr lang="en-US" altLang="ja-JP" sz="3200" i="1">
                          <a:latin typeface="Cambria Math" panose="02040503050406030204" pitchFamily="18" charset="0"/>
                        </a:rPr>
                        <m:t>0</m:t>
                      </m:r>
                      <m:r>
                        <a:rPr lang="en-US" altLang="ja-JP" sz="3200" b="0" i="1" smtClean="0">
                          <a:latin typeface="Cambria Math" panose="02040503050406030204" pitchFamily="18" charset="0"/>
                        </a:rPr>
                        <m:t>    (</m:t>
                      </m:r>
                      <m:r>
                        <a:rPr lang="en-US" altLang="ja-JP" sz="3200" b="0" i="1" smtClean="0">
                          <a:latin typeface="Cambria Math" panose="02040503050406030204" pitchFamily="18" charset="0"/>
                        </a:rPr>
                        <m:t>𝑗</m:t>
                      </m:r>
                      <m:r>
                        <a:rPr lang="en-US" altLang="ja-JP" sz="3200" b="0" i="1" smtClean="0">
                          <a:latin typeface="Cambria Math" panose="02040503050406030204" pitchFamily="18" charset="0"/>
                        </a:rPr>
                        <m:t>=1,…,</m:t>
                      </m:r>
                      <m:r>
                        <a:rPr lang="en-US" altLang="ja-JP" sz="3200" b="0" i="1" smtClean="0">
                          <a:latin typeface="Cambria Math" panose="02040503050406030204" pitchFamily="18" charset="0"/>
                        </a:rPr>
                        <m:t>𝑝</m:t>
                      </m:r>
                      <m:r>
                        <a:rPr lang="en-US" altLang="ja-JP" sz="3200" b="0" i="1" smtClean="0">
                          <a:latin typeface="Cambria Math" panose="02040503050406030204" pitchFamily="18" charset="0"/>
                        </a:rPr>
                        <m:t>)</m:t>
                      </m:r>
                    </m:oMath>
                  </m:oMathPara>
                </a14:m>
                <a:endParaRPr kumimoji="1" lang="en-US" altLang="ja-JP" sz="3200" dirty="0"/>
              </a:p>
              <a:p>
                <a:endParaRPr kumimoji="1" lang="en-US" altLang="ja-JP" sz="800" dirty="0"/>
              </a:p>
              <a:p>
                <a14:m>
                  <m:oMath xmlns:m="http://schemas.openxmlformats.org/officeDocument/2006/math">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a:rPr kumimoji="1" lang="en-US" altLang="ja-JP" sz="2800" b="1" i="1" smtClean="0">
                        <a:latin typeface="Cambria Math" panose="02040503050406030204" pitchFamily="18" charset="0"/>
                        <a:ea typeface="Cambria Math" panose="02040503050406030204" pitchFamily="18" charset="0"/>
                      </a:rPr>
                      <m:t> </m:t>
                    </m:r>
                  </m:oMath>
                </a14:m>
                <a:r>
                  <a:rPr lang="en-US" altLang="ja-JP" sz="2800" dirty="0">
                    <a:latin typeface="+mn-ea"/>
                  </a:rPr>
                  <a:t>: </a:t>
                </a:r>
                <a:r>
                  <a:rPr lang="ja-JP" altLang="en-US" sz="2800">
                    <a:latin typeface="+mn-ea"/>
                  </a:rPr>
                  <a:t>真の回帰係数</a:t>
                </a:r>
                <a:endParaRPr lang="en-US" altLang="ja-JP" sz="2800" dirty="0">
                  <a:latin typeface="+mn-ea"/>
                </a:endParaRPr>
              </a:p>
              <a:p>
                <a14:m>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i="1" smtClean="0">
                                <a:latin typeface="Cambria Math" panose="02040503050406030204" pitchFamily="18" charset="0"/>
                                <a:ea typeface="Cambria Math" panose="02040503050406030204" pitchFamily="18" charset="0"/>
                              </a:rPr>
                              <m:t>𝛽</m:t>
                            </m:r>
                          </m:e>
                        </m:acc>
                      </m:e>
                      <m:sub>
                        <m:r>
                          <a:rPr lang="en-US" altLang="ja-JP" sz="2800" b="0" i="1" smtClean="0">
                            <a:latin typeface="Cambria Math" panose="02040503050406030204" pitchFamily="18" charset="0"/>
                          </a:rPr>
                          <m:t>𝑗</m:t>
                        </m:r>
                      </m:sub>
                    </m:sSub>
                  </m:oMath>
                </a14:m>
                <a:r>
                  <a:rPr lang="en-US" altLang="ja-JP" sz="2800" dirty="0">
                    <a:latin typeface="+mn-ea"/>
                  </a:rPr>
                  <a:t> : </a:t>
                </a:r>
                <a:r>
                  <a:rPr lang="ja-JP" altLang="en-US" sz="2800">
                    <a:latin typeface="+mn-ea"/>
                  </a:rPr>
                  <a:t>推定した回帰係数</a:t>
                </a:r>
                <a:endParaRPr lang="en-US" altLang="ja-JP" sz="100" dirty="0">
                  <a:latin typeface="+mn-ea"/>
                </a:endParaRPr>
              </a:p>
            </p:txBody>
          </p:sp>
        </mc:Choice>
        <mc:Fallback xmlns="">
          <p:sp>
            <p:nvSpPr>
              <p:cNvPr id="2" name="テキスト ボックス 1">
                <a:extLst>
                  <a:ext uri="{FF2B5EF4-FFF2-40B4-BE49-F238E27FC236}">
                    <a16:creationId xmlns:a16="http://schemas.microsoft.com/office/drawing/2014/main" id="{7AFB2463-4286-C348-52B7-EEFE293DD437}"/>
                  </a:ext>
                </a:extLst>
              </p:cNvPr>
              <p:cNvSpPr txBox="1">
                <a:spLocks noRot="1" noChangeAspect="1" noMove="1" noResize="1" noEditPoints="1" noAdjustHandles="1" noChangeArrowheads="1" noChangeShapeType="1" noTextEdit="1"/>
              </p:cNvSpPr>
              <p:nvPr/>
            </p:nvSpPr>
            <p:spPr>
              <a:xfrm>
                <a:off x="446900" y="1672023"/>
                <a:ext cx="10195700" cy="1695464"/>
              </a:xfrm>
              <a:prstGeom prst="rect">
                <a:avLst/>
              </a:prstGeom>
              <a:blipFill>
                <a:blip r:embed="rId4"/>
                <a:stretch>
                  <a:fillRect l="-746" b="-97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5093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
            <a:extLst>
              <a:ext uri="{FF2B5EF4-FFF2-40B4-BE49-F238E27FC236}">
                <a16:creationId xmlns:a16="http://schemas.microsoft.com/office/drawing/2014/main" id="{B7DC2F06-B39A-864F-90F5-2ABE5AA0CA48}"/>
              </a:ext>
            </a:extLst>
          </p:cNvPr>
          <p:cNvSpPr txBox="1">
            <a:spLocks/>
          </p:cNvSpPr>
          <p:nvPr/>
        </p:nvSpPr>
        <p:spPr>
          <a:xfrm>
            <a:off x="-1" y="1334"/>
            <a:ext cx="12191999" cy="148110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E7EEB16-9574-BD99-D29F-02396746D6F1}"/>
                  </a:ext>
                </a:extLst>
              </p:cNvPr>
              <p:cNvSpPr txBox="1"/>
              <p:nvPr/>
            </p:nvSpPr>
            <p:spPr>
              <a:xfrm>
                <a:off x="-917553" y="4468131"/>
                <a:ext cx="8216900" cy="1578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2800" i="1" smtClean="0">
                          <a:latin typeface="Cambria Math" panose="02040503050406030204" pitchFamily="18" charset="0"/>
                        </a:rPr>
                        <m:t>𝑉</m:t>
                      </m:r>
                      <m:d>
                        <m:dPr>
                          <m:ctrlPr>
                            <a:rPr lang="en-US" altLang="ja-JP" sz="2800" i="1">
                              <a:latin typeface="Cambria Math" panose="02040503050406030204" pitchFamily="18" charset="0"/>
                            </a:rPr>
                          </m:ctrlPr>
                        </m:dPr>
                        <m:e>
                          <m:r>
                            <a:rPr kumimoji="1" lang="en-US" altLang="ja-JP" sz="2800" i="1">
                              <a:latin typeface="Cambria Math" panose="02040503050406030204" pitchFamily="18" charset="0"/>
                              <a:ea typeface="Cambria Math" panose="02040503050406030204" pitchFamily="18" charset="0"/>
                            </a:rPr>
                            <m:t>𝜆</m:t>
                          </m:r>
                        </m:e>
                      </m:d>
                      <m:r>
                        <m:rPr>
                          <m:aln/>
                        </m:rPr>
                        <a:rPr lang="en-US" altLang="ja-JP" sz="2800" i="1">
                          <a:latin typeface="Cambria Math" panose="02040503050406030204" pitchFamily="18" charset="0"/>
                        </a:rPr>
                        <m:t>≡</m:t>
                      </m:r>
                      <m:r>
                        <a:rPr lang="en-US" altLang="ja-JP" sz="2800" b="0" i="1" smtClean="0">
                          <a:latin typeface="Cambria Math" panose="02040503050406030204" pitchFamily="18" charset="0"/>
                        </a:rPr>
                        <m:t>#</m:t>
                      </m:r>
                      <m:d>
                        <m:dPr>
                          <m:begChr m:val="{"/>
                          <m:endChr m:val="}"/>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 </m:t>
                          </m:r>
                          <m:r>
                            <a:rPr lang="en-US" altLang="ja-JP" sz="2800" i="1">
                              <a:latin typeface="Cambria Math" panose="02040503050406030204" pitchFamily="18" charset="0"/>
                            </a:rPr>
                            <m:t>𝑗</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m:rPr>
                              <m:nor/>
                            </m:rPr>
                            <a:rPr kumimoji="1" lang="ja-JP" altLang="en-US" sz="2800" smtClean="0"/>
                            <m:t> </m:t>
                          </m:r>
                          <m:r>
                            <a:rPr lang="en-US" altLang="ja-JP" sz="2800" i="1">
                              <a:latin typeface="Cambria Math" panose="02040503050406030204" pitchFamily="18" charset="0"/>
                            </a:rPr>
                            <m:t>=0</m:t>
                          </m:r>
                          <m:r>
                            <a:rPr lang="en-US" altLang="ja-JP" sz="2800" b="0" i="1" smtClean="0">
                              <a:latin typeface="Cambria Math" panose="02040503050406030204" pitchFamily="18" charset="0"/>
                            </a:rPr>
                            <m:t> </m:t>
                          </m:r>
                          <m:r>
                            <m:rPr>
                              <m:sty m:val="p"/>
                            </m:rPr>
                            <a:rPr lang="en-US" altLang="ja-JP" sz="2800" b="0" i="0" smtClean="0">
                              <a:latin typeface="Cambria Math" panose="02040503050406030204" pitchFamily="18" charset="0"/>
                            </a:rPr>
                            <m:t>and</m:t>
                          </m:r>
                          <m:r>
                            <a:rPr lang="en-US" altLang="ja-JP" sz="2800" b="0" i="1" smtClean="0">
                              <a:latin typeface="Cambria Math" panose="02040503050406030204" pitchFamily="18" charset="0"/>
                            </a:rPr>
                            <m:t> </m:t>
                          </m:r>
                          <m:sSub>
                            <m:sSubPr>
                              <m:ctrlPr>
                                <a:rPr lang="en-US" altLang="ja-JP" sz="2800" i="1">
                                  <a:latin typeface="Cambria Math" panose="02040503050406030204" pitchFamily="18" charset="0"/>
                                </a:rPr>
                              </m:ctrlPr>
                            </m:sSubPr>
                            <m:e>
                              <m:acc>
                                <m:accPr>
                                  <m:chr m:val="̂"/>
                                  <m:ctrlPr>
                                    <a:rPr lang="en-US" altLang="ja-JP" sz="2800" i="1">
                                      <a:latin typeface="Cambria Math" panose="02040503050406030204" pitchFamily="18" charset="0"/>
                                    </a:rPr>
                                  </m:ctrlPr>
                                </m:accPr>
                                <m:e>
                                  <m:r>
                                    <a:rPr lang="en-US" altLang="ja-JP" sz="2800" i="1">
                                      <a:latin typeface="Cambria Math" panose="02040503050406030204" pitchFamily="18" charset="0"/>
                                      <a:ea typeface="Cambria Math" panose="02040503050406030204" pitchFamily="18" charset="0"/>
                                    </a:rPr>
                                    <m:t>𝛽</m:t>
                                  </m:r>
                                </m:e>
                              </m:acc>
                            </m:e>
                            <m:sub>
                              <m:r>
                                <a:rPr lang="en-US" altLang="ja-JP" sz="2800" i="1">
                                  <a:latin typeface="Cambria Math" panose="02040503050406030204" pitchFamily="18" charset="0"/>
                                </a:rPr>
                                <m:t>𝑗</m:t>
                              </m:r>
                            </m:sub>
                          </m:sSub>
                          <m:r>
                            <a:rPr lang="en-US" altLang="ja-JP" sz="2800" i="1" smtClean="0">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0</m:t>
                          </m:r>
                          <m:r>
                            <a:rPr lang="en-US" altLang="ja-JP" sz="2800" b="0" i="1" smtClean="0">
                              <a:latin typeface="Cambria Math" panose="02040503050406030204" pitchFamily="18" charset="0"/>
                            </a:rPr>
                            <m:t> </m:t>
                          </m:r>
                        </m:e>
                      </m:d>
                    </m:oMath>
                    <m:oMath xmlns:m="http://schemas.openxmlformats.org/officeDocument/2006/math">
                      <m:r>
                        <a:rPr lang="en-US" altLang="ja-JP" sz="2800" i="1">
                          <a:latin typeface="Cambria Math" panose="02040503050406030204" pitchFamily="18" charset="0"/>
                        </a:rPr>
                        <m:t>𝑆</m:t>
                      </m:r>
                      <m:d>
                        <m:dPr>
                          <m:ctrlPr>
                            <a:rPr lang="en-US" altLang="ja-JP" sz="2800" i="1">
                              <a:latin typeface="Cambria Math" panose="02040503050406030204" pitchFamily="18" charset="0"/>
                            </a:rPr>
                          </m:ctrlPr>
                        </m:dPr>
                        <m:e>
                          <m:r>
                            <a:rPr kumimoji="1" lang="en-US" altLang="ja-JP" sz="2800" i="1">
                              <a:latin typeface="Cambria Math" panose="02040503050406030204" pitchFamily="18" charset="0"/>
                              <a:ea typeface="Cambria Math" panose="02040503050406030204" pitchFamily="18" charset="0"/>
                            </a:rPr>
                            <m:t>𝜆</m:t>
                          </m:r>
                        </m:e>
                      </m:d>
                      <m:r>
                        <m:rPr>
                          <m:aln/>
                        </m:rPr>
                        <a:rPr lang="en-US" altLang="ja-JP" sz="2800" i="1">
                          <a:latin typeface="Cambria Math" panose="02040503050406030204" pitchFamily="18" charset="0"/>
                        </a:rPr>
                        <m:t>≡</m:t>
                      </m:r>
                      <m:r>
                        <a:rPr lang="en-US" altLang="ja-JP" sz="2800" i="1">
                          <a:latin typeface="Cambria Math" panose="02040503050406030204" pitchFamily="18" charset="0"/>
                        </a:rPr>
                        <m:t>#</m:t>
                      </m:r>
                      <m:d>
                        <m:dPr>
                          <m:begChr m:val="{"/>
                          <m:endChr m:val="}"/>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 </m:t>
                          </m:r>
                          <m:r>
                            <a:rPr lang="en-US" altLang="ja-JP" sz="2800" i="1">
                              <a:latin typeface="Cambria Math" panose="02040503050406030204" pitchFamily="18" charset="0"/>
                            </a:rPr>
                            <m:t>𝑗</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0 </m:t>
                          </m:r>
                          <m:r>
                            <m:rPr>
                              <m:sty m:val="p"/>
                            </m:rPr>
                            <a:rPr lang="en-US" altLang="ja-JP" sz="2800">
                              <a:latin typeface="Cambria Math" panose="02040503050406030204" pitchFamily="18" charset="0"/>
                            </a:rPr>
                            <m:t>and</m:t>
                          </m:r>
                          <m:r>
                            <a:rPr lang="en-US" altLang="ja-JP" sz="2800" b="0" i="1" smtClean="0">
                              <a:latin typeface="Cambria Math" panose="02040503050406030204" pitchFamily="18" charset="0"/>
                            </a:rPr>
                            <m:t> </m:t>
                          </m:r>
                          <m:sSub>
                            <m:sSubPr>
                              <m:ctrlPr>
                                <a:rPr lang="en-US" altLang="ja-JP" sz="2800" i="1">
                                  <a:latin typeface="Cambria Math" panose="02040503050406030204" pitchFamily="18" charset="0"/>
                                </a:rPr>
                              </m:ctrlPr>
                            </m:sSubPr>
                            <m:e>
                              <m:acc>
                                <m:accPr>
                                  <m:chr m:val="̂"/>
                                  <m:ctrlPr>
                                    <a:rPr lang="en-US" altLang="ja-JP" sz="2800" i="1">
                                      <a:latin typeface="Cambria Math" panose="02040503050406030204" pitchFamily="18" charset="0"/>
                                    </a:rPr>
                                  </m:ctrlPr>
                                </m:accPr>
                                <m:e>
                                  <m:r>
                                    <a:rPr lang="en-US" altLang="ja-JP" sz="2800" i="1">
                                      <a:latin typeface="Cambria Math" panose="02040503050406030204" pitchFamily="18" charset="0"/>
                                      <a:ea typeface="Cambria Math" panose="02040503050406030204" pitchFamily="18" charset="0"/>
                                    </a:rPr>
                                    <m:t>𝛽</m:t>
                                  </m:r>
                                </m:e>
                              </m:acc>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0</m:t>
                          </m:r>
                          <m:r>
                            <a:rPr lang="en-US" altLang="ja-JP" sz="2800" b="0" i="1" smtClean="0">
                              <a:latin typeface="Cambria Math" panose="02040503050406030204" pitchFamily="18" charset="0"/>
                            </a:rPr>
                            <m:t> </m:t>
                          </m:r>
                        </m:e>
                      </m:d>
                    </m:oMath>
                    <m:oMath xmlns:m="http://schemas.openxmlformats.org/officeDocument/2006/math">
                      <m:r>
                        <a:rPr lang="en-US" altLang="ja-JP" sz="2800" i="1">
                          <a:latin typeface="Cambria Math" panose="02040503050406030204" pitchFamily="18" charset="0"/>
                        </a:rPr>
                        <m:t>𝑅</m:t>
                      </m:r>
                      <m:d>
                        <m:dPr>
                          <m:ctrlPr>
                            <a:rPr lang="en-US" altLang="ja-JP" sz="2800" i="1">
                              <a:latin typeface="Cambria Math" panose="02040503050406030204" pitchFamily="18" charset="0"/>
                            </a:rPr>
                          </m:ctrlPr>
                        </m:dPr>
                        <m:e>
                          <m:r>
                            <a:rPr kumimoji="1" lang="en-US" altLang="ja-JP" sz="2800" i="1">
                              <a:latin typeface="Cambria Math" panose="02040503050406030204" pitchFamily="18" charset="0"/>
                              <a:ea typeface="Cambria Math" panose="02040503050406030204" pitchFamily="18" charset="0"/>
                            </a:rPr>
                            <m:t>𝜆</m:t>
                          </m:r>
                        </m:e>
                      </m:d>
                      <m:r>
                        <m:rPr>
                          <m:aln/>
                        </m:rPr>
                        <a:rPr lang="en-US" altLang="ja-JP" sz="2800" i="1">
                          <a:latin typeface="Cambria Math" panose="02040503050406030204" pitchFamily="18" charset="0"/>
                        </a:rPr>
                        <m:t>≡</m:t>
                      </m:r>
                      <m:r>
                        <a:rPr lang="en-US" altLang="ja-JP" sz="2800" i="1">
                          <a:latin typeface="Cambria Math" panose="02040503050406030204" pitchFamily="18" charset="0"/>
                        </a:rPr>
                        <m:t>𝑉</m:t>
                      </m:r>
                      <m:d>
                        <m:dPr>
                          <m:ctrlPr>
                            <a:rPr lang="en-US" altLang="ja-JP" sz="2800" i="1">
                              <a:latin typeface="Cambria Math" panose="02040503050406030204" pitchFamily="18" charset="0"/>
                            </a:rPr>
                          </m:ctrlPr>
                        </m:dPr>
                        <m:e>
                          <m:r>
                            <a:rPr kumimoji="1" lang="en-US" altLang="ja-JP" sz="2800" i="1">
                              <a:latin typeface="Cambria Math" panose="02040503050406030204" pitchFamily="18" charset="0"/>
                              <a:ea typeface="Cambria Math" panose="02040503050406030204" pitchFamily="18" charset="0"/>
                            </a:rPr>
                            <m:t>𝜆</m:t>
                          </m:r>
                        </m:e>
                      </m:d>
                      <m:r>
                        <a:rPr lang="en-US" altLang="ja-JP" sz="2800" i="1" smtClean="0">
                          <a:latin typeface="Cambria Math" panose="02040503050406030204" pitchFamily="18" charset="0"/>
                        </a:rPr>
                        <m:t>+</m:t>
                      </m:r>
                      <m:r>
                        <a:rPr lang="en-US" altLang="ja-JP" sz="2800" i="1">
                          <a:latin typeface="Cambria Math" panose="02040503050406030204" pitchFamily="18" charset="0"/>
                        </a:rPr>
                        <m:t>𝑆</m:t>
                      </m:r>
                      <m:d>
                        <m:dPr>
                          <m:ctrlPr>
                            <a:rPr lang="en-US" altLang="ja-JP" sz="2800" i="1">
                              <a:latin typeface="Cambria Math" panose="02040503050406030204" pitchFamily="18" charset="0"/>
                            </a:rPr>
                          </m:ctrlPr>
                        </m:dPr>
                        <m:e>
                          <m:r>
                            <a:rPr kumimoji="1" lang="en-US" altLang="ja-JP" sz="2800" i="1">
                              <a:latin typeface="Cambria Math" panose="02040503050406030204" pitchFamily="18" charset="0"/>
                              <a:ea typeface="Cambria Math" panose="02040503050406030204" pitchFamily="18" charset="0"/>
                            </a:rPr>
                            <m:t>𝜆</m:t>
                          </m:r>
                        </m:e>
                      </m:d>
                      <m:r>
                        <a:rPr lang="en-US" altLang="ja-JP" sz="2800" i="1" smtClean="0">
                          <a:latin typeface="Cambria Math" panose="02040503050406030204" pitchFamily="18" charset="0"/>
                        </a:rPr>
                        <m:t>=</m:t>
                      </m:r>
                      <m:r>
                        <a:rPr lang="en-US" altLang="ja-JP" sz="2800" i="1">
                          <a:latin typeface="Cambria Math" panose="02040503050406030204" pitchFamily="18" charset="0"/>
                        </a:rPr>
                        <m:t>#</m:t>
                      </m:r>
                      <m:d>
                        <m:dPr>
                          <m:begChr m:val="{"/>
                          <m:endChr m:val="}"/>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 </m:t>
                          </m:r>
                          <m:r>
                            <a:rPr lang="en-US" altLang="ja-JP" sz="2800" i="1">
                              <a:latin typeface="Cambria Math" panose="02040503050406030204" pitchFamily="18" charset="0"/>
                            </a:rPr>
                            <m:t>𝑗</m:t>
                          </m:r>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acc>
                                <m:accPr>
                                  <m:chr m:val="̂"/>
                                  <m:ctrlPr>
                                    <a:rPr lang="en-US" altLang="ja-JP" sz="2800" i="1">
                                      <a:latin typeface="Cambria Math" panose="02040503050406030204" pitchFamily="18" charset="0"/>
                                    </a:rPr>
                                  </m:ctrlPr>
                                </m:accPr>
                                <m:e>
                                  <m:r>
                                    <a:rPr lang="en-US" altLang="ja-JP" sz="2800" i="1">
                                      <a:latin typeface="Cambria Math" panose="02040503050406030204" pitchFamily="18" charset="0"/>
                                      <a:ea typeface="Cambria Math" panose="02040503050406030204" pitchFamily="18" charset="0"/>
                                    </a:rPr>
                                    <m:t>𝛽</m:t>
                                  </m:r>
                                </m:e>
                              </m:acc>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0 </m:t>
                          </m:r>
                        </m:e>
                      </m:d>
                    </m:oMath>
                  </m:oMathPara>
                </a14:m>
                <a:br>
                  <a:rPr lang="en-US" altLang="ja-JP" sz="2800" i="1" dirty="0">
                    <a:latin typeface="Cambria Math" panose="02040503050406030204" pitchFamily="18" charset="0"/>
                  </a:rPr>
                </a:br>
                <a:endParaRPr lang="ja-JP" altLang="en-US" sz="2800"/>
              </a:p>
            </p:txBody>
          </p:sp>
        </mc:Choice>
        <mc:Fallback xmlns="">
          <p:sp>
            <p:nvSpPr>
              <p:cNvPr id="18" name="テキスト ボックス 17">
                <a:extLst>
                  <a:ext uri="{FF2B5EF4-FFF2-40B4-BE49-F238E27FC236}">
                    <a16:creationId xmlns:a16="http://schemas.microsoft.com/office/drawing/2014/main" id="{DE7EEB16-9574-BD99-D29F-02396746D6F1}"/>
                  </a:ext>
                </a:extLst>
              </p:cNvPr>
              <p:cNvSpPr txBox="1">
                <a:spLocks noRot="1" noChangeAspect="1" noMove="1" noResize="1" noEditPoints="1" noAdjustHandles="1" noChangeArrowheads="1" noChangeShapeType="1" noTextEdit="1"/>
              </p:cNvSpPr>
              <p:nvPr/>
            </p:nvSpPr>
            <p:spPr>
              <a:xfrm>
                <a:off x="-917553" y="4468131"/>
                <a:ext cx="8216900" cy="1578574"/>
              </a:xfrm>
              <a:prstGeom prst="rect">
                <a:avLst/>
              </a:prstGeom>
              <a:blipFill>
                <a:blip r:embed="rId3"/>
                <a:stretch>
                  <a:fillRect t="-2381" b="-476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2C7B2492-DF91-A9F1-790D-53777E4D6AAE}"/>
                  </a:ext>
                </a:extLst>
              </p:cNvPr>
              <p:cNvSpPr txBox="1"/>
              <p:nvPr/>
            </p:nvSpPr>
            <p:spPr>
              <a:xfrm>
                <a:off x="6095998" y="4921754"/>
                <a:ext cx="216745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ja-JP" sz="2800" i="1" smtClean="0">
                              <a:latin typeface="Cambria Math" panose="02040503050406030204" pitchFamily="18" charset="0"/>
                            </a:rPr>
                          </m:ctrlPr>
                        </m:dPr>
                        <m:e>
                          <m:r>
                            <a:rPr lang="en-US" altLang="ja-JP" sz="2800" i="1">
                              <a:latin typeface="Cambria Math" panose="02040503050406030204" pitchFamily="18" charset="0"/>
                            </a:rPr>
                            <m:t>𝑗</m:t>
                          </m:r>
                          <m:r>
                            <a:rPr lang="en-US" altLang="ja-JP" sz="2800" i="1">
                              <a:latin typeface="Cambria Math" panose="02040503050406030204" pitchFamily="18" charset="0"/>
                            </a:rPr>
                            <m:t>=1,…,</m:t>
                          </m:r>
                          <m:r>
                            <a:rPr lang="en-US" altLang="ja-JP" sz="2800" i="1">
                              <a:latin typeface="Cambria Math" panose="02040503050406030204" pitchFamily="18" charset="0"/>
                            </a:rPr>
                            <m:t>𝑝</m:t>
                          </m:r>
                        </m:e>
                      </m:d>
                    </m:oMath>
                  </m:oMathPara>
                </a14:m>
                <a:endParaRPr kumimoji="1" lang="ja-JP" altLang="en-US" sz="2800"/>
              </a:p>
            </p:txBody>
          </p:sp>
        </mc:Choice>
        <mc:Fallback xmlns="">
          <p:sp>
            <p:nvSpPr>
              <p:cNvPr id="7" name="テキスト ボックス 6">
                <a:extLst>
                  <a:ext uri="{FF2B5EF4-FFF2-40B4-BE49-F238E27FC236}">
                    <a16:creationId xmlns:a16="http://schemas.microsoft.com/office/drawing/2014/main" id="{2C7B2492-DF91-A9F1-790D-53777E4D6AAE}"/>
                  </a:ext>
                </a:extLst>
              </p:cNvPr>
              <p:cNvSpPr txBox="1">
                <a:spLocks noRot="1" noChangeAspect="1" noMove="1" noResize="1" noEditPoints="1" noAdjustHandles="1" noChangeArrowheads="1" noChangeShapeType="1" noTextEdit="1"/>
              </p:cNvSpPr>
              <p:nvPr/>
            </p:nvSpPr>
            <p:spPr>
              <a:xfrm>
                <a:off x="6095998" y="4921754"/>
                <a:ext cx="2167453" cy="523220"/>
              </a:xfrm>
              <a:prstGeom prst="rect">
                <a:avLst/>
              </a:prstGeom>
              <a:blipFill>
                <a:blip r:embed="rId4"/>
                <a:stretch>
                  <a:fillRect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6D6280BA-42E3-9730-B7AF-4D881CA0F803}"/>
                  </a:ext>
                </a:extLst>
              </p:cNvPr>
              <p:cNvSpPr txBox="1"/>
              <p:nvPr/>
            </p:nvSpPr>
            <p:spPr>
              <a:xfrm>
                <a:off x="1140343" y="6046705"/>
                <a:ext cx="7443961" cy="523220"/>
              </a:xfrm>
              <a:prstGeom prst="rect">
                <a:avLst/>
              </a:prstGeom>
              <a:noFill/>
            </p:spPr>
            <p:txBody>
              <a:bodyPr wrap="none" rtlCol="0">
                <a:spAutoFit/>
              </a:bodyPr>
              <a:lstStyle/>
              <a:p>
                <a14:m>
                  <m:oMath xmlns:m="http://schemas.openxmlformats.org/officeDocument/2006/math">
                    <m:r>
                      <a:rPr lang="en-US" altLang="ja-JP" sz="2800" i="1" smtClean="0">
                        <a:latin typeface="Cambria Math" panose="02040503050406030204" pitchFamily="18" charset="0"/>
                      </a:rPr>
                      <m:t>#{</m:t>
                    </m:r>
                    <m:r>
                      <a:rPr lang="en-US" altLang="ja-JP" sz="2800" i="1" smtClean="0">
                        <a:latin typeface="Cambria Math" panose="02040503050406030204" pitchFamily="18" charset="0"/>
                      </a:rPr>
                      <m:t>𝑗</m:t>
                    </m:r>
                    <m:r>
                      <a:rPr lang="en-US" altLang="ja-JP" sz="2800" i="1" smtClean="0">
                        <a:latin typeface="Cambria Math" panose="02040503050406030204" pitchFamily="18" charset="0"/>
                      </a:rPr>
                      <m:t>:</m:t>
                    </m:r>
                    <m:r>
                      <a:rPr lang="en-US" altLang="ja-JP" sz="2800" b="0" i="1" smtClean="0">
                        <a:latin typeface="Cambria Math" panose="02040503050406030204" pitchFamily="18" charset="0"/>
                      </a:rPr>
                      <m:t>𝐴</m:t>
                    </m:r>
                    <m:r>
                      <a:rPr lang="en-US" altLang="ja-JP" sz="2800" i="1" smtClean="0">
                        <a:latin typeface="Cambria Math" panose="02040503050406030204" pitchFamily="18" charset="0"/>
                      </a:rPr>
                      <m:t>}</m:t>
                    </m:r>
                  </m:oMath>
                </a14:m>
                <a:r>
                  <a:rPr kumimoji="1" lang="en-US" altLang="ja-JP" sz="2800" dirty="0"/>
                  <a:t> : </a:t>
                </a:r>
                <a:r>
                  <a:rPr kumimoji="1" lang="ja-JP" altLang="en-US" sz="2800"/>
                  <a:t>条件</a:t>
                </a:r>
                <a14:m>
                  <m:oMath xmlns:m="http://schemas.openxmlformats.org/officeDocument/2006/math">
                    <m:r>
                      <a:rPr kumimoji="1" lang="en-US" altLang="ja-JP" sz="2800" b="0" i="1" smtClean="0">
                        <a:latin typeface="Cambria Math" panose="02040503050406030204" pitchFamily="18" charset="0"/>
                      </a:rPr>
                      <m:t>𝐴</m:t>
                    </m:r>
                  </m:oMath>
                </a14:m>
                <a:r>
                  <a:rPr kumimoji="1" lang="ja-JP" altLang="en-US" sz="2800"/>
                  <a:t>を満たす変数の添字番号の個数</a:t>
                </a:r>
              </a:p>
            </p:txBody>
          </p:sp>
        </mc:Choice>
        <mc:Fallback xmlns="">
          <p:sp>
            <p:nvSpPr>
              <p:cNvPr id="8" name="テキスト ボックス 7">
                <a:extLst>
                  <a:ext uri="{FF2B5EF4-FFF2-40B4-BE49-F238E27FC236}">
                    <a16:creationId xmlns:a16="http://schemas.microsoft.com/office/drawing/2014/main" id="{6D6280BA-42E3-9730-B7AF-4D881CA0F803}"/>
                  </a:ext>
                </a:extLst>
              </p:cNvPr>
              <p:cNvSpPr txBox="1">
                <a:spLocks noRot="1" noChangeAspect="1" noMove="1" noResize="1" noEditPoints="1" noAdjustHandles="1" noChangeArrowheads="1" noChangeShapeType="1" noTextEdit="1"/>
              </p:cNvSpPr>
              <p:nvPr/>
            </p:nvSpPr>
            <p:spPr>
              <a:xfrm>
                <a:off x="1140343" y="6046705"/>
                <a:ext cx="7443961" cy="523220"/>
              </a:xfrm>
              <a:prstGeom prst="rect">
                <a:avLst/>
              </a:prstGeom>
              <a:blipFill>
                <a:blip r:embed="rId5"/>
                <a:stretch>
                  <a:fillRect l="-341" t="-14286" r="-852"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FA9612E3-9853-4907-964F-777117AC22CB}"/>
                  </a:ext>
                </a:extLst>
              </p:cNvPr>
              <p:cNvSpPr txBox="1"/>
              <p:nvPr/>
            </p:nvSpPr>
            <p:spPr>
              <a:xfrm>
                <a:off x="6780804" y="1470639"/>
                <a:ext cx="5240063" cy="2980496"/>
              </a:xfrm>
              <a:prstGeom prst="rect">
                <a:avLst/>
              </a:prstGeom>
              <a:noFill/>
              <a:ln w="25400">
                <a:solidFill>
                  <a:srgbClr val="0070C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sz="2800" b="0" i="0" smtClean="0">
                          <a:latin typeface="Cambria Math" panose="02040503050406030204" pitchFamily="18" charset="0"/>
                          <a:ea typeface="Cambria Math" panose="02040503050406030204" pitchFamily="18" charset="0"/>
                        </a:rPr>
                        <m:t>FDP</m:t>
                      </m:r>
                      <m:r>
                        <a:rPr lang="en-US" altLang="ja-JP" sz="2800" i="1">
                          <a:latin typeface="Cambria Math" panose="02040503050406030204" pitchFamily="18" charset="0"/>
                          <a:ea typeface="Cambria Math" panose="02040503050406030204" pitchFamily="18" charset="0"/>
                        </a:rPr>
                        <m:t>(</m:t>
                      </m:r>
                      <m:r>
                        <a:rPr lang="en-US" altLang="ja-JP" sz="2800" i="1" smtClean="0">
                          <a:latin typeface="Cambria Math" panose="02040503050406030204" pitchFamily="18" charset="0"/>
                          <a:ea typeface="Cambria Math" panose="02040503050406030204" pitchFamily="18" charset="0"/>
                        </a:rPr>
                        <m:t>𝜆</m:t>
                      </m:r>
                      <m:r>
                        <a:rPr lang="en-US" altLang="ja-JP" sz="2800" i="1">
                          <a:latin typeface="Cambria Math" panose="02040503050406030204" pitchFamily="18" charset="0"/>
                          <a:ea typeface="Cambria Math" panose="02040503050406030204" pitchFamily="18" charset="0"/>
                        </a:rPr>
                        <m:t>)=</m:t>
                      </m:r>
                      <m:d>
                        <m:dPr>
                          <m:begChr m:val="{"/>
                          <m:endChr m:val=""/>
                          <m:ctrlPr>
                            <a:rPr lang="en-US" altLang="ja-JP" sz="2800" i="1">
                              <a:solidFill>
                                <a:schemeClr val="tx1"/>
                              </a:solidFill>
                              <a:latin typeface="Cambria Math" panose="02040503050406030204" pitchFamily="18" charset="0"/>
                              <a:ea typeface="Cambria Math" panose="02040503050406030204" pitchFamily="18" charset="0"/>
                            </a:rPr>
                          </m:ctrlPr>
                        </m:dPr>
                        <m:e>
                          <m:eqArr>
                            <m:eqArrPr>
                              <m:ctrlPr>
                                <a:rPr lang="en-US" altLang="ja-JP" sz="2800" i="1">
                                  <a:solidFill>
                                    <a:schemeClr val="tx1"/>
                                  </a:solidFill>
                                  <a:latin typeface="Cambria Math" panose="02040503050406030204" pitchFamily="18" charset="0"/>
                                  <a:ea typeface="Cambria Math" panose="02040503050406030204" pitchFamily="18" charset="0"/>
                                </a:rPr>
                              </m:ctrlPr>
                            </m:eqArrPr>
                            <m:e>
                              <m:f>
                                <m:fPr>
                                  <m:ctrlPr>
                                    <a:rPr lang="en-US" altLang="ja-JP" sz="2800" i="1">
                                      <a:latin typeface="Cambria Math" panose="02040503050406030204" pitchFamily="18" charset="0"/>
                                      <a:ea typeface="Cambria Math" panose="02040503050406030204" pitchFamily="18" charset="0"/>
                                    </a:rPr>
                                  </m:ctrlPr>
                                </m:fPr>
                                <m:num>
                                  <m:r>
                                    <a:rPr lang="en-US" altLang="ja-JP" sz="2800" b="0" i="1" smtClean="0">
                                      <a:latin typeface="Cambria Math" panose="02040503050406030204" pitchFamily="18" charset="0"/>
                                      <a:ea typeface="Cambria Math" panose="02040503050406030204" pitchFamily="18" charset="0"/>
                                    </a:rPr>
                                    <m:t>𝑉</m:t>
                                  </m:r>
                                  <m:d>
                                    <m:dPr>
                                      <m:ctrlPr>
                                        <a:rPr lang="en-US" altLang="ja-JP" sz="2800" i="1">
                                          <a:latin typeface="Cambria Math" panose="02040503050406030204" pitchFamily="18" charset="0"/>
                                        </a:rPr>
                                      </m:ctrlPr>
                                    </m:dPr>
                                    <m:e>
                                      <m:r>
                                        <a:rPr lang="en-US" altLang="ja-JP" sz="2800" i="1">
                                          <a:latin typeface="Cambria Math" panose="02040503050406030204" pitchFamily="18" charset="0"/>
                                          <a:ea typeface="Cambria Math" panose="02040503050406030204" pitchFamily="18" charset="0"/>
                                        </a:rPr>
                                        <m:t>𝜆</m:t>
                                      </m:r>
                                    </m:e>
                                  </m:d>
                                </m:num>
                                <m:den>
                                  <m:r>
                                    <a:rPr lang="en-US" altLang="ja-JP" sz="2800" b="0" i="1" smtClean="0">
                                      <a:latin typeface="Cambria Math" panose="02040503050406030204" pitchFamily="18" charset="0"/>
                                    </a:rPr>
                                    <m:t>𝑅</m:t>
                                  </m:r>
                                  <m:d>
                                    <m:dPr>
                                      <m:ctrlPr>
                                        <a:rPr lang="en-US" altLang="ja-JP" sz="2800" i="1">
                                          <a:latin typeface="Cambria Math" panose="02040503050406030204" pitchFamily="18" charset="0"/>
                                        </a:rPr>
                                      </m:ctrlPr>
                                    </m:dPr>
                                    <m:e>
                                      <m:r>
                                        <a:rPr lang="en-US" altLang="ja-JP" sz="2800" i="1">
                                          <a:latin typeface="Cambria Math" panose="02040503050406030204" pitchFamily="18" charset="0"/>
                                          <a:ea typeface="Cambria Math" panose="02040503050406030204" pitchFamily="18" charset="0"/>
                                        </a:rPr>
                                        <m:t>𝜆</m:t>
                                      </m:r>
                                    </m:e>
                                  </m:d>
                                </m:den>
                              </m:f>
                              <m:r>
                                <a:rPr lang="en-US" altLang="ja-JP" sz="2800" b="0" i="1" smtClean="0">
                                  <a:latin typeface="Cambria Math" panose="02040503050406030204" pitchFamily="18" charset="0"/>
                                </a:rPr>
                                <m:t>     </m:t>
                              </m:r>
                              <m:r>
                                <a:rPr lang="en-US" altLang="ja-JP" sz="2800" i="1">
                                  <a:solidFill>
                                    <a:schemeClr val="tx1"/>
                                  </a:solidFill>
                                  <a:latin typeface="Cambria Math" panose="02040503050406030204" pitchFamily="18" charset="0"/>
                                  <a:ea typeface="Cambria Math" panose="02040503050406030204" pitchFamily="18" charset="0"/>
                                </a:rPr>
                                <m:t>(</m:t>
                              </m:r>
                              <m:r>
                                <a:rPr lang="en-US" altLang="ja-JP" sz="2800" b="0" i="1" smtClean="0">
                                  <a:solidFill>
                                    <a:schemeClr val="tx1"/>
                                  </a:solidFill>
                                  <a:latin typeface="Cambria Math" panose="02040503050406030204" pitchFamily="18" charset="0"/>
                                  <a:ea typeface="Cambria Math" panose="02040503050406030204" pitchFamily="18" charset="0"/>
                                </a:rPr>
                                <m:t>𝑅</m:t>
                              </m:r>
                              <m:d>
                                <m:dPr>
                                  <m:ctrlPr>
                                    <a:rPr lang="en-US" altLang="ja-JP" sz="2800" i="1">
                                      <a:latin typeface="Cambria Math" panose="02040503050406030204" pitchFamily="18" charset="0"/>
                                    </a:rPr>
                                  </m:ctrlPr>
                                </m:dPr>
                                <m:e>
                                  <m:r>
                                    <a:rPr lang="en-US" altLang="ja-JP" sz="2800" i="1">
                                      <a:latin typeface="Cambria Math" panose="02040503050406030204" pitchFamily="18" charset="0"/>
                                      <a:ea typeface="Cambria Math" panose="02040503050406030204" pitchFamily="18" charset="0"/>
                                    </a:rPr>
                                    <m:t>𝜆</m:t>
                                  </m:r>
                                </m:e>
                              </m:d>
                              <m:r>
                                <a:rPr lang="en-US" altLang="ja-JP" sz="2800" i="1" smtClean="0">
                                  <a:solidFill>
                                    <a:schemeClr val="tx1"/>
                                  </a:solidFill>
                                  <a:latin typeface="Cambria Math" panose="02040503050406030204" pitchFamily="18" charset="0"/>
                                  <a:ea typeface="Cambria Math" panose="02040503050406030204" pitchFamily="18" charset="0"/>
                                </a:rPr>
                                <m:t>&gt;</m:t>
                              </m:r>
                              <m:r>
                                <a:rPr lang="en-US" altLang="ja-JP" sz="2800" i="1">
                                  <a:solidFill>
                                    <a:schemeClr val="tx1"/>
                                  </a:solidFill>
                                  <a:latin typeface="Cambria Math" panose="02040503050406030204" pitchFamily="18" charset="0"/>
                                  <a:ea typeface="Cambria Math" panose="02040503050406030204" pitchFamily="18" charset="0"/>
                                </a:rPr>
                                <m:t>0)</m:t>
                              </m:r>
                            </m:e>
                            <m:e>
                              <m:r>
                                <a:rPr lang="en-US" altLang="ja-JP" sz="2800" i="1">
                                  <a:solidFill>
                                    <a:schemeClr val="tx1"/>
                                  </a:solidFill>
                                  <a:latin typeface="Cambria Math" panose="02040503050406030204" pitchFamily="18" charset="0"/>
                                  <a:ea typeface="Cambria Math" panose="02040503050406030204" pitchFamily="18" charset="0"/>
                                </a:rPr>
                                <m:t>0            </m:t>
                              </m:r>
                              <m:r>
                                <a:rPr lang="en-US" altLang="ja-JP" sz="2800" b="0" i="1" smtClean="0">
                                  <a:solidFill>
                                    <a:schemeClr val="tx1"/>
                                  </a:solidFill>
                                  <a:latin typeface="Cambria Math" panose="02040503050406030204" pitchFamily="18" charset="0"/>
                                  <a:ea typeface="Cambria Math" panose="02040503050406030204" pitchFamily="18" charset="0"/>
                                </a:rPr>
                                <m:t>  </m:t>
                              </m:r>
                              <m:r>
                                <a:rPr lang="en-US" altLang="ja-JP" sz="2800" i="1">
                                  <a:solidFill>
                                    <a:schemeClr val="tx1"/>
                                  </a:solidFill>
                                  <a:latin typeface="Cambria Math" panose="02040503050406030204" pitchFamily="18" charset="0"/>
                                  <a:ea typeface="Cambria Math" panose="02040503050406030204" pitchFamily="18" charset="0"/>
                                </a:rPr>
                                <m:t>(</m:t>
                              </m:r>
                              <m:r>
                                <a:rPr lang="en-US" altLang="ja-JP" sz="2800" b="0" i="1" smtClean="0">
                                  <a:solidFill>
                                    <a:schemeClr val="tx1"/>
                                  </a:solidFill>
                                  <a:latin typeface="Cambria Math" panose="02040503050406030204" pitchFamily="18" charset="0"/>
                                  <a:ea typeface="Cambria Math" panose="02040503050406030204" pitchFamily="18" charset="0"/>
                                </a:rPr>
                                <m:t>𝑅</m:t>
                              </m:r>
                              <m:d>
                                <m:dPr>
                                  <m:ctrlPr>
                                    <a:rPr lang="en-US" altLang="ja-JP" sz="2800" i="1">
                                      <a:latin typeface="Cambria Math" panose="02040503050406030204" pitchFamily="18" charset="0"/>
                                    </a:rPr>
                                  </m:ctrlPr>
                                </m:dPr>
                                <m:e>
                                  <m:r>
                                    <a:rPr lang="en-US" altLang="ja-JP" sz="2800" i="1">
                                      <a:latin typeface="Cambria Math" panose="02040503050406030204" pitchFamily="18" charset="0"/>
                                      <a:ea typeface="Cambria Math" panose="02040503050406030204" pitchFamily="18" charset="0"/>
                                    </a:rPr>
                                    <m:t>𝜆</m:t>
                                  </m:r>
                                </m:e>
                              </m:d>
                              <m:r>
                                <a:rPr lang="en-US" altLang="ja-JP" sz="2800" b="0" i="1" smtClean="0">
                                  <a:solidFill>
                                    <a:schemeClr val="tx1"/>
                                  </a:solidFill>
                                  <a:latin typeface="Cambria Math" panose="02040503050406030204" pitchFamily="18" charset="0"/>
                                  <a:ea typeface="Cambria Math" panose="02040503050406030204" pitchFamily="18" charset="0"/>
                                </a:rPr>
                                <m:t>=</m:t>
                              </m:r>
                              <m:r>
                                <a:rPr lang="en-US" altLang="ja-JP" sz="2800" i="1">
                                  <a:solidFill>
                                    <a:schemeClr val="tx1"/>
                                  </a:solidFill>
                                  <a:latin typeface="Cambria Math" panose="02040503050406030204" pitchFamily="18" charset="0"/>
                                  <a:ea typeface="Cambria Math" panose="02040503050406030204" pitchFamily="18" charset="0"/>
                                </a:rPr>
                                <m:t>0)</m:t>
                              </m:r>
                            </m:e>
                          </m:eqArr>
                        </m:e>
                      </m:d>
                    </m:oMath>
                  </m:oMathPara>
                </a14:m>
                <a:endParaRPr lang="en-US" altLang="ja-JP" sz="2800" dirty="0">
                  <a:solidFill>
                    <a:schemeClr val="tx1"/>
                  </a:solidFill>
                  <a:ea typeface="Cambria Math" panose="02040503050406030204" pitchFamily="18" charset="0"/>
                </a:endParaRPr>
              </a:p>
              <a:p>
                <a:pPr marL="0" indent="0">
                  <a:buNone/>
                </a:pPr>
                <a:endParaRPr lang="en-US" altLang="ja-JP" sz="2800" i="1" dirty="0">
                  <a:solidFill>
                    <a:schemeClr val="tx1"/>
                  </a:solidFill>
                  <a:latin typeface="Cambria Math" panose="02040503050406030204" pitchFamily="18" charset="0"/>
                  <a:ea typeface="Cambria Math" panose="02040503050406030204" pitchFamily="18" charset="0"/>
                </a:endParaRPr>
              </a:p>
              <a:p>
                <a:r>
                  <a:rPr lang="ja-JP" altLang="en-US" sz="2800">
                    <a:ea typeface="Cambria Math" panose="02040503050406030204" pitchFamily="18" charset="0"/>
                  </a:rPr>
                  <a:t>　</a:t>
                </a:r>
                <a14:m>
                  <m:oMath xmlns:m="http://schemas.openxmlformats.org/officeDocument/2006/math">
                    <m:r>
                      <m:rPr>
                        <m:sty m:val="p"/>
                      </m:rPr>
                      <a:rPr lang="en-US" altLang="ja-JP" sz="2800" b="0" i="0" smtClean="0">
                        <a:latin typeface="Cambria Math" panose="02040503050406030204" pitchFamily="18" charset="0"/>
                        <a:ea typeface="Cambria Math" panose="02040503050406030204" pitchFamily="18" charset="0"/>
                      </a:rPr>
                      <m:t>FDR</m:t>
                    </m:r>
                    <m:d>
                      <m:dPr>
                        <m:ctrlPr>
                          <a:rPr lang="en-US" altLang="ja-JP" sz="2800" i="1">
                            <a:latin typeface="Cambria Math" panose="02040503050406030204" pitchFamily="18" charset="0"/>
                            <a:ea typeface="Cambria Math" panose="02040503050406030204" pitchFamily="18" charset="0"/>
                          </a:rPr>
                        </m:ctrlPr>
                      </m:dPr>
                      <m:e>
                        <m:r>
                          <a:rPr lang="en-US" altLang="ja-JP" sz="2800" i="1">
                            <a:latin typeface="Cambria Math" panose="02040503050406030204" pitchFamily="18" charset="0"/>
                            <a:ea typeface="Cambria Math" panose="02040503050406030204" pitchFamily="18" charset="0"/>
                          </a:rPr>
                          <m:t>𝜆</m:t>
                        </m:r>
                      </m:e>
                    </m:d>
                    <m:r>
                      <a:rPr lang="en-US" altLang="ja-JP" sz="2800" i="1">
                        <a:latin typeface="Cambria Math" panose="02040503050406030204" pitchFamily="18" charset="0"/>
                        <a:ea typeface="Cambria Math" panose="02040503050406030204" pitchFamily="18" charset="0"/>
                      </a:rPr>
                      <m:t>=</m:t>
                    </m:r>
                    <m:r>
                      <m:rPr>
                        <m:sty m:val="p"/>
                      </m:rPr>
                      <a:rPr lang="en-US" altLang="ja-JP" sz="2800" i="0">
                        <a:solidFill>
                          <a:schemeClr val="tx1"/>
                        </a:solidFill>
                        <a:latin typeface="Cambria Math" panose="02040503050406030204" pitchFamily="18" charset="0"/>
                        <a:ea typeface="Cambria Math" panose="02040503050406030204" pitchFamily="18" charset="0"/>
                      </a:rPr>
                      <m:t>E</m:t>
                    </m:r>
                    <m:d>
                      <m:dPr>
                        <m:begChr m:val="["/>
                        <m:endChr m:val="]"/>
                        <m:ctrlPr>
                          <a:rPr lang="en-US" altLang="ja-JP" sz="2800" b="0" i="1" smtClean="0">
                            <a:solidFill>
                              <a:schemeClr val="tx1"/>
                            </a:solidFill>
                            <a:latin typeface="Cambria Math" panose="02040503050406030204" pitchFamily="18" charset="0"/>
                            <a:ea typeface="Cambria Math" panose="02040503050406030204" pitchFamily="18" charset="0"/>
                          </a:rPr>
                        </m:ctrlPr>
                      </m:dPr>
                      <m:e>
                        <m:r>
                          <m:rPr>
                            <m:sty m:val="p"/>
                          </m:rPr>
                          <a:rPr lang="en-US" altLang="ja-JP" sz="2800" b="0" i="0" smtClean="0">
                            <a:solidFill>
                              <a:schemeClr val="tx1"/>
                            </a:solidFill>
                            <a:latin typeface="Cambria Math" panose="02040503050406030204" pitchFamily="18" charset="0"/>
                            <a:ea typeface="Cambria Math" panose="02040503050406030204" pitchFamily="18" charset="0"/>
                          </a:rPr>
                          <m:t>FDP</m:t>
                        </m:r>
                        <m:r>
                          <a:rPr lang="en-US" altLang="ja-JP" sz="2800" i="1" smtClean="0">
                            <a:latin typeface="Cambria Math" panose="02040503050406030204" pitchFamily="18" charset="0"/>
                            <a:ea typeface="Cambria Math" panose="02040503050406030204" pitchFamily="18" charset="0"/>
                          </a:rPr>
                          <m:t> </m:t>
                        </m:r>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𝜆</m:t>
                        </m:r>
                        <m:r>
                          <a:rPr lang="en-US" altLang="ja-JP" sz="2800" i="1">
                            <a:latin typeface="Cambria Math" panose="02040503050406030204" pitchFamily="18" charset="0"/>
                            <a:ea typeface="Cambria Math" panose="02040503050406030204" pitchFamily="18" charset="0"/>
                          </a:rPr>
                          <m:t>)</m:t>
                        </m:r>
                      </m:e>
                    </m:d>
                    <m:r>
                      <a:rPr lang="en-US" altLang="ja-JP" sz="2800" b="0" i="1" smtClean="0">
                        <a:solidFill>
                          <a:schemeClr val="tx1"/>
                        </a:solidFill>
                        <a:latin typeface="Cambria Math" panose="02040503050406030204" pitchFamily="18" charset="0"/>
                        <a:ea typeface="Cambria Math" panose="02040503050406030204" pitchFamily="18" charset="0"/>
                      </a:rPr>
                      <m:t> </m:t>
                    </m:r>
                  </m:oMath>
                </a14:m>
                <a:endParaRPr lang="en-US" altLang="ja-JP" sz="2800" dirty="0">
                  <a:solidFill>
                    <a:schemeClr val="tx1"/>
                  </a:solidFill>
                  <a:ea typeface="Cambria Math" panose="02040503050406030204" pitchFamily="18" charset="0"/>
                </a:endParaRPr>
              </a:p>
              <a:p>
                <a:endParaRPr kumimoji="1" lang="ja-JP" altLang="en-US" sz="2800"/>
              </a:p>
            </p:txBody>
          </p:sp>
        </mc:Choice>
        <mc:Fallback xmlns="">
          <p:sp>
            <p:nvSpPr>
              <p:cNvPr id="3" name="テキスト ボックス 2">
                <a:extLst>
                  <a:ext uri="{FF2B5EF4-FFF2-40B4-BE49-F238E27FC236}">
                    <a16:creationId xmlns:a16="http://schemas.microsoft.com/office/drawing/2014/main" id="{FA9612E3-9853-4907-964F-777117AC22CB}"/>
                  </a:ext>
                </a:extLst>
              </p:cNvPr>
              <p:cNvSpPr txBox="1">
                <a:spLocks noRot="1" noChangeAspect="1" noMove="1" noResize="1" noEditPoints="1" noAdjustHandles="1" noChangeArrowheads="1" noChangeShapeType="1" noTextEdit="1"/>
              </p:cNvSpPr>
              <p:nvPr/>
            </p:nvSpPr>
            <p:spPr>
              <a:xfrm>
                <a:off x="6780804" y="1470639"/>
                <a:ext cx="5240063" cy="2980496"/>
              </a:xfrm>
              <a:prstGeom prst="rect">
                <a:avLst/>
              </a:prstGeom>
              <a:blipFill>
                <a:blip r:embed="rId6"/>
                <a:stretch>
                  <a:fillRect l="-23077" t="-122269" b="-131092"/>
                </a:stretch>
              </a:blipFill>
              <a:ln w="25400">
                <a:solidFill>
                  <a:srgbClr val="0070C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0DDE4899-D7C2-6E08-267F-6C6EF32E48A6}"/>
                  </a:ext>
                </a:extLst>
              </p:cNvPr>
              <p:cNvGraphicFramePr>
                <a:graphicFrameLocks noGrp="1"/>
              </p:cNvGraphicFramePr>
              <p:nvPr>
                <p:extLst>
                  <p:ext uri="{D42A27DB-BD31-4B8C-83A1-F6EECF244321}">
                    <p14:modId xmlns:p14="http://schemas.microsoft.com/office/powerpoint/2010/main" val="2901901450"/>
                  </p:ext>
                </p:extLst>
              </p:nvPr>
            </p:nvGraphicFramePr>
            <p:xfrm>
              <a:off x="294401" y="1446139"/>
              <a:ext cx="6192001" cy="2988000"/>
            </p:xfrm>
            <a:graphic>
              <a:graphicData uri="http://schemas.openxmlformats.org/drawingml/2006/table">
                <a:tbl>
                  <a:tblPr firstRow="1" bandRow="1">
                    <a:tableStyleId>{5940675A-B579-460E-94D1-54222C63F5DA}</a:tableStyleId>
                  </a:tblPr>
                  <a:tblGrid>
                    <a:gridCol w="621503">
                      <a:extLst>
                        <a:ext uri="{9D8B030D-6E8A-4147-A177-3AD203B41FA5}">
                          <a16:colId xmlns:a16="http://schemas.microsoft.com/office/drawing/2014/main" val="2166501344"/>
                        </a:ext>
                      </a:extLst>
                    </a:gridCol>
                    <a:gridCol w="1345814">
                      <a:extLst>
                        <a:ext uri="{9D8B030D-6E8A-4147-A177-3AD203B41FA5}">
                          <a16:colId xmlns:a16="http://schemas.microsoft.com/office/drawing/2014/main" val="3366183821"/>
                        </a:ext>
                      </a:extLst>
                    </a:gridCol>
                    <a:gridCol w="1337992">
                      <a:extLst>
                        <a:ext uri="{9D8B030D-6E8A-4147-A177-3AD203B41FA5}">
                          <a16:colId xmlns:a16="http://schemas.microsoft.com/office/drawing/2014/main" val="122348770"/>
                        </a:ext>
                      </a:extLst>
                    </a:gridCol>
                    <a:gridCol w="1398595">
                      <a:extLst>
                        <a:ext uri="{9D8B030D-6E8A-4147-A177-3AD203B41FA5}">
                          <a16:colId xmlns:a16="http://schemas.microsoft.com/office/drawing/2014/main" val="1265163690"/>
                        </a:ext>
                      </a:extLst>
                    </a:gridCol>
                    <a:gridCol w="1488097">
                      <a:extLst>
                        <a:ext uri="{9D8B030D-6E8A-4147-A177-3AD203B41FA5}">
                          <a16:colId xmlns:a16="http://schemas.microsoft.com/office/drawing/2014/main" val="1115285989"/>
                        </a:ext>
                      </a:extLst>
                    </a:gridCol>
                  </a:tblGrid>
                  <a:tr h="520849">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607487">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b="0" i="1" smtClean="0">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i="1" smtClean="0">
                                        <a:latin typeface="Cambria Math" panose="02040503050406030204" pitchFamily="18" charset="0"/>
                                      </a:rPr>
                                    </m:ctrlPr>
                                  </m:sSubPr>
                                  <m:e>
                                    <m:r>
                                      <a:rPr lang="en-US" altLang="ja-JP" sz="2800" i="1">
                                        <a:latin typeface="Cambria Math" panose="02040503050406030204" pitchFamily="18" charset="0"/>
                                      </a:rPr>
                                      <m:t>𝛽</m:t>
                                    </m:r>
                                  </m:e>
                                  <m:sub>
                                    <m:r>
                                      <a:rPr lang="en-US" altLang="ja-JP" sz="2800" b="0" i="1" smtClean="0">
                                        <a:latin typeface="Cambria Math" panose="02040503050406030204" pitchFamily="18" charset="0"/>
                                      </a:rPr>
                                      <m:t>𝑗</m:t>
                                    </m:r>
                                  </m:sub>
                                </m:sSub>
                                <m:r>
                                  <a:rPr lang="en-US" altLang="ja-JP" sz="2800" b="0" i="1" smtClean="0">
                                    <a:latin typeface="Cambria Math" panose="02040503050406030204" pitchFamily="18" charset="0"/>
                                  </a:rPr>
                                  <m:t>=0</m:t>
                                </m:r>
                              </m:oMath>
                            </m:oMathPara>
                          </a14:m>
                          <a:endParaRPr kumimoji="1" lang="ja-JP" altLang="en-US" sz="2800"/>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622654">
                    <a:tc rowSpan="3">
                      <a:txBody>
                        <a:bodyPr/>
                        <a:lstStyle/>
                        <a:p>
                          <a:pPr algn="ctr"/>
                          <a:endParaRPr kumimoji="1" lang="en-US" altLang="ja-JP" sz="1000" dirty="0"/>
                        </a:p>
                        <a:p>
                          <a:pPr algn="ctr"/>
                          <a:endParaRPr kumimoji="1" lang="en-US" altLang="ja-JP" sz="1000" dirty="0"/>
                        </a:p>
                        <a:p>
                          <a:pPr algn="ctr"/>
                          <a:endParaRPr kumimoji="1" lang="en-US" altLang="ja-JP" sz="1400" dirty="0"/>
                        </a:p>
                        <a:p>
                          <a:pPr algn="ctr"/>
                          <a:r>
                            <a:rPr kumimoji="1" lang="ja-JP" altLang="en-US" sz="2800"/>
                            <a:t>推</a:t>
                          </a:r>
                          <a:endParaRPr kumimoji="1" lang="en-US" altLang="ja-JP" sz="2800" dirty="0"/>
                        </a:p>
                        <a:p>
                          <a:pPr algn="ctr"/>
                          <a:r>
                            <a:rPr kumimoji="1" lang="ja-JP" altLang="en-US" sz="2800"/>
                            <a:t>定</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i="1" smtClean="0">
                                            <a:latin typeface="Cambria Math" panose="02040503050406030204" pitchFamily="18" charset="0"/>
                                            <a:ea typeface="Cambria Math" panose="02040503050406030204" pitchFamily="18" charset="0"/>
                                          </a:rPr>
                                          <m:t>𝛽</m:t>
                                        </m:r>
                                      </m:e>
                                    </m:acc>
                                  </m:e>
                                  <m:sub>
                                    <m:r>
                                      <a:rPr lang="en-US" altLang="ja-JP" sz="2800" b="0" i="1" smtClean="0">
                                        <a:latin typeface="Cambria Math" panose="02040503050406030204" pitchFamily="18" charset="0"/>
                                      </a:rPr>
                                      <m:t>𝑗</m:t>
                                    </m:r>
                                  </m:sub>
                                </m:sSub>
                                <m:r>
                                  <a:rPr lang="en-US" altLang="ja-JP" sz="280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rPr>
                                  <m:t>0</m:t>
                                </m:r>
                              </m:oMath>
                            </m:oMathPara>
                          </a14:m>
                          <a:endParaRPr kumimoji="1" lang="ja-JP" altLang="en-US" sz="2800"/>
                        </a:p>
                      </a:txBody>
                      <a:tcP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ea typeface="+mn-ea"/>
                                  </a:rPr>
                                  <m:t>𝑆</m:t>
                                </m:r>
                                <m:d>
                                  <m:dPr>
                                    <m:ctrlPr>
                                      <a:rPr lang="en-US" altLang="ja-JP" sz="2800" i="1">
                                        <a:latin typeface="Cambria Math" panose="02040503050406030204" pitchFamily="18" charset="0"/>
                                        <a:ea typeface="+mn-ea"/>
                                      </a:rPr>
                                    </m:ctrlPr>
                                  </m:dPr>
                                  <m:e>
                                    <m:r>
                                      <a:rPr kumimoji="1" lang="en-US" altLang="ja-JP" sz="2800" b="0" i="1" smtClean="0">
                                        <a:latin typeface="Cambria Math" panose="02040503050406030204" pitchFamily="18" charset="0"/>
                                        <a:ea typeface="Cambria Math" panose="02040503050406030204" pitchFamily="18" charset="0"/>
                                      </a:rPr>
                                      <m:t>𝜆</m:t>
                                    </m:r>
                                  </m:e>
                                </m:d>
                              </m:oMath>
                            </m:oMathPara>
                          </a14:m>
                          <a:endParaRPr kumimoji="1" lang="ja-JP" altLang="en-US" sz="2800" i="1">
                            <a:latin typeface="+mn-ea"/>
                            <a:ea typeface="+mn-ea"/>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ea typeface="+mn-ea"/>
                                  </a:rPr>
                                  <m:t>𝑉</m:t>
                                </m:r>
                                <m:d>
                                  <m:dPr>
                                    <m:ctrlPr>
                                      <a:rPr lang="en-US" altLang="ja-JP" sz="2800" i="1" smtClean="0">
                                        <a:latin typeface="Cambria Math" panose="02040503050406030204" pitchFamily="18" charset="0"/>
                                        <a:ea typeface="+mn-ea"/>
                                      </a:rPr>
                                    </m:ctrlPr>
                                  </m:dPr>
                                  <m:e>
                                    <m:r>
                                      <a:rPr kumimoji="1" lang="en-US" altLang="ja-JP" sz="2800" b="0" i="1" smtClean="0">
                                        <a:latin typeface="Cambria Math" panose="02040503050406030204" pitchFamily="18" charset="0"/>
                                        <a:ea typeface="Cambria Math" panose="02040503050406030204" pitchFamily="18" charset="0"/>
                                      </a:rPr>
                                      <m:t>𝜆</m:t>
                                    </m:r>
                                  </m:e>
                                </m:d>
                              </m:oMath>
                            </m:oMathPara>
                          </a14:m>
                          <a:endParaRPr kumimoji="1" lang="ja-JP" altLang="en-US" sz="2800" i="1">
                            <a:latin typeface="+mn-ea"/>
                            <a:ea typeface="+mn-ea"/>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ea typeface="+mn-ea"/>
                                  </a:rPr>
                                  <m:t>𝑅</m:t>
                                </m:r>
                                <m:d>
                                  <m:dPr>
                                    <m:ctrlPr>
                                      <a:rPr lang="en-US" altLang="ja-JP" sz="2800" i="1">
                                        <a:latin typeface="Cambria Math" panose="02040503050406030204" pitchFamily="18" charset="0"/>
                                        <a:ea typeface="+mn-ea"/>
                                      </a:rPr>
                                    </m:ctrlPr>
                                  </m:dPr>
                                  <m:e>
                                    <m:r>
                                      <a:rPr kumimoji="1" lang="en-US" altLang="ja-JP" sz="2800" b="0" i="1" smtClean="0">
                                        <a:latin typeface="Cambria Math" panose="02040503050406030204" pitchFamily="18" charset="0"/>
                                        <a:ea typeface="Cambria Math" panose="02040503050406030204" pitchFamily="18" charset="0"/>
                                      </a:rPr>
                                      <m:t>𝜆</m:t>
                                    </m:r>
                                  </m:e>
                                </m:d>
                              </m:oMath>
                            </m:oMathPara>
                          </a14:m>
                          <a:endParaRPr kumimoji="1" lang="ja-JP" altLang="en-US" sz="2800" i="1">
                            <a:latin typeface="+mn-ea"/>
                            <a:ea typeface="+mn-ea"/>
                          </a:endParaRP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57163058"/>
                      </a:ext>
                    </a:extLst>
                  </a:tr>
                  <a:tr h="618505">
                    <a:tc vMerge="1">
                      <a:txBody>
                        <a:bodyPr/>
                        <a:lstStyle/>
                        <a:p>
                          <a:pPr algn="ctr"/>
                          <a:endParaRPr kumimoji="1" lang="ja-JP"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acc>
                                      <m:accPr>
                                        <m:chr m:val="̂"/>
                                        <m:ctrlPr>
                                          <a:rPr lang="en-US" altLang="ja-JP" sz="2800" i="1" smtClean="0">
                                            <a:latin typeface="Cambria Math" panose="02040503050406030204" pitchFamily="18" charset="0"/>
                                          </a:rPr>
                                        </m:ctrlPr>
                                      </m:accPr>
                                      <m:e>
                                        <m:r>
                                          <a:rPr lang="en-US" altLang="ja-JP" sz="2800" i="1" smtClean="0">
                                            <a:latin typeface="Cambria Math" panose="02040503050406030204" pitchFamily="18" charset="0"/>
                                            <a:ea typeface="Cambria Math" panose="02040503050406030204" pitchFamily="18" charset="0"/>
                                          </a:rPr>
                                          <m:t>𝛽</m:t>
                                        </m:r>
                                      </m:e>
                                    </m:acc>
                                  </m:e>
                                  <m:sub>
                                    <m:r>
                                      <a:rPr lang="en-US" altLang="ja-JP" sz="2800" b="0" i="1" smtClean="0">
                                        <a:latin typeface="Cambria Math" panose="02040503050406030204" pitchFamily="18" charset="0"/>
                                      </a:rPr>
                                      <m:t>𝑗</m:t>
                                    </m:r>
                                  </m:sub>
                                </m:sSub>
                                <m:r>
                                  <a:rPr lang="en-US" altLang="ja-JP" sz="2800" b="0" i="1" smtClean="0">
                                    <a:latin typeface="Cambria Math" panose="02040503050406030204" pitchFamily="18" charset="0"/>
                                  </a:rPr>
                                  <m:t>=0</m:t>
                                </m:r>
                              </m:oMath>
                            </m:oMathPara>
                          </a14:m>
                          <a:endParaRPr kumimoji="1" lang="ja-JP" altLang="en-US" sz="2800"/>
                        </a:p>
                      </a:txBody>
                      <a:tcPr>
                        <a:lnB w="2857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18505">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Choice>
        <mc:Fallback xmlns="">
          <p:graphicFrame>
            <p:nvGraphicFramePr>
              <p:cNvPr id="5" name="表 4">
                <a:extLst>
                  <a:ext uri="{FF2B5EF4-FFF2-40B4-BE49-F238E27FC236}">
                    <a16:creationId xmlns:a16="http://schemas.microsoft.com/office/drawing/2014/main" id="{0DDE4899-D7C2-6E08-267F-6C6EF32E48A6}"/>
                  </a:ext>
                </a:extLst>
              </p:cNvPr>
              <p:cNvGraphicFramePr>
                <a:graphicFrameLocks noGrp="1"/>
              </p:cNvGraphicFramePr>
              <p:nvPr>
                <p:extLst>
                  <p:ext uri="{D42A27DB-BD31-4B8C-83A1-F6EECF244321}">
                    <p14:modId xmlns:p14="http://schemas.microsoft.com/office/powerpoint/2010/main" val="2901901450"/>
                  </p:ext>
                </p:extLst>
              </p:nvPr>
            </p:nvGraphicFramePr>
            <p:xfrm>
              <a:off x="294401" y="1446139"/>
              <a:ext cx="6192001" cy="2988000"/>
            </p:xfrm>
            <a:graphic>
              <a:graphicData uri="http://schemas.openxmlformats.org/drawingml/2006/table">
                <a:tbl>
                  <a:tblPr firstRow="1" bandRow="1">
                    <a:tableStyleId>{5940675A-B579-460E-94D1-54222C63F5DA}</a:tableStyleId>
                  </a:tblPr>
                  <a:tblGrid>
                    <a:gridCol w="621503">
                      <a:extLst>
                        <a:ext uri="{9D8B030D-6E8A-4147-A177-3AD203B41FA5}">
                          <a16:colId xmlns:a16="http://schemas.microsoft.com/office/drawing/2014/main" val="2166501344"/>
                        </a:ext>
                      </a:extLst>
                    </a:gridCol>
                    <a:gridCol w="1345814">
                      <a:extLst>
                        <a:ext uri="{9D8B030D-6E8A-4147-A177-3AD203B41FA5}">
                          <a16:colId xmlns:a16="http://schemas.microsoft.com/office/drawing/2014/main" val="3366183821"/>
                        </a:ext>
                      </a:extLst>
                    </a:gridCol>
                    <a:gridCol w="1337992">
                      <a:extLst>
                        <a:ext uri="{9D8B030D-6E8A-4147-A177-3AD203B41FA5}">
                          <a16:colId xmlns:a16="http://schemas.microsoft.com/office/drawing/2014/main" val="122348770"/>
                        </a:ext>
                      </a:extLst>
                    </a:gridCol>
                    <a:gridCol w="1398595">
                      <a:extLst>
                        <a:ext uri="{9D8B030D-6E8A-4147-A177-3AD203B41FA5}">
                          <a16:colId xmlns:a16="http://schemas.microsoft.com/office/drawing/2014/main" val="1265163690"/>
                        </a:ext>
                      </a:extLst>
                    </a:gridCol>
                    <a:gridCol w="1488097">
                      <a:extLst>
                        <a:ext uri="{9D8B030D-6E8A-4147-A177-3AD203B41FA5}">
                          <a16:colId xmlns:a16="http://schemas.microsoft.com/office/drawing/2014/main" val="1115285989"/>
                        </a:ext>
                      </a:extLst>
                    </a:gridCol>
                  </a:tblGrid>
                  <a:tr h="520849">
                    <a:tc rowSpan="2" gridSpan="2">
                      <a:txBody>
                        <a:bodyPr/>
                        <a:lstStyle/>
                        <a:p>
                          <a:pPr algn="ctr"/>
                          <a:endParaRPr kumimoji="1" lang="ja-JP" altLang="en-US" sz="2800"/>
                        </a:p>
                      </a:txBody>
                      <a:tcPr/>
                    </a:tc>
                    <a:tc rowSpan="2" hMerge="1">
                      <a:txBody>
                        <a:bodyPr/>
                        <a:lstStyle/>
                        <a:p>
                          <a:pPr algn="ctr"/>
                          <a:endParaRPr kumimoji="1" lang="ja-JP" altLang="en-US"/>
                        </a:p>
                      </a:txBody>
                      <a:tcPr>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真</a:t>
                          </a:r>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202727"/>
                      </a:ext>
                    </a:extLst>
                  </a:tr>
                  <a:tr h="607487">
                    <a:tc gridSpan="2" vMerge="1">
                      <a:txBody>
                        <a:bodyPr/>
                        <a:lstStyle/>
                        <a:p>
                          <a:pPr algn="ctr"/>
                          <a:endParaRPr kumimoji="1" lang="en-US" altLang="ja-JP" dirty="0"/>
                        </a:p>
                      </a:txBody>
                      <a:tcPr>
                        <a:lnT w="12700" cap="flat" cmpd="sng" algn="ctr">
                          <a:solidFill>
                            <a:schemeClr val="tx1"/>
                          </a:solidFill>
                          <a:prstDash val="solid"/>
                          <a:round/>
                          <a:headEnd type="none" w="med" len="med"/>
                          <a:tailEnd type="none" w="med" len="med"/>
                        </a:lnT>
                      </a:tcPr>
                    </a:tc>
                    <a:tc hMerge="1" vMerge="1">
                      <a:txBody>
                        <a:bodyPr/>
                        <a:lstStyle/>
                        <a:p>
                          <a:pPr algn="ctr"/>
                          <a:endParaRPr kumimoji="1" lang="ja-JP"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48571" t="-95833" r="-219048" b="-320833"/>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35135" t="-95833" r="-107207" b="-3208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計</a:t>
                          </a: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001149"/>
                      </a:ext>
                    </a:extLst>
                  </a:tr>
                  <a:tr h="622654">
                    <a:tc rowSpan="3">
                      <a:txBody>
                        <a:bodyPr/>
                        <a:lstStyle/>
                        <a:p>
                          <a:pPr algn="ctr"/>
                          <a:endParaRPr kumimoji="1" lang="en-US" altLang="ja-JP" sz="1000" dirty="0"/>
                        </a:p>
                        <a:p>
                          <a:pPr algn="ctr"/>
                          <a:endParaRPr kumimoji="1" lang="en-US" altLang="ja-JP" sz="1000" dirty="0"/>
                        </a:p>
                        <a:p>
                          <a:pPr algn="ctr"/>
                          <a:endParaRPr kumimoji="1" lang="en-US" altLang="ja-JP" sz="1400" dirty="0"/>
                        </a:p>
                        <a:p>
                          <a:pPr algn="ctr"/>
                          <a:r>
                            <a:rPr kumimoji="1" lang="ja-JP" altLang="en-US" sz="2800"/>
                            <a:t>推</a:t>
                          </a:r>
                          <a:endParaRPr kumimoji="1" lang="en-US" altLang="ja-JP" sz="2800" dirty="0"/>
                        </a:p>
                        <a:p>
                          <a:pPr algn="ctr"/>
                          <a:r>
                            <a:rPr kumimoji="1" lang="ja-JP" altLang="en-US" sz="2800"/>
                            <a:t>定</a:t>
                          </a:r>
                        </a:p>
                      </a:txBody>
                      <a:tcPr/>
                    </a:tc>
                    <a:tc>
                      <a:txBody>
                        <a:bodyPr/>
                        <a:lstStyle/>
                        <a:p>
                          <a:endParaRPr lang="ja-JP"/>
                        </a:p>
                      </a:txBody>
                      <a:tcPr>
                        <a:lnT w="12700" cap="flat" cmpd="sng" algn="ctr">
                          <a:solidFill>
                            <a:schemeClr val="tx1"/>
                          </a:solidFill>
                          <a:prstDash val="solid"/>
                          <a:round/>
                          <a:headEnd type="none" w="med" len="med"/>
                          <a:tailEnd type="none" w="med" len="med"/>
                        </a:lnT>
                        <a:blipFill>
                          <a:blip r:embed="rId7"/>
                          <a:stretch>
                            <a:fillRect l="-47170" t="-188000" r="-316038" b="-208000"/>
                          </a:stretch>
                        </a:blipFill>
                      </a:tcPr>
                    </a:tc>
                    <a:tc>
                      <a:txBody>
                        <a:bodyPr/>
                        <a:lstStyle/>
                        <a:p>
                          <a:endParaRPr lang="ja-JP"/>
                        </a:p>
                      </a:txBody>
                      <a:tcPr>
                        <a:lnT w="12700" cap="flat" cmpd="sng" algn="ctr">
                          <a:solidFill>
                            <a:schemeClr val="tx1"/>
                          </a:solidFill>
                          <a:prstDash val="solid"/>
                          <a:round/>
                          <a:headEnd type="none" w="med" len="med"/>
                          <a:tailEnd type="none" w="med" len="med"/>
                        </a:lnT>
                        <a:blipFill>
                          <a:blip r:embed="rId7"/>
                          <a:stretch>
                            <a:fillRect l="-148571" t="-188000" r="-219048" b="-208000"/>
                          </a:stretch>
                        </a:blipFill>
                      </a:tcPr>
                    </a:tc>
                    <a:tc>
                      <a:txBody>
                        <a:bodyPr/>
                        <a:lstStyle/>
                        <a:p>
                          <a:endParaRPr lang="ja-JP"/>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7"/>
                          <a:stretch>
                            <a:fillRect l="-235135" t="-188000" r="-107207" b="-208000"/>
                          </a:stretch>
                        </a:blipFill>
                      </a:tcPr>
                    </a:tc>
                    <a:tc>
                      <a:txBody>
                        <a:bodyPr/>
                        <a:lstStyle/>
                        <a:p>
                          <a:endParaRPr lang="ja-JP"/>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7"/>
                          <a:stretch>
                            <a:fillRect l="-317949" t="-188000" r="-1709" b="-208000"/>
                          </a:stretch>
                        </a:blipFill>
                      </a:tcPr>
                    </a:tc>
                    <a:extLst>
                      <a:ext uri="{0D108BD9-81ED-4DB2-BD59-A6C34878D82A}">
                        <a16:rowId xmlns:a16="http://schemas.microsoft.com/office/drawing/2014/main" val="3157163058"/>
                      </a:ext>
                    </a:extLst>
                  </a:tr>
                  <a:tr h="618505">
                    <a:tc vMerge="1">
                      <a:txBody>
                        <a:bodyPr/>
                        <a:lstStyle/>
                        <a:p>
                          <a:pPr algn="ctr"/>
                          <a:endParaRPr kumimoji="1" lang="ja-JP" altLang="en-US"/>
                        </a:p>
                      </a:txBody>
                      <a:tcPr/>
                    </a:tc>
                    <a:tc>
                      <a:txBody>
                        <a:bodyPr/>
                        <a:lstStyle/>
                        <a:p>
                          <a:endParaRPr lang="ja-JP"/>
                        </a:p>
                      </a:txBody>
                      <a:tcPr>
                        <a:lnB w="28575" cap="flat" cmpd="sng" algn="ctr">
                          <a:solidFill>
                            <a:schemeClr val="tx1"/>
                          </a:solidFill>
                          <a:prstDash val="solid"/>
                          <a:round/>
                          <a:headEnd type="none" w="med" len="med"/>
                          <a:tailEnd type="none" w="med" len="med"/>
                        </a:lnB>
                        <a:blipFill>
                          <a:blip r:embed="rId7"/>
                          <a:stretch>
                            <a:fillRect l="-47170" t="-293878" r="-316038" b="-112245"/>
                          </a:stretch>
                        </a:blipFill>
                      </a:tcPr>
                    </a:tc>
                    <a:tc>
                      <a:txBody>
                        <a:bodyPr/>
                        <a:lstStyle/>
                        <a:p>
                          <a:pPr algn="ctr"/>
                          <a:endParaRPr kumimoji="1" lang="ja-JP" altLang="en-US" sz="2800"/>
                        </a:p>
                      </a:txBody>
                      <a:tcP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8432736"/>
                      </a:ext>
                    </a:extLst>
                  </a:tr>
                  <a:tr h="618505">
                    <a:tc vMerge="1">
                      <a:txBody>
                        <a:bodyPr/>
                        <a:lstStyle/>
                        <a:p>
                          <a:pPr algn="ctr"/>
                          <a:endParaRPr kumimoji="1" lang="ja-JP" altLang="en-US" sz="2800"/>
                        </a:p>
                      </a:txBody>
                      <a:tcPr/>
                    </a:tc>
                    <a:tc>
                      <a:txBody>
                        <a:bodyPr/>
                        <a:lstStyle/>
                        <a:p>
                          <a:pPr algn="ctr"/>
                          <a:r>
                            <a:rPr kumimoji="1" lang="ja-JP" altLang="en-US" sz="2800"/>
                            <a:t>計</a:t>
                          </a:r>
                        </a:p>
                      </a:txBody>
                      <a:tcPr>
                        <a:lnT w="28575" cap="flat" cmpd="sng" algn="ctr">
                          <a:solidFill>
                            <a:schemeClr val="tx1"/>
                          </a:solidFill>
                          <a:prstDash val="solid"/>
                          <a:round/>
                          <a:headEnd type="none" w="med" len="med"/>
                          <a:tailEnd type="none" w="med" len="med"/>
                        </a:lnT>
                        <a:noFill/>
                      </a:tcPr>
                    </a:tc>
                    <a:tc>
                      <a:txBody>
                        <a:bodyPr/>
                        <a:lstStyle/>
                        <a:p>
                          <a:pPr algn="ctr"/>
                          <a:endParaRPr kumimoji="1" lang="ja-JP" altLang="en-US" sz="2800"/>
                        </a:p>
                      </a:txBody>
                      <a:tcP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endParaRPr kumimoji="1" lang="ja-JP" altLang="en-US" sz="2800"/>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29253686"/>
                      </a:ext>
                    </a:extLst>
                  </a:tr>
                </a:tbl>
              </a:graphicData>
            </a:graphic>
          </p:graphicFrame>
        </mc:Fallback>
      </mc:AlternateContent>
    </p:spTree>
    <p:extLst>
      <p:ext uri="{BB962C8B-B14F-4D97-AF65-F5344CB8AC3E}">
        <p14:creationId xmlns:p14="http://schemas.microsoft.com/office/powerpoint/2010/main" val="624594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237281-009E-F43C-C930-71884F7FADCA}"/>
              </a:ext>
            </a:extLst>
          </p:cNvPr>
          <p:cNvSpPr/>
          <p:nvPr/>
        </p:nvSpPr>
        <p:spPr>
          <a:xfrm>
            <a:off x="204864" y="2691923"/>
            <a:ext cx="11782271" cy="3562598"/>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CE3A54B5-A307-BA12-E581-EDDEC1156070}"/>
                  </a:ext>
                </a:extLst>
              </p:cNvPr>
              <p:cNvSpPr txBox="1"/>
              <p:nvPr/>
            </p:nvSpPr>
            <p:spPr>
              <a:xfrm>
                <a:off x="476595" y="3346605"/>
                <a:ext cx="4843377" cy="2932854"/>
              </a:xfrm>
              <a:prstGeom prst="rect">
                <a:avLst/>
              </a:prstGeom>
              <a:noFill/>
            </p:spPr>
            <p:txBody>
              <a:bodyPr wrap="none" rtlCol="0">
                <a:spAutoFit/>
              </a:bodyPr>
              <a:lstStyle/>
              <a:p>
                <a:pPr marL="514350" indent="-514350">
                  <a:buAutoNum type="arabicPeriod"/>
                </a:pPr>
                <a:r>
                  <a:rPr lang="en-US" altLang="ja-JP" sz="3200" dirty="0">
                    <a:solidFill>
                      <a:schemeClr val="tx1"/>
                    </a:solidFill>
                    <a:latin typeface="+mn-ea"/>
                    <a:cs typeface="ヒラギノ角ゴ Pro W3"/>
                  </a:rPr>
                  <a:t>Knockoff</a:t>
                </a:r>
                <a:r>
                  <a:rPr lang="ja-JP" altLang="en-US" sz="3200">
                    <a:solidFill>
                      <a:schemeClr val="tx1"/>
                    </a:solidFill>
                    <a:latin typeface="+mn-ea"/>
                    <a:cs typeface="ヒラギノ角ゴ Pro W3"/>
                  </a:rPr>
                  <a:t>変数</a:t>
                </a:r>
                <a14:m>
                  <m:oMath xmlns:m="http://schemas.openxmlformats.org/officeDocument/2006/math">
                    <m:acc>
                      <m:accPr>
                        <m:chr m:val="̃"/>
                        <m:ctrlPr>
                          <a:rPr lang="ja-JP" altLang="en-US" sz="3200" i="1" smtClean="0">
                            <a:solidFill>
                              <a:schemeClr val="tx1"/>
                            </a:solidFill>
                            <a:latin typeface="Cambria Math" panose="02040503050406030204" pitchFamily="18" charset="0"/>
                          </a:rPr>
                        </m:ctrlPr>
                      </m:accPr>
                      <m:e>
                        <m:r>
                          <a:rPr lang="en-US" altLang="ja-JP" sz="3200" b="0" i="1" smtClean="0">
                            <a:solidFill>
                              <a:schemeClr val="tx1"/>
                            </a:solidFill>
                            <a:latin typeface="Cambria Math" panose="02040503050406030204" pitchFamily="18" charset="0"/>
                          </a:rPr>
                          <m:t>𝑋</m:t>
                        </m:r>
                      </m:e>
                    </m:acc>
                  </m:oMath>
                </a14:m>
                <a:r>
                  <a:rPr lang="ja-JP" altLang="en-US" sz="3200">
                    <a:solidFill>
                      <a:schemeClr val="tx1"/>
                    </a:solidFill>
                    <a:latin typeface="+mn-ea"/>
                    <a:cs typeface="ヒラギノ角ゴ Pro W3"/>
                  </a:rPr>
                  <a:t>の作成</a:t>
                </a:r>
                <a:endParaRPr lang="en-US" altLang="ja-JP" sz="3200" dirty="0">
                  <a:solidFill>
                    <a:schemeClr val="tx1"/>
                  </a:solidFill>
                  <a:latin typeface="+mn-ea"/>
                  <a:cs typeface="ヒラギノ角ゴ Pro W3"/>
                </a:endParaRPr>
              </a:p>
              <a:p>
                <a:pPr marL="514350" indent="-514350">
                  <a:buAutoNum type="arabicPeriod"/>
                </a:pPr>
                <a:endParaRPr lang="en-US" altLang="ja-JP" sz="800" i="1" dirty="0">
                  <a:solidFill>
                    <a:schemeClr val="tx1"/>
                  </a:solidFill>
                  <a:latin typeface="+mn-ea"/>
                  <a:cs typeface="ヒラギノ角ゴ Pro W3"/>
                </a:endParaRPr>
              </a:p>
              <a:p>
                <a:pPr marL="514350" indent="-514350">
                  <a:buAutoNum type="arabicPeriod" startAt="2"/>
                </a:pPr>
                <a:r>
                  <a:rPr kumimoji="1" lang="ja-JP" altLang="en-US" sz="3200">
                    <a:solidFill>
                      <a:schemeClr val="tx1"/>
                    </a:solidFill>
                    <a:latin typeface="+mn-ea"/>
                    <a:cs typeface="ヒラギノ角ゴ Pro W3"/>
                  </a:rPr>
                  <a:t>統計量</a:t>
                </a:r>
                <a14:m>
                  <m:oMath xmlns:m="http://schemas.openxmlformats.org/officeDocument/2006/math">
                    <m:r>
                      <a:rPr kumimoji="1" lang="en-US" altLang="ja-JP" sz="3200" b="0" i="1" smtClean="0">
                        <a:solidFill>
                          <a:schemeClr val="tx1"/>
                        </a:solidFill>
                        <a:latin typeface="Cambria Math" panose="02040503050406030204" pitchFamily="18" charset="0"/>
                        <a:cs typeface="ヒラギノ角ゴ Pro W3"/>
                      </a:rPr>
                      <m:t>𝑊</m:t>
                    </m:r>
                  </m:oMath>
                </a14:m>
                <a:r>
                  <a:rPr kumimoji="1" lang="ja-JP" altLang="en-US" sz="3200">
                    <a:solidFill>
                      <a:schemeClr val="tx1"/>
                    </a:solidFill>
                    <a:latin typeface="+mn-ea"/>
                    <a:cs typeface="ヒラギノ角ゴ Pro W3"/>
                  </a:rPr>
                  <a:t>の導出</a:t>
                </a:r>
                <a:endParaRPr kumimoji="1" lang="en-US" altLang="ja-JP" sz="3200" dirty="0">
                  <a:solidFill>
                    <a:schemeClr val="tx1"/>
                  </a:solidFill>
                  <a:latin typeface="+mn-ea"/>
                  <a:cs typeface="ヒラギノ角ゴ Pro W3"/>
                </a:endParaRPr>
              </a:p>
              <a:p>
                <a:endParaRPr kumimoji="1" lang="en-US" altLang="ja-JP" sz="800" dirty="0">
                  <a:solidFill>
                    <a:schemeClr val="tx1"/>
                  </a:solidFill>
                  <a:latin typeface="+mn-ea"/>
                  <a:cs typeface="ヒラギノ角ゴ Pro W3"/>
                </a:endParaRPr>
              </a:p>
              <a:p>
                <a:pPr marL="514350" indent="-514350">
                  <a:buAutoNum type="arabicPeriod" startAt="3"/>
                </a:pPr>
                <a:r>
                  <a:rPr lang="ja-JP" altLang="en-US" sz="3200">
                    <a:solidFill>
                      <a:schemeClr val="tx1"/>
                    </a:solidFill>
                    <a:latin typeface="+mn-ea"/>
                    <a:cs typeface="ヒラギノ角ゴ Pro W3"/>
                  </a:rPr>
                  <a:t>しきい値</a:t>
                </a:r>
                <a14:m>
                  <m:oMath xmlns:m="http://schemas.openxmlformats.org/officeDocument/2006/math">
                    <m:r>
                      <a:rPr lang="en-US" altLang="ja-JP" sz="3200" b="0" i="1">
                        <a:solidFill>
                          <a:schemeClr val="tx1"/>
                        </a:solidFill>
                        <a:latin typeface="Cambria Math" panose="02040503050406030204" pitchFamily="18" charset="0"/>
                        <a:cs typeface="ヒラギノ角ゴ Pro W3"/>
                      </a:rPr>
                      <m:t>𝑇</m:t>
                    </m:r>
                  </m:oMath>
                </a14:m>
                <a:r>
                  <a:rPr lang="ja-JP" altLang="en-US" sz="3200">
                    <a:solidFill>
                      <a:schemeClr val="tx1"/>
                    </a:solidFill>
                    <a:latin typeface="+mn-ea"/>
                    <a:cs typeface="ヒラギノ角ゴ Pro W3"/>
                  </a:rPr>
                  <a:t>の導出</a:t>
                </a:r>
                <a:endParaRPr lang="en-US" altLang="ja-JP" sz="3200" dirty="0">
                  <a:solidFill>
                    <a:schemeClr val="tx1"/>
                  </a:solidFill>
                  <a:latin typeface="+mn-ea"/>
                  <a:cs typeface="ヒラギノ角ゴ Pro W3"/>
                </a:endParaRPr>
              </a:p>
              <a:p>
                <a:pPr marL="514350" indent="-514350">
                  <a:buAutoNum type="arabicPeriod" startAt="3"/>
                </a:pPr>
                <a:endParaRPr lang="en-US" altLang="ja-JP" sz="800" dirty="0">
                  <a:solidFill>
                    <a:schemeClr val="tx1"/>
                  </a:solidFill>
                  <a:latin typeface="+mn-ea"/>
                  <a:cs typeface="ヒラギノ角ゴ Pro W3"/>
                </a:endParaRPr>
              </a:p>
              <a:p>
                <a:pPr marL="0" indent="0">
                  <a:buNone/>
                </a:pPr>
                <a:r>
                  <a:rPr lang="en-US" altLang="ja-JP" sz="3200" dirty="0">
                    <a:solidFill>
                      <a:schemeClr val="tx1"/>
                    </a:solidFill>
                    <a:latin typeface="+mn-ea"/>
                    <a:cs typeface="ヒラギノ角ゴ Pro W3"/>
                  </a:rPr>
                  <a:t>4.  </a:t>
                </a:r>
                <a:r>
                  <a:rPr lang="ja-JP" altLang="en-US" sz="3200">
                    <a:solidFill>
                      <a:schemeClr val="tx1"/>
                    </a:solidFill>
                    <a:latin typeface="+mn-ea"/>
                    <a:cs typeface="ヒラギノ角ゴ Pro W3"/>
                  </a:rPr>
                  <a:t>変数の選択</a:t>
                </a:r>
                <a:endParaRPr kumimoji="1" lang="ja-JP" altLang="en-US" sz="3200">
                  <a:solidFill>
                    <a:schemeClr val="tx1"/>
                  </a:solidFill>
                  <a:latin typeface="+mn-ea"/>
                  <a:cs typeface="ヒラギノ角ゴ Pro W3"/>
                </a:endParaRPr>
              </a:p>
              <a:p>
                <a:endParaRPr kumimoji="1" lang="ja-JP" altLang="en-US" sz="3200">
                  <a:solidFill>
                    <a:schemeClr val="tx1"/>
                  </a:solidFill>
                </a:endParaRPr>
              </a:p>
            </p:txBody>
          </p:sp>
        </mc:Choice>
        <mc:Fallback xmlns="">
          <p:sp>
            <p:nvSpPr>
              <p:cNvPr id="5" name="テキスト ボックス 4">
                <a:extLst>
                  <a:ext uri="{FF2B5EF4-FFF2-40B4-BE49-F238E27FC236}">
                    <a16:creationId xmlns:a16="http://schemas.microsoft.com/office/drawing/2014/main" id="{CE3A54B5-A307-BA12-E581-EDDEC1156070}"/>
                  </a:ext>
                </a:extLst>
              </p:cNvPr>
              <p:cNvSpPr txBox="1">
                <a:spLocks noRot="1" noChangeAspect="1" noMove="1" noResize="1" noEditPoints="1" noAdjustHandles="1" noChangeArrowheads="1" noChangeShapeType="1" noTextEdit="1"/>
              </p:cNvSpPr>
              <p:nvPr/>
            </p:nvSpPr>
            <p:spPr>
              <a:xfrm>
                <a:off x="476595" y="3346605"/>
                <a:ext cx="4843377" cy="2932854"/>
              </a:xfrm>
              <a:prstGeom prst="rect">
                <a:avLst/>
              </a:prstGeom>
              <a:blipFill>
                <a:blip r:embed="rId3"/>
                <a:stretch>
                  <a:fillRect l="-3394" t="-3448"/>
                </a:stretch>
              </a:blipFill>
            </p:spPr>
            <p:txBody>
              <a:bodyPr/>
              <a:lstStyle/>
              <a:p>
                <a:r>
                  <a:rPr lang="ja-JP" altLang="en-US">
                    <a:noFill/>
                  </a:rPr>
                  <a:t> </a:t>
                </a:r>
              </a:p>
            </p:txBody>
          </p:sp>
        </mc:Fallback>
      </mc:AlternateContent>
      <p:sp>
        <p:nvSpPr>
          <p:cNvPr id="2" name="正方形/長方形 1">
            <a:extLst>
              <a:ext uri="{FF2B5EF4-FFF2-40B4-BE49-F238E27FC236}">
                <a16:creationId xmlns:a16="http://schemas.microsoft.com/office/drawing/2014/main" id="{2C6B4607-FABA-5EBA-8278-AFB5BCFF0EA1}"/>
              </a:ext>
            </a:extLst>
          </p:cNvPr>
          <p:cNvSpPr/>
          <p:nvPr/>
        </p:nvSpPr>
        <p:spPr>
          <a:xfrm>
            <a:off x="592973" y="2326897"/>
            <a:ext cx="11238807" cy="680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592973" y="1898544"/>
                <a:ext cx="11782271" cy="1049891"/>
              </a:xfrm>
            </p:spPr>
            <p:txBody>
              <a:bodyPr>
                <a:noAutofit/>
              </a:bodyPr>
              <a:lstStyle/>
              <a:p>
                <a:pPr marL="0" indent="0">
                  <a:buNone/>
                </a:pPr>
                <a:endParaRPr lang="en-US" altLang="ja-JP" sz="3000" i="1" dirty="0">
                  <a:latin typeface="+mn-ea"/>
                  <a:cs typeface="ヒラギノ角ゴ Pro W3"/>
                </a:endParaRPr>
              </a:p>
              <a:p>
                <a:pPr marL="0" indent="0">
                  <a:buNone/>
                </a:pPr>
                <a14:m>
                  <m:oMath xmlns:m="http://schemas.openxmlformats.org/officeDocument/2006/math">
                    <m:r>
                      <m:rPr>
                        <m:sty m:val="p"/>
                      </m:rPr>
                      <a:rPr kumimoji="1" lang="en-US" altLang="ja-JP" sz="3000" b="0" i="0" smtClean="0">
                        <a:solidFill>
                          <a:schemeClr val="tx1"/>
                        </a:solidFill>
                        <a:latin typeface="Cambria Math" panose="02040503050406030204" pitchFamily="18" charset="0"/>
                        <a:cs typeface="ヒラギノ角ゴ Pro W3"/>
                      </a:rPr>
                      <m:t>FDR</m:t>
                    </m:r>
                    <m:d>
                      <m:dPr>
                        <m:ctrlPr>
                          <a:rPr kumimoji="1" lang="en-US" altLang="ja-JP" sz="3000" i="1" smtClean="0">
                            <a:solidFill>
                              <a:schemeClr val="tx1"/>
                            </a:solidFill>
                            <a:latin typeface="Cambria Math" panose="02040503050406030204" pitchFamily="18" charset="0"/>
                            <a:cs typeface="ヒラギノ角ゴ Pro W3"/>
                          </a:rPr>
                        </m:ctrlPr>
                      </m:dPr>
                      <m:e>
                        <m:r>
                          <a:rPr lang="en-US" altLang="ja-JP" sz="3000" i="1">
                            <a:latin typeface="Cambria Math" panose="02040503050406030204" pitchFamily="18" charset="0"/>
                            <a:ea typeface="Cambria Math" panose="02040503050406030204" pitchFamily="18" charset="0"/>
                          </a:rPr>
                          <m:t>𝜆</m:t>
                        </m:r>
                      </m:e>
                    </m:d>
                    <m:r>
                      <a:rPr kumimoji="1" lang="en-US" altLang="ja-JP" sz="3000" b="0" i="1" smtClean="0">
                        <a:solidFill>
                          <a:schemeClr val="tx1"/>
                        </a:solidFill>
                        <a:latin typeface="Cambria Math" panose="02040503050406030204" pitchFamily="18" charset="0"/>
                      </a:rPr>
                      <m:t>≤</m:t>
                    </m:r>
                    <m:r>
                      <a:rPr kumimoji="1" lang="en-US" altLang="ja-JP" sz="3000" b="0" i="1" smtClean="0">
                        <a:solidFill>
                          <a:schemeClr val="tx1"/>
                        </a:solidFill>
                        <a:latin typeface="Cambria Math" panose="02040503050406030204" pitchFamily="18" charset="0"/>
                      </a:rPr>
                      <m:t>𝑞</m:t>
                    </m:r>
                  </m:oMath>
                </a14:m>
                <a:r>
                  <a:rPr kumimoji="1" lang="en-US" altLang="ja-JP" sz="3000" dirty="0">
                    <a:solidFill>
                      <a:schemeClr val="tx1"/>
                    </a:solidFill>
                    <a:latin typeface="+mn-ea"/>
                    <a:cs typeface="ヒラギノ角ゴ Pro W3"/>
                  </a:rPr>
                  <a:t>(</a:t>
                </a:r>
                <a:r>
                  <a:rPr kumimoji="1" lang="ja-JP" altLang="en-US" sz="3000">
                    <a:solidFill>
                      <a:schemeClr val="tx1"/>
                    </a:solidFill>
                    <a:latin typeface="+mn-ea"/>
                    <a:cs typeface="ヒラギノ角ゴ Pro W3"/>
                  </a:rPr>
                  <a:t>設定値</a:t>
                </a:r>
                <a:r>
                  <a:rPr kumimoji="1" lang="en-US" altLang="ja-JP" sz="3000" dirty="0">
                    <a:solidFill>
                      <a:schemeClr val="tx1"/>
                    </a:solidFill>
                    <a:latin typeface="+mn-ea"/>
                    <a:cs typeface="ヒラギノ角ゴ Pro W3"/>
                  </a:rPr>
                  <a:t>)</a:t>
                </a:r>
                <a:r>
                  <a:rPr kumimoji="1" lang="ja-JP" altLang="en-US" sz="3000">
                    <a:solidFill>
                      <a:schemeClr val="tx1"/>
                    </a:solidFill>
                    <a:latin typeface="+mn-ea"/>
                    <a:cs typeface="ヒラギノ角ゴ Pro W3"/>
                  </a:rPr>
                  <a:t>を満たす「</a:t>
                </a:r>
                <a:r>
                  <a:rPr lang="ja-JP" altLang="en-US" sz="3000">
                    <a:solidFill>
                      <a:schemeClr val="tx1"/>
                    </a:solidFill>
                    <a:latin typeface="+mn-ea"/>
                    <a:cs typeface="ヒラギノ角ゴ Pro W3"/>
                  </a:rPr>
                  <a:t>正則化パラメータ</a:t>
                </a:r>
                <a14:m>
                  <m:oMath xmlns:m="http://schemas.openxmlformats.org/officeDocument/2006/math">
                    <m:r>
                      <a:rPr lang="ja-JP" altLang="en-US" sz="3000" i="1" smtClean="0">
                        <a:solidFill>
                          <a:schemeClr val="tx1"/>
                        </a:solidFill>
                        <a:latin typeface="Cambria Math" panose="02040503050406030204" pitchFamily="18" charset="0"/>
                        <a:cs typeface="ヒラギノ角ゴ Pro W3"/>
                      </a:rPr>
                      <m:t>𝜆</m:t>
                    </m:r>
                  </m:oMath>
                </a14:m>
                <a:r>
                  <a:rPr kumimoji="1" lang="ja-JP" altLang="en-US" sz="3000">
                    <a:solidFill>
                      <a:schemeClr val="tx1"/>
                    </a:solidFill>
                    <a:latin typeface="+mn-ea"/>
                    <a:cs typeface="ヒラギノ角ゴ Pro W3"/>
                  </a:rPr>
                  <a:t>」の</a:t>
                </a:r>
                <a:r>
                  <a:rPr lang="ja-JP" altLang="en-US" sz="3000">
                    <a:latin typeface="+mn-ea"/>
                    <a:cs typeface="ヒラギノ角ゴ Pro W3"/>
                  </a:rPr>
                  <a:t>導出</a:t>
                </a:r>
                <a:r>
                  <a:rPr kumimoji="1" lang="ja-JP" altLang="en-US" sz="3000">
                    <a:solidFill>
                      <a:schemeClr val="tx1"/>
                    </a:solidFill>
                    <a:latin typeface="+mn-ea"/>
                    <a:cs typeface="ヒラギノ角ゴ Pro W3"/>
                  </a:rPr>
                  <a:t>手順</a:t>
                </a:r>
                <a:endParaRPr kumimoji="1" lang="en-US" altLang="ja-JP" sz="3000" dirty="0">
                  <a:solidFill>
                    <a:schemeClr val="tx1"/>
                  </a:solidFill>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592973" y="1898544"/>
                <a:ext cx="11782271" cy="1049891"/>
              </a:xfrm>
              <a:blipFill>
                <a:blip r:embed="rId4"/>
                <a:stretch>
                  <a:fillRect l="-323" b="-1666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709448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13" name="角丸四角形 12">
            <a:extLst>
              <a:ext uri="{FF2B5EF4-FFF2-40B4-BE49-F238E27FC236}">
                <a16:creationId xmlns:a16="http://schemas.microsoft.com/office/drawing/2014/main" id="{2285BD16-A0A6-1ADF-5B68-5987E2C87526}"/>
              </a:ext>
            </a:extLst>
          </p:cNvPr>
          <p:cNvSpPr/>
          <p:nvPr/>
        </p:nvSpPr>
        <p:spPr>
          <a:xfrm>
            <a:off x="134587" y="2428111"/>
            <a:ext cx="11918868" cy="2625639"/>
          </a:xfrm>
          <a:prstGeom prst="roundRect">
            <a:avLst/>
          </a:prstGeom>
          <a:noFill/>
          <a:ln w="254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F0AC951-924F-53A6-3ABC-0E9DC443ACC6}"/>
              </a:ext>
            </a:extLst>
          </p:cNvPr>
          <p:cNvSpPr/>
          <p:nvPr/>
        </p:nvSpPr>
        <p:spPr>
          <a:xfrm>
            <a:off x="466152" y="2292799"/>
            <a:ext cx="4944048" cy="3287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20467" y="1413542"/>
                <a:ext cx="11495964" cy="5182848"/>
              </a:xfrm>
            </p:spPr>
            <p:txBody>
              <a:bodyPr>
                <a:noAutofit/>
              </a:bodyPr>
              <a:lstStyle/>
              <a:p>
                <a:pPr marL="0" indent="0">
                  <a:buNone/>
                </a:pPr>
                <a:r>
                  <a:rPr lang="en-US" altLang="ja-JP" sz="3200" dirty="0">
                    <a:solidFill>
                      <a:srgbClr val="7030A0"/>
                    </a:solidFill>
                    <a:latin typeface="+mn-ea"/>
                    <a:cs typeface="ヒラギノ角ゴ Pro W3"/>
                  </a:rPr>
                  <a:t> 1. Knockoff</a:t>
                </a:r>
                <a:r>
                  <a:rPr lang="ja-JP" altLang="en-US" sz="3200">
                    <a:solidFill>
                      <a:srgbClr val="7030A0"/>
                    </a:solidFill>
                    <a:latin typeface="+mn-ea"/>
                    <a:cs typeface="ヒラギノ角ゴ Pro W3"/>
                  </a:rPr>
                  <a:t>変数</a:t>
                </a:r>
                <a14:m>
                  <m:oMath xmlns:m="http://schemas.openxmlformats.org/officeDocument/2006/math">
                    <m:acc>
                      <m:accPr>
                        <m:chr m:val="̃"/>
                        <m:ctrlPr>
                          <a:rPr lang="ja-JP" altLang="en-US" sz="3200" i="1" smtClean="0">
                            <a:solidFill>
                              <a:srgbClr val="7030A0"/>
                            </a:solidFill>
                            <a:latin typeface="Cambria Math" panose="02040503050406030204" pitchFamily="18" charset="0"/>
                          </a:rPr>
                        </m:ctrlPr>
                      </m:accPr>
                      <m:e>
                        <m:r>
                          <a:rPr lang="en-US" altLang="ja-JP" sz="3200" b="0" i="1" smtClean="0">
                            <a:solidFill>
                              <a:srgbClr val="7030A0"/>
                            </a:solidFill>
                            <a:latin typeface="Cambria Math" panose="02040503050406030204" pitchFamily="18" charset="0"/>
                          </a:rPr>
                          <m:t>𝑋</m:t>
                        </m:r>
                      </m:e>
                    </m:acc>
                  </m:oMath>
                </a14:m>
                <a:r>
                  <a:rPr lang="ja-JP" altLang="en-US" sz="3200">
                    <a:solidFill>
                      <a:srgbClr val="7030A0"/>
                    </a:solidFill>
                    <a:latin typeface="+mn-ea"/>
                    <a:cs typeface="ヒラギノ角ゴ Pro W3"/>
                  </a:rPr>
                  <a:t>の作成</a:t>
                </a:r>
                <a:endParaRPr lang="en-US" altLang="ja-JP" sz="3200" dirty="0">
                  <a:solidFill>
                    <a:srgbClr val="00B050"/>
                  </a:solidFill>
                  <a:latin typeface="+mn-ea"/>
                  <a:cs typeface="ヒラギノ角ゴ Pro W3"/>
                </a:endParaRPr>
              </a:p>
              <a:p>
                <a:pPr marL="0" indent="0">
                  <a:buNone/>
                </a:pPr>
                <a:endParaRPr kumimoji="1" lang="en-US" altLang="ja-JP" sz="100" b="1" dirty="0">
                  <a:latin typeface="+mn-ea"/>
                </a:endParaRPr>
              </a:p>
              <a:p>
                <a:pPr marL="0" indent="0">
                  <a:buNone/>
                </a:pPr>
                <a:r>
                  <a:rPr lang="ja-JP" altLang="en-US" sz="3200">
                    <a:solidFill>
                      <a:schemeClr val="tx1"/>
                    </a:solidFill>
                    <a:cs typeface="ヒラギノ角ゴ Pro W3"/>
                  </a:rPr>
                  <a:t>　</a:t>
                </a:r>
                <a:r>
                  <a:rPr lang="en-US" altLang="ja-JP" sz="3200" dirty="0">
                    <a:solidFill>
                      <a:schemeClr val="tx1"/>
                    </a:solidFill>
                    <a:latin typeface="+mn-ea"/>
                    <a:cs typeface="ヒラギノ角ゴ Pro W3"/>
                  </a:rPr>
                  <a:t>Knockoff</a:t>
                </a:r>
                <a:r>
                  <a:rPr lang="ja-JP" altLang="en-US" sz="3200">
                    <a:solidFill>
                      <a:schemeClr val="tx1"/>
                    </a:solidFill>
                    <a:latin typeface="+mn-ea"/>
                    <a:cs typeface="ヒラギノ角ゴ Pro W3"/>
                  </a:rPr>
                  <a:t>変数</a:t>
                </a:r>
                <a14:m>
                  <m:oMath xmlns:m="http://schemas.openxmlformats.org/officeDocument/2006/math">
                    <m:acc>
                      <m:accPr>
                        <m:chr m:val="̃"/>
                        <m:ctrlPr>
                          <a:rPr lang="ja-JP" altLang="en-US" sz="3200" i="1" smtClean="0">
                            <a:solidFill>
                              <a:schemeClr val="tx1"/>
                            </a:solidFill>
                            <a:latin typeface="Cambria Math" panose="02040503050406030204" pitchFamily="18" charset="0"/>
                          </a:rPr>
                        </m:ctrlPr>
                      </m:accPr>
                      <m:e>
                        <m:r>
                          <a:rPr lang="en-US" altLang="ja-JP" sz="3200" b="0" i="1" smtClean="0">
                            <a:solidFill>
                              <a:schemeClr val="tx1"/>
                            </a:solidFill>
                            <a:latin typeface="Cambria Math" panose="02040503050406030204" pitchFamily="18" charset="0"/>
                          </a:rPr>
                          <m:t>𝑋</m:t>
                        </m:r>
                      </m:e>
                    </m:acc>
                  </m:oMath>
                </a14:m>
                <a:r>
                  <a:rPr lang="ja-JP" altLang="en-US" sz="3200">
                    <a:solidFill>
                      <a:schemeClr val="tx1"/>
                    </a:solidFill>
                    <a:cs typeface="ヒラギノ角ゴ Pro W3"/>
                  </a:rPr>
                  <a:t>の条件</a:t>
                </a:r>
                <a:r>
                  <a:rPr lang="en-US" altLang="ja-JP" sz="3200" dirty="0">
                    <a:solidFill>
                      <a:schemeClr val="tx1"/>
                    </a:solidFill>
                    <a:cs typeface="ヒラギノ角ゴ Pro W3"/>
                  </a:rPr>
                  <a:t> </a:t>
                </a:r>
              </a:p>
              <a:p>
                <a:pPr marL="0" indent="0">
                  <a:buNone/>
                </a:pPr>
                <a:r>
                  <a:rPr lang="ja-JP" altLang="en-US" sz="3200">
                    <a:solidFill>
                      <a:schemeClr val="tx1"/>
                    </a:solidFill>
                    <a:cs typeface="ヒラギノ角ゴ Pro W3"/>
                  </a:rPr>
                  <a:t>　・</a:t>
                </a:r>
                <a14:m>
                  <m:oMath xmlns:m="http://schemas.openxmlformats.org/officeDocument/2006/math">
                    <m:sSup>
                      <m:sSupPr>
                        <m:ctrlPr>
                          <a:rPr lang="en-US" altLang="ja-JP" sz="3200" i="1">
                            <a:latin typeface="Cambria Math" panose="02040503050406030204" pitchFamily="18" charset="0"/>
                          </a:rPr>
                        </m:ctrlPr>
                      </m:sSupPr>
                      <m:e>
                        <m:acc>
                          <m:accPr>
                            <m:chr m:val="̃"/>
                            <m:ctrlPr>
                              <a:rPr lang="ja-JP" altLang="en-US" sz="3200" i="1">
                                <a:latin typeface="Cambria Math" panose="02040503050406030204" pitchFamily="18" charset="0"/>
                              </a:rPr>
                            </m:ctrlPr>
                          </m:accPr>
                          <m:e>
                            <m:r>
                              <a:rPr lang="en-US" altLang="ja-JP" sz="3200" i="1">
                                <a:latin typeface="Cambria Math" panose="02040503050406030204" pitchFamily="18" charset="0"/>
                              </a:rPr>
                              <m:t>𝑋</m:t>
                            </m:r>
                          </m:e>
                        </m:acc>
                      </m:e>
                      <m:sup>
                        <m:r>
                          <a:rPr lang="en-US" altLang="ja-JP" sz="3200" i="1">
                            <a:latin typeface="Cambria Math" panose="02040503050406030204" pitchFamily="18" charset="0"/>
                          </a:rPr>
                          <m:t>𝑇</m:t>
                        </m:r>
                      </m:sup>
                    </m:sSup>
                    <m:acc>
                      <m:accPr>
                        <m:chr m:val="̃"/>
                        <m:ctrlPr>
                          <a:rPr lang="ja-JP" altLang="en-US" sz="3200" i="1">
                            <a:latin typeface="Cambria Math" panose="02040503050406030204" pitchFamily="18" charset="0"/>
                          </a:rPr>
                        </m:ctrlPr>
                      </m:accPr>
                      <m:e>
                        <m:r>
                          <a:rPr lang="en-US" altLang="ja-JP" sz="3200" i="1">
                            <a:latin typeface="Cambria Math" panose="02040503050406030204" pitchFamily="18" charset="0"/>
                          </a:rPr>
                          <m:t>𝑋</m:t>
                        </m:r>
                      </m:e>
                    </m:acc>
                    <m:r>
                      <a:rPr lang="en-US" altLang="ja-JP" sz="3200" b="0" i="0" smtClean="0">
                        <a:latin typeface="Cambria Math" panose="02040503050406030204" pitchFamily="18" charset="0"/>
                        <a:cs typeface="ヒラギノ角ゴ Pro W3"/>
                      </a:rPr>
                      <m:t>=</m:t>
                    </m:r>
                    <m:sSup>
                      <m:sSupPr>
                        <m:ctrlPr>
                          <a:rPr lang="en-US" altLang="ja-JP" sz="3200" i="1" smtClean="0">
                            <a:latin typeface="Cambria Math" panose="02040503050406030204" pitchFamily="18" charset="0"/>
                            <a:cs typeface="ヒラギノ角ゴ Pro W3"/>
                          </a:rPr>
                        </m:ctrlPr>
                      </m:sSupPr>
                      <m:e>
                        <m:r>
                          <a:rPr lang="en-US" altLang="ja-JP" sz="3200" i="1">
                            <a:latin typeface="Cambria Math" panose="02040503050406030204" pitchFamily="18" charset="0"/>
                            <a:cs typeface="ヒラギノ角ゴ Pro W3"/>
                          </a:rPr>
                          <m:t>𝑋</m:t>
                        </m:r>
                      </m:e>
                      <m:sup>
                        <m:r>
                          <a:rPr lang="en-US" altLang="ja-JP" sz="3200" i="1">
                            <a:latin typeface="Cambria Math" panose="02040503050406030204" pitchFamily="18" charset="0"/>
                            <a:cs typeface="ヒラギノ角ゴ Pro W3"/>
                          </a:rPr>
                          <m:t>𝑇</m:t>
                        </m:r>
                      </m:sup>
                    </m:sSup>
                    <m:r>
                      <a:rPr lang="en-US" altLang="ja-JP" sz="3200" i="1">
                        <a:latin typeface="Cambria Math" panose="02040503050406030204" pitchFamily="18" charset="0"/>
                        <a:cs typeface="ヒラギノ角ゴ Pro W3"/>
                      </a:rPr>
                      <m:t>𝑋</m:t>
                    </m:r>
                  </m:oMath>
                </a14:m>
                <a:endParaRPr lang="en-US" altLang="ja-JP" sz="3200" dirty="0">
                  <a:solidFill>
                    <a:schemeClr val="tx1"/>
                  </a:solidFill>
                  <a:cs typeface="ヒラギノ角ゴ Pro W3"/>
                </a:endParaRPr>
              </a:p>
              <a:p>
                <a:pPr marL="0" indent="0">
                  <a:buNone/>
                </a:pPr>
                <a:r>
                  <a:rPr lang="ja-JP" altLang="en-US" sz="3200">
                    <a:cs typeface="ヒラギノ角ゴ Pro W3"/>
                  </a:rPr>
                  <a:t>　</a:t>
                </a:r>
                <a:endParaRPr lang="en-US" altLang="ja-JP" sz="3200" dirty="0">
                  <a:cs typeface="ヒラギノ角ゴ Pro W3"/>
                </a:endParaRPr>
              </a:p>
              <a:p>
                <a:pPr marL="0" indent="0">
                  <a:buNone/>
                </a:pPr>
                <a:r>
                  <a:rPr lang="ja-JP" altLang="en-US" sz="3200">
                    <a:cs typeface="ヒラギノ角ゴ Pro W3"/>
                  </a:rPr>
                  <a:t>　・</a:t>
                </a:r>
                <a:endParaRPr lang="en-US" altLang="ja-JP" sz="3200" dirty="0">
                  <a:solidFill>
                    <a:schemeClr val="tx1"/>
                  </a:solidFill>
                  <a:cs typeface="ヒラギノ角ゴ Pro W3"/>
                </a:endParaRPr>
              </a:p>
              <a:p>
                <a:pPr marL="0" indent="0">
                  <a:buNone/>
                </a:pPr>
                <a:endParaRPr lang="en-US" altLang="ja-JP" sz="3200" i="1" dirty="0">
                  <a:latin typeface="+mn-ea"/>
                  <a:cs typeface="ヒラギノ角ゴ Pro W3"/>
                </a:endParaRPr>
              </a:p>
              <a:p>
                <a:pPr marL="0" indent="0">
                  <a:buNone/>
                </a:pPr>
                <a:endParaRPr lang="en-US" altLang="ja-JP" sz="3200" i="1" dirty="0">
                  <a:latin typeface="+mn-ea"/>
                  <a:cs typeface="ヒラギノ角ゴ Pro W3"/>
                </a:endParaRPr>
              </a:p>
              <a:p>
                <a:pPr marL="0" indent="0">
                  <a:buNone/>
                </a:pPr>
                <a:endParaRPr lang="en-US" altLang="ja-JP" sz="3200" dirty="0">
                  <a:cs typeface="ヒラギノ角ゴ Pro W3"/>
                </a:endParaRPr>
              </a:p>
              <a:p>
                <a:pPr marL="0" indent="0">
                  <a:buNone/>
                </a:pPr>
                <a:r>
                  <a:rPr lang="ja-JP" altLang="en-US" sz="3200">
                    <a:cs typeface="ヒラギノ角ゴ Pro W3"/>
                  </a:rPr>
                  <a:t>　</a:t>
                </a:r>
                <a:endParaRPr kumimoji="1" lang="en-US" altLang="ja-JP" sz="3200" b="1" dirty="0">
                  <a:latin typeface="+mn-ea"/>
                </a:endParaRPr>
              </a:p>
              <a:p>
                <a:pPr marL="0" indent="0">
                  <a:buNone/>
                </a:pPr>
                <a:endParaRPr lang="en-US" altLang="ja-JP" sz="3200" dirty="0">
                  <a:latin typeface="+mn-ea"/>
                </a:endParaRPr>
              </a:p>
              <a:p>
                <a:pPr marL="0" indent="0">
                  <a:buNone/>
                </a:pPr>
                <a:r>
                  <a:rPr lang="ja-JP" altLang="en-US" sz="3200">
                    <a:latin typeface="+mn-ea"/>
                  </a:rPr>
                  <a:t>　</a:t>
                </a:r>
                <a:endParaRPr lang="en-US" altLang="ja-JP" sz="3200" dirty="0">
                  <a:latin typeface="+mn-ea"/>
                </a:endParaRPr>
              </a:p>
              <a:p>
                <a:pPr marL="0" indent="0">
                  <a:buNone/>
                </a:pPr>
                <a:r>
                  <a:rPr lang="en-US" altLang="ja-JP" sz="3200" dirty="0">
                    <a:solidFill>
                      <a:srgbClr val="7030A0"/>
                    </a:solidFill>
                    <a:latin typeface="+mn-ea"/>
                    <a:cs typeface="ヒラギノ角ゴ Pro W3"/>
                  </a:rPr>
                  <a:t> </a:t>
                </a:r>
                <a:endParaRPr kumimoji="1" lang="ja-JP" altLang="en-US" sz="3200" dirty="0">
                  <a:solidFill>
                    <a:srgbClr val="7030A0"/>
                  </a:solidFill>
                  <a:latin typeface="+mn-ea"/>
                  <a:cs typeface="ヒラギノ角ゴ Pro W3"/>
                </a:endParaRPr>
              </a:p>
              <a:p>
                <a:pPr marL="0" indent="0">
                  <a:buNone/>
                </a:pPr>
                <a:endParaRPr kumimoji="1" lang="ja-JP" altLang="en-US" sz="3200" b="1">
                  <a:latin typeface="+mn-ea"/>
                </a:endParaRPr>
              </a:p>
              <a:p>
                <a:pPr marL="0" indent="0">
                  <a:buNone/>
                </a:pPr>
                <a:endParaRPr lang="en-US" altLang="ja-JP" sz="3200" dirty="0">
                  <a:latin typeface="+mn-ea"/>
                </a:endParaRPr>
              </a:p>
              <a:p>
                <a:pPr marL="0" indent="0">
                  <a:buNone/>
                </a:pPr>
                <a:endParaRPr kumimoji="1" lang="ja-JP" altLang="en-US" sz="3200" dirty="0">
                  <a:latin typeface="+mn-ea"/>
                  <a:cs typeface="ヒラギノ角ゴ Pro W3"/>
                </a:endParaRPr>
              </a:p>
              <a:p>
                <a:pPr marL="0" indent="0">
                  <a:buNone/>
                </a:pPr>
                <a:endParaRPr kumimoji="1" lang="ja-JP" altLang="en-US" sz="3200" dirty="0">
                  <a:solidFill>
                    <a:srgbClr val="7030A0"/>
                  </a:solidFill>
                  <a:latin typeface="+mn-ea"/>
                  <a:cs typeface="ヒラギノ角ゴ Pro W3"/>
                </a:endParaRPr>
              </a:p>
              <a:p>
                <a:pPr marL="0" indent="0">
                  <a:buNone/>
                </a:pPr>
                <a:endParaRPr kumimoji="1" lang="ja-JP" altLang="en-US" sz="3200" b="1">
                  <a:latin typeface="+mn-ea"/>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20467" y="1413542"/>
                <a:ext cx="11495964" cy="5182848"/>
              </a:xfrm>
              <a:blipFill>
                <a:blip r:embed="rId3"/>
                <a:stretch>
                  <a:fillRect l="-331" t="-195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67C91D3D-606D-2FB1-08DC-B11E3D81AD90}"/>
                  </a:ext>
                </a:extLst>
              </p:cNvPr>
              <p:cNvSpPr txBox="1"/>
              <p:nvPr/>
            </p:nvSpPr>
            <p:spPr>
              <a:xfrm>
                <a:off x="257756" y="5203379"/>
                <a:ext cx="12523808" cy="961802"/>
              </a:xfrm>
              <a:prstGeom prst="rect">
                <a:avLst/>
              </a:prstGeom>
              <a:noFill/>
            </p:spPr>
            <p:txBody>
              <a:bodyPr wrap="square" rtlCol="0">
                <a:spAutoFit/>
              </a:bodyPr>
              <a:lstStyle/>
              <a:p>
                <a:r>
                  <a:rPr kumimoji="1" lang="ja-JP" altLang="en-US" sz="2800">
                    <a:latin typeface="+mn-ea"/>
                    <a:cs typeface="ヒラギノ角ゴ Pro W3"/>
                  </a:rPr>
                  <a:t>以上を満たす</a:t>
                </a:r>
                <a:r>
                  <a:rPr kumimoji="1" lang="en-US" altLang="ja-JP" sz="2800" dirty="0">
                    <a:latin typeface="+mn-ea"/>
                    <a:cs typeface="ヒラギノ角ゴ Pro W3"/>
                  </a:rPr>
                  <a:t>Knockoff</a:t>
                </a:r>
                <a:r>
                  <a:rPr kumimoji="1" lang="ja-JP" altLang="en-US" sz="2800">
                    <a:latin typeface="+mn-ea"/>
                    <a:cs typeface="ヒラギノ角ゴ Pro W3"/>
                  </a:rPr>
                  <a:t>変数</a:t>
                </a:r>
                <a14:m>
                  <m:oMath xmlns:m="http://schemas.openxmlformats.org/officeDocument/2006/math">
                    <m:sSub>
                      <m:sSubPr>
                        <m:ctrlPr>
                          <a:rPr lang="en-US" altLang="ja-JP" sz="2800" b="0" i="1" smtClean="0">
                            <a:latin typeface="Cambria Math" panose="02040503050406030204" pitchFamily="18" charset="0"/>
                          </a:rPr>
                        </m:ctrlPr>
                      </m:sSubPr>
                      <m:e>
                        <m:acc>
                          <m:accPr>
                            <m:chr m:val="̃"/>
                            <m:ctrlPr>
                              <a:rPr lang="ja-JP" altLang="en-US" sz="2800" i="1" smtClean="0">
                                <a:latin typeface="Cambria Math" panose="02040503050406030204" pitchFamily="18" charset="0"/>
                              </a:rPr>
                            </m:ctrlPr>
                          </m:accPr>
                          <m:e>
                            <m:r>
                              <a:rPr lang="en-US" altLang="ja-JP" sz="2800" b="1" i="1" smtClean="0">
                                <a:latin typeface="Cambria Math" panose="02040503050406030204" pitchFamily="18" charset="0"/>
                              </a:rPr>
                              <m:t>𝒙</m:t>
                            </m:r>
                          </m:e>
                        </m:acc>
                      </m:e>
                      <m:sub>
                        <m:r>
                          <a:rPr lang="en-US" altLang="ja-JP" sz="2800" b="0" i="1" smtClean="0">
                            <a:latin typeface="Cambria Math" panose="02040503050406030204" pitchFamily="18" charset="0"/>
                          </a:rPr>
                          <m:t>𝑖</m:t>
                        </m:r>
                        <m:r>
                          <a:rPr lang="en-US" altLang="ja-JP" sz="2800" b="0" i="1" smtClean="0">
                            <a:latin typeface="Cambria Math" panose="02040503050406030204" pitchFamily="18" charset="0"/>
                          </a:rPr>
                          <m:t> </m:t>
                        </m:r>
                      </m:sub>
                    </m:sSub>
                  </m:oMath>
                </a14:m>
                <a:r>
                  <a:rPr kumimoji="1" lang="ja-JP" altLang="en-US" sz="2800">
                    <a:latin typeface="+mn-ea"/>
                    <a:cs typeface="ヒラギノ角ゴ Pro W3"/>
                  </a:rPr>
                  <a:t>を作成し</a:t>
                </a:r>
                <a:r>
                  <a:rPr kumimoji="1" lang="en-US" altLang="ja-JP" sz="2800" dirty="0">
                    <a:latin typeface="+mn-ea"/>
                    <a:cs typeface="ヒラギノ角ゴ Pro W3"/>
                  </a:rPr>
                  <a:t>, </a:t>
                </a:r>
                <a:r>
                  <a:rPr kumimoji="1" lang="ja-JP" altLang="en-US" sz="2800" dirty="0">
                    <a:latin typeface="+mn-ea"/>
                    <a:cs typeface="ヒラギノ角ゴ Pro W3"/>
                  </a:rPr>
                  <a:t>まとめて</a:t>
                </a:r>
                <a14:m>
                  <m:oMath xmlns:m="http://schemas.openxmlformats.org/officeDocument/2006/math">
                    <m:acc>
                      <m:accPr>
                        <m:chr m:val="̃"/>
                        <m:ctrlPr>
                          <a:rPr lang="ja-JP" altLang="en-US" sz="2800" i="1">
                            <a:latin typeface="Cambria Math" panose="02040503050406030204" pitchFamily="18" charset="0"/>
                          </a:rPr>
                        </m:ctrlPr>
                      </m:accPr>
                      <m:e>
                        <m:r>
                          <a:rPr lang="en-US" altLang="ja-JP" sz="2800" i="1">
                            <a:latin typeface="Cambria Math" panose="02040503050406030204" pitchFamily="18" charset="0"/>
                          </a:rPr>
                          <m:t>𝑋</m:t>
                        </m:r>
                      </m:e>
                    </m:acc>
                    <m:r>
                      <a:rPr lang="en-US" altLang="ja-JP" sz="2800" b="0" i="1" smtClean="0">
                        <a:latin typeface="Cambria Math" panose="02040503050406030204" pitchFamily="18" charset="0"/>
                      </a:rPr>
                      <m:t>=</m:t>
                    </m:r>
                    <m:sSup>
                      <m:sSupPr>
                        <m:ctrlPr>
                          <a:rPr lang="en-US" altLang="ja-JP" sz="2800" b="0" i="1" smtClean="0">
                            <a:latin typeface="Cambria Math" panose="02040503050406030204" pitchFamily="18" charset="0"/>
                          </a:rPr>
                        </m:ctrlPr>
                      </m:sSupPr>
                      <m:e>
                        <m:d>
                          <m:dPr>
                            <m:ctrlPr>
                              <a:rPr lang="en-US" altLang="ja-JP" sz="2800" b="0" i="1" smtClean="0">
                                <a:latin typeface="Cambria Math" panose="02040503050406030204" pitchFamily="18" charset="0"/>
                              </a:rPr>
                            </m:ctrlPr>
                          </m:dPr>
                          <m:e>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b="0" i="1" smtClean="0">
                                    <a:latin typeface="Cambria Math" panose="02040503050406030204" pitchFamily="18" charset="0"/>
                                  </a:rPr>
                                  <m:t>1</m:t>
                                </m:r>
                                <m:r>
                                  <a:rPr lang="en-US" altLang="ja-JP" sz="2800" i="1">
                                    <a:latin typeface="Cambria Math" panose="02040503050406030204" pitchFamily="18" charset="0"/>
                                  </a:rPr>
                                  <m:t> </m:t>
                                </m:r>
                              </m:sub>
                            </m:sSub>
                            <m:r>
                              <a:rPr lang="en-US" altLang="ja-JP" sz="2800" i="1">
                                <a:latin typeface="Cambria Math" panose="02040503050406030204" pitchFamily="18" charset="0"/>
                              </a:rPr>
                              <m:t>,…,</m:t>
                            </m:r>
                            <m:sSub>
                              <m:sSubPr>
                                <m:ctrlPr>
                                  <a:rPr lang="en-US" altLang="ja-JP" sz="2800" i="1">
                                    <a:latin typeface="Cambria Math" panose="02040503050406030204" pitchFamily="18" charset="0"/>
                                  </a:rPr>
                                </m:ctrlPr>
                              </m:sSubPr>
                              <m:e>
                                <m:acc>
                                  <m:accPr>
                                    <m:chr m:val="̃"/>
                                    <m:ctrlPr>
                                      <a:rPr lang="ja-JP" altLang="en-US" sz="2800" i="1">
                                        <a:latin typeface="Cambria Math" panose="02040503050406030204" pitchFamily="18" charset="0"/>
                                      </a:rPr>
                                    </m:ctrlPr>
                                  </m:accPr>
                                  <m:e>
                                    <m:r>
                                      <a:rPr lang="en-US" altLang="ja-JP" sz="2800" b="1" i="1">
                                        <a:latin typeface="Cambria Math" panose="02040503050406030204" pitchFamily="18" charset="0"/>
                                      </a:rPr>
                                      <m:t>𝒙</m:t>
                                    </m:r>
                                  </m:e>
                                </m:acc>
                              </m:e>
                              <m:sub>
                                <m:r>
                                  <a:rPr lang="en-US" altLang="ja-JP" sz="2800" b="0" i="1" smtClean="0">
                                    <a:latin typeface="Cambria Math" panose="02040503050406030204" pitchFamily="18" charset="0"/>
                                  </a:rPr>
                                  <m:t>𝑛</m:t>
                                </m:r>
                                <m:r>
                                  <a:rPr lang="en-US" altLang="ja-JP" sz="2800" i="1">
                                    <a:latin typeface="Cambria Math" panose="02040503050406030204" pitchFamily="18" charset="0"/>
                                  </a:rPr>
                                  <m:t> </m:t>
                                </m:r>
                              </m:sub>
                            </m:sSub>
                          </m:e>
                        </m:d>
                      </m:e>
                      <m:sup>
                        <m:r>
                          <a:rPr lang="en-US" altLang="ja-JP" sz="2800" b="0" i="1" smtClean="0">
                            <a:latin typeface="Cambria Math" panose="02040503050406030204" pitchFamily="18" charset="0"/>
                          </a:rPr>
                          <m:t>𝑇</m:t>
                        </m:r>
                      </m:sup>
                    </m:sSup>
                  </m:oMath>
                </a14:m>
                <a:r>
                  <a:rPr kumimoji="1" lang="ja-JP" altLang="en-US" sz="2800" dirty="0">
                    <a:latin typeface="+mn-ea"/>
                    <a:cs typeface="ヒラギノ角ゴ Pro W3"/>
                  </a:rPr>
                  <a:t>で表す</a:t>
                </a:r>
              </a:p>
              <a:p>
                <a:endParaRPr kumimoji="1" lang="ja-JP" altLang="en-US" sz="2800">
                  <a:latin typeface="+mn-ea"/>
                </a:endParaRPr>
              </a:p>
            </p:txBody>
          </p:sp>
        </mc:Choice>
        <mc:Fallback xmlns="">
          <p:sp>
            <p:nvSpPr>
              <p:cNvPr id="2" name="テキスト ボックス 1">
                <a:extLst>
                  <a:ext uri="{FF2B5EF4-FFF2-40B4-BE49-F238E27FC236}">
                    <a16:creationId xmlns:a16="http://schemas.microsoft.com/office/drawing/2014/main" id="{67C91D3D-606D-2FB1-08DC-B11E3D81AD90}"/>
                  </a:ext>
                </a:extLst>
              </p:cNvPr>
              <p:cNvSpPr txBox="1">
                <a:spLocks noRot="1" noChangeAspect="1" noMove="1" noResize="1" noEditPoints="1" noAdjustHandles="1" noChangeArrowheads="1" noChangeShapeType="1" noTextEdit="1"/>
              </p:cNvSpPr>
              <p:nvPr/>
            </p:nvSpPr>
            <p:spPr>
              <a:xfrm>
                <a:off x="257756" y="5203379"/>
                <a:ext cx="12523808" cy="961802"/>
              </a:xfrm>
              <a:prstGeom prst="rect">
                <a:avLst/>
              </a:prstGeom>
              <a:blipFill>
                <a:blip r:embed="rId4"/>
                <a:stretch>
                  <a:fillRect l="-1013" t="-519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5C40C95D-0615-C6D6-C422-7A689DBC49CA}"/>
                  </a:ext>
                </a:extLst>
              </p:cNvPr>
              <p:cNvSpPr txBox="1"/>
              <p:nvPr/>
            </p:nvSpPr>
            <p:spPr>
              <a:xfrm>
                <a:off x="1049383" y="3509962"/>
                <a:ext cx="6958956" cy="1467068"/>
              </a:xfrm>
              <a:prstGeom prst="rect">
                <a:avLst/>
              </a:prstGeom>
              <a:noFill/>
            </p:spPr>
            <p:txBody>
              <a:bodyPr wrap="none" rtlCol="0">
                <a:spAutoFit/>
              </a:bodyPr>
              <a:lstStyle/>
              <a:p>
                <a14:m>
                  <m:oMath xmlns:m="http://schemas.openxmlformats.org/officeDocument/2006/math">
                    <m:sSup>
                      <m:sSupPr>
                        <m:ctrlPr>
                          <a:rPr lang="en-US" altLang="ja-JP" sz="3200" i="1" smtClean="0">
                            <a:latin typeface="Cambria Math" panose="02040503050406030204" pitchFamily="18" charset="0"/>
                            <a:cs typeface="ヒラギノ角ゴ Pro W3"/>
                          </a:rPr>
                        </m:ctrlPr>
                      </m:sSupPr>
                      <m:e>
                        <m:r>
                          <a:rPr lang="en-US" altLang="ja-JP" sz="3200" i="1">
                            <a:latin typeface="Cambria Math" panose="02040503050406030204" pitchFamily="18" charset="0"/>
                            <a:cs typeface="ヒラギノ角ゴ Pro W3"/>
                          </a:rPr>
                          <m:t>𝑋</m:t>
                        </m:r>
                      </m:e>
                      <m:sup>
                        <m:r>
                          <a:rPr lang="en-US" altLang="ja-JP" sz="3200" i="1">
                            <a:latin typeface="Cambria Math" panose="02040503050406030204" pitchFamily="18" charset="0"/>
                            <a:cs typeface="ヒラギノ角ゴ Pro W3"/>
                          </a:rPr>
                          <m:t>𝑇</m:t>
                        </m:r>
                      </m:sup>
                    </m:sSup>
                    <m:acc>
                      <m:accPr>
                        <m:chr m:val="̃"/>
                        <m:ctrlPr>
                          <a:rPr lang="ja-JP" altLang="en-US" sz="3200" i="1">
                            <a:latin typeface="Cambria Math" panose="02040503050406030204" pitchFamily="18" charset="0"/>
                          </a:rPr>
                        </m:ctrlPr>
                      </m:accPr>
                      <m:e>
                        <m:r>
                          <a:rPr lang="en-US" altLang="ja-JP" sz="3200" i="1">
                            <a:latin typeface="Cambria Math" panose="02040503050406030204" pitchFamily="18" charset="0"/>
                          </a:rPr>
                          <m:t>𝑋</m:t>
                        </m:r>
                      </m:e>
                    </m:acc>
                    <m:r>
                      <a:rPr lang="en-US" altLang="ja-JP" sz="3200" i="1">
                        <a:latin typeface="Cambria Math" panose="02040503050406030204" pitchFamily="18" charset="0"/>
                      </a:rPr>
                      <m:t>=</m:t>
                    </m:r>
                    <m:sSup>
                      <m:sSupPr>
                        <m:ctrlPr>
                          <a:rPr lang="en-US" altLang="ja-JP" sz="3200" i="1">
                            <a:latin typeface="Cambria Math" panose="02040503050406030204" pitchFamily="18" charset="0"/>
                            <a:cs typeface="ヒラギノ角ゴ Pro W3"/>
                          </a:rPr>
                        </m:ctrlPr>
                      </m:sSupPr>
                      <m:e>
                        <m:r>
                          <a:rPr lang="en-US" altLang="ja-JP" sz="3200" i="1">
                            <a:latin typeface="Cambria Math" panose="02040503050406030204" pitchFamily="18" charset="0"/>
                            <a:cs typeface="ヒラギノ角ゴ Pro W3"/>
                          </a:rPr>
                          <m:t>𝑋</m:t>
                        </m:r>
                      </m:e>
                      <m:sup>
                        <m:r>
                          <a:rPr lang="en-US" altLang="ja-JP" sz="3200" i="1">
                            <a:latin typeface="Cambria Math" panose="02040503050406030204" pitchFamily="18" charset="0"/>
                            <a:cs typeface="ヒラギノ角ゴ Pro W3"/>
                          </a:rPr>
                          <m:t>𝑇</m:t>
                        </m:r>
                      </m:sup>
                    </m:sSup>
                    <m:r>
                      <a:rPr lang="en-US" altLang="ja-JP" sz="3200" i="1">
                        <a:latin typeface="Cambria Math" panose="02040503050406030204" pitchFamily="18" charset="0"/>
                        <a:cs typeface="ヒラギノ角ゴ Pro W3"/>
                      </a:rPr>
                      <m:t>𝑋</m:t>
                    </m:r>
                    <m:r>
                      <a:rPr lang="en-US" altLang="ja-JP" sz="3200" b="0" i="1" smtClean="0">
                        <a:latin typeface="Cambria Math" panose="02040503050406030204" pitchFamily="18" charset="0"/>
                        <a:cs typeface="ヒラギノ角ゴ Pro W3"/>
                      </a:rPr>
                      <m:t>, </m:t>
                    </m:r>
                  </m:oMath>
                </a14:m>
                <a:r>
                  <a:rPr lang="ja-JP" altLang="en-US" sz="3200" b="0" dirty="0">
                    <a:latin typeface="+mn-ea"/>
                    <a:cs typeface="ヒラギノ角ゴ Pro W3"/>
                  </a:rPr>
                  <a:t>　　　　　</a:t>
                </a:r>
                <a:r>
                  <a:rPr lang="en-US" altLang="ja-JP" sz="3200" b="0" dirty="0">
                    <a:latin typeface="+mn-ea"/>
                    <a:cs typeface="ヒラギノ角ゴ Pro W3"/>
                  </a:rPr>
                  <a:t>(</a:t>
                </a:r>
                <a:r>
                  <a:rPr lang="ja-JP" altLang="en-US" sz="3200" b="0">
                    <a:latin typeface="+mn-ea"/>
                    <a:cs typeface="ヒラギノ角ゴ Pro W3"/>
                  </a:rPr>
                  <a:t>非対角成分</a:t>
                </a:r>
                <a:r>
                  <a:rPr lang="en-US" altLang="ja-JP" sz="3200" b="0" dirty="0">
                    <a:latin typeface="+mn-ea"/>
                    <a:cs typeface="ヒラギノ角ゴ Pro W3"/>
                  </a:rPr>
                  <a:t>)</a:t>
                </a:r>
              </a:p>
              <a:p>
                <a14:m>
                  <m:oMath xmlns:m="http://schemas.openxmlformats.org/officeDocument/2006/math">
                    <m:sSup>
                      <m:sSupPr>
                        <m:ctrlPr>
                          <a:rPr lang="en-US" altLang="ja-JP" sz="3200" i="1" smtClean="0">
                            <a:solidFill>
                              <a:schemeClr val="tx1"/>
                            </a:solidFill>
                            <a:latin typeface="Cambria Math" panose="02040503050406030204" pitchFamily="18" charset="0"/>
                            <a:cs typeface="ヒラギノ角ゴ Pro W3"/>
                          </a:rPr>
                        </m:ctrlPr>
                      </m:sSupPr>
                      <m:e>
                        <m:r>
                          <a:rPr lang="en-US" altLang="ja-JP" sz="3200" i="1">
                            <a:solidFill>
                              <a:schemeClr val="tx1"/>
                            </a:solidFill>
                            <a:latin typeface="Cambria Math" panose="02040503050406030204" pitchFamily="18" charset="0"/>
                            <a:cs typeface="ヒラギノ角ゴ Pro W3"/>
                          </a:rPr>
                          <m:t>𝑋</m:t>
                        </m:r>
                      </m:e>
                      <m:sup>
                        <m:r>
                          <a:rPr lang="en-US" altLang="ja-JP" sz="3200" i="1">
                            <a:solidFill>
                              <a:schemeClr val="tx1"/>
                            </a:solidFill>
                            <a:latin typeface="Cambria Math" panose="02040503050406030204" pitchFamily="18" charset="0"/>
                            <a:cs typeface="ヒラギノ角ゴ Pro W3"/>
                          </a:rPr>
                          <m:t>𝑇</m:t>
                        </m:r>
                      </m:sup>
                    </m:sSup>
                    <m:acc>
                      <m:accPr>
                        <m:chr m:val="̃"/>
                        <m:ctrlPr>
                          <a:rPr lang="ja-JP" altLang="en-US" sz="3200" i="1">
                            <a:solidFill>
                              <a:schemeClr val="tx1"/>
                            </a:solidFill>
                            <a:latin typeface="Cambria Math" panose="02040503050406030204" pitchFamily="18" charset="0"/>
                          </a:rPr>
                        </m:ctrlPr>
                      </m:accPr>
                      <m:e>
                        <m:r>
                          <a:rPr lang="en-US" altLang="ja-JP" sz="3200" i="1">
                            <a:solidFill>
                              <a:schemeClr val="tx1"/>
                            </a:solidFill>
                            <a:latin typeface="Cambria Math" panose="02040503050406030204" pitchFamily="18" charset="0"/>
                          </a:rPr>
                          <m:t>𝑋</m:t>
                        </m:r>
                      </m:e>
                    </m:acc>
                    <m:r>
                      <a:rPr lang="en-US" altLang="ja-JP" sz="3200" i="1">
                        <a:solidFill>
                          <a:schemeClr val="tx1"/>
                        </a:solidFill>
                        <a:latin typeface="Cambria Math" panose="02040503050406030204" pitchFamily="18" charset="0"/>
                      </a:rPr>
                      <m:t>=</m:t>
                    </m:r>
                    <m:sSup>
                      <m:sSupPr>
                        <m:ctrlPr>
                          <a:rPr lang="en-US" altLang="ja-JP" sz="3200" i="1">
                            <a:solidFill>
                              <a:schemeClr val="tx1"/>
                            </a:solidFill>
                            <a:latin typeface="Cambria Math" panose="02040503050406030204" pitchFamily="18" charset="0"/>
                            <a:cs typeface="ヒラギノ角ゴ Pro W3"/>
                          </a:rPr>
                        </m:ctrlPr>
                      </m:sSupPr>
                      <m:e>
                        <m:r>
                          <a:rPr lang="en-US" altLang="ja-JP" sz="3200" i="1">
                            <a:solidFill>
                              <a:schemeClr val="tx1"/>
                            </a:solidFill>
                            <a:latin typeface="Cambria Math" panose="02040503050406030204" pitchFamily="18" charset="0"/>
                            <a:cs typeface="ヒラギノ角ゴ Pro W3"/>
                          </a:rPr>
                          <m:t>𝑋</m:t>
                        </m:r>
                      </m:e>
                      <m:sup>
                        <m:r>
                          <a:rPr lang="en-US" altLang="ja-JP" sz="3200" i="1">
                            <a:solidFill>
                              <a:schemeClr val="tx1"/>
                            </a:solidFill>
                            <a:latin typeface="Cambria Math" panose="02040503050406030204" pitchFamily="18" charset="0"/>
                            <a:cs typeface="ヒラギノ角ゴ Pro W3"/>
                          </a:rPr>
                          <m:t>𝑇</m:t>
                        </m:r>
                      </m:sup>
                    </m:sSup>
                    <m:r>
                      <a:rPr lang="en-US" altLang="ja-JP" sz="3200" i="1">
                        <a:solidFill>
                          <a:schemeClr val="tx1"/>
                        </a:solidFill>
                        <a:latin typeface="Cambria Math" panose="02040503050406030204" pitchFamily="18" charset="0"/>
                        <a:cs typeface="ヒラギノ角ゴ Pro W3"/>
                      </a:rPr>
                      <m:t>𝑋</m:t>
                    </m:r>
                    <m:r>
                      <a:rPr lang="en-US" altLang="ja-JP" sz="3200" i="1">
                        <a:solidFill>
                          <a:schemeClr val="tx1"/>
                        </a:solidFill>
                        <a:latin typeface="Cambria Math" panose="02040503050406030204" pitchFamily="18" charset="0"/>
                      </a:rPr>
                      <m:t>−</m:t>
                    </m:r>
                    <m:r>
                      <m:rPr>
                        <m:sty m:val="p"/>
                      </m:rPr>
                      <a:rPr lang="en-US" altLang="ja-JP" sz="3200">
                        <a:solidFill>
                          <a:schemeClr val="tx1"/>
                        </a:solidFill>
                        <a:latin typeface="Cambria Math" panose="02040503050406030204" pitchFamily="18" charset="0"/>
                      </a:rPr>
                      <m:t>diag</m:t>
                    </m:r>
                    <m:d>
                      <m:dPr>
                        <m:begChr m:val="{"/>
                        <m:endChr m:val="}"/>
                        <m:ctrlPr>
                          <a:rPr lang="en-US" altLang="ja-JP" sz="3200" i="1">
                            <a:solidFill>
                              <a:schemeClr val="tx1"/>
                            </a:solidFill>
                            <a:latin typeface="Cambria Math" panose="02040503050406030204" pitchFamily="18" charset="0"/>
                          </a:rPr>
                        </m:ctrlPr>
                      </m:dPr>
                      <m:e>
                        <m:r>
                          <a:rPr lang="en-US" altLang="ja-JP" sz="3200" i="1">
                            <a:solidFill>
                              <a:schemeClr val="tx1"/>
                            </a:solidFill>
                            <a:latin typeface="Cambria Math" panose="02040503050406030204" pitchFamily="18" charset="0"/>
                          </a:rPr>
                          <m:t>𝑠</m:t>
                        </m:r>
                      </m:e>
                    </m:d>
                    <m:r>
                      <a:rPr lang="en-US" altLang="ja-JP" sz="3200" b="0" i="1" smtClean="0">
                        <a:solidFill>
                          <a:schemeClr val="tx1"/>
                        </a:solidFill>
                        <a:latin typeface="Cambria Math" panose="02040503050406030204" pitchFamily="18" charset="0"/>
                        <a:cs typeface="ヒラギノ角ゴ Pro W3"/>
                      </a:rPr>
                      <m:t>, </m:t>
                    </m:r>
                  </m:oMath>
                </a14:m>
                <a:r>
                  <a:rPr lang="en-US" altLang="ja-JP" sz="3200" dirty="0">
                    <a:latin typeface="+mn-ea"/>
                    <a:cs typeface="ヒラギノ角ゴ Pro W3"/>
                  </a:rPr>
                  <a:t>   (</a:t>
                </a:r>
                <a:r>
                  <a:rPr lang="ja-JP" altLang="en-US" sz="3200">
                    <a:latin typeface="+mn-ea"/>
                    <a:cs typeface="ヒラギノ角ゴ Pro W3"/>
                  </a:rPr>
                  <a:t>対角成分</a:t>
                </a:r>
                <a:r>
                  <a:rPr lang="en-US" altLang="ja-JP" sz="3200" dirty="0">
                    <a:latin typeface="+mn-ea"/>
                    <a:cs typeface="ヒラギノ角ゴ Pro W3"/>
                  </a:rPr>
                  <a:t>)</a:t>
                </a:r>
                <a:endParaRPr lang="en-US" altLang="ja-JP" sz="3200" b="0" dirty="0">
                  <a:solidFill>
                    <a:schemeClr val="tx1"/>
                  </a:solidFill>
                  <a:latin typeface="+mn-ea"/>
                  <a:cs typeface="ヒラギノ角ゴ Pro W3"/>
                </a:endParaRPr>
              </a:p>
              <a:p>
                <a:r>
                  <a:rPr lang="en-US" altLang="ja-JP" sz="2400" dirty="0">
                    <a:cs typeface="ヒラギノ角ゴ Pro W3"/>
                  </a:rPr>
                  <a:t> </a:t>
                </a:r>
                <a14:m>
                  <m:oMath xmlns:m="http://schemas.openxmlformats.org/officeDocument/2006/math">
                    <m:r>
                      <a:rPr lang="en-US" altLang="ja-JP" sz="2400" i="1" smtClean="0">
                        <a:latin typeface="Cambria Math" panose="02040503050406030204" pitchFamily="18" charset="0"/>
                        <a:cs typeface="ヒラギノ角ゴ Pro W3"/>
                      </a:rPr>
                      <m:t>𝑠</m:t>
                    </m:r>
                    <m:r>
                      <a:rPr lang="en-US" altLang="ja-JP" sz="2400" b="0" i="1" smtClean="0">
                        <a:latin typeface="Cambria Math" panose="02040503050406030204" pitchFamily="18" charset="0"/>
                        <a:cs typeface="ヒラギノ角ゴ Pro W3"/>
                      </a:rPr>
                      <m:t>:</m:t>
                    </m:r>
                    <m:r>
                      <a:rPr lang="en-US" altLang="ja-JP" sz="2400" i="1" smtClean="0">
                        <a:latin typeface="Cambria Math" panose="02040503050406030204" pitchFamily="18" charset="0"/>
                        <a:cs typeface="ヒラギノ角ゴ Pro W3"/>
                      </a:rPr>
                      <m:t>𝑝</m:t>
                    </m:r>
                    <m:r>
                      <m:rPr>
                        <m:nor/>
                      </m:rPr>
                      <a:rPr lang="ja-JP" altLang="en-US" sz="2400">
                        <a:latin typeface="+mn-ea"/>
                        <a:cs typeface="ヒラギノ角ゴ Pro W3"/>
                      </a:rPr>
                      <m:t>次元非負ベクトル</m:t>
                    </m:r>
                  </m:oMath>
                </a14:m>
                <a:endParaRPr kumimoji="1" lang="ja-JP" altLang="en-US" sz="1600"/>
              </a:p>
            </p:txBody>
          </p:sp>
        </mc:Choice>
        <mc:Fallback xmlns="">
          <p:sp>
            <p:nvSpPr>
              <p:cNvPr id="9" name="テキスト ボックス 8">
                <a:extLst>
                  <a:ext uri="{FF2B5EF4-FFF2-40B4-BE49-F238E27FC236}">
                    <a16:creationId xmlns:a16="http://schemas.microsoft.com/office/drawing/2014/main" id="{5C40C95D-0615-C6D6-C422-7A689DBC49CA}"/>
                  </a:ext>
                </a:extLst>
              </p:cNvPr>
              <p:cNvSpPr txBox="1">
                <a:spLocks noRot="1" noChangeAspect="1" noMove="1" noResize="1" noEditPoints="1" noAdjustHandles="1" noChangeArrowheads="1" noChangeShapeType="1" noTextEdit="1"/>
              </p:cNvSpPr>
              <p:nvPr/>
            </p:nvSpPr>
            <p:spPr>
              <a:xfrm>
                <a:off x="1049383" y="3509962"/>
                <a:ext cx="6958956" cy="1467068"/>
              </a:xfrm>
              <a:prstGeom prst="rect">
                <a:avLst/>
              </a:prstGeom>
              <a:blipFill>
                <a:blip r:embed="rId5"/>
                <a:stretch>
                  <a:fillRect l="-546" t="-3448" b="-2586"/>
                </a:stretch>
              </a:blipFill>
            </p:spPr>
            <p:txBody>
              <a:bodyPr/>
              <a:lstStyle/>
              <a:p>
                <a:r>
                  <a:rPr lang="ja-JP" altLang="en-US">
                    <a:noFill/>
                  </a:rPr>
                  <a:t> </a:t>
                </a:r>
              </a:p>
            </p:txBody>
          </p:sp>
        </mc:Fallback>
      </mc:AlternateContent>
      <p:sp>
        <p:nvSpPr>
          <p:cNvPr id="11" name="右中かっこ 10">
            <a:extLst>
              <a:ext uri="{FF2B5EF4-FFF2-40B4-BE49-F238E27FC236}">
                <a16:creationId xmlns:a16="http://schemas.microsoft.com/office/drawing/2014/main" id="{5E542714-4863-C578-C82B-72E2F20F20CC}"/>
              </a:ext>
            </a:extLst>
          </p:cNvPr>
          <p:cNvSpPr/>
          <p:nvPr/>
        </p:nvSpPr>
        <p:spPr>
          <a:xfrm rot="10800000">
            <a:off x="918356" y="3546348"/>
            <a:ext cx="110560" cy="1066800"/>
          </a:xfrm>
          <a:prstGeom prst="rightBrace">
            <a:avLst>
              <a:gd name="adj1" fmla="val 37297"/>
              <a:gd name="adj2" fmla="val 49135"/>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B59338A8-E22F-EE41-ADA3-C4F77E13B454}"/>
                  </a:ext>
                </a:extLst>
              </p:cNvPr>
              <p:cNvSpPr txBox="1"/>
              <p:nvPr/>
            </p:nvSpPr>
            <p:spPr>
              <a:xfrm>
                <a:off x="7774701" y="2712633"/>
                <a:ext cx="3344955" cy="523220"/>
              </a:xfrm>
              <a:prstGeom prst="rect">
                <a:avLst/>
              </a:prstGeom>
              <a:noFill/>
              <a:ln>
                <a:noFill/>
              </a:ln>
            </p:spPr>
            <p:txBody>
              <a:bodyPr wrap="none" rtlCol="0">
                <a:spAutoFit/>
              </a:bodyPr>
              <a:lstStyle/>
              <a:p>
                <a:r>
                  <a:rPr lang="ja-JP" altLang="en-US" sz="2800">
                    <a:solidFill>
                      <a:schemeClr val="tx1"/>
                    </a:solidFill>
                    <a:cs typeface="ヒラギノ角ゴ Pro W3"/>
                  </a:rPr>
                  <a:t>→</a:t>
                </a:r>
                <a:r>
                  <a:rPr lang="en-US" altLang="ja-JP" sz="2800" dirty="0">
                    <a:cs typeface="ヒラギノ角ゴ Pro W3"/>
                  </a:rPr>
                  <a:t> </a:t>
                </a:r>
                <a14:m>
                  <m:oMath xmlns:m="http://schemas.openxmlformats.org/officeDocument/2006/math">
                    <m:r>
                      <a:rPr lang="en-US" altLang="ja-JP" sz="2800" i="1">
                        <a:latin typeface="Cambria Math" panose="02040503050406030204" pitchFamily="18" charset="0"/>
                        <a:cs typeface="ヒラギノ角ゴ Pro W3"/>
                      </a:rPr>
                      <m:t>𝑋</m:t>
                    </m:r>
                  </m:oMath>
                </a14:m>
                <a:r>
                  <a:rPr kumimoji="1" lang="ja-JP" altLang="en-US" sz="2800">
                    <a:cs typeface="ヒラギノ角ゴ Pro W3"/>
                  </a:rPr>
                  <a:t>と同じ相互関係</a:t>
                </a:r>
                <a:endParaRPr kumimoji="1" lang="ja-JP" altLang="en-US" sz="2800">
                  <a:solidFill>
                    <a:schemeClr val="tx1"/>
                  </a:solidFill>
                </a:endParaRPr>
              </a:p>
            </p:txBody>
          </p:sp>
        </mc:Choice>
        <mc:Fallback xmlns="">
          <p:sp>
            <p:nvSpPr>
              <p:cNvPr id="7" name="テキスト ボックス 6">
                <a:extLst>
                  <a:ext uri="{FF2B5EF4-FFF2-40B4-BE49-F238E27FC236}">
                    <a16:creationId xmlns:a16="http://schemas.microsoft.com/office/drawing/2014/main" id="{B59338A8-E22F-EE41-ADA3-C4F77E13B454}"/>
                  </a:ext>
                </a:extLst>
              </p:cNvPr>
              <p:cNvSpPr txBox="1">
                <a:spLocks noRot="1" noChangeAspect="1" noMove="1" noResize="1" noEditPoints="1" noAdjustHandles="1" noChangeArrowheads="1" noChangeShapeType="1" noTextEdit="1"/>
              </p:cNvSpPr>
              <p:nvPr/>
            </p:nvSpPr>
            <p:spPr>
              <a:xfrm>
                <a:off x="7774701" y="2712633"/>
                <a:ext cx="3344955" cy="523220"/>
              </a:xfrm>
              <a:prstGeom prst="rect">
                <a:avLst/>
              </a:prstGeom>
              <a:blipFill>
                <a:blip r:embed="rId6"/>
                <a:stretch>
                  <a:fillRect l="-4167" t="-11905" r="-3030" b="-33333"/>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103E4869-21EF-AF52-DC85-1EF39FFC648B}"/>
                  </a:ext>
                </a:extLst>
              </p:cNvPr>
              <p:cNvSpPr txBox="1"/>
              <p:nvPr/>
            </p:nvSpPr>
            <p:spPr>
              <a:xfrm>
                <a:off x="7774701" y="3435575"/>
                <a:ext cx="3344955" cy="523220"/>
              </a:xfrm>
              <a:prstGeom prst="rect">
                <a:avLst/>
              </a:prstGeom>
              <a:noFill/>
              <a:ln>
                <a:noFill/>
              </a:ln>
            </p:spPr>
            <p:txBody>
              <a:bodyPr wrap="none" rtlCol="0">
                <a:spAutoFit/>
              </a:bodyPr>
              <a:lstStyle/>
              <a:p>
                <a:r>
                  <a:rPr lang="ja-JP" altLang="en-US" sz="2800">
                    <a:solidFill>
                      <a:schemeClr val="tx1"/>
                    </a:solidFill>
                    <a:cs typeface="ヒラギノ角ゴ Pro W3"/>
                  </a:rPr>
                  <a:t>→</a:t>
                </a:r>
                <a:r>
                  <a:rPr lang="en-US" altLang="ja-JP" sz="2800" dirty="0">
                    <a:cs typeface="ヒラギノ角ゴ Pro W3"/>
                  </a:rPr>
                  <a:t> </a:t>
                </a:r>
                <a14:m>
                  <m:oMath xmlns:m="http://schemas.openxmlformats.org/officeDocument/2006/math">
                    <m:r>
                      <a:rPr lang="en-US" altLang="ja-JP" sz="2800" i="1">
                        <a:latin typeface="Cambria Math" panose="02040503050406030204" pitchFamily="18" charset="0"/>
                        <a:cs typeface="ヒラギノ角ゴ Pro W3"/>
                      </a:rPr>
                      <m:t>𝑋</m:t>
                    </m:r>
                  </m:oMath>
                </a14:m>
                <a:r>
                  <a:rPr kumimoji="1" lang="ja-JP" altLang="en-US" sz="2800">
                    <a:cs typeface="ヒラギノ角ゴ Pro W3"/>
                  </a:rPr>
                  <a:t>と同じ相互関係</a:t>
                </a:r>
                <a:endParaRPr kumimoji="1" lang="ja-JP" altLang="en-US" sz="2800">
                  <a:solidFill>
                    <a:schemeClr val="tx1"/>
                  </a:solidFill>
                </a:endParaRPr>
              </a:p>
            </p:txBody>
          </p:sp>
        </mc:Choice>
        <mc:Fallback xmlns="">
          <p:sp>
            <p:nvSpPr>
              <p:cNvPr id="8" name="テキスト ボックス 7">
                <a:extLst>
                  <a:ext uri="{FF2B5EF4-FFF2-40B4-BE49-F238E27FC236}">
                    <a16:creationId xmlns:a16="http://schemas.microsoft.com/office/drawing/2014/main" id="{103E4869-21EF-AF52-DC85-1EF39FFC648B}"/>
                  </a:ext>
                </a:extLst>
              </p:cNvPr>
              <p:cNvSpPr txBox="1">
                <a:spLocks noRot="1" noChangeAspect="1" noMove="1" noResize="1" noEditPoints="1" noAdjustHandles="1" noChangeArrowheads="1" noChangeShapeType="1" noTextEdit="1"/>
              </p:cNvSpPr>
              <p:nvPr/>
            </p:nvSpPr>
            <p:spPr>
              <a:xfrm>
                <a:off x="7774701" y="3435575"/>
                <a:ext cx="3344955" cy="523220"/>
              </a:xfrm>
              <a:prstGeom prst="rect">
                <a:avLst/>
              </a:prstGeom>
              <a:blipFill>
                <a:blip r:embed="rId6"/>
                <a:stretch>
                  <a:fillRect l="-4167" t="-11905" r="-3030" b="-33333"/>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6B08E3A1-ED57-9952-5EFD-868BD3DDABBA}"/>
                  </a:ext>
                </a:extLst>
              </p:cNvPr>
              <p:cNvSpPr txBox="1"/>
              <p:nvPr/>
            </p:nvSpPr>
            <p:spPr>
              <a:xfrm>
                <a:off x="7771712" y="4158996"/>
                <a:ext cx="3981346" cy="523220"/>
              </a:xfrm>
              <a:prstGeom prst="rect">
                <a:avLst/>
              </a:prstGeom>
              <a:noFill/>
              <a:ln>
                <a:noFill/>
              </a:ln>
            </p:spPr>
            <p:txBody>
              <a:bodyPr wrap="none" rtlCol="0">
                <a:spAutoFit/>
              </a:bodyPr>
              <a:lstStyle/>
              <a:p>
                <a:r>
                  <a:rPr lang="ja-JP" altLang="en-US" sz="2800">
                    <a:solidFill>
                      <a:schemeClr val="tx1"/>
                    </a:solidFill>
                    <a:cs typeface="ヒラギノ角ゴ Pro W3"/>
                  </a:rPr>
                  <a:t>→</a:t>
                </a:r>
                <a14:m>
                  <m:oMath xmlns:m="http://schemas.openxmlformats.org/officeDocument/2006/math">
                    <m:r>
                      <a:rPr lang="en-US" altLang="ja-JP" sz="2800" b="0" i="1" smtClean="0">
                        <a:solidFill>
                          <a:schemeClr val="tx1"/>
                        </a:solidFill>
                        <a:latin typeface="Cambria Math" panose="02040503050406030204" pitchFamily="18" charset="0"/>
                        <a:cs typeface="ヒラギノ角ゴ Pro W3"/>
                      </a:rPr>
                      <m:t>𝑋</m:t>
                    </m:r>
                  </m:oMath>
                </a14:m>
                <a:r>
                  <a:rPr kumimoji="1" lang="ja-JP" altLang="en-US" sz="2800">
                    <a:solidFill>
                      <a:schemeClr val="tx1"/>
                    </a:solidFill>
                  </a:rPr>
                  <a:t>とできるだけ無関係</a:t>
                </a:r>
              </a:p>
            </p:txBody>
          </p:sp>
        </mc:Choice>
        <mc:Fallback xmlns="">
          <p:sp>
            <p:nvSpPr>
              <p:cNvPr id="12" name="テキスト ボックス 11">
                <a:extLst>
                  <a:ext uri="{FF2B5EF4-FFF2-40B4-BE49-F238E27FC236}">
                    <a16:creationId xmlns:a16="http://schemas.microsoft.com/office/drawing/2014/main" id="{6B08E3A1-ED57-9952-5EFD-868BD3DDABBA}"/>
                  </a:ext>
                </a:extLst>
              </p:cNvPr>
              <p:cNvSpPr txBox="1">
                <a:spLocks noRot="1" noChangeAspect="1" noMove="1" noResize="1" noEditPoints="1" noAdjustHandles="1" noChangeArrowheads="1" noChangeShapeType="1" noTextEdit="1"/>
              </p:cNvSpPr>
              <p:nvPr/>
            </p:nvSpPr>
            <p:spPr>
              <a:xfrm>
                <a:off x="7771712" y="4158996"/>
                <a:ext cx="3981346" cy="523220"/>
              </a:xfrm>
              <a:prstGeom prst="rect">
                <a:avLst/>
              </a:prstGeom>
              <a:blipFill>
                <a:blip r:embed="rId7"/>
                <a:stretch>
                  <a:fillRect l="-3503" t="-11905" r="-2229" b="-33333"/>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16790169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0" y="1142169"/>
                <a:ext cx="11782271" cy="5182848"/>
              </a:xfrm>
            </p:spPr>
            <p:txBody>
              <a:bodyPr>
                <a:noAutofit/>
              </a:bodyPr>
              <a:lstStyle/>
              <a:p>
                <a:pPr marL="0" indent="0">
                  <a:buNone/>
                </a:pPr>
                <a:r>
                  <a:rPr lang="en-US" altLang="ja-JP" sz="3200" dirty="0">
                    <a:solidFill>
                      <a:srgbClr val="7030A0"/>
                    </a:solidFill>
                    <a:latin typeface="+mn-ea"/>
                    <a:cs typeface="ヒラギノ角ゴ Pro W3"/>
                  </a:rPr>
                  <a:t> 2. </a:t>
                </a:r>
                <a:r>
                  <a:rPr kumimoji="1" lang="ja-JP" altLang="en-US" sz="3200">
                    <a:solidFill>
                      <a:srgbClr val="7030A0"/>
                    </a:solidFill>
                    <a:latin typeface="+mn-ea"/>
                    <a:cs typeface="ヒラギノ角ゴ Pro W3"/>
                  </a:rPr>
                  <a:t>統計量</a:t>
                </a:r>
                <a14:m>
                  <m:oMath xmlns:m="http://schemas.openxmlformats.org/officeDocument/2006/math">
                    <m:r>
                      <a:rPr kumimoji="1" lang="en-US" altLang="ja-JP" sz="3200" b="0" i="1" smtClean="0">
                        <a:solidFill>
                          <a:srgbClr val="7030A0"/>
                        </a:solidFill>
                        <a:latin typeface="Cambria Math" panose="02040503050406030204" pitchFamily="18" charset="0"/>
                        <a:cs typeface="ヒラギノ角ゴ Pro W3"/>
                      </a:rPr>
                      <m:t>𝑊</m:t>
                    </m:r>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800" dirty="0">
                  <a:solidFill>
                    <a:srgbClr val="7030A0"/>
                  </a:solidFill>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acc>
                        <m:accPr>
                          <m:chr m:val="̂"/>
                          <m:ctrlPr>
                            <a:rPr kumimoji="1" lang="ja-JP" altLang="en-US" sz="3200" i="1" smtClean="0">
                              <a:latin typeface="Cambria Math" panose="02040503050406030204" pitchFamily="18" charset="0"/>
                            </a:rPr>
                          </m:ctrlPr>
                        </m:accPr>
                        <m:e>
                          <m:r>
                            <a:rPr kumimoji="1" lang="ja-JP" altLang="en-US" sz="3200" b="1" i="1" smtClean="0">
                              <a:latin typeface="Cambria Math" panose="02040503050406030204" pitchFamily="18" charset="0"/>
                            </a:rPr>
                            <m:t>𝜷</m:t>
                          </m:r>
                        </m:e>
                      </m:acc>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𝜆</m:t>
                          </m:r>
                        </m:e>
                      </m:d>
                      <m:r>
                        <a:rPr kumimoji="1" lang="en-US" altLang="ja-JP" sz="3200" b="0" i="1" smtClean="0">
                          <a:latin typeface="Cambria Math" panose="02040503050406030204" pitchFamily="18" charset="0"/>
                        </a:rPr>
                        <m:t>=</m:t>
                      </m:r>
                      <m:limLow>
                        <m:limLowPr>
                          <m:ctrlPr>
                            <a:rPr lang="en-US" altLang="ja-JP" sz="3200" i="1" smtClean="0">
                              <a:latin typeface="Cambria Math" panose="02040503050406030204" pitchFamily="18" charset="0"/>
                            </a:rPr>
                          </m:ctrlPr>
                        </m:limLowPr>
                        <m:e>
                          <m:r>
                            <m:rPr>
                              <m:sty m:val="p"/>
                            </m:rPr>
                            <a:rPr lang="en-US" altLang="ja-JP" sz="3200">
                              <a:latin typeface="Cambria Math" panose="02040503050406030204" pitchFamily="18" charset="0"/>
                            </a:rPr>
                            <m:t>arg</m:t>
                          </m:r>
                          <m:r>
                            <m:rPr>
                              <m:sty m:val="p"/>
                            </m:rPr>
                            <a:rPr lang="en-US" altLang="ja-JP" sz="3200" b="0" i="0" smtClean="0">
                              <a:latin typeface="Cambria Math" panose="02040503050406030204" pitchFamily="18" charset="0"/>
                            </a:rPr>
                            <m:t>min</m:t>
                          </m:r>
                        </m:e>
                        <m:lim>
                          <m:r>
                            <a:rPr lang="en-US" altLang="ja-JP" sz="3200" b="1" i="1">
                              <a:latin typeface="Cambria Math" panose="02040503050406030204" pitchFamily="18" charset="0"/>
                            </a:rPr>
                            <m:t> </m:t>
                          </m:r>
                          <m:r>
                            <a:rPr lang="en-US" altLang="ja-JP" sz="3200" b="1" i="1" smtClean="0">
                              <a:latin typeface="Cambria Math" panose="02040503050406030204" pitchFamily="18" charset="0"/>
                            </a:rPr>
                            <m:t>𝜷</m:t>
                          </m:r>
                        </m:lim>
                      </m:limLow>
                      <m:r>
                        <a:rPr lang="en-US" altLang="ja-JP" sz="3200" b="1" i="1" smtClean="0">
                          <a:latin typeface="Cambria Math" panose="02040503050406030204" pitchFamily="18" charset="0"/>
                        </a:rPr>
                        <m:t> </m:t>
                      </m:r>
                      <m:d>
                        <m:dPr>
                          <m:begChr m:val="{"/>
                          <m:endChr m:val="}"/>
                          <m:ctrlPr>
                            <a:rPr lang="en-US" altLang="ja-JP" sz="3200" b="1" i="1" smtClean="0">
                              <a:latin typeface="Cambria Math" panose="02040503050406030204" pitchFamily="18" charset="0"/>
                            </a:rPr>
                          </m:ctrlPr>
                        </m:dPr>
                        <m:e>
                          <m:f>
                            <m:fPr>
                              <m:ctrlPr>
                                <a:rPr lang="en-US" altLang="ja-JP" sz="3200" i="1">
                                  <a:latin typeface="Cambria Math" panose="02040503050406030204" pitchFamily="18" charset="0"/>
                                </a:rPr>
                              </m:ctrlPr>
                            </m:fPr>
                            <m:num>
                              <m:r>
                                <a:rPr lang="en-US" altLang="ja-JP" sz="3200" i="1">
                                  <a:latin typeface="Cambria Math" panose="02040503050406030204" pitchFamily="18" charset="0"/>
                                </a:rPr>
                                <m:t>1</m:t>
                              </m:r>
                            </m:num>
                            <m:den>
                              <m:r>
                                <a:rPr lang="en-US" altLang="ja-JP" sz="3200" i="1">
                                  <a:latin typeface="Cambria Math" panose="02040503050406030204" pitchFamily="18" charset="0"/>
                                </a:rPr>
                                <m:t>2</m:t>
                              </m:r>
                              <m:r>
                                <a:rPr lang="en-US" altLang="ja-JP" sz="3200" i="1">
                                  <a:latin typeface="Cambria Math" panose="02040503050406030204" pitchFamily="18" charset="0"/>
                                </a:rPr>
                                <m:t>𝑛</m:t>
                              </m:r>
                            </m:den>
                          </m:f>
                          <m:sSubSup>
                            <m:sSubSupPr>
                              <m:ctrlPr>
                                <a:rPr lang="en-US" altLang="ja-JP" sz="3200" i="1">
                                  <a:latin typeface="Cambria Math" panose="02040503050406030204" pitchFamily="18" charset="0"/>
                                </a:rPr>
                              </m:ctrlPr>
                            </m:sSubSupPr>
                            <m:e>
                              <m:d>
                                <m:dPr>
                                  <m:begChr m:val="‖"/>
                                  <m:endChr m:val="‖"/>
                                  <m:ctrlPr>
                                    <a:rPr lang="en-US" altLang="ja-JP" sz="3200" i="1">
                                      <a:latin typeface="Cambria Math" panose="02040503050406030204" pitchFamily="18" charset="0"/>
                                    </a:rPr>
                                  </m:ctrlPr>
                                </m:dPr>
                                <m:e>
                                  <m:r>
                                    <a:rPr lang="en-US" altLang="ja-JP" sz="3200" b="1" i="1">
                                      <a:latin typeface="Cambria Math" panose="02040503050406030204" pitchFamily="18" charset="0"/>
                                    </a:rPr>
                                    <m:t>𝒚</m:t>
                                  </m:r>
                                  <m:r>
                                    <a:rPr lang="en-US" altLang="ja-JP" sz="3200" i="1">
                                      <a:latin typeface="Cambria Math" panose="02040503050406030204" pitchFamily="18" charset="0"/>
                                    </a:rPr>
                                    <m:t>−</m:t>
                                  </m:r>
                                  <m:r>
                                    <a:rPr lang="en-US" altLang="ja-JP" sz="3200" b="1" i="1" smtClean="0">
                                      <a:latin typeface="Cambria Math" panose="02040503050406030204" pitchFamily="18" charset="0"/>
                                    </a:rPr>
                                    <m:t>[</m:t>
                                  </m:r>
                                  <m:r>
                                    <a:rPr lang="en-US" altLang="ja-JP" sz="3200" b="1" i="1" smtClean="0">
                                      <a:latin typeface="Cambria Math" panose="02040503050406030204" pitchFamily="18" charset="0"/>
                                    </a:rPr>
                                    <m:t>𝑿</m:t>
                                  </m:r>
                                  <m:r>
                                    <a:rPr lang="en-US" altLang="ja-JP" sz="3200" b="1" i="1" smtClean="0">
                                      <a:latin typeface="Cambria Math" panose="02040503050406030204" pitchFamily="18" charset="0"/>
                                    </a:rPr>
                                    <m:t>,</m:t>
                                  </m:r>
                                  <m:acc>
                                    <m:accPr>
                                      <m:chr m:val="̃"/>
                                      <m:ctrlPr>
                                        <a:rPr lang="ja-JP" altLang="en-US" sz="3200" b="1" i="1">
                                          <a:latin typeface="Cambria Math" panose="02040503050406030204" pitchFamily="18" charset="0"/>
                                        </a:rPr>
                                      </m:ctrlPr>
                                    </m:accPr>
                                    <m:e>
                                      <m:r>
                                        <a:rPr lang="en-US" altLang="ja-JP" sz="3200" b="1" i="1">
                                          <a:latin typeface="Cambria Math" panose="02040503050406030204" pitchFamily="18" charset="0"/>
                                        </a:rPr>
                                        <m:t>𝑿</m:t>
                                      </m:r>
                                    </m:e>
                                  </m:acc>
                                  <m:r>
                                    <a:rPr lang="en-US" altLang="ja-JP" sz="3200" b="1" i="1" smtClean="0">
                                      <a:latin typeface="Cambria Math" panose="02040503050406030204" pitchFamily="18" charset="0"/>
                                    </a:rPr>
                                    <m:t>]</m:t>
                                  </m:r>
                                  <m:r>
                                    <a:rPr lang="en-US" altLang="ja-JP" sz="3200" b="1" i="1">
                                      <a:latin typeface="Cambria Math" panose="02040503050406030204" pitchFamily="18" charset="0"/>
                                    </a:rPr>
                                    <m:t>𝜷</m:t>
                                  </m:r>
                                </m:e>
                              </m:d>
                            </m:e>
                            <m:sub>
                              <m:r>
                                <a:rPr lang="en-US" altLang="ja-JP" sz="3200" i="1">
                                  <a:latin typeface="Cambria Math" panose="02040503050406030204" pitchFamily="18" charset="0"/>
                                </a:rPr>
                                <m:t>2</m:t>
                              </m:r>
                            </m:sub>
                            <m:sup>
                              <m:r>
                                <a:rPr lang="en-US" altLang="ja-JP" sz="3200" i="1">
                                  <a:latin typeface="Cambria Math" panose="02040503050406030204" pitchFamily="18" charset="0"/>
                                </a:rPr>
                                <m:t>2</m:t>
                              </m:r>
                            </m:sup>
                          </m:sSubSup>
                          <m:r>
                            <a:rPr lang="en-US" altLang="ja-JP" sz="3200" i="1">
                              <a:latin typeface="Cambria Math" panose="02040503050406030204" pitchFamily="18" charset="0"/>
                            </a:rPr>
                            <m:t>+</m:t>
                          </m:r>
                          <m:r>
                            <a:rPr lang="en-US" altLang="ja-JP" sz="3200" i="1">
                              <a:latin typeface="Cambria Math" panose="02040503050406030204" pitchFamily="18" charset="0"/>
                            </a:rPr>
                            <m:t>𝜆</m:t>
                          </m:r>
                          <m:sSub>
                            <m:sSubPr>
                              <m:ctrlPr>
                                <a:rPr lang="en-US" altLang="ja-JP" sz="3200" i="1">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r>
                                    <a:rPr lang="en-US" altLang="ja-JP" sz="3200" b="1" i="1">
                                      <a:latin typeface="Cambria Math" panose="02040503050406030204" pitchFamily="18" charset="0"/>
                                    </a:rPr>
                                    <m:t>𝜷</m:t>
                                  </m:r>
                                </m:e>
                              </m:d>
                            </m:e>
                            <m:sub>
                              <m:r>
                                <a:rPr lang="en-US" altLang="ja-JP" sz="3200" i="1">
                                  <a:latin typeface="Cambria Math" panose="02040503050406030204" pitchFamily="18" charset="0"/>
                                </a:rPr>
                                <m:t>1</m:t>
                              </m:r>
                            </m:sub>
                          </m:sSub>
                        </m:e>
                      </m:d>
                    </m:oMath>
                  </m:oMathPara>
                </a14:m>
                <a:endParaRPr kumimoji="1" lang="ja-JP" altLang="en-US" sz="3200" dirty="0">
                  <a:latin typeface="+mn-ea"/>
                  <a:cs typeface="ヒラギノ角ゴ Pro W3"/>
                </a:endParaRPr>
              </a:p>
              <a:p>
                <a:pPr marL="0" indent="0" algn="ctr">
                  <a:buNone/>
                </a:pPr>
                <a:r>
                  <a:rPr lang="ja-JP" altLang="en-US" sz="3200">
                    <a:latin typeface="+mn-ea"/>
                    <a:cs typeface="ヒラギノ角ゴ Pro W3"/>
                  </a:rPr>
                  <a:t>　</a:t>
                </a:r>
                <a:endParaRPr lang="en-US" altLang="ja-JP" sz="3200" dirty="0">
                  <a:latin typeface="+mn-ea"/>
                  <a:cs typeface="ヒラギノ角ゴ Pro W3"/>
                </a:endParaRPr>
              </a:p>
              <a:p>
                <a:pPr marL="0" indent="0" algn="ctr">
                  <a:buNone/>
                </a:pPr>
                <a:endParaRPr kumimoji="1" lang="en-US" altLang="ja-JP" sz="3200" dirty="0">
                  <a:latin typeface="+mn-ea"/>
                  <a:cs typeface="ヒラギノ角ゴ Pro W3"/>
                </a:endParaRPr>
              </a:p>
              <a:p>
                <a:pPr marL="0" indent="0" algn="ctr">
                  <a:buNone/>
                </a:pPr>
                <a:endParaRPr kumimoji="1" lang="en-US" altLang="ja-JP" sz="3200" dirty="0">
                  <a:latin typeface="+mn-ea"/>
                  <a:cs typeface="ヒラギノ角ゴ Pro W3"/>
                </a:endParaRPr>
              </a:p>
              <a:p>
                <a:pPr marL="0" indent="0" algn="ctr">
                  <a:buNone/>
                </a:pPr>
                <a:r>
                  <a:rPr lang="en-US" altLang="ja-JP" sz="3200" dirty="0">
                    <a:latin typeface="ヒラギノ角ゴ Pro W3"/>
                    <a:ea typeface="ヒラギノ角ゴ Pro W3"/>
                    <a:cs typeface="ヒラギノ角ゴ Pro W3"/>
                  </a:rPr>
                  <a:t>    </a:t>
                </a:r>
              </a:p>
              <a:p>
                <a:pPr marL="0" indent="0" algn="ctr">
                  <a:buNone/>
                </a:pPr>
                <a:endParaRPr lang="en-US" altLang="ja-JP" sz="800" dirty="0">
                  <a:latin typeface="+mn-ea"/>
                  <a:cs typeface="ヒラギノ角ゴ Pro W3"/>
                </a:endParaRPr>
              </a:p>
              <a:p>
                <a:pPr marL="0" indent="0">
                  <a:buNone/>
                </a:pPr>
                <a:r>
                  <a:rPr kumimoji="1" lang="ja-JP" altLang="en-US" sz="3200" b="0">
                    <a:cs typeface="ヒラギノ角ゴ Pro W3"/>
                  </a:rPr>
                  <a:t>　</a:t>
                </a:r>
                <a:r>
                  <a:rPr kumimoji="1" lang="en-US" altLang="ja-JP" sz="3200" b="0" dirty="0">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 </m:t>
                        </m:r>
                        <m:r>
                          <a:rPr kumimoji="1" lang="en-US" altLang="ja-JP" sz="3200" b="0" i="1" smtClean="0">
                            <a:latin typeface="Cambria Math" panose="02040503050406030204" pitchFamily="18" charset="0"/>
                            <a:cs typeface="ヒラギノ角ゴ Pro W3"/>
                          </a:rPr>
                          <m:t>𝑊</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𝑍</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sSub>
                      <m:sSubPr>
                        <m:ctrlPr>
                          <a:rPr lang="en-US" altLang="ja-JP" sz="3200" i="1">
                            <a:latin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rPr>
                              <m:t>𝑍</m:t>
                            </m:r>
                          </m:e>
                        </m:acc>
                      </m:e>
                      <m:sub>
                        <m:r>
                          <a:rPr lang="en-US" altLang="ja-JP" sz="3200" i="1">
                            <a:latin typeface="Cambria Math" panose="02040503050406030204" pitchFamily="18" charset="0"/>
                          </a:rPr>
                          <m:t>𝑗</m:t>
                        </m:r>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𝑝</m:t>
                        </m:r>
                      </m:sub>
                    </m:sSub>
                    <m:r>
                      <a:rPr lang="en-US" altLang="ja-JP" sz="3200" i="1">
                        <a:latin typeface="Cambria Math" panose="02040503050406030204" pitchFamily="18" charset="0"/>
                      </a:rPr>
                      <m:t>∙</m:t>
                    </m:r>
                    <m:func>
                      <m:funcPr>
                        <m:ctrlPr>
                          <a:rPr lang="en-US" altLang="ja-JP" sz="3200" i="1" smtClean="0">
                            <a:latin typeface="Cambria Math" panose="02040503050406030204" pitchFamily="18" charset="0"/>
                          </a:rPr>
                        </m:ctrlPr>
                      </m:funcPr>
                      <m:fName>
                        <m:func>
                          <m:funcPr>
                            <m:ctrlPr>
                              <a:rPr lang="en-US" altLang="ja-JP" sz="3200" i="1">
                                <a:latin typeface="Cambria Math" panose="02040503050406030204" pitchFamily="18" charset="0"/>
                              </a:rPr>
                            </m:ctrlPr>
                          </m:funcPr>
                          <m:fName>
                            <m:r>
                              <m:rPr>
                                <m:sty m:val="p"/>
                              </m:rPr>
                              <a:rPr lang="en-US" altLang="ja-JP" sz="3200">
                                <a:latin typeface="Cambria Math" panose="02040503050406030204" pitchFamily="18" charset="0"/>
                              </a:rPr>
                              <m:t>sign</m:t>
                            </m:r>
                          </m:fName>
                          <m:e>
                            <m:d>
                              <m:dPr>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𝑍</m:t>
                                    </m:r>
                                  </m:e>
                                  <m:sub>
                                    <m:r>
                                      <a:rPr lang="en-US" altLang="ja-JP" sz="3200" i="1">
                                        <a:latin typeface="Cambria Math" panose="02040503050406030204" pitchFamily="18" charset="0"/>
                                      </a:rPr>
                                      <m:t>𝑗</m:t>
                                    </m:r>
                                  </m:sub>
                                </m:sSub>
                                <m:r>
                                  <a:rPr lang="en-US" altLang="ja-JP" sz="3200" i="1">
                                    <a:latin typeface="Cambria Math" panose="02040503050406030204" pitchFamily="18" charset="0"/>
                                  </a:rPr>
                                  <m:t>−</m:t>
                                </m:r>
                                <m:sSub>
                                  <m:sSubPr>
                                    <m:ctrlPr>
                                      <a:rPr lang="en-US" altLang="ja-JP" sz="3200" b="0" i="1" smtClean="0">
                                        <a:latin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b="0" i="1" smtClean="0">
                                            <a:latin typeface="Cambria Math" panose="02040503050406030204" pitchFamily="18" charset="0"/>
                                          </a:rPr>
                                          <m:t>𝑍</m:t>
                                        </m:r>
                                      </m:e>
                                    </m:acc>
                                  </m:e>
                                  <m:sub>
                                    <m:r>
                                      <a:rPr lang="en-US" altLang="ja-JP" sz="3200" b="0" i="1" smtClean="0">
                                        <a:latin typeface="Cambria Math" panose="02040503050406030204" pitchFamily="18" charset="0"/>
                                      </a:rPr>
                                      <m:t>𝑗</m:t>
                                    </m:r>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𝑝</m:t>
                                    </m:r>
                                  </m:sub>
                                </m:sSub>
                              </m:e>
                            </m:d>
                          </m:e>
                        </m:func>
                      </m:fName>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=1,…,</m:t>
                        </m:r>
                        <m:r>
                          <a:rPr lang="en-US" altLang="ja-JP" sz="3200" i="1">
                            <a:latin typeface="Cambria Math" panose="02040503050406030204" pitchFamily="18" charset="0"/>
                          </a:rPr>
                          <m:t>𝑝</m:t>
                        </m:r>
                      </m:e>
                    </m:func>
                  </m:oMath>
                </a14:m>
                <a:endParaRPr kumimoji="1" lang="ja-JP" altLang="en-US" sz="3200"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0" y="1142169"/>
                <a:ext cx="11782271" cy="5182848"/>
              </a:xfrm>
              <a:blipFill>
                <a:blip r:embed="rId3"/>
                <a:stretch>
                  <a:fillRect l="-323" t="-2195"/>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5" name="正方形/長方形 4">
            <a:extLst>
              <a:ext uri="{FF2B5EF4-FFF2-40B4-BE49-F238E27FC236}">
                <a16:creationId xmlns:a16="http://schemas.microsoft.com/office/drawing/2014/main" id="{5C75E11C-D90D-1F4A-E3B7-8AEFCE751325}"/>
              </a:ext>
            </a:extLst>
          </p:cNvPr>
          <p:cNvSpPr/>
          <p:nvPr/>
        </p:nvSpPr>
        <p:spPr>
          <a:xfrm>
            <a:off x="6368527" y="2000922"/>
            <a:ext cx="1000108" cy="6230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F7A2EE6-0027-EDFA-D4DB-08C89651294A}"/>
                  </a:ext>
                </a:extLst>
              </p:cNvPr>
              <p:cNvSpPr txBox="1"/>
              <p:nvPr/>
            </p:nvSpPr>
            <p:spPr>
              <a:xfrm>
                <a:off x="5961282" y="156617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8" name="テキスト ボックス 7">
                <a:extLst>
                  <a:ext uri="{FF2B5EF4-FFF2-40B4-BE49-F238E27FC236}">
                    <a16:creationId xmlns:a16="http://schemas.microsoft.com/office/drawing/2014/main" id="{CF7A2EE6-0027-EDFA-D4DB-08C89651294A}"/>
                  </a:ext>
                </a:extLst>
              </p:cNvPr>
              <p:cNvSpPr txBox="1">
                <a:spLocks noRot="1" noChangeAspect="1" noMove="1" noResize="1" noEditPoints="1" noAdjustHandles="1" noChangeArrowheads="1" noChangeShapeType="1" noTextEdit="1"/>
              </p:cNvSpPr>
              <p:nvPr/>
            </p:nvSpPr>
            <p:spPr>
              <a:xfrm>
                <a:off x="5961282" y="1566175"/>
                <a:ext cx="1775743" cy="523220"/>
              </a:xfrm>
              <a:prstGeom prst="rect">
                <a:avLst/>
              </a:prstGeom>
              <a:blipFill>
                <a:blip r:embed="rId4"/>
                <a:stretch>
                  <a:fillRect t="-11905" r="-5674" b="-33333"/>
                </a:stretch>
              </a:blipFill>
            </p:spPr>
            <p:txBody>
              <a:bodyPr/>
              <a:lstStyle/>
              <a:p>
                <a:r>
                  <a:rPr lang="ja-JP" altLang="en-US">
                    <a:noFill/>
                  </a:rPr>
                  <a:t> </a:t>
                </a:r>
              </a:p>
            </p:txBody>
          </p:sp>
        </mc:Fallback>
      </mc:AlternateContent>
      <p:sp>
        <p:nvSpPr>
          <p:cNvPr id="9" name="下矢印 8">
            <a:extLst>
              <a:ext uri="{FF2B5EF4-FFF2-40B4-BE49-F238E27FC236}">
                <a16:creationId xmlns:a16="http://schemas.microsoft.com/office/drawing/2014/main" id="{93F860B9-87CE-E406-B577-CF20AD125A32}"/>
              </a:ext>
            </a:extLst>
          </p:cNvPr>
          <p:cNvSpPr/>
          <p:nvPr/>
        </p:nvSpPr>
        <p:spPr>
          <a:xfrm>
            <a:off x="5546750" y="2846852"/>
            <a:ext cx="688769" cy="516196"/>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1" name="下矢印 10">
            <a:extLst>
              <a:ext uri="{FF2B5EF4-FFF2-40B4-BE49-F238E27FC236}">
                <a16:creationId xmlns:a16="http://schemas.microsoft.com/office/drawing/2014/main" id="{C0B0FD82-F53A-6959-9C76-4D9F0D4274EF}"/>
              </a:ext>
            </a:extLst>
          </p:cNvPr>
          <p:cNvSpPr/>
          <p:nvPr/>
        </p:nvSpPr>
        <p:spPr>
          <a:xfrm>
            <a:off x="5573135" y="4779329"/>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4" name="テキスト ボックス 13">
            <a:extLst>
              <a:ext uri="{FF2B5EF4-FFF2-40B4-BE49-F238E27FC236}">
                <a16:creationId xmlns:a16="http://schemas.microsoft.com/office/drawing/2014/main" id="{C72EF522-F685-33A9-62EA-1095FC425FA7}"/>
              </a:ext>
            </a:extLst>
          </p:cNvPr>
          <p:cNvSpPr txBox="1"/>
          <p:nvPr/>
        </p:nvSpPr>
        <p:spPr>
          <a:xfrm>
            <a:off x="8095488" y="4436046"/>
            <a:ext cx="3833293" cy="954107"/>
          </a:xfrm>
          <a:prstGeom prst="rect">
            <a:avLst/>
          </a:prstGeom>
          <a:noFill/>
          <a:ln w="25400">
            <a:noFill/>
          </a:ln>
        </p:spPr>
        <p:txBody>
          <a:bodyPr wrap="square" rtlCol="0">
            <a:spAutoFit/>
          </a:bodyPr>
          <a:lstStyle/>
          <a:p>
            <a:r>
              <a:rPr kumimoji="1" lang="ja-JP" altLang="en-US" sz="2800"/>
              <a:t>正則化パラメータ値を</a:t>
            </a:r>
            <a:endParaRPr kumimoji="1" lang="en-US" altLang="ja-JP" sz="2800" dirty="0"/>
          </a:p>
          <a:p>
            <a:r>
              <a:rPr kumimoji="1" lang="ja-JP" altLang="en-US" sz="2800"/>
              <a:t>添字番号ごとに比較</a:t>
            </a:r>
          </a:p>
        </p:txBody>
      </p:sp>
      <p:sp>
        <p:nvSpPr>
          <p:cNvPr id="15" name="角丸四角形吹き出し 14">
            <a:extLst>
              <a:ext uri="{FF2B5EF4-FFF2-40B4-BE49-F238E27FC236}">
                <a16:creationId xmlns:a16="http://schemas.microsoft.com/office/drawing/2014/main" id="{0EDDEE97-167D-09D9-0449-8369524A81AB}"/>
              </a:ext>
            </a:extLst>
          </p:cNvPr>
          <p:cNvSpPr/>
          <p:nvPr/>
        </p:nvSpPr>
        <p:spPr>
          <a:xfrm>
            <a:off x="8046037" y="4436046"/>
            <a:ext cx="3882744" cy="908638"/>
          </a:xfrm>
          <a:prstGeom prst="wedgeRoundRectCallout">
            <a:avLst>
              <a:gd name="adj1" fmla="val -58605"/>
              <a:gd name="adj2" fmla="val 57032"/>
              <a:gd name="adj3" fmla="val 16667"/>
            </a:avLst>
          </a:prstGeom>
          <a:noFill/>
          <a:ln w="317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01FC375-5C07-A490-76AA-C1E94F65B94B}"/>
                  </a:ext>
                </a:extLst>
              </p:cNvPr>
              <p:cNvSpPr txBox="1"/>
              <p:nvPr/>
            </p:nvSpPr>
            <p:spPr>
              <a:xfrm>
                <a:off x="6868581" y="3614078"/>
                <a:ext cx="211269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rPr>
                        <m:t>𝑗</m:t>
                      </m:r>
                      <m:r>
                        <a:rPr lang="en-US" altLang="ja-JP" sz="3200" i="1" smtClean="0">
                          <a:latin typeface="Cambria Math" panose="02040503050406030204" pitchFamily="18" charset="0"/>
                        </a:rPr>
                        <m:t>=1,…,</m:t>
                      </m:r>
                      <m:r>
                        <a:rPr lang="en-US" altLang="ja-JP" sz="3200" b="0" i="1" smtClean="0">
                          <a:latin typeface="Cambria Math" panose="02040503050406030204" pitchFamily="18" charset="0"/>
                        </a:rPr>
                        <m:t>𝑝</m:t>
                      </m:r>
                    </m:oMath>
                  </m:oMathPara>
                </a14:m>
                <a:endParaRPr lang="en-US" altLang="ja-JP" sz="3200" i="1" dirty="0"/>
              </a:p>
            </p:txBody>
          </p:sp>
        </mc:Choice>
        <mc:Fallback xmlns="">
          <p:sp>
            <p:nvSpPr>
              <p:cNvPr id="2" name="テキスト ボックス 1">
                <a:extLst>
                  <a:ext uri="{FF2B5EF4-FFF2-40B4-BE49-F238E27FC236}">
                    <a16:creationId xmlns:a16="http://schemas.microsoft.com/office/drawing/2014/main" id="{701FC375-5C07-A490-76AA-C1E94F65B94B}"/>
                  </a:ext>
                </a:extLst>
              </p:cNvPr>
              <p:cNvSpPr txBox="1">
                <a:spLocks noRot="1" noChangeAspect="1" noMove="1" noResize="1" noEditPoints="1" noAdjustHandles="1" noChangeArrowheads="1" noChangeShapeType="1" noTextEdit="1"/>
              </p:cNvSpPr>
              <p:nvPr/>
            </p:nvSpPr>
            <p:spPr>
              <a:xfrm>
                <a:off x="6868581" y="3614078"/>
                <a:ext cx="2112693" cy="584775"/>
              </a:xfrm>
              <a:prstGeom prst="rect">
                <a:avLst/>
              </a:prstGeom>
              <a:blipFill>
                <a:blip r:embed="rId5"/>
                <a:stretch>
                  <a:fillRect l="-1190" b="-1914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A7A542AB-872C-C37E-E796-82B0C359DE0F}"/>
                  </a:ext>
                </a:extLst>
              </p:cNvPr>
              <p:cNvSpPr txBox="1"/>
              <p:nvPr/>
            </p:nvSpPr>
            <p:spPr>
              <a:xfrm>
                <a:off x="1328506" y="3473855"/>
                <a:ext cx="5438476" cy="123271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𝑍</m:t>
                          </m:r>
                        </m:e>
                        <m:sub>
                          <m:r>
                            <a:rPr kumimoji="1" lang="en-US" altLang="ja-JP" sz="3200" b="0" i="1" smtClean="0">
                              <a:latin typeface="Cambria Math" panose="02040503050406030204" pitchFamily="18" charset="0"/>
                              <a:cs typeface="ヒラギノ角ゴ Pro W3"/>
                            </a:rPr>
                            <m:t>𝑗</m:t>
                          </m:r>
                        </m:sub>
                      </m:sSub>
                      <m:r>
                        <m:rPr>
                          <m:aln/>
                        </m:rPr>
                        <a:rPr kumimoji="1" lang="en-US" altLang="ja-JP" sz="3200" b="0" i="1" smtClean="0">
                          <a:latin typeface="Cambria Math" panose="02040503050406030204" pitchFamily="18" charset="0"/>
                          <a:cs typeface="ヒラギノ角ゴ Pro W3"/>
                        </a:rPr>
                        <m:t>=</m:t>
                      </m:r>
                      <m:func>
                        <m:funcPr>
                          <m:ctrlPr>
                            <a:rPr kumimoji="1" lang="en-US" altLang="ja-JP" sz="3200" b="0" i="1" smtClean="0">
                              <a:latin typeface="Cambria Math" panose="02040503050406030204" pitchFamily="18" charset="0"/>
                              <a:cs typeface="ヒラギノ角ゴ Pro W3"/>
                            </a:rPr>
                          </m:ctrlPr>
                        </m:funcPr>
                        <m:fName>
                          <m:r>
                            <m:rPr>
                              <m:sty m:val="p"/>
                            </m:rPr>
                            <a:rPr kumimoji="1" lang="en-US" altLang="ja-JP" sz="3200" b="0" i="0" smtClean="0">
                              <a:latin typeface="Cambria Math" panose="02040503050406030204" pitchFamily="18" charset="0"/>
                              <a:cs typeface="ヒラギノ角ゴ Pro W3"/>
                            </a:rPr>
                            <m:t>sup</m:t>
                          </m:r>
                        </m:fName>
                        <m:e>
                          <m:d>
                            <m:dPr>
                              <m:begChr m:val="{"/>
                              <m:endChr m:val="}"/>
                              <m:ctrlPr>
                                <a:rPr kumimoji="1" lang="en-US" altLang="ja-JP" sz="3200" b="0" i="1" smtClean="0">
                                  <a:latin typeface="Cambria Math" panose="02040503050406030204" pitchFamily="18" charset="0"/>
                                  <a:cs typeface="ヒラギノ角ゴ Pro W3"/>
                                </a:rPr>
                              </m:ctrlPr>
                            </m:dPr>
                            <m:e>
                              <m:r>
                                <a:rPr lang="en-US" altLang="ja-JP" sz="3200" i="1">
                                  <a:latin typeface="Cambria Math" panose="02040503050406030204" pitchFamily="18" charset="0"/>
                                </a:rPr>
                                <m:t>𝜆</m:t>
                              </m:r>
                              <m:r>
                                <a:rPr lang="en-US" altLang="ja-JP" sz="3200" b="0" i="1" smtClean="0">
                                  <a:latin typeface="Cambria Math" panose="02040503050406030204" pitchFamily="18" charset="0"/>
                                </a:rPr>
                                <m:t>:</m:t>
                              </m:r>
                              <m:sSub>
                                <m:sSubPr>
                                  <m:ctrlPr>
                                    <a:rPr lang="en-US" altLang="ja-JP" sz="3200" b="1" i="1" smtClean="0">
                                      <a:latin typeface="Cambria Math" panose="02040503050406030204" pitchFamily="18" charset="0"/>
                                    </a:rPr>
                                  </m:ctrlPr>
                                </m:sSubPr>
                                <m:e>
                                  <m:acc>
                                    <m:accPr>
                                      <m:chr m:val="̂"/>
                                      <m:ctrlPr>
                                        <a:rPr lang="ja-JP" altLang="en-US" sz="3200" i="1">
                                          <a:latin typeface="Cambria Math" panose="02040503050406030204" pitchFamily="18" charset="0"/>
                                        </a:rPr>
                                      </m:ctrlPr>
                                    </m:accPr>
                                    <m:e>
                                      <m:r>
                                        <a:rPr lang="ja-JP" altLang="en-US" sz="3200" b="0" i="1">
                                          <a:latin typeface="Cambria Math" panose="02040503050406030204" pitchFamily="18" charset="0"/>
                                        </a:rPr>
                                        <m:t>𝛽</m:t>
                                      </m:r>
                                    </m:e>
                                  </m:acc>
                                </m:e>
                                <m:sub>
                                  <m:r>
                                    <a:rPr lang="en-US" altLang="ja-JP" sz="3200" b="0" i="1" smtClean="0">
                                      <a:latin typeface="Cambria Math" panose="02040503050406030204" pitchFamily="18" charset="0"/>
                                    </a:rPr>
                                    <m:t>𝑗</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𝜆</m:t>
                                  </m:r>
                                </m:e>
                              </m:d>
                              <m:r>
                                <a:rPr lang="en-US" altLang="ja-JP" sz="3200" i="1" smtClean="0">
                                  <a:latin typeface="Cambria Math" panose="02040503050406030204" pitchFamily="18" charset="0"/>
                                </a:rPr>
                                <m:t>≠</m:t>
                              </m:r>
                              <m:r>
                                <a:rPr lang="en-US" altLang="ja-JP" sz="3200" b="0" i="1" smtClean="0">
                                  <a:latin typeface="Cambria Math" panose="02040503050406030204" pitchFamily="18" charset="0"/>
                                </a:rPr>
                                <m:t>0</m:t>
                              </m:r>
                            </m:e>
                          </m:d>
                          <m:r>
                            <a:rPr lang="en-US" altLang="ja-JP" sz="3200" b="0" i="1" smtClean="0">
                              <a:latin typeface="Cambria Math" panose="02040503050406030204" pitchFamily="18" charset="0"/>
                            </a:rPr>
                            <m:t>,</m:t>
                          </m:r>
                        </m:e>
                      </m:func>
                      <m:r>
                        <a:rPr lang="en-US" altLang="ja-JP" sz="3200" b="0" i="1" smtClean="0">
                          <a:latin typeface="Cambria Math" panose="02040503050406030204" pitchFamily="18" charset="0"/>
                        </a:rPr>
                        <m:t> </m:t>
                      </m:r>
                    </m:oMath>
                    <m:oMath xmlns:m="http://schemas.openxmlformats.org/officeDocument/2006/math">
                      <m:sSub>
                        <m:sSubPr>
                          <m:ctrlPr>
                            <a:rPr kumimoji="1" lang="en-US" altLang="ja-JP" sz="3200" i="1">
                              <a:latin typeface="Cambria Math" panose="02040503050406030204" pitchFamily="18" charset="0"/>
                            </a:rPr>
                          </m:ctrlPr>
                        </m:sSubPr>
                        <m:e>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𝑍</m:t>
                              </m:r>
                            </m:e>
                          </m:acc>
                        </m:e>
                        <m:sub>
                          <m:r>
                            <a:rPr kumimoji="1" lang="en-US" altLang="ja-JP" sz="3200" i="1">
                              <a:latin typeface="Cambria Math" panose="02040503050406030204" pitchFamily="18" charset="0"/>
                            </a:rPr>
                            <m:t>𝑗</m:t>
                          </m:r>
                          <m:r>
                            <a:rPr kumimoji="1" lang="en-US" altLang="ja-JP" sz="3200" i="1">
                              <a:latin typeface="Cambria Math" panose="02040503050406030204" pitchFamily="18" charset="0"/>
                            </a:rPr>
                            <m:t>+</m:t>
                          </m:r>
                          <m:r>
                            <a:rPr kumimoji="1" lang="en-US" altLang="ja-JP" sz="3200" i="1">
                              <a:latin typeface="Cambria Math" panose="02040503050406030204" pitchFamily="18" charset="0"/>
                            </a:rPr>
                            <m:t>𝑝</m:t>
                          </m:r>
                        </m:sub>
                      </m:sSub>
                      <m:r>
                        <m:rPr>
                          <m:aln/>
                        </m:rPr>
                        <a:rPr kumimoji="1" lang="en-US" altLang="ja-JP" sz="3200" i="1">
                          <a:latin typeface="Cambria Math" panose="02040503050406030204" pitchFamily="18" charset="0"/>
                          <a:cs typeface="ヒラギノ角ゴ Pro W3"/>
                        </a:rPr>
                        <m:t>=</m:t>
                      </m:r>
                      <m:func>
                        <m:funcPr>
                          <m:ctrlPr>
                            <a:rPr kumimoji="1" lang="en-US" altLang="ja-JP" sz="3200" i="1">
                              <a:latin typeface="Cambria Math" panose="02040503050406030204" pitchFamily="18" charset="0"/>
                              <a:cs typeface="ヒラギノ角ゴ Pro W3"/>
                            </a:rPr>
                          </m:ctrlPr>
                        </m:funcPr>
                        <m:fName>
                          <m:r>
                            <m:rPr>
                              <m:sty m:val="p"/>
                            </m:rPr>
                            <a:rPr kumimoji="1" lang="en-US" altLang="ja-JP" sz="3200">
                              <a:latin typeface="Cambria Math" panose="02040503050406030204" pitchFamily="18" charset="0"/>
                              <a:cs typeface="ヒラギノ角ゴ Pro W3"/>
                            </a:rPr>
                            <m:t>sup</m:t>
                          </m:r>
                        </m:fName>
                        <m:e>
                          <m:d>
                            <m:dPr>
                              <m:begChr m:val="{"/>
                              <m:endChr m:val="}"/>
                              <m:ctrlPr>
                                <a:rPr kumimoji="1" lang="en-US" altLang="ja-JP" sz="3200" i="1">
                                  <a:latin typeface="Cambria Math" panose="02040503050406030204" pitchFamily="18" charset="0"/>
                                  <a:cs typeface="ヒラギノ角ゴ Pro W3"/>
                                </a:rPr>
                              </m:ctrlPr>
                            </m:dPr>
                            <m:e>
                              <m:r>
                                <a:rPr lang="en-US" altLang="ja-JP" sz="3200" i="1">
                                  <a:latin typeface="Cambria Math" panose="02040503050406030204" pitchFamily="18" charset="0"/>
                                </a:rPr>
                                <m:t>𝜆</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acc>
                                    <m:accPr>
                                      <m:chr m:val="̂"/>
                                      <m:ctrlPr>
                                        <a:rPr lang="ja-JP" altLang="en-US" sz="3200" i="1">
                                          <a:latin typeface="Cambria Math" panose="02040503050406030204" pitchFamily="18" charset="0"/>
                                        </a:rPr>
                                      </m:ctrlPr>
                                    </m:accPr>
                                    <m:e>
                                      <m:r>
                                        <a:rPr lang="ja-JP" altLang="en-US" sz="3200" i="1">
                                          <a:latin typeface="Cambria Math" panose="02040503050406030204" pitchFamily="18" charset="0"/>
                                        </a:rPr>
                                        <m:t>𝛽</m:t>
                                      </m:r>
                                    </m:e>
                                  </m:acc>
                                </m:e>
                                <m:sub>
                                  <m:r>
                                    <a:rPr lang="en-US" altLang="ja-JP" sz="3200" i="1">
                                      <a:latin typeface="Cambria Math" panose="02040503050406030204" pitchFamily="18" charset="0"/>
                                    </a:rPr>
                                    <m:t>𝑗</m:t>
                                  </m:r>
                                  <m:r>
                                    <a:rPr lang="en-US" altLang="ja-JP" sz="3200" i="1">
                                      <a:latin typeface="Cambria Math" panose="02040503050406030204" pitchFamily="18" charset="0"/>
                                    </a:rPr>
                                    <m:t>+</m:t>
                                  </m:r>
                                  <m:r>
                                    <a:rPr lang="en-US" altLang="ja-JP" sz="3200" i="1">
                                      <a:latin typeface="Cambria Math" panose="02040503050406030204" pitchFamily="18" charset="0"/>
                                    </a:rPr>
                                    <m:t>𝑝</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𝜆</m:t>
                                  </m:r>
                                </m:e>
                              </m:d>
                              <m:r>
                                <a:rPr lang="en-US" altLang="ja-JP" sz="3200" i="1">
                                  <a:latin typeface="Cambria Math" panose="02040503050406030204" pitchFamily="18" charset="0"/>
                                </a:rPr>
                                <m:t>≠0</m:t>
                              </m:r>
                            </m:e>
                          </m:d>
                          <m:r>
                            <a:rPr kumimoji="1" lang="en-US" altLang="ja-JP" sz="3200" i="1">
                              <a:latin typeface="Cambria Math" panose="02040503050406030204" pitchFamily="18" charset="0"/>
                            </a:rPr>
                            <m:t>,</m:t>
                          </m:r>
                        </m:e>
                      </m:func>
                    </m:oMath>
                  </m:oMathPara>
                </a14:m>
                <a:br>
                  <a:rPr kumimoji="1" lang="en-US" altLang="ja-JP" sz="3200" i="1" dirty="0">
                    <a:latin typeface="Cambria Math" panose="02040503050406030204" pitchFamily="18" charset="0"/>
                  </a:rPr>
                </a:br>
                <a:endParaRPr lang="en-US" altLang="ja-JP" sz="3200" b="0" i="1" dirty="0">
                  <a:latin typeface="Cambria Math" panose="02040503050406030204" pitchFamily="18" charset="0"/>
                </a:endParaRPr>
              </a:p>
            </p:txBody>
          </p:sp>
        </mc:Choice>
        <mc:Fallback xmlns="">
          <p:sp>
            <p:nvSpPr>
              <p:cNvPr id="7" name="テキスト ボックス 6">
                <a:extLst>
                  <a:ext uri="{FF2B5EF4-FFF2-40B4-BE49-F238E27FC236}">
                    <a16:creationId xmlns:a16="http://schemas.microsoft.com/office/drawing/2014/main" id="{A7A542AB-872C-C37E-E796-82B0C359DE0F}"/>
                  </a:ext>
                </a:extLst>
              </p:cNvPr>
              <p:cNvSpPr txBox="1">
                <a:spLocks noRot="1" noChangeAspect="1" noMove="1" noResize="1" noEditPoints="1" noAdjustHandles="1" noChangeArrowheads="1" noChangeShapeType="1" noTextEdit="1"/>
              </p:cNvSpPr>
              <p:nvPr/>
            </p:nvSpPr>
            <p:spPr>
              <a:xfrm>
                <a:off x="1328506" y="3473855"/>
                <a:ext cx="5438476" cy="1232710"/>
              </a:xfrm>
              <a:prstGeom prst="rect">
                <a:avLst/>
              </a:prstGeom>
              <a:blipFill>
                <a:blip r:embed="rId6"/>
                <a:stretch>
                  <a:fillRect t="-5102" b="-71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65791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0" y="1142169"/>
                <a:ext cx="11782271" cy="5182848"/>
              </a:xfrm>
            </p:spPr>
            <p:txBody>
              <a:bodyPr>
                <a:noAutofit/>
              </a:bodyPr>
              <a:lstStyle/>
              <a:p>
                <a:pPr marL="0" indent="0">
                  <a:buNone/>
                </a:pPr>
                <a:r>
                  <a:rPr lang="en-US" altLang="ja-JP" sz="3200" dirty="0">
                    <a:solidFill>
                      <a:srgbClr val="7030A0"/>
                    </a:solidFill>
                    <a:latin typeface="+mn-ea"/>
                    <a:cs typeface="ヒラギノ角ゴ Pro W3"/>
                  </a:rPr>
                  <a:t> 2. </a:t>
                </a:r>
                <a:r>
                  <a:rPr kumimoji="1" lang="ja-JP" altLang="en-US" sz="3200">
                    <a:solidFill>
                      <a:srgbClr val="7030A0"/>
                    </a:solidFill>
                    <a:latin typeface="+mn-ea"/>
                    <a:cs typeface="ヒラギノ角ゴ Pro W3"/>
                  </a:rPr>
                  <a:t>統計量</a:t>
                </a:r>
                <a14:m>
                  <m:oMath xmlns:m="http://schemas.openxmlformats.org/officeDocument/2006/math">
                    <m:r>
                      <a:rPr kumimoji="1" lang="en-US" altLang="ja-JP" sz="3200" b="0" i="1" smtClean="0">
                        <a:solidFill>
                          <a:srgbClr val="7030A0"/>
                        </a:solidFill>
                        <a:latin typeface="Cambria Math" panose="02040503050406030204" pitchFamily="18" charset="0"/>
                        <a:cs typeface="ヒラギノ角ゴ Pro W3"/>
                      </a:rPr>
                      <m:t>𝑊</m:t>
                    </m:r>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800" dirty="0">
                  <a:solidFill>
                    <a:srgbClr val="7030A0"/>
                  </a:solidFill>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acc>
                        <m:accPr>
                          <m:chr m:val="̂"/>
                          <m:ctrlPr>
                            <a:rPr kumimoji="1" lang="ja-JP" altLang="en-US" sz="3200" i="1" smtClean="0">
                              <a:latin typeface="Cambria Math" panose="02040503050406030204" pitchFamily="18" charset="0"/>
                            </a:rPr>
                          </m:ctrlPr>
                        </m:accPr>
                        <m:e>
                          <m:r>
                            <a:rPr kumimoji="1" lang="ja-JP" altLang="en-US" sz="3200" b="1" i="1" smtClean="0">
                              <a:latin typeface="Cambria Math" panose="02040503050406030204" pitchFamily="18" charset="0"/>
                            </a:rPr>
                            <m:t>𝜷</m:t>
                          </m:r>
                        </m:e>
                      </m:acc>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𝜆</m:t>
                          </m:r>
                        </m:e>
                      </m:d>
                      <m:r>
                        <a:rPr kumimoji="1" lang="en-US" altLang="ja-JP" sz="3200" b="0" i="1" smtClean="0">
                          <a:latin typeface="Cambria Math" panose="02040503050406030204" pitchFamily="18" charset="0"/>
                        </a:rPr>
                        <m:t>=</m:t>
                      </m:r>
                      <m:limLow>
                        <m:limLowPr>
                          <m:ctrlPr>
                            <a:rPr lang="en-US" altLang="ja-JP" sz="3200" i="1" smtClean="0">
                              <a:latin typeface="Cambria Math" panose="02040503050406030204" pitchFamily="18" charset="0"/>
                            </a:rPr>
                          </m:ctrlPr>
                        </m:limLowPr>
                        <m:e>
                          <m:r>
                            <m:rPr>
                              <m:sty m:val="p"/>
                            </m:rPr>
                            <a:rPr lang="en-US" altLang="ja-JP" sz="3200">
                              <a:latin typeface="Cambria Math" panose="02040503050406030204" pitchFamily="18" charset="0"/>
                            </a:rPr>
                            <m:t>arg</m:t>
                          </m:r>
                          <m:r>
                            <m:rPr>
                              <m:sty m:val="p"/>
                            </m:rPr>
                            <a:rPr lang="en-US" altLang="ja-JP" sz="3200" b="0" i="0" smtClean="0">
                              <a:latin typeface="Cambria Math" panose="02040503050406030204" pitchFamily="18" charset="0"/>
                            </a:rPr>
                            <m:t>min</m:t>
                          </m:r>
                        </m:e>
                        <m:lim>
                          <m:r>
                            <a:rPr lang="en-US" altLang="ja-JP" sz="3200" b="1" i="1">
                              <a:latin typeface="Cambria Math" panose="02040503050406030204" pitchFamily="18" charset="0"/>
                            </a:rPr>
                            <m:t> </m:t>
                          </m:r>
                          <m:r>
                            <a:rPr lang="en-US" altLang="ja-JP" sz="3200" b="1" i="1" smtClean="0">
                              <a:latin typeface="Cambria Math" panose="02040503050406030204" pitchFamily="18" charset="0"/>
                            </a:rPr>
                            <m:t>𝜷</m:t>
                          </m:r>
                        </m:lim>
                      </m:limLow>
                      <m:r>
                        <a:rPr lang="en-US" altLang="ja-JP" sz="3200" b="1" i="1" smtClean="0">
                          <a:latin typeface="Cambria Math" panose="02040503050406030204" pitchFamily="18" charset="0"/>
                        </a:rPr>
                        <m:t> </m:t>
                      </m:r>
                      <m:d>
                        <m:dPr>
                          <m:begChr m:val="{"/>
                          <m:endChr m:val="}"/>
                          <m:ctrlPr>
                            <a:rPr lang="en-US" altLang="ja-JP" sz="3200" b="1" i="1" smtClean="0">
                              <a:latin typeface="Cambria Math" panose="02040503050406030204" pitchFamily="18" charset="0"/>
                            </a:rPr>
                          </m:ctrlPr>
                        </m:dPr>
                        <m:e>
                          <m:f>
                            <m:fPr>
                              <m:ctrlPr>
                                <a:rPr lang="en-US" altLang="ja-JP" sz="3200" i="1">
                                  <a:latin typeface="Cambria Math" panose="02040503050406030204" pitchFamily="18" charset="0"/>
                                </a:rPr>
                              </m:ctrlPr>
                            </m:fPr>
                            <m:num>
                              <m:r>
                                <a:rPr lang="en-US" altLang="ja-JP" sz="3200" i="1">
                                  <a:latin typeface="Cambria Math" panose="02040503050406030204" pitchFamily="18" charset="0"/>
                                </a:rPr>
                                <m:t>1</m:t>
                              </m:r>
                            </m:num>
                            <m:den>
                              <m:r>
                                <a:rPr lang="en-US" altLang="ja-JP" sz="3200" i="1">
                                  <a:latin typeface="Cambria Math" panose="02040503050406030204" pitchFamily="18" charset="0"/>
                                </a:rPr>
                                <m:t>2</m:t>
                              </m:r>
                              <m:r>
                                <a:rPr lang="en-US" altLang="ja-JP" sz="3200" i="1">
                                  <a:latin typeface="Cambria Math" panose="02040503050406030204" pitchFamily="18" charset="0"/>
                                </a:rPr>
                                <m:t>𝑛</m:t>
                              </m:r>
                            </m:den>
                          </m:f>
                          <m:sSubSup>
                            <m:sSubSupPr>
                              <m:ctrlPr>
                                <a:rPr lang="en-US" altLang="ja-JP" sz="3200" i="1">
                                  <a:latin typeface="Cambria Math" panose="02040503050406030204" pitchFamily="18" charset="0"/>
                                </a:rPr>
                              </m:ctrlPr>
                            </m:sSubSupPr>
                            <m:e>
                              <m:d>
                                <m:dPr>
                                  <m:begChr m:val="‖"/>
                                  <m:endChr m:val="‖"/>
                                  <m:ctrlPr>
                                    <a:rPr lang="en-US" altLang="ja-JP" sz="3200" i="1">
                                      <a:latin typeface="Cambria Math" panose="02040503050406030204" pitchFamily="18" charset="0"/>
                                    </a:rPr>
                                  </m:ctrlPr>
                                </m:dPr>
                                <m:e>
                                  <m:r>
                                    <a:rPr lang="en-US" altLang="ja-JP" sz="3200" b="1" i="1">
                                      <a:latin typeface="Cambria Math" panose="02040503050406030204" pitchFamily="18" charset="0"/>
                                    </a:rPr>
                                    <m:t>𝒚</m:t>
                                  </m:r>
                                  <m:r>
                                    <a:rPr lang="en-US" altLang="ja-JP" sz="3200" i="1">
                                      <a:latin typeface="Cambria Math" panose="02040503050406030204" pitchFamily="18" charset="0"/>
                                    </a:rPr>
                                    <m:t>−</m:t>
                                  </m:r>
                                  <m:r>
                                    <a:rPr lang="en-US" altLang="ja-JP" sz="3200" b="1" i="1" smtClean="0">
                                      <a:latin typeface="Cambria Math" panose="02040503050406030204" pitchFamily="18" charset="0"/>
                                    </a:rPr>
                                    <m:t>[</m:t>
                                  </m:r>
                                  <m:r>
                                    <a:rPr lang="en-US" altLang="ja-JP" sz="3200" b="1" i="1" smtClean="0">
                                      <a:latin typeface="Cambria Math" panose="02040503050406030204" pitchFamily="18" charset="0"/>
                                    </a:rPr>
                                    <m:t>𝑿</m:t>
                                  </m:r>
                                  <m:r>
                                    <a:rPr lang="en-US" altLang="ja-JP" sz="3200" b="1" i="1" smtClean="0">
                                      <a:latin typeface="Cambria Math" panose="02040503050406030204" pitchFamily="18" charset="0"/>
                                    </a:rPr>
                                    <m:t>,</m:t>
                                  </m:r>
                                  <m:acc>
                                    <m:accPr>
                                      <m:chr m:val="̃"/>
                                      <m:ctrlPr>
                                        <a:rPr lang="ja-JP" altLang="en-US" sz="3200" b="1" i="1">
                                          <a:latin typeface="Cambria Math" panose="02040503050406030204" pitchFamily="18" charset="0"/>
                                        </a:rPr>
                                      </m:ctrlPr>
                                    </m:accPr>
                                    <m:e>
                                      <m:r>
                                        <a:rPr lang="en-US" altLang="ja-JP" sz="3200" b="1" i="1">
                                          <a:latin typeface="Cambria Math" panose="02040503050406030204" pitchFamily="18" charset="0"/>
                                        </a:rPr>
                                        <m:t>𝑿</m:t>
                                      </m:r>
                                    </m:e>
                                  </m:acc>
                                  <m:r>
                                    <a:rPr lang="en-US" altLang="ja-JP" sz="3200" b="1" i="1" smtClean="0">
                                      <a:latin typeface="Cambria Math" panose="02040503050406030204" pitchFamily="18" charset="0"/>
                                    </a:rPr>
                                    <m:t>]</m:t>
                                  </m:r>
                                  <m:r>
                                    <a:rPr lang="en-US" altLang="ja-JP" sz="3200" b="1" i="1">
                                      <a:latin typeface="Cambria Math" panose="02040503050406030204" pitchFamily="18" charset="0"/>
                                    </a:rPr>
                                    <m:t>𝜷</m:t>
                                  </m:r>
                                </m:e>
                              </m:d>
                            </m:e>
                            <m:sub>
                              <m:r>
                                <a:rPr lang="en-US" altLang="ja-JP" sz="3200" i="1">
                                  <a:latin typeface="Cambria Math" panose="02040503050406030204" pitchFamily="18" charset="0"/>
                                </a:rPr>
                                <m:t>2</m:t>
                              </m:r>
                            </m:sub>
                            <m:sup>
                              <m:r>
                                <a:rPr lang="en-US" altLang="ja-JP" sz="3200" i="1">
                                  <a:latin typeface="Cambria Math" panose="02040503050406030204" pitchFamily="18" charset="0"/>
                                </a:rPr>
                                <m:t>2</m:t>
                              </m:r>
                            </m:sup>
                          </m:sSubSup>
                          <m:r>
                            <a:rPr lang="en-US" altLang="ja-JP" sz="3200" i="1">
                              <a:latin typeface="Cambria Math" panose="02040503050406030204" pitchFamily="18" charset="0"/>
                            </a:rPr>
                            <m:t>+</m:t>
                          </m:r>
                          <m:r>
                            <a:rPr lang="en-US" altLang="ja-JP" sz="3200" i="1">
                              <a:latin typeface="Cambria Math" panose="02040503050406030204" pitchFamily="18" charset="0"/>
                            </a:rPr>
                            <m:t>𝜆</m:t>
                          </m:r>
                          <m:sSub>
                            <m:sSubPr>
                              <m:ctrlPr>
                                <a:rPr lang="en-US" altLang="ja-JP" sz="3200" i="1">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r>
                                    <a:rPr lang="en-US" altLang="ja-JP" sz="3200" b="1" i="1">
                                      <a:latin typeface="Cambria Math" panose="02040503050406030204" pitchFamily="18" charset="0"/>
                                    </a:rPr>
                                    <m:t>𝜷</m:t>
                                  </m:r>
                                </m:e>
                              </m:d>
                            </m:e>
                            <m:sub>
                              <m:r>
                                <a:rPr lang="en-US" altLang="ja-JP" sz="3200" i="1">
                                  <a:latin typeface="Cambria Math" panose="02040503050406030204" pitchFamily="18" charset="0"/>
                                </a:rPr>
                                <m:t>1</m:t>
                              </m:r>
                            </m:sub>
                          </m:sSub>
                        </m:e>
                      </m:d>
                    </m:oMath>
                  </m:oMathPara>
                </a14:m>
                <a:endParaRPr kumimoji="1" lang="ja-JP" altLang="en-US" sz="3200" dirty="0">
                  <a:latin typeface="+mn-ea"/>
                  <a:cs typeface="ヒラギノ角ゴ Pro W3"/>
                </a:endParaRPr>
              </a:p>
              <a:p>
                <a:pPr marL="0" indent="0" algn="ctr">
                  <a:buNone/>
                </a:pPr>
                <a:r>
                  <a:rPr lang="ja-JP" altLang="en-US" sz="3200">
                    <a:latin typeface="+mn-ea"/>
                    <a:cs typeface="ヒラギノ角ゴ Pro W3"/>
                  </a:rPr>
                  <a:t>　</a:t>
                </a:r>
                <a:endParaRPr lang="en-US" altLang="ja-JP" sz="3200" dirty="0">
                  <a:latin typeface="+mn-ea"/>
                  <a:cs typeface="ヒラギノ角ゴ Pro W3"/>
                </a:endParaRPr>
              </a:p>
              <a:p>
                <a:pPr marL="0" indent="0" algn="ctr">
                  <a:buNone/>
                </a:pP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𝑍</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func>
                        <m:funcPr>
                          <m:ctrlPr>
                            <a:rPr kumimoji="1" lang="en-US" altLang="ja-JP" sz="3200" b="0" i="1" smtClean="0">
                              <a:latin typeface="Cambria Math" panose="02040503050406030204" pitchFamily="18" charset="0"/>
                              <a:cs typeface="ヒラギノ角ゴ Pro W3"/>
                            </a:rPr>
                          </m:ctrlPr>
                        </m:funcPr>
                        <m:fName>
                          <m:r>
                            <m:rPr>
                              <m:sty m:val="p"/>
                            </m:rPr>
                            <a:rPr kumimoji="1" lang="en-US" altLang="ja-JP" sz="3200" b="0" i="0" smtClean="0">
                              <a:latin typeface="Cambria Math" panose="02040503050406030204" pitchFamily="18" charset="0"/>
                              <a:cs typeface="ヒラギノ角ゴ Pro W3"/>
                            </a:rPr>
                            <m:t>sup</m:t>
                          </m:r>
                        </m:fName>
                        <m:e>
                          <m:d>
                            <m:dPr>
                              <m:begChr m:val="{"/>
                              <m:endChr m:val="}"/>
                              <m:ctrlPr>
                                <a:rPr kumimoji="1" lang="en-US" altLang="ja-JP" sz="3200" b="0" i="1" smtClean="0">
                                  <a:latin typeface="Cambria Math" panose="02040503050406030204" pitchFamily="18" charset="0"/>
                                  <a:cs typeface="ヒラギノ角ゴ Pro W3"/>
                                </a:rPr>
                              </m:ctrlPr>
                            </m:dPr>
                            <m:e>
                              <m:r>
                                <a:rPr lang="en-US" altLang="ja-JP" sz="3200" i="1">
                                  <a:latin typeface="Cambria Math" panose="02040503050406030204" pitchFamily="18" charset="0"/>
                                </a:rPr>
                                <m:t>𝜆</m:t>
                              </m:r>
                              <m:r>
                                <a:rPr lang="en-US" altLang="ja-JP" sz="3200" b="0" i="1" smtClean="0">
                                  <a:latin typeface="Cambria Math" panose="02040503050406030204" pitchFamily="18" charset="0"/>
                                </a:rPr>
                                <m:t>:</m:t>
                              </m:r>
                              <m:sSub>
                                <m:sSubPr>
                                  <m:ctrlPr>
                                    <a:rPr lang="en-US" altLang="ja-JP" sz="3200" b="1" i="1" smtClean="0">
                                      <a:latin typeface="Cambria Math" panose="02040503050406030204" pitchFamily="18" charset="0"/>
                                    </a:rPr>
                                  </m:ctrlPr>
                                </m:sSubPr>
                                <m:e>
                                  <m:acc>
                                    <m:accPr>
                                      <m:chr m:val="̂"/>
                                      <m:ctrlPr>
                                        <a:rPr lang="ja-JP" altLang="en-US" sz="3200" i="1">
                                          <a:latin typeface="Cambria Math" panose="02040503050406030204" pitchFamily="18" charset="0"/>
                                        </a:rPr>
                                      </m:ctrlPr>
                                    </m:accPr>
                                    <m:e>
                                      <m:r>
                                        <a:rPr lang="ja-JP" altLang="en-US" sz="3200" b="0" i="1">
                                          <a:latin typeface="Cambria Math" panose="02040503050406030204" pitchFamily="18" charset="0"/>
                                        </a:rPr>
                                        <m:t>𝛽</m:t>
                                      </m:r>
                                    </m:e>
                                  </m:acc>
                                </m:e>
                                <m:sub>
                                  <m:r>
                                    <a:rPr lang="en-US" altLang="ja-JP" sz="3200" b="0" i="1" smtClean="0">
                                      <a:latin typeface="Cambria Math" panose="02040503050406030204" pitchFamily="18" charset="0"/>
                                    </a:rPr>
                                    <m:t>𝑗</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𝜆</m:t>
                                  </m:r>
                                </m:e>
                              </m:d>
                              <m:r>
                                <a:rPr lang="en-US" altLang="ja-JP" sz="3200" i="1" smtClean="0">
                                  <a:latin typeface="Cambria Math" panose="02040503050406030204" pitchFamily="18" charset="0"/>
                                </a:rPr>
                                <m:t>≠</m:t>
                              </m:r>
                              <m:r>
                                <a:rPr lang="en-US" altLang="ja-JP" sz="3200" b="0" i="1" smtClean="0">
                                  <a:latin typeface="Cambria Math" panose="02040503050406030204" pitchFamily="18" charset="0"/>
                                </a:rPr>
                                <m:t>0</m:t>
                              </m:r>
                            </m:e>
                          </m:d>
                          <m:r>
                            <a:rPr lang="en-US" altLang="ja-JP" sz="3200" b="0" i="1" smtClean="0">
                              <a:latin typeface="Cambria Math" panose="02040503050406030204" pitchFamily="18" charset="0"/>
                            </a:rPr>
                            <m:t>,</m:t>
                          </m:r>
                        </m:e>
                      </m:func>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=1,…,</m:t>
                      </m:r>
                      <m:r>
                        <a:rPr lang="en-US" altLang="ja-JP" sz="3200" i="1">
                          <a:latin typeface="Cambria Math" panose="02040503050406030204" pitchFamily="18" charset="0"/>
                        </a:rPr>
                        <m:t>𝑝</m:t>
                      </m:r>
                    </m:oMath>
                  </m:oMathPara>
                </a14:m>
                <a:endParaRPr kumimoji="1" lang="en-US" altLang="ja-JP" sz="3200" b="0" dirty="0">
                  <a:latin typeface="+mn-ea"/>
                  <a:cs typeface="ヒラギノ角ゴ Pro W3"/>
                </a:endParaRPr>
              </a:p>
              <a:p>
                <a:pPr marL="0" indent="0" algn="ctr">
                  <a:buNone/>
                </a:pPr>
                <a:r>
                  <a:rPr lang="en-US" altLang="ja-JP" sz="3200" dirty="0"/>
                  <a:t>   </a:t>
                </a:r>
                <a14:m>
                  <m:oMath xmlns:m="http://schemas.openxmlformats.org/officeDocument/2006/math">
                    <m:r>
                      <a:rPr kumimoji="1" lang="en-US" altLang="ja-JP" sz="3200" b="0" i="0" smtClean="0">
                        <a:latin typeface="Cambria Math" panose="02040503050406030204" pitchFamily="18" charset="0"/>
                      </a:rPr>
                      <m:t>       </m:t>
                    </m:r>
                    <m:sSub>
                      <m:sSubPr>
                        <m:ctrlPr>
                          <a:rPr kumimoji="1" lang="en-US" altLang="ja-JP" sz="3200" b="0" i="1" smtClean="0">
                            <a:latin typeface="Cambria Math" panose="02040503050406030204" pitchFamily="18" charset="0"/>
                          </a:rPr>
                        </m:ctrlPr>
                      </m:sSubPr>
                      <m:e>
                        <m:acc>
                          <m:accPr>
                            <m:chr m:val="̃"/>
                            <m:ctrlPr>
                              <a:rPr kumimoji="1" lang="en-US" altLang="ja-JP" sz="3200" b="0" i="1" smtClean="0">
                                <a:latin typeface="Cambria Math" panose="02040503050406030204" pitchFamily="18" charset="0"/>
                              </a:rPr>
                            </m:ctrlPr>
                          </m:accPr>
                          <m:e>
                            <m:r>
                              <a:rPr kumimoji="1" lang="en-US" altLang="ja-JP" sz="3200" b="0" i="1" smtClean="0">
                                <a:latin typeface="Cambria Math" panose="02040503050406030204" pitchFamily="18" charset="0"/>
                              </a:rPr>
                              <m:t>𝑍</m:t>
                            </m:r>
                          </m:e>
                        </m:acc>
                      </m:e>
                      <m:sub>
                        <m:r>
                          <a:rPr kumimoji="1" lang="en-US" altLang="ja-JP" sz="3200" b="0" i="1" smtClean="0">
                            <a:latin typeface="Cambria Math" panose="02040503050406030204" pitchFamily="18" charset="0"/>
                          </a:rPr>
                          <m:t>𝑗</m:t>
                        </m:r>
                      </m:sub>
                    </m:sSub>
                    <m:r>
                      <a:rPr kumimoji="1" lang="en-US" altLang="ja-JP" sz="3200" b="0" i="1" smtClean="0">
                        <a:latin typeface="Cambria Math" panose="02040503050406030204" pitchFamily="18" charset="0"/>
                        <a:cs typeface="ヒラギノ角ゴ Pro W3"/>
                      </a:rPr>
                      <m:t>=</m:t>
                    </m:r>
                    <m:func>
                      <m:funcPr>
                        <m:ctrlPr>
                          <a:rPr kumimoji="1" lang="en-US" altLang="ja-JP" sz="3200" b="0" i="1" smtClean="0">
                            <a:latin typeface="Cambria Math" panose="02040503050406030204" pitchFamily="18" charset="0"/>
                            <a:cs typeface="ヒラギノ角ゴ Pro W3"/>
                          </a:rPr>
                        </m:ctrlPr>
                      </m:funcPr>
                      <m:fName>
                        <m:r>
                          <m:rPr>
                            <m:sty m:val="p"/>
                          </m:rPr>
                          <a:rPr kumimoji="1" lang="en-US" altLang="ja-JP" sz="3200" b="0" i="0" smtClean="0">
                            <a:latin typeface="Cambria Math" panose="02040503050406030204" pitchFamily="18" charset="0"/>
                            <a:cs typeface="ヒラギノ角ゴ Pro W3"/>
                          </a:rPr>
                          <m:t>sup</m:t>
                        </m:r>
                      </m:fName>
                      <m:e>
                        <m:d>
                          <m:dPr>
                            <m:begChr m:val="{"/>
                            <m:endChr m:val="}"/>
                            <m:ctrlPr>
                              <a:rPr kumimoji="1" lang="en-US" altLang="ja-JP" sz="3200" b="0" i="1" smtClean="0">
                                <a:latin typeface="Cambria Math" panose="02040503050406030204" pitchFamily="18" charset="0"/>
                                <a:cs typeface="ヒラギノ角ゴ Pro W3"/>
                              </a:rPr>
                            </m:ctrlPr>
                          </m:dPr>
                          <m:e>
                            <m:r>
                              <a:rPr lang="en-US" altLang="ja-JP" sz="3200" i="1">
                                <a:latin typeface="Cambria Math" panose="02040503050406030204" pitchFamily="18" charset="0"/>
                              </a:rPr>
                              <m:t>𝜆</m:t>
                            </m:r>
                            <m:r>
                              <a:rPr lang="en-US" altLang="ja-JP" sz="3200" b="0" i="1" smtClean="0">
                                <a:latin typeface="Cambria Math" panose="02040503050406030204" pitchFamily="18" charset="0"/>
                              </a:rPr>
                              <m:t>:</m:t>
                            </m:r>
                            <m:sSub>
                              <m:sSubPr>
                                <m:ctrlPr>
                                  <a:rPr lang="en-US" altLang="ja-JP" sz="3200" b="0" i="1" smtClean="0">
                                    <a:latin typeface="Cambria Math" panose="02040503050406030204" pitchFamily="18" charset="0"/>
                                  </a:rPr>
                                </m:ctrlPr>
                              </m:sSubPr>
                              <m:e>
                                <m:acc>
                                  <m:accPr>
                                    <m:chr m:val="̂"/>
                                    <m:ctrlPr>
                                      <a:rPr lang="ja-JP" altLang="en-US" sz="3200" i="1">
                                        <a:latin typeface="Cambria Math" panose="02040503050406030204" pitchFamily="18" charset="0"/>
                                      </a:rPr>
                                    </m:ctrlPr>
                                  </m:accPr>
                                  <m:e>
                                    <m:r>
                                      <a:rPr lang="ja-JP" altLang="en-US" sz="3200" b="0" i="1">
                                        <a:latin typeface="Cambria Math" panose="02040503050406030204" pitchFamily="18" charset="0"/>
                                      </a:rPr>
                                      <m:t>𝛽</m:t>
                                    </m:r>
                                  </m:e>
                                </m:acc>
                              </m:e>
                              <m:sub>
                                <m:r>
                                  <a:rPr lang="en-US" altLang="ja-JP" sz="3200" b="0" i="1" smtClean="0">
                                    <a:latin typeface="Cambria Math" panose="02040503050406030204" pitchFamily="18" charset="0"/>
                                  </a:rPr>
                                  <m:t>𝑗</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𝜆</m:t>
                                </m:r>
                              </m:e>
                            </m:d>
                            <m:r>
                              <a:rPr lang="en-US" altLang="ja-JP" sz="3200" i="1" smtClean="0">
                                <a:latin typeface="Cambria Math" panose="02040503050406030204" pitchFamily="18" charset="0"/>
                              </a:rPr>
                              <m:t>≠</m:t>
                            </m:r>
                            <m:r>
                              <a:rPr lang="en-US" altLang="ja-JP" sz="3200" b="0" i="1" smtClean="0">
                                <a:latin typeface="Cambria Math" panose="02040503050406030204" pitchFamily="18" charset="0"/>
                              </a:rPr>
                              <m:t>0</m:t>
                            </m:r>
                          </m:e>
                        </m:d>
                        <m:r>
                          <a:rPr kumimoji="1" lang="en-US" altLang="ja-JP" sz="3200" b="0" i="1" smtClean="0">
                            <a:latin typeface="Cambria Math" panose="02040503050406030204" pitchFamily="18" charset="0"/>
                          </a:rPr>
                          <m:t>,</m:t>
                        </m:r>
                      </m:e>
                    </m:func>
                    <m:r>
                      <a:rPr kumimoji="1" lang="en-US" altLang="ja-JP" sz="3200" b="0" i="1" smtClean="0">
                        <a:latin typeface="Cambria Math" panose="02040503050406030204" pitchFamily="18" charset="0"/>
                      </a:rPr>
                      <m:t>  </m:t>
                    </m:r>
                    <m:r>
                      <a:rPr lang="en-US" altLang="ja-JP" sz="3200" b="0" i="1" smtClean="0">
                        <a:latin typeface="Cambria Math" panose="02040503050406030204" pitchFamily="18" charset="0"/>
                      </a:rPr>
                      <m:t>𝑗</m:t>
                    </m:r>
                    <m:r>
                      <a:rPr lang="en-US" altLang="ja-JP" sz="3200" i="1">
                        <a:latin typeface="Cambria Math" panose="02040503050406030204" pitchFamily="18" charset="0"/>
                      </a:rPr>
                      <m:t>=</m:t>
                    </m:r>
                    <m:r>
                      <a:rPr lang="en-US" altLang="ja-JP" sz="3200" b="0" i="1" smtClean="0">
                        <a:latin typeface="Cambria Math" panose="02040503050406030204" pitchFamily="18" charset="0"/>
                      </a:rPr>
                      <m:t>𝑝</m:t>
                    </m:r>
                    <m:r>
                      <a:rPr lang="en-US" altLang="ja-JP" sz="3200" b="0" i="1" smtClean="0">
                        <a:latin typeface="Cambria Math" panose="02040503050406030204" pitchFamily="18" charset="0"/>
                      </a:rPr>
                      <m:t>+1,…,2</m:t>
                    </m:r>
                    <m:r>
                      <a:rPr lang="en-US" altLang="ja-JP" sz="3200" i="1">
                        <a:latin typeface="Cambria Math" panose="02040503050406030204" pitchFamily="18" charset="0"/>
                      </a:rPr>
                      <m:t>𝑝</m:t>
                    </m:r>
                  </m:oMath>
                </a14:m>
                <a:endParaRPr kumimoji="1" lang="en-US" altLang="ja-JP" sz="3200" dirty="0">
                  <a:latin typeface="+mn-ea"/>
                  <a:cs typeface="ヒラギノ角ゴ Pro W3"/>
                </a:endParaRPr>
              </a:p>
              <a:p>
                <a:pPr marL="0" indent="0" algn="ctr">
                  <a:buNone/>
                </a:pPr>
                <a:r>
                  <a:rPr lang="en-US" altLang="ja-JP" sz="3200" dirty="0">
                    <a:latin typeface="ヒラギノ角ゴ Pro W3"/>
                    <a:ea typeface="ヒラギノ角ゴ Pro W3"/>
                    <a:cs typeface="ヒラギノ角ゴ Pro W3"/>
                  </a:rPr>
                  <a:t>    </a:t>
                </a:r>
              </a:p>
              <a:p>
                <a:pPr marL="0" indent="0" algn="ctr">
                  <a:buNone/>
                </a:pPr>
                <a:endParaRPr lang="en-US" altLang="ja-JP" sz="800" dirty="0">
                  <a:latin typeface="+mn-ea"/>
                  <a:cs typeface="ヒラギノ角ゴ Pro W3"/>
                </a:endParaRPr>
              </a:p>
              <a:p>
                <a:pPr marL="0" indent="0">
                  <a:buNone/>
                </a:pPr>
                <a:r>
                  <a:rPr kumimoji="1" lang="ja-JP" altLang="en-US" sz="3200" b="0">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 </m:t>
                        </m:r>
                        <m:r>
                          <a:rPr kumimoji="1" lang="en-US" altLang="ja-JP" sz="3200" b="0" i="1" smtClean="0">
                            <a:latin typeface="Cambria Math" panose="02040503050406030204" pitchFamily="18" charset="0"/>
                            <a:cs typeface="ヒラギノ角ゴ Pro W3"/>
                          </a:rPr>
                          <m:t>𝑊</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𝑍</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sSub>
                      <m:sSubPr>
                        <m:ctrlPr>
                          <a:rPr lang="en-US" altLang="ja-JP" sz="3200" i="1">
                            <a:latin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rPr>
                              <m:t>𝑍</m:t>
                            </m:r>
                          </m:e>
                        </m:acc>
                      </m:e>
                      <m:sub>
                        <m:r>
                          <a:rPr lang="en-US" altLang="ja-JP" sz="3200" i="1">
                            <a:latin typeface="Cambria Math" panose="02040503050406030204" pitchFamily="18" charset="0"/>
                          </a:rPr>
                          <m:t>𝑗</m:t>
                        </m:r>
                      </m:sub>
                    </m:sSub>
                    <m:r>
                      <a:rPr lang="en-US" altLang="ja-JP" sz="3200" i="1">
                        <a:latin typeface="Cambria Math" panose="02040503050406030204" pitchFamily="18" charset="0"/>
                      </a:rPr>
                      <m:t>∙</m:t>
                    </m:r>
                    <m:func>
                      <m:funcPr>
                        <m:ctrlPr>
                          <a:rPr lang="en-US" altLang="ja-JP" sz="3200" i="1">
                            <a:latin typeface="Cambria Math" panose="02040503050406030204" pitchFamily="18" charset="0"/>
                          </a:rPr>
                        </m:ctrlPr>
                      </m:funcPr>
                      <m:fName>
                        <m:r>
                          <m:rPr>
                            <m:sty m:val="p"/>
                          </m:rPr>
                          <a:rPr lang="en-US" altLang="ja-JP" sz="3200">
                            <a:latin typeface="Cambria Math" panose="02040503050406030204" pitchFamily="18" charset="0"/>
                          </a:rPr>
                          <m:t>I</m:t>
                        </m:r>
                      </m:fName>
                      <m:e>
                        <m:d>
                          <m:dPr>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𝑍</m:t>
                                </m:r>
                              </m:e>
                              <m:sub>
                                <m:r>
                                  <a:rPr lang="en-US" altLang="ja-JP" sz="3200" i="1">
                                    <a:latin typeface="Cambria Math" panose="02040503050406030204" pitchFamily="18" charset="0"/>
                                  </a:rPr>
                                  <m:t>𝑗</m:t>
                                </m:r>
                              </m:sub>
                            </m:sSub>
                            <m:r>
                              <a:rPr lang="en-US" altLang="ja-JP" sz="3200" i="1">
                                <a:latin typeface="Cambria Math" panose="02040503050406030204" pitchFamily="18" charset="0"/>
                              </a:rPr>
                              <m:t>&gt;</m:t>
                            </m:r>
                            <m:acc>
                              <m:accPr>
                                <m:chr m:val="̃"/>
                                <m:ctrlPr>
                                  <a:rPr lang="en-US" altLang="ja-JP" sz="3200" i="1">
                                    <a:latin typeface="Cambria Math" panose="02040503050406030204" pitchFamily="18" charset="0"/>
                                  </a:rPr>
                                </m:ctrlPr>
                              </m:accPr>
                              <m:e>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𝑍</m:t>
                                    </m:r>
                                  </m:e>
                                  <m:sub>
                                    <m:r>
                                      <a:rPr lang="en-US" altLang="ja-JP" sz="3200" i="1">
                                        <a:latin typeface="Cambria Math" panose="02040503050406030204" pitchFamily="18" charset="0"/>
                                      </a:rPr>
                                      <m:t>𝑗</m:t>
                                    </m:r>
                                  </m:sub>
                                </m:sSub>
                              </m:e>
                            </m:acc>
                          </m:e>
                        </m:d>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=1,…,</m:t>
                        </m:r>
                        <m:r>
                          <a:rPr lang="en-US" altLang="ja-JP" sz="3200" i="1">
                            <a:latin typeface="Cambria Math" panose="02040503050406030204" pitchFamily="18" charset="0"/>
                          </a:rPr>
                          <m:t>𝑝</m:t>
                        </m:r>
                      </m:e>
                    </m:func>
                  </m:oMath>
                </a14:m>
                <a:endParaRPr kumimoji="1" lang="ja-JP" altLang="en-US" sz="3200"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0" y="1142169"/>
                <a:ext cx="11782271" cy="5182848"/>
              </a:xfrm>
              <a:blipFill>
                <a:blip r:embed="rId3"/>
                <a:stretch>
                  <a:fillRect l="-323" t="-2195"/>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7" name="テキスト ボックス 6">
            <a:extLst>
              <a:ext uri="{FF2B5EF4-FFF2-40B4-BE49-F238E27FC236}">
                <a16:creationId xmlns:a16="http://schemas.microsoft.com/office/drawing/2014/main" id="{6CAF6D0E-F572-C14F-9CBE-82D3459071A1}"/>
              </a:ext>
            </a:extLst>
          </p:cNvPr>
          <p:cNvSpPr txBox="1"/>
          <p:nvPr/>
        </p:nvSpPr>
        <p:spPr>
          <a:xfrm>
            <a:off x="11319645" y="6334780"/>
            <a:ext cx="925253" cy="523220"/>
          </a:xfrm>
          <a:prstGeom prst="rect">
            <a:avLst/>
          </a:prstGeom>
          <a:noFill/>
        </p:spPr>
        <p:txBody>
          <a:bodyPr wrap="none" rtlCol="0">
            <a:spAutoFit/>
          </a:bodyPr>
          <a:lstStyle/>
          <a:p>
            <a:r>
              <a:rPr kumimoji="1" lang="en-US" altLang="ja-JP" sz="2800" dirty="0">
                <a:latin typeface="+mj-ea"/>
                <a:ea typeface="+mj-ea"/>
              </a:rPr>
              <a:t>2/23</a:t>
            </a:r>
            <a:endParaRPr kumimoji="1" lang="ja-JP" altLang="en-US" sz="2800">
              <a:latin typeface="+mj-ea"/>
              <a:ea typeface="+mj-ea"/>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F7A2EE6-0027-EDFA-D4DB-08C89651294A}"/>
                  </a:ext>
                </a:extLst>
              </p:cNvPr>
              <p:cNvSpPr txBox="1"/>
              <p:nvPr/>
            </p:nvSpPr>
            <p:spPr>
              <a:xfrm>
                <a:off x="5961282" y="156617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8" name="テキスト ボックス 7">
                <a:extLst>
                  <a:ext uri="{FF2B5EF4-FFF2-40B4-BE49-F238E27FC236}">
                    <a16:creationId xmlns:a16="http://schemas.microsoft.com/office/drawing/2014/main" id="{CF7A2EE6-0027-EDFA-D4DB-08C89651294A}"/>
                  </a:ext>
                </a:extLst>
              </p:cNvPr>
              <p:cNvSpPr txBox="1">
                <a:spLocks noRot="1" noChangeAspect="1" noMove="1" noResize="1" noEditPoints="1" noAdjustHandles="1" noChangeArrowheads="1" noChangeShapeType="1" noTextEdit="1"/>
              </p:cNvSpPr>
              <p:nvPr/>
            </p:nvSpPr>
            <p:spPr>
              <a:xfrm>
                <a:off x="5961282" y="1566175"/>
                <a:ext cx="1775743" cy="523220"/>
              </a:xfrm>
              <a:prstGeom prst="rect">
                <a:avLst/>
              </a:prstGeom>
              <a:blipFill>
                <a:blip r:embed="rId4"/>
                <a:stretch>
                  <a:fillRect t="-11905" r="-5674" b="-33333"/>
                </a:stretch>
              </a:blipFill>
            </p:spPr>
            <p:txBody>
              <a:bodyPr/>
              <a:lstStyle/>
              <a:p>
                <a:r>
                  <a:rPr lang="ja-JP" altLang="en-US">
                    <a:noFill/>
                  </a:rPr>
                  <a:t> </a:t>
                </a:r>
              </a:p>
            </p:txBody>
          </p:sp>
        </mc:Fallback>
      </mc:AlternateContent>
      <p:sp>
        <p:nvSpPr>
          <p:cNvPr id="9" name="下矢印 8">
            <a:extLst>
              <a:ext uri="{FF2B5EF4-FFF2-40B4-BE49-F238E27FC236}">
                <a16:creationId xmlns:a16="http://schemas.microsoft.com/office/drawing/2014/main" id="{93F860B9-87CE-E406-B577-CF20AD125A32}"/>
              </a:ext>
            </a:extLst>
          </p:cNvPr>
          <p:cNvSpPr/>
          <p:nvPr/>
        </p:nvSpPr>
        <p:spPr>
          <a:xfrm>
            <a:off x="5546750" y="2846852"/>
            <a:ext cx="688769" cy="516196"/>
          </a:xfrm>
          <a:prstGeom prst="downArrow">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1" name="下矢印 10">
            <a:extLst>
              <a:ext uri="{FF2B5EF4-FFF2-40B4-BE49-F238E27FC236}">
                <a16:creationId xmlns:a16="http://schemas.microsoft.com/office/drawing/2014/main" id="{C0B0FD82-F53A-6959-9C76-4D9F0D4274EF}"/>
              </a:ext>
            </a:extLst>
          </p:cNvPr>
          <p:cNvSpPr/>
          <p:nvPr/>
        </p:nvSpPr>
        <p:spPr>
          <a:xfrm>
            <a:off x="5573135" y="4779329"/>
            <a:ext cx="688769" cy="523220"/>
          </a:xfrm>
          <a:prstGeom prst="downArrow">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4" name="テキスト ボックス 13">
            <a:extLst>
              <a:ext uri="{FF2B5EF4-FFF2-40B4-BE49-F238E27FC236}">
                <a16:creationId xmlns:a16="http://schemas.microsoft.com/office/drawing/2014/main" id="{C72EF522-F685-33A9-62EA-1095FC425FA7}"/>
              </a:ext>
            </a:extLst>
          </p:cNvPr>
          <p:cNvSpPr txBox="1"/>
          <p:nvPr/>
        </p:nvSpPr>
        <p:spPr>
          <a:xfrm>
            <a:off x="7418086" y="4921472"/>
            <a:ext cx="3833293" cy="954107"/>
          </a:xfrm>
          <a:prstGeom prst="rect">
            <a:avLst/>
          </a:prstGeom>
          <a:noFill/>
          <a:ln w="25400">
            <a:noFill/>
          </a:ln>
        </p:spPr>
        <p:txBody>
          <a:bodyPr wrap="square" rtlCol="0">
            <a:spAutoFit/>
          </a:bodyPr>
          <a:lstStyle/>
          <a:p>
            <a:r>
              <a:rPr kumimoji="1" lang="ja-JP" altLang="en-US" sz="2800"/>
              <a:t>正則化パラメータ値を</a:t>
            </a:r>
            <a:endParaRPr kumimoji="1" lang="en-US" altLang="ja-JP" sz="2800" dirty="0"/>
          </a:p>
          <a:p>
            <a:r>
              <a:rPr kumimoji="1" lang="ja-JP" altLang="en-US" sz="2800"/>
              <a:t>添字番号ごとに比較</a:t>
            </a:r>
          </a:p>
        </p:txBody>
      </p:sp>
      <p:sp>
        <p:nvSpPr>
          <p:cNvPr id="15" name="角丸四角形吹き出し 14">
            <a:extLst>
              <a:ext uri="{FF2B5EF4-FFF2-40B4-BE49-F238E27FC236}">
                <a16:creationId xmlns:a16="http://schemas.microsoft.com/office/drawing/2014/main" id="{0EDDEE97-167D-09D9-0449-8369524A81AB}"/>
              </a:ext>
            </a:extLst>
          </p:cNvPr>
          <p:cNvSpPr/>
          <p:nvPr/>
        </p:nvSpPr>
        <p:spPr>
          <a:xfrm>
            <a:off x="7368635" y="4944207"/>
            <a:ext cx="3882744" cy="908638"/>
          </a:xfrm>
          <a:prstGeom prst="wedgeRoundRectCallout">
            <a:avLst>
              <a:gd name="adj1" fmla="val -58177"/>
              <a:gd name="adj2" fmla="val 33246"/>
              <a:gd name="adj3" fmla="val 16667"/>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A8E32554-B39A-C6A7-CEB9-B9ECFFB9C28B}"/>
                  </a:ext>
                </a:extLst>
              </p:cNvPr>
              <p:cNvSpPr txBox="1"/>
              <p:nvPr/>
            </p:nvSpPr>
            <p:spPr>
              <a:xfrm>
                <a:off x="67293" y="2858585"/>
                <a:ext cx="12124707" cy="3932680"/>
              </a:xfrm>
              <a:prstGeom prst="rect">
                <a:avLst/>
              </a:prstGeom>
              <a:solidFill>
                <a:schemeClr val="bg1"/>
              </a:solidFill>
              <a:ln w="25400">
                <a:solidFill>
                  <a:srgbClr val="7030A0"/>
                </a:solidFill>
              </a:ln>
            </p:spPr>
            <p:txBody>
              <a:bodyPr wrap="square" rtlCol="0">
                <a:spAutoFit/>
              </a:bodyPr>
              <a:lstStyle/>
              <a:p>
                <a:r>
                  <a:rPr lang="ja-JP" altLang="en-US" sz="3200">
                    <a:solidFill>
                      <a:schemeClr val="tx1"/>
                    </a:solidFill>
                  </a:rPr>
                  <a:t>・</a:t>
                </a:r>
                <a:r>
                  <a:rPr lang="en-US" altLang="ja-JP" sz="3200" b="1" dirty="0">
                    <a:solidFill>
                      <a:schemeClr val="tx1"/>
                    </a:solidFill>
                  </a:rPr>
                  <a:t> </a:t>
                </a:r>
                <a14:m>
                  <m:oMath xmlns:m="http://schemas.openxmlformats.org/officeDocument/2006/math">
                    <m:r>
                      <a:rPr lang="en-US" altLang="ja-JP" sz="3200" b="1" i="1" smtClean="0">
                        <a:solidFill>
                          <a:schemeClr val="tx1"/>
                        </a:solidFill>
                        <a:latin typeface="Cambria Math" panose="02040503050406030204" pitchFamily="18" charset="0"/>
                      </a:rPr>
                      <m:t>𝑿</m:t>
                    </m:r>
                  </m:oMath>
                </a14:m>
                <a:r>
                  <a:rPr kumimoji="1" lang="ja-JP" altLang="en-US" sz="3200">
                    <a:solidFill>
                      <a:schemeClr val="tx1"/>
                    </a:solidFill>
                  </a:rPr>
                  <a:t>が</a:t>
                </a:r>
                <a14:m>
                  <m:oMath xmlns:m="http://schemas.openxmlformats.org/officeDocument/2006/math">
                    <m:r>
                      <a:rPr kumimoji="1" lang="en-US" altLang="ja-JP" sz="3200" b="0" i="1" smtClean="0">
                        <a:solidFill>
                          <a:schemeClr val="tx1"/>
                        </a:solidFill>
                        <a:latin typeface="Cambria Math" panose="02040503050406030204" pitchFamily="18" charset="0"/>
                      </a:rPr>
                      <m:t>𝑦</m:t>
                    </m:r>
                  </m:oMath>
                </a14:m>
                <a:r>
                  <a:rPr kumimoji="1" lang="ja-JP" altLang="en-US" sz="3200">
                    <a:solidFill>
                      <a:schemeClr val="tx1"/>
                    </a:solidFill>
                  </a:rPr>
                  <a:t>に寄与する</a:t>
                </a:r>
                <a:r>
                  <a:rPr kumimoji="1" lang="en-US" altLang="ja-JP" sz="3200" dirty="0">
                    <a:solidFill>
                      <a:schemeClr val="tx1"/>
                    </a:solidFill>
                  </a:rPr>
                  <a:t>(</a:t>
                </a:r>
                <a14:m>
                  <m:oMath xmlns:m="http://schemas.openxmlformats.org/officeDocument/2006/math">
                    <m:sSub>
                      <m:sSubPr>
                        <m:ctrlPr>
                          <a:rPr lang="en-US" altLang="ja-JP" sz="3200" i="1">
                            <a:solidFill>
                              <a:schemeClr val="tx1"/>
                            </a:solidFill>
                            <a:latin typeface="Cambria Math" panose="02040503050406030204" pitchFamily="18" charset="0"/>
                          </a:rPr>
                        </m:ctrlPr>
                      </m:sSubPr>
                      <m:e>
                        <m:r>
                          <a:rPr lang="en-US" altLang="ja-JP" sz="3200" i="1">
                            <a:solidFill>
                              <a:schemeClr val="tx1"/>
                            </a:solidFill>
                            <a:latin typeface="Cambria Math" panose="02040503050406030204" pitchFamily="18" charset="0"/>
                          </a:rPr>
                          <m:t>𝛽</m:t>
                        </m:r>
                      </m:e>
                      <m:sub>
                        <m:r>
                          <a:rPr lang="en-US" altLang="ja-JP" sz="3200" i="1">
                            <a:solidFill>
                              <a:schemeClr val="tx1"/>
                            </a:solidFill>
                            <a:latin typeface="Cambria Math" panose="02040503050406030204" pitchFamily="18" charset="0"/>
                          </a:rPr>
                          <m:t>𝑗</m:t>
                        </m:r>
                      </m:sub>
                    </m:sSub>
                    <m:r>
                      <a:rPr lang="en-US" altLang="ja-JP" sz="3200" i="1">
                        <a:latin typeface="Cambria Math" panose="02040503050406030204" pitchFamily="18" charset="0"/>
                        <a:ea typeface="Cambria Math" panose="02040503050406030204" pitchFamily="18" charset="0"/>
                      </a:rPr>
                      <m:t>≠</m:t>
                    </m:r>
                    <m:r>
                      <a:rPr lang="en-US" altLang="ja-JP" sz="3200" i="1" smtClean="0">
                        <a:solidFill>
                          <a:schemeClr val="tx1"/>
                        </a:solidFill>
                        <a:latin typeface="Cambria Math" panose="02040503050406030204" pitchFamily="18" charset="0"/>
                      </a:rPr>
                      <m:t>0</m:t>
                    </m:r>
                  </m:oMath>
                </a14:m>
                <a:r>
                  <a:rPr kumimoji="1" lang="en-US" altLang="ja-JP" sz="3200" dirty="0">
                    <a:solidFill>
                      <a:schemeClr val="tx1"/>
                    </a:solidFill>
                  </a:rPr>
                  <a:t>)</a:t>
                </a:r>
              </a:p>
              <a:p>
                <a:r>
                  <a:rPr lang="ja-JP" altLang="en-US" sz="3200">
                    <a:solidFill>
                      <a:schemeClr val="tx1"/>
                    </a:solidFill>
                  </a:rPr>
                  <a:t>　→</a:t>
                </a:r>
                <a:r>
                  <a:rPr lang="en-US" altLang="ja-JP" sz="3200" b="1" dirty="0">
                    <a:solidFill>
                      <a:schemeClr val="tx1"/>
                    </a:solidFill>
                  </a:rPr>
                  <a:t> </a:t>
                </a:r>
                <a14:m>
                  <m:oMath xmlns:m="http://schemas.openxmlformats.org/officeDocument/2006/math">
                    <m:r>
                      <a:rPr lang="en-US" altLang="ja-JP" sz="3200" b="1" i="1" smtClean="0">
                        <a:solidFill>
                          <a:schemeClr val="tx1"/>
                        </a:solidFill>
                        <a:latin typeface="Cambria Math" panose="02040503050406030204" pitchFamily="18" charset="0"/>
                      </a:rPr>
                      <m:t>𝑿</m:t>
                    </m:r>
                  </m:oMath>
                </a14:m>
                <a:r>
                  <a:rPr lang="ja-JP" altLang="en-US" sz="3200">
                    <a:solidFill>
                      <a:schemeClr val="tx1"/>
                    </a:solidFill>
                  </a:rPr>
                  <a:t>の正則化パラメータ</a:t>
                </a:r>
                <a14:m>
                  <m:oMath xmlns:m="http://schemas.openxmlformats.org/officeDocument/2006/math">
                    <m:r>
                      <a:rPr lang="en-US" altLang="ja-JP" sz="3200" b="0" i="1" smtClean="0">
                        <a:solidFill>
                          <a:schemeClr val="tx1"/>
                        </a:solidFill>
                        <a:latin typeface="Cambria Math" panose="02040503050406030204" pitchFamily="18" charset="0"/>
                      </a:rPr>
                      <m:t>&gt;</m:t>
                    </m:r>
                    <m:acc>
                      <m:accPr>
                        <m:chr m:val="̃"/>
                        <m:ctrlPr>
                          <a:rPr lang="ja-JP" altLang="en-US" sz="3200" b="1" i="1">
                            <a:solidFill>
                              <a:schemeClr val="tx1"/>
                            </a:solidFill>
                            <a:latin typeface="Cambria Math" panose="02040503050406030204" pitchFamily="18" charset="0"/>
                          </a:rPr>
                        </m:ctrlPr>
                      </m:accPr>
                      <m:e>
                        <m:r>
                          <a:rPr lang="en-US" altLang="ja-JP" sz="3200" b="1" i="1">
                            <a:solidFill>
                              <a:schemeClr val="tx1"/>
                            </a:solidFill>
                            <a:latin typeface="Cambria Math" panose="02040503050406030204" pitchFamily="18" charset="0"/>
                          </a:rPr>
                          <m:t>𝑿</m:t>
                        </m:r>
                      </m:e>
                    </m:acc>
                    <m:r>
                      <m:rPr>
                        <m:nor/>
                      </m:rPr>
                      <a:rPr lang="ja-JP" altLang="en-US" sz="3200">
                        <a:solidFill>
                          <a:schemeClr val="tx1"/>
                        </a:solidFill>
                      </a:rPr>
                      <m:t>の</m:t>
                    </m:r>
                    <m:r>
                      <m:rPr>
                        <m:nor/>
                      </m:rPr>
                      <a:rPr lang="ja-JP" altLang="en-US" sz="3200">
                        <a:solidFill>
                          <a:schemeClr val="tx1"/>
                        </a:solidFill>
                      </a:rPr>
                      <m:t>正則化</m:t>
                    </m:r>
                    <m:r>
                      <m:rPr>
                        <m:nor/>
                      </m:rPr>
                      <a:rPr lang="ja-JP" altLang="en-US" sz="3200" smtClean="0">
                        <a:solidFill>
                          <a:schemeClr val="tx1"/>
                        </a:solidFill>
                      </a:rPr>
                      <m:t>パラメータ</m:t>
                    </m:r>
                  </m:oMath>
                </a14:m>
                <a:endParaRPr kumimoji="1" lang="en-US" altLang="ja-JP" sz="3200" dirty="0">
                  <a:solidFill>
                    <a:schemeClr val="tx1"/>
                  </a:solidFill>
                </a:endParaRPr>
              </a:p>
              <a:p>
                <a:endParaRPr kumimoji="1" lang="en-US" altLang="ja-JP" sz="800" dirty="0">
                  <a:solidFill>
                    <a:schemeClr val="tx1"/>
                  </a:solidFill>
                  <a:latin typeface="+mn-ea"/>
                </a:endParaRPr>
              </a:p>
              <a:p>
                <a:r>
                  <a:rPr lang="ja-JP" altLang="en-US" sz="3200">
                    <a:solidFill>
                      <a:schemeClr val="tx1"/>
                    </a:solidFill>
                  </a:rPr>
                  <a:t>・</a:t>
                </a:r>
                <a:r>
                  <a:rPr lang="en-US" altLang="ja-JP" sz="3200" b="1" dirty="0">
                    <a:solidFill>
                      <a:schemeClr val="tx1"/>
                    </a:solidFill>
                  </a:rPr>
                  <a:t> </a:t>
                </a:r>
                <a14:m>
                  <m:oMath xmlns:m="http://schemas.openxmlformats.org/officeDocument/2006/math">
                    <m:r>
                      <a:rPr lang="en-US" altLang="ja-JP" sz="3200" b="1" i="1" smtClean="0">
                        <a:solidFill>
                          <a:schemeClr val="tx1"/>
                        </a:solidFill>
                        <a:latin typeface="Cambria Math" panose="02040503050406030204" pitchFamily="18" charset="0"/>
                      </a:rPr>
                      <m:t>𝑿</m:t>
                    </m:r>
                  </m:oMath>
                </a14:m>
                <a:r>
                  <a:rPr lang="ja-JP" altLang="en-US" sz="3200">
                    <a:solidFill>
                      <a:schemeClr val="tx1"/>
                    </a:solidFill>
                  </a:rPr>
                  <a:t>が</a:t>
                </a:r>
                <a14:m>
                  <m:oMath xmlns:m="http://schemas.openxmlformats.org/officeDocument/2006/math">
                    <m:r>
                      <a:rPr lang="en-US" altLang="ja-JP" sz="3200" b="0" i="1" smtClean="0">
                        <a:solidFill>
                          <a:schemeClr val="tx1"/>
                        </a:solidFill>
                        <a:latin typeface="Cambria Math" panose="02040503050406030204" pitchFamily="18" charset="0"/>
                      </a:rPr>
                      <m:t>𝑦</m:t>
                    </m:r>
                  </m:oMath>
                </a14:m>
                <a:r>
                  <a:rPr kumimoji="1" lang="ja-JP" altLang="en-US" sz="3200">
                    <a:solidFill>
                      <a:schemeClr val="tx1"/>
                    </a:solidFill>
                  </a:rPr>
                  <a:t>に寄与しない</a:t>
                </a:r>
                <a:r>
                  <a:rPr kumimoji="1" lang="en-US" altLang="ja-JP" sz="3200" dirty="0"/>
                  <a:t>(</a:t>
                </a:r>
                <a14:m>
                  <m:oMath xmlns:m="http://schemas.openxmlformats.org/officeDocument/2006/math">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𝛽</m:t>
                        </m:r>
                      </m:e>
                      <m:sub>
                        <m:r>
                          <a:rPr lang="en-US" altLang="ja-JP" sz="3200" i="1">
                            <a:latin typeface="Cambria Math" panose="02040503050406030204" pitchFamily="18" charset="0"/>
                          </a:rPr>
                          <m:t>𝑗</m:t>
                        </m:r>
                      </m:sub>
                    </m:sSub>
                    <m:r>
                      <a:rPr lang="en-US" altLang="ja-JP" sz="3200" i="1">
                        <a:latin typeface="Cambria Math" panose="02040503050406030204" pitchFamily="18" charset="0"/>
                      </a:rPr>
                      <m:t>=0</m:t>
                    </m:r>
                  </m:oMath>
                </a14:m>
                <a:r>
                  <a:rPr kumimoji="1" lang="en-US" altLang="ja-JP" sz="3200" dirty="0"/>
                  <a:t>)</a:t>
                </a:r>
                <a:endParaRPr kumimoji="1" lang="en-US" altLang="ja-JP" sz="3200" dirty="0">
                  <a:solidFill>
                    <a:schemeClr val="tx1"/>
                  </a:solidFill>
                </a:endParaRPr>
              </a:p>
              <a:p>
                <a:r>
                  <a:rPr kumimoji="1" lang="ja-JP" altLang="en-US" sz="3200">
                    <a:solidFill>
                      <a:schemeClr val="tx1"/>
                    </a:solidFill>
                    <a:latin typeface="+mn-ea"/>
                  </a:rPr>
                  <a:t>　</a:t>
                </a:r>
                <a:r>
                  <a:rPr lang="ja-JP" altLang="en-US" sz="3200">
                    <a:solidFill>
                      <a:schemeClr val="tx1"/>
                    </a:solidFill>
                  </a:rPr>
                  <a:t>→</a:t>
                </a:r>
                <a:r>
                  <a:rPr lang="en-US" altLang="ja-JP" sz="3200" b="1" dirty="0">
                    <a:solidFill>
                      <a:schemeClr val="tx1"/>
                    </a:solidFill>
                  </a:rPr>
                  <a:t> </a:t>
                </a:r>
                <a14:m>
                  <m:oMath xmlns:m="http://schemas.openxmlformats.org/officeDocument/2006/math">
                    <m:r>
                      <a:rPr lang="en-US" altLang="ja-JP" sz="3200" b="1" i="1" smtClean="0">
                        <a:solidFill>
                          <a:schemeClr val="tx1"/>
                        </a:solidFill>
                        <a:latin typeface="Cambria Math" panose="02040503050406030204" pitchFamily="18" charset="0"/>
                      </a:rPr>
                      <m:t>𝑿</m:t>
                    </m:r>
                  </m:oMath>
                </a14:m>
                <a:r>
                  <a:rPr lang="ja-JP" altLang="en-US" sz="3200">
                    <a:solidFill>
                      <a:schemeClr val="tx1"/>
                    </a:solidFill>
                  </a:rPr>
                  <a:t>の正則化パラメータ</a:t>
                </a:r>
                <a14:m>
                  <m:oMath xmlns:m="http://schemas.openxmlformats.org/officeDocument/2006/math">
                    <m:r>
                      <a:rPr lang="en-US" altLang="ja-JP" sz="3200" b="0" i="1" smtClean="0">
                        <a:solidFill>
                          <a:schemeClr val="tx1"/>
                        </a:solidFill>
                        <a:latin typeface="Cambria Math" panose="02040503050406030204" pitchFamily="18" charset="0"/>
                      </a:rPr>
                      <m:t>&gt;</m:t>
                    </m:r>
                    <m:acc>
                      <m:accPr>
                        <m:chr m:val="̃"/>
                        <m:ctrlPr>
                          <a:rPr lang="ja-JP" altLang="en-US" sz="3200" b="1" i="1">
                            <a:solidFill>
                              <a:schemeClr val="tx1"/>
                            </a:solidFill>
                            <a:latin typeface="Cambria Math" panose="02040503050406030204" pitchFamily="18" charset="0"/>
                          </a:rPr>
                        </m:ctrlPr>
                      </m:accPr>
                      <m:e>
                        <m:r>
                          <a:rPr lang="en-US" altLang="ja-JP" sz="3200" b="1" i="1">
                            <a:solidFill>
                              <a:schemeClr val="tx1"/>
                            </a:solidFill>
                            <a:latin typeface="Cambria Math" panose="02040503050406030204" pitchFamily="18" charset="0"/>
                          </a:rPr>
                          <m:t>𝑿</m:t>
                        </m:r>
                      </m:e>
                    </m:acc>
                    <m:r>
                      <m:rPr>
                        <m:nor/>
                      </m:rPr>
                      <a:rPr lang="ja-JP" altLang="en-US" sz="3200">
                        <a:solidFill>
                          <a:schemeClr val="tx1"/>
                        </a:solidFill>
                      </a:rPr>
                      <m:t>の</m:t>
                    </m:r>
                    <m:r>
                      <m:rPr>
                        <m:nor/>
                      </m:rPr>
                      <a:rPr lang="ja-JP" altLang="en-US" sz="3200">
                        <a:solidFill>
                          <a:schemeClr val="tx1"/>
                        </a:solidFill>
                      </a:rPr>
                      <m:t>正則化</m:t>
                    </m:r>
                    <m:r>
                      <m:rPr>
                        <m:nor/>
                      </m:rPr>
                      <a:rPr lang="ja-JP" altLang="en-US" sz="3200">
                        <a:solidFill>
                          <a:schemeClr val="tx1"/>
                        </a:solidFill>
                      </a:rPr>
                      <m:t>パラメータ</m:t>
                    </m:r>
                  </m:oMath>
                </a14:m>
                <a:endParaRPr kumimoji="1" lang="en-US" altLang="ja-JP" sz="3200" dirty="0">
                  <a:solidFill>
                    <a:schemeClr val="tx1"/>
                  </a:solidFill>
                  <a:latin typeface="+mn-ea"/>
                </a:endParaRPr>
              </a:p>
              <a:p>
                <a:r>
                  <a:rPr kumimoji="1" lang="en-US" altLang="ja-JP" sz="3200" dirty="0">
                    <a:solidFill>
                      <a:schemeClr val="tx1"/>
                    </a:solidFill>
                    <a:latin typeface="+mn-ea"/>
                  </a:rPr>
                  <a:t>                                     </a:t>
                </a:r>
                <a:r>
                  <a:rPr kumimoji="1" lang="ja-JP" altLang="en-US" sz="3200">
                    <a:solidFill>
                      <a:schemeClr val="tx1"/>
                    </a:solidFill>
                    <a:latin typeface="+mn-ea"/>
                  </a:rPr>
                  <a:t>または</a:t>
                </a:r>
                <a:endParaRPr kumimoji="1" lang="en-US" altLang="ja-JP" sz="3200" dirty="0">
                  <a:solidFill>
                    <a:schemeClr val="tx1"/>
                  </a:solidFill>
                  <a:latin typeface="+mn-ea"/>
                </a:endParaRPr>
              </a:p>
              <a:p>
                <a:r>
                  <a:rPr lang="ja-JP" altLang="en-US" sz="3200">
                    <a:solidFill>
                      <a:schemeClr val="tx1"/>
                    </a:solidFill>
                  </a:rPr>
                  <a:t>　　</a:t>
                </a:r>
                <a:r>
                  <a:rPr lang="en-US" altLang="ja-JP" sz="3200" b="1" dirty="0">
                    <a:solidFill>
                      <a:schemeClr val="tx1"/>
                    </a:solidFill>
                  </a:rPr>
                  <a:t> </a:t>
                </a:r>
                <a14:m>
                  <m:oMath xmlns:m="http://schemas.openxmlformats.org/officeDocument/2006/math">
                    <m:r>
                      <a:rPr lang="en-US" altLang="ja-JP" sz="3200" b="1" i="1" smtClean="0">
                        <a:solidFill>
                          <a:schemeClr val="tx1"/>
                        </a:solidFill>
                        <a:latin typeface="Cambria Math" panose="02040503050406030204" pitchFamily="18" charset="0"/>
                      </a:rPr>
                      <m:t>𝑿</m:t>
                    </m:r>
                  </m:oMath>
                </a14:m>
                <a:r>
                  <a:rPr lang="ja-JP" altLang="en-US" sz="3200">
                    <a:solidFill>
                      <a:schemeClr val="tx1"/>
                    </a:solidFill>
                  </a:rPr>
                  <a:t>の正則化パラメータ</a:t>
                </a:r>
                <a14:m>
                  <m:oMath xmlns:m="http://schemas.openxmlformats.org/officeDocument/2006/math">
                    <m:r>
                      <a:rPr lang="en-US" altLang="ja-JP" sz="3200" i="1">
                        <a:solidFill>
                          <a:schemeClr val="tx1"/>
                        </a:solidFill>
                        <a:latin typeface="Cambria Math" panose="02040503050406030204" pitchFamily="18" charset="0"/>
                      </a:rPr>
                      <m:t>&lt;</m:t>
                    </m:r>
                    <m:acc>
                      <m:accPr>
                        <m:chr m:val="̃"/>
                        <m:ctrlPr>
                          <a:rPr lang="ja-JP" altLang="en-US" sz="3200" b="1" i="1">
                            <a:solidFill>
                              <a:schemeClr val="tx1"/>
                            </a:solidFill>
                            <a:latin typeface="Cambria Math" panose="02040503050406030204" pitchFamily="18" charset="0"/>
                          </a:rPr>
                        </m:ctrlPr>
                      </m:accPr>
                      <m:e>
                        <m:r>
                          <a:rPr lang="en-US" altLang="ja-JP" sz="3200" b="1" i="1">
                            <a:solidFill>
                              <a:schemeClr val="tx1"/>
                            </a:solidFill>
                            <a:latin typeface="Cambria Math" panose="02040503050406030204" pitchFamily="18" charset="0"/>
                          </a:rPr>
                          <m:t>𝑿</m:t>
                        </m:r>
                      </m:e>
                    </m:acc>
                    <m:r>
                      <m:rPr>
                        <m:nor/>
                      </m:rPr>
                      <a:rPr lang="ja-JP" altLang="en-US" sz="3200">
                        <a:solidFill>
                          <a:schemeClr val="tx1"/>
                        </a:solidFill>
                      </a:rPr>
                      <m:t>の</m:t>
                    </m:r>
                    <m:r>
                      <m:rPr>
                        <m:nor/>
                      </m:rPr>
                      <a:rPr lang="ja-JP" altLang="en-US" sz="3200">
                        <a:solidFill>
                          <a:schemeClr val="tx1"/>
                        </a:solidFill>
                      </a:rPr>
                      <m:t>正則化</m:t>
                    </m:r>
                    <m:r>
                      <m:rPr>
                        <m:nor/>
                      </m:rPr>
                      <a:rPr lang="ja-JP" altLang="en-US" sz="3200">
                        <a:solidFill>
                          <a:schemeClr val="tx1"/>
                        </a:solidFill>
                      </a:rPr>
                      <m:t>パラメータ</m:t>
                    </m:r>
                  </m:oMath>
                </a14:m>
                <a:endParaRPr kumimoji="1" lang="en-US" altLang="ja-JP" sz="3200" dirty="0">
                  <a:solidFill>
                    <a:schemeClr val="tx1"/>
                  </a:solidFill>
                </a:endParaRPr>
              </a:p>
              <a:p>
                <a:r>
                  <a:rPr kumimoji="1" lang="ja-JP" altLang="en-US" sz="900">
                    <a:solidFill>
                      <a:schemeClr val="tx1"/>
                    </a:solidFill>
                    <a:latin typeface="+mn-ea"/>
                  </a:rPr>
                  <a:t>　　</a:t>
                </a:r>
                <a:endParaRPr kumimoji="1" lang="en-US" altLang="ja-JP" sz="900" dirty="0">
                  <a:solidFill>
                    <a:schemeClr val="tx1"/>
                  </a:solidFill>
                  <a:latin typeface="+mn-ea"/>
                </a:endParaRPr>
              </a:p>
              <a:p>
                <a:r>
                  <a:rPr kumimoji="1" lang="en-US" altLang="ja-JP" sz="3200" dirty="0">
                    <a:solidFill>
                      <a:schemeClr val="tx1"/>
                    </a:solidFill>
                    <a:latin typeface="+mn-ea"/>
                  </a:rPr>
                  <a:t>       </a:t>
                </a:r>
                <a:r>
                  <a:rPr kumimoji="1" lang="ja-JP" altLang="en-US" sz="3200">
                    <a:solidFill>
                      <a:schemeClr val="tx1"/>
                    </a:solidFill>
                    <a:latin typeface="+mn-ea"/>
                  </a:rPr>
                  <a:t>が</a:t>
                </a:r>
                <a:r>
                  <a:rPr kumimoji="1" lang="ja-JP" altLang="en-US" sz="3200" u="sng">
                    <a:solidFill>
                      <a:schemeClr val="tx1"/>
                    </a:solidFill>
                    <a:latin typeface="+mn-ea"/>
                  </a:rPr>
                  <a:t>等確率</a:t>
                </a:r>
                <a:r>
                  <a:rPr kumimoji="1" lang="ja-JP" altLang="en-US" sz="3200">
                    <a:solidFill>
                      <a:schemeClr val="tx1"/>
                    </a:solidFill>
                    <a:latin typeface="+mn-ea"/>
                  </a:rPr>
                  <a:t>で起こる</a:t>
                </a:r>
                <a:endParaRPr kumimoji="1" lang="en-US" altLang="ja-JP" sz="3200" dirty="0">
                  <a:solidFill>
                    <a:schemeClr val="tx1"/>
                  </a:solidFill>
                  <a:latin typeface="+mn-ea"/>
                </a:endParaRPr>
              </a:p>
            </p:txBody>
          </p:sp>
        </mc:Choice>
        <mc:Fallback xmlns="">
          <p:sp>
            <p:nvSpPr>
              <p:cNvPr id="2" name="テキスト ボックス 1">
                <a:extLst>
                  <a:ext uri="{FF2B5EF4-FFF2-40B4-BE49-F238E27FC236}">
                    <a16:creationId xmlns:a16="http://schemas.microsoft.com/office/drawing/2014/main" id="{A8E32554-B39A-C6A7-CEB9-B9ECFFB9C28B}"/>
                  </a:ext>
                </a:extLst>
              </p:cNvPr>
              <p:cNvSpPr txBox="1">
                <a:spLocks noRot="1" noChangeAspect="1" noMove="1" noResize="1" noEditPoints="1" noAdjustHandles="1" noChangeArrowheads="1" noChangeShapeType="1" noTextEdit="1"/>
              </p:cNvSpPr>
              <p:nvPr/>
            </p:nvSpPr>
            <p:spPr>
              <a:xfrm>
                <a:off x="67293" y="2858585"/>
                <a:ext cx="12124707" cy="3932680"/>
              </a:xfrm>
              <a:prstGeom prst="rect">
                <a:avLst/>
              </a:prstGeom>
              <a:blipFill>
                <a:blip r:embed="rId5"/>
                <a:stretch>
                  <a:fillRect l="-1149" t="-1923" b="-3205"/>
                </a:stretch>
              </a:blipFill>
              <a:ln w="25400">
                <a:solidFill>
                  <a:srgbClr val="7030A0"/>
                </a:solidFill>
              </a:ln>
            </p:spPr>
            <p:txBody>
              <a:bodyPr/>
              <a:lstStyle/>
              <a:p>
                <a:r>
                  <a:rPr lang="ja-JP" altLang="en-US">
                    <a:noFill/>
                  </a:rPr>
                  <a:t> </a:t>
                </a:r>
              </a:p>
            </p:txBody>
          </p:sp>
        </mc:Fallback>
      </mc:AlternateContent>
      <p:sp>
        <p:nvSpPr>
          <p:cNvPr id="10" name="正方形/長方形 9">
            <a:extLst>
              <a:ext uri="{FF2B5EF4-FFF2-40B4-BE49-F238E27FC236}">
                <a16:creationId xmlns:a16="http://schemas.microsoft.com/office/drawing/2014/main" id="{3E986F54-4FB9-5319-C488-2332FF60DB07}"/>
              </a:ext>
            </a:extLst>
          </p:cNvPr>
          <p:cNvSpPr/>
          <p:nvPr/>
        </p:nvSpPr>
        <p:spPr>
          <a:xfrm>
            <a:off x="6368527" y="2000922"/>
            <a:ext cx="1000108" cy="6230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74075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0" y="1142169"/>
                <a:ext cx="11782271" cy="5182848"/>
              </a:xfrm>
            </p:spPr>
            <p:txBody>
              <a:bodyPr>
                <a:noAutofit/>
              </a:bodyPr>
              <a:lstStyle/>
              <a:p>
                <a:pPr marL="0" indent="0">
                  <a:buNone/>
                </a:pPr>
                <a:r>
                  <a:rPr lang="en-US" altLang="ja-JP" sz="3200" dirty="0">
                    <a:solidFill>
                      <a:srgbClr val="7030A0"/>
                    </a:solidFill>
                    <a:latin typeface="+mn-ea"/>
                    <a:cs typeface="ヒラギノ角ゴ Pro W3"/>
                  </a:rPr>
                  <a:t> 2. </a:t>
                </a:r>
                <a:r>
                  <a:rPr kumimoji="1" lang="ja-JP" altLang="en-US" sz="3200">
                    <a:solidFill>
                      <a:srgbClr val="7030A0"/>
                    </a:solidFill>
                    <a:latin typeface="+mn-ea"/>
                    <a:cs typeface="ヒラギノ角ゴ Pro W3"/>
                  </a:rPr>
                  <a:t>統計量</a:t>
                </a:r>
                <a14:m>
                  <m:oMath xmlns:m="http://schemas.openxmlformats.org/officeDocument/2006/math">
                    <m:r>
                      <a:rPr kumimoji="1" lang="en-US" altLang="ja-JP" sz="3200" b="0" i="1" smtClean="0">
                        <a:solidFill>
                          <a:srgbClr val="7030A0"/>
                        </a:solidFill>
                        <a:latin typeface="Cambria Math" panose="02040503050406030204" pitchFamily="18" charset="0"/>
                        <a:cs typeface="ヒラギノ角ゴ Pro W3"/>
                      </a:rPr>
                      <m:t>𝑊</m:t>
                    </m:r>
                  </m:oMath>
                </a14:m>
                <a:r>
                  <a:rPr kumimoji="1" lang="ja-JP" altLang="en-US" sz="3200">
                    <a:solidFill>
                      <a:srgbClr val="7030A0"/>
                    </a:solidFill>
                    <a:latin typeface="+mn-ea"/>
                    <a:cs typeface="ヒラギノ角ゴ Pro W3"/>
                  </a:rPr>
                  <a:t>の導出</a:t>
                </a:r>
                <a:endParaRPr kumimoji="1" lang="en-US" altLang="ja-JP" sz="3200" dirty="0">
                  <a:solidFill>
                    <a:srgbClr val="7030A0"/>
                  </a:solidFill>
                  <a:latin typeface="+mn-ea"/>
                  <a:cs typeface="ヒラギノ角ゴ Pro W3"/>
                </a:endParaRPr>
              </a:p>
              <a:p>
                <a:pPr marL="0" indent="0">
                  <a:buNone/>
                </a:pPr>
                <a:endParaRPr kumimoji="1" lang="en-US" altLang="ja-JP" sz="800" dirty="0">
                  <a:solidFill>
                    <a:srgbClr val="7030A0"/>
                  </a:solidFill>
                  <a:latin typeface="+mn-ea"/>
                  <a:cs typeface="ヒラギノ角ゴ Pro W3"/>
                </a:endParaRPr>
              </a:p>
              <a:p>
                <a:pPr marL="0" indent="0">
                  <a:buNone/>
                </a:pPr>
                <a14:m>
                  <m:oMathPara xmlns:m="http://schemas.openxmlformats.org/officeDocument/2006/math">
                    <m:oMathParaPr>
                      <m:jc m:val="centerGroup"/>
                    </m:oMathParaPr>
                    <m:oMath xmlns:m="http://schemas.openxmlformats.org/officeDocument/2006/math">
                      <m:acc>
                        <m:accPr>
                          <m:chr m:val="̂"/>
                          <m:ctrlPr>
                            <a:rPr kumimoji="1" lang="ja-JP" altLang="en-US" sz="3200" i="1" smtClean="0">
                              <a:latin typeface="Cambria Math" panose="02040503050406030204" pitchFamily="18" charset="0"/>
                            </a:rPr>
                          </m:ctrlPr>
                        </m:accPr>
                        <m:e>
                          <m:r>
                            <a:rPr kumimoji="1" lang="ja-JP" altLang="en-US" sz="3200" b="1" i="1" smtClean="0">
                              <a:latin typeface="Cambria Math" panose="02040503050406030204" pitchFamily="18" charset="0"/>
                            </a:rPr>
                            <m:t>𝜷</m:t>
                          </m:r>
                        </m:e>
                      </m:acc>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𝜆</m:t>
                          </m:r>
                        </m:e>
                      </m:d>
                      <m:r>
                        <a:rPr kumimoji="1" lang="en-US" altLang="ja-JP" sz="3200" b="0" i="1" smtClean="0">
                          <a:latin typeface="Cambria Math" panose="02040503050406030204" pitchFamily="18" charset="0"/>
                        </a:rPr>
                        <m:t>=</m:t>
                      </m:r>
                      <m:limLow>
                        <m:limLowPr>
                          <m:ctrlPr>
                            <a:rPr lang="en-US" altLang="ja-JP" sz="3200" i="1" smtClean="0">
                              <a:latin typeface="Cambria Math" panose="02040503050406030204" pitchFamily="18" charset="0"/>
                            </a:rPr>
                          </m:ctrlPr>
                        </m:limLowPr>
                        <m:e>
                          <m:r>
                            <m:rPr>
                              <m:sty m:val="p"/>
                            </m:rPr>
                            <a:rPr lang="en-US" altLang="ja-JP" sz="3200">
                              <a:latin typeface="Cambria Math" panose="02040503050406030204" pitchFamily="18" charset="0"/>
                            </a:rPr>
                            <m:t>arg</m:t>
                          </m:r>
                          <m:r>
                            <m:rPr>
                              <m:sty m:val="p"/>
                            </m:rPr>
                            <a:rPr lang="en-US" altLang="ja-JP" sz="3200" b="0" i="0" smtClean="0">
                              <a:latin typeface="Cambria Math" panose="02040503050406030204" pitchFamily="18" charset="0"/>
                            </a:rPr>
                            <m:t>min</m:t>
                          </m:r>
                        </m:e>
                        <m:lim>
                          <m:r>
                            <a:rPr lang="en-US" altLang="ja-JP" sz="3200" b="1" i="1">
                              <a:latin typeface="Cambria Math" panose="02040503050406030204" pitchFamily="18" charset="0"/>
                            </a:rPr>
                            <m:t> </m:t>
                          </m:r>
                          <m:r>
                            <a:rPr lang="en-US" altLang="ja-JP" sz="3200" b="1" i="1" smtClean="0">
                              <a:latin typeface="Cambria Math" panose="02040503050406030204" pitchFamily="18" charset="0"/>
                            </a:rPr>
                            <m:t>𝜷</m:t>
                          </m:r>
                        </m:lim>
                      </m:limLow>
                      <m:r>
                        <a:rPr lang="en-US" altLang="ja-JP" sz="3200" b="1" i="1" smtClean="0">
                          <a:latin typeface="Cambria Math" panose="02040503050406030204" pitchFamily="18" charset="0"/>
                        </a:rPr>
                        <m:t> </m:t>
                      </m:r>
                      <m:d>
                        <m:dPr>
                          <m:begChr m:val="{"/>
                          <m:endChr m:val="}"/>
                          <m:ctrlPr>
                            <a:rPr lang="en-US" altLang="ja-JP" sz="3200" b="1" i="1" smtClean="0">
                              <a:latin typeface="Cambria Math" panose="02040503050406030204" pitchFamily="18" charset="0"/>
                            </a:rPr>
                          </m:ctrlPr>
                        </m:dPr>
                        <m:e>
                          <m:f>
                            <m:fPr>
                              <m:ctrlPr>
                                <a:rPr lang="en-US" altLang="ja-JP" sz="3200" i="1">
                                  <a:latin typeface="Cambria Math" panose="02040503050406030204" pitchFamily="18" charset="0"/>
                                </a:rPr>
                              </m:ctrlPr>
                            </m:fPr>
                            <m:num>
                              <m:r>
                                <a:rPr lang="en-US" altLang="ja-JP" sz="3200" i="1">
                                  <a:latin typeface="Cambria Math" panose="02040503050406030204" pitchFamily="18" charset="0"/>
                                </a:rPr>
                                <m:t>1</m:t>
                              </m:r>
                            </m:num>
                            <m:den>
                              <m:r>
                                <a:rPr lang="en-US" altLang="ja-JP" sz="3200" i="1">
                                  <a:latin typeface="Cambria Math" panose="02040503050406030204" pitchFamily="18" charset="0"/>
                                </a:rPr>
                                <m:t>2</m:t>
                              </m:r>
                              <m:r>
                                <a:rPr lang="en-US" altLang="ja-JP" sz="3200" i="1">
                                  <a:latin typeface="Cambria Math" panose="02040503050406030204" pitchFamily="18" charset="0"/>
                                </a:rPr>
                                <m:t>𝑛</m:t>
                              </m:r>
                            </m:den>
                          </m:f>
                          <m:sSubSup>
                            <m:sSubSupPr>
                              <m:ctrlPr>
                                <a:rPr lang="en-US" altLang="ja-JP" sz="3200" i="1">
                                  <a:latin typeface="Cambria Math" panose="02040503050406030204" pitchFamily="18" charset="0"/>
                                </a:rPr>
                              </m:ctrlPr>
                            </m:sSubSupPr>
                            <m:e>
                              <m:d>
                                <m:dPr>
                                  <m:begChr m:val="‖"/>
                                  <m:endChr m:val="‖"/>
                                  <m:ctrlPr>
                                    <a:rPr lang="en-US" altLang="ja-JP" sz="3200" i="1">
                                      <a:latin typeface="Cambria Math" panose="02040503050406030204" pitchFamily="18" charset="0"/>
                                    </a:rPr>
                                  </m:ctrlPr>
                                </m:dPr>
                                <m:e>
                                  <m:r>
                                    <a:rPr lang="en-US" altLang="ja-JP" sz="3200" b="1" i="1">
                                      <a:latin typeface="Cambria Math" panose="02040503050406030204" pitchFamily="18" charset="0"/>
                                    </a:rPr>
                                    <m:t>𝒚</m:t>
                                  </m:r>
                                  <m:r>
                                    <a:rPr lang="en-US" altLang="ja-JP" sz="3200" i="1">
                                      <a:latin typeface="Cambria Math" panose="02040503050406030204" pitchFamily="18" charset="0"/>
                                    </a:rPr>
                                    <m:t>−</m:t>
                                  </m:r>
                                  <m:r>
                                    <a:rPr lang="en-US" altLang="ja-JP" sz="3200" b="1" i="1" smtClean="0">
                                      <a:latin typeface="Cambria Math" panose="02040503050406030204" pitchFamily="18" charset="0"/>
                                    </a:rPr>
                                    <m:t>[</m:t>
                                  </m:r>
                                  <m:r>
                                    <a:rPr lang="en-US" altLang="ja-JP" sz="3200" b="1" i="1" smtClean="0">
                                      <a:latin typeface="Cambria Math" panose="02040503050406030204" pitchFamily="18" charset="0"/>
                                    </a:rPr>
                                    <m:t>𝑿</m:t>
                                  </m:r>
                                  <m:r>
                                    <a:rPr lang="en-US" altLang="ja-JP" sz="3200" b="1" i="1" smtClean="0">
                                      <a:latin typeface="Cambria Math" panose="02040503050406030204" pitchFamily="18" charset="0"/>
                                    </a:rPr>
                                    <m:t>,</m:t>
                                  </m:r>
                                  <m:acc>
                                    <m:accPr>
                                      <m:chr m:val="̃"/>
                                      <m:ctrlPr>
                                        <a:rPr lang="ja-JP" altLang="en-US" sz="3200" b="1" i="1">
                                          <a:latin typeface="Cambria Math" panose="02040503050406030204" pitchFamily="18" charset="0"/>
                                        </a:rPr>
                                      </m:ctrlPr>
                                    </m:accPr>
                                    <m:e>
                                      <m:r>
                                        <a:rPr lang="en-US" altLang="ja-JP" sz="3200" b="1" i="1">
                                          <a:latin typeface="Cambria Math" panose="02040503050406030204" pitchFamily="18" charset="0"/>
                                        </a:rPr>
                                        <m:t>𝑿</m:t>
                                      </m:r>
                                    </m:e>
                                  </m:acc>
                                  <m:r>
                                    <a:rPr lang="en-US" altLang="ja-JP" sz="3200" b="1" i="1" smtClean="0">
                                      <a:latin typeface="Cambria Math" panose="02040503050406030204" pitchFamily="18" charset="0"/>
                                    </a:rPr>
                                    <m:t>]</m:t>
                                  </m:r>
                                  <m:r>
                                    <a:rPr lang="en-US" altLang="ja-JP" sz="3200" b="1" i="1">
                                      <a:latin typeface="Cambria Math" panose="02040503050406030204" pitchFamily="18" charset="0"/>
                                    </a:rPr>
                                    <m:t>𝜷</m:t>
                                  </m:r>
                                </m:e>
                              </m:d>
                            </m:e>
                            <m:sub>
                              <m:r>
                                <a:rPr lang="en-US" altLang="ja-JP" sz="3200" i="1">
                                  <a:latin typeface="Cambria Math" panose="02040503050406030204" pitchFamily="18" charset="0"/>
                                </a:rPr>
                                <m:t>2</m:t>
                              </m:r>
                            </m:sub>
                            <m:sup>
                              <m:r>
                                <a:rPr lang="en-US" altLang="ja-JP" sz="3200" i="1">
                                  <a:latin typeface="Cambria Math" panose="02040503050406030204" pitchFamily="18" charset="0"/>
                                </a:rPr>
                                <m:t>2</m:t>
                              </m:r>
                            </m:sup>
                          </m:sSubSup>
                          <m:r>
                            <a:rPr lang="en-US" altLang="ja-JP" sz="3200" i="1">
                              <a:latin typeface="Cambria Math" panose="02040503050406030204" pitchFamily="18" charset="0"/>
                            </a:rPr>
                            <m:t>+</m:t>
                          </m:r>
                          <m:r>
                            <a:rPr lang="en-US" altLang="ja-JP" sz="3200" i="1">
                              <a:latin typeface="Cambria Math" panose="02040503050406030204" pitchFamily="18" charset="0"/>
                            </a:rPr>
                            <m:t>𝜆</m:t>
                          </m:r>
                          <m:sSub>
                            <m:sSubPr>
                              <m:ctrlPr>
                                <a:rPr lang="en-US" altLang="ja-JP" sz="3200" i="1">
                                  <a:latin typeface="Cambria Math" panose="02040503050406030204" pitchFamily="18" charset="0"/>
                                </a:rPr>
                              </m:ctrlPr>
                            </m:sSubPr>
                            <m:e>
                              <m:d>
                                <m:dPr>
                                  <m:begChr m:val="‖"/>
                                  <m:endChr m:val="‖"/>
                                  <m:ctrlPr>
                                    <a:rPr lang="en-US" altLang="ja-JP" sz="3200" i="1">
                                      <a:latin typeface="Cambria Math" panose="02040503050406030204" pitchFamily="18" charset="0"/>
                                    </a:rPr>
                                  </m:ctrlPr>
                                </m:dPr>
                                <m:e>
                                  <m:r>
                                    <a:rPr lang="en-US" altLang="ja-JP" sz="3200" b="1" i="1">
                                      <a:latin typeface="Cambria Math" panose="02040503050406030204" pitchFamily="18" charset="0"/>
                                    </a:rPr>
                                    <m:t>𝜷</m:t>
                                  </m:r>
                                </m:e>
                              </m:d>
                            </m:e>
                            <m:sub>
                              <m:r>
                                <a:rPr lang="en-US" altLang="ja-JP" sz="3200" i="1">
                                  <a:latin typeface="Cambria Math" panose="02040503050406030204" pitchFamily="18" charset="0"/>
                                </a:rPr>
                                <m:t>1</m:t>
                              </m:r>
                            </m:sub>
                          </m:sSub>
                        </m:e>
                      </m:d>
                    </m:oMath>
                  </m:oMathPara>
                </a14:m>
                <a:endParaRPr kumimoji="1" lang="ja-JP" altLang="en-US" sz="3200" dirty="0">
                  <a:latin typeface="+mn-ea"/>
                  <a:cs typeface="ヒラギノ角ゴ Pro W3"/>
                </a:endParaRPr>
              </a:p>
              <a:p>
                <a:pPr marL="0" indent="0" algn="ctr">
                  <a:buNone/>
                </a:pPr>
                <a:r>
                  <a:rPr lang="ja-JP" altLang="en-US" sz="3200">
                    <a:latin typeface="+mn-ea"/>
                    <a:cs typeface="ヒラギノ角ゴ Pro W3"/>
                  </a:rPr>
                  <a:t>　</a:t>
                </a:r>
                <a:endParaRPr lang="en-US" altLang="ja-JP" sz="3200" dirty="0">
                  <a:latin typeface="+mn-ea"/>
                  <a:cs typeface="ヒラギノ角ゴ Pro W3"/>
                </a:endParaRPr>
              </a:p>
              <a:p>
                <a:pPr marL="0" indent="0" algn="ctr">
                  <a:buNone/>
                </a:pPr>
                <a:endParaRPr kumimoji="1" lang="en-US" altLang="ja-JP" sz="3200" dirty="0">
                  <a:latin typeface="+mn-ea"/>
                  <a:cs typeface="ヒラギノ角ゴ Pro W3"/>
                </a:endParaRPr>
              </a:p>
              <a:p>
                <a:pPr marL="0" indent="0" algn="ctr">
                  <a:buNone/>
                </a:pPr>
                <a:endParaRPr kumimoji="1" lang="en-US" altLang="ja-JP" sz="3200" dirty="0">
                  <a:latin typeface="+mn-ea"/>
                  <a:cs typeface="ヒラギノ角ゴ Pro W3"/>
                </a:endParaRPr>
              </a:p>
              <a:p>
                <a:pPr marL="0" indent="0" algn="ctr">
                  <a:buNone/>
                </a:pPr>
                <a:r>
                  <a:rPr lang="en-US" altLang="ja-JP" sz="3200" dirty="0">
                    <a:latin typeface="ヒラギノ角ゴ Pro W3"/>
                    <a:ea typeface="ヒラギノ角ゴ Pro W3"/>
                    <a:cs typeface="ヒラギノ角ゴ Pro W3"/>
                  </a:rPr>
                  <a:t>    </a:t>
                </a:r>
              </a:p>
              <a:p>
                <a:pPr marL="0" indent="0" algn="ctr">
                  <a:buNone/>
                </a:pPr>
                <a:endParaRPr lang="en-US" altLang="ja-JP" sz="800" dirty="0">
                  <a:latin typeface="+mn-ea"/>
                  <a:cs typeface="ヒラギノ角ゴ Pro W3"/>
                </a:endParaRPr>
              </a:p>
              <a:p>
                <a:pPr marL="0" indent="0">
                  <a:buNone/>
                </a:pPr>
                <a:r>
                  <a:rPr kumimoji="1" lang="ja-JP" altLang="en-US" sz="3200" b="0">
                    <a:cs typeface="ヒラギノ角ゴ Pro W3"/>
                  </a:rPr>
                  <a:t>　</a:t>
                </a:r>
                <a:r>
                  <a:rPr kumimoji="1" lang="en-US" altLang="ja-JP" sz="3200" b="0" dirty="0">
                    <a:cs typeface="ヒラギノ角ゴ Pro W3"/>
                  </a:rPr>
                  <a:t>         </a:t>
                </a:r>
                <a14:m>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 </m:t>
                        </m:r>
                        <m:r>
                          <a:rPr kumimoji="1" lang="en-US" altLang="ja-JP" sz="3200" b="0" i="1" smtClean="0">
                            <a:latin typeface="Cambria Math" panose="02040503050406030204" pitchFamily="18" charset="0"/>
                            <a:cs typeface="ヒラギノ角ゴ Pro W3"/>
                          </a:rPr>
                          <m:t>𝑊</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𝑍</m:t>
                        </m:r>
                      </m:e>
                      <m:sub>
                        <m:r>
                          <a:rPr kumimoji="1" lang="en-US" altLang="ja-JP" sz="3200" b="0" i="1" smtClean="0">
                            <a:latin typeface="Cambria Math" panose="02040503050406030204" pitchFamily="18" charset="0"/>
                            <a:cs typeface="ヒラギノ角ゴ Pro W3"/>
                          </a:rPr>
                          <m:t>𝑗</m:t>
                        </m:r>
                      </m:sub>
                    </m:sSub>
                    <m:r>
                      <a:rPr kumimoji="1" lang="en-US" altLang="ja-JP" sz="3200" b="0" i="1" smtClean="0">
                        <a:latin typeface="Cambria Math" panose="02040503050406030204" pitchFamily="18" charset="0"/>
                        <a:cs typeface="ヒラギノ角ゴ Pro W3"/>
                      </a:rPr>
                      <m:t>∨</m:t>
                    </m:r>
                    <m:sSub>
                      <m:sSubPr>
                        <m:ctrlPr>
                          <a:rPr lang="en-US" altLang="ja-JP" sz="3200" i="1">
                            <a:latin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i="1">
                                <a:latin typeface="Cambria Math" panose="02040503050406030204" pitchFamily="18" charset="0"/>
                              </a:rPr>
                              <m:t>𝑍</m:t>
                            </m:r>
                          </m:e>
                        </m:acc>
                      </m:e>
                      <m:sub>
                        <m:r>
                          <a:rPr lang="en-US" altLang="ja-JP" sz="3200" i="1">
                            <a:latin typeface="Cambria Math" panose="02040503050406030204" pitchFamily="18" charset="0"/>
                          </a:rPr>
                          <m:t>𝑗</m:t>
                        </m:r>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𝑝</m:t>
                        </m:r>
                      </m:sub>
                    </m:sSub>
                    <m:r>
                      <a:rPr lang="en-US" altLang="ja-JP" sz="3200" i="1">
                        <a:latin typeface="Cambria Math" panose="02040503050406030204" pitchFamily="18" charset="0"/>
                      </a:rPr>
                      <m:t>∙</m:t>
                    </m:r>
                    <m:func>
                      <m:funcPr>
                        <m:ctrlPr>
                          <a:rPr lang="en-US" altLang="ja-JP" sz="3200" i="1" smtClean="0">
                            <a:latin typeface="Cambria Math" panose="02040503050406030204" pitchFamily="18" charset="0"/>
                          </a:rPr>
                        </m:ctrlPr>
                      </m:funcPr>
                      <m:fName>
                        <m:func>
                          <m:funcPr>
                            <m:ctrlPr>
                              <a:rPr lang="en-US" altLang="ja-JP" sz="3200" i="1">
                                <a:latin typeface="Cambria Math" panose="02040503050406030204" pitchFamily="18" charset="0"/>
                              </a:rPr>
                            </m:ctrlPr>
                          </m:funcPr>
                          <m:fName>
                            <m:r>
                              <m:rPr>
                                <m:sty m:val="p"/>
                              </m:rPr>
                              <a:rPr lang="en-US" altLang="ja-JP" sz="3200">
                                <a:latin typeface="Cambria Math" panose="02040503050406030204" pitchFamily="18" charset="0"/>
                              </a:rPr>
                              <m:t>sign</m:t>
                            </m:r>
                          </m:fName>
                          <m:e>
                            <m:d>
                              <m:dPr>
                                <m:ctrlPr>
                                  <a:rPr lang="en-US" altLang="ja-JP" sz="3200" i="1">
                                    <a:latin typeface="Cambria Math" panose="02040503050406030204" pitchFamily="18" charset="0"/>
                                  </a:rPr>
                                </m:ctrlPr>
                              </m:dPr>
                              <m:e>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𝑍</m:t>
                                    </m:r>
                                  </m:e>
                                  <m:sub>
                                    <m:r>
                                      <a:rPr lang="en-US" altLang="ja-JP" sz="3200" i="1">
                                        <a:latin typeface="Cambria Math" panose="02040503050406030204" pitchFamily="18" charset="0"/>
                                      </a:rPr>
                                      <m:t>𝑗</m:t>
                                    </m:r>
                                  </m:sub>
                                </m:sSub>
                                <m:r>
                                  <a:rPr lang="en-US" altLang="ja-JP" sz="3200" i="1">
                                    <a:latin typeface="Cambria Math" panose="02040503050406030204" pitchFamily="18" charset="0"/>
                                  </a:rPr>
                                  <m:t>−</m:t>
                                </m:r>
                                <m:sSub>
                                  <m:sSubPr>
                                    <m:ctrlPr>
                                      <a:rPr lang="en-US" altLang="ja-JP" sz="3200" b="0" i="1" smtClean="0">
                                        <a:latin typeface="Cambria Math" panose="02040503050406030204" pitchFamily="18" charset="0"/>
                                      </a:rPr>
                                    </m:ctrlPr>
                                  </m:sSubPr>
                                  <m:e>
                                    <m:acc>
                                      <m:accPr>
                                        <m:chr m:val="̃"/>
                                        <m:ctrlPr>
                                          <a:rPr lang="en-US" altLang="ja-JP" sz="3200" i="1">
                                            <a:latin typeface="Cambria Math" panose="02040503050406030204" pitchFamily="18" charset="0"/>
                                          </a:rPr>
                                        </m:ctrlPr>
                                      </m:accPr>
                                      <m:e>
                                        <m:r>
                                          <a:rPr lang="en-US" altLang="ja-JP" sz="3200" b="0" i="1" smtClean="0">
                                            <a:latin typeface="Cambria Math" panose="02040503050406030204" pitchFamily="18" charset="0"/>
                                          </a:rPr>
                                          <m:t>𝑍</m:t>
                                        </m:r>
                                      </m:e>
                                    </m:acc>
                                  </m:e>
                                  <m:sub>
                                    <m:r>
                                      <a:rPr lang="en-US" altLang="ja-JP" sz="3200" b="0" i="1" smtClean="0">
                                        <a:latin typeface="Cambria Math" panose="02040503050406030204" pitchFamily="18" charset="0"/>
                                      </a:rPr>
                                      <m:t>𝑗</m:t>
                                    </m:r>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𝑝</m:t>
                                    </m:r>
                                  </m:sub>
                                </m:sSub>
                              </m:e>
                            </m:d>
                          </m:e>
                        </m:func>
                      </m:fName>
                      <m:e>
                        <m:r>
                          <a:rPr lang="en-US" altLang="ja-JP" sz="3200" b="0" i="1" smtClean="0">
                            <a:latin typeface="Cambria Math" panose="02040503050406030204" pitchFamily="18" charset="0"/>
                          </a:rPr>
                          <m:t>  </m:t>
                        </m:r>
                        <m:r>
                          <a:rPr lang="en-US" altLang="ja-JP" sz="3200" i="1">
                            <a:latin typeface="Cambria Math" panose="02040503050406030204" pitchFamily="18" charset="0"/>
                          </a:rPr>
                          <m:t>𝑗</m:t>
                        </m:r>
                        <m:r>
                          <a:rPr lang="en-US" altLang="ja-JP" sz="3200" i="1">
                            <a:latin typeface="Cambria Math" panose="02040503050406030204" pitchFamily="18" charset="0"/>
                          </a:rPr>
                          <m:t>=1,…,</m:t>
                        </m:r>
                        <m:r>
                          <a:rPr lang="en-US" altLang="ja-JP" sz="3200" i="1">
                            <a:latin typeface="Cambria Math" panose="02040503050406030204" pitchFamily="18" charset="0"/>
                          </a:rPr>
                          <m:t>𝑝</m:t>
                        </m:r>
                      </m:e>
                    </m:func>
                  </m:oMath>
                </a14:m>
                <a:endParaRPr kumimoji="1" lang="ja-JP" altLang="en-US" sz="3200" dirty="0">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0" y="1142169"/>
                <a:ext cx="11782271" cy="5182848"/>
              </a:xfrm>
              <a:blipFill>
                <a:blip r:embed="rId3"/>
                <a:stretch>
                  <a:fillRect l="-323" t="-2195"/>
                </a:stretch>
              </a:blipFill>
            </p:spPr>
            <p:txBody>
              <a:bodyPr/>
              <a:lstStyle/>
              <a:p>
                <a:r>
                  <a:rPr lang="ja-JP" altLang="en-US">
                    <a:noFill/>
                  </a:rPr>
                  <a:t> </a:t>
                </a:r>
              </a:p>
            </p:txBody>
          </p:sp>
        </mc:Fallback>
      </mc:AlternateContent>
      <p:sp>
        <p:nvSpPr>
          <p:cNvPr id="6" name="タイトル 1">
            <a:extLst>
              <a:ext uri="{FF2B5EF4-FFF2-40B4-BE49-F238E27FC236}">
                <a16:creationId xmlns:a16="http://schemas.microsoft.com/office/drawing/2014/main" id="{DBC3E7AF-ED45-DB49-A34F-E7774175EB1A}"/>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5" name="正方形/長方形 4">
            <a:extLst>
              <a:ext uri="{FF2B5EF4-FFF2-40B4-BE49-F238E27FC236}">
                <a16:creationId xmlns:a16="http://schemas.microsoft.com/office/drawing/2014/main" id="{5C75E11C-D90D-1F4A-E3B7-8AEFCE751325}"/>
              </a:ext>
            </a:extLst>
          </p:cNvPr>
          <p:cNvSpPr/>
          <p:nvPr/>
        </p:nvSpPr>
        <p:spPr>
          <a:xfrm>
            <a:off x="6368527" y="2000922"/>
            <a:ext cx="1000108" cy="6230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F7A2EE6-0027-EDFA-D4DB-08C89651294A}"/>
                  </a:ext>
                </a:extLst>
              </p:cNvPr>
              <p:cNvSpPr txBox="1"/>
              <p:nvPr/>
            </p:nvSpPr>
            <p:spPr>
              <a:xfrm>
                <a:off x="5961282" y="1566175"/>
                <a:ext cx="1775743" cy="523220"/>
              </a:xfrm>
              <a:prstGeom prst="rect">
                <a:avLst/>
              </a:prstGeom>
              <a:noFill/>
            </p:spPr>
            <p:txBody>
              <a:bodyPr wrap="none" rtlCol="0">
                <a:spAutoFit/>
              </a:bodyPr>
              <a:lstStyle/>
              <a:p>
                <a14:m>
                  <m:oMath xmlns:m="http://schemas.openxmlformats.org/officeDocument/2006/math">
                    <m:r>
                      <a:rPr kumimoji="1" lang="en-US" altLang="ja-JP" sz="2800" b="0" i="1" smtClean="0">
                        <a:solidFill>
                          <a:srgbClr val="FF0000"/>
                        </a:solidFill>
                        <a:latin typeface="Cambria Math" panose="02040503050406030204" pitchFamily="18" charset="0"/>
                      </a:rPr>
                      <m:t>𝑛</m:t>
                    </m:r>
                    <m:r>
                      <a:rPr kumimoji="1" lang="en-US" altLang="ja-JP" sz="2800" b="0" i="1" smtClean="0">
                        <a:solidFill>
                          <a:srgbClr val="FF0000"/>
                        </a:solidFill>
                        <a:latin typeface="Cambria Math" panose="02040503050406030204" pitchFamily="18" charset="0"/>
                        <a:ea typeface="Cambria Math" panose="02040503050406030204" pitchFamily="18" charset="0"/>
                      </a:rPr>
                      <m:t>×2</m:t>
                    </m:r>
                    <m:r>
                      <a:rPr kumimoji="1" lang="en-US" altLang="ja-JP" sz="2800" b="0" i="1" smtClean="0">
                        <a:solidFill>
                          <a:srgbClr val="FF0000"/>
                        </a:solidFill>
                        <a:latin typeface="Cambria Math" panose="02040503050406030204" pitchFamily="18" charset="0"/>
                        <a:ea typeface="Cambria Math" panose="02040503050406030204" pitchFamily="18" charset="0"/>
                      </a:rPr>
                      <m:t>𝑝</m:t>
                    </m:r>
                  </m:oMath>
                </a14:m>
                <a:r>
                  <a:rPr kumimoji="1" lang="ja-JP" altLang="en-US" sz="2800">
                    <a:solidFill>
                      <a:srgbClr val="FF0000"/>
                    </a:solidFill>
                  </a:rPr>
                  <a:t>行列</a:t>
                </a:r>
              </a:p>
            </p:txBody>
          </p:sp>
        </mc:Choice>
        <mc:Fallback xmlns="">
          <p:sp>
            <p:nvSpPr>
              <p:cNvPr id="8" name="テキスト ボックス 7">
                <a:extLst>
                  <a:ext uri="{FF2B5EF4-FFF2-40B4-BE49-F238E27FC236}">
                    <a16:creationId xmlns:a16="http://schemas.microsoft.com/office/drawing/2014/main" id="{CF7A2EE6-0027-EDFA-D4DB-08C89651294A}"/>
                  </a:ext>
                </a:extLst>
              </p:cNvPr>
              <p:cNvSpPr txBox="1">
                <a:spLocks noRot="1" noChangeAspect="1" noMove="1" noResize="1" noEditPoints="1" noAdjustHandles="1" noChangeArrowheads="1" noChangeShapeType="1" noTextEdit="1"/>
              </p:cNvSpPr>
              <p:nvPr/>
            </p:nvSpPr>
            <p:spPr>
              <a:xfrm>
                <a:off x="5961282" y="1566175"/>
                <a:ext cx="1775743" cy="523220"/>
              </a:xfrm>
              <a:prstGeom prst="rect">
                <a:avLst/>
              </a:prstGeom>
              <a:blipFill>
                <a:blip r:embed="rId4"/>
                <a:stretch>
                  <a:fillRect t="-11905" r="-5674" b="-33333"/>
                </a:stretch>
              </a:blipFill>
            </p:spPr>
            <p:txBody>
              <a:bodyPr/>
              <a:lstStyle/>
              <a:p>
                <a:r>
                  <a:rPr lang="ja-JP" altLang="en-US">
                    <a:noFill/>
                  </a:rPr>
                  <a:t> </a:t>
                </a:r>
              </a:p>
            </p:txBody>
          </p:sp>
        </mc:Fallback>
      </mc:AlternateContent>
      <p:sp>
        <p:nvSpPr>
          <p:cNvPr id="9" name="下矢印 8">
            <a:extLst>
              <a:ext uri="{FF2B5EF4-FFF2-40B4-BE49-F238E27FC236}">
                <a16:creationId xmlns:a16="http://schemas.microsoft.com/office/drawing/2014/main" id="{93F860B9-87CE-E406-B577-CF20AD125A32}"/>
              </a:ext>
            </a:extLst>
          </p:cNvPr>
          <p:cNvSpPr/>
          <p:nvPr/>
        </p:nvSpPr>
        <p:spPr>
          <a:xfrm>
            <a:off x="5546750" y="2846852"/>
            <a:ext cx="688769" cy="516196"/>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
        <p:nvSpPr>
          <p:cNvPr id="11" name="下矢印 10">
            <a:extLst>
              <a:ext uri="{FF2B5EF4-FFF2-40B4-BE49-F238E27FC236}">
                <a16:creationId xmlns:a16="http://schemas.microsoft.com/office/drawing/2014/main" id="{C0B0FD82-F53A-6959-9C76-4D9F0D4274EF}"/>
              </a:ext>
            </a:extLst>
          </p:cNvPr>
          <p:cNvSpPr/>
          <p:nvPr/>
        </p:nvSpPr>
        <p:spPr>
          <a:xfrm>
            <a:off x="5573135" y="4779329"/>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C72EF522-F685-33A9-62EA-1095FC425FA7}"/>
                  </a:ext>
                </a:extLst>
              </p:cNvPr>
              <p:cNvSpPr txBox="1"/>
              <p:nvPr/>
            </p:nvSpPr>
            <p:spPr>
              <a:xfrm>
                <a:off x="8095488" y="4436046"/>
                <a:ext cx="3833293" cy="954107"/>
              </a:xfrm>
              <a:prstGeom prst="rect">
                <a:avLst/>
              </a:prstGeom>
              <a:noFill/>
              <a:ln w="25400">
                <a:noFill/>
              </a:ln>
            </p:spPr>
            <p:txBody>
              <a:bodyPr wrap="square" rtlCol="0">
                <a:spAutoFit/>
              </a:bodyPr>
              <a:lstStyle/>
              <a:p>
                <a:r>
                  <a:rPr kumimoji="1" lang="ja-JP" altLang="en-US" sz="2800"/>
                  <a:t>正則化パラメータ値を</a:t>
                </a:r>
                <a:endParaRPr kumimoji="1" lang="en-US" altLang="ja-JP" sz="2800" dirty="0"/>
              </a:p>
              <a:p>
                <a:r>
                  <a:rPr kumimoji="1" lang="ja-JP" altLang="en-US" sz="2800"/>
                  <a:t>添字番号</a:t>
                </a:r>
                <a14:m>
                  <m:oMath xmlns:m="http://schemas.openxmlformats.org/officeDocument/2006/math">
                    <m:r>
                      <a:rPr kumimoji="1" lang="en-US" altLang="ja-JP" sz="2800" b="0" i="1" smtClean="0">
                        <a:latin typeface="Cambria Math" panose="02040503050406030204" pitchFamily="18" charset="0"/>
                      </a:rPr>
                      <m:t>𝑗</m:t>
                    </m:r>
                  </m:oMath>
                </a14:m>
                <a:r>
                  <a:rPr kumimoji="1" lang="ja-JP" altLang="en-US" sz="2800"/>
                  <a:t>ごとに比較</a:t>
                </a:r>
              </a:p>
            </p:txBody>
          </p:sp>
        </mc:Choice>
        <mc:Fallback xmlns="">
          <p:sp>
            <p:nvSpPr>
              <p:cNvPr id="14" name="テキスト ボックス 13">
                <a:extLst>
                  <a:ext uri="{FF2B5EF4-FFF2-40B4-BE49-F238E27FC236}">
                    <a16:creationId xmlns:a16="http://schemas.microsoft.com/office/drawing/2014/main" id="{C72EF522-F685-33A9-62EA-1095FC425FA7}"/>
                  </a:ext>
                </a:extLst>
              </p:cNvPr>
              <p:cNvSpPr txBox="1">
                <a:spLocks noRot="1" noChangeAspect="1" noMove="1" noResize="1" noEditPoints="1" noAdjustHandles="1" noChangeArrowheads="1" noChangeShapeType="1" noTextEdit="1"/>
              </p:cNvSpPr>
              <p:nvPr/>
            </p:nvSpPr>
            <p:spPr>
              <a:xfrm>
                <a:off x="8095488" y="4436046"/>
                <a:ext cx="3833293" cy="954107"/>
              </a:xfrm>
              <a:prstGeom prst="rect">
                <a:avLst/>
              </a:prstGeom>
              <a:blipFill>
                <a:blip r:embed="rId5"/>
                <a:stretch>
                  <a:fillRect l="-3300" t="-6579" r="-660" b="-18421"/>
                </a:stretch>
              </a:blipFill>
              <a:ln w="25400">
                <a:noFill/>
              </a:ln>
            </p:spPr>
            <p:txBody>
              <a:bodyPr/>
              <a:lstStyle/>
              <a:p>
                <a:r>
                  <a:rPr lang="ja-JP" altLang="en-US">
                    <a:noFill/>
                  </a:rPr>
                  <a:t> </a:t>
                </a:r>
              </a:p>
            </p:txBody>
          </p:sp>
        </mc:Fallback>
      </mc:AlternateContent>
      <p:sp>
        <p:nvSpPr>
          <p:cNvPr id="15" name="角丸四角形吹き出し 14">
            <a:extLst>
              <a:ext uri="{FF2B5EF4-FFF2-40B4-BE49-F238E27FC236}">
                <a16:creationId xmlns:a16="http://schemas.microsoft.com/office/drawing/2014/main" id="{0EDDEE97-167D-09D9-0449-8369524A81AB}"/>
              </a:ext>
            </a:extLst>
          </p:cNvPr>
          <p:cNvSpPr/>
          <p:nvPr/>
        </p:nvSpPr>
        <p:spPr>
          <a:xfrm>
            <a:off x="8046037" y="4436046"/>
            <a:ext cx="3882744" cy="908638"/>
          </a:xfrm>
          <a:prstGeom prst="wedgeRoundRectCallout">
            <a:avLst>
              <a:gd name="adj1" fmla="val -58605"/>
              <a:gd name="adj2" fmla="val 57032"/>
              <a:gd name="adj3" fmla="val 16667"/>
            </a:avLst>
          </a:prstGeom>
          <a:noFill/>
          <a:ln w="317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01FC375-5C07-A490-76AA-C1E94F65B94B}"/>
                  </a:ext>
                </a:extLst>
              </p:cNvPr>
              <p:cNvSpPr txBox="1"/>
              <p:nvPr/>
            </p:nvSpPr>
            <p:spPr>
              <a:xfrm>
                <a:off x="6989690" y="3622430"/>
                <a:ext cx="2112694"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rPr>
                        <m:t>𝑗</m:t>
                      </m:r>
                      <m:r>
                        <a:rPr lang="en-US" altLang="ja-JP" sz="3200" i="1" smtClean="0">
                          <a:latin typeface="Cambria Math" panose="02040503050406030204" pitchFamily="18" charset="0"/>
                        </a:rPr>
                        <m:t>=1,…,</m:t>
                      </m:r>
                      <m:r>
                        <a:rPr lang="en-US" altLang="ja-JP" sz="3200" b="0" i="1" smtClean="0">
                          <a:latin typeface="Cambria Math" panose="02040503050406030204" pitchFamily="18" charset="0"/>
                        </a:rPr>
                        <m:t>𝑝</m:t>
                      </m:r>
                    </m:oMath>
                  </m:oMathPara>
                </a14:m>
                <a:endParaRPr lang="en-US" altLang="ja-JP" sz="3200" i="1" dirty="0"/>
              </a:p>
            </p:txBody>
          </p:sp>
        </mc:Choice>
        <mc:Fallback xmlns="">
          <p:sp>
            <p:nvSpPr>
              <p:cNvPr id="2" name="テキスト ボックス 1">
                <a:extLst>
                  <a:ext uri="{FF2B5EF4-FFF2-40B4-BE49-F238E27FC236}">
                    <a16:creationId xmlns:a16="http://schemas.microsoft.com/office/drawing/2014/main" id="{701FC375-5C07-A490-76AA-C1E94F65B94B}"/>
                  </a:ext>
                </a:extLst>
              </p:cNvPr>
              <p:cNvSpPr txBox="1">
                <a:spLocks noRot="1" noChangeAspect="1" noMove="1" noResize="1" noEditPoints="1" noAdjustHandles="1" noChangeArrowheads="1" noChangeShapeType="1" noTextEdit="1"/>
              </p:cNvSpPr>
              <p:nvPr/>
            </p:nvSpPr>
            <p:spPr>
              <a:xfrm>
                <a:off x="6989690" y="3622430"/>
                <a:ext cx="2112694" cy="584775"/>
              </a:xfrm>
              <a:prstGeom prst="rect">
                <a:avLst/>
              </a:prstGeom>
              <a:blipFill>
                <a:blip r:embed="rId6"/>
                <a:stretch>
                  <a:fillRect l="-1796" b="-1702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FE0B4583-07F3-4C5D-F7D8-48355E3BDAA9}"/>
                  </a:ext>
                </a:extLst>
              </p:cNvPr>
              <p:cNvSpPr txBox="1"/>
              <p:nvPr/>
            </p:nvSpPr>
            <p:spPr>
              <a:xfrm>
                <a:off x="1283970" y="5968968"/>
                <a:ext cx="3120662" cy="523220"/>
              </a:xfrm>
              <a:prstGeom prst="rect">
                <a:avLst/>
              </a:prstGeom>
              <a:noFill/>
            </p:spPr>
            <p:txBody>
              <a:bodyPr wrap="none" rtlCol="0">
                <a:spAutoFit/>
              </a:bodyPr>
              <a:lstStyle/>
              <a:p>
                <a:r>
                  <a:rPr kumimoji="1" lang="en-US" altLang="ja-JP" sz="2800" b="0" dirty="0">
                    <a:cs typeface="ヒラギノ角ゴ Pro W3"/>
                  </a:rPr>
                  <a:t>(</a:t>
                </a:r>
                <a14:m>
                  <m:oMath xmlns:m="http://schemas.openxmlformats.org/officeDocument/2006/math">
                    <m:r>
                      <a:rPr kumimoji="1" lang="en-US" altLang="ja-JP" sz="2800" b="0" i="1" smtClean="0">
                        <a:latin typeface="Cambria Math" panose="02040503050406030204" pitchFamily="18" charset="0"/>
                        <a:cs typeface="ヒラギノ角ゴ Pro W3"/>
                      </a:rPr>
                      <m:t>𝑎</m:t>
                    </m:r>
                    <m:r>
                      <a:rPr kumimoji="1" lang="en-US" altLang="ja-JP" sz="2800" b="0" i="1" smtClean="0">
                        <a:latin typeface="Cambria Math" panose="02040503050406030204" pitchFamily="18" charset="0"/>
                        <a:cs typeface="ヒラギノ角ゴ Pro W3"/>
                      </a:rPr>
                      <m:t>∨</m:t>
                    </m:r>
                    <m:r>
                      <a:rPr kumimoji="1" lang="en-US" altLang="ja-JP" sz="2800" b="0" i="1" smtClean="0">
                        <a:latin typeface="Cambria Math" panose="02040503050406030204" pitchFamily="18" charset="0"/>
                        <a:cs typeface="ヒラギノ角ゴ Pro W3"/>
                      </a:rPr>
                      <m:t>𝑏</m:t>
                    </m:r>
                    <m:r>
                      <a:rPr kumimoji="1" lang="en-US" altLang="ja-JP" sz="2800" b="0" i="1" smtClean="0">
                        <a:latin typeface="Cambria Math" panose="02040503050406030204" pitchFamily="18" charset="0"/>
                        <a:cs typeface="ヒラギノ角ゴ Pro W3"/>
                      </a:rPr>
                      <m:t>=</m:t>
                    </m:r>
                    <m:func>
                      <m:funcPr>
                        <m:ctrlPr>
                          <a:rPr kumimoji="1" lang="en-US" altLang="ja-JP" sz="2800" b="0" i="1" smtClean="0">
                            <a:latin typeface="Cambria Math" panose="02040503050406030204" pitchFamily="18" charset="0"/>
                            <a:cs typeface="ヒラギノ角ゴ Pro W3"/>
                          </a:rPr>
                        </m:ctrlPr>
                      </m:funcPr>
                      <m:fName>
                        <m:r>
                          <m:rPr>
                            <m:sty m:val="p"/>
                          </m:rPr>
                          <a:rPr kumimoji="1" lang="en-US" altLang="ja-JP" sz="2800" b="0" i="0" smtClean="0">
                            <a:latin typeface="Cambria Math" panose="02040503050406030204" pitchFamily="18" charset="0"/>
                            <a:cs typeface="ヒラギノ角ゴ Pro W3"/>
                          </a:rPr>
                          <m:t>max</m:t>
                        </m:r>
                      </m:fName>
                      <m:e>
                        <m:d>
                          <m:dPr>
                            <m:begChr m:val="{"/>
                            <m:endChr m:val="}"/>
                            <m:ctrlPr>
                              <a:rPr kumimoji="1" lang="en-US" altLang="ja-JP" sz="2800" b="0" i="1" smtClean="0">
                                <a:latin typeface="Cambria Math" panose="02040503050406030204" pitchFamily="18" charset="0"/>
                                <a:cs typeface="ヒラギノ角ゴ Pro W3"/>
                              </a:rPr>
                            </m:ctrlPr>
                          </m:dPr>
                          <m:e>
                            <m:r>
                              <a:rPr kumimoji="1" lang="en-US" altLang="ja-JP" sz="2800" b="0" i="1" smtClean="0">
                                <a:latin typeface="Cambria Math" panose="02040503050406030204" pitchFamily="18" charset="0"/>
                                <a:cs typeface="ヒラギノ角ゴ Pro W3"/>
                              </a:rPr>
                              <m:t>𝑎</m:t>
                            </m:r>
                            <m:r>
                              <a:rPr kumimoji="1" lang="en-US" altLang="ja-JP" sz="2800" b="0" i="1" smtClean="0">
                                <a:latin typeface="Cambria Math" panose="02040503050406030204" pitchFamily="18" charset="0"/>
                                <a:cs typeface="ヒラギノ角ゴ Pro W3"/>
                              </a:rPr>
                              <m:t>,</m:t>
                            </m:r>
                            <m:r>
                              <a:rPr kumimoji="1" lang="en-US" altLang="ja-JP" sz="2800" b="0" i="1" smtClean="0">
                                <a:latin typeface="Cambria Math" panose="02040503050406030204" pitchFamily="18" charset="0"/>
                                <a:cs typeface="ヒラギノ角ゴ Pro W3"/>
                              </a:rPr>
                              <m:t>𝑏</m:t>
                            </m:r>
                          </m:e>
                        </m:d>
                      </m:e>
                    </m:func>
                  </m:oMath>
                </a14:m>
                <a:r>
                  <a:rPr kumimoji="1" lang="en-US" altLang="ja-JP" sz="2800" dirty="0"/>
                  <a:t>)</a:t>
                </a:r>
                <a:endParaRPr kumimoji="1" lang="ja-JP" altLang="en-US" sz="2800"/>
              </a:p>
            </p:txBody>
          </p:sp>
        </mc:Choice>
        <mc:Fallback xmlns="">
          <p:sp>
            <p:nvSpPr>
              <p:cNvPr id="10" name="テキスト ボックス 9">
                <a:extLst>
                  <a:ext uri="{FF2B5EF4-FFF2-40B4-BE49-F238E27FC236}">
                    <a16:creationId xmlns:a16="http://schemas.microsoft.com/office/drawing/2014/main" id="{FE0B4583-07F3-4C5D-F7D8-48355E3BDAA9}"/>
                  </a:ext>
                </a:extLst>
              </p:cNvPr>
              <p:cNvSpPr txBox="1">
                <a:spLocks noRot="1" noChangeAspect="1" noMove="1" noResize="1" noEditPoints="1" noAdjustHandles="1" noChangeArrowheads="1" noChangeShapeType="1" noTextEdit="1"/>
              </p:cNvSpPr>
              <p:nvPr/>
            </p:nvSpPr>
            <p:spPr>
              <a:xfrm>
                <a:off x="1283970" y="5968968"/>
                <a:ext cx="3120662" cy="523220"/>
              </a:xfrm>
              <a:prstGeom prst="rect">
                <a:avLst/>
              </a:prstGeom>
              <a:blipFill>
                <a:blip r:embed="rId7"/>
                <a:stretch>
                  <a:fillRect l="-4049" t="-11628" r="-2834" b="-2790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8A595242-94E8-B141-024B-E46AC777B60B}"/>
                  </a:ext>
                </a:extLst>
              </p:cNvPr>
              <p:cNvSpPr txBox="1"/>
              <p:nvPr/>
            </p:nvSpPr>
            <p:spPr>
              <a:xfrm>
                <a:off x="1551214" y="3473855"/>
                <a:ext cx="5438476" cy="123271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cs typeface="ヒラギノ角ゴ Pro W3"/>
                            </a:rPr>
                          </m:ctrlPr>
                        </m:sSubPr>
                        <m:e>
                          <m:r>
                            <a:rPr kumimoji="1" lang="en-US" altLang="ja-JP" sz="3200" b="0" i="1" smtClean="0">
                              <a:latin typeface="Cambria Math" panose="02040503050406030204" pitchFamily="18" charset="0"/>
                              <a:cs typeface="ヒラギノ角ゴ Pro W3"/>
                            </a:rPr>
                            <m:t>𝑍</m:t>
                          </m:r>
                        </m:e>
                        <m:sub>
                          <m:r>
                            <a:rPr kumimoji="1" lang="en-US" altLang="ja-JP" sz="3200" b="0" i="1" smtClean="0">
                              <a:latin typeface="Cambria Math" panose="02040503050406030204" pitchFamily="18" charset="0"/>
                              <a:cs typeface="ヒラギノ角ゴ Pro W3"/>
                            </a:rPr>
                            <m:t>𝑗</m:t>
                          </m:r>
                        </m:sub>
                      </m:sSub>
                      <m:r>
                        <m:rPr>
                          <m:aln/>
                        </m:rPr>
                        <a:rPr kumimoji="1" lang="en-US" altLang="ja-JP" sz="3200" b="0" i="1" smtClean="0">
                          <a:latin typeface="Cambria Math" panose="02040503050406030204" pitchFamily="18" charset="0"/>
                          <a:cs typeface="ヒラギノ角ゴ Pro W3"/>
                        </a:rPr>
                        <m:t>=</m:t>
                      </m:r>
                      <m:func>
                        <m:funcPr>
                          <m:ctrlPr>
                            <a:rPr kumimoji="1" lang="en-US" altLang="ja-JP" sz="3200" b="0" i="1" smtClean="0">
                              <a:latin typeface="Cambria Math" panose="02040503050406030204" pitchFamily="18" charset="0"/>
                              <a:cs typeface="ヒラギノ角ゴ Pro W3"/>
                            </a:rPr>
                          </m:ctrlPr>
                        </m:funcPr>
                        <m:fName>
                          <m:r>
                            <m:rPr>
                              <m:sty m:val="p"/>
                            </m:rPr>
                            <a:rPr kumimoji="1" lang="en-US" altLang="ja-JP" sz="3200" b="0" i="0" smtClean="0">
                              <a:latin typeface="Cambria Math" panose="02040503050406030204" pitchFamily="18" charset="0"/>
                              <a:cs typeface="ヒラギノ角ゴ Pro W3"/>
                            </a:rPr>
                            <m:t>sup</m:t>
                          </m:r>
                        </m:fName>
                        <m:e>
                          <m:d>
                            <m:dPr>
                              <m:begChr m:val="{"/>
                              <m:endChr m:val="}"/>
                              <m:ctrlPr>
                                <a:rPr kumimoji="1" lang="en-US" altLang="ja-JP" sz="3200" b="0" i="1" smtClean="0">
                                  <a:latin typeface="Cambria Math" panose="02040503050406030204" pitchFamily="18" charset="0"/>
                                  <a:cs typeface="ヒラギノ角ゴ Pro W3"/>
                                </a:rPr>
                              </m:ctrlPr>
                            </m:dPr>
                            <m:e>
                              <m:r>
                                <a:rPr lang="en-US" altLang="ja-JP" sz="3200" i="1">
                                  <a:latin typeface="Cambria Math" panose="02040503050406030204" pitchFamily="18" charset="0"/>
                                </a:rPr>
                                <m:t>𝜆</m:t>
                              </m:r>
                              <m:r>
                                <a:rPr lang="en-US" altLang="ja-JP" sz="3200" b="0" i="1" smtClean="0">
                                  <a:latin typeface="Cambria Math" panose="02040503050406030204" pitchFamily="18" charset="0"/>
                                </a:rPr>
                                <m:t>:</m:t>
                              </m:r>
                              <m:sSub>
                                <m:sSubPr>
                                  <m:ctrlPr>
                                    <a:rPr lang="en-US" altLang="ja-JP" sz="3200" b="1" i="1" smtClean="0">
                                      <a:latin typeface="Cambria Math" panose="02040503050406030204" pitchFamily="18" charset="0"/>
                                    </a:rPr>
                                  </m:ctrlPr>
                                </m:sSubPr>
                                <m:e>
                                  <m:acc>
                                    <m:accPr>
                                      <m:chr m:val="̂"/>
                                      <m:ctrlPr>
                                        <a:rPr lang="ja-JP" altLang="en-US" sz="3200" i="1">
                                          <a:latin typeface="Cambria Math" panose="02040503050406030204" pitchFamily="18" charset="0"/>
                                        </a:rPr>
                                      </m:ctrlPr>
                                    </m:accPr>
                                    <m:e>
                                      <m:r>
                                        <a:rPr lang="ja-JP" altLang="en-US" sz="3200" b="0" i="1">
                                          <a:latin typeface="Cambria Math" panose="02040503050406030204" pitchFamily="18" charset="0"/>
                                        </a:rPr>
                                        <m:t>𝛽</m:t>
                                      </m:r>
                                    </m:e>
                                  </m:acc>
                                </m:e>
                                <m:sub>
                                  <m:r>
                                    <a:rPr lang="en-US" altLang="ja-JP" sz="3200" b="0" i="1" smtClean="0">
                                      <a:latin typeface="Cambria Math" panose="02040503050406030204" pitchFamily="18" charset="0"/>
                                    </a:rPr>
                                    <m:t>𝑗</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𝜆</m:t>
                                  </m:r>
                                </m:e>
                              </m:d>
                              <m:r>
                                <a:rPr lang="en-US" altLang="ja-JP" sz="3200" i="1" smtClean="0">
                                  <a:latin typeface="Cambria Math" panose="02040503050406030204" pitchFamily="18" charset="0"/>
                                </a:rPr>
                                <m:t>≠</m:t>
                              </m:r>
                              <m:r>
                                <a:rPr lang="en-US" altLang="ja-JP" sz="3200" b="0" i="1" smtClean="0">
                                  <a:latin typeface="Cambria Math" panose="02040503050406030204" pitchFamily="18" charset="0"/>
                                </a:rPr>
                                <m:t>0</m:t>
                              </m:r>
                            </m:e>
                          </m:d>
                          <m:r>
                            <a:rPr lang="en-US" altLang="ja-JP" sz="3200" b="0" i="1" smtClean="0">
                              <a:latin typeface="Cambria Math" panose="02040503050406030204" pitchFamily="18" charset="0"/>
                            </a:rPr>
                            <m:t>,</m:t>
                          </m:r>
                        </m:e>
                      </m:func>
                      <m:r>
                        <a:rPr lang="en-US" altLang="ja-JP" sz="3200" b="0" i="1" smtClean="0">
                          <a:latin typeface="Cambria Math" panose="02040503050406030204" pitchFamily="18" charset="0"/>
                        </a:rPr>
                        <m:t> </m:t>
                      </m:r>
                    </m:oMath>
                    <m:oMath xmlns:m="http://schemas.openxmlformats.org/officeDocument/2006/math">
                      <m:sSub>
                        <m:sSubPr>
                          <m:ctrlPr>
                            <a:rPr kumimoji="1" lang="en-US" altLang="ja-JP" sz="3200" i="1">
                              <a:latin typeface="Cambria Math" panose="02040503050406030204" pitchFamily="18" charset="0"/>
                            </a:rPr>
                          </m:ctrlPr>
                        </m:sSubPr>
                        <m:e>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𝑍</m:t>
                              </m:r>
                            </m:e>
                          </m:acc>
                        </m:e>
                        <m:sub>
                          <m:r>
                            <a:rPr kumimoji="1" lang="en-US" altLang="ja-JP" sz="3200" i="1">
                              <a:latin typeface="Cambria Math" panose="02040503050406030204" pitchFamily="18" charset="0"/>
                            </a:rPr>
                            <m:t>𝑗</m:t>
                          </m:r>
                          <m:r>
                            <a:rPr kumimoji="1" lang="en-US" altLang="ja-JP" sz="3200" i="1">
                              <a:latin typeface="Cambria Math" panose="02040503050406030204" pitchFamily="18" charset="0"/>
                            </a:rPr>
                            <m:t>+</m:t>
                          </m:r>
                          <m:r>
                            <a:rPr kumimoji="1" lang="en-US" altLang="ja-JP" sz="3200" i="1">
                              <a:latin typeface="Cambria Math" panose="02040503050406030204" pitchFamily="18" charset="0"/>
                            </a:rPr>
                            <m:t>𝑝</m:t>
                          </m:r>
                        </m:sub>
                      </m:sSub>
                      <m:r>
                        <m:rPr>
                          <m:aln/>
                        </m:rPr>
                        <a:rPr kumimoji="1" lang="en-US" altLang="ja-JP" sz="3200" i="1">
                          <a:latin typeface="Cambria Math" panose="02040503050406030204" pitchFamily="18" charset="0"/>
                          <a:cs typeface="ヒラギノ角ゴ Pro W3"/>
                        </a:rPr>
                        <m:t>=</m:t>
                      </m:r>
                      <m:func>
                        <m:funcPr>
                          <m:ctrlPr>
                            <a:rPr kumimoji="1" lang="en-US" altLang="ja-JP" sz="3200" i="1">
                              <a:latin typeface="Cambria Math" panose="02040503050406030204" pitchFamily="18" charset="0"/>
                              <a:cs typeface="ヒラギノ角ゴ Pro W3"/>
                            </a:rPr>
                          </m:ctrlPr>
                        </m:funcPr>
                        <m:fName>
                          <m:r>
                            <m:rPr>
                              <m:sty m:val="p"/>
                            </m:rPr>
                            <a:rPr kumimoji="1" lang="en-US" altLang="ja-JP" sz="3200">
                              <a:latin typeface="Cambria Math" panose="02040503050406030204" pitchFamily="18" charset="0"/>
                              <a:cs typeface="ヒラギノ角ゴ Pro W3"/>
                            </a:rPr>
                            <m:t>sup</m:t>
                          </m:r>
                        </m:fName>
                        <m:e>
                          <m:d>
                            <m:dPr>
                              <m:begChr m:val="{"/>
                              <m:endChr m:val="}"/>
                              <m:ctrlPr>
                                <a:rPr kumimoji="1" lang="en-US" altLang="ja-JP" sz="3200" i="1">
                                  <a:latin typeface="Cambria Math" panose="02040503050406030204" pitchFamily="18" charset="0"/>
                                  <a:cs typeface="ヒラギノ角ゴ Pro W3"/>
                                </a:rPr>
                              </m:ctrlPr>
                            </m:dPr>
                            <m:e>
                              <m:r>
                                <a:rPr lang="en-US" altLang="ja-JP" sz="3200" i="1">
                                  <a:latin typeface="Cambria Math" panose="02040503050406030204" pitchFamily="18" charset="0"/>
                                </a:rPr>
                                <m:t>𝜆</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acc>
                                    <m:accPr>
                                      <m:chr m:val="̂"/>
                                      <m:ctrlPr>
                                        <a:rPr lang="ja-JP" altLang="en-US" sz="3200" i="1">
                                          <a:latin typeface="Cambria Math" panose="02040503050406030204" pitchFamily="18" charset="0"/>
                                        </a:rPr>
                                      </m:ctrlPr>
                                    </m:accPr>
                                    <m:e>
                                      <m:r>
                                        <a:rPr lang="ja-JP" altLang="en-US" sz="3200" i="1">
                                          <a:latin typeface="Cambria Math" panose="02040503050406030204" pitchFamily="18" charset="0"/>
                                        </a:rPr>
                                        <m:t>𝛽</m:t>
                                      </m:r>
                                    </m:e>
                                  </m:acc>
                                </m:e>
                                <m:sub>
                                  <m:r>
                                    <a:rPr lang="en-US" altLang="ja-JP" sz="3200" i="1">
                                      <a:latin typeface="Cambria Math" panose="02040503050406030204" pitchFamily="18" charset="0"/>
                                    </a:rPr>
                                    <m:t>𝑗</m:t>
                                  </m:r>
                                  <m:r>
                                    <a:rPr lang="en-US" altLang="ja-JP" sz="3200" i="1">
                                      <a:latin typeface="Cambria Math" panose="02040503050406030204" pitchFamily="18" charset="0"/>
                                    </a:rPr>
                                    <m:t>+</m:t>
                                  </m:r>
                                  <m:r>
                                    <a:rPr lang="en-US" altLang="ja-JP" sz="3200" i="1">
                                      <a:latin typeface="Cambria Math" panose="02040503050406030204" pitchFamily="18" charset="0"/>
                                    </a:rPr>
                                    <m:t>𝑝</m:t>
                                  </m:r>
                                </m:sub>
                              </m:sSub>
                              <m:d>
                                <m:dPr>
                                  <m:ctrlPr>
                                    <a:rPr lang="en-US" altLang="ja-JP" sz="3200" i="1">
                                      <a:latin typeface="Cambria Math" panose="02040503050406030204" pitchFamily="18" charset="0"/>
                                    </a:rPr>
                                  </m:ctrlPr>
                                </m:dPr>
                                <m:e>
                                  <m:r>
                                    <a:rPr lang="en-US" altLang="ja-JP" sz="3200" i="1">
                                      <a:latin typeface="Cambria Math" panose="02040503050406030204" pitchFamily="18" charset="0"/>
                                    </a:rPr>
                                    <m:t>𝜆</m:t>
                                  </m:r>
                                </m:e>
                              </m:d>
                              <m:r>
                                <a:rPr lang="en-US" altLang="ja-JP" sz="3200" i="1">
                                  <a:latin typeface="Cambria Math" panose="02040503050406030204" pitchFamily="18" charset="0"/>
                                </a:rPr>
                                <m:t>≠0</m:t>
                              </m:r>
                            </m:e>
                          </m:d>
                          <m:r>
                            <a:rPr kumimoji="1" lang="en-US" altLang="ja-JP" sz="3200" i="1">
                              <a:latin typeface="Cambria Math" panose="02040503050406030204" pitchFamily="18" charset="0"/>
                            </a:rPr>
                            <m:t>,</m:t>
                          </m:r>
                        </m:e>
                      </m:func>
                    </m:oMath>
                  </m:oMathPara>
                </a14:m>
                <a:br>
                  <a:rPr kumimoji="1" lang="en-US" altLang="ja-JP" sz="3200" i="1" dirty="0">
                    <a:latin typeface="Cambria Math" panose="02040503050406030204" pitchFamily="18" charset="0"/>
                  </a:rPr>
                </a:br>
                <a:endParaRPr lang="en-US" altLang="ja-JP" sz="3200" b="0" i="1" dirty="0">
                  <a:latin typeface="Cambria Math" panose="02040503050406030204" pitchFamily="18" charset="0"/>
                </a:endParaRPr>
              </a:p>
            </p:txBody>
          </p:sp>
        </mc:Choice>
        <mc:Fallback xmlns="">
          <p:sp>
            <p:nvSpPr>
              <p:cNvPr id="12" name="テキスト ボックス 11">
                <a:extLst>
                  <a:ext uri="{FF2B5EF4-FFF2-40B4-BE49-F238E27FC236}">
                    <a16:creationId xmlns:a16="http://schemas.microsoft.com/office/drawing/2014/main" id="{8A595242-94E8-B141-024B-E46AC777B60B}"/>
                  </a:ext>
                </a:extLst>
              </p:cNvPr>
              <p:cNvSpPr txBox="1">
                <a:spLocks noRot="1" noChangeAspect="1" noMove="1" noResize="1" noEditPoints="1" noAdjustHandles="1" noChangeArrowheads="1" noChangeShapeType="1" noTextEdit="1"/>
              </p:cNvSpPr>
              <p:nvPr/>
            </p:nvSpPr>
            <p:spPr>
              <a:xfrm>
                <a:off x="1551214" y="3473855"/>
                <a:ext cx="5438476" cy="1232710"/>
              </a:xfrm>
              <a:prstGeom prst="rect">
                <a:avLst/>
              </a:prstGeom>
              <a:blipFill>
                <a:blip r:embed="rId8"/>
                <a:stretch>
                  <a:fillRect t="-5102" b="-71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991347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2039D0-1CFF-0BE8-40E2-B345A2C25A37}"/>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22" name="角丸四角形 21">
            <a:extLst>
              <a:ext uri="{FF2B5EF4-FFF2-40B4-BE49-F238E27FC236}">
                <a16:creationId xmlns:a16="http://schemas.microsoft.com/office/drawing/2014/main" id="{3654DEF8-23B6-34DA-51BE-5C66E3DBA3C4}"/>
              </a:ext>
            </a:extLst>
          </p:cNvPr>
          <p:cNvSpPr/>
          <p:nvPr/>
        </p:nvSpPr>
        <p:spPr>
          <a:xfrm>
            <a:off x="1886138" y="3390800"/>
            <a:ext cx="8811491" cy="999163"/>
          </a:xfrm>
          <a:prstGeom prst="round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2CB0568-876F-45E6-6E94-2E817648DC83}"/>
              </a:ext>
            </a:extLst>
          </p:cNvPr>
          <p:cNvSpPr/>
          <p:nvPr/>
        </p:nvSpPr>
        <p:spPr>
          <a:xfrm>
            <a:off x="2819590" y="3176884"/>
            <a:ext cx="6944589" cy="3781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コンテンツ プレースホルダー 2">
                <a:extLst>
                  <a:ext uri="{FF2B5EF4-FFF2-40B4-BE49-F238E27FC236}">
                    <a16:creationId xmlns:a16="http://schemas.microsoft.com/office/drawing/2014/main" id="{AE9442C9-8115-CF19-10D4-06D3B4B70C7D}"/>
                  </a:ext>
                </a:extLst>
              </p:cNvPr>
              <p:cNvSpPr txBox="1">
                <a:spLocks/>
              </p:cNvSpPr>
              <p:nvPr/>
            </p:nvSpPr>
            <p:spPr>
              <a:xfrm>
                <a:off x="0" y="1339041"/>
                <a:ext cx="11782271" cy="17551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chemeClr val="accent3"/>
                  </a:buClr>
                  <a:buFont typeface="Arial" panose="020B0604020202020204" pitchFamily="34" charset="0"/>
                  <a:buNone/>
                </a:pPr>
                <a:r>
                  <a:rPr lang="en-US" altLang="ja-JP" sz="3200" dirty="0">
                    <a:solidFill>
                      <a:srgbClr val="7030A0"/>
                    </a:solidFill>
                    <a:latin typeface="+mn-ea"/>
                    <a:cs typeface="ヒラギノ角ゴ Pro W3"/>
                  </a:rPr>
                  <a:t> 3. </a:t>
                </a:r>
                <a:r>
                  <a:rPr lang="ja-JP" altLang="en-US" sz="3200">
                    <a:solidFill>
                      <a:srgbClr val="7030A0"/>
                    </a:solidFill>
                    <a:latin typeface="+mn-ea"/>
                    <a:cs typeface="ヒラギノ角ゴ Pro W3"/>
                  </a:rPr>
                  <a:t>しきい値</a:t>
                </a:r>
                <a14:m>
                  <m:oMath xmlns:m="http://schemas.openxmlformats.org/officeDocument/2006/math">
                    <m:r>
                      <a:rPr lang="en-US" altLang="ja-JP" sz="3200" i="1">
                        <a:solidFill>
                          <a:srgbClr val="7030A0"/>
                        </a:solidFill>
                        <a:latin typeface="Cambria Math" panose="02040503050406030204" pitchFamily="18" charset="0"/>
                        <a:cs typeface="ヒラギノ角ゴ Pro W3"/>
                      </a:rPr>
                      <m:t>𝑇</m:t>
                    </m:r>
                  </m:oMath>
                </a14:m>
                <a:r>
                  <a:rPr lang="ja-JP" altLang="en-US" sz="3200">
                    <a:solidFill>
                      <a:srgbClr val="7030A0"/>
                    </a:solidFill>
                    <a:latin typeface="+mn-ea"/>
                    <a:cs typeface="ヒラギノ角ゴ Pro W3"/>
                  </a:rPr>
                  <a:t>の導出</a:t>
                </a:r>
                <a:endParaRPr lang="en-US" altLang="ja-JP" sz="3200" dirty="0">
                  <a:solidFill>
                    <a:srgbClr val="7030A0"/>
                  </a:solidFill>
                  <a:latin typeface="+mn-ea"/>
                  <a:cs typeface="ヒラギノ角ゴ Pro W3"/>
                </a:endParaRPr>
              </a:p>
              <a:p>
                <a:pPr marL="0" indent="0">
                  <a:buClr>
                    <a:schemeClr val="accent3"/>
                  </a:buCl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ja-JP" sz="3200" i="1" smtClean="0">
                          <a:latin typeface="Cambria Math" panose="02040503050406030204" pitchFamily="18" charset="0"/>
                        </a:rPr>
                        <m:t>𝑇</m:t>
                      </m:r>
                      <m:r>
                        <a:rPr lang="en-US" altLang="ja-JP" sz="3200" i="1" smtClean="0">
                          <a:latin typeface="Cambria Math" panose="02040503050406030204" pitchFamily="18" charset="0"/>
                        </a:rPr>
                        <m:t>=</m:t>
                      </m:r>
                      <m:func>
                        <m:funcPr>
                          <m:ctrlPr>
                            <a:rPr lang="en-US" altLang="ja-JP" sz="3200" i="1" smtClean="0">
                              <a:latin typeface="Cambria Math" panose="02040503050406030204" pitchFamily="18" charset="0"/>
                            </a:rPr>
                          </m:ctrlPr>
                        </m:funcPr>
                        <m:fName>
                          <m:r>
                            <m:rPr>
                              <m:sty m:val="p"/>
                            </m:rPr>
                            <a:rPr lang="en-US" altLang="ja-JP" sz="3200" smtClean="0">
                              <a:latin typeface="Cambria Math" panose="02040503050406030204" pitchFamily="18" charset="0"/>
                            </a:rPr>
                            <m:t>min</m:t>
                          </m:r>
                        </m:fName>
                        <m:e>
                          <m:d>
                            <m:dPr>
                              <m:begChr m:val="{"/>
                              <m:endChr m:val="}"/>
                              <m:ctrlPr>
                                <a:rPr lang="en-US" altLang="ja-JP" sz="3200" i="1" smtClean="0">
                                  <a:latin typeface="Cambria Math" panose="02040503050406030204" pitchFamily="18" charset="0"/>
                                </a:rPr>
                              </m:ctrlPr>
                            </m:dPr>
                            <m:e>
                              <m:r>
                                <a:rPr lang="en-US" altLang="ja-JP" sz="3200" i="1" smtClean="0">
                                  <a:latin typeface="Cambria Math" panose="02040503050406030204" pitchFamily="18" charset="0"/>
                                </a:rPr>
                                <m:t>𝑡</m:t>
                              </m:r>
                              <m:r>
                                <a:rPr lang="en-US" altLang="ja-JP" sz="3200" i="1" smtClean="0">
                                  <a:latin typeface="Cambria Math" panose="02040503050406030204" pitchFamily="18" charset="0"/>
                                </a:rPr>
                                <m:t>∈</m:t>
                              </m:r>
                              <m:d>
                                <m:dPr>
                                  <m:begChr m:val="|"/>
                                  <m:endChr m:val="|"/>
                                  <m:ctrlPr>
                                    <a:rPr lang="en-US" altLang="ja-JP" sz="3200" b="0" i="1" smtClean="0">
                                      <a:latin typeface="Cambria Math" panose="02040503050406030204" pitchFamily="18" charset="0"/>
                                    </a:rPr>
                                  </m:ctrlPr>
                                </m:dPr>
                                <m:e>
                                  <m:r>
                                    <a:rPr lang="en-US" altLang="ja-JP" sz="3200" i="1" smtClean="0">
                                      <a:latin typeface="Cambria Math" panose="02040503050406030204" pitchFamily="18" charset="0"/>
                                    </a:rPr>
                                    <m:t>𝑊</m:t>
                                  </m:r>
                                </m:e>
                              </m:d>
                              <m:r>
                                <a:rPr lang="en-US" altLang="ja-JP" sz="3200" i="1" smtClean="0">
                                  <a:latin typeface="Cambria Math" panose="02040503050406030204" pitchFamily="18" charset="0"/>
                                </a:rPr>
                                <m:t>:</m:t>
                              </m:r>
                              <m:f>
                                <m:fPr>
                                  <m:ctrlPr>
                                    <a:rPr lang="en-US" altLang="ja-JP" sz="3200" i="1" smtClean="0">
                                      <a:latin typeface="Cambria Math" panose="02040503050406030204" pitchFamily="18" charset="0"/>
                                    </a:rPr>
                                  </m:ctrlPr>
                                </m:fPr>
                                <m:num>
                                  <m:r>
                                    <a:rPr lang="en-US" altLang="ja-JP" sz="3200" b="0" i="1" smtClean="0">
                                      <a:latin typeface="Cambria Math" panose="02040503050406030204" pitchFamily="18" charset="0"/>
                                    </a:rPr>
                                    <m:t>1+</m:t>
                                  </m:r>
                                  <m:r>
                                    <a:rPr lang="en-US" altLang="ja-JP" sz="3200" i="1">
                                      <a:latin typeface="Cambria Math" panose="02040503050406030204" pitchFamily="18" charset="0"/>
                                    </a:rPr>
                                    <m:t>#{</m:t>
                                  </m:r>
                                  <m:r>
                                    <a:rPr lang="en-US" altLang="ja-JP" sz="3200" i="1">
                                      <a:latin typeface="Cambria Math" panose="02040503050406030204" pitchFamily="18" charset="0"/>
                                    </a:rPr>
                                    <m:t>𝑗</m:t>
                                  </m:r>
                                  <m:r>
                                    <a:rPr lang="en-US" altLang="ja-JP" sz="3200" i="1">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𝑊</m:t>
                                      </m:r>
                                    </m:e>
                                    <m:sub>
                                      <m:r>
                                        <a:rPr lang="en-US" altLang="ja-JP" sz="3200" i="1">
                                          <a:latin typeface="Cambria Math" panose="02040503050406030204" pitchFamily="18" charset="0"/>
                                        </a:rPr>
                                        <m:t>𝑗</m:t>
                                      </m:r>
                                    </m:sub>
                                  </m:sSub>
                                  <m:r>
                                    <a:rPr lang="en-US" altLang="ja-JP" sz="3200" i="1" smtClean="0">
                                      <a:latin typeface="Cambria Math" panose="02040503050406030204" pitchFamily="18" charset="0"/>
                                    </a:rPr>
                                    <m:t>≤−</m:t>
                                  </m:r>
                                  <m:r>
                                    <a:rPr lang="en-US" altLang="ja-JP" sz="3200" i="1">
                                      <a:latin typeface="Cambria Math" panose="02040503050406030204" pitchFamily="18" charset="0"/>
                                    </a:rPr>
                                    <m:t>𝑡</m:t>
                                  </m:r>
                                  <m:r>
                                    <a:rPr lang="en-US" altLang="ja-JP" sz="3200" i="1">
                                      <a:latin typeface="Cambria Math" panose="02040503050406030204" pitchFamily="18" charset="0"/>
                                    </a:rPr>
                                    <m:t>}</m:t>
                                  </m:r>
                                </m:num>
                                <m:den>
                                  <m:r>
                                    <a:rPr lang="en-US" altLang="ja-JP" sz="3200" i="1" smtClean="0">
                                      <a:latin typeface="Cambria Math" panose="02040503050406030204" pitchFamily="18" charset="0"/>
                                    </a:rPr>
                                    <m:t>#{</m:t>
                                  </m:r>
                                  <m:r>
                                    <a:rPr lang="en-US" altLang="ja-JP" sz="3200" i="1" smtClean="0">
                                      <a:latin typeface="Cambria Math" panose="02040503050406030204" pitchFamily="18" charset="0"/>
                                    </a:rPr>
                                    <m:t>𝑗</m:t>
                                  </m:r>
                                  <m:r>
                                    <a:rPr lang="en-US" altLang="ja-JP" sz="3200" i="1" smtClean="0">
                                      <a:latin typeface="Cambria Math" panose="02040503050406030204" pitchFamily="18" charset="0"/>
                                    </a:rPr>
                                    <m:t>:</m:t>
                                  </m:r>
                                  <m:sSub>
                                    <m:sSubPr>
                                      <m:ctrlPr>
                                        <a:rPr lang="en-US" altLang="ja-JP" sz="3200" i="1">
                                          <a:latin typeface="Cambria Math" panose="02040503050406030204" pitchFamily="18" charset="0"/>
                                        </a:rPr>
                                      </m:ctrlPr>
                                    </m:sSubPr>
                                    <m:e>
                                      <m:r>
                                        <a:rPr lang="en-US" altLang="ja-JP" sz="3200" i="1">
                                          <a:latin typeface="Cambria Math" panose="02040503050406030204" pitchFamily="18" charset="0"/>
                                        </a:rPr>
                                        <m:t>𝑊</m:t>
                                      </m:r>
                                    </m:e>
                                    <m:sub>
                                      <m:r>
                                        <a:rPr lang="en-US" altLang="ja-JP" sz="3200" i="1">
                                          <a:latin typeface="Cambria Math" panose="02040503050406030204" pitchFamily="18" charset="0"/>
                                        </a:rPr>
                                        <m:t>𝑗</m:t>
                                      </m:r>
                                    </m:sub>
                                  </m:sSub>
                                  <m:r>
                                    <a:rPr lang="en-US" altLang="ja-JP" sz="3200" i="1" smtClean="0">
                                      <a:latin typeface="Cambria Math" panose="02040503050406030204" pitchFamily="18" charset="0"/>
                                    </a:rPr>
                                    <m:t>≥</m:t>
                                  </m:r>
                                  <m:r>
                                    <a:rPr lang="en-US" altLang="ja-JP" sz="3200" i="1" smtClean="0">
                                      <a:latin typeface="Cambria Math" panose="02040503050406030204" pitchFamily="18" charset="0"/>
                                    </a:rPr>
                                    <m:t>𝑡</m:t>
                                  </m:r>
                                  <m:r>
                                    <a:rPr lang="en-US" altLang="ja-JP" sz="3200" i="1" smtClean="0">
                                      <a:latin typeface="Cambria Math" panose="02040503050406030204" pitchFamily="18" charset="0"/>
                                    </a:rPr>
                                    <m:t>}∨1</m:t>
                                  </m:r>
                                </m:den>
                              </m:f>
                              <m:r>
                                <a:rPr lang="en-US" altLang="ja-JP" sz="3200" i="1" smtClean="0">
                                  <a:latin typeface="Cambria Math" panose="02040503050406030204" pitchFamily="18" charset="0"/>
                                </a:rPr>
                                <m:t>≤</m:t>
                              </m:r>
                              <m:r>
                                <a:rPr lang="en-US" altLang="ja-JP" sz="3200" i="1" smtClean="0">
                                  <a:latin typeface="Cambria Math" panose="02040503050406030204" pitchFamily="18" charset="0"/>
                                </a:rPr>
                                <m:t>𝑞</m:t>
                              </m:r>
                              <m:d>
                                <m:dPr>
                                  <m:ctrlPr>
                                    <a:rPr lang="en-US" altLang="ja-JP" sz="3200" i="1" smtClean="0">
                                      <a:latin typeface="Cambria Math" panose="02040503050406030204" pitchFamily="18" charset="0"/>
                                    </a:rPr>
                                  </m:ctrlPr>
                                </m:dPr>
                                <m:e>
                                  <m:r>
                                    <a:rPr lang="ja-JP" altLang="en-US" sz="3200" i="1">
                                      <a:latin typeface="Cambria Math" panose="02040503050406030204" pitchFamily="18" charset="0"/>
                                    </a:rPr>
                                    <m:t>設定値</m:t>
                                  </m:r>
                                </m:e>
                              </m:d>
                            </m:e>
                          </m:d>
                        </m:e>
                      </m:func>
                      <m:r>
                        <a:rPr lang="en-US" altLang="ja-JP" sz="3200" i="1" smtClean="0">
                          <a:latin typeface="Cambria Math" panose="02040503050406030204" pitchFamily="18" charset="0"/>
                        </a:rPr>
                        <m:t> (</m:t>
                      </m:r>
                      <m:r>
                        <a:rPr lang="en-US" altLang="ja-JP" sz="3200" i="1" smtClean="0">
                          <a:latin typeface="Cambria Math" panose="02040503050406030204" pitchFamily="18" charset="0"/>
                        </a:rPr>
                        <m:t>𝑡</m:t>
                      </m:r>
                      <m:r>
                        <a:rPr lang="en-US" altLang="ja-JP" sz="3200" i="1" smtClean="0">
                          <a:latin typeface="Cambria Math" panose="02040503050406030204" pitchFamily="18" charset="0"/>
                        </a:rPr>
                        <m:t>&gt;0)</m:t>
                      </m:r>
                    </m:oMath>
                  </m:oMathPara>
                </a14:m>
                <a:endParaRPr lang="en-US" altLang="ja-JP" sz="3200" dirty="0">
                  <a:latin typeface="+mn-ea"/>
                </a:endParaRPr>
              </a:p>
            </p:txBody>
          </p:sp>
        </mc:Choice>
        <mc:Fallback xmlns="">
          <p:sp>
            <p:nvSpPr>
              <p:cNvPr id="25" name="コンテンツ プレースホルダー 2">
                <a:extLst>
                  <a:ext uri="{FF2B5EF4-FFF2-40B4-BE49-F238E27FC236}">
                    <a16:creationId xmlns:a16="http://schemas.microsoft.com/office/drawing/2014/main" id="{AE9442C9-8115-CF19-10D4-06D3B4B70C7D}"/>
                  </a:ext>
                </a:extLst>
              </p:cNvPr>
              <p:cNvSpPr txBox="1">
                <a:spLocks noRot="1" noChangeAspect="1" noMove="1" noResize="1" noEditPoints="1" noAdjustHandles="1" noChangeArrowheads="1" noChangeShapeType="1" noTextEdit="1"/>
              </p:cNvSpPr>
              <p:nvPr/>
            </p:nvSpPr>
            <p:spPr>
              <a:xfrm>
                <a:off x="0" y="1339041"/>
                <a:ext cx="11782271" cy="1755183"/>
              </a:xfrm>
              <a:prstGeom prst="rect">
                <a:avLst/>
              </a:prstGeom>
              <a:blipFill>
                <a:blip r:embed="rId3"/>
                <a:stretch>
                  <a:fillRect l="-323" t="-64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20467" y="3216960"/>
                <a:ext cx="12192000" cy="4340431"/>
              </a:xfrm>
            </p:spPr>
            <p:txBody>
              <a:bodyPr>
                <a:noAutofit/>
              </a:bodyPr>
              <a:lstStyle/>
              <a:p>
                <a:pPr marL="0" indent="0" algn="ctr">
                  <a:buClr>
                    <a:schemeClr val="accent3"/>
                  </a:buClr>
                  <a:buNone/>
                </a:pPr>
                <a:r>
                  <a:rPr lang="ja-JP" altLang="en-US">
                    <a:solidFill>
                      <a:srgbClr val="0070C0"/>
                    </a:solidFill>
                    <a:latin typeface="+mn-ea"/>
                    <a:cs typeface="ヒラギノ角ゴ Pro W3"/>
                  </a:rPr>
                  <a:t>線形回帰モデルにおける交換可能性</a:t>
                </a:r>
                <a:r>
                  <a:rPr lang="en-US" altLang="ja-JP" dirty="0">
                    <a:solidFill>
                      <a:srgbClr val="0070C0"/>
                    </a:solidFill>
                    <a:latin typeface="+mn-ea"/>
                    <a:cs typeface="ヒラギノ角ゴ Pro W3"/>
                  </a:rPr>
                  <a:t> </a:t>
                </a:r>
                <a:endParaRPr lang="en-US" altLang="ja-JP" sz="800" dirty="0">
                  <a:solidFill>
                    <a:srgbClr val="0070C0"/>
                  </a:solidFill>
                  <a:latin typeface="+mn-ea"/>
                  <a:cs typeface="ヒラギノ角ゴ Pro W3"/>
                </a:endParaRPr>
              </a:p>
              <a:p>
                <a:pPr marL="0" indent="0">
                  <a:buClr>
                    <a:schemeClr val="accent3"/>
                  </a:buClr>
                  <a:buNone/>
                </a:pPr>
                <a14:m>
                  <m:oMathPara xmlns:m="http://schemas.openxmlformats.org/officeDocument/2006/math">
                    <m:oMathParaPr>
                      <m:jc m:val="center"/>
                    </m:oMathParaPr>
                    <m:oMath xmlns:m="http://schemas.openxmlformats.org/officeDocument/2006/math">
                      <m:r>
                        <a:rPr lang="en-US" altLang="ja-JP" b="0" i="1" smtClean="0">
                          <a:latin typeface="Cambria Math" panose="02040503050406030204" pitchFamily="18" charset="0"/>
                          <a:cs typeface="ヒラギノ角ゴ Pro W3"/>
                        </a:rPr>
                        <m:t>#</m:t>
                      </m:r>
                      <m:d>
                        <m:dPr>
                          <m:begChr m:val="{"/>
                          <m:endChr m:val="}"/>
                          <m:ctrlPr>
                            <a:rPr lang="en-US" altLang="ja-JP" b="0" i="1" smtClean="0">
                              <a:latin typeface="Cambria Math" panose="02040503050406030204" pitchFamily="18" charset="0"/>
                              <a:cs typeface="ヒラギノ角ゴ Pro W3"/>
                            </a:rPr>
                          </m:ctrlPr>
                        </m:dPr>
                        <m:e>
                          <m:r>
                            <a:rPr lang="en-US" altLang="ja-JP" b="0" i="1" smtClean="0">
                              <a:latin typeface="Cambria Math" panose="02040503050406030204" pitchFamily="18" charset="0"/>
                              <a:cs typeface="ヒラギノ角ゴ Pro W3"/>
                            </a:rPr>
                            <m:t> </m:t>
                          </m:r>
                          <m:r>
                            <a:rPr lang="en-US" altLang="ja-JP" b="0" i="1" smtClean="0">
                              <a:latin typeface="Cambria Math" panose="02040503050406030204" pitchFamily="18" charset="0"/>
                              <a:cs typeface="ヒラギノ角ゴ Pro W3"/>
                            </a:rPr>
                            <m:t>𝑗</m:t>
                          </m:r>
                          <m:r>
                            <a:rPr lang="en-US" altLang="ja-JP" b="0" i="1" smtClean="0">
                              <a:latin typeface="Cambria Math" panose="02040503050406030204" pitchFamily="18" charset="0"/>
                              <a:cs typeface="ヒラギノ角ゴ Pro W3"/>
                            </a:rPr>
                            <m:t> :</m:t>
                          </m:r>
                          <m:sSub>
                            <m:sSubPr>
                              <m:ctrlPr>
                                <a:rPr lang="en-US" altLang="ja-JP" b="0" i="1">
                                  <a:latin typeface="Cambria Math" panose="02040503050406030204" pitchFamily="18" charset="0"/>
                                  <a:cs typeface="ヒラギノ角ゴ Pro W3"/>
                                </a:rPr>
                              </m:ctrlPr>
                            </m:sSubPr>
                            <m:e>
                              <m:r>
                                <a:rPr lang="en-US" altLang="ja-JP" i="1">
                                  <a:latin typeface="Cambria Math" panose="02040503050406030204" pitchFamily="18" charset="0"/>
                                </a:rPr>
                                <m:t>𝛽</m:t>
                              </m:r>
                            </m:e>
                            <m:sub>
                              <m:r>
                                <a:rPr lang="en-US" altLang="ja-JP" b="0" i="1" smtClean="0">
                                  <a:latin typeface="Cambria Math" panose="02040503050406030204" pitchFamily="18" charset="0"/>
                                </a:rPr>
                                <m:t>𝑗</m:t>
                              </m:r>
                            </m:sub>
                          </m:sSub>
                          <m:r>
                            <a:rPr lang="en-US" altLang="ja-JP" b="0" i="1" smtClean="0">
                              <a:latin typeface="Cambria Math" panose="02040503050406030204" pitchFamily="18" charset="0"/>
                            </a:rPr>
                            <m:t>=0 </m:t>
                          </m:r>
                          <m:r>
                            <a:rPr lang="en-US" altLang="ja-JP" b="0" i="1" smtClean="0">
                              <a:latin typeface="Cambria Math" panose="02040503050406030204" pitchFamily="18" charset="0"/>
                            </a:rPr>
                            <m:t>𝑎𝑛𝑑</m:t>
                          </m:r>
                          <m:r>
                            <a:rPr lang="en-US" altLang="ja-JP" b="0" i="1" smtClean="0">
                              <a:latin typeface="Cambria Math" panose="02040503050406030204" pitchFamily="18" charset="0"/>
                            </a:rPr>
                            <m:t> </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𝑊</m:t>
                              </m:r>
                            </m:e>
                            <m:sub>
                              <m:r>
                                <a:rPr lang="en-US" altLang="ja-JP" b="0" i="1" smtClean="0">
                                  <a:latin typeface="Cambria Math" panose="02040503050406030204" pitchFamily="18" charset="0"/>
                                </a:rPr>
                                <m:t>𝑗</m:t>
                              </m:r>
                            </m:sub>
                          </m:sSub>
                          <m:r>
                            <a:rPr lang="en-US" altLang="ja-JP" b="0"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𝑡</m:t>
                          </m:r>
                        </m:e>
                      </m:d>
                      <m:limUpp>
                        <m:limUppPr>
                          <m:ctrlPr>
                            <a:rPr lang="ar-AE" altLang="ja-JP" i="1">
                              <a:solidFill>
                                <a:srgbClr val="000000"/>
                              </a:solidFill>
                              <a:latin typeface="Cambria Math" panose="02040503050406030204" pitchFamily="18" charset="0"/>
                            </a:rPr>
                          </m:ctrlPr>
                        </m:limUppPr>
                        <m:e>
                          <m:r>
                            <a:rPr lang="ar-AE" altLang="ja-JP" i="1">
                              <a:solidFill>
                                <a:srgbClr val="000000"/>
                              </a:solidFill>
                              <a:latin typeface="Cambria Math" panose="02040503050406030204" pitchFamily="18" charset="0"/>
                            </a:rPr>
                            <m:t>=</m:t>
                          </m:r>
                        </m:e>
                        <m:lim>
                          <m:r>
                            <a:rPr lang="ar-AE" altLang="ja-JP" i="1">
                              <a:solidFill>
                                <a:srgbClr val="000000"/>
                              </a:solidFill>
                              <a:latin typeface="Cambria Math" panose="02040503050406030204" pitchFamily="18" charset="0"/>
                            </a:rPr>
                            <m:t>𝑑</m:t>
                          </m:r>
                        </m:lim>
                      </m:limUpp>
                      <m:r>
                        <a:rPr lang="en-US" altLang="ja-JP" i="1">
                          <a:latin typeface="Cambria Math" panose="02040503050406030204" pitchFamily="18" charset="0"/>
                          <a:cs typeface="ヒラギノ角ゴ Pro W3"/>
                        </a:rPr>
                        <m:t>#</m:t>
                      </m:r>
                      <m:d>
                        <m:dPr>
                          <m:begChr m:val="{"/>
                          <m:endChr m:val="}"/>
                          <m:ctrlPr>
                            <a:rPr lang="en-US" altLang="ja-JP" i="1">
                              <a:latin typeface="Cambria Math" panose="02040503050406030204" pitchFamily="18" charset="0"/>
                              <a:cs typeface="ヒラギノ角ゴ Pro W3"/>
                            </a:rPr>
                          </m:ctrlPr>
                        </m:dPr>
                        <m:e>
                          <m:r>
                            <a:rPr lang="en-US" altLang="ja-JP" b="0" i="1" smtClean="0">
                              <a:latin typeface="Cambria Math" panose="02040503050406030204" pitchFamily="18" charset="0"/>
                              <a:cs typeface="ヒラギノ角ゴ Pro W3"/>
                            </a:rPr>
                            <m:t> </m:t>
                          </m:r>
                          <m:r>
                            <a:rPr lang="en-US" altLang="ja-JP" i="1">
                              <a:latin typeface="Cambria Math" panose="02040503050406030204" pitchFamily="18" charset="0"/>
                              <a:cs typeface="ヒラギノ角ゴ Pro W3"/>
                            </a:rPr>
                            <m:t>𝑗</m:t>
                          </m:r>
                          <m:r>
                            <a:rPr lang="en-US" altLang="ja-JP" b="0" i="1" smtClean="0">
                              <a:latin typeface="Cambria Math" panose="02040503050406030204" pitchFamily="18" charset="0"/>
                              <a:cs typeface="ヒラギノ角ゴ Pro W3"/>
                            </a:rPr>
                            <m:t> </m:t>
                          </m:r>
                          <m:r>
                            <a:rPr lang="en-US" altLang="ja-JP" i="1">
                              <a:latin typeface="Cambria Math" panose="02040503050406030204" pitchFamily="18" charset="0"/>
                              <a:cs typeface="ヒラギノ角ゴ Pro W3"/>
                            </a:rPr>
                            <m:t>:</m:t>
                          </m:r>
                          <m:sSub>
                            <m:sSubPr>
                              <m:ctrlPr>
                                <a:rPr lang="en-US" altLang="ja-JP" i="1">
                                  <a:latin typeface="Cambria Math" panose="02040503050406030204" pitchFamily="18" charset="0"/>
                                  <a:cs typeface="ヒラギノ角ゴ Pro W3"/>
                                </a:rPr>
                              </m:ctrlPr>
                            </m:sSubPr>
                            <m:e>
                              <m:r>
                                <a:rPr lang="en-US" altLang="ja-JP" i="1">
                                  <a:latin typeface="Cambria Math" panose="02040503050406030204" pitchFamily="18" charset="0"/>
                                </a:rPr>
                                <m:t>𝛽</m:t>
                              </m:r>
                            </m:e>
                            <m:sub>
                              <m:r>
                                <a:rPr lang="en-US" altLang="ja-JP" i="1">
                                  <a:latin typeface="Cambria Math" panose="02040503050406030204" pitchFamily="18" charset="0"/>
                                </a:rPr>
                                <m:t>𝑗</m:t>
                              </m:r>
                            </m:sub>
                          </m:sSub>
                          <m:r>
                            <a:rPr lang="en-US" altLang="ja-JP" i="1">
                              <a:latin typeface="Cambria Math" panose="02040503050406030204" pitchFamily="18" charset="0"/>
                            </a:rPr>
                            <m:t>=0 </m:t>
                          </m:r>
                          <m:r>
                            <a:rPr lang="en-US" altLang="ja-JP" i="1">
                              <a:latin typeface="Cambria Math" panose="02040503050406030204" pitchFamily="18" charset="0"/>
                            </a:rPr>
                            <m:t>𝑎𝑛𝑑</m:t>
                          </m:r>
                          <m:r>
                            <a:rPr lang="en-US" altLang="ja-JP" i="1">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𝑊</m:t>
                              </m:r>
                            </m:e>
                            <m:sub>
                              <m:r>
                                <a:rPr lang="en-US" altLang="ja-JP" i="1">
                                  <a:latin typeface="Cambria Math" panose="02040503050406030204" pitchFamily="18" charset="0"/>
                                </a:rPr>
                                <m:t>𝑗</m:t>
                              </m:r>
                            </m:sub>
                          </m:sSub>
                          <m:r>
                            <a:rPr lang="en-US" altLang="ja-JP"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𝑡</m:t>
                          </m:r>
                        </m:e>
                      </m:d>
                    </m:oMath>
                  </m:oMathPara>
                </a14:m>
                <a:endParaRPr lang="en-US" altLang="ja-JP" dirty="0">
                  <a:latin typeface="+mn-ea"/>
                  <a:cs typeface="ヒラギノ角ゴ Pro W3"/>
                </a:endParaRPr>
              </a:p>
              <a:p>
                <a:pPr marL="0" indent="0">
                  <a:buClr>
                    <a:schemeClr val="accent3"/>
                  </a:buClr>
                  <a:buNone/>
                </a:pPr>
                <a:endParaRPr lang="en-US" altLang="ja-JP" sz="800" dirty="0">
                  <a:latin typeface="+mn-ea"/>
                  <a:cs typeface="ヒラギノ角ゴ Pro W3"/>
                </a:endParaRPr>
              </a:p>
              <a:p>
                <a:pPr marL="0" indent="0">
                  <a:buClr>
                    <a:schemeClr val="accent3"/>
                  </a:buClr>
                  <a:buNone/>
                </a:pPr>
                <a:r>
                  <a:rPr lang="ja-JP" altLang="en-US">
                    <a:latin typeface="+mn-ea"/>
                    <a:cs typeface="ヒラギノ角ゴ Pro W3"/>
                  </a:rPr>
                  <a:t>このとき</a:t>
                </a:r>
                <a:r>
                  <a:rPr lang="en-US" altLang="ja-JP" dirty="0">
                    <a:latin typeface="+mn-ea"/>
                    <a:cs typeface="ヒラギノ角ゴ Pro W3"/>
                  </a:rPr>
                  <a:t>, </a:t>
                </a: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20467" y="3216960"/>
                <a:ext cx="12192000" cy="4340431"/>
              </a:xfrm>
              <a:blipFill>
                <a:blip r:embed="rId4"/>
                <a:stretch>
                  <a:fillRect l="-1041" t="-2332"/>
                </a:stretch>
              </a:blipFill>
            </p:spPr>
            <p:txBody>
              <a:bodyPr/>
              <a:lstStyle/>
              <a:p>
                <a:r>
                  <a:rPr lang="ja-JP" altLang="en-US">
                    <a:noFill/>
                  </a:rPr>
                  <a:t> </a:t>
                </a:r>
              </a:p>
            </p:txBody>
          </p:sp>
        </mc:Fallback>
      </mc:AlternateContent>
      <p:sp>
        <p:nvSpPr>
          <p:cNvPr id="29" name="角丸四角形吹き出し 28">
            <a:extLst>
              <a:ext uri="{FF2B5EF4-FFF2-40B4-BE49-F238E27FC236}">
                <a16:creationId xmlns:a16="http://schemas.microsoft.com/office/drawing/2014/main" id="{B07B4C09-A2F4-25AB-4AFA-B336B8F8AE4A}"/>
              </a:ext>
            </a:extLst>
          </p:cNvPr>
          <p:cNvSpPr/>
          <p:nvPr/>
        </p:nvSpPr>
        <p:spPr>
          <a:xfrm rot="10800000">
            <a:off x="6059289" y="6106334"/>
            <a:ext cx="3421128" cy="617418"/>
          </a:xfrm>
          <a:prstGeom prst="wedgeRoundRectCallout">
            <a:avLst>
              <a:gd name="adj1" fmla="val 76681"/>
              <a:gd name="adj2" fmla="val 11642"/>
              <a:gd name="adj3" fmla="val 16667"/>
            </a:avLst>
          </a:prstGeom>
          <a:noFill/>
          <a:ln w="317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6D204FA-9AEA-3BB2-2F09-E485957B536D}"/>
              </a:ext>
            </a:extLst>
          </p:cNvPr>
          <p:cNvSpPr txBox="1"/>
          <p:nvPr/>
        </p:nvSpPr>
        <p:spPr>
          <a:xfrm>
            <a:off x="6116467" y="6148278"/>
            <a:ext cx="3421129" cy="523220"/>
          </a:xfrm>
          <a:prstGeom prst="rect">
            <a:avLst/>
          </a:prstGeom>
          <a:noFill/>
        </p:spPr>
        <p:txBody>
          <a:bodyPr wrap="none" rtlCol="0">
            <a:spAutoFit/>
          </a:bodyPr>
          <a:lstStyle/>
          <a:p>
            <a:r>
              <a:rPr kumimoji="1" lang="en-US" altLang="ja-JP" sz="2800" dirty="0">
                <a:solidFill>
                  <a:schemeClr val="tx1"/>
                </a:solidFill>
                <a:latin typeface="+mn-ea"/>
              </a:rPr>
              <a:t>FDP</a:t>
            </a:r>
            <a:r>
              <a:rPr kumimoji="1" lang="ja-JP" altLang="en-US" sz="2800">
                <a:latin typeface="+mn-ea"/>
              </a:rPr>
              <a:t>の</a:t>
            </a:r>
            <a:r>
              <a:rPr kumimoji="1" lang="ja-JP" altLang="en-US" sz="2800">
                <a:solidFill>
                  <a:schemeClr val="tx1"/>
                </a:solidFill>
              </a:rPr>
              <a:t>計算が可能に</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04990188-FED3-398E-E948-4B9CA5DFAE27}"/>
                  </a:ext>
                </a:extLst>
              </p:cNvPr>
              <p:cNvSpPr txBox="1"/>
              <p:nvPr/>
            </p:nvSpPr>
            <p:spPr>
              <a:xfrm>
                <a:off x="530781" y="2819186"/>
                <a:ext cx="6402778" cy="461665"/>
              </a:xfrm>
              <a:prstGeom prst="rect">
                <a:avLst/>
              </a:prstGeom>
              <a:noFill/>
            </p:spPr>
            <p:txBody>
              <a:bodyPr wrap="none" rtlCol="0">
                <a:spAutoFit/>
              </a:bodyPr>
              <a:lstStyle/>
              <a:p>
                <a14:m>
                  <m:oMath xmlns:m="http://schemas.openxmlformats.org/officeDocument/2006/math">
                    <m:r>
                      <a:rPr lang="en-US" altLang="ja-JP" sz="2400" i="1" smtClean="0">
                        <a:latin typeface="Cambria Math" panose="02040503050406030204" pitchFamily="18" charset="0"/>
                      </a:rPr>
                      <m:t>#{</m:t>
                    </m:r>
                    <m:r>
                      <a:rPr lang="en-US" altLang="ja-JP" sz="2400" i="1" smtClean="0">
                        <a:latin typeface="Cambria Math" panose="02040503050406030204" pitchFamily="18" charset="0"/>
                      </a:rPr>
                      <m:t>𝑗</m:t>
                    </m:r>
                    <m:r>
                      <a:rPr lang="en-US" altLang="ja-JP" sz="2400" i="1" smtClean="0">
                        <a:latin typeface="Cambria Math" panose="02040503050406030204" pitchFamily="18" charset="0"/>
                      </a:rPr>
                      <m:t>:</m:t>
                    </m:r>
                    <m:r>
                      <a:rPr lang="en-US" altLang="ja-JP" sz="2400" b="0" i="1" smtClean="0">
                        <a:latin typeface="Cambria Math" panose="02040503050406030204" pitchFamily="18" charset="0"/>
                      </a:rPr>
                      <m:t>𝐴</m:t>
                    </m:r>
                    <m:r>
                      <a:rPr lang="en-US" altLang="ja-JP" sz="2400" i="1" smtClean="0">
                        <a:latin typeface="Cambria Math" panose="02040503050406030204" pitchFamily="18" charset="0"/>
                      </a:rPr>
                      <m:t>}</m:t>
                    </m:r>
                  </m:oMath>
                </a14:m>
                <a:r>
                  <a:rPr kumimoji="1" lang="en-US" altLang="ja-JP" sz="2400" dirty="0"/>
                  <a:t> : </a:t>
                </a:r>
                <a:r>
                  <a:rPr kumimoji="1" lang="ja-JP" altLang="en-US" sz="2400"/>
                  <a:t>条件</a:t>
                </a:r>
                <a14:m>
                  <m:oMath xmlns:m="http://schemas.openxmlformats.org/officeDocument/2006/math">
                    <m:r>
                      <a:rPr kumimoji="1" lang="en-US" altLang="ja-JP" sz="2400" b="0" i="1" smtClean="0">
                        <a:latin typeface="Cambria Math" panose="02040503050406030204" pitchFamily="18" charset="0"/>
                      </a:rPr>
                      <m:t>𝐴</m:t>
                    </m:r>
                  </m:oMath>
                </a14:m>
                <a:r>
                  <a:rPr kumimoji="1" lang="ja-JP" altLang="en-US" sz="2400"/>
                  <a:t>を満たす変数の添字番号の個数</a:t>
                </a:r>
              </a:p>
            </p:txBody>
          </p:sp>
        </mc:Choice>
        <mc:Fallback xmlns="">
          <p:sp>
            <p:nvSpPr>
              <p:cNvPr id="4" name="テキスト ボックス 3">
                <a:extLst>
                  <a:ext uri="{FF2B5EF4-FFF2-40B4-BE49-F238E27FC236}">
                    <a16:creationId xmlns:a16="http://schemas.microsoft.com/office/drawing/2014/main" id="{04990188-FED3-398E-E948-4B9CA5DFAE27}"/>
                  </a:ext>
                </a:extLst>
              </p:cNvPr>
              <p:cNvSpPr txBox="1">
                <a:spLocks noRot="1" noChangeAspect="1" noMove="1" noResize="1" noEditPoints="1" noAdjustHandles="1" noChangeArrowheads="1" noChangeShapeType="1" noTextEdit="1"/>
              </p:cNvSpPr>
              <p:nvPr/>
            </p:nvSpPr>
            <p:spPr>
              <a:xfrm>
                <a:off x="530781" y="2819186"/>
                <a:ext cx="6402778" cy="461665"/>
              </a:xfrm>
              <a:prstGeom prst="rect">
                <a:avLst/>
              </a:prstGeom>
              <a:blipFill>
                <a:blip r:embed="rId5"/>
                <a:stretch>
                  <a:fillRect l="-198" t="-10526" r="-594" b="-289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21C5DBD2-06F9-E71E-C2B1-DDFB2684258D}"/>
                  </a:ext>
                </a:extLst>
              </p:cNvPr>
              <p:cNvSpPr txBox="1"/>
              <p:nvPr/>
            </p:nvSpPr>
            <p:spPr>
              <a:xfrm>
                <a:off x="20467" y="4814648"/>
                <a:ext cx="10420930" cy="11450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sz="2800" b="0" i="0" smtClean="0">
                          <a:latin typeface="Cambria Math" panose="02040503050406030204" pitchFamily="18" charset="0"/>
                          <a:ea typeface="Cambria Math" panose="02040503050406030204" pitchFamily="18" charset="0"/>
                        </a:rPr>
                        <m:t>FDP</m:t>
                      </m:r>
                      <m:r>
                        <a:rPr lang="en-US" altLang="ja-JP" sz="2800" b="0" i="1" smtClean="0">
                          <a:latin typeface="Cambria Math" panose="02040503050406030204" pitchFamily="18" charset="0"/>
                          <a:ea typeface="Cambria Math" panose="02040503050406030204" pitchFamily="18" charset="0"/>
                        </a:rPr>
                        <m:t>=</m:t>
                      </m:r>
                      <m:f>
                        <m:fPr>
                          <m:ctrlPr>
                            <a:rPr lang="en-US" altLang="ja-JP" sz="2800" i="1" smtClean="0">
                              <a:latin typeface="Cambria Math" panose="02040503050406030204" pitchFamily="18" charset="0"/>
                              <a:ea typeface="Cambria Math" panose="02040503050406030204" pitchFamily="18" charset="0"/>
                            </a:rPr>
                          </m:ctrlPr>
                        </m:fPr>
                        <m:num>
                          <m:r>
                            <a:rPr lang="en-US" altLang="ja-JP" sz="2800" i="1">
                              <a:latin typeface="Cambria Math" panose="02040503050406030204" pitchFamily="18" charset="0"/>
                              <a:ea typeface="Cambria Math" panose="02040503050406030204" pitchFamily="18" charset="0"/>
                            </a:rPr>
                            <m:t>𝑉</m:t>
                          </m:r>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𝑐</m:t>
                          </m:r>
                          <m:r>
                            <a:rPr lang="en-US" altLang="ja-JP" sz="2800" i="1">
                              <a:latin typeface="Cambria Math" panose="02040503050406030204" pitchFamily="18" charset="0"/>
                              <a:ea typeface="Cambria Math" panose="02040503050406030204" pitchFamily="18" charset="0"/>
                            </a:rPr>
                            <m:t>)</m:t>
                          </m:r>
                        </m:num>
                        <m:den>
                          <m:r>
                            <a:rPr lang="en-US" altLang="ja-JP" sz="2800" i="1">
                              <a:latin typeface="Cambria Math" panose="02040503050406030204" pitchFamily="18" charset="0"/>
                              <a:ea typeface="Cambria Math" panose="02040503050406030204" pitchFamily="18" charset="0"/>
                            </a:rPr>
                            <m:t>𝑅</m:t>
                          </m:r>
                          <m:r>
                            <a:rPr lang="en-US" altLang="ja-JP" sz="2800" i="1">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𝑐</m:t>
                          </m:r>
                          <m:r>
                            <a:rPr lang="en-US" altLang="ja-JP" sz="2800" i="1">
                              <a:latin typeface="Cambria Math" panose="02040503050406030204" pitchFamily="18" charset="0"/>
                              <a:ea typeface="Cambria Math" panose="02040503050406030204" pitchFamily="18" charset="0"/>
                            </a:rPr>
                            <m:t>)</m:t>
                          </m:r>
                        </m:den>
                      </m:f>
                      <m:r>
                        <a:rPr lang="en-US" altLang="ja-JP" sz="2800" b="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r>
                                <a:rPr lang="en-US" altLang="ja-JP" sz="2800" i="1">
                                  <a:latin typeface="Cambria Math" panose="02040503050406030204" pitchFamily="18" charset="0"/>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b="0" i="1" smtClean="0">
                                  <a:latin typeface="Cambria Math" panose="02040503050406030204" pitchFamily="18" charset="0"/>
                                  <a:cs typeface="ヒラギノ角ゴ Pro W3"/>
                                </a:rPr>
                                <m:t>𝑗</m:t>
                              </m:r>
                              <m:r>
                                <a:rPr lang="en-US" altLang="ja-JP" sz="2800" b="0" i="1" smtClean="0">
                                  <a:latin typeface="Cambria Math" panose="02040503050406030204" pitchFamily="18" charset="0"/>
                                  <a:cs typeface="ヒラギノ角ゴ Pro W3"/>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den>
                      </m:f>
                      <m:r>
                        <a:rPr lang="en-US" altLang="ja-JP" sz="280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cs typeface="ヒラギノ角ゴ Pro W3"/>
                                    </a:rPr>
                                  </m:ctrlPr>
                                </m:sSubPr>
                                <m:e>
                                  <m:r>
                                    <a:rPr lang="en-US" altLang="ja-JP" sz="2800" i="1">
                                      <a:latin typeface="Cambria Math" panose="02040503050406030204" pitchFamily="18" charset="0"/>
                                    </a:rPr>
                                    <m:t>𝛽</m:t>
                                  </m:r>
                                </m:e>
                                <m:sub>
                                  <m:r>
                                    <a:rPr lang="en-US" altLang="ja-JP" sz="2800" i="1">
                                      <a:latin typeface="Cambria Math" panose="02040503050406030204" pitchFamily="18" charset="0"/>
                                    </a:rPr>
                                    <m:t>𝑗</m:t>
                                  </m:r>
                                </m:sub>
                              </m:sSub>
                              <m:r>
                                <a:rPr lang="en-US" altLang="ja-JP" sz="2800" i="1">
                                  <a:latin typeface="Cambria Math" panose="02040503050406030204" pitchFamily="18" charset="0"/>
                                </a:rPr>
                                <m:t>=0 </m:t>
                              </m:r>
                              <m:r>
                                <a:rPr lang="en-US" altLang="ja-JP" sz="2800" i="1">
                                  <a:latin typeface="Cambria Math" panose="02040503050406030204" pitchFamily="18" charset="0"/>
                                </a:rPr>
                                <m:t>𝑎𝑛𝑑</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den>
                      </m:f>
                    </m:oMath>
                  </m:oMathPara>
                </a14:m>
                <a:endParaRPr lang="ja-JP" altLang="en-US" sz="2800" dirty="0">
                  <a:latin typeface="+mn-ea"/>
                  <a:cs typeface="ヒラギノ角ゴ Pro W3"/>
                </a:endParaRPr>
              </a:p>
            </p:txBody>
          </p:sp>
        </mc:Choice>
        <mc:Fallback xmlns="">
          <p:sp>
            <p:nvSpPr>
              <p:cNvPr id="5" name="テキスト ボックス 4">
                <a:extLst>
                  <a:ext uri="{FF2B5EF4-FFF2-40B4-BE49-F238E27FC236}">
                    <a16:creationId xmlns:a16="http://schemas.microsoft.com/office/drawing/2014/main" id="{21C5DBD2-06F9-E71E-C2B1-DDFB2684258D}"/>
                  </a:ext>
                </a:extLst>
              </p:cNvPr>
              <p:cNvSpPr txBox="1">
                <a:spLocks noRot="1" noChangeAspect="1" noMove="1" noResize="1" noEditPoints="1" noAdjustHandles="1" noChangeArrowheads="1" noChangeShapeType="1" noTextEdit="1"/>
              </p:cNvSpPr>
              <p:nvPr/>
            </p:nvSpPr>
            <p:spPr>
              <a:xfrm>
                <a:off x="20467" y="4814648"/>
                <a:ext cx="10420930" cy="1145057"/>
              </a:xfrm>
              <a:prstGeom prst="rect">
                <a:avLst/>
              </a:prstGeom>
              <a:blipFill>
                <a:blip r:embed="rId6"/>
                <a:stretch>
                  <a:fillRect b="-65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D9163E8-A6CD-7019-DD60-45315AE31CF9}"/>
                  </a:ext>
                </a:extLst>
              </p:cNvPr>
              <p:cNvSpPr txBox="1"/>
              <p:nvPr/>
            </p:nvSpPr>
            <p:spPr>
              <a:xfrm>
                <a:off x="806878" y="5762251"/>
                <a:ext cx="4291431" cy="11450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800" i="1" smtClean="0">
                          <a:latin typeface="Cambria Math" panose="02040503050406030204" pitchFamily="18" charset="0"/>
                          <a:ea typeface="Cambria Math" panose="02040503050406030204" pitchFamily="18" charset="0"/>
                        </a:rPr>
                        <m:t>≤</m:t>
                      </m:r>
                      <m:f>
                        <m:fPr>
                          <m:ctrlPr>
                            <a:rPr lang="en-US" altLang="ja-JP" sz="2800" i="1">
                              <a:latin typeface="Cambria Math" panose="02040503050406030204" pitchFamily="18" charset="0"/>
                              <a:ea typeface="Cambria Math" panose="02040503050406030204" pitchFamily="18" charset="0"/>
                            </a:rPr>
                          </m:ctrlPr>
                        </m:fPr>
                        <m:num>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num>
                        <m:den>
                          <m:r>
                            <a:rPr lang="en-US" altLang="ja-JP" sz="2800" i="1">
                              <a:latin typeface="Cambria Math" panose="02040503050406030204" pitchFamily="18" charset="0"/>
                              <a:cs typeface="ヒラギノ角ゴ Pro W3"/>
                            </a:rPr>
                            <m:t>#</m:t>
                          </m:r>
                          <m:d>
                            <m:dPr>
                              <m:begChr m:val="{"/>
                              <m:endChr m:val="}"/>
                              <m:ctrlPr>
                                <a:rPr lang="en-US" altLang="ja-JP" sz="2800" i="1">
                                  <a:latin typeface="Cambria Math" panose="02040503050406030204" pitchFamily="18" charset="0"/>
                                  <a:cs typeface="ヒラギノ角ゴ Pro W3"/>
                                </a:rPr>
                              </m:ctrlPr>
                            </m:dPr>
                            <m:e>
                              <m:r>
                                <a:rPr lang="en-US" altLang="ja-JP" sz="2800" i="1">
                                  <a:latin typeface="Cambria Math" panose="02040503050406030204" pitchFamily="18" charset="0"/>
                                  <a:cs typeface="ヒラギノ角ゴ Pro W3"/>
                                </a:rPr>
                                <m:t>𝑗</m:t>
                              </m:r>
                              <m:r>
                                <a:rPr lang="en-US" altLang="ja-JP" sz="2800" i="1">
                                  <a:latin typeface="Cambria Math" panose="02040503050406030204" pitchFamily="18" charset="0"/>
                                  <a:cs typeface="ヒラギノ角ゴ Pro W3"/>
                                </a:rPr>
                                <m:t>: </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i="1">
                                      <a:latin typeface="Cambria Math" panose="02040503050406030204" pitchFamily="18" charset="0"/>
                                    </a:rPr>
                                    <m:t>𝑗</m:t>
                                  </m:r>
                                </m:sub>
                              </m:sSub>
                              <m:r>
                                <a:rPr lang="en-US" altLang="ja-JP" sz="2800" i="1">
                                  <a:latin typeface="Cambria Math" panose="02040503050406030204" pitchFamily="18" charset="0"/>
                                  <a:ea typeface="Cambria Math" panose="02040503050406030204" pitchFamily="18" charset="0"/>
                                </a:rPr>
                                <m:t>≥</m:t>
                              </m:r>
                              <m:r>
                                <a:rPr lang="en-US" altLang="ja-JP" sz="2800" i="1">
                                  <a:latin typeface="Cambria Math" panose="02040503050406030204" pitchFamily="18" charset="0"/>
                                  <a:ea typeface="Cambria Math" panose="02040503050406030204" pitchFamily="18" charset="0"/>
                                </a:rPr>
                                <m:t>𝑡</m:t>
                              </m:r>
                            </m:e>
                          </m:d>
                        </m:den>
                      </m:f>
                      <m:r>
                        <a:rPr lang="en-US" altLang="ja-JP" sz="2800" b="0" i="1" smtClean="0">
                          <a:latin typeface="Cambria Math" panose="02040503050406030204" pitchFamily="18" charset="0"/>
                          <a:ea typeface="Cambria Math" panose="02040503050406030204" pitchFamily="18" charset="0"/>
                        </a:rPr>
                        <m:t>=</m:t>
                      </m:r>
                      <m:acc>
                        <m:accPr>
                          <m:chr m:val="̂"/>
                          <m:ctrlPr>
                            <a:rPr lang="en-US" altLang="ja-JP" sz="2800" b="0" i="1" smtClean="0">
                              <a:latin typeface="Cambria Math" panose="02040503050406030204" pitchFamily="18" charset="0"/>
                              <a:ea typeface="Cambria Math" panose="02040503050406030204" pitchFamily="18" charset="0"/>
                            </a:rPr>
                          </m:ctrlPr>
                        </m:accPr>
                        <m:e>
                          <m:r>
                            <m:rPr>
                              <m:sty m:val="p"/>
                            </m:rPr>
                            <a:rPr lang="en-US" altLang="ja-JP" sz="2800" i="0">
                              <a:latin typeface="Cambria Math" panose="02040503050406030204" pitchFamily="18" charset="0"/>
                              <a:ea typeface="Cambria Math" panose="02040503050406030204" pitchFamily="18" charset="0"/>
                            </a:rPr>
                            <m:t>FDP</m:t>
                          </m:r>
                        </m:e>
                      </m:acc>
                      <m:r>
                        <a:rPr lang="en-US" altLang="ja-JP" sz="2800" b="0" i="1" smtClean="0">
                          <a:latin typeface="Cambria Math" panose="02040503050406030204" pitchFamily="18" charset="0"/>
                          <a:ea typeface="Cambria Math" panose="02040503050406030204" pitchFamily="18" charset="0"/>
                        </a:rPr>
                        <m:t>(</m:t>
                      </m:r>
                      <m:r>
                        <a:rPr lang="en-US" altLang="ja-JP" sz="2800" b="0" i="1" smtClean="0">
                          <a:latin typeface="Cambria Math" panose="02040503050406030204" pitchFamily="18" charset="0"/>
                          <a:ea typeface="Cambria Math" panose="02040503050406030204" pitchFamily="18" charset="0"/>
                        </a:rPr>
                        <m:t>𝑡</m:t>
                      </m:r>
                      <m:r>
                        <a:rPr lang="en-US" altLang="ja-JP" sz="2800" b="0" i="1" smtClean="0">
                          <a:latin typeface="Cambria Math" panose="02040503050406030204" pitchFamily="18" charset="0"/>
                          <a:ea typeface="Cambria Math" panose="02040503050406030204" pitchFamily="18" charset="0"/>
                        </a:rPr>
                        <m:t>)</m:t>
                      </m:r>
                    </m:oMath>
                  </m:oMathPara>
                </a14:m>
                <a:endParaRPr lang="ja-JP" altLang="en-US" sz="2800" dirty="0">
                  <a:latin typeface="+mn-ea"/>
                  <a:cs typeface="ヒラギノ角ゴ Pro W3"/>
                </a:endParaRPr>
              </a:p>
            </p:txBody>
          </p:sp>
        </mc:Choice>
        <mc:Fallback xmlns="">
          <p:sp>
            <p:nvSpPr>
              <p:cNvPr id="6" name="テキスト ボックス 5">
                <a:extLst>
                  <a:ext uri="{FF2B5EF4-FFF2-40B4-BE49-F238E27FC236}">
                    <a16:creationId xmlns:a16="http://schemas.microsoft.com/office/drawing/2014/main" id="{6D9163E8-A6CD-7019-DD60-45315AE31CF9}"/>
                  </a:ext>
                </a:extLst>
              </p:cNvPr>
              <p:cNvSpPr txBox="1">
                <a:spLocks noRot="1" noChangeAspect="1" noMove="1" noResize="1" noEditPoints="1" noAdjustHandles="1" noChangeArrowheads="1" noChangeShapeType="1" noTextEdit="1"/>
              </p:cNvSpPr>
              <p:nvPr/>
            </p:nvSpPr>
            <p:spPr>
              <a:xfrm>
                <a:off x="806878" y="5762251"/>
                <a:ext cx="4291431" cy="1145057"/>
              </a:xfrm>
              <a:prstGeom prst="rect">
                <a:avLst/>
              </a:prstGeom>
              <a:blipFill>
                <a:blip r:embed="rId7"/>
                <a:stretch>
                  <a:fillRect b="-769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02960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5F995C-26CA-7644-9A90-9C864855796E}"/>
                  </a:ext>
                </a:extLst>
              </p:cNvPr>
              <p:cNvSpPr>
                <a:spLocks noGrp="1"/>
              </p:cNvSpPr>
              <p:nvPr>
                <p:ph idx="1"/>
              </p:nvPr>
            </p:nvSpPr>
            <p:spPr>
              <a:xfrm>
                <a:off x="0" y="1673817"/>
                <a:ext cx="11782271" cy="5182848"/>
              </a:xfrm>
            </p:spPr>
            <p:txBody>
              <a:bodyPr>
                <a:normAutofit/>
              </a:bodyPr>
              <a:lstStyle/>
              <a:p>
                <a:pPr marL="0" indent="0">
                  <a:buClr>
                    <a:schemeClr val="accent3"/>
                  </a:buClr>
                  <a:buNone/>
                </a:pPr>
                <a:r>
                  <a:rPr lang="en-US" altLang="ja-JP" sz="3200" dirty="0">
                    <a:solidFill>
                      <a:srgbClr val="7030A0"/>
                    </a:solidFill>
                    <a:latin typeface="+mn-ea"/>
                    <a:cs typeface="ヒラギノ角ゴ Pro W3"/>
                  </a:rPr>
                  <a:t>4. </a:t>
                </a:r>
                <a:r>
                  <a:rPr lang="ja-JP" altLang="en-US" sz="3200">
                    <a:solidFill>
                      <a:srgbClr val="7030A0"/>
                    </a:solidFill>
                    <a:latin typeface="+mn-ea"/>
                    <a:cs typeface="ヒラギノ角ゴ Pro W3"/>
                  </a:rPr>
                  <a:t>変数の選択</a:t>
                </a:r>
                <a:endParaRPr kumimoji="1" lang="ja-JP" altLang="en-US" sz="3200">
                  <a:solidFill>
                    <a:srgbClr val="7030A0"/>
                  </a:solidFill>
                  <a:latin typeface="+mn-ea"/>
                  <a:cs typeface="ヒラギノ角ゴ Pro W3"/>
                </a:endParaRPr>
              </a:p>
              <a:p>
                <a:pPr marL="0" indent="0">
                  <a:buClr>
                    <a:schemeClr val="accent3"/>
                  </a:buClr>
                  <a:buNone/>
                </a:pPr>
                <a:r>
                  <a:rPr lang="en-US" altLang="ja-JP" sz="3200" dirty="0"/>
                  <a:t>  </a:t>
                </a:r>
                <a14:m>
                  <m:oMath xmlns:m="http://schemas.openxmlformats.org/officeDocument/2006/math">
                    <m:sSub>
                      <m:sSubPr>
                        <m:ctrlPr>
                          <a:rPr lang="en-US" altLang="ja-JP" sz="3200" i="1" smtClean="0">
                            <a:latin typeface="Cambria Math" panose="02040503050406030204" pitchFamily="18" charset="0"/>
                          </a:rPr>
                        </m:ctrlPr>
                      </m:sSubPr>
                      <m:e>
                        <m:r>
                          <a:rPr lang="en-US" altLang="ja-JP" sz="3200" b="0" i="1">
                            <a:latin typeface="Cambria Math" panose="02040503050406030204" pitchFamily="18" charset="0"/>
                          </a:rPr>
                          <m:t>𝑊</m:t>
                        </m:r>
                      </m:e>
                      <m:sub>
                        <m:r>
                          <a:rPr lang="en-US" altLang="ja-JP" sz="3200" b="0" i="1">
                            <a:latin typeface="Cambria Math" panose="02040503050406030204" pitchFamily="18" charset="0"/>
                          </a:rPr>
                          <m:t>𝑗</m:t>
                        </m:r>
                      </m:sub>
                    </m:sSub>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𝑇</m:t>
                    </m:r>
                    <m:r>
                      <a:rPr lang="en-US" altLang="ja-JP" sz="3200" b="0" i="1" smtClean="0">
                        <a:latin typeface="Cambria Math" panose="02040503050406030204" pitchFamily="18" charset="0"/>
                      </a:rPr>
                      <m:t> (</m:t>
                    </m:r>
                    <m:r>
                      <a:rPr lang="en-US" altLang="ja-JP" sz="3200" b="0" i="1" smtClean="0">
                        <a:latin typeface="Cambria Math" panose="02040503050406030204" pitchFamily="18" charset="0"/>
                      </a:rPr>
                      <m:t>𝑗</m:t>
                    </m:r>
                    <m:r>
                      <a:rPr lang="en-US" altLang="ja-JP" sz="3200" b="0" i="1" smtClean="0">
                        <a:latin typeface="Cambria Math" panose="02040503050406030204" pitchFamily="18" charset="0"/>
                      </a:rPr>
                      <m:t>=1,…,</m:t>
                    </m:r>
                    <m:r>
                      <a:rPr lang="en-US" altLang="ja-JP" sz="3200" b="0" i="1" smtClean="0">
                        <a:latin typeface="Cambria Math" panose="02040503050406030204" pitchFamily="18" charset="0"/>
                      </a:rPr>
                      <m:t>𝑝</m:t>
                    </m:r>
                    <m:r>
                      <a:rPr lang="en-US" altLang="ja-JP" sz="3200" b="0" i="1" smtClean="0">
                        <a:latin typeface="Cambria Math" panose="02040503050406030204" pitchFamily="18" charset="0"/>
                      </a:rPr>
                      <m:t>)</m:t>
                    </m:r>
                  </m:oMath>
                </a14:m>
                <a:r>
                  <a:rPr kumimoji="1" lang="ja-JP" altLang="en-US" sz="3200">
                    <a:latin typeface="+mn-ea"/>
                    <a:cs typeface="ヒラギノ角ゴ Pro W3"/>
                  </a:rPr>
                  <a:t>を満たす</a:t>
                </a:r>
                <a14:m>
                  <m:oMath xmlns:m="http://schemas.openxmlformats.org/officeDocument/2006/math">
                    <m:r>
                      <a:rPr kumimoji="1" lang="en-US" altLang="ja-JP" sz="3200" b="0" i="1" smtClean="0">
                        <a:latin typeface="Cambria Math" panose="02040503050406030204" pitchFamily="18" charset="0"/>
                        <a:cs typeface="ヒラギノ角ゴ Pro W3"/>
                      </a:rPr>
                      <m:t>𝑗</m:t>
                    </m:r>
                  </m:oMath>
                </a14:m>
                <a:r>
                  <a:rPr kumimoji="1" lang="ja-JP" altLang="en-US" sz="3200">
                    <a:latin typeface="+mn-ea"/>
                    <a:cs typeface="ヒラギノ角ゴ Pro W3"/>
                  </a:rPr>
                  <a:t>番目の変数を選択　</a:t>
                </a:r>
                <a:endParaRPr kumimoji="1" lang="en-US" altLang="ja-JP" sz="3200" dirty="0">
                  <a:latin typeface="+mn-ea"/>
                  <a:cs typeface="ヒラギノ角ゴ Pro W3"/>
                </a:endParaRPr>
              </a:p>
              <a:p>
                <a:pPr marL="0" indent="0">
                  <a:buClr>
                    <a:schemeClr val="accent3"/>
                  </a:buClr>
                  <a:buNone/>
                </a:pPr>
                <a:r>
                  <a:rPr kumimoji="1" lang="ja-JP" altLang="en-US" sz="3200">
                    <a:latin typeface="+mn-ea"/>
                    <a:cs typeface="ヒラギノ角ゴ Pro W3"/>
                  </a:rPr>
                  <a:t>　　　</a:t>
                </a:r>
                <a:endParaRPr kumimoji="1" lang="en-US" altLang="ja-JP" sz="3200" dirty="0">
                  <a:latin typeface="+mn-ea"/>
                  <a:cs typeface="ヒラギノ角ゴ Pro W3"/>
                </a:endParaRPr>
              </a:p>
              <a:p>
                <a:pPr marL="0" indent="0">
                  <a:buClr>
                    <a:schemeClr val="accent3"/>
                  </a:buClr>
                  <a:buNone/>
                </a:pPr>
                <a:r>
                  <a:rPr kumimoji="1" lang="en-US" altLang="ja-JP" sz="3200" dirty="0">
                    <a:latin typeface="+mn-ea"/>
                    <a:cs typeface="ヒラギノ角ゴ Pro W3"/>
                  </a:rPr>
                  <a:t>  </a:t>
                </a:r>
                <a14:m>
                  <m:oMath xmlns:m="http://schemas.openxmlformats.org/officeDocument/2006/math">
                    <m:r>
                      <a:rPr lang="ja-JP" altLang="en-US" sz="3200" b="0" i="1" smtClean="0">
                        <a:solidFill>
                          <a:schemeClr val="tx1"/>
                        </a:solidFill>
                        <a:latin typeface="Cambria Math" panose="02040503050406030204" pitchFamily="18" charset="0"/>
                        <a:cs typeface="ヒラギノ角ゴ Pro W3"/>
                      </a:rPr>
                      <m:t>𝜆</m:t>
                    </m:r>
                  </m:oMath>
                </a14:m>
                <a:r>
                  <a:rPr kumimoji="1" lang="ja-JP" altLang="en-US" sz="3200">
                    <a:latin typeface="+mn-ea"/>
                    <a:cs typeface="ヒラギノ角ゴ Pro W3"/>
                  </a:rPr>
                  <a:t>の範囲を算出</a:t>
                </a:r>
                <a:endParaRPr kumimoji="1" lang="ja-JP" altLang="en-US" sz="3200" dirty="0">
                  <a:latin typeface="+mn-ea"/>
                  <a:cs typeface="ヒラギノ角ゴ Pro W3"/>
                </a:endParaRPr>
              </a:p>
              <a:p>
                <a:pPr marL="0" indent="0">
                  <a:buClr>
                    <a:schemeClr val="accent3"/>
                  </a:buClr>
                  <a:buNone/>
                </a:pPr>
                <a:endParaRPr lang="ja-JP" altLang="en-US" sz="3200" dirty="0">
                  <a:solidFill>
                    <a:srgbClr val="7030A0"/>
                  </a:solidFill>
                  <a:latin typeface="+mn-ea"/>
                  <a:cs typeface="ヒラギノ角ゴ Pro W3"/>
                </a:endParaRPr>
              </a:p>
            </p:txBody>
          </p:sp>
        </mc:Choice>
        <mc:Fallback xmlns="">
          <p:sp>
            <p:nvSpPr>
              <p:cNvPr id="3" name="コンテンツ プレースホルダー 2">
                <a:extLst>
                  <a:ext uri="{FF2B5EF4-FFF2-40B4-BE49-F238E27FC236}">
                    <a16:creationId xmlns:a16="http://schemas.microsoft.com/office/drawing/2014/main" id="{D25F995C-26CA-7644-9A90-9C864855796E}"/>
                  </a:ext>
                </a:extLst>
              </p:cNvPr>
              <p:cNvSpPr>
                <a:spLocks noGrp="1" noRot="1" noChangeAspect="1" noMove="1" noResize="1" noEditPoints="1" noAdjustHandles="1" noChangeArrowheads="1" noChangeShapeType="1" noTextEdit="1"/>
              </p:cNvSpPr>
              <p:nvPr>
                <p:ph idx="1"/>
              </p:nvPr>
            </p:nvSpPr>
            <p:spPr>
              <a:xfrm>
                <a:off x="0" y="1673817"/>
                <a:ext cx="11782271" cy="5182848"/>
              </a:xfrm>
              <a:blipFill>
                <a:blip r:embed="rId3"/>
                <a:stretch>
                  <a:fillRect l="-1293" t="-2451"/>
                </a:stretch>
              </a:blipFill>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722039D0-1CFF-0BE8-40E2-B345A2C25A37}"/>
              </a:ext>
            </a:extLst>
          </p:cNvPr>
          <p:cNvSpPr txBox="1">
            <a:spLocks/>
          </p:cNvSpPr>
          <p:nvPr/>
        </p:nvSpPr>
        <p:spPr>
          <a:xfrm>
            <a:off x="0" y="1334"/>
            <a:ext cx="12523808" cy="1502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solidFill>
                  <a:srgbClr val="0070C0"/>
                </a:solidFill>
                <a:latin typeface="+mj-ea"/>
              </a:rPr>
              <a:t>先行研究</a:t>
            </a:r>
            <a:r>
              <a:rPr lang="en-US" altLang="ja-JP" b="1" dirty="0">
                <a:solidFill>
                  <a:srgbClr val="0070C0"/>
                </a:solidFill>
                <a:latin typeface="+mj-ea"/>
              </a:rPr>
              <a:t>:</a:t>
            </a:r>
            <a:r>
              <a:rPr lang="ja-JP" altLang="en-US" b="1">
                <a:solidFill>
                  <a:srgbClr val="0070C0"/>
                </a:solidFill>
                <a:latin typeface="+mj-ea"/>
              </a:rPr>
              <a:t>線形回帰モデルにおける</a:t>
            </a:r>
            <a:r>
              <a:rPr lang="en-US" altLang="ja-JP" b="1" dirty="0">
                <a:solidFill>
                  <a:srgbClr val="0070C0"/>
                </a:solidFill>
                <a:latin typeface="+mj-ea"/>
              </a:rPr>
              <a:t>Knockoff</a:t>
            </a:r>
            <a:r>
              <a:rPr lang="ja-JP" altLang="en-US" b="1">
                <a:solidFill>
                  <a:srgbClr val="0070C0"/>
                </a:solidFill>
                <a:latin typeface="+mj-ea"/>
              </a:rPr>
              <a:t>法</a:t>
            </a:r>
            <a:r>
              <a:rPr lang="en-US" altLang="ja-JP" b="1" dirty="0">
                <a:solidFill>
                  <a:srgbClr val="0070C0"/>
                </a:solidFill>
                <a:latin typeface="+mj-ea"/>
              </a:rPr>
              <a:t> </a:t>
            </a:r>
          </a:p>
          <a:p>
            <a:r>
              <a:rPr lang="en-US" altLang="ja-JP" b="1" dirty="0">
                <a:solidFill>
                  <a:srgbClr val="0070C0"/>
                </a:solidFill>
                <a:latin typeface="+mj-ea"/>
              </a:rPr>
              <a:t>                                  (Barber and </a:t>
            </a:r>
            <a:r>
              <a:rPr lang="en-US" altLang="ja-JP" b="1" dirty="0" err="1">
                <a:solidFill>
                  <a:srgbClr val="0070C0"/>
                </a:solidFill>
                <a:latin typeface="+mj-ea"/>
              </a:rPr>
              <a:t>Candes</a:t>
            </a:r>
            <a:r>
              <a:rPr lang="en-US" altLang="ja-JP" b="1" dirty="0">
                <a:solidFill>
                  <a:srgbClr val="0070C0"/>
                </a:solidFill>
                <a:latin typeface="+mj-ea"/>
              </a:rPr>
              <a:t>, 2015)</a:t>
            </a:r>
            <a:endParaRPr lang="ja-JP" altLang="en-US" b="1">
              <a:solidFill>
                <a:srgbClr val="FFC000"/>
              </a:solidFill>
              <a:latin typeface="+mj-ea"/>
            </a:endParaRPr>
          </a:p>
        </p:txBody>
      </p:sp>
      <p:sp>
        <p:nvSpPr>
          <p:cNvPr id="4" name="下矢印 3">
            <a:extLst>
              <a:ext uri="{FF2B5EF4-FFF2-40B4-BE49-F238E27FC236}">
                <a16:creationId xmlns:a16="http://schemas.microsoft.com/office/drawing/2014/main" id="{E09C4D9C-D3D2-885C-EEF0-9216A2783D2B}"/>
              </a:ext>
            </a:extLst>
          </p:cNvPr>
          <p:cNvSpPr/>
          <p:nvPr/>
        </p:nvSpPr>
        <p:spPr>
          <a:xfrm>
            <a:off x="1271632" y="2810777"/>
            <a:ext cx="688769" cy="52322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50"/>
              </a:solidFill>
            </a:endParaRPr>
          </a:p>
        </p:txBody>
      </p:sp>
    </p:spTree>
    <p:extLst>
      <p:ext uri="{BB962C8B-B14F-4D97-AF65-F5344CB8AC3E}">
        <p14:creationId xmlns:p14="http://schemas.microsoft.com/office/powerpoint/2010/main" val="2818723909"/>
      </p:ext>
    </p:extLst>
  </p:cSld>
  <p:clrMapOvr>
    <a:masterClrMapping/>
  </p:clrMapOvr>
</p:sld>
</file>

<file path=ppt/theme/theme1.xml><?xml version="1.0" encoding="utf-8"?>
<a:theme xmlns:a="http://schemas.openxmlformats.org/drawingml/2006/main" name="Office テーマ">
  <a:themeElements>
    <a:clrScheme name="グレースケール">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FB710641A12B3042A735AFD931E51881" ma:contentTypeVersion="11" ma:contentTypeDescription="新しいドキュメントを作成します。" ma:contentTypeScope="" ma:versionID="e5717f7c522844064d498d52055ff741">
  <xsd:schema xmlns:xsd="http://www.w3.org/2001/XMLSchema" xmlns:xs="http://www.w3.org/2001/XMLSchema" xmlns:p="http://schemas.microsoft.com/office/2006/metadata/properties" xmlns:ns2="0a2ffc0a-822b-4b45-9d95-90bc656b2023" xmlns:ns3="cd8a97a1-ef2c-4018-9666-98507e72cd08" targetNamespace="http://schemas.microsoft.com/office/2006/metadata/properties" ma:root="true" ma:fieldsID="ba8ee7ec528ddc08acacd608f9b342cb" ns2:_="" ns3:_="">
    <xsd:import namespace="0a2ffc0a-822b-4b45-9d95-90bc656b2023"/>
    <xsd:import namespace="cd8a97a1-ef2c-4018-9666-98507e72cd0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ffc0a-822b-4b45-9d95-90bc656b20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3344fcd4-0698-4d54-b94e-5eaa18fd6d9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d8a97a1-ef2c-4018-9666-98507e72cd08" elementFormDefault="qualified">
    <xsd:import namespace="http://schemas.microsoft.com/office/2006/documentManagement/types"/>
    <xsd:import namespace="http://schemas.microsoft.com/office/infopath/2007/PartnerControls"/>
    <xsd:element name="TaxCatchAll" ma:index="14" nillable="true" ma:displayName="分類の集約列" ma:hidden="true" ma:list="{ed01630e-c95c-4d55-bdd8-a2160bc6c0eb}" ma:internalName="TaxCatchAll" ma:showField="CatchAllData" ma:web="cd8a97a1-ef2c-4018-9666-98507e72cd0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2ffc0a-822b-4b45-9d95-90bc656b2023">
      <Terms xmlns="http://schemas.microsoft.com/office/infopath/2007/PartnerControls"/>
    </lcf76f155ced4ddcb4097134ff3c332f>
    <TaxCatchAll xmlns="cd8a97a1-ef2c-4018-9666-98507e72cd08" xsi:nil="true"/>
  </documentManagement>
</p:properties>
</file>

<file path=customXml/itemProps1.xml><?xml version="1.0" encoding="utf-8"?>
<ds:datastoreItem xmlns:ds="http://schemas.openxmlformats.org/officeDocument/2006/customXml" ds:itemID="{519CEDA7-BC91-4504-BB08-0A2275BCFC8C}"/>
</file>

<file path=customXml/itemProps2.xml><?xml version="1.0" encoding="utf-8"?>
<ds:datastoreItem xmlns:ds="http://schemas.openxmlformats.org/officeDocument/2006/customXml" ds:itemID="{A79A3270-CB3A-4B03-B88F-1771D9E152D7}"/>
</file>

<file path=customXml/itemProps3.xml><?xml version="1.0" encoding="utf-8"?>
<ds:datastoreItem xmlns:ds="http://schemas.openxmlformats.org/officeDocument/2006/customXml" ds:itemID="{9ED6A709-90F9-4372-B5AD-EFF9AA441B38}"/>
</file>

<file path=docProps/app.xml><?xml version="1.0" encoding="utf-8"?>
<Properties xmlns="http://schemas.openxmlformats.org/officeDocument/2006/extended-properties" xmlns:vt="http://schemas.openxmlformats.org/officeDocument/2006/docPropsVTypes">
  <Template>Office Theme</Template>
  <TotalTime>28010</TotalTime>
  <Words>8279</Words>
  <Application>Microsoft Macintosh PowerPoint</Application>
  <PresentationFormat>ワイド画面</PresentationFormat>
  <Paragraphs>1144</Paragraphs>
  <Slides>49</Slides>
  <Notes>49</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49</vt:i4>
      </vt:variant>
    </vt:vector>
  </HeadingPairs>
  <TitlesOfParts>
    <vt:vector size="60" baseType="lpstr">
      <vt:lpstr>Hiragino Kaku Gothic Pro W3</vt:lpstr>
      <vt:lpstr>YuGothic</vt:lpstr>
      <vt:lpstr>ヒラギノ角ゴ Pro W3</vt:lpstr>
      <vt:lpstr>游ゴシック</vt:lpstr>
      <vt:lpstr>游明朝</vt:lpstr>
      <vt:lpstr>Arial</vt:lpstr>
      <vt:lpstr>Calibri</vt:lpstr>
      <vt:lpstr>Calibri Light</vt:lpstr>
      <vt:lpstr>Cambria Math</vt:lpstr>
      <vt:lpstr>Helvetica</vt:lpstr>
      <vt:lpstr>Office テーマ</vt:lpstr>
      <vt:lpstr>スパース主成分分析に対する Knockoff法を用いた偽発見率制御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ブートストラップ法を用いたlassoの偽発見率推定</dc:title>
  <dc:creator>h1810576</dc:creator>
  <cp:lastModifiedBy>h1810576</cp:lastModifiedBy>
  <cp:revision>474</cp:revision>
  <cp:lastPrinted>2024-02-15T02:21:56Z</cp:lastPrinted>
  <dcterms:created xsi:type="dcterms:W3CDTF">2021-09-28T14:52:11Z</dcterms:created>
  <dcterms:modified xsi:type="dcterms:W3CDTF">2024-02-15T02:22:19Z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0x010100FB710641A12B3042A735AFD931E51881</vt:lpwstr>
  </property>
</Properties>
</file>