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presentation.xml" ContentType="application/vnd.openxmlformats-officedocument.presentationml.presentation.main+xml"/>
  <Override PartName="/ppt/notesSlides/notesSlide32.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14.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slideMasters/slideMaster1.xml" ContentType="application/vnd.openxmlformats-officedocument.presentationml.slideMaster+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notesSlides/notesSlide25.xml" ContentType="application/vnd.openxmlformats-officedocument.presentationml.notesSlid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3.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31.xml" ContentType="application/vnd.openxmlformats-officedocument.presentationml.notesSlide+xml"/>
  <Override PartName="/ppt/notesSlides/notesSlide8.xml" ContentType="application/vnd.openxmlformats-officedocument.presentationml.notesSlide+xml"/>
  <Override PartName="/ppt/theme/theme2.xml" ContentType="application/vnd.openxmlformats-officedocument.theme+xml"/>
  <Override PartName="/ppt/theme/theme1.xml" ContentType="application/vnd.openxmlformats-officedocument.theme+xml"/>
  <Override PartName="/ppt/notesMasters/notesMaster1.xml" ContentType="application/vnd.openxmlformats-officedocument.presentationml.notesMaster+xml"/>
  <Override PartName="/ppt/charts/colors1.xml" ContentType="application/vnd.ms-office.chartcolorstyle+xml"/>
  <Override PartName="/ppt/charts/style1.xml" ContentType="application/vnd.ms-office.chartstyle+xml"/>
  <Override PartName="/ppt/charts/chart1.xml" ContentType="application/vnd.openxmlformats-officedocument.drawingml.chart+xml"/>
  <Override PartName="/ppt/presProps.xml" ContentType="application/vnd.openxmlformats-officedocument.presentationml.presProps+xml"/>
  <Override PartName="/ppt/viewProps.xml" ContentType="application/vnd.openxmlformats-officedocument.presentationml.viewProps+xml"/>
  <Override PartName="/ppt/tableStyles.xml" ContentType="application/vnd.openxmlformats-officedocument.presentationml.tableStyles+xml"/>
  <Override PartName="/docProps/core.xml" ContentType="application/vnd.openxmlformats-package.core-properties+xml"/>
  <Override PartName="/docProps/app.xml" ContentType="application/vnd.openxmlformats-officedocument.extended-properties+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86"/>
  </p:notesMasterIdLst>
  <p:sldIdLst>
    <p:sldId id="431" r:id="rId2"/>
    <p:sldId id="397" r:id="rId3"/>
    <p:sldId id="289" r:id="rId4"/>
    <p:sldId id="413" r:id="rId5"/>
    <p:sldId id="509" r:id="rId6"/>
    <p:sldId id="436" r:id="rId7"/>
    <p:sldId id="414" r:id="rId8"/>
    <p:sldId id="384" r:id="rId9"/>
    <p:sldId id="383" r:id="rId10"/>
    <p:sldId id="410" r:id="rId11"/>
    <p:sldId id="394" r:id="rId12"/>
    <p:sldId id="411" r:id="rId13"/>
    <p:sldId id="400" r:id="rId14"/>
    <p:sldId id="402" r:id="rId15"/>
    <p:sldId id="437" r:id="rId16"/>
    <p:sldId id="419" r:id="rId17"/>
    <p:sldId id="270" r:id="rId18"/>
    <p:sldId id="511" r:id="rId19"/>
    <p:sldId id="512" r:id="rId20"/>
    <p:sldId id="513" r:id="rId21"/>
    <p:sldId id="271" r:id="rId22"/>
    <p:sldId id="422" r:id="rId23"/>
    <p:sldId id="429" r:id="rId24"/>
    <p:sldId id="306" r:id="rId25"/>
    <p:sldId id="430" r:id="rId26"/>
    <p:sldId id="272" r:id="rId27"/>
    <p:sldId id="498" r:id="rId28"/>
    <p:sldId id="424" r:id="rId29"/>
    <p:sldId id="507" r:id="rId30"/>
    <p:sldId id="508" r:id="rId31"/>
    <p:sldId id="427" r:id="rId32"/>
    <p:sldId id="428" r:id="rId33"/>
    <p:sldId id="475" r:id="rId34"/>
    <p:sldId id="412" r:id="rId35"/>
    <p:sldId id="514" r:id="rId36"/>
    <p:sldId id="380" r:id="rId37"/>
    <p:sldId id="432" r:id="rId38"/>
    <p:sldId id="267" r:id="rId39"/>
    <p:sldId id="396" r:id="rId40"/>
    <p:sldId id="415" r:id="rId41"/>
    <p:sldId id="416" r:id="rId42"/>
    <p:sldId id="418" r:id="rId43"/>
    <p:sldId id="417" r:id="rId44"/>
    <p:sldId id="425" r:id="rId45"/>
    <p:sldId id="438" r:id="rId46"/>
    <p:sldId id="440" r:id="rId47"/>
    <p:sldId id="442" r:id="rId48"/>
    <p:sldId id="443" r:id="rId49"/>
    <p:sldId id="448" r:id="rId50"/>
    <p:sldId id="449" r:id="rId51"/>
    <p:sldId id="505" r:id="rId52"/>
    <p:sldId id="506" r:id="rId53"/>
    <p:sldId id="342" r:id="rId54"/>
    <p:sldId id="499" r:id="rId55"/>
    <p:sldId id="345" r:id="rId56"/>
    <p:sldId id="346" r:id="rId57"/>
    <p:sldId id="451" r:id="rId58"/>
    <p:sldId id="347" r:id="rId59"/>
    <p:sldId id="500" r:id="rId60"/>
    <p:sldId id="349" r:id="rId61"/>
    <p:sldId id="350" r:id="rId62"/>
    <p:sldId id="351" r:id="rId63"/>
    <p:sldId id="477" r:id="rId64"/>
    <p:sldId id="501" r:id="rId65"/>
    <p:sldId id="479" r:id="rId66"/>
    <p:sldId id="480" r:id="rId67"/>
    <p:sldId id="481" r:id="rId68"/>
    <p:sldId id="482" r:id="rId69"/>
    <p:sldId id="502" r:id="rId70"/>
    <p:sldId id="484" r:id="rId71"/>
    <p:sldId id="485" r:id="rId72"/>
    <p:sldId id="486" r:id="rId73"/>
    <p:sldId id="487" r:id="rId74"/>
    <p:sldId id="488" r:id="rId75"/>
    <p:sldId id="503" r:id="rId76"/>
    <p:sldId id="489" r:id="rId77"/>
    <p:sldId id="490" r:id="rId78"/>
    <p:sldId id="491" r:id="rId79"/>
    <p:sldId id="492" r:id="rId80"/>
    <p:sldId id="504" r:id="rId81"/>
    <p:sldId id="493" r:id="rId82"/>
    <p:sldId id="494" r:id="rId83"/>
    <p:sldId id="495" r:id="rId84"/>
    <p:sldId id="496" r:id="rId85"/>
  </p:sldIdLst>
  <p:sldSz cx="12192000" cy="6858000"/>
  <p:notesSz cx="6858000" cy="9144000"/>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08"/>
    <p:restoredTop sz="96296"/>
  </p:normalViewPr>
  <p:slideViewPr>
    <p:cSldViewPr snapToGrid="0">
      <p:cViewPr varScale="1">
        <p:scale>
          <a:sx n="95" d="100"/>
          <a:sy n="95" d="100"/>
        </p:scale>
        <p:origin x="200" y="872"/>
      </p:cViewPr>
      <p:guideLst/>
    </p:cSldViewPr>
  </p:slideViewPr>
  <p:notesTextViewPr>
    <p:cViewPr>
      <p:scale>
        <a:sx n="1" d="1"/>
        <a:sy n="1" d="1"/>
      </p:scale>
      <p:origin x="0" y="0"/>
    </p:cViewPr>
  </p:notesTextViewPr>
  <p:sorterViewPr>
    <p:cViewPr>
      <p:scale>
        <a:sx n="80" d="100"/>
        <a:sy n="80"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theme" Target="theme/theme1.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tableStyles" Target="tableStyle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customXml" Target="../customXml/item3.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viewProps" Target="viewProps.xml"/><Relationship Id="rId91" Type="http://schemas.openxmlformats.org/officeDocument/2006/relationships/customXml" Target="../customXml/item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customXml" Target="../customXml/item2.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______.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400" b="0" i="0" u="none" strike="noStrike" kern="1200" spc="0" baseline="0">
                <a:solidFill>
                  <a:schemeClr val="tx1">
                    <a:lumMod val="65000"/>
                    <a:lumOff val="35000"/>
                  </a:schemeClr>
                </a:solidFill>
                <a:latin typeface="+mn-lt"/>
                <a:ea typeface="+mn-ea"/>
                <a:cs typeface="+mn-cs"/>
              </a:defRPr>
            </a:pPr>
            <a:r>
              <a:rPr lang="ja-JP" altLang="en-US" sz="2400"/>
              <a:t>既存手法と提案手法の計算時間</a:t>
            </a:r>
          </a:p>
        </c:rich>
      </c:tx>
      <c:overlay val="0"/>
      <c:spPr>
        <a:noFill/>
        <a:ln>
          <a:noFill/>
        </a:ln>
        <a:effectLst/>
      </c:spPr>
      <c:txPr>
        <a:bodyPr rot="0" spcFirstLastPara="1" vertOverflow="ellipsis" vert="horz" wrap="square" anchor="ctr" anchorCtr="1"/>
        <a:lstStyle/>
        <a:p>
          <a:pPr>
            <a:defRPr sz="2400" b="0" i="0" u="none" strike="noStrike" kern="1200" spc="0" baseline="0">
              <a:solidFill>
                <a:schemeClr val="tx1">
                  <a:lumMod val="65000"/>
                  <a:lumOff val="35000"/>
                </a:schemeClr>
              </a:solidFill>
              <a:latin typeface="+mn-lt"/>
              <a:ea typeface="+mn-ea"/>
              <a:cs typeface="+mn-cs"/>
            </a:defRPr>
          </a:pPr>
          <a:endParaRPr lang="ja-JP"/>
        </a:p>
      </c:txPr>
    </c:title>
    <c:autoTitleDeleted val="0"/>
    <c:plotArea>
      <c:layout/>
      <c:barChart>
        <c:barDir val="col"/>
        <c:grouping val="clustered"/>
        <c:varyColors val="0"/>
        <c:ser>
          <c:idx val="0"/>
          <c:order val="0"/>
          <c:tx>
            <c:strRef>
              <c:f>Sheet1!$B$1</c:f>
              <c:strCache>
                <c:ptCount val="1"/>
                <c:pt idx="0">
                  <c:v>既存手法</c:v>
                </c:pt>
              </c:strCache>
            </c:strRef>
          </c:tx>
          <c:spPr>
            <a:solidFill>
              <a:schemeClr val="accent1"/>
            </a:solidFill>
            <a:ln>
              <a:noFill/>
            </a:ln>
            <a:effectLst/>
          </c:spPr>
          <c:invertIfNegative val="0"/>
          <c:cat>
            <c:numRef>
              <c:f>Sheet1!$A$2:$A$6</c:f>
              <c:numCache>
                <c:formatCode>General</c:formatCode>
                <c:ptCount val="5"/>
                <c:pt idx="0">
                  <c:v>2</c:v>
                </c:pt>
                <c:pt idx="1">
                  <c:v>3</c:v>
                </c:pt>
                <c:pt idx="2">
                  <c:v>4</c:v>
                </c:pt>
                <c:pt idx="3">
                  <c:v>5</c:v>
                </c:pt>
                <c:pt idx="4">
                  <c:v>6</c:v>
                </c:pt>
              </c:numCache>
            </c:numRef>
          </c:cat>
          <c:val>
            <c:numRef>
              <c:f>Sheet1!$B$2:$B$6</c:f>
              <c:numCache>
                <c:formatCode>General</c:formatCode>
                <c:ptCount val="5"/>
                <c:pt idx="0">
                  <c:v>1.6</c:v>
                </c:pt>
                <c:pt idx="1">
                  <c:v>14</c:v>
                </c:pt>
                <c:pt idx="2">
                  <c:v>127</c:v>
                </c:pt>
                <c:pt idx="3">
                  <c:v>1110</c:v>
                </c:pt>
                <c:pt idx="4">
                  <c:v>7500</c:v>
                </c:pt>
              </c:numCache>
            </c:numRef>
          </c:val>
          <c:extLst>
            <c:ext xmlns:c16="http://schemas.microsoft.com/office/drawing/2014/chart" uri="{C3380CC4-5D6E-409C-BE32-E72D297353CC}">
              <c16:uniqueId val="{00000000-27D2-0C4B-907F-F359EE0D5368}"/>
            </c:ext>
          </c:extLst>
        </c:ser>
        <c:ser>
          <c:idx val="1"/>
          <c:order val="1"/>
          <c:tx>
            <c:strRef>
              <c:f>Sheet1!$C$1</c:f>
              <c:strCache>
                <c:ptCount val="1"/>
                <c:pt idx="0">
                  <c:v>提案手法</c:v>
                </c:pt>
              </c:strCache>
            </c:strRef>
          </c:tx>
          <c:spPr>
            <a:solidFill>
              <a:srgbClr val="FF0000"/>
            </a:solidFill>
            <a:ln>
              <a:noFill/>
            </a:ln>
            <a:effectLst/>
          </c:spPr>
          <c:invertIfNegative val="0"/>
          <c:cat>
            <c:numRef>
              <c:f>Sheet1!$A$2:$A$6</c:f>
              <c:numCache>
                <c:formatCode>General</c:formatCode>
                <c:ptCount val="5"/>
                <c:pt idx="0">
                  <c:v>2</c:v>
                </c:pt>
                <c:pt idx="1">
                  <c:v>3</c:v>
                </c:pt>
                <c:pt idx="2">
                  <c:v>4</c:v>
                </c:pt>
                <c:pt idx="3">
                  <c:v>5</c:v>
                </c:pt>
                <c:pt idx="4">
                  <c:v>6</c:v>
                </c:pt>
              </c:numCache>
            </c:numRef>
          </c:cat>
          <c:val>
            <c:numRef>
              <c:f>Sheet1!$C$2:$C$6</c:f>
              <c:numCache>
                <c:formatCode>General</c:formatCode>
                <c:ptCount val="5"/>
                <c:pt idx="0">
                  <c:v>0.9</c:v>
                </c:pt>
                <c:pt idx="1">
                  <c:v>1.5</c:v>
                </c:pt>
                <c:pt idx="2">
                  <c:v>3.3</c:v>
                </c:pt>
                <c:pt idx="3">
                  <c:v>8.1999999999999993</c:v>
                </c:pt>
                <c:pt idx="4">
                  <c:v>20</c:v>
                </c:pt>
              </c:numCache>
            </c:numRef>
          </c:val>
          <c:extLst>
            <c:ext xmlns:c16="http://schemas.microsoft.com/office/drawing/2014/chart" uri="{C3380CC4-5D6E-409C-BE32-E72D297353CC}">
              <c16:uniqueId val="{00000001-27D2-0C4B-907F-F359EE0D5368}"/>
            </c:ext>
          </c:extLst>
        </c:ser>
        <c:dLbls>
          <c:showLegendKey val="0"/>
          <c:showVal val="0"/>
          <c:showCatName val="0"/>
          <c:showSerName val="0"/>
          <c:showPercent val="0"/>
          <c:showBubbleSize val="0"/>
        </c:dLbls>
        <c:gapWidth val="219"/>
        <c:overlap val="-27"/>
        <c:axId val="303250080"/>
        <c:axId val="1625104367"/>
      </c:barChart>
      <c:catAx>
        <c:axId val="303250080"/>
        <c:scaling>
          <c:orientation val="minMax"/>
        </c:scaling>
        <c:delete val="0"/>
        <c:axPos val="b"/>
        <c:title>
          <c:tx>
            <c:rich>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ja-JP" altLang="en-US" sz="1800">
                    <a:solidFill>
                      <a:schemeClr val="tx1"/>
                    </a:solidFill>
                  </a:rPr>
                  <a:t>最大次数</a:t>
                </a:r>
              </a:p>
            </c:rich>
          </c:tx>
          <c:layout>
            <c:manualLayout>
              <c:xMode val="edge"/>
              <c:yMode val="edge"/>
              <c:x val="0.46095212841526662"/>
              <c:y val="0.75026406192449191"/>
            </c:manualLayout>
          </c:layout>
          <c:overlay val="0"/>
          <c:spPr>
            <a:noFill/>
            <a:ln>
              <a:solidFill>
                <a:schemeClr val="bg1"/>
              </a:solidFill>
            </a:ln>
            <a:effectLst/>
          </c:spPr>
          <c:txPr>
            <a:bodyPr rot="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ja-JP"/>
          </a:p>
        </c:txPr>
        <c:crossAx val="1625104367"/>
        <c:crosses val="autoZero"/>
        <c:auto val="1"/>
        <c:lblAlgn val="ctr"/>
        <c:lblOffset val="100"/>
        <c:noMultiLvlLbl val="0"/>
      </c:catAx>
      <c:valAx>
        <c:axId val="1625104367"/>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ja-JP" altLang="en-US" sz="1800"/>
                  <a:t>計算</a:t>
                </a:r>
                <a:r>
                  <a:rPr lang="ja-JP" altLang="en-US" sz="1800">
                    <a:solidFill>
                      <a:schemeClr val="tx1"/>
                    </a:solidFill>
                  </a:rPr>
                  <a:t>時間</a:t>
                </a: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endParaRPr lang="ja-JP"/>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ja-JP"/>
          </a:p>
        </c:txPr>
        <c:crossAx val="3032500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ja-JP"/>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ja-JP"/>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0D51999-A223-5B47-9927-EAD8F383820C}" type="datetimeFigureOut">
              <a:rPr kumimoji="1" lang="ja-JP" altLang="en-US" smtClean="0"/>
              <a:t>2024/1/24</a:t>
            </a:fld>
            <a:endParaRPr kumimoji="1" lang="ja-JP" altLang="en-US"/>
          </a:p>
        </p:txBody>
      </p:sp>
      <p:sp>
        <p:nvSpPr>
          <p:cNvPr id="4" name="スライド イメージ プレースホルダー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ノート プレースホルダー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BA45FFB-7CA3-344D-BFE7-951288BB5771}" type="slidenum">
              <a:rPr kumimoji="1" lang="ja-JP" altLang="en-US" smtClean="0"/>
              <a:t>‹#›</a:t>
            </a:fld>
            <a:endParaRPr kumimoji="1" lang="ja-JP" altLang="en-US"/>
          </a:p>
        </p:txBody>
      </p:sp>
    </p:spTree>
    <p:extLst>
      <p:ext uri="{BB962C8B-B14F-4D97-AF65-F5344CB8AC3E}">
        <p14:creationId xmlns:p14="http://schemas.microsoft.com/office/powerpoint/2010/main" val="2875938598"/>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これから</a:t>
            </a:r>
            <a:r>
              <a:rPr lang="ja-JP" altLang="en-US" sz="1800">
                <a:effectLst/>
                <a:latin typeface="HaranoAjiMincho-Regular-Identity-H"/>
              </a:rPr>
              <a:t>二重頑健推定法</a:t>
            </a:r>
            <a:r>
              <a:rPr lang="ja-JP" altLang="en-US" sz="1800">
                <a:latin typeface="HaranoAjiMincho-Regular-Identity-H"/>
              </a:rPr>
              <a:t>における球共分散に基づく共変量選択</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と題しまし</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て</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西山研究室</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の武藤が</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発表させていただきます。</a:t>
            </a:r>
          </a:p>
          <a:p>
            <a:endParaRPr kumimoji="1" lang="ja-JP" altLang="en-US"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1</a:t>
            </a:fld>
            <a:endParaRPr kumimoji="1" lang="ja-JP" altLang="en-US"/>
          </a:p>
        </p:txBody>
      </p:sp>
    </p:spTree>
    <p:extLst>
      <p:ext uri="{BB962C8B-B14F-4D97-AF65-F5344CB8AC3E}">
        <p14:creationId xmlns:p14="http://schemas.microsoft.com/office/powerpoint/2010/main" val="241884089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私</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は統計的因果推論の研究をしており、因果効果の推定を行っております。因果効果とは原因</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である</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事柄</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に</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割り当てられるかどうかにより結果</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となる</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事柄</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が</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どれくらい変化するかを表しています。</a:t>
            </a:r>
          </a:p>
          <a:p>
            <a:pPr algn="just"/>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 </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このとき、</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原因に割り当てられた群である処置群と原因に割り当てられなかった群である対照軍の結果の期待値の差が因果効果の値となります。</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 </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しかし、たいていの場合、因果効果の値を推定することは、原因と結果の両方に影響を与える共変量の影響により難しくなっている。</a:t>
            </a:r>
          </a:p>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共変量の影響により</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 </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、処置群と対照軍の結果の期待値の差が因果効果の値と言えなくなります</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 </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因果効果の推定を行うにあたってこの共変量という存在が重要</a:t>
            </a:r>
            <a:r>
              <a:rPr lang="ja-JP" altLang="en-US" sz="1800" kern="100" dirty="0">
                <a:effectLst/>
                <a:latin typeface="游明朝" panose="02020400000000000000" pitchFamily="18" charset="-128"/>
                <a:ea typeface="游明朝" panose="02020400000000000000" pitchFamily="18" charset="-128"/>
                <a:cs typeface="Times New Roman" panose="02020603050405020304" pitchFamily="18" charset="0"/>
              </a:rPr>
              <a:t>であり、重要な共変量を用いないで推定を行うと大きなバイアスが生じてしまいます。</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2</a:t>
            </a:fld>
            <a:endParaRPr kumimoji="1" lang="ja-JP" altLang="en-US"/>
          </a:p>
        </p:txBody>
      </p:sp>
    </p:spTree>
    <p:extLst>
      <p:ext uri="{BB962C8B-B14F-4D97-AF65-F5344CB8AC3E}">
        <p14:creationId xmlns:p14="http://schemas.microsoft.com/office/powerpoint/2010/main" val="217988888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因果効果を推定する方法の一つとして</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二重頑健推定法</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が挙げられます。</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二重</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頑健推定法</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を</a:t>
            </a:r>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用いるとき</a:t>
            </a:r>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つのモデルを設定する必要があります。</a:t>
            </a:r>
          </a:p>
          <a:p>
            <a:pPr algn="just"/>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一つ目は共</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変量で</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原因に割り当てられるかどうかを表す変数である</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割り当て</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変数</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を</a:t>
            </a:r>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説明する傾向スコアモデル</a:t>
            </a:r>
          </a:p>
          <a:p>
            <a:pPr algn="just"/>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つ目は共変量で</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結果を</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表す変数である結果変数を</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説明</a:t>
            </a:r>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する結果</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モデルで</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す</a:t>
            </a:r>
            <a:endPar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二重にロバストな推定量には、傾向スコアモデルまたは結果モデルの内どちらかが正しく指定していできていれば因果効果の一致推定量が得られるという性質を持っている。</a:t>
            </a:r>
          </a:p>
          <a:p>
            <a:endParaRPr kumimoji="1" lang="ja-JP" altLang="en-US"/>
          </a:p>
          <a:p>
            <a:endParaRPr kumimoji="1" lang="ja-JP" altLang="en-US"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3</a:t>
            </a:fld>
            <a:endParaRPr kumimoji="1" lang="ja-JP" altLang="en-US"/>
          </a:p>
        </p:txBody>
      </p:sp>
    </p:spTree>
    <p:extLst>
      <p:ext uri="{BB962C8B-B14F-4D97-AF65-F5344CB8AC3E}">
        <p14:creationId xmlns:p14="http://schemas.microsoft.com/office/powerpoint/2010/main" val="207023627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この</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重にロバストな推定量で用いる</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つのモデルである傾向スコアモデルと結果モデルの回帰係数を推定する方法</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として</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Group Lasso and Doubly Robust Estimation</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と</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いうものがあります。</a:t>
            </a:r>
          </a:p>
          <a:p>
            <a:pPr algn="just"/>
            <a:r>
              <a:rPr lang="en-US" altLang="ja-JP" sz="1800" kern="100" dirty="0" err="1">
                <a:effectLst/>
                <a:latin typeface="游明朝" panose="02020400000000000000" pitchFamily="18" charset="-128"/>
                <a:ea typeface="游明朝" panose="02020400000000000000" pitchFamily="18" charset="-128"/>
                <a:cs typeface="Times New Roman" panose="02020603050405020304" pitchFamily="18" charset="0"/>
              </a:rPr>
              <a:t>GLiDeR</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はグループ</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lasso</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と適応型</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lasso</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に似た推定方法であり、</a:t>
            </a:r>
            <a:r>
              <a:rPr lang="en-US" altLang="ja-JP" sz="1800" kern="100" dirty="0" err="1">
                <a:effectLst/>
                <a:latin typeface="游明朝" panose="02020400000000000000" pitchFamily="18" charset="-128"/>
                <a:ea typeface="游明朝" panose="02020400000000000000" pitchFamily="18" charset="-128"/>
                <a:cs typeface="Times New Roman" panose="02020603050405020304" pitchFamily="18" charset="0"/>
              </a:rPr>
              <a:t>GLiDeR</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には</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回帰係数の推定だけではなく</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共</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変量選択を行うことができるという性質を持っています。</a:t>
            </a:r>
          </a:p>
          <a:p>
            <a:r>
              <a:rPr kumimoji="1" lang="ja-JP" altLang="en-US"/>
              <a:t>しかし、</a:t>
            </a:r>
            <a:r>
              <a:rPr kumimoji="1" lang="en-US" altLang="ja-JP" dirty="0" err="1"/>
              <a:t>GLiDeR</a:t>
            </a:r>
            <a:r>
              <a:rPr kumimoji="1" lang="ja-JP" altLang="en-US"/>
              <a:t>は基本的に線形モデルを仮定して推定しており、結果モデルが非線形の時、推定の精度が悪くなるという特徴があります。</a:t>
            </a:r>
            <a:endParaRPr kumimoji="1" lang="en-US" altLang="ja-JP" dirty="0"/>
          </a:p>
          <a:p>
            <a:r>
              <a:rPr kumimoji="1" lang="ja-JP" altLang="en-US"/>
              <a:t>共変量の数が少なければ、交互作用項を組み込んで推定を行うことはできますが、共変量の個数が多い場合交互作用公を組み込んで推定することは難しくなります。</a:t>
            </a:r>
            <a:endParaRPr kumimoji="1" lang="en-US" altLang="ja-JP" dirty="0"/>
          </a:p>
          <a:p>
            <a:r>
              <a:rPr kumimoji="1" lang="ja-JP" altLang="en-US"/>
              <a:t>この問題に対して、</a:t>
            </a:r>
            <a:endParaRPr kumimoji="1" lang="en-US" altLang="ja-JP" dirty="0"/>
          </a:p>
          <a:p>
            <a:r>
              <a:rPr kumimoji="1" lang="ja-JP" altLang="en-US"/>
              <a:t>球共分散という２変数間の非線形性を捉えることができる尺度を用いて、非線形に対応した</a:t>
            </a:r>
            <a:r>
              <a:rPr kumimoji="1" lang="en-US" altLang="ja-JP" dirty="0" err="1"/>
              <a:t>GLiDeR</a:t>
            </a:r>
            <a:r>
              <a:rPr kumimoji="1" lang="ja-JP" altLang="en-US"/>
              <a:t>を提案します。</a:t>
            </a:r>
            <a:endParaRPr kumimoji="1" lang="en-US" altLang="ja-JP"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4</a:t>
            </a:fld>
            <a:endParaRPr kumimoji="1" lang="ja-JP" altLang="en-US"/>
          </a:p>
        </p:txBody>
      </p:sp>
    </p:spTree>
    <p:extLst>
      <p:ext uri="{BB962C8B-B14F-4D97-AF65-F5344CB8AC3E}">
        <p14:creationId xmlns:p14="http://schemas.microsoft.com/office/powerpoint/2010/main" val="426479509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この</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重にロバストな推定量で用いる</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つのモデルである傾向スコアモデルと結果モデルの回帰係数を推定する方法</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として</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Group Lasso and Doubly Robust Estimation</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と</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いうものがあります。</a:t>
            </a:r>
          </a:p>
          <a:p>
            <a:pPr algn="just"/>
            <a:r>
              <a:rPr lang="en-US" altLang="ja-JP" sz="1800" kern="100" dirty="0" err="1">
                <a:effectLst/>
                <a:latin typeface="游明朝" panose="02020400000000000000" pitchFamily="18" charset="-128"/>
                <a:ea typeface="游明朝" panose="02020400000000000000" pitchFamily="18" charset="-128"/>
                <a:cs typeface="Times New Roman" panose="02020603050405020304" pitchFamily="18" charset="0"/>
              </a:rPr>
              <a:t>GLiDeR</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はグループ</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lasso</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と適応型</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lasso</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に似た推定方法であり、</a:t>
            </a:r>
            <a:r>
              <a:rPr lang="en-US" altLang="ja-JP" sz="1800" kern="100" dirty="0" err="1">
                <a:effectLst/>
                <a:latin typeface="游明朝" panose="02020400000000000000" pitchFamily="18" charset="-128"/>
                <a:ea typeface="游明朝" panose="02020400000000000000" pitchFamily="18" charset="-128"/>
                <a:cs typeface="Times New Roman" panose="02020603050405020304" pitchFamily="18" charset="0"/>
              </a:rPr>
              <a:t>GLiDeR</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には</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回帰係数の推定だけではなく</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共</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変量選択を行うことができるという性質を持っています。</a:t>
            </a:r>
          </a:p>
          <a:p>
            <a:r>
              <a:rPr kumimoji="1" lang="ja-JP" altLang="en-US"/>
              <a:t>しかし、</a:t>
            </a:r>
            <a:r>
              <a:rPr kumimoji="1" lang="en-US" altLang="ja-JP" dirty="0" err="1"/>
              <a:t>GLiDeR</a:t>
            </a:r>
            <a:r>
              <a:rPr kumimoji="1" lang="ja-JP" altLang="en-US"/>
              <a:t>は基本的に線形モデルを仮定して推定しており、結果モデルが非線形の時、推定の精度が悪くなるという特徴があります。</a:t>
            </a:r>
            <a:endParaRPr kumimoji="1" lang="en-US" altLang="ja-JP" dirty="0"/>
          </a:p>
          <a:p>
            <a:r>
              <a:rPr kumimoji="1" lang="ja-JP" altLang="en-US"/>
              <a:t>共変量の数が少なければ、交互作用項を組み込んで推定を行うことはできますが、共変量の個数が多い場合交互作用公を組み込んで推定することは難しくなります。</a:t>
            </a:r>
            <a:endParaRPr kumimoji="1" lang="en-US" altLang="ja-JP" dirty="0"/>
          </a:p>
          <a:p>
            <a:r>
              <a:rPr kumimoji="1" lang="ja-JP" altLang="en-US"/>
              <a:t>この問題に対して、</a:t>
            </a:r>
            <a:endParaRPr kumimoji="1" lang="en-US" altLang="ja-JP" dirty="0"/>
          </a:p>
          <a:p>
            <a:r>
              <a:rPr kumimoji="1" lang="ja-JP" altLang="en-US"/>
              <a:t>球共分散という２変数間の非線形性を捉えることができる尺度を用いて、非線形に対応した</a:t>
            </a:r>
            <a:r>
              <a:rPr kumimoji="1" lang="en-US" altLang="ja-JP" dirty="0" err="1"/>
              <a:t>GLiDeR</a:t>
            </a:r>
            <a:r>
              <a:rPr kumimoji="1" lang="ja-JP" altLang="en-US"/>
              <a:t>を提案します。</a:t>
            </a:r>
            <a:endParaRPr kumimoji="1" lang="en-US" altLang="ja-JP"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5</a:t>
            </a:fld>
            <a:endParaRPr kumimoji="1" lang="ja-JP" altLang="en-US"/>
          </a:p>
        </p:txBody>
      </p:sp>
    </p:spTree>
    <p:extLst>
      <p:ext uri="{BB962C8B-B14F-4D97-AF65-F5344CB8AC3E}">
        <p14:creationId xmlns:p14="http://schemas.microsoft.com/office/powerpoint/2010/main" val="41373320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結果変数は連続変数</a:t>
            </a:r>
            <a:endParaRPr kumimoji="1" lang="en-US" altLang="ja-JP" dirty="0"/>
          </a:p>
          <a:p>
            <a:r>
              <a:rPr kumimoji="1" lang="ja-JP" altLang="en-US"/>
              <a:t>割り当て変数は２値</a:t>
            </a:r>
            <a:endParaRPr kumimoji="1" lang="en-US" altLang="ja-JP" dirty="0"/>
          </a:p>
          <a:p>
            <a:endParaRPr kumimoji="1" lang="en-US" altLang="ja-JP" dirty="0"/>
          </a:p>
          <a:p>
            <a:r>
              <a:rPr kumimoji="1" lang="en-US" altLang="ja-JP" dirty="0"/>
              <a:t>170</a:t>
            </a:r>
            <a:endParaRPr kumimoji="1" lang="ja-JP" altLang="en-US"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6</a:t>
            </a:fld>
            <a:endParaRPr kumimoji="1" lang="ja-JP" altLang="en-US"/>
          </a:p>
        </p:txBody>
      </p:sp>
    </p:spTree>
    <p:extLst>
      <p:ext uri="{BB962C8B-B14F-4D97-AF65-F5344CB8AC3E}">
        <p14:creationId xmlns:p14="http://schemas.microsoft.com/office/powerpoint/2010/main" val="175935999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まず</a:t>
            </a:r>
            <a:r>
              <a:rPr lang="en-US" altLang="ja-JP" sz="1200" kern="100" dirty="0" err="1">
                <a:effectLst/>
                <a:latin typeface="游明朝" panose="02020400000000000000" pitchFamily="18" charset="-128"/>
                <a:ea typeface="游明朝" panose="02020400000000000000" pitchFamily="18" charset="-128"/>
                <a:cs typeface="Times New Roman" panose="02020603050405020304" pitchFamily="18" charset="0"/>
              </a:rPr>
              <a:t>GLiDeR</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について説明させていただきます</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en-US" altLang="ja-JP" sz="1200" kern="100" dirty="0" err="1">
                <a:effectLst/>
                <a:latin typeface="游明朝" panose="02020400000000000000" pitchFamily="18" charset="-128"/>
                <a:ea typeface="游明朝" panose="02020400000000000000" pitchFamily="18" charset="-128"/>
                <a:cs typeface="Times New Roman" panose="02020603050405020304" pitchFamily="18" charset="0"/>
              </a:rPr>
              <a:t>GLiDeR</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は次の最小化問題によって回帰係数の推定</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および共変量選択</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を行います。</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en-US" altLang="ja-JP" sz="1200" kern="100" dirty="0" err="1">
                <a:effectLst/>
                <a:latin typeface="游明朝" panose="02020400000000000000" pitchFamily="18" charset="-128"/>
                <a:ea typeface="游明朝" panose="02020400000000000000" pitchFamily="18" charset="-128"/>
                <a:cs typeface="Times New Roman" panose="02020603050405020304" pitchFamily="18" charset="0"/>
              </a:rPr>
              <a:t>GLiDeR</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は損失関数と正則化項からなります。</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endPar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endParaRPr>
          </a:p>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7</a:t>
            </a:fld>
            <a:endParaRPr kumimoji="1" lang="ja-JP" altLang="en-US"/>
          </a:p>
        </p:txBody>
      </p:sp>
    </p:spTree>
    <p:extLst>
      <p:ext uri="{BB962C8B-B14F-4D97-AF65-F5344CB8AC3E}">
        <p14:creationId xmlns:p14="http://schemas.microsoft.com/office/powerpoint/2010/main" val="341966521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損失関数は</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結果モデルの誤差</a:t>
            </a:r>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乗和と</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傾向スコアモデルの負の対数尤度関数</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との和となっています</a:t>
            </a:r>
            <a:endPar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この時、アルファは</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ガンマは</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そして、ベータはアルファとガンマをグループ化したものとなっています。</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endParaRPr kumimoji="1" lang="ja-JP" altLang="en-US"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8</a:t>
            </a:fld>
            <a:endParaRPr kumimoji="1" lang="ja-JP" altLang="en-US"/>
          </a:p>
        </p:txBody>
      </p:sp>
    </p:spTree>
    <p:extLst>
      <p:ext uri="{BB962C8B-B14F-4D97-AF65-F5344CB8AC3E}">
        <p14:creationId xmlns:p14="http://schemas.microsoft.com/office/powerpoint/2010/main" val="175836357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この正則化項によって</a:t>
            </a:r>
            <a:r>
              <a:rPr kumimoji="1" lang="en-US" altLang="ja-JP" dirty="0" err="1"/>
              <a:t>Gli</a:t>
            </a:r>
            <a:r>
              <a:rPr kumimoji="1" lang="en-US" altLang="ja-JP" dirty="0"/>
              <a:t> </a:t>
            </a:r>
            <a:r>
              <a:rPr kumimoji="1" lang="en-US" altLang="ja-JP" dirty="0" err="1"/>
              <a:t>DeR</a:t>
            </a:r>
            <a:r>
              <a:rPr kumimoji="1" lang="ja-JP" altLang="en-US"/>
              <a:t>は共変量選択を行うことができます。</a:t>
            </a:r>
            <a:endParaRPr kumimoji="1" lang="en-US" altLang="ja-JP" dirty="0"/>
          </a:p>
          <a:p>
            <a:r>
              <a:rPr kumimoji="1" lang="en-US" altLang="ja-JP" dirty="0" err="1"/>
              <a:t>GliDeR</a:t>
            </a:r>
            <a:r>
              <a:rPr kumimoji="1" lang="ja-JP" altLang="en-US"/>
              <a:t>による共変量選択を行うと、例えば共変量</a:t>
            </a:r>
            <a:r>
              <a:rPr kumimoji="1" lang="en-US" altLang="ja-JP" dirty="0"/>
              <a:t>C1</a:t>
            </a:r>
            <a:r>
              <a:rPr kumimoji="1" lang="ja-JP" altLang="en-US"/>
              <a:t>の回帰係数は結果モデル、傾向スコアモデル共に</a:t>
            </a:r>
            <a:r>
              <a:rPr kumimoji="1" lang="en-US" altLang="ja-JP" dirty="0"/>
              <a:t>0</a:t>
            </a:r>
            <a:r>
              <a:rPr kumimoji="1" lang="ja-JP" altLang="en-US"/>
              <a:t>と推定し、共変量</a:t>
            </a:r>
            <a:r>
              <a:rPr kumimoji="1" lang="en-US" altLang="ja-JP" dirty="0"/>
              <a:t>C1</a:t>
            </a:r>
            <a:r>
              <a:rPr kumimoji="1" lang="ja-JP" altLang="en-US"/>
              <a:t>の回帰係数は結果モデル、傾向スコアモデル共に非</a:t>
            </a:r>
            <a:r>
              <a:rPr kumimoji="1" lang="en-US" altLang="ja-JP" dirty="0"/>
              <a:t>0</a:t>
            </a:r>
            <a:r>
              <a:rPr kumimoji="1" lang="ja-JP" altLang="en-US"/>
              <a:t>と推定するというように、同じ共変量に対応する回帰係数は両方とも０になるか両方とも非０になリます</a:t>
            </a:r>
            <a:endParaRPr kumimoji="1" lang="en-US" altLang="ja-JP" dirty="0"/>
          </a:p>
          <a:p>
            <a:endParaRPr kumimoji="1" lang="en-US" altLang="ja-JP" dirty="0"/>
          </a:p>
          <a:p>
            <a:r>
              <a:rPr kumimoji="1" lang="ja-JP" altLang="en-US"/>
              <a:t>ベータについて</a:t>
            </a:r>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9</a:t>
            </a:fld>
            <a:endParaRPr kumimoji="1" lang="ja-JP" altLang="en-US"/>
          </a:p>
        </p:txBody>
      </p:sp>
    </p:spTree>
    <p:extLst>
      <p:ext uri="{BB962C8B-B14F-4D97-AF65-F5344CB8AC3E}">
        <p14:creationId xmlns:p14="http://schemas.microsoft.com/office/powerpoint/2010/main" val="176527744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因果効果を推定する方法の一つとして二重にロバストな推定量が挙げられます。</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二重</a:t>
            </a:r>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にロバストな推定量を用いるとき</a:t>
            </a:r>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つのモデルを設定する必要があります。</a:t>
            </a:r>
          </a:p>
          <a:p>
            <a:pPr algn="just"/>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一つ目は共変量で割り当てを説明する傾向スコアモデル</a:t>
            </a:r>
          </a:p>
          <a:p>
            <a:pPr algn="just"/>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2</a:t>
            </a:r>
            <a:r>
              <a:rPr lang="ja-JP"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つ目は共変量で結果を説明する結果モデルである。</a:t>
            </a:r>
          </a:p>
          <a:p>
            <a:endParaRPr kumimoji="1" lang="ja-JP" altLang="en-US"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10</a:t>
            </a:fld>
            <a:endParaRPr kumimoji="1" lang="ja-JP" altLang="en-US"/>
          </a:p>
        </p:txBody>
      </p:sp>
    </p:spTree>
    <p:extLst>
      <p:ext uri="{BB962C8B-B14F-4D97-AF65-F5344CB8AC3E}">
        <p14:creationId xmlns:p14="http://schemas.microsoft.com/office/powerpoint/2010/main" val="23171651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共変量選</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重み</a:t>
            </a:r>
            <a:r>
              <a:rPr lang="en-US" altLang="ja-JP" sz="1800" kern="100" dirty="0" err="1">
                <a:effectLst/>
                <a:latin typeface="游明朝" panose="02020400000000000000" pitchFamily="18" charset="-128"/>
                <a:ea typeface="游明朝" panose="02020400000000000000" pitchFamily="18" charset="-128"/>
                <a:cs typeface="Times New Roman" panose="02020603050405020304" pitchFamily="18" charset="0"/>
              </a:rPr>
              <a:t>Wk</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によって</a:t>
            </a:r>
            <a:r>
              <a:rPr lang="en-US" altLang="ja-JP" sz="1800" kern="100" dirty="0" err="1">
                <a:effectLst/>
                <a:latin typeface="游明朝" panose="02020400000000000000" pitchFamily="18" charset="-128"/>
                <a:ea typeface="游明朝" panose="02020400000000000000" pitchFamily="18" charset="-128"/>
                <a:cs typeface="Times New Roman" panose="02020603050405020304" pitchFamily="18" charset="0"/>
              </a:rPr>
              <a:t>GLiDeR</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では次のような変数を今日変量として選択いたします。</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この図の変数</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A</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のように割り当てと結果変数の両方に影響を与える変数は共変量として選択する</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11</a:t>
            </a:fld>
            <a:endParaRPr kumimoji="1" lang="ja-JP" altLang="en-US"/>
          </a:p>
        </p:txBody>
      </p:sp>
    </p:spTree>
    <p:extLst>
      <p:ext uri="{BB962C8B-B14F-4D97-AF65-F5344CB8AC3E}">
        <p14:creationId xmlns:p14="http://schemas.microsoft.com/office/powerpoint/2010/main" val="68471271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共変量選択</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この図の変数</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C</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２のように割り当てに影響を与える、結果変数の両方に影響を与えない変数は共変量として選択しない</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12</a:t>
            </a:fld>
            <a:endParaRPr kumimoji="1" lang="ja-JP" altLang="en-US"/>
          </a:p>
        </p:txBody>
      </p:sp>
    </p:spTree>
    <p:extLst>
      <p:ext uri="{BB962C8B-B14F-4D97-AF65-F5344CB8AC3E}">
        <p14:creationId xmlns:p14="http://schemas.microsoft.com/office/powerpoint/2010/main" val="2676418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共変量選択</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この図の変数</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C3</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のように割り当てに影響を与えない、結果変数の両方に影響を与える変数は共変量として選択する</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13</a:t>
            </a:fld>
            <a:endParaRPr kumimoji="1" lang="ja-JP" altLang="en-US"/>
          </a:p>
        </p:txBody>
      </p:sp>
    </p:spTree>
    <p:extLst>
      <p:ext uri="{BB962C8B-B14F-4D97-AF65-F5344CB8AC3E}">
        <p14:creationId xmlns:p14="http://schemas.microsoft.com/office/powerpoint/2010/main" val="241236180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共変量選択</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この図の変数</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C4</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のように割り当てと結果変数の両方に影響を与えない変数は共変量として選択しない</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14</a:t>
            </a:fld>
            <a:endParaRPr kumimoji="1" lang="ja-JP" altLang="en-US"/>
          </a:p>
        </p:txBody>
      </p:sp>
    </p:spTree>
    <p:extLst>
      <p:ext uri="{BB962C8B-B14F-4D97-AF65-F5344CB8AC3E}">
        <p14:creationId xmlns:p14="http://schemas.microsoft.com/office/powerpoint/2010/main" val="198029195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308</a:t>
            </a:r>
          </a:p>
          <a:p>
            <a:endParaRPr kumimoji="1" lang="ja-JP" altLang="en-US"/>
          </a:p>
        </p:txBody>
      </p:sp>
      <p:sp>
        <p:nvSpPr>
          <p:cNvPr id="4" name="スライド番号プレースホルダー 3"/>
          <p:cNvSpPr>
            <a:spLocks noGrp="1"/>
          </p:cNvSpPr>
          <p:nvPr>
            <p:ph type="sldNum" sz="quarter" idx="5"/>
          </p:nvPr>
        </p:nvSpPr>
        <p:spPr/>
        <p:txBody>
          <a:bodyPr/>
          <a:lstStyle/>
          <a:p>
            <a:fld id="{3BA45FFB-7CA3-344D-BFE7-951288BB5771}" type="slidenum">
              <a:rPr kumimoji="1" lang="ja-JP" altLang="en-US" smtClean="0"/>
              <a:t>15</a:t>
            </a:fld>
            <a:endParaRPr kumimoji="1" lang="ja-JP" altLang="en-US"/>
          </a:p>
        </p:txBody>
      </p:sp>
    </p:spTree>
    <p:extLst>
      <p:ext uri="{BB962C8B-B14F-4D97-AF65-F5344CB8AC3E}">
        <p14:creationId xmlns:p14="http://schemas.microsoft.com/office/powerpoint/2010/main" val="71060967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ja-JP" altLang="en-US" sz="1200">
                <a:solidFill>
                  <a:schemeClr val="tx1"/>
                </a:solidFill>
                <a:latin typeface="+mn-ea"/>
                <a:ea typeface="+mn-ea"/>
                <a:cs typeface="Arial" panose="020B0604020202020204" pitchFamily="34" charset="0"/>
              </a:rPr>
              <a:t>球共分散</a:t>
            </a:r>
            <a:r>
              <a:rPr lang="en-US" altLang="ja-JP" sz="1200" dirty="0" err="1">
                <a:solidFill>
                  <a:schemeClr val="tx1"/>
                </a:solidFill>
                <a:latin typeface="+mn-ea"/>
                <a:ea typeface="+mn-ea"/>
                <a:cs typeface="Arial" panose="020B0604020202020204" pitchFamily="34" charset="0"/>
              </a:rPr>
              <a:t>Bcov</a:t>
            </a:r>
            <a:r>
              <a:rPr lang="ja-JP" altLang="en-US" sz="1200">
                <a:solidFill>
                  <a:schemeClr val="tx1"/>
                </a:solidFill>
                <a:latin typeface="+mn-ea"/>
                <a:ea typeface="+mn-ea"/>
                <a:cs typeface="Arial" panose="020B0604020202020204" pitchFamily="34" charset="0"/>
              </a:rPr>
              <a:t>はこのような式によって定義されます。</a:t>
            </a:r>
            <a:endParaRPr lang="en-US" altLang="ja-JP" sz="1200" dirty="0">
              <a:solidFill>
                <a:schemeClr val="tx1"/>
              </a:solidFill>
              <a:latin typeface="+mn-ea"/>
              <a:ea typeface="+mn-ea"/>
              <a:cs typeface="Arial" panose="020B0604020202020204" pitchFamily="34" charset="0"/>
            </a:endParaRPr>
          </a:p>
          <a:p>
            <a:r>
              <a:rPr lang="ja-JP" altLang="en-US" sz="1200">
                <a:solidFill>
                  <a:schemeClr val="tx1"/>
                </a:solidFill>
                <a:latin typeface="+mn-ea"/>
                <a:ea typeface="+mn-ea"/>
                <a:cs typeface="Arial" panose="020B0604020202020204" pitchFamily="34" charset="0"/>
              </a:rPr>
              <a:t>しかし、実際に旧教分散を求めるときはこの式を用いるのではなく、サンプル表現したものを用いて計算します</a:t>
            </a:r>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16</a:t>
            </a:fld>
            <a:endParaRPr kumimoji="1" lang="ja-JP" altLang="en-US"/>
          </a:p>
        </p:txBody>
      </p:sp>
    </p:spTree>
    <p:extLst>
      <p:ext uri="{BB962C8B-B14F-4D97-AF65-F5344CB8AC3E}">
        <p14:creationId xmlns:p14="http://schemas.microsoft.com/office/powerpoint/2010/main" val="132798117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ノート プレースホルダー 2"/>
              <p:cNvSpPr>
                <a:spLocks noGrp="1"/>
              </p:cNvSpPr>
              <p:nvPr>
                <p:ph type="body" idx="1"/>
              </p:nvPr>
            </p:nvSpPr>
            <p:spPr/>
            <p:txBody>
              <a:bodyPr/>
              <a:lstStyle/>
              <a:p>
                <a:r>
                  <a:rPr kumimoji="1" lang="ja-JP" altLang="en-US"/>
                  <a:t>今まで、今日変量と結果変数に関する球今日分散を考えていましたが</a:t>
                </a:r>
                <a:endParaRPr kumimoji="1" lang="en-US" altLang="ja-JP" dirty="0"/>
              </a:p>
              <a:p>
                <a:r>
                  <a:rPr kumimoji="1" lang="ja-JP" altLang="en-US"/>
                  <a:t>因果効果を推定するのに結果と強変量だけではなく、割り当ても用います</a:t>
                </a:r>
                <a:endParaRPr kumimoji="1" lang="en-US" altLang="ja-JP" dirty="0"/>
              </a:p>
              <a:p>
                <a:r>
                  <a:rPr kumimoji="1" lang="ja-JP" altLang="en-US"/>
                  <a:t>そのため、次に、割り当てを条件付けた球共分散を定義します</a:t>
                </a:r>
                <a:endParaRPr kumimoji="1" lang="en-US" altLang="ja-JP" dirty="0"/>
              </a:p>
              <a:p>
                <a:r>
                  <a:rPr kumimoji="1" lang="ja-JP" altLang="en-US"/>
                  <a:t>まず、オメガを原因に割り当てられる確率とします</a:t>
                </a:r>
                <a:endParaRPr kumimoji="1" lang="en-US" altLang="ja-JP" dirty="0"/>
              </a:p>
              <a:p>
                <a:r>
                  <a:rPr kumimoji="1" lang="ja-JP" altLang="en-US"/>
                  <a:t>次に</a:t>
                </a:r>
                <a14:m>
                  <m:oMath xmlns:m="http://schemas.openxmlformats.org/officeDocument/2006/math">
                    <m:d>
                      <m:dPr>
                        <m:ctrlPr>
                          <a:rPr kumimoji="1" lang="en-US" altLang="ja-JP" b="0" i="1" dirty="0" smtClean="0">
                            <a:latin typeface="Cambria Math" panose="02040503050406030204" pitchFamily="18" charset="0"/>
                          </a:rPr>
                        </m:ctrlPr>
                      </m:dPr>
                      <m:e>
                        <m:sSubSup>
                          <m:sSubSupPr>
                            <m:ctrlPr>
                              <a:rPr lang="en-US" altLang="ja-JP" i="1">
                                <a:latin typeface="Cambria Math" panose="02040503050406030204" pitchFamily="18" charset="0"/>
                              </a:rPr>
                            </m:ctrlPr>
                          </m:sSubSupPr>
                          <m:e>
                            <m:r>
                              <a:rPr lang="en-US" altLang="ja-JP" b="1" i="1">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𝛼</m:t>
                            </m:r>
                          </m:sub>
                          <m:sup>
                            <m:r>
                              <a:rPr lang="en-US" altLang="ja-JP" i="1">
                                <a:latin typeface="Cambria Math" panose="02040503050406030204" pitchFamily="18" charset="0"/>
                              </a:rPr>
                              <m:t>(</m:t>
                            </m:r>
                            <m:r>
                              <a:rPr lang="en-US" altLang="ja-JP" i="1">
                                <a:latin typeface="Cambria Math" panose="02040503050406030204" pitchFamily="18" charset="0"/>
                              </a:rPr>
                              <m:t>𝑥</m:t>
                            </m:r>
                            <m:r>
                              <a:rPr lang="en-US" altLang="ja-JP" i="1">
                                <a:latin typeface="Cambria Math" panose="02040503050406030204" pitchFamily="18" charset="0"/>
                              </a:rPr>
                              <m:t>)</m:t>
                            </m:r>
                          </m:sup>
                        </m:sSubSup>
                        <m:r>
                          <a:rPr lang="en-US" altLang="ja-JP" i="1">
                            <a:latin typeface="Cambria Math" panose="02040503050406030204" pitchFamily="18" charset="0"/>
                          </a:rPr>
                          <m:t>,</m:t>
                        </m:r>
                        <m:sSup>
                          <m:sSupPr>
                            <m:ctrlPr>
                              <a:rPr lang="en-US" altLang="ja-JP" i="1">
                                <a:latin typeface="Cambria Math" panose="02040503050406030204" pitchFamily="18" charset="0"/>
                              </a:rPr>
                            </m:ctrlPr>
                          </m:sSupPr>
                          <m:e>
                            <m:r>
                              <a:rPr lang="en-US" altLang="ja-JP" b="1" i="1">
                                <a:latin typeface="Cambria Math" panose="02040503050406030204" pitchFamily="18" charset="0"/>
                              </a:rPr>
                              <m:t>𝒀</m:t>
                            </m:r>
                          </m:e>
                          <m:sup>
                            <m:r>
                              <a:rPr lang="en-US" altLang="ja-JP" i="1">
                                <a:latin typeface="Cambria Math" panose="02040503050406030204" pitchFamily="18" charset="0"/>
                              </a:rPr>
                              <m:t>(</m:t>
                            </m:r>
                            <m:r>
                              <a:rPr lang="en-US" altLang="ja-JP" i="1">
                                <a:latin typeface="Cambria Math" panose="02040503050406030204" pitchFamily="18" charset="0"/>
                              </a:rPr>
                              <m:t>𝑥</m:t>
                            </m:r>
                            <m:r>
                              <a:rPr lang="en-US" altLang="ja-JP" i="1">
                                <a:latin typeface="Cambria Math" panose="02040503050406030204" pitchFamily="18" charset="0"/>
                              </a:rPr>
                              <m:t>)</m:t>
                            </m:r>
                          </m:sup>
                        </m:sSup>
                      </m:e>
                    </m:d>
                  </m:oMath>
                </a14:m>
                <a:r>
                  <a:rPr kumimoji="1" lang="ja-JP" altLang="en-US"/>
                  <a:t>を</a:t>
                </a:r>
                <a14:m>
                  <m:oMath xmlns:m="http://schemas.openxmlformats.org/officeDocument/2006/math">
                    <m:r>
                      <a:rPr kumimoji="1" lang="en-US" altLang="ja-JP" b="0" i="1" dirty="0" smtClean="0">
                        <a:latin typeface="Cambria Math" panose="02040503050406030204" pitchFamily="18" charset="0"/>
                      </a:rPr>
                      <m:t>𝑥</m:t>
                    </m:r>
                    <m:r>
                      <a:rPr kumimoji="1" lang="en-US" altLang="ja-JP" b="0" i="1" dirty="0" smtClean="0">
                        <a:latin typeface="Cambria Math" panose="02040503050406030204" pitchFamily="18" charset="0"/>
                      </a:rPr>
                      <m:t>=0,1</m:t>
                    </m:r>
                  </m:oMath>
                </a14:m>
                <a:r>
                  <a:rPr kumimoji="1" lang="ja-JP" altLang="en-US" dirty="0"/>
                  <a:t>となる</a:t>
                </a:r>
                <a:r>
                  <a:rPr kumimoji="1" lang="ja-JP" altLang="en-US"/>
                  <a:t>確率変数とします</a:t>
                </a:r>
                <a:endParaRPr kumimoji="1" lang="en-US" altLang="ja-JP" dirty="0"/>
              </a:p>
              <a:p>
                <a:r>
                  <a:rPr kumimoji="1" lang="ja-JP" altLang="en-US"/>
                  <a:t>このとき、割り当て</a:t>
                </a:r>
                <a:r>
                  <a:rPr kumimoji="1" lang="en-US" altLang="ja-JP" dirty="0"/>
                  <a:t>X</a:t>
                </a:r>
                <a:r>
                  <a:rPr kumimoji="1" lang="ja-JP" altLang="en-US"/>
                  <a:t>が与えられた場合の共変量</a:t>
                </a:r>
                <a:r>
                  <a:rPr kumimoji="1" lang="en-US" altLang="ja-JP" dirty="0"/>
                  <a:t>C</a:t>
                </a:r>
                <a:r>
                  <a:rPr kumimoji="1" lang="ja-JP" altLang="en-US"/>
                  <a:t>アルファと結果</a:t>
                </a:r>
                <a:r>
                  <a:rPr kumimoji="1" lang="en-US" altLang="ja-JP" dirty="0"/>
                  <a:t>Y</a:t>
                </a:r>
                <a:r>
                  <a:rPr kumimoji="1" lang="ja-JP" altLang="en-US"/>
                  <a:t>の条件付き級共分散は</a:t>
                </a:r>
                <a:endParaRPr kumimoji="1" lang="en-US" altLang="ja-JP" dirty="0"/>
              </a:p>
              <a:p>
                <a:r>
                  <a:rPr kumimoji="1" lang="en-US" altLang="ja-JP" dirty="0"/>
                  <a:t>X</a:t>
                </a:r>
                <a:r>
                  <a:rPr kumimoji="1" lang="ja-JP" altLang="en-US"/>
                  <a:t>＝</a:t>
                </a:r>
                <a:r>
                  <a:rPr kumimoji="1" lang="en-US" altLang="ja-JP" dirty="0"/>
                  <a:t>1</a:t>
                </a:r>
                <a:r>
                  <a:rPr kumimoji="1" lang="ja-JP" altLang="en-US"/>
                  <a:t>における共変量と結果の球共分散と</a:t>
                </a:r>
                <a:r>
                  <a:rPr kumimoji="1" lang="en-US" altLang="ja-JP" dirty="0"/>
                  <a:t>X</a:t>
                </a:r>
                <a:r>
                  <a:rPr kumimoji="1" lang="ja-JP" altLang="en-US"/>
                  <a:t>＝</a:t>
                </a:r>
                <a:r>
                  <a:rPr kumimoji="1" lang="en-US" altLang="ja-JP" dirty="0"/>
                  <a:t>0</a:t>
                </a:r>
                <a:r>
                  <a:rPr kumimoji="1" lang="ja-JP" altLang="en-US"/>
                  <a:t>における球共分散の加重平均</a:t>
                </a:r>
                <a:endParaRPr kumimoji="1" lang="en-US" altLang="ja-JP" dirty="0"/>
              </a:p>
              <a:p>
                <a:r>
                  <a:rPr kumimoji="1" lang="ja-JP" altLang="en-US"/>
                  <a:t>という式の平方根として定義されます。</a:t>
                </a:r>
              </a:p>
            </p:txBody>
          </p:sp>
        </mc:Choice>
        <mc:Fallback xmlns="">
          <p:sp>
            <p:nvSpPr>
              <p:cNvPr id="3" name="ノート プレースホルダー 2"/>
              <p:cNvSpPr>
                <a:spLocks noGrp="1"/>
              </p:cNvSpPr>
              <p:nvPr>
                <p:ph type="body" idx="1"/>
              </p:nvPr>
            </p:nvSpPr>
            <p:spPr/>
            <p:txBody>
              <a:bodyPr/>
              <a:lstStyle/>
              <a:p>
                <a:r>
                  <a:rPr kumimoji="1" lang="ja-JP" altLang="en-US"/>
                  <a:t>今まで、今日変量と結果変数に関する球今日分散を考えていましたが</a:t>
                </a:r>
                <a:endParaRPr kumimoji="1" lang="en-US" altLang="ja-JP" dirty="0"/>
              </a:p>
              <a:p>
                <a:r>
                  <a:rPr kumimoji="1" lang="ja-JP" altLang="en-US"/>
                  <a:t>因果効果を推定するのに結果と強変量だけではなく、割り当ても用います</a:t>
                </a:r>
                <a:endParaRPr kumimoji="1" lang="en-US" altLang="ja-JP" dirty="0"/>
              </a:p>
              <a:p>
                <a:r>
                  <a:rPr kumimoji="1" lang="ja-JP" altLang="en-US"/>
                  <a:t>そのため、次に、割り当てを条件付けた球共分散を定義します</a:t>
                </a:r>
                <a:endParaRPr kumimoji="1" lang="en-US" altLang="ja-JP" dirty="0"/>
              </a:p>
              <a:p>
                <a:r>
                  <a:rPr kumimoji="1" lang="ja-JP" altLang="en-US"/>
                  <a:t>まず、オメガを原因に割り当てられる確率とします</a:t>
                </a:r>
                <a:endParaRPr kumimoji="1" lang="en-US" altLang="ja-JP" dirty="0"/>
              </a:p>
              <a:p>
                <a:r>
                  <a:rPr kumimoji="1" lang="ja-JP" altLang="en-US"/>
                  <a:t>次に</a:t>
                </a:r>
                <a:r>
                  <a:rPr kumimoji="1" lang="en-US" altLang="ja-JP" b="0" i="0" dirty="0">
                    <a:latin typeface="Cambria Math" panose="02040503050406030204" pitchFamily="18" charset="0"/>
                  </a:rPr>
                  <a:t>(</a:t>
                </a:r>
                <a:r>
                  <a:rPr lang="en-US" altLang="ja-JP" b="1" i="0">
                    <a:latin typeface="Cambria Math" panose="02040503050406030204" pitchFamily="18" charset="0"/>
                  </a:rPr>
                  <a:t>𝑪_</a:t>
                </a:r>
                <a:r>
                  <a:rPr lang="en-US" altLang="ja-JP" i="0">
                    <a:latin typeface="Cambria Math" panose="02040503050406030204" pitchFamily="18" charset="0"/>
                    <a:ea typeface="Cambria Math" panose="02040503050406030204" pitchFamily="18" charset="0"/>
                  </a:rPr>
                  <a:t>𝛼^(</a:t>
                </a:r>
                <a:r>
                  <a:rPr lang="en-US" altLang="ja-JP" i="0">
                    <a:latin typeface="Cambria Math" panose="02040503050406030204" pitchFamily="18" charset="0"/>
                  </a:rPr>
                  <a:t>(𝑥)),</a:t>
                </a:r>
                <a:r>
                  <a:rPr lang="en-US" altLang="ja-JP" b="1" i="0">
                    <a:latin typeface="Cambria Math" panose="02040503050406030204" pitchFamily="18" charset="0"/>
                  </a:rPr>
                  <a:t>𝒀^(</a:t>
                </a:r>
                <a:r>
                  <a:rPr lang="en-US" altLang="ja-JP" i="0">
                    <a:latin typeface="Cambria Math" panose="02040503050406030204" pitchFamily="18" charset="0"/>
                  </a:rPr>
                  <a:t>(𝑥)) )</a:t>
                </a:r>
                <a:r>
                  <a:rPr kumimoji="1" lang="ja-JP" altLang="en-US"/>
                  <a:t>を</a:t>
                </a:r>
                <a:r>
                  <a:rPr kumimoji="1" lang="en-US" altLang="ja-JP" b="0" i="0" dirty="0">
                    <a:latin typeface="Cambria Math" panose="02040503050406030204" pitchFamily="18" charset="0"/>
                  </a:rPr>
                  <a:t>𝑥=0,1</a:t>
                </a:r>
                <a:r>
                  <a:rPr kumimoji="1" lang="ja-JP" altLang="en-US" dirty="0"/>
                  <a:t>となる</a:t>
                </a:r>
                <a:r>
                  <a:rPr kumimoji="1" lang="ja-JP" altLang="en-US"/>
                  <a:t>確率変数とします</a:t>
                </a:r>
                <a:endParaRPr kumimoji="1" lang="en-US" altLang="ja-JP" dirty="0"/>
              </a:p>
              <a:p>
                <a:r>
                  <a:rPr kumimoji="1" lang="ja-JP" altLang="en-US"/>
                  <a:t>このとき、割り当て</a:t>
                </a:r>
                <a:r>
                  <a:rPr kumimoji="1" lang="en-US" altLang="ja-JP" dirty="0"/>
                  <a:t>X</a:t>
                </a:r>
                <a:r>
                  <a:rPr kumimoji="1" lang="ja-JP" altLang="en-US"/>
                  <a:t>が与えられた場合の共変量</a:t>
                </a:r>
                <a:r>
                  <a:rPr kumimoji="1" lang="en-US" altLang="ja-JP" dirty="0"/>
                  <a:t>C</a:t>
                </a:r>
                <a:r>
                  <a:rPr kumimoji="1" lang="ja-JP" altLang="en-US"/>
                  <a:t>アルファと結果</a:t>
                </a:r>
                <a:r>
                  <a:rPr kumimoji="1" lang="en-US" altLang="ja-JP" dirty="0"/>
                  <a:t>Y</a:t>
                </a:r>
                <a:r>
                  <a:rPr kumimoji="1" lang="ja-JP" altLang="en-US"/>
                  <a:t>の条件付き級共分散は</a:t>
                </a:r>
                <a:endParaRPr kumimoji="1" lang="en-US" altLang="ja-JP" dirty="0"/>
              </a:p>
              <a:p>
                <a:r>
                  <a:rPr kumimoji="1" lang="en-US" altLang="ja-JP" dirty="0"/>
                  <a:t>X</a:t>
                </a:r>
                <a:r>
                  <a:rPr kumimoji="1" lang="ja-JP" altLang="en-US"/>
                  <a:t>＝</a:t>
                </a:r>
                <a:r>
                  <a:rPr kumimoji="1" lang="en-US" altLang="ja-JP" dirty="0"/>
                  <a:t>1</a:t>
                </a:r>
                <a:r>
                  <a:rPr kumimoji="1" lang="ja-JP" altLang="en-US"/>
                  <a:t>における共変量と結果の球共分散と</a:t>
                </a:r>
                <a:r>
                  <a:rPr kumimoji="1" lang="en-US" altLang="ja-JP" dirty="0"/>
                  <a:t>X</a:t>
                </a:r>
                <a:r>
                  <a:rPr kumimoji="1" lang="ja-JP" altLang="en-US"/>
                  <a:t>＝</a:t>
                </a:r>
                <a:r>
                  <a:rPr kumimoji="1" lang="en-US" altLang="ja-JP" dirty="0"/>
                  <a:t>0</a:t>
                </a:r>
                <a:r>
                  <a:rPr kumimoji="1" lang="ja-JP" altLang="en-US"/>
                  <a:t>における球共分散の加重平均</a:t>
                </a:r>
                <a:endParaRPr kumimoji="1" lang="en-US" altLang="ja-JP" dirty="0"/>
              </a:p>
              <a:p>
                <a:r>
                  <a:rPr kumimoji="1" lang="ja-JP" altLang="en-US"/>
                  <a:t>という式の平方根として定義されます。</a:t>
                </a:r>
              </a:p>
            </p:txBody>
          </p:sp>
        </mc:Fallback>
      </mc:AlternateContent>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17</a:t>
            </a:fld>
            <a:endParaRPr kumimoji="1" lang="ja-JP" altLang="en-US"/>
          </a:p>
        </p:txBody>
      </p:sp>
    </p:spTree>
    <p:extLst>
      <p:ext uri="{BB962C8B-B14F-4D97-AF65-F5344CB8AC3E}">
        <p14:creationId xmlns:p14="http://schemas.microsoft.com/office/powerpoint/2010/main" val="181790467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条件付き球共分散には値が０の場合、割り当てにより条件づけた時、共変量と結果が独立であるという命題があります</a:t>
            </a:r>
            <a:endParaRPr kumimoji="1" lang="en-US" altLang="ja-JP" dirty="0"/>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よって、経験的条件付き</a:t>
            </a:r>
            <a:r>
              <a:rPr kumimoji="1" lang="ja-JP" altLang="en-US" sz="1200"/>
              <a:t>球共分散の値が大きい時</a:t>
            </a:r>
            <a:endParaRPr kumimoji="1" lang="en-US" altLang="ja-JP" sz="1200"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a:t>その共変量は結果に影響を与えていると考えることができるため、</a:t>
            </a:r>
            <a:r>
              <a:rPr kumimoji="1" lang="en-US" altLang="ja-JP" sz="1200" dirty="0" err="1"/>
              <a:t>GLiDeR</a:t>
            </a:r>
            <a:r>
              <a:rPr kumimoji="1" lang="ja-JP" altLang="en-US" sz="1200"/>
              <a:t>を用いて因果効果を推定するとき、選択すべき共変量ということになります。</a:t>
            </a:r>
            <a:endParaRPr kumimoji="1" lang="en-US" altLang="ja-JP" sz="1200" dirty="0"/>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a:t>逆に</a:t>
            </a:r>
            <a:endParaRPr kumimoji="1" lang="en-US" altLang="ja-JP" sz="1200" dirty="0"/>
          </a:p>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18</a:t>
            </a:fld>
            <a:endParaRPr kumimoji="1" lang="ja-JP" altLang="en-US"/>
          </a:p>
        </p:txBody>
      </p:sp>
    </p:spTree>
    <p:extLst>
      <p:ext uri="{BB962C8B-B14F-4D97-AF65-F5344CB8AC3E}">
        <p14:creationId xmlns:p14="http://schemas.microsoft.com/office/powerpoint/2010/main" val="421003023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457200" indent="-457200">
              <a:buFont typeface="Wingdings" pitchFamily="2" charset="2"/>
              <a:buChar char="l"/>
            </a:pPr>
            <a:r>
              <a:rPr kumimoji="1" lang="ja-JP" altLang="en-US" sz="1200"/>
              <a:t>経験的条件付き球共分散の値が大きい時</a:t>
            </a:r>
            <a:endParaRPr kumimoji="1" lang="en-US" altLang="ja-JP" sz="1200" dirty="0"/>
          </a:p>
          <a:p>
            <a:pPr marL="457200" indent="-457200">
              <a:buFont typeface="Wingdings" pitchFamily="2" charset="2"/>
              <a:buChar char="Ø"/>
            </a:pPr>
            <a:r>
              <a:rPr kumimoji="1" lang="ja-JP" altLang="en-US" sz="1200"/>
              <a:t>共変量は結果に影響を与えていると考えることができる</a:t>
            </a:r>
            <a:endParaRPr kumimoji="1" lang="en-US" altLang="ja-JP" sz="1200" dirty="0"/>
          </a:p>
          <a:p>
            <a:pPr marL="457200" indent="-457200">
              <a:buFont typeface="Wingdings" pitchFamily="2" charset="2"/>
              <a:buChar char="Ø"/>
            </a:pPr>
            <a:r>
              <a:rPr kumimoji="1" lang="ja-JP" altLang="en-US" sz="1200"/>
              <a:t>選択すべき共変量</a:t>
            </a:r>
            <a:endParaRPr kumimoji="1" lang="en-US" altLang="ja-JP" sz="1200" dirty="0"/>
          </a:p>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19</a:t>
            </a:fld>
            <a:endParaRPr kumimoji="1" lang="ja-JP" altLang="en-US"/>
          </a:p>
        </p:txBody>
      </p:sp>
    </p:spTree>
    <p:extLst>
      <p:ext uri="{BB962C8B-B14F-4D97-AF65-F5344CB8AC3E}">
        <p14:creationId xmlns:p14="http://schemas.microsoft.com/office/powerpoint/2010/main" val="14286955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457200" indent="-457200">
              <a:buFont typeface="Wingdings" pitchFamily="2" charset="2"/>
              <a:buChar char="l"/>
            </a:pPr>
            <a:r>
              <a:rPr kumimoji="1" lang="ja-JP" altLang="en-US" sz="1200"/>
              <a:t>経験的条件付き球共分散の値が小さい時</a:t>
            </a:r>
            <a:endParaRPr kumimoji="1" lang="en-US" altLang="ja-JP" sz="1200" dirty="0"/>
          </a:p>
          <a:p>
            <a:pPr marL="457200" indent="-457200">
              <a:buFont typeface="Wingdings" pitchFamily="2" charset="2"/>
              <a:buChar char="Ø"/>
            </a:pPr>
            <a:r>
              <a:rPr kumimoji="1" lang="ja-JP" altLang="en-US" sz="1200"/>
              <a:t>共変量は結果に影響を与えていないと考えることができる</a:t>
            </a:r>
            <a:endParaRPr kumimoji="1" lang="en-US" altLang="ja-JP" sz="1200" dirty="0"/>
          </a:p>
          <a:p>
            <a:pPr marL="457200" indent="-457200">
              <a:buFont typeface="Wingdings" pitchFamily="2" charset="2"/>
              <a:buChar char="Ø"/>
            </a:pPr>
            <a:r>
              <a:rPr kumimoji="1" lang="ja-JP" altLang="en-US" sz="1200"/>
              <a:t>選択すべきではない共変量</a:t>
            </a:r>
            <a:endParaRPr kumimoji="1" lang="en-US" altLang="ja-JP" sz="1200" dirty="0"/>
          </a:p>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20</a:t>
            </a:fld>
            <a:endParaRPr kumimoji="1" lang="ja-JP" altLang="en-US"/>
          </a:p>
        </p:txBody>
      </p:sp>
    </p:spTree>
    <p:extLst>
      <p:ext uri="{BB962C8B-B14F-4D97-AF65-F5344CB8AC3E}">
        <p14:creationId xmlns:p14="http://schemas.microsoft.com/office/powerpoint/2010/main" val="82859688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実際に計算を行うときは次の経験的条件付き級共分散を用います</a:t>
            </a:r>
            <a:endParaRPr kumimoji="1" lang="en-US" altLang="ja-JP" dirty="0"/>
          </a:p>
          <a:p>
            <a:r>
              <a:rPr kumimoji="1" lang="ja-JP" altLang="en-US"/>
              <a:t>割り当てが</a:t>
            </a:r>
            <a:r>
              <a:rPr kumimoji="1" lang="en-US" altLang="ja-JP" dirty="0"/>
              <a:t>1</a:t>
            </a:r>
            <a:r>
              <a:rPr kumimoji="1" lang="ja-JP" altLang="en-US"/>
              <a:t>となる時のぐざいの席と割り当てが０の時の具材の席</a:t>
            </a:r>
            <a:endParaRPr kumimoji="1" lang="en-US" altLang="ja-JP" dirty="0"/>
          </a:p>
          <a:p>
            <a:endParaRPr kumimoji="1" lang="en-US" altLang="ja-JP" dirty="0"/>
          </a:p>
          <a:p>
            <a:r>
              <a:rPr kumimoji="1" lang="ja-JP" altLang="en-US"/>
              <a:t>一言付け加える</a:t>
            </a:r>
            <a:endParaRPr kumimoji="1" lang="en-US" altLang="ja-JP" dirty="0"/>
          </a:p>
          <a:p>
            <a:r>
              <a:rPr kumimoji="1" lang="ja-JP" altLang="en-US"/>
              <a:t>計算簡単</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21</a:t>
            </a:fld>
            <a:endParaRPr kumimoji="1" lang="ja-JP" altLang="en-US"/>
          </a:p>
        </p:txBody>
      </p:sp>
    </p:spTree>
    <p:extLst>
      <p:ext uri="{BB962C8B-B14F-4D97-AF65-F5344CB8AC3E}">
        <p14:creationId xmlns:p14="http://schemas.microsoft.com/office/powerpoint/2010/main" val="124799376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ノート プレースホルダー 2"/>
              <p:cNvSpPr>
                <a:spLocks noGrp="1"/>
              </p:cNvSpPr>
              <p:nvPr>
                <p:ph type="body" idx="1"/>
              </p:nvPr>
            </p:nvSpPr>
            <p:spPr/>
            <p:txBody>
              <a:bodyPr/>
              <a:lstStyle/>
              <a:p>
                <a:r>
                  <a:rPr kumimoji="1" lang="en-US" altLang="ja-JP" dirty="0"/>
                  <a:t>450</a:t>
                </a:r>
              </a:p>
              <a:p>
                <a:endParaRPr kumimoji="1" lang="en-US" altLang="ja-JP" dirty="0"/>
              </a:p>
              <a:p>
                <a:r>
                  <a:rPr kumimoji="1" lang="ja-JP" altLang="en-US"/>
                  <a:t>今回、次のような手法を提案いたします。</a:t>
                </a:r>
                <a:endParaRPr kumimoji="1" lang="en-US" altLang="ja-JP" dirty="0"/>
              </a:p>
              <a:p>
                <a:endParaRPr kumimoji="1" lang="en-US" altLang="ja-JP" dirty="0"/>
              </a:p>
              <a:p>
                <a:r>
                  <a:rPr kumimoji="1" lang="ja-JP" altLang="en-US"/>
                  <a:t>ぷさい：</a:t>
                </a:r>
                <a:r>
                  <a:rPr kumimoji="1" lang="en-US" altLang="ja-JP" dirty="0" err="1"/>
                  <a:t>ψ</a:t>
                </a:r>
                <a:endParaRPr kumimoji="1" lang="en-US" altLang="ja-JP" dirty="0"/>
              </a:p>
              <a:p>
                <a:r>
                  <a:rPr kumimoji="1" lang="ja-JP" altLang="en-US"/>
                  <a:t>ふぁい：</a:t>
                </a:r>
                <a14:m>
                  <m:oMath xmlns:m="http://schemas.openxmlformats.org/officeDocument/2006/math">
                    <m:r>
                      <a:rPr kumimoji="1" lang="ja-JP" altLang="en-US" sz="1200" b="0" i="1" smtClean="0">
                        <a:latin typeface="Cambria Math" panose="02040503050406030204" pitchFamily="18" charset="0"/>
                      </a:rPr>
                      <m:t>𝜑</m:t>
                    </m:r>
                  </m:oMath>
                </a14:m>
                <a:endParaRPr kumimoji="1" lang="en-US" altLang="ja-JP" dirty="0"/>
              </a:p>
              <a:p>
                <a:endParaRPr kumimoji="1" lang="en-US" altLang="ja-JP" dirty="0"/>
              </a:p>
              <a:p>
                <a:r>
                  <a:rPr kumimoji="1" lang="ja-JP" altLang="en-US"/>
                  <a:t>関数</a:t>
                </a:r>
                <a:r>
                  <a:rPr kumimoji="1" lang="en-US" altLang="ja-JP" dirty="0" err="1"/>
                  <a:t>ψ</a:t>
                </a:r>
                <a:r>
                  <a:rPr kumimoji="1" lang="ja-JP" altLang="en-US"/>
                  <a:t>と</a:t>
                </a:r>
                <a:r>
                  <a:rPr kumimoji="1" lang="en-US" altLang="ja-JP" dirty="0" err="1"/>
                  <a:t>φ</a:t>
                </a:r>
                <a:r>
                  <a:rPr kumimoji="1" lang="ja-JP" altLang="en-US"/>
                  <a:t>は今日変量に関する項のみからなる関数</a:t>
                </a:r>
                <a:endParaRPr kumimoji="1" lang="en-US" altLang="ja-JP" dirty="0"/>
              </a:p>
              <a:p>
                <a:endParaRPr kumimoji="1" lang="en-US" altLang="ja-JP" dirty="0"/>
              </a:p>
              <a:p>
                <a:endParaRPr kumimoji="1" lang="ja-JP" altLang="en-US"/>
              </a:p>
            </p:txBody>
          </p:sp>
        </mc:Choice>
        <mc:Fallback xmlns="">
          <p:sp>
            <p:nvSpPr>
              <p:cNvPr id="3" name="ノート プレースホルダー 2"/>
              <p:cNvSpPr>
                <a:spLocks noGrp="1"/>
              </p:cNvSpPr>
              <p:nvPr>
                <p:ph type="body" idx="1"/>
              </p:nvPr>
            </p:nvSpPr>
            <p:spPr/>
            <p:txBody>
              <a:bodyPr/>
              <a:lstStyle/>
              <a:p>
                <a:r>
                  <a:rPr kumimoji="1" lang="ja-JP" altLang="en-US"/>
                  <a:t>今回、次のような手法を提案いたします。</a:t>
                </a:r>
                <a:endParaRPr kumimoji="1" lang="en-US" altLang="ja-JP" dirty="0"/>
              </a:p>
              <a:p>
                <a:endParaRPr kumimoji="1" lang="en-US" altLang="ja-JP" dirty="0"/>
              </a:p>
              <a:p>
                <a:r>
                  <a:rPr kumimoji="1" lang="ja-JP" altLang="en-US"/>
                  <a:t>ぷさい：</a:t>
                </a:r>
                <a:r>
                  <a:rPr kumimoji="1" lang="en-US" altLang="ja-JP" dirty="0" err="1"/>
                  <a:t>ψ</a:t>
                </a:r>
                <a:endParaRPr kumimoji="1" lang="en-US" altLang="ja-JP" dirty="0"/>
              </a:p>
              <a:p>
                <a:r>
                  <a:rPr kumimoji="1" lang="ja-JP" altLang="en-US"/>
                  <a:t>ふぁい：</a:t>
                </a:r>
                <a:r>
                  <a:rPr kumimoji="1" lang="ja-JP" altLang="en-US" sz="1200" b="0" i="0">
                    <a:latin typeface="Cambria Math" panose="02040503050406030204" pitchFamily="18" charset="0"/>
                  </a:rPr>
                  <a:t>𝜑</a:t>
                </a:r>
                <a:endParaRPr kumimoji="1" lang="en-US" altLang="ja-JP" dirty="0"/>
              </a:p>
              <a:p>
                <a:endParaRPr kumimoji="1" lang="en-US" altLang="ja-JP" dirty="0"/>
              </a:p>
              <a:p>
                <a:r>
                  <a:rPr kumimoji="1" lang="ja-JP" altLang="en-US"/>
                  <a:t>関数</a:t>
                </a:r>
                <a:r>
                  <a:rPr kumimoji="1" lang="en-US" altLang="ja-JP" dirty="0" err="1"/>
                  <a:t>ψ</a:t>
                </a:r>
                <a:r>
                  <a:rPr kumimoji="1" lang="ja-JP" altLang="en-US"/>
                  <a:t>と</a:t>
                </a:r>
                <a:r>
                  <a:rPr kumimoji="1" lang="en-US" altLang="ja-JP" dirty="0" err="1"/>
                  <a:t>φ</a:t>
                </a:r>
                <a:r>
                  <a:rPr kumimoji="1" lang="ja-JP" altLang="en-US"/>
                  <a:t>は今日変量に関する項のみからなる関数</a:t>
                </a:r>
                <a:endParaRPr kumimoji="1" lang="en-US" altLang="ja-JP" dirty="0"/>
              </a:p>
              <a:p>
                <a:endParaRPr kumimoji="1" lang="en-US" altLang="ja-JP" dirty="0"/>
              </a:p>
              <a:p>
                <a:endParaRPr kumimoji="1" lang="ja-JP" altLang="en-US"/>
              </a:p>
            </p:txBody>
          </p:sp>
        </mc:Fallback>
      </mc:AlternateContent>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22</a:t>
            </a:fld>
            <a:endParaRPr kumimoji="1" lang="ja-JP" altLang="en-US"/>
          </a:p>
        </p:txBody>
      </p:sp>
    </p:spTree>
    <p:extLst>
      <p:ext uri="{BB962C8B-B14F-4D97-AF65-F5344CB8AC3E}">
        <p14:creationId xmlns:p14="http://schemas.microsoft.com/office/powerpoint/2010/main" val="193037396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ノート プレースホルダー 2"/>
              <p:cNvSpPr>
                <a:spLocks noGrp="1"/>
              </p:cNvSpPr>
              <p:nvPr>
                <p:ph type="body" idx="1"/>
              </p:nvPr>
            </p:nvSpPr>
            <p:spPr/>
            <p:txBody>
              <a:bodyPr/>
              <a:lstStyle/>
              <a:p>
                <a:r>
                  <a:rPr kumimoji="1" lang="ja-JP" altLang="en-US"/>
                  <a:t>ここまでの手法により、関数</a:t>
                </a:r>
                <a:endParaRPr kumimoji="1" lang="en-US" altLang="ja-JP" dirty="0"/>
              </a:p>
              <a:p>
                <a:r>
                  <a:rPr kumimoji="1" lang="ja-JP" altLang="en-US"/>
                  <a:t>ぷさい：</a:t>
                </a:r>
                <a:r>
                  <a:rPr kumimoji="1" lang="en-US" altLang="ja-JP" dirty="0" err="1"/>
                  <a:t>ψ</a:t>
                </a:r>
                <a:r>
                  <a:rPr kumimoji="1" lang="ja-JP" altLang="en-US"/>
                  <a:t>　ふぁい：</a:t>
                </a:r>
                <a14:m>
                  <m:oMath xmlns:m="http://schemas.openxmlformats.org/officeDocument/2006/math">
                    <m:r>
                      <a:rPr kumimoji="1" lang="ja-JP" altLang="en-US" sz="1200" b="0" i="1" smtClean="0">
                        <a:latin typeface="Cambria Math" panose="02040503050406030204" pitchFamily="18" charset="0"/>
                      </a:rPr>
                      <m:t>𝜑</m:t>
                    </m:r>
                  </m:oMath>
                </a14:m>
                <a:endParaRPr kumimoji="1" lang="en-US" altLang="ja-JP" dirty="0"/>
              </a:p>
              <a:p>
                <a:r>
                  <a:rPr kumimoji="1" lang="ja-JP" altLang="en-US"/>
                  <a:t>の項の数は最初１次の項だけではなく２次の項を含めると</a:t>
                </a:r>
                <a:endParaRPr kumimoji="1" lang="en-US" altLang="ja-JP" dirty="0"/>
              </a:p>
              <a:p>
                <a14:m>
                  <m:oMath xmlns:m="http://schemas.openxmlformats.org/officeDocument/2006/math">
                    <m:f>
                      <m:fPr>
                        <m:type m:val="lin"/>
                        <m:ctrlPr>
                          <a:rPr lang="ja-JP" altLang="en-US" sz="1200" i="1" smtClean="0">
                            <a:solidFill>
                              <a:schemeClr val="tx1"/>
                            </a:solidFill>
                            <a:latin typeface="Cambria Math" panose="02040503050406030204" pitchFamily="18" charset="0"/>
                            <a:ea typeface="+mn-ea"/>
                          </a:rPr>
                        </m:ctrlPr>
                      </m:fPr>
                      <m:num>
                        <m:r>
                          <a:rPr lang="en-US" altLang="ja-JP" sz="1200" b="0" i="1" smtClean="0">
                            <a:solidFill>
                              <a:schemeClr val="tx1"/>
                            </a:solidFill>
                            <a:latin typeface="Cambria Math" panose="02040503050406030204" pitchFamily="18" charset="0"/>
                            <a:ea typeface="+mn-ea"/>
                          </a:rPr>
                          <m:t>𝑝</m:t>
                        </m:r>
                        <m:r>
                          <a:rPr lang="en-US" altLang="ja-JP" sz="1200" b="0" i="1" smtClean="0">
                            <a:solidFill>
                              <a:schemeClr val="tx1"/>
                            </a:solidFill>
                            <a:latin typeface="Cambria Math" panose="02040503050406030204" pitchFamily="18" charset="0"/>
                            <a:ea typeface="+mn-ea"/>
                          </a:rPr>
                          <m:t>(</m:t>
                        </m:r>
                        <m:r>
                          <a:rPr lang="en-US" altLang="ja-JP" sz="1200" b="0" i="1" smtClean="0">
                            <a:solidFill>
                              <a:schemeClr val="tx1"/>
                            </a:solidFill>
                            <a:latin typeface="Cambria Math" panose="02040503050406030204" pitchFamily="18" charset="0"/>
                            <a:ea typeface="+mn-ea"/>
                          </a:rPr>
                          <m:t>𝑝</m:t>
                        </m:r>
                        <m:r>
                          <a:rPr lang="en-US" altLang="ja-JP" sz="1200" b="0" i="1" smtClean="0">
                            <a:solidFill>
                              <a:schemeClr val="tx1"/>
                            </a:solidFill>
                            <a:latin typeface="Cambria Math" panose="02040503050406030204" pitchFamily="18" charset="0"/>
                            <a:ea typeface="+mn-ea"/>
                          </a:rPr>
                          <m:t>+3)</m:t>
                        </m:r>
                      </m:num>
                      <m:den>
                        <m:r>
                          <a:rPr lang="en-US" altLang="ja-JP" sz="1200" b="0" i="1" smtClean="0">
                            <a:solidFill>
                              <a:schemeClr val="tx1"/>
                            </a:solidFill>
                            <a:latin typeface="Cambria Math" panose="02040503050406030204" pitchFamily="18" charset="0"/>
                            <a:ea typeface="+mn-ea"/>
                          </a:rPr>
                          <m:t>2</m:t>
                        </m:r>
                      </m:den>
                    </m:f>
                  </m:oMath>
                </a14:m>
                <a:r>
                  <a:rPr kumimoji="1" lang="ja-JP" altLang="en-US"/>
                  <a:t>個あったものを</a:t>
                </a:r>
                <a:endParaRPr kumimoji="1" lang="en-US" altLang="ja-JP" dirty="0"/>
              </a:p>
              <a:p>
                <a:r>
                  <a:rPr kumimoji="1" lang="en-US" altLang="ja-JP" dirty="0"/>
                  <a:t>X</a:t>
                </a:r>
                <a:r>
                  <a:rPr kumimoji="1" lang="ja-JP" altLang="en-US"/>
                  <a:t>を条件付けして</a:t>
                </a:r>
                <a:endParaRPr kumimoji="1" lang="en-US" altLang="ja-JP" dirty="0"/>
              </a:p>
              <a:p>
                <a:r>
                  <a:rPr kumimoji="1" lang="en-US" altLang="ja-JP" dirty="0"/>
                  <a:t>Ci1</a:t>
                </a:r>
                <a:r>
                  <a:rPr kumimoji="1" lang="ja-JP" altLang="en-US"/>
                  <a:t>と</a:t>
                </a:r>
                <a:r>
                  <a:rPr kumimoji="1" lang="en-US" altLang="ja-JP" dirty="0"/>
                  <a:t>Y</a:t>
                </a:r>
                <a:r>
                  <a:rPr kumimoji="1" lang="ja-JP" altLang="en-US"/>
                  <a:t>、</a:t>
                </a:r>
                <a:r>
                  <a:rPr kumimoji="1" lang="en-US" altLang="ja-JP" dirty="0"/>
                  <a:t>Ci2</a:t>
                </a:r>
                <a:r>
                  <a:rPr kumimoji="1" lang="ja-JP" altLang="en-US"/>
                  <a:t>と</a:t>
                </a:r>
                <a:r>
                  <a:rPr kumimoji="1" lang="en-US" altLang="ja-JP" dirty="0"/>
                  <a:t>Y</a:t>
                </a:r>
                <a:r>
                  <a:rPr kumimoji="1" lang="ja-JP" altLang="en-US"/>
                  <a:t>、</a:t>
                </a:r>
                <a14:m>
                  <m:oMath xmlns:m="http://schemas.openxmlformats.org/officeDocument/2006/math">
                    <m:sSubSup>
                      <m:sSubSupPr>
                        <m:ctrlPr>
                          <a:rPr lang="en-US" altLang="ja-JP" sz="1200" i="1" smtClean="0">
                            <a:latin typeface="Cambria Math" panose="02040503050406030204" pitchFamily="18" charset="0"/>
                            <a:ea typeface="Cambria Math" panose="02040503050406030204" pitchFamily="18" charset="0"/>
                          </a:rPr>
                        </m:ctrlPr>
                      </m:sSubSupPr>
                      <m:e>
                        <m:r>
                          <a:rPr lang="en-US" altLang="ja-JP" sz="1200" b="0" i="1" smtClean="0">
                            <a:latin typeface="Cambria Math" panose="02040503050406030204" pitchFamily="18" charset="0"/>
                            <a:ea typeface="Cambria Math" panose="02040503050406030204" pitchFamily="18" charset="0"/>
                          </a:rPr>
                          <m:t>𝐶</m:t>
                        </m:r>
                      </m:e>
                      <m:sub>
                        <m:r>
                          <a:rPr lang="en-US" altLang="ja-JP" sz="1200" b="0" i="1" smtClean="0">
                            <a:latin typeface="Cambria Math" panose="02040503050406030204" pitchFamily="18" charset="0"/>
                            <a:ea typeface="Cambria Math" panose="02040503050406030204" pitchFamily="18" charset="0"/>
                          </a:rPr>
                          <m:t>𝑖</m:t>
                        </m:r>
                        <m:r>
                          <a:rPr lang="en-US" altLang="ja-JP" sz="1200" b="0" i="1" smtClean="0">
                            <a:latin typeface="Cambria Math" panose="02040503050406030204" pitchFamily="18" charset="0"/>
                            <a:ea typeface="Cambria Math" panose="02040503050406030204" pitchFamily="18" charset="0"/>
                          </a:rPr>
                          <m:t>1</m:t>
                        </m:r>
                      </m:sub>
                      <m:sup>
                        <m:r>
                          <a:rPr lang="en-US" altLang="ja-JP" sz="1200" b="0" i="1" smtClean="0">
                            <a:latin typeface="Cambria Math" panose="02040503050406030204" pitchFamily="18" charset="0"/>
                            <a:ea typeface="Cambria Math" panose="02040503050406030204" pitchFamily="18" charset="0"/>
                          </a:rPr>
                          <m:t>2</m:t>
                        </m:r>
                      </m:sup>
                    </m:sSubSup>
                  </m:oMath>
                </a14:m>
                <a:r>
                  <a:rPr kumimoji="1" lang="ja-JP" altLang="en-US" dirty="0"/>
                  <a:t>と</a:t>
                </a:r>
                <a:r>
                  <a:rPr kumimoji="1" lang="en-US" altLang="ja-JP" dirty="0"/>
                  <a:t>Y,</a:t>
                </a:r>
                <a:r>
                  <a:rPr lang="en-US" altLang="ja-JP" sz="1200" dirty="0"/>
                  <a:t> </a:t>
                </a:r>
                <a14:m>
                  <m:oMath xmlns:m="http://schemas.openxmlformats.org/officeDocument/2006/math">
                    <m:sSub>
                      <m:sSubPr>
                        <m:ctrlPr>
                          <a:rPr lang="en-US" altLang="ja-JP" sz="1200" i="1" smtClean="0">
                            <a:latin typeface="Cambria Math" panose="02040503050406030204" pitchFamily="18" charset="0"/>
                          </a:rPr>
                        </m:ctrlPr>
                      </m:sSubPr>
                      <m:e>
                        <m:r>
                          <a:rPr lang="en-US" altLang="ja-JP" sz="1200" i="1">
                            <a:latin typeface="Cambria Math" panose="02040503050406030204" pitchFamily="18" charset="0"/>
                          </a:rPr>
                          <m:t>𝐶</m:t>
                        </m:r>
                      </m:e>
                      <m:sub>
                        <m:r>
                          <a:rPr lang="en-US" altLang="ja-JP" sz="1200" b="0" i="1" smtClean="0">
                            <a:latin typeface="Cambria Math" panose="02040503050406030204" pitchFamily="18" charset="0"/>
                          </a:rPr>
                          <m:t>𝑖</m:t>
                        </m:r>
                        <m:r>
                          <a:rPr lang="en-US" altLang="ja-JP" sz="1200" i="1">
                            <a:latin typeface="Cambria Math" panose="02040503050406030204" pitchFamily="18" charset="0"/>
                          </a:rPr>
                          <m:t>1</m:t>
                        </m:r>
                      </m:sub>
                    </m:sSub>
                    <m:sSub>
                      <m:sSubPr>
                        <m:ctrlPr>
                          <a:rPr lang="en-US" altLang="ja-JP" sz="1200" i="1">
                            <a:latin typeface="Cambria Math" panose="02040503050406030204" pitchFamily="18" charset="0"/>
                          </a:rPr>
                        </m:ctrlPr>
                      </m:sSubPr>
                      <m:e>
                        <m:r>
                          <a:rPr lang="en-US" altLang="ja-JP" sz="1200" i="1">
                            <a:latin typeface="Cambria Math" panose="02040503050406030204" pitchFamily="18" charset="0"/>
                          </a:rPr>
                          <m:t>𝐶</m:t>
                        </m:r>
                      </m:e>
                      <m:sub>
                        <m:r>
                          <a:rPr lang="en-US" altLang="ja-JP" sz="1200" b="0" i="1" smtClean="0">
                            <a:latin typeface="Cambria Math" panose="02040503050406030204" pitchFamily="18" charset="0"/>
                          </a:rPr>
                          <m:t>𝑖</m:t>
                        </m:r>
                        <m:r>
                          <a:rPr lang="en-US" altLang="ja-JP" sz="1200" i="1">
                            <a:latin typeface="Cambria Math" panose="02040503050406030204" pitchFamily="18" charset="0"/>
                          </a:rPr>
                          <m:t>2</m:t>
                        </m:r>
                      </m:sub>
                    </m:sSub>
                  </m:oMath>
                </a14:m>
                <a:r>
                  <a:rPr kumimoji="1" lang="ja-JP" altLang="en-US"/>
                  <a:t>と</a:t>
                </a:r>
                <a:r>
                  <a:rPr kumimoji="1" lang="en-US" altLang="ja-JP" dirty="0"/>
                  <a:t>Y</a:t>
                </a:r>
                <a:r>
                  <a:rPr kumimoji="1" lang="ja-JP" altLang="en-US"/>
                  <a:t>などの球共分散を計算して、</a:t>
                </a:r>
                <a:endParaRPr kumimoji="1" lang="en-US" altLang="ja-JP" dirty="0"/>
              </a:p>
              <a:p>
                <a:r>
                  <a:rPr kumimoji="1" lang="ja-JP" altLang="en-US"/>
                  <a:t>球共分散が大きい</a:t>
                </a:r>
                <a:r>
                  <a:rPr kumimoji="1" lang="en-US" altLang="ja-JP" dirty="0"/>
                  <a:t>q</a:t>
                </a:r>
                <a:r>
                  <a:rPr kumimoji="1" lang="ja-JP" altLang="en-US"/>
                  <a:t>この項に減らすことができます。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この時、ぷさい：</a:t>
                </a:r>
                <a:r>
                  <a:rPr kumimoji="1" lang="en-US" altLang="ja-JP" dirty="0" err="1"/>
                  <a:t>ψ</a:t>
                </a:r>
                <a:r>
                  <a:rPr kumimoji="1" lang="ja-JP" altLang="en-US"/>
                  <a:t>　ふぁい：</a:t>
                </a:r>
                <a14:m>
                  <m:oMath xmlns:m="http://schemas.openxmlformats.org/officeDocument/2006/math">
                    <m:r>
                      <a:rPr kumimoji="1" lang="ja-JP" altLang="en-US" sz="1200" b="0" i="1" smtClean="0">
                        <a:latin typeface="Cambria Math" panose="02040503050406030204" pitchFamily="18" charset="0"/>
                      </a:rPr>
                      <m:t>𝜑</m:t>
                    </m:r>
                  </m:oMath>
                </a14:m>
                <a:r>
                  <a:rPr kumimoji="1" lang="ja-JP" altLang="en-US" dirty="0"/>
                  <a:t>で同じ</a:t>
                </a:r>
                <a:r>
                  <a:rPr kumimoji="1" lang="ja-JP" altLang="en-US"/>
                  <a:t>項を抽出します。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例えば、</a:t>
                </a:r>
                <a:r>
                  <a:rPr kumimoji="1" lang="en-US" altLang="ja-JP" dirty="0"/>
                  <a:t>Ci1</a:t>
                </a:r>
                <a:r>
                  <a:rPr kumimoji="1" lang="ja-JP" altLang="en-US"/>
                  <a:t>を抽出するときは、ぷさい：</a:t>
                </a:r>
                <a:r>
                  <a:rPr kumimoji="1" lang="en-US" altLang="ja-JP" dirty="0" err="1"/>
                  <a:t>ψ</a:t>
                </a:r>
                <a:r>
                  <a:rPr kumimoji="1" lang="ja-JP" altLang="en-US"/>
                  <a:t>　ふぁい：</a:t>
                </a:r>
                <a14:m>
                  <m:oMath xmlns:m="http://schemas.openxmlformats.org/officeDocument/2006/math">
                    <m:r>
                      <a:rPr kumimoji="1" lang="ja-JP" altLang="en-US" sz="1200" b="0" i="1" smtClean="0">
                        <a:latin typeface="Cambria Math" panose="02040503050406030204" pitchFamily="18" charset="0"/>
                      </a:rPr>
                      <m:t>𝜑</m:t>
                    </m:r>
                  </m:oMath>
                </a14:m>
                <a:r>
                  <a:rPr kumimoji="1" lang="ja-JP" altLang="en-US"/>
                  <a:t>の両方の関数に</a:t>
                </a:r>
                <a:r>
                  <a:rPr kumimoji="1" lang="en-US" altLang="ja-JP" dirty="0"/>
                  <a:t>Ci1</a:t>
                </a:r>
                <a:r>
                  <a:rPr kumimoji="1" lang="ja-JP" altLang="en-US"/>
                  <a:t>を含めます</a:t>
                </a:r>
                <a:endParaRPr kumimoji="1" lang="en-US" altLang="ja-JP" dirty="0"/>
              </a:p>
              <a:p>
                <a:endParaRPr kumimoji="1" lang="en-US" altLang="ja-JP" dirty="0"/>
              </a:p>
              <a:p>
                <a:endParaRPr kumimoji="1" lang="ja-JP" altLang="en-US"/>
              </a:p>
            </p:txBody>
          </p:sp>
        </mc:Choice>
        <mc:Fallback xmlns="">
          <p:sp>
            <p:nvSpPr>
              <p:cNvPr id="3" name="ノート プレースホルダー 2"/>
              <p:cNvSpPr>
                <a:spLocks noGrp="1"/>
              </p:cNvSpPr>
              <p:nvPr>
                <p:ph type="body" idx="1"/>
              </p:nvPr>
            </p:nvSpPr>
            <p:spPr/>
            <p:txBody>
              <a:bodyPr/>
              <a:lstStyle/>
              <a:p>
                <a:r>
                  <a:rPr kumimoji="1" lang="ja-JP" altLang="en-US"/>
                  <a:t>ここまでの手法により、関数</a:t>
                </a:r>
                <a:endParaRPr kumimoji="1" lang="en-US" altLang="ja-JP" dirty="0"/>
              </a:p>
              <a:p>
                <a:r>
                  <a:rPr kumimoji="1" lang="ja-JP" altLang="en-US"/>
                  <a:t>ぷさい：</a:t>
                </a:r>
                <a:r>
                  <a:rPr kumimoji="1" lang="en-US" altLang="ja-JP" dirty="0" err="1"/>
                  <a:t>ψ</a:t>
                </a:r>
                <a:r>
                  <a:rPr kumimoji="1" lang="ja-JP" altLang="en-US"/>
                  <a:t>　ふぁい：</a:t>
                </a:r>
                <a:r>
                  <a:rPr kumimoji="1" lang="ja-JP" altLang="en-US" sz="1200" b="0" i="0">
                    <a:latin typeface="Cambria Math" panose="02040503050406030204" pitchFamily="18" charset="0"/>
                  </a:rPr>
                  <a:t>𝜑</a:t>
                </a:r>
                <a:endParaRPr kumimoji="1" lang="en-US" altLang="ja-JP" dirty="0"/>
              </a:p>
              <a:p>
                <a:r>
                  <a:rPr kumimoji="1" lang="ja-JP" altLang="en-US"/>
                  <a:t>の項の数は最初１次の項だけではなく２次の項を含めると</a:t>
                </a:r>
                <a:endParaRPr kumimoji="1" lang="en-US" altLang="ja-JP" dirty="0"/>
              </a:p>
              <a:p>
                <a:r>
                  <a:rPr lang="ja-JP" altLang="en-US" sz="1200" i="0">
                    <a:solidFill>
                      <a:schemeClr val="tx1"/>
                    </a:solidFill>
                    <a:latin typeface="Cambria Math" panose="02040503050406030204" pitchFamily="18" charset="0"/>
                    <a:ea typeface="+mn-ea"/>
                  </a:rPr>
                  <a:t>〖</a:t>
                </a:r>
                <a:r>
                  <a:rPr lang="en-US" altLang="ja-JP" sz="1200" b="0" i="0">
                    <a:solidFill>
                      <a:schemeClr val="tx1"/>
                    </a:solidFill>
                    <a:latin typeface="Cambria Math" panose="02040503050406030204" pitchFamily="18" charset="0"/>
                    <a:ea typeface="+mn-ea"/>
                  </a:rPr>
                  <a:t>𝑝(𝑝+3)</a:t>
                </a:r>
                <a:r>
                  <a:rPr lang="ja-JP" altLang="en-US" sz="1200" b="0" i="0">
                    <a:solidFill>
                      <a:schemeClr val="tx1"/>
                    </a:solidFill>
                    <a:latin typeface="Cambria Math" panose="02040503050406030204" pitchFamily="18" charset="0"/>
                    <a:ea typeface="+mn-ea"/>
                  </a:rPr>
                  <a:t>〗∕</a:t>
                </a:r>
                <a:r>
                  <a:rPr lang="en-US" altLang="ja-JP" sz="1200" b="0" i="0">
                    <a:solidFill>
                      <a:schemeClr val="tx1"/>
                    </a:solidFill>
                    <a:latin typeface="Cambria Math" panose="02040503050406030204" pitchFamily="18" charset="0"/>
                    <a:ea typeface="+mn-ea"/>
                  </a:rPr>
                  <a:t>2</a:t>
                </a:r>
                <a:r>
                  <a:rPr kumimoji="1" lang="ja-JP" altLang="en-US"/>
                  <a:t>個あったものを</a:t>
                </a:r>
                <a:endParaRPr kumimoji="1" lang="en-US" altLang="ja-JP" dirty="0"/>
              </a:p>
              <a:p>
                <a:r>
                  <a:rPr kumimoji="1" lang="en-US" altLang="ja-JP" dirty="0"/>
                  <a:t>X</a:t>
                </a:r>
                <a:r>
                  <a:rPr kumimoji="1" lang="ja-JP" altLang="en-US"/>
                  <a:t>を条件付けして</a:t>
                </a:r>
                <a:endParaRPr kumimoji="1" lang="en-US" altLang="ja-JP" dirty="0"/>
              </a:p>
              <a:p>
                <a:r>
                  <a:rPr kumimoji="1" lang="en-US" altLang="ja-JP" dirty="0"/>
                  <a:t>Ci1</a:t>
                </a:r>
                <a:r>
                  <a:rPr kumimoji="1" lang="ja-JP" altLang="en-US"/>
                  <a:t>と</a:t>
                </a:r>
                <a:r>
                  <a:rPr kumimoji="1" lang="en-US" altLang="ja-JP" dirty="0"/>
                  <a:t>Y</a:t>
                </a:r>
                <a:r>
                  <a:rPr kumimoji="1" lang="ja-JP" altLang="en-US"/>
                  <a:t>、</a:t>
                </a:r>
                <a:r>
                  <a:rPr kumimoji="1" lang="en-US" altLang="ja-JP" dirty="0"/>
                  <a:t>Ci2</a:t>
                </a:r>
                <a:r>
                  <a:rPr kumimoji="1" lang="ja-JP" altLang="en-US"/>
                  <a:t>と</a:t>
                </a:r>
                <a:r>
                  <a:rPr kumimoji="1" lang="en-US" altLang="ja-JP" dirty="0"/>
                  <a:t>Y</a:t>
                </a:r>
                <a:r>
                  <a:rPr kumimoji="1" lang="ja-JP" altLang="en-US"/>
                  <a:t>、</a:t>
                </a:r>
                <a:r>
                  <a:rPr lang="en-US" altLang="ja-JP" sz="1200" b="0" i="0">
                    <a:latin typeface="Cambria Math" panose="02040503050406030204" pitchFamily="18" charset="0"/>
                    <a:ea typeface="Cambria Math" panose="02040503050406030204" pitchFamily="18" charset="0"/>
                  </a:rPr>
                  <a:t>𝐶_𝑖1^2</a:t>
                </a:r>
                <a:r>
                  <a:rPr kumimoji="1" lang="ja-JP" altLang="en-US" dirty="0"/>
                  <a:t>と</a:t>
                </a:r>
                <a:r>
                  <a:rPr kumimoji="1" lang="en-US" altLang="ja-JP" dirty="0"/>
                  <a:t>Y,</a:t>
                </a:r>
                <a:r>
                  <a:rPr lang="en-US" altLang="ja-JP" sz="1200" dirty="0"/>
                  <a:t> </a:t>
                </a:r>
                <a:r>
                  <a:rPr lang="en-US" altLang="ja-JP" sz="1200" i="0">
                    <a:latin typeface="Cambria Math" panose="02040503050406030204" pitchFamily="18" charset="0"/>
                  </a:rPr>
                  <a:t>𝐶_</a:t>
                </a:r>
                <a:r>
                  <a:rPr lang="en-US" altLang="ja-JP" sz="1200" b="0" i="0">
                    <a:latin typeface="Cambria Math" panose="02040503050406030204" pitchFamily="18" charset="0"/>
                  </a:rPr>
                  <a:t>𝑖</a:t>
                </a:r>
                <a:r>
                  <a:rPr lang="en-US" altLang="ja-JP" sz="1200" i="0">
                    <a:latin typeface="Cambria Math" panose="02040503050406030204" pitchFamily="18" charset="0"/>
                  </a:rPr>
                  <a:t>1 𝐶_</a:t>
                </a:r>
                <a:r>
                  <a:rPr lang="en-US" altLang="ja-JP" sz="1200" b="0" i="0">
                    <a:latin typeface="Cambria Math" panose="02040503050406030204" pitchFamily="18" charset="0"/>
                  </a:rPr>
                  <a:t>𝑖</a:t>
                </a:r>
                <a:r>
                  <a:rPr lang="en-US" altLang="ja-JP" sz="1200" i="0">
                    <a:latin typeface="Cambria Math" panose="02040503050406030204" pitchFamily="18" charset="0"/>
                  </a:rPr>
                  <a:t>2</a:t>
                </a:r>
                <a:r>
                  <a:rPr kumimoji="1" lang="ja-JP" altLang="en-US"/>
                  <a:t>と</a:t>
                </a:r>
                <a:r>
                  <a:rPr kumimoji="1" lang="en-US" altLang="ja-JP" dirty="0"/>
                  <a:t>Y</a:t>
                </a:r>
                <a:r>
                  <a:rPr kumimoji="1" lang="ja-JP" altLang="en-US"/>
                  <a:t>などの球共分散を計算して、</a:t>
                </a:r>
                <a:endParaRPr kumimoji="1" lang="en-US" altLang="ja-JP" dirty="0"/>
              </a:p>
              <a:p>
                <a:r>
                  <a:rPr kumimoji="1" lang="ja-JP" altLang="en-US"/>
                  <a:t>球共分散が大きい</a:t>
                </a:r>
                <a:r>
                  <a:rPr kumimoji="1" lang="en-US" altLang="ja-JP" dirty="0"/>
                  <a:t>q</a:t>
                </a:r>
                <a:r>
                  <a:rPr kumimoji="1" lang="ja-JP" altLang="en-US"/>
                  <a:t>この項に減らすことができます。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この時、ぷさい：</a:t>
                </a:r>
                <a:r>
                  <a:rPr kumimoji="1" lang="en-US" altLang="ja-JP" dirty="0" err="1"/>
                  <a:t>ψ</a:t>
                </a:r>
                <a:r>
                  <a:rPr kumimoji="1" lang="ja-JP" altLang="en-US"/>
                  <a:t>　ふぁい：</a:t>
                </a:r>
                <a:r>
                  <a:rPr kumimoji="1" lang="ja-JP" altLang="en-US" sz="1200" b="0" i="0">
                    <a:latin typeface="Cambria Math" panose="02040503050406030204" pitchFamily="18" charset="0"/>
                  </a:rPr>
                  <a:t>𝜑</a:t>
                </a:r>
                <a:r>
                  <a:rPr kumimoji="1" lang="ja-JP" altLang="en-US" dirty="0"/>
                  <a:t>で同じ</a:t>
                </a:r>
                <a:r>
                  <a:rPr kumimoji="1" lang="ja-JP" altLang="en-US"/>
                  <a:t>項を抽出します。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例えば、</a:t>
                </a:r>
                <a:r>
                  <a:rPr kumimoji="1" lang="en-US" altLang="ja-JP" dirty="0"/>
                  <a:t>Ci1</a:t>
                </a:r>
                <a:r>
                  <a:rPr kumimoji="1" lang="ja-JP" altLang="en-US"/>
                  <a:t>を抽出するときは、ぷさい：</a:t>
                </a:r>
                <a:r>
                  <a:rPr kumimoji="1" lang="en-US" altLang="ja-JP" dirty="0" err="1"/>
                  <a:t>ψ</a:t>
                </a:r>
                <a:r>
                  <a:rPr kumimoji="1" lang="ja-JP" altLang="en-US"/>
                  <a:t>　ふぁい：</a:t>
                </a:r>
                <a:r>
                  <a:rPr kumimoji="1" lang="ja-JP" altLang="en-US" sz="1200" b="0" i="0">
                    <a:latin typeface="Cambria Math" panose="02040503050406030204" pitchFamily="18" charset="0"/>
                  </a:rPr>
                  <a:t>𝜑</a:t>
                </a:r>
                <a:r>
                  <a:rPr kumimoji="1" lang="ja-JP" altLang="en-US"/>
                  <a:t>の両方の関数に</a:t>
                </a:r>
                <a:r>
                  <a:rPr kumimoji="1" lang="en-US" altLang="ja-JP" dirty="0"/>
                  <a:t>Ci1</a:t>
                </a:r>
                <a:r>
                  <a:rPr kumimoji="1" lang="ja-JP" altLang="en-US"/>
                  <a:t>を含めます</a:t>
                </a:r>
                <a:endParaRPr kumimoji="1" lang="en-US" altLang="ja-JP" dirty="0"/>
              </a:p>
              <a:p>
                <a:endParaRPr kumimoji="1" lang="en-US" altLang="ja-JP" dirty="0"/>
              </a:p>
              <a:p>
                <a:endParaRPr kumimoji="1" lang="ja-JP" altLang="en-US"/>
              </a:p>
            </p:txBody>
          </p:sp>
        </mc:Fallback>
      </mc:AlternateContent>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24</a:t>
            </a:fld>
            <a:endParaRPr kumimoji="1" lang="ja-JP" altLang="en-US"/>
          </a:p>
        </p:txBody>
      </p:sp>
    </p:spTree>
    <p:extLst>
      <p:ext uri="{BB962C8B-B14F-4D97-AF65-F5344CB8AC3E}">
        <p14:creationId xmlns:p14="http://schemas.microsoft.com/office/powerpoint/2010/main" val="244550541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球共分散を用いてモデルの項の数を２分の</a:t>
            </a:r>
            <a:r>
              <a:rPr kumimoji="1" lang="en-US" altLang="ja-JP" dirty="0"/>
              <a:t>p</a:t>
            </a:r>
            <a:r>
              <a:rPr kumimoji="1" lang="ja-JP" altLang="en-US"/>
              <a:t>（</a:t>
            </a:r>
            <a:r>
              <a:rPr kumimoji="1" lang="en-US" altLang="ja-JP" dirty="0"/>
              <a:t>p</a:t>
            </a:r>
            <a:r>
              <a:rPr kumimoji="1" lang="ja-JP" altLang="en-US"/>
              <a:t>＋３）から</a:t>
            </a:r>
            <a:r>
              <a:rPr kumimoji="1" lang="en-US" altLang="ja-JP" dirty="0"/>
              <a:t>q</a:t>
            </a:r>
            <a:r>
              <a:rPr kumimoji="1" lang="ja-JP" altLang="en-US"/>
              <a:t>個に減らしたのち、</a:t>
            </a:r>
            <a:r>
              <a:rPr kumimoji="1" lang="en-US" altLang="ja-JP" dirty="0" err="1"/>
              <a:t>GLiDeR</a:t>
            </a:r>
            <a:r>
              <a:rPr lang="ja-JP" altLang="en-US" sz="1200">
                <a:latin typeface="+mn-ea"/>
                <a:cs typeface="Arial" panose="020B0604020202020204" pitchFamily="34" charset="0"/>
              </a:rPr>
              <a:t>により，変数選択および回帰係数の推定を行う</a:t>
            </a:r>
            <a:endParaRPr lang="en-US" altLang="ja-JP" sz="1200" dirty="0">
              <a:latin typeface="+mn-ea"/>
              <a:cs typeface="Arial" panose="020B0604020202020204" pitchFamily="34" charset="0"/>
            </a:endParaRPr>
          </a:p>
          <a:p>
            <a:r>
              <a:rPr kumimoji="1" lang="ja-JP" altLang="en-US" sz="1200">
                <a:latin typeface="+mn-ea"/>
                <a:cs typeface="Arial" panose="020B0604020202020204" pitchFamily="34" charset="0"/>
              </a:rPr>
              <a:t>最後に</a:t>
            </a:r>
            <a:r>
              <a:rPr kumimoji="1" lang="en-US" altLang="ja-JP" sz="1200" dirty="0" err="1">
                <a:latin typeface="+mn-ea"/>
                <a:cs typeface="Arial" panose="020B0604020202020204" pitchFamily="34" charset="0"/>
              </a:rPr>
              <a:t>GLiDeR</a:t>
            </a:r>
            <a:r>
              <a:rPr kumimoji="1" lang="ja-JP" altLang="en-US" sz="1200">
                <a:latin typeface="+mn-ea"/>
                <a:cs typeface="Arial" panose="020B0604020202020204" pitchFamily="34" charset="0"/>
              </a:rPr>
              <a:t>を用いて推定した回帰係数を用いることにより、二重頑健推定法によって因果効果値の推定を行います</a:t>
            </a:r>
            <a:endParaRPr kumimoji="1" lang="en-US" altLang="ja-JP" sz="1200" dirty="0">
              <a:latin typeface="+mn-ea"/>
              <a:cs typeface="Arial" panose="020B0604020202020204" pitchFamily="34" charset="0"/>
            </a:endParaRPr>
          </a:p>
          <a:p>
            <a:endParaRPr kumimoji="1" lang="en-US" altLang="ja-JP" sz="1200" dirty="0">
              <a:latin typeface="+mn-ea"/>
              <a:cs typeface="Arial" panose="020B0604020202020204" pitchFamily="34" charset="0"/>
            </a:endParaRPr>
          </a:p>
          <a:p>
            <a:endParaRPr kumimoji="1" lang="en-US" altLang="ja-JP" sz="1200" dirty="0">
              <a:latin typeface="+mn-ea"/>
              <a:cs typeface="Arial" panose="020B0604020202020204" pitchFamily="34" charset="0"/>
            </a:endParaRPr>
          </a:p>
          <a:p>
            <a:r>
              <a:rPr kumimoji="1" lang="en-US" altLang="ja-JP" sz="1200" dirty="0">
                <a:latin typeface="+mn-ea"/>
                <a:cs typeface="Arial" panose="020B0604020202020204" pitchFamily="34" charset="0"/>
              </a:rPr>
              <a:t>520</a:t>
            </a:r>
          </a:p>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25</a:t>
            </a:fld>
            <a:endParaRPr kumimoji="1" lang="ja-JP" altLang="en-US"/>
          </a:p>
        </p:txBody>
      </p:sp>
    </p:spTree>
    <p:extLst>
      <p:ext uri="{BB962C8B-B14F-4D97-AF65-F5344CB8AC3E}">
        <p14:creationId xmlns:p14="http://schemas.microsoft.com/office/powerpoint/2010/main" val="56023133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algn="just"/>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数値実験は人工データを用いて行いました。</a:t>
            </a:r>
          </a:p>
          <a:p>
            <a:pPr algn="just"/>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まず、共変量は正規分布から生成します。このとき共変量同士は独立となっています。</a:t>
            </a:r>
          </a:p>
          <a:p>
            <a:pPr algn="just"/>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次に、共変量のデータ</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を用いて</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割り当て変数はベルヌーイ分布から生成します</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結果</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変数は正規分布によって生成</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し、。</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また、データ数は</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500</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個、共変量の個数</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は</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100</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個</a:t>
            </a:r>
            <a:r>
              <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となって</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おります。</a:t>
            </a:r>
            <a:endPar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提案手法において、球共分散を用いて抽出する項の数は２０と１００の２通りの設定で行いました</a:t>
            </a:r>
            <a:endParaRPr lang="ja-JP" altLang="ja-JP" sz="18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最後に</a:t>
            </a:r>
            <a:r>
              <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rPr>
              <a:t>真の因果効果値は</a:t>
            </a:r>
            <a:r>
              <a:rPr lang="en-US" altLang="ja-JP" sz="1800" kern="100" dirty="0">
                <a:effectLst/>
                <a:latin typeface="游明朝" panose="02020400000000000000" pitchFamily="18" charset="-128"/>
                <a:ea typeface="游明朝" panose="02020400000000000000" pitchFamily="18" charset="-128"/>
                <a:cs typeface="Times New Roman" panose="02020603050405020304" pitchFamily="18" charset="0"/>
              </a:rPr>
              <a:t>1</a:t>
            </a:r>
            <a:r>
              <a:rPr lang="ja-JP" altLang="en-US" sz="1800" kern="100">
                <a:effectLst/>
                <a:latin typeface="游明朝" panose="02020400000000000000" pitchFamily="18" charset="-128"/>
                <a:ea typeface="游明朝" panose="02020400000000000000" pitchFamily="18" charset="-128"/>
                <a:cs typeface="Times New Roman" panose="02020603050405020304" pitchFamily="18" charset="0"/>
              </a:rPr>
              <a:t>と設定して実験を行いました</a:t>
            </a:r>
            <a:endParaRPr lang="ja-JP" altLang="ja-JP" sz="1800" kern="100">
              <a:effectLst/>
              <a:latin typeface="游明朝" panose="02020400000000000000" pitchFamily="18" charset="-128"/>
              <a:ea typeface="游明朝" panose="02020400000000000000" pitchFamily="18" charset="-128"/>
              <a:cs typeface="Times New Roman" panose="02020603050405020304" pitchFamily="18" charset="0"/>
            </a:endParaRPr>
          </a:p>
          <a:p>
            <a:endParaRPr kumimoji="1" lang="ja-JP" altLang="en-US"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26</a:t>
            </a:fld>
            <a:endParaRPr kumimoji="1" lang="ja-JP" altLang="en-US"/>
          </a:p>
        </p:txBody>
      </p:sp>
    </p:spTree>
    <p:extLst>
      <p:ext uri="{BB962C8B-B14F-4D97-AF65-F5344CB8AC3E}">
        <p14:creationId xmlns:p14="http://schemas.microsoft.com/office/powerpoint/2010/main" val="215652613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傾向スコア</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モデル</a:t>
            </a:r>
            <a:r>
              <a:rPr lang="ja-JP" altLang="en-US" sz="1200" kern="100">
                <a:effectLst/>
                <a:latin typeface="游明朝" panose="02020400000000000000" pitchFamily="18" charset="-128"/>
                <a:ea typeface="游明朝" panose="02020400000000000000" pitchFamily="18" charset="-128"/>
                <a:cs typeface="Times New Roman" panose="02020603050405020304" pitchFamily="18" charset="0"/>
              </a:rPr>
              <a:t>と結果モデル</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の設定は次の通りです。</a:t>
            </a:r>
            <a:endPar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基本的に線形の関数となっていますが、設定</a:t>
            </a:r>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5</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a:t>
            </a:r>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6</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a:t>
            </a:r>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7</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は結果モデルに関する関数が、設定</a:t>
            </a:r>
            <a:r>
              <a:rPr lang="en-US" altLang="ja-JP" sz="1200" kern="100" dirty="0">
                <a:effectLst/>
                <a:latin typeface="游明朝" panose="02020400000000000000" pitchFamily="18" charset="-128"/>
                <a:ea typeface="游明朝" panose="02020400000000000000" pitchFamily="18" charset="-128"/>
                <a:cs typeface="Times New Roman" panose="02020603050405020304" pitchFamily="18" charset="0"/>
              </a:rPr>
              <a:t>8</a:t>
            </a:r>
            <a:r>
              <a:rPr lang="ja-JP" altLang="ja-JP" sz="1200" kern="100">
                <a:effectLst/>
                <a:latin typeface="游明朝" panose="02020400000000000000" pitchFamily="18" charset="-128"/>
                <a:ea typeface="游明朝" panose="02020400000000000000" pitchFamily="18" charset="-128"/>
                <a:cs typeface="Times New Roman" panose="02020603050405020304" pitchFamily="18" charset="0"/>
              </a:rPr>
              <a:t>、９は傾向スコアモデルに関する関数が非線形の関数となっています。</a:t>
            </a:r>
          </a:p>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28</a:t>
            </a:fld>
            <a:endParaRPr kumimoji="1" lang="ja-JP" altLang="en-US"/>
          </a:p>
        </p:txBody>
      </p:sp>
    </p:spTree>
    <p:extLst>
      <p:ext uri="{BB962C8B-B14F-4D97-AF65-F5344CB8AC3E}">
        <p14:creationId xmlns:p14="http://schemas.microsoft.com/office/powerpoint/2010/main" val="273800430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実験結果は次のようになりました。</a:t>
            </a:r>
            <a:endParaRPr kumimoji="1" lang="en-US" altLang="ja-JP" dirty="0"/>
          </a:p>
          <a:p>
            <a:r>
              <a:rPr kumimoji="1" lang="ja-JP" altLang="en-US"/>
              <a:t>実験結果として、真の因果効果値と推定した因果効果値の平均２乗誤差および推定した因果効果値の標準偏差を求めました。</a:t>
            </a:r>
            <a:endParaRPr kumimoji="1" lang="en-US" altLang="ja-JP" dirty="0"/>
          </a:p>
          <a:p>
            <a:r>
              <a:rPr kumimoji="1" lang="ja-JP" altLang="en-US"/>
              <a:t>赤字の部分が３つの方法の中で、最も精度良く因果効果知の推定を行えた手法となっています。</a:t>
            </a:r>
            <a:endParaRPr kumimoji="1" lang="en-US" altLang="ja-JP" dirty="0"/>
          </a:p>
          <a:p>
            <a:endParaRPr kumimoji="1" lang="en-US" altLang="ja-JP" dirty="0"/>
          </a:p>
          <a:p>
            <a:r>
              <a:rPr kumimoji="1" lang="en-US" altLang="ja-JP" dirty="0"/>
              <a:t>P=</a:t>
            </a:r>
            <a:r>
              <a:rPr kumimoji="1" lang="ja-JP" altLang="en-US"/>
              <a:t>１</a:t>
            </a:r>
            <a:r>
              <a:rPr kumimoji="1" lang="en-US" altLang="ja-JP" dirty="0"/>
              <a:t>0</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まず、傾向スコアモデルおよび結果モデルに関する関数が共に線形である場合このような実験結果となりました。</a:t>
            </a:r>
            <a:endParaRPr kumimoji="1" lang="en-US" altLang="ja-JP" dirty="0"/>
          </a:p>
          <a:p>
            <a:r>
              <a:rPr kumimoji="1" lang="ja-JP" altLang="en-US"/>
              <a:t>このような条件下の場合、提案手法よりも既存手法の方が精度良く因果効果値の推定を行えていました。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29</a:t>
            </a:fld>
            <a:endParaRPr kumimoji="1" lang="ja-JP" altLang="en-US"/>
          </a:p>
        </p:txBody>
      </p:sp>
    </p:spTree>
    <p:extLst>
      <p:ext uri="{BB962C8B-B14F-4D97-AF65-F5344CB8AC3E}">
        <p14:creationId xmlns:p14="http://schemas.microsoft.com/office/powerpoint/2010/main" val="97935537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次に、傾向スコアモデルに関する関数が線形、結果モデルに関する関数が非線形である設定６、７、８はこのような結果となりました。</a:t>
            </a:r>
            <a:endParaRPr kumimoji="1" lang="en-US" altLang="ja-JP" dirty="0"/>
          </a:p>
          <a:p>
            <a:r>
              <a:rPr kumimoji="1" lang="ja-JP" altLang="en-US"/>
              <a:t>このような条件下の場合、既存手法よりも提案手法の方が精度良く因果効果値の推定を行えていました。</a:t>
            </a:r>
          </a:p>
          <a:p>
            <a:endParaRPr kumimoji="1" lang="en-US" altLang="ja-JP" dirty="0"/>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最後に、傾向スコアモデルに関する関数が非線形、結果モデルに関する関数が線形である設定９、１０はこのような結果となりました。</a:t>
            </a:r>
            <a:endParaRPr kumimoji="1" lang="en-US" altLang="ja-JP" dirty="0"/>
          </a:p>
          <a:p>
            <a:r>
              <a:rPr kumimoji="1" lang="ja-JP" altLang="en-US"/>
              <a:t>このような条件下の場合、３つの推定方法による推定結果に大きな差はありませんでした。</a:t>
            </a:r>
            <a:endParaRPr kumimoji="1" lang="en-US" altLang="ja-JP" dirty="0"/>
          </a:p>
          <a:p>
            <a:endParaRPr kumimoji="1" lang="en-US" altLang="ja-JP" dirty="0"/>
          </a:p>
          <a:p>
            <a:r>
              <a:rPr kumimoji="1" lang="ja-JP" altLang="en-US"/>
              <a:t>以上のことから、球共分散を用いて今日変量と結果変数の非線形性を捉えたことおよび球共分散を用いることによってモデルに１次のこうだけではなく２次のこうを含めた場合でも計算可能にすることにより、結果モデルが非線形である場合に既存手法と比べて大きく精度良く推定を行うことができるようになり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30</a:t>
            </a:fld>
            <a:endParaRPr kumimoji="1" lang="ja-JP" altLang="en-US"/>
          </a:p>
        </p:txBody>
      </p:sp>
    </p:spTree>
    <p:extLst>
      <p:ext uri="{BB962C8B-B14F-4D97-AF65-F5344CB8AC3E}">
        <p14:creationId xmlns:p14="http://schemas.microsoft.com/office/powerpoint/2010/main" val="23241925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実験結果は次のようになりました。</a:t>
            </a:r>
            <a:endParaRPr kumimoji="1" lang="en-US" altLang="ja-JP" dirty="0"/>
          </a:p>
          <a:p>
            <a:r>
              <a:rPr kumimoji="1" lang="ja-JP" altLang="en-US"/>
              <a:t>実験結果として、真の因果効果値と推定した因果効果値の平均２乗誤差および推定した因果効果値の標準偏差を求めました。</a:t>
            </a:r>
            <a:endParaRPr kumimoji="1" lang="en-US" altLang="ja-JP" dirty="0"/>
          </a:p>
          <a:p>
            <a:r>
              <a:rPr kumimoji="1" lang="ja-JP" altLang="en-US"/>
              <a:t>赤字の部分が３つの方法の中で、最も精度良く因果効果知の推定を行えた手法となっています。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まず、傾向スコアモデルおよび結果モデルに関する関数が共に線形である場合このような実験結果となりました。</a:t>
            </a:r>
            <a:endParaRPr kumimoji="1" lang="en-US" altLang="ja-JP" dirty="0"/>
          </a:p>
          <a:p>
            <a:r>
              <a:rPr kumimoji="1" lang="ja-JP" altLang="en-US"/>
              <a:t>このような条件下の場合、提案手法よりも既存手法の方が精度良く因果効果値の推定を行えていました。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31</a:t>
            </a:fld>
            <a:endParaRPr kumimoji="1" lang="ja-JP" altLang="en-US"/>
          </a:p>
        </p:txBody>
      </p:sp>
    </p:spTree>
    <p:extLst>
      <p:ext uri="{BB962C8B-B14F-4D97-AF65-F5344CB8AC3E}">
        <p14:creationId xmlns:p14="http://schemas.microsoft.com/office/powerpoint/2010/main" val="100584100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このことから</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今回の提案手法の目的である</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共変量の個数が多く、結果モデルが非線形の時に因果効果値の推定の精度を改善するという目的を達成しているということが見て取れます。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１１：３０</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32</a:t>
            </a:fld>
            <a:endParaRPr kumimoji="1" lang="ja-JP" altLang="en-US"/>
          </a:p>
        </p:txBody>
      </p:sp>
    </p:spTree>
    <p:extLst>
      <p:ext uri="{BB962C8B-B14F-4D97-AF65-F5344CB8AC3E}">
        <p14:creationId xmlns:p14="http://schemas.microsoft.com/office/powerpoint/2010/main" val="331305484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ノート プレースホルダー 2"/>
              <p:cNvSpPr>
                <a:spLocks noGrp="1"/>
              </p:cNvSpPr>
              <p:nvPr>
                <p:ph type="body" idx="1"/>
              </p:nvPr>
            </p:nvSpPr>
            <p:spPr/>
            <p:txBody>
              <a:bodyPr/>
              <a:lstStyle/>
              <a:p>
                <a:r>
                  <a:rPr kumimoji="1" lang="ja-JP" altLang="en-US"/>
                  <a:t>ここまでの手法により、関数</a:t>
                </a:r>
                <a:endParaRPr kumimoji="1" lang="en-US" altLang="ja-JP" dirty="0"/>
              </a:p>
              <a:p>
                <a:r>
                  <a:rPr kumimoji="1" lang="ja-JP" altLang="en-US"/>
                  <a:t>ぷさい：</a:t>
                </a:r>
                <a:r>
                  <a:rPr kumimoji="1" lang="en-US" altLang="ja-JP" dirty="0" err="1"/>
                  <a:t>ψ</a:t>
                </a:r>
                <a:r>
                  <a:rPr kumimoji="1" lang="ja-JP" altLang="en-US"/>
                  <a:t>　ふぁい：</a:t>
                </a:r>
                <a14:m>
                  <m:oMath xmlns:m="http://schemas.openxmlformats.org/officeDocument/2006/math">
                    <m:r>
                      <a:rPr kumimoji="1" lang="ja-JP" altLang="en-US" sz="1200" b="0" i="1" smtClean="0">
                        <a:latin typeface="Cambria Math" panose="02040503050406030204" pitchFamily="18" charset="0"/>
                      </a:rPr>
                      <m:t>𝜑</m:t>
                    </m:r>
                  </m:oMath>
                </a14:m>
                <a:endParaRPr kumimoji="1" lang="en-US" altLang="ja-JP" dirty="0"/>
              </a:p>
              <a:p>
                <a:r>
                  <a:rPr kumimoji="1" lang="ja-JP" altLang="en-US"/>
                  <a:t>の項の数は最初１次の項だけではなく２次の項を含めると</a:t>
                </a:r>
                <a:endParaRPr kumimoji="1" lang="en-US" altLang="ja-JP" dirty="0"/>
              </a:p>
              <a:p>
                <a14:m>
                  <m:oMath xmlns:m="http://schemas.openxmlformats.org/officeDocument/2006/math">
                    <m:f>
                      <m:fPr>
                        <m:type m:val="lin"/>
                        <m:ctrlPr>
                          <a:rPr lang="ja-JP" altLang="en-US" sz="1200" i="1" smtClean="0">
                            <a:solidFill>
                              <a:schemeClr val="tx1"/>
                            </a:solidFill>
                            <a:latin typeface="Cambria Math" panose="02040503050406030204" pitchFamily="18" charset="0"/>
                            <a:ea typeface="+mn-ea"/>
                          </a:rPr>
                        </m:ctrlPr>
                      </m:fPr>
                      <m:num>
                        <m:r>
                          <a:rPr lang="en-US" altLang="ja-JP" sz="1200" b="0" i="1" smtClean="0">
                            <a:solidFill>
                              <a:schemeClr val="tx1"/>
                            </a:solidFill>
                            <a:latin typeface="Cambria Math" panose="02040503050406030204" pitchFamily="18" charset="0"/>
                            <a:ea typeface="+mn-ea"/>
                          </a:rPr>
                          <m:t>𝑝</m:t>
                        </m:r>
                        <m:r>
                          <a:rPr lang="en-US" altLang="ja-JP" sz="1200" b="0" i="1" smtClean="0">
                            <a:solidFill>
                              <a:schemeClr val="tx1"/>
                            </a:solidFill>
                            <a:latin typeface="Cambria Math" panose="02040503050406030204" pitchFamily="18" charset="0"/>
                            <a:ea typeface="+mn-ea"/>
                          </a:rPr>
                          <m:t>(</m:t>
                        </m:r>
                        <m:r>
                          <a:rPr lang="en-US" altLang="ja-JP" sz="1200" b="0" i="1" smtClean="0">
                            <a:solidFill>
                              <a:schemeClr val="tx1"/>
                            </a:solidFill>
                            <a:latin typeface="Cambria Math" panose="02040503050406030204" pitchFamily="18" charset="0"/>
                            <a:ea typeface="+mn-ea"/>
                          </a:rPr>
                          <m:t>𝑝</m:t>
                        </m:r>
                        <m:r>
                          <a:rPr lang="en-US" altLang="ja-JP" sz="1200" b="0" i="1" smtClean="0">
                            <a:solidFill>
                              <a:schemeClr val="tx1"/>
                            </a:solidFill>
                            <a:latin typeface="Cambria Math" panose="02040503050406030204" pitchFamily="18" charset="0"/>
                            <a:ea typeface="+mn-ea"/>
                          </a:rPr>
                          <m:t>+3)</m:t>
                        </m:r>
                      </m:num>
                      <m:den>
                        <m:r>
                          <a:rPr lang="en-US" altLang="ja-JP" sz="1200" b="0" i="1" smtClean="0">
                            <a:solidFill>
                              <a:schemeClr val="tx1"/>
                            </a:solidFill>
                            <a:latin typeface="Cambria Math" panose="02040503050406030204" pitchFamily="18" charset="0"/>
                            <a:ea typeface="+mn-ea"/>
                          </a:rPr>
                          <m:t>2</m:t>
                        </m:r>
                      </m:den>
                    </m:f>
                  </m:oMath>
                </a14:m>
                <a:r>
                  <a:rPr kumimoji="1" lang="ja-JP" altLang="en-US"/>
                  <a:t>個あったものを</a:t>
                </a:r>
                <a:endParaRPr kumimoji="1" lang="en-US" altLang="ja-JP" dirty="0"/>
              </a:p>
              <a:p>
                <a:r>
                  <a:rPr kumimoji="1" lang="en-US" altLang="ja-JP" dirty="0"/>
                  <a:t>X</a:t>
                </a:r>
                <a:r>
                  <a:rPr kumimoji="1" lang="ja-JP" altLang="en-US"/>
                  <a:t>を条件付けして</a:t>
                </a:r>
                <a:endParaRPr kumimoji="1" lang="en-US" altLang="ja-JP" dirty="0"/>
              </a:p>
              <a:p>
                <a:r>
                  <a:rPr kumimoji="1" lang="en-US" altLang="ja-JP" dirty="0"/>
                  <a:t>Ci1</a:t>
                </a:r>
                <a:r>
                  <a:rPr kumimoji="1" lang="ja-JP" altLang="en-US"/>
                  <a:t>と</a:t>
                </a:r>
                <a:r>
                  <a:rPr kumimoji="1" lang="en-US" altLang="ja-JP" dirty="0"/>
                  <a:t>Y</a:t>
                </a:r>
                <a:r>
                  <a:rPr kumimoji="1" lang="ja-JP" altLang="en-US"/>
                  <a:t>、</a:t>
                </a:r>
                <a:r>
                  <a:rPr kumimoji="1" lang="en-US" altLang="ja-JP" dirty="0"/>
                  <a:t>Ci2</a:t>
                </a:r>
                <a:r>
                  <a:rPr kumimoji="1" lang="ja-JP" altLang="en-US"/>
                  <a:t>と</a:t>
                </a:r>
                <a:r>
                  <a:rPr kumimoji="1" lang="en-US" altLang="ja-JP" dirty="0"/>
                  <a:t>Y</a:t>
                </a:r>
                <a:r>
                  <a:rPr kumimoji="1" lang="ja-JP" altLang="en-US"/>
                  <a:t>、</a:t>
                </a:r>
                <a14:m>
                  <m:oMath xmlns:m="http://schemas.openxmlformats.org/officeDocument/2006/math">
                    <m:sSubSup>
                      <m:sSubSupPr>
                        <m:ctrlPr>
                          <a:rPr lang="en-US" altLang="ja-JP" sz="1200" i="1" smtClean="0">
                            <a:latin typeface="Cambria Math" panose="02040503050406030204" pitchFamily="18" charset="0"/>
                            <a:ea typeface="Cambria Math" panose="02040503050406030204" pitchFamily="18" charset="0"/>
                          </a:rPr>
                        </m:ctrlPr>
                      </m:sSubSupPr>
                      <m:e>
                        <m:r>
                          <a:rPr lang="en-US" altLang="ja-JP" sz="1200" b="0" i="1" smtClean="0">
                            <a:latin typeface="Cambria Math" panose="02040503050406030204" pitchFamily="18" charset="0"/>
                            <a:ea typeface="Cambria Math" panose="02040503050406030204" pitchFamily="18" charset="0"/>
                          </a:rPr>
                          <m:t>𝐶</m:t>
                        </m:r>
                      </m:e>
                      <m:sub>
                        <m:r>
                          <a:rPr lang="en-US" altLang="ja-JP" sz="1200" b="0" i="1" smtClean="0">
                            <a:latin typeface="Cambria Math" panose="02040503050406030204" pitchFamily="18" charset="0"/>
                            <a:ea typeface="Cambria Math" panose="02040503050406030204" pitchFamily="18" charset="0"/>
                          </a:rPr>
                          <m:t>𝑖</m:t>
                        </m:r>
                        <m:r>
                          <a:rPr lang="en-US" altLang="ja-JP" sz="1200" b="0" i="1" smtClean="0">
                            <a:latin typeface="Cambria Math" panose="02040503050406030204" pitchFamily="18" charset="0"/>
                            <a:ea typeface="Cambria Math" panose="02040503050406030204" pitchFamily="18" charset="0"/>
                          </a:rPr>
                          <m:t>1</m:t>
                        </m:r>
                      </m:sub>
                      <m:sup>
                        <m:r>
                          <a:rPr lang="en-US" altLang="ja-JP" sz="1200" b="0" i="1" smtClean="0">
                            <a:latin typeface="Cambria Math" panose="02040503050406030204" pitchFamily="18" charset="0"/>
                            <a:ea typeface="Cambria Math" panose="02040503050406030204" pitchFamily="18" charset="0"/>
                          </a:rPr>
                          <m:t>2</m:t>
                        </m:r>
                      </m:sup>
                    </m:sSubSup>
                  </m:oMath>
                </a14:m>
                <a:r>
                  <a:rPr kumimoji="1" lang="ja-JP" altLang="en-US" dirty="0"/>
                  <a:t>と</a:t>
                </a:r>
                <a:r>
                  <a:rPr kumimoji="1" lang="en-US" altLang="ja-JP" dirty="0"/>
                  <a:t>Y,</a:t>
                </a:r>
                <a:r>
                  <a:rPr lang="en-US" altLang="ja-JP" sz="1200" dirty="0"/>
                  <a:t> </a:t>
                </a:r>
                <a14:m>
                  <m:oMath xmlns:m="http://schemas.openxmlformats.org/officeDocument/2006/math">
                    <m:sSub>
                      <m:sSubPr>
                        <m:ctrlPr>
                          <a:rPr lang="en-US" altLang="ja-JP" sz="1200" i="1" smtClean="0">
                            <a:latin typeface="Cambria Math" panose="02040503050406030204" pitchFamily="18" charset="0"/>
                          </a:rPr>
                        </m:ctrlPr>
                      </m:sSubPr>
                      <m:e>
                        <m:r>
                          <a:rPr lang="en-US" altLang="ja-JP" sz="1200" i="1">
                            <a:latin typeface="Cambria Math" panose="02040503050406030204" pitchFamily="18" charset="0"/>
                          </a:rPr>
                          <m:t>𝐶</m:t>
                        </m:r>
                      </m:e>
                      <m:sub>
                        <m:r>
                          <a:rPr lang="en-US" altLang="ja-JP" sz="1200" b="0" i="1" smtClean="0">
                            <a:latin typeface="Cambria Math" panose="02040503050406030204" pitchFamily="18" charset="0"/>
                          </a:rPr>
                          <m:t>𝑖</m:t>
                        </m:r>
                        <m:r>
                          <a:rPr lang="en-US" altLang="ja-JP" sz="1200" i="1">
                            <a:latin typeface="Cambria Math" panose="02040503050406030204" pitchFamily="18" charset="0"/>
                          </a:rPr>
                          <m:t>1</m:t>
                        </m:r>
                      </m:sub>
                    </m:sSub>
                    <m:sSub>
                      <m:sSubPr>
                        <m:ctrlPr>
                          <a:rPr lang="en-US" altLang="ja-JP" sz="1200" i="1">
                            <a:latin typeface="Cambria Math" panose="02040503050406030204" pitchFamily="18" charset="0"/>
                          </a:rPr>
                        </m:ctrlPr>
                      </m:sSubPr>
                      <m:e>
                        <m:r>
                          <a:rPr lang="en-US" altLang="ja-JP" sz="1200" i="1">
                            <a:latin typeface="Cambria Math" panose="02040503050406030204" pitchFamily="18" charset="0"/>
                          </a:rPr>
                          <m:t>𝐶</m:t>
                        </m:r>
                      </m:e>
                      <m:sub>
                        <m:r>
                          <a:rPr lang="en-US" altLang="ja-JP" sz="1200" b="0" i="1" smtClean="0">
                            <a:latin typeface="Cambria Math" panose="02040503050406030204" pitchFamily="18" charset="0"/>
                          </a:rPr>
                          <m:t>𝑖</m:t>
                        </m:r>
                        <m:r>
                          <a:rPr lang="en-US" altLang="ja-JP" sz="1200" i="1">
                            <a:latin typeface="Cambria Math" panose="02040503050406030204" pitchFamily="18" charset="0"/>
                          </a:rPr>
                          <m:t>2</m:t>
                        </m:r>
                      </m:sub>
                    </m:sSub>
                  </m:oMath>
                </a14:m>
                <a:r>
                  <a:rPr kumimoji="1" lang="ja-JP" altLang="en-US"/>
                  <a:t>と</a:t>
                </a:r>
                <a:r>
                  <a:rPr kumimoji="1" lang="en-US" altLang="ja-JP" dirty="0"/>
                  <a:t>Y</a:t>
                </a:r>
                <a:r>
                  <a:rPr kumimoji="1" lang="ja-JP" altLang="en-US"/>
                  <a:t>などの球共分散を計算して、</a:t>
                </a:r>
                <a:endParaRPr kumimoji="1" lang="en-US" altLang="ja-JP" dirty="0"/>
              </a:p>
              <a:p>
                <a:r>
                  <a:rPr kumimoji="1" lang="ja-JP" altLang="en-US"/>
                  <a:t>球共分散が大きい</a:t>
                </a:r>
                <a:r>
                  <a:rPr kumimoji="1" lang="en-US" altLang="ja-JP" dirty="0"/>
                  <a:t>q</a:t>
                </a:r>
                <a:r>
                  <a:rPr kumimoji="1" lang="ja-JP" altLang="en-US"/>
                  <a:t>この項に減らすことができます。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この時、ぷさい：</a:t>
                </a:r>
                <a:r>
                  <a:rPr kumimoji="1" lang="en-US" altLang="ja-JP" dirty="0" err="1"/>
                  <a:t>ψ</a:t>
                </a:r>
                <a:r>
                  <a:rPr kumimoji="1" lang="ja-JP" altLang="en-US"/>
                  <a:t>　ふぁい：</a:t>
                </a:r>
                <a14:m>
                  <m:oMath xmlns:m="http://schemas.openxmlformats.org/officeDocument/2006/math">
                    <m:r>
                      <a:rPr kumimoji="1" lang="ja-JP" altLang="en-US" sz="1200" b="0" i="1" smtClean="0">
                        <a:latin typeface="Cambria Math" panose="02040503050406030204" pitchFamily="18" charset="0"/>
                      </a:rPr>
                      <m:t>𝜑</m:t>
                    </m:r>
                  </m:oMath>
                </a14:m>
                <a:r>
                  <a:rPr kumimoji="1" lang="ja-JP" altLang="en-US" dirty="0"/>
                  <a:t>で同じ</a:t>
                </a:r>
                <a:r>
                  <a:rPr kumimoji="1" lang="ja-JP" altLang="en-US"/>
                  <a:t>項を抽出します。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例えば、</a:t>
                </a:r>
                <a:r>
                  <a:rPr kumimoji="1" lang="en-US" altLang="ja-JP" dirty="0"/>
                  <a:t>Ci1</a:t>
                </a:r>
                <a:r>
                  <a:rPr kumimoji="1" lang="ja-JP" altLang="en-US"/>
                  <a:t>を抽出するときは、ぷさい：</a:t>
                </a:r>
                <a:r>
                  <a:rPr kumimoji="1" lang="en-US" altLang="ja-JP" dirty="0" err="1"/>
                  <a:t>ψ</a:t>
                </a:r>
                <a:r>
                  <a:rPr kumimoji="1" lang="ja-JP" altLang="en-US"/>
                  <a:t>　ふぁい：</a:t>
                </a:r>
                <a14:m>
                  <m:oMath xmlns:m="http://schemas.openxmlformats.org/officeDocument/2006/math">
                    <m:r>
                      <a:rPr kumimoji="1" lang="ja-JP" altLang="en-US" sz="1200" b="0" i="1" smtClean="0">
                        <a:latin typeface="Cambria Math" panose="02040503050406030204" pitchFamily="18" charset="0"/>
                      </a:rPr>
                      <m:t>𝜑</m:t>
                    </m:r>
                  </m:oMath>
                </a14:m>
                <a:r>
                  <a:rPr kumimoji="1" lang="ja-JP" altLang="en-US"/>
                  <a:t>の両方の関数に</a:t>
                </a:r>
                <a:r>
                  <a:rPr kumimoji="1" lang="en-US" altLang="ja-JP" dirty="0"/>
                  <a:t>Ci1</a:t>
                </a:r>
                <a:r>
                  <a:rPr kumimoji="1" lang="ja-JP" altLang="en-US"/>
                  <a:t>を含めます</a:t>
                </a:r>
                <a:endParaRPr kumimoji="1" lang="en-US" altLang="ja-JP" dirty="0"/>
              </a:p>
              <a:p>
                <a:endParaRPr kumimoji="1" lang="en-US" altLang="ja-JP" dirty="0"/>
              </a:p>
              <a:p>
                <a:endParaRPr kumimoji="1" lang="ja-JP" altLang="en-US"/>
              </a:p>
            </p:txBody>
          </p:sp>
        </mc:Choice>
        <mc:Fallback xmlns="">
          <p:sp>
            <p:nvSpPr>
              <p:cNvPr id="3" name="ノート プレースホルダー 2"/>
              <p:cNvSpPr>
                <a:spLocks noGrp="1"/>
              </p:cNvSpPr>
              <p:nvPr>
                <p:ph type="body" idx="1"/>
              </p:nvPr>
            </p:nvSpPr>
            <p:spPr/>
            <p:txBody>
              <a:bodyPr/>
              <a:lstStyle/>
              <a:p>
                <a:r>
                  <a:rPr kumimoji="1" lang="ja-JP" altLang="en-US"/>
                  <a:t>ここまでの手法により、関数</a:t>
                </a:r>
                <a:endParaRPr kumimoji="1" lang="en-US" altLang="ja-JP" dirty="0"/>
              </a:p>
              <a:p>
                <a:r>
                  <a:rPr kumimoji="1" lang="ja-JP" altLang="en-US"/>
                  <a:t>ぷさい：</a:t>
                </a:r>
                <a:r>
                  <a:rPr kumimoji="1" lang="en-US" altLang="ja-JP" dirty="0" err="1"/>
                  <a:t>ψ</a:t>
                </a:r>
                <a:r>
                  <a:rPr kumimoji="1" lang="ja-JP" altLang="en-US"/>
                  <a:t>　ふぁい：</a:t>
                </a:r>
                <a:r>
                  <a:rPr kumimoji="1" lang="ja-JP" altLang="en-US" sz="1200" b="0" i="0">
                    <a:latin typeface="Cambria Math" panose="02040503050406030204" pitchFamily="18" charset="0"/>
                  </a:rPr>
                  <a:t>𝜑</a:t>
                </a:r>
                <a:endParaRPr kumimoji="1" lang="en-US" altLang="ja-JP" dirty="0"/>
              </a:p>
              <a:p>
                <a:r>
                  <a:rPr kumimoji="1" lang="ja-JP" altLang="en-US"/>
                  <a:t>の項の数は最初１次の項だけではなく２次の項を含めると</a:t>
                </a:r>
                <a:endParaRPr kumimoji="1" lang="en-US" altLang="ja-JP" dirty="0"/>
              </a:p>
              <a:p>
                <a:r>
                  <a:rPr lang="ja-JP" altLang="en-US" sz="1200" i="0">
                    <a:solidFill>
                      <a:schemeClr val="tx1"/>
                    </a:solidFill>
                    <a:latin typeface="Cambria Math" panose="02040503050406030204" pitchFamily="18" charset="0"/>
                    <a:ea typeface="+mn-ea"/>
                  </a:rPr>
                  <a:t>〖</a:t>
                </a:r>
                <a:r>
                  <a:rPr lang="en-US" altLang="ja-JP" sz="1200" b="0" i="0">
                    <a:solidFill>
                      <a:schemeClr val="tx1"/>
                    </a:solidFill>
                    <a:latin typeface="Cambria Math" panose="02040503050406030204" pitchFamily="18" charset="0"/>
                    <a:ea typeface="+mn-ea"/>
                  </a:rPr>
                  <a:t>𝑝(𝑝+3)</a:t>
                </a:r>
                <a:r>
                  <a:rPr lang="ja-JP" altLang="en-US" sz="1200" b="0" i="0">
                    <a:solidFill>
                      <a:schemeClr val="tx1"/>
                    </a:solidFill>
                    <a:latin typeface="Cambria Math" panose="02040503050406030204" pitchFamily="18" charset="0"/>
                    <a:ea typeface="+mn-ea"/>
                  </a:rPr>
                  <a:t>〗∕</a:t>
                </a:r>
                <a:r>
                  <a:rPr lang="en-US" altLang="ja-JP" sz="1200" b="0" i="0">
                    <a:solidFill>
                      <a:schemeClr val="tx1"/>
                    </a:solidFill>
                    <a:latin typeface="Cambria Math" panose="02040503050406030204" pitchFamily="18" charset="0"/>
                    <a:ea typeface="+mn-ea"/>
                  </a:rPr>
                  <a:t>2</a:t>
                </a:r>
                <a:r>
                  <a:rPr kumimoji="1" lang="ja-JP" altLang="en-US"/>
                  <a:t>個あったものを</a:t>
                </a:r>
                <a:endParaRPr kumimoji="1" lang="en-US" altLang="ja-JP" dirty="0"/>
              </a:p>
              <a:p>
                <a:r>
                  <a:rPr kumimoji="1" lang="en-US" altLang="ja-JP" dirty="0"/>
                  <a:t>X</a:t>
                </a:r>
                <a:r>
                  <a:rPr kumimoji="1" lang="ja-JP" altLang="en-US"/>
                  <a:t>を条件付けして</a:t>
                </a:r>
                <a:endParaRPr kumimoji="1" lang="en-US" altLang="ja-JP" dirty="0"/>
              </a:p>
              <a:p>
                <a:r>
                  <a:rPr kumimoji="1" lang="en-US" altLang="ja-JP" dirty="0"/>
                  <a:t>Ci1</a:t>
                </a:r>
                <a:r>
                  <a:rPr kumimoji="1" lang="ja-JP" altLang="en-US"/>
                  <a:t>と</a:t>
                </a:r>
                <a:r>
                  <a:rPr kumimoji="1" lang="en-US" altLang="ja-JP" dirty="0"/>
                  <a:t>Y</a:t>
                </a:r>
                <a:r>
                  <a:rPr kumimoji="1" lang="ja-JP" altLang="en-US"/>
                  <a:t>、</a:t>
                </a:r>
                <a:r>
                  <a:rPr kumimoji="1" lang="en-US" altLang="ja-JP" dirty="0"/>
                  <a:t>Ci2</a:t>
                </a:r>
                <a:r>
                  <a:rPr kumimoji="1" lang="ja-JP" altLang="en-US"/>
                  <a:t>と</a:t>
                </a:r>
                <a:r>
                  <a:rPr kumimoji="1" lang="en-US" altLang="ja-JP" dirty="0"/>
                  <a:t>Y</a:t>
                </a:r>
                <a:r>
                  <a:rPr kumimoji="1" lang="ja-JP" altLang="en-US"/>
                  <a:t>、</a:t>
                </a:r>
                <a:r>
                  <a:rPr lang="en-US" altLang="ja-JP" sz="1200" b="0" i="0">
                    <a:latin typeface="Cambria Math" panose="02040503050406030204" pitchFamily="18" charset="0"/>
                    <a:ea typeface="Cambria Math" panose="02040503050406030204" pitchFamily="18" charset="0"/>
                  </a:rPr>
                  <a:t>𝐶_𝑖1^2</a:t>
                </a:r>
                <a:r>
                  <a:rPr kumimoji="1" lang="ja-JP" altLang="en-US" dirty="0"/>
                  <a:t>と</a:t>
                </a:r>
                <a:r>
                  <a:rPr kumimoji="1" lang="en-US" altLang="ja-JP" dirty="0"/>
                  <a:t>Y,</a:t>
                </a:r>
                <a:r>
                  <a:rPr lang="en-US" altLang="ja-JP" sz="1200" dirty="0"/>
                  <a:t> </a:t>
                </a:r>
                <a:r>
                  <a:rPr lang="en-US" altLang="ja-JP" sz="1200" i="0">
                    <a:latin typeface="Cambria Math" panose="02040503050406030204" pitchFamily="18" charset="0"/>
                  </a:rPr>
                  <a:t>𝐶_</a:t>
                </a:r>
                <a:r>
                  <a:rPr lang="en-US" altLang="ja-JP" sz="1200" b="0" i="0">
                    <a:latin typeface="Cambria Math" panose="02040503050406030204" pitchFamily="18" charset="0"/>
                  </a:rPr>
                  <a:t>𝑖</a:t>
                </a:r>
                <a:r>
                  <a:rPr lang="en-US" altLang="ja-JP" sz="1200" i="0">
                    <a:latin typeface="Cambria Math" panose="02040503050406030204" pitchFamily="18" charset="0"/>
                  </a:rPr>
                  <a:t>1 𝐶_</a:t>
                </a:r>
                <a:r>
                  <a:rPr lang="en-US" altLang="ja-JP" sz="1200" b="0" i="0">
                    <a:latin typeface="Cambria Math" panose="02040503050406030204" pitchFamily="18" charset="0"/>
                  </a:rPr>
                  <a:t>𝑖</a:t>
                </a:r>
                <a:r>
                  <a:rPr lang="en-US" altLang="ja-JP" sz="1200" i="0">
                    <a:latin typeface="Cambria Math" panose="02040503050406030204" pitchFamily="18" charset="0"/>
                  </a:rPr>
                  <a:t>2</a:t>
                </a:r>
                <a:r>
                  <a:rPr kumimoji="1" lang="ja-JP" altLang="en-US"/>
                  <a:t>と</a:t>
                </a:r>
                <a:r>
                  <a:rPr kumimoji="1" lang="en-US" altLang="ja-JP" dirty="0"/>
                  <a:t>Y</a:t>
                </a:r>
                <a:r>
                  <a:rPr kumimoji="1" lang="ja-JP" altLang="en-US"/>
                  <a:t>などの球共分散を計算して、</a:t>
                </a:r>
                <a:endParaRPr kumimoji="1" lang="en-US" altLang="ja-JP" dirty="0"/>
              </a:p>
              <a:p>
                <a:r>
                  <a:rPr kumimoji="1" lang="ja-JP" altLang="en-US"/>
                  <a:t>球共分散が大きい</a:t>
                </a:r>
                <a:r>
                  <a:rPr kumimoji="1" lang="en-US" altLang="ja-JP" dirty="0"/>
                  <a:t>q</a:t>
                </a:r>
                <a:r>
                  <a:rPr kumimoji="1" lang="ja-JP" altLang="en-US"/>
                  <a:t>この項に減らすことができます。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この時、ぷさい：</a:t>
                </a:r>
                <a:r>
                  <a:rPr kumimoji="1" lang="en-US" altLang="ja-JP" dirty="0" err="1"/>
                  <a:t>ψ</a:t>
                </a:r>
                <a:r>
                  <a:rPr kumimoji="1" lang="ja-JP" altLang="en-US"/>
                  <a:t>　ふぁい：</a:t>
                </a:r>
                <a:r>
                  <a:rPr kumimoji="1" lang="ja-JP" altLang="en-US" sz="1200" b="0" i="0">
                    <a:latin typeface="Cambria Math" panose="02040503050406030204" pitchFamily="18" charset="0"/>
                  </a:rPr>
                  <a:t>𝜑</a:t>
                </a:r>
                <a:r>
                  <a:rPr kumimoji="1" lang="ja-JP" altLang="en-US" dirty="0"/>
                  <a:t>で同じ</a:t>
                </a:r>
                <a:r>
                  <a:rPr kumimoji="1" lang="ja-JP" altLang="en-US"/>
                  <a:t>項を抽出します。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例えば、</a:t>
                </a:r>
                <a:r>
                  <a:rPr kumimoji="1" lang="en-US" altLang="ja-JP" dirty="0"/>
                  <a:t>Ci1</a:t>
                </a:r>
                <a:r>
                  <a:rPr kumimoji="1" lang="ja-JP" altLang="en-US"/>
                  <a:t>を抽出するときは、ぷさい：</a:t>
                </a:r>
                <a:r>
                  <a:rPr kumimoji="1" lang="en-US" altLang="ja-JP" dirty="0" err="1"/>
                  <a:t>ψ</a:t>
                </a:r>
                <a:r>
                  <a:rPr kumimoji="1" lang="ja-JP" altLang="en-US"/>
                  <a:t>　ふぁい：</a:t>
                </a:r>
                <a:r>
                  <a:rPr kumimoji="1" lang="ja-JP" altLang="en-US" sz="1200" b="0" i="0">
                    <a:latin typeface="Cambria Math" panose="02040503050406030204" pitchFamily="18" charset="0"/>
                  </a:rPr>
                  <a:t>𝜑</a:t>
                </a:r>
                <a:r>
                  <a:rPr kumimoji="1" lang="ja-JP" altLang="en-US"/>
                  <a:t>の両方の関数に</a:t>
                </a:r>
                <a:r>
                  <a:rPr kumimoji="1" lang="en-US" altLang="ja-JP" dirty="0"/>
                  <a:t>Ci1</a:t>
                </a:r>
                <a:r>
                  <a:rPr kumimoji="1" lang="ja-JP" altLang="en-US"/>
                  <a:t>を含めます</a:t>
                </a:r>
                <a:endParaRPr kumimoji="1" lang="en-US" altLang="ja-JP" dirty="0"/>
              </a:p>
              <a:p>
                <a:endParaRPr kumimoji="1" lang="en-US" altLang="ja-JP" dirty="0"/>
              </a:p>
              <a:p>
                <a:endParaRPr kumimoji="1" lang="ja-JP" altLang="en-US"/>
              </a:p>
            </p:txBody>
          </p:sp>
        </mc:Fallback>
      </mc:AlternateContent>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33</a:t>
            </a:fld>
            <a:endParaRPr kumimoji="1" lang="ja-JP" altLang="en-US"/>
          </a:p>
        </p:txBody>
      </p:sp>
    </p:spTree>
    <p:extLst>
      <p:ext uri="{BB962C8B-B14F-4D97-AF65-F5344CB8AC3E}">
        <p14:creationId xmlns:p14="http://schemas.microsoft.com/office/powerpoint/2010/main" val="392084998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提案手法のみ</a:t>
            </a:r>
            <a:endParaRPr kumimoji="1" lang="en-US" altLang="ja-JP" dirty="0"/>
          </a:p>
          <a:p>
            <a:endParaRPr kumimoji="1" lang="en-US" altLang="ja-JP" dirty="0"/>
          </a:p>
          <a:p>
            <a:r>
              <a:rPr kumimoji="1" lang="ja-JP" altLang="en-US"/>
              <a:t>４次元まで含めて推定した時に最も精度良く推定を行えた</a:t>
            </a:r>
            <a:endParaRPr kumimoji="1" lang="en-US" altLang="ja-JP" dirty="0"/>
          </a:p>
          <a:p>
            <a:endParaRPr kumimoji="1" lang="en-US" altLang="ja-JP" dirty="0"/>
          </a:p>
          <a:p>
            <a:r>
              <a:rPr kumimoji="1" lang="ja-JP" altLang="en-US"/>
              <a:t>真のモデルと同じ次元まで含めて推定した時に精度が良くなるという</a:t>
            </a:r>
            <a:endParaRPr kumimoji="1" lang="en-US" altLang="ja-JP" dirty="0"/>
          </a:p>
          <a:p>
            <a:r>
              <a:rPr kumimoji="1" lang="ja-JP" altLang="en-US"/>
              <a:t>予想通りの実験結果となりました</a:t>
            </a:r>
          </a:p>
        </p:txBody>
      </p:sp>
      <p:sp>
        <p:nvSpPr>
          <p:cNvPr id="4" name="スライド番号プレースホルダー 3"/>
          <p:cNvSpPr>
            <a:spLocks noGrp="1"/>
          </p:cNvSpPr>
          <p:nvPr>
            <p:ph type="sldNum" sz="quarter" idx="5"/>
          </p:nvPr>
        </p:nvSpPr>
        <p:spPr/>
        <p:txBody>
          <a:bodyPr/>
          <a:lstStyle/>
          <a:p>
            <a:fld id="{4EE6ADC3-84F0-674D-838E-6D0EA1EBA505}" type="slidenum">
              <a:rPr kumimoji="1" lang="ja-JP" altLang="en-US" smtClean="0"/>
              <a:t>34</a:t>
            </a:fld>
            <a:endParaRPr kumimoji="1" lang="ja-JP" altLang="en-US"/>
          </a:p>
        </p:txBody>
      </p:sp>
    </p:spTree>
    <p:extLst>
      <p:ext uri="{BB962C8B-B14F-4D97-AF65-F5344CB8AC3E}">
        <p14:creationId xmlns:p14="http://schemas.microsoft.com/office/powerpoint/2010/main" val="11801588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５１５０個の甲をモデルに含めた時でも、計算可能</a:t>
            </a:r>
            <a:endParaRPr kumimoji="1" lang="ja-JP" altLang="en-US" dirty="0"/>
          </a:p>
        </p:txBody>
      </p:sp>
      <p:sp>
        <p:nvSpPr>
          <p:cNvPr id="4" name="スライド番号プレースホルダー 3"/>
          <p:cNvSpPr>
            <a:spLocks noGrp="1"/>
          </p:cNvSpPr>
          <p:nvPr>
            <p:ph type="sldNum" sz="quarter" idx="5"/>
          </p:nvPr>
        </p:nvSpPr>
        <p:spPr/>
        <p:txBody>
          <a:bodyPr/>
          <a:lstStyle/>
          <a:p>
            <a:fld id="{A83BBB41-D5B9-4EAF-AE85-6D38962426D9}" type="slidenum">
              <a:rPr kumimoji="1" lang="ja-JP" altLang="en-US" smtClean="0"/>
              <a:t>36</a:t>
            </a:fld>
            <a:endParaRPr kumimoji="1" lang="ja-JP" altLang="en-US"/>
          </a:p>
        </p:txBody>
      </p:sp>
    </p:spTree>
    <p:extLst>
      <p:ext uri="{BB962C8B-B14F-4D97-AF65-F5344CB8AC3E}">
        <p14:creationId xmlns:p14="http://schemas.microsoft.com/office/powerpoint/2010/main" val="41415806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37</a:t>
            </a:fld>
            <a:endParaRPr kumimoji="1" lang="ja-JP" altLang="en-US"/>
          </a:p>
        </p:txBody>
      </p:sp>
    </p:spTree>
    <p:extLst>
      <p:ext uri="{BB962C8B-B14F-4D97-AF65-F5344CB8AC3E}">
        <p14:creationId xmlns:p14="http://schemas.microsoft.com/office/powerpoint/2010/main" val="113128448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ノート プレースホルダー 2"/>
              <p:cNvSpPr>
                <a:spLocks noGrp="1"/>
              </p:cNvSpPr>
              <p:nvPr>
                <p:ph type="body" idx="1"/>
              </p:nvPr>
            </p:nvSpPr>
            <p:spPr/>
            <p:txBody>
              <a:bodyPr/>
              <a:lstStyle/>
              <a:p>
                <a:r>
                  <a:rPr kumimoji="1" lang="ja-JP" altLang="en-US"/>
                  <a:t>まず</a:t>
                </a:r>
                <a:r>
                  <a:rPr kumimoji="1" lang="en-US" altLang="ja-JP" dirty="0"/>
                  <a:t>C</a:t>
                </a:r>
                <a:r>
                  <a:rPr kumimoji="1" lang="ja-JP" altLang="en-US"/>
                  <a:t>アルファをアルファ版目の今日変量に関するデータとします。</a:t>
                </a:r>
                <a:endParaRPr kumimoji="1" lang="en-US" altLang="ja-JP" dirty="0"/>
              </a:p>
              <a:p>
                <a:endParaRPr lang="en-US" altLang="ja-JP" dirty="0"/>
              </a:p>
              <a:p>
                <a:r>
                  <a:rPr lang="ja-JP" altLang="en-US"/>
                  <a:t>独立</a:t>
                </a:r>
                <a:r>
                  <a:rPr lang="ja-JP" altLang="en-US" dirty="0"/>
                  <a:t>で得られた</a:t>
                </a:r>
                <a:r>
                  <a:rPr lang="ja-JP" altLang="en-US"/>
                  <a:t>とする</a:t>
                </a:r>
                <a:r>
                  <a:rPr kumimoji="1" lang="ja-JP" altLang="en-US"/>
                  <a:t>と</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球共分散の２乗は</a:t>
                </a:r>
                <a14:m>
                  <m:oMath xmlns:m="http://schemas.openxmlformats.org/officeDocument/2006/math">
                    <m:sSubSup>
                      <m:sSubSupPr>
                        <m:ctrlPr>
                          <a:rPr lang="en-US" altLang="ja-JP" i="1" smtClean="0">
                            <a:latin typeface="Cambria Math" panose="02040503050406030204" pitchFamily="18" charset="0"/>
                          </a:rPr>
                        </m:ctrlPr>
                      </m:sSubSupPr>
                      <m:e>
                        <m:r>
                          <a:rPr lang="ja-JP" altLang="en-US" i="1">
                            <a:latin typeface="Cambria Math" panose="02040503050406030204" pitchFamily="18" charset="0"/>
                          </a:rPr>
                          <m:t>𝜉</m:t>
                        </m:r>
                      </m:e>
                      <m:sub>
                        <m:r>
                          <a:rPr lang="en-US" altLang="ja-JP" i="1">
                            <a:latin typeface="Cambria Math" panose="02040503050406030204" pitchFamily="18" charset="0"/>
                          </a:rPr>
                          <m:t>12,3456</m:t>
                        </m:r>
                      </m:sub>
                      <m:sup>
                        <m:sSub>
                          <m:sSubPr>
                            <m:ctrlPr>
                              <a:rPr lang="en-US" altLang="ja-JP" i="1">
                                <a:latin typeface="Cambria Math" panose="02040503050406030204" pitchFamily="18" charset="0"/>
                              </a:rPr>
                            </m:ctrlPr>
                          </m:sSubPr>
                          <m:e>
                            <m:r>
                              <a:rPr lang="en-US" altLang="ja-JP" b="1" i="1">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𝛼</m:t>
                            </m:r>
                          </m:sub>
                        </m:sSub>
                      </m:sup>
                    </m:sSubSup>
                    <m:sSubSup>
                      <m:sSubSupPr>
                        <m:ctrlPr>
                          <a:rPr lang="en-US" altLang="ja-JP" i="1">
                            <a:latin typeface="Cambria Math" panose="02040503050406030204" pitchFamily="18" charset="0"/>
                          </a:rPr>
                        </m:ctrlPr>
                      </m:sSubSupPr>
                      <m:e>
                        <m:r>
                          <a:rPr lang="ja-JP" altLang="en-US" i="1">
                            <a:latin typeface="Cambria Math" panose="02040503050406030204" pitchFamily="18" charset="0"/>
                          </a:rPr>
                          <m:t>𝜉</m:t>
                        </m:r>
                      </m:e>
                      <m:sub>
                        <m:r>
                          <a:rPr lang="en-US" altLang="ja-JP" i="1">
                            <a:latin typeface="Cambria Math" panose="02040503050406030204" pitchFamily="18" charset="0"/>
                          </a:rPr>
                          <m:t>12,3456</m:t>
                        </m:r>
                      </m:sub>
                      <m:sup>
                        <m:r>
                          <a:rPr lang="en-US" altLang="ja-JP" b="1" i="1" smtClean="0">
                            <a:latin typeface="Cambria Math" panose="02040503050406030204" pitchFamily="18" charset="0"/>
                          </a:rPr>
                          <m:t>𝒀</m:t>
                        </m:r>
                      </m:sup>
                    </m:sSubSup>
                  </m:oMath>
                </a14:m>
                <a:r>
                  <a:rPr kumimoji="1" lang="ja-JP" altLang="en-US" dirty="0"/>
                  <a:t>の席</a:t>
                </a:r>
                <a:r>
                  <a:rPr kumimoji="1" lang="ja-JP" altLang="en-US"/>
                  <a:t>の期待値で表すことができる</a:t>
                </a:r>
                <a:endParaRPr kumimoji="1" lang="en-US" altLang="ja-JP" dirty="0"/>
              </a:p>
              <a:p>
                <a:r>
                  <a:rPr kumimoji="1" lang="ja-JP" altLang="en-US"/>
                  <a:t>という命題が成り立ちます。</a:t>
                </a:r>
                <a:endParaRPr kumimoji="1" lang="en-US" altLang="ja-JP" dirty="0"/>
              </a:p>
              <a:p>
                <a:r>
                  <a:rPr kumimoji="1" lang="ja-JP" altLang="en-US"/>
                  <a:t>ぐざいの値は２点</a:t>
                </a:r>
                <a:r>
                  <a:rPr kumimoji="1" lang="en-US" altLang="ja-JP" dirty="0"/>
                  <a:t>Ci</a:t>
                </a:r>
                <a:r>
                  <a:rPr kumimoji="1" lang="ja-JP" altLang="en-US"/>
                  <a:t>、</a:t>
                </a:r>
                <a:r>
                  <a:rPr kumimoji="1" lang="en-US" altLang="ja-JP" dirty="0"/>
                  <a:t>Yi</a:t>
                </a:r>
                <a:r>
                  <a:rPr kumimoji="1" lang="ja-JP" altLang="en-US"/>
                  <a:t>と</a:t>
                </a:r>
                <a:r>
                  <a:rPr kumimoji="1" lang="en-US" altLang="ja-JP" dirty="0" err="1"/>
                  <a:t>Cj</a:t>
                </a:r>
                <a:r>
                  <a:rPr kumimoji="1" lang="ja-JP" altLang="en-US"/>
                  <a:t>、</a:t>
                </a:r>
                <a:r>
                  <a:rPr kumimoji="1" lang="en-US" altLang="ja-JP" dirty="0" err="1"/>
                  <a:t>Yj</a:t>
                </a:r>
                <a:r>
                  <a:rPr kumimoji="1" lang="ja-JP" altLang="en-US"/>
                  <a:t>によって構成される空間に他の点が含まれているかどうかによって、値が決まります</a:t>
                </a:r>
                <a:endParaRPr kumimoji="1" lang="en-US" altLang="ja-JP" dirty="0"/>
              </a:p>
            </p:txBody>
          </p:sp>
        </mc:Choice>
        <mc:Fallback xmlns="">
          <p:sp>
            <p:nvSpPr>
              <p:cNvPr id="3" name="ノート プレースホルダー 2"/>
              <p:cNvSpPr>
                <a:spLocks noGrp="1"/>
              </p:cNvSpPr>
              <p:nvPr>
                <p:ph type="body" idx="1"/>
              </p:nvPr>
            </p:nvSpPr>
            <p:spPr/>
            <p:txBody>
              <a:bodyPr/>
              <a:lstStyle/>
              <a:p>
                <a:r>
                  <a:rPr kumimoji="1" lang="ja-JP" altLang="en-US"/>
                  <a:t>まず</a:t>
                </a:r>
                <a:r>
                  <a:rPr kumimoji="1" lang="en-US" altLang="ja-JP" dirty="0"/>
                  <a:t>C</a:t>
                </a:r>
                <a:r>
                  <a:rPr kumimoji="1" lang="ja-JP" altLang="en-US"/>
                  <a:t>アルファをアルファ版目の今日変量に関するデータとします。</a:t>
                </a:r>
                <a:endParaRPr kumimoji="1" lang="en-US" altLang="ja-JP" dirty="0"/>
              </a:p>
              <a:p>
                <a:r>
                  <a:rPr kumimoji="1" lang="ja-JP" altLang="en-US"/>
                  <a:t>デルタ</a:t>
                </a:r>
                <a:r>
                  <a:rPr kumimoji="1" lang="en-US" altLang="ja-JP" dirty="0" err="1"/>
                  <a:t>ijkC</a:t>
                </a:r>
                <a:r>
                  <a:rPr kumimoji="1" lang="ja-JP" altLang="en-US"/>
                  <a:t>アルファを</a:t>
                </a:r>
                <a:r>
                  <a:rPr kumimoji="1" lang="en-US" altLang="ja-JP" b="0" i="0">
                    <a:latin typeface="Cambria Math" panose="02040503050406030204" pitchFamily="18" charset="0"/>
                  </a:rPr>
                  <a:t>𝐶_</a:t>
                </a:r>
                <a:r>
                  <a:rPr kumimoji="1" lang="en-US" altLang="ja-JP" b="0" i="0">
                    <a:latin typeface="Cambria Math" panose="02040503050406030204" pitchFamily="18" charset="0"/>
                    <a:ea typeface="Cambria Math" panose="02040503050406030204" pitchFamily="18" charset="0"/>
                  </a:rPr>
                  <a:t>𝛼</a:t>
                </a:r>
                <a:r>
                  <a:rPr kumimoji="1" lang="en-US" altLang="ja-JP" b="0" i="0">
                    <a:latin typeface="Cambria Math" panose="02040503050406030204" pitchFamily="18" charset="0"/>
                  </a:rPr>
                  <a:t>𝑘</a:t>
                </a:r>
                <a:r>
                  <a:rPr kumimoji="1" lang="ja-JP" altLang="en-US" b="0" i="0">
                    <a:latin typeface="Cambria Math" panose="02040503050406030204" pitchFamily="18" charset="0"/>
                  </a:rPr>
                  <a:t> が</a:t>
                </a:r>
                <a:r>
                  <a:rPr lang="ja-JP" altLang="en-US" sz="1200">
                    <a:latin typeface="+mn-ea"/>
                    <a:ea typeface="+mn-ea"/>
                    <a:cs typeface="Arial" panose="020B0604020202020204" pitchFamily="34" charset="0"/>
                  </a:rPr>
                  <a:t>中心</a:t>
                </a:r>
                <a:r>
                  <a:rPr kumimoji="1" lang="en-US" altLang="ja-JP" sz="1200" i="0">
                    <a:latin typeface="Cambria Math" panose="02040503050406030204" pitchFamily="18" charset="0"/>
                    <a:ea typeface="+mn-ea"/>
                  </a:rPr>
                  <a:t>𝑠_1  </a:t>
                </a:r>
                <a:r>
                  <a:rPr lang="ja-JP" altLang="en-US" sz="1200">
                    <a:latin typeface="+mn-ea"/>
                    <a:ea typeface="+mn-ea"/>
                    <a:cs typeface="Arial" panose="020B0604020202020204" pitchFamily="34" charset="0"/>
                  </a:rPr>
                  <a:t>，半径</a:t>
                </a:r>
                <a:r>
                  <a:rPr lang="ja-JP" altLang="en-US" sz="1200" i="0">
                    <a:latin typeface="Cambria Math" panose="02040503050406030204" pitchFamily="18" charset="0"/>
                    <a:ea typeface="+mn-ea"/>
                    <a:cs typeface="Arial" panose="020B0604020202020204" pitchFamily="34" charset="0"/>
                  </a:rPr>
                  <a:t>𝜌</a:t>
                </a:r>
                <a:r>
                  <a:rPr kumimoji="1" lang="en-US" altLang="ja-JP" sz="1200" i="0">
                    <a:latin typeface="Cambria Math" panose="02040503050406030204" pitchFamily="18" charset="0"/>
                    <a:ea typeface="+mn-ea"/>
                  </a:rPr>
                  <a:t>(𝑠_1,𝑠_2 )</a:t>
                </a:r>
                <a:r>
                  <a:rPr lang="ja-JP" altLang="en-US" sz="1200">
                    <a:latin typeface="+mn-ea"/>
                    <a:ea typeface="+mn-ea"/>
                    <a:cs typeface="Arial" panose="020B0604020202020204" pitchFamily="34" charset="0"/>
                  </a:rPr>
                  <a:t>とする空間内の閉球に含まれていれば１、含まれていなければ０とします。</a:t>
                </a:r>
                <a:endParaRPr lang="en-US" altLang="ja-JP" sz="1200" dirty="0">
                  <a:latin typeface="+mn-ea"/>
                  <a:ea typeface="+mn-ea"/>
                  <a:cs typeface="Arial" panose="020B0604020202020204" pitchFamily="34" charset="0"/>
                </a:endParaRPr>
              </a:p>
              <a:p>
                <a:r>
                  <a:rPr kumimoji="1" lang="ja-JP" altLang="en-US" i="0">
                    <a:latin typeface="Cambria Math" panose="02040503050406030204" pitchFamily="18" charset="0"/>
                  </a:rPr>
                  <a:t>𝛿</a:t>
                </a:r>
                <a:r>
                  <a:rPr kumimoji="1" lang="en-US" altLang="ja-JP" i="0">
                    <a:latin typeface="Cambria Math" panose="02040503050406030204" pitchFamily="18" charset="0"/>
                  </a:rPr>
                  <a:t>_(</a:t>
                </a:r>
                <a:r>
                  <a:rPr kumimoji="1" lang="en-US" altLang="ja-JP" b="0" i="0">
                    <a:latin typeface="Cambria Math" panose="02040503050406030204" pitchFamily="18" charset="0"/>
                  </a:rPr>
                  <a:t>𝑖𝑗,𝑘𝑙)^(</a:t>
                </a:r>
                <a:r>
                  <a:rPr lang="en-US" altLang="ja-JP" b="1" i="0">
                    <a:latin typeface="Cambria Math" panose="02040503050406030204" pitchFamily="18" charset="0"/>
                  </a:rPr>
                  <a:t>𝑪_</a:t>
                </a:r>
                <a:r>
                  <a:rPr lang="en-US" altLang="ja-JP" b="0" i="0">
                    <a:latin typeface="Cambria Math" panose="02040503050406030204" pitchFamily="18" charset="0"/>
                    <a:ea typeface="Cambria Math" panose="02040503050406030204" pitchFamily="18" charset="0"/>
                  </a:rPr>
                  <a:t>𝛼 </a:t>
                </a:r>
                <a:r>
                  <a:rPr kumimoji="1" lang="en-US" altLang="ja-JP" b="0" i="0">
                    <a:latin typeface="Cambria Math" panose="02040503050406030204" pitchFamily="18" charset="0"/>
                    <a:ea typeface="Cambria Math" panose="02040503050406030204" pitchFamily="18" charset="0"/>
                  </a:rPr>
                  <a:t>)</a:t>
                </a:r>
                <a:r>
                  <a:rPr lang="ja-JP" altLang="en-US" b="0" i="1">
                    <a:latin typeface="Cambria Math" panose="02040503050406030204" pitchFamily="18" charset="0"/>
                    <a:ea typeface="Cambria Math" panose="02040503050406030204" pitchFamily="18" charset="0"/>
                  </a:rPr>
                  <a:t>を</a:t>
                </a:r>
                <a:r>
                  <a:rPr lang="ja-JP" altLang="en-US" i="0">
                    <a:latin typeface="Cambria Math" panose="02040503050406030204" pitchFamily="18" charset="0"/>
                  </a:rPr>
                  <a:t>𝛿</a:t>
                </a:r>
                <a:r>
                  <a:rPr lang="en-US" altLang="ja-JP" i="0">
                    <a:latin typeface="Cambria Math" panose="02040503050406030204" pitchFamily="18" charset="0"/>
                  </a:rPr>
                  <a:t>_(𝑖𝑗,𝑘)^(</a:t>
                </a:r>
                <a:r>
                  <a:rPr lang="en-US" altLang="ja-JP" b="1" i="0">
                    <a:latin typeface="Cambria Math" panose="02040503050406030204" pitchFamily="18" charset="0"/>
                  </a:rPr>
                  <a:t>𝑪_</a:t>
                </a:r>
                <a:r>
                  <a:rPr lang="en-US" altLang="ja-JP" b="0" i="0">
                    <a:latin typeface="Cambria Math" panose="02040503050406030204" pitchFamily="18" charset="0"/>
                    <a:ea typeface="Cambria Math" panose="02040503050406030204" pitchFamily="18" charset="0"/>
                  </a:rPr>
                  <a:t>𝛼 )</a:t>
                </a:r>
                <a:r>
                  <a:rPr lang="ja-JP" altLang="en-US" b="0" i="1">
                    <a:latin typeface="Cambria Math" panose="02040503050406030204" pitchFamily="18" charset="0"/>
                    <a:ea typeface="Cambria Math" panose="02040503050406030204" pitchFamily="18" charset="0"/>
                  </a:rPr>
                  <a:t>と</a:t>
                </a:r>
                <a:r>
                  <a:rPr lang="ja-JP" altLang="en-US" i="0">
                    <a:latin typeface="Cambria Math" panose="02040503050406030204" pitchFamily="18" charset="0"/>
                  </a:rPr>
                  <a:t>𝛿</a:t>
                </a:r>
                <a:r>
                  <a:rPr lang="en-US" altLang="ja-JP" i="0">
                    <a:latin typeface="Cambria Math" panose="02040503050406030204" pitchFamily="18" charset="0"/>
                  </a:rPr>
                  <a:t>_(𝑖𝑗,</a:t>
                </a:r>
                <a:r>
                  <a:rPr lang="en-US" altLang="ja-JP" b="0" i="0">
                    <a:latin typeface="Cambria Math" panose="02040503050406030204" pitchFamily="18" charset="0"/>
                  </a:rPr>
                  <a:t>𝑙)^(</a:t>
                </a:r>
                <a:r>
                  <a:rPr lang="en-US" altLang="ja-JP" b="1" i="0">
                    <a:latin typeface="Cambria Math" panose="02040503050406030204" pitchFamily="18" charset="0"/>
                  </a:rPr>
                  <a:t>𝑪_</a:t>
                </a:r>
                <a:r>
                  <a:rPr lang="en-US" altLang="ja-JP" b="0" i="0">
                    <a:latin typeface="Cambria Math" panose="02040503050406030204" pitchFamily="18" charset="0"/>
                    <a:ea typeface="Cambria Math" panose="02040503050406030204" pitchFamily="18" charset="0"/>
                  </a:rPr>
                  <a:t>𝛼 )</a:t>
                </a:r>
                <a:r>
                  <a:rPr lang="ja-JP" altLang="en-US" b="0" i="0">
                    <a:latin typeface="Cambria Math" panose="02040503050406030204" pitchFamily="18" charset="0"/>
                    <a:ea typeface="Cambria Math" panose="02040503050406030204" pitchFamily="18" charset="0"/>
                  </a:rPr>
                  <a:t> の</a:t>
                </a:r>
                <a:r>
                  <a:rPr kumimoji="1" lang="ja-JP" altLang="en-US"/>
                  <a:t>積とします</a:t>
                </a:r>
                <a:endParaRPr kumimoji="1" lang="en-US" altLang="ja-JP" dirty="0"/>
              </a:p>
              <a:p>
                <a:r>
                  <a:rPr kumimoji="1" lang="ja-JP" altLang="en-US"/>
                  <a:t>ぐざいをデルタを用いることによって定義します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このとき</a:t>
                </a:r>
                <a:r>
                  <a:rPr lang="en-US" altLang="ja-JP" i="0">
                    <a:latin typeface="Cambria Math" panose="02040503050406030204" pitchFamily="18" charset="0"/>
                  </a:rPr>
                  <a:t>(𝐶_</a:t>
                </a:r>
                <a:r>
                  <a:rPr lang="en-US" altLang="ja-JP" i="0">
                    <a:latin typeface="Cambria Math" panose="02040503050406030204" pitchFamily="18" charset="0"/>
                    <a:ea typeface="Cambria Math" panose="02040503050406030204" pitchFamily="18" charset="0"/>
                  </a:rPr>
                  <a:t>𝛼</a:t>
                </a:r>
                <a:r>
                  <a:rPr lang="en-US" altLang="ja-JP" i="0">
                    <a:latin typeface="Cambria Math" panose="02040503050406030204" pitchFamily="18" charset="0"/>
                  </a:rPr>
                  <a:t>𝑖,𝑌_</a:t>
                </a:r>
                <a:r>
                  <a:rPr lang="en-US" altLang="ja-JP" b="0" i="0">
                    <a:latin typeface="Cambria Math" panose="02040503050406030204" pitchFamily="18" charset="0"/>
                  </a:rPr>
                  <a:t>𝑖 )</a:t>
                </a:r>
                <a:r>
                  <a:rPr lang="en-US" altLang="ja-JP" i="0">
                    <a:latin typeface="Cambria Math" panose="02040503050406030204" pitchFamily="18" charset="0"/>
                  </a:rPr>
                  <a:t>, 𝑖=1,2,…6</a:t>
                </a:r>
                <a:r>
                  <a:rPr lang="ja-JP" altLang="en-US" dirty="0"/>
                  <a:t>が同時分布</a:t>
                </a:r>
                <a:r>
                  <a:rPr lang="en-US" altLang="ja-JP" i="0">
                    <a:latin typeface="Cambria Math" panose="02040503050406030204" pitchFamily="18" charset="0"/>
                  </a:rPr>
                  <a:t>(</a:t>
                </a:r>
                <a:r>
                  <a:rPr lang="en-US" altLang="ja-JP" b="1" i="0">
                    <a:latin typeface="Cambria Math" panose="02040503050406030204" pitchFamily="18" charset="0"/>
                  </a:rPr>
                  <a:t>𝑪_</a:t>
                </a:r>
                <a:r>
                  <a:rPr lang="en-US" altLang="ja-JP" i="0">
                    <a:latin typeface="Cambria Math" panose="02040503050406030204" pitchFamily="18" charset="0"/>
                    <a:ea typeface="Cambria Math" panose="02040503050406030204" pitchFamily="18" charset="0"/>
                  </a:rPr>
                  <a:t>𝛼</a:t>
                </a:r>
                <a:r>
                  <a:rPr lang="en-US" altLang="ja-JP" i="0">
                    <a:latin typeface="Cambria Math" panose="02040503050406030204" pitchFamily="18" charset="0"/>
                  </a:rPr>
                  <a:t>,</a:t>
                </a:r>
                <a:r>
                  <a:rPr lang="en-US" altLang="ja-JP" b="1" i="0">
                    <a:latin typeface="Cambria Math" panose="02040503050406030204" pitchFamily="18" charset="0"/>
                  </a:rPr>
                  <a:t>𝒀)</a:t>
                </a:r>
                <a:r>
                  <a:rPr lang="ja-JP" altLang="en-US" dirty="0"/>
                  <a:t>から独立で得られた</a:t>
                </a:r>
                <a:r>
                  <a:rPr lang="ja-JP" altLang="en-US"/>
                  <a:t>とする</a:t>
                </a:r>
                <a:r>
                  <a:rPr kumimoji="1" lang="ja-JP" altLang="en-US"/>
                  <a:t>と</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球共分散の２乗は</a:t>
                </a:r>
                <a:r>
                  <a:rPr lang="ja-JP" altLang="en-US" i="0">
                    <a:latin typeface="Cambria Math" panose="02040503050406030204" pitchFamily="18" charset="0"/>
                  </a:rPr>
                  <a:t>𝜉</a:t>
                </a:r>
                <a:r>
                  <a:rPr lang="en-US" altLang="ja-JP" i="0">
                    <a:latin typeface="Cambria Math" panose="02040503050406030204" pitchFamily="18" charset="0"/>
                  </a:rPr>
                  <a:t>_12,3456^(</a:t>
                </a:r>
                <a:r>
                  <a:rPr lang="en-US" altLang="ja-JP" b="1" i="0">
                    <a:latin typeface="Cambria Math" panose="02040503050406030204" pitchFamily="18" charset="0"/>
                  </a:rPr>
                  <a:t>𝑪_</a:t>
                </a:r>
                <a:r>
                  <a:rPr lang="en-US" altLang="ja-JP" i="0">
                    <a:latin typeface="Cambria Math" panose="02040503050406030204" pitchFamily="18" charset="0"/>
                    <a:ea typeface="Cambria Math" panose="02040503050406030204" pitchFamily="18" charset="0"/>
                  </a:rPr>
                  <a:t>𝛼 ) </a:t>
                </a:r>
                <a:r>
                  <a:rPr lang="ja-JP" altLang="en-US" i="0">
                    <a:latin typeface="Cambria Math" panose="02040503050406030204" pitchFamily="18" charset="0"/>
                  </a:rPr>
                  <a:t>𝜉</a:t>
                </a:r>
                <a:r>
                  <a:rPr lang="en-US" altLang="ja-JP" i="0">
                    <a:latin typeface="Cambria Math" panose="02040503050406030204" pitchFamily="18" charset="0"/>
                  </a:rPr>
                  <a:t>_12,3456^</a:t>
                </a:r>
                <a:r>
                  <a:rPr lang="en-US" altLang="ja-JP" b="1" i="0">
                    <a:latin typeface="Cambria Math" panose="02040503050406030204" pitchFamily="18" charset="0"/>
                  </a:rPr>
                  <a:t>𝒀</a:t>
                </a:r>
                <a:r>
                  <a:rPr kumimoji="1" lang="ja-JP" altLang="en-US" dirty="0"/>
                  <a:t>の席</a:t>
                </a:r>
                <a:r>
                  <a:rPr kumimoji="1" lang="ja-JP" altLang="en-US"/>
                  <a:t>の期待値で表すことができる</a:t>
                </a:r>
                <a:endParaRPr kumimoji="1" lang="en-US" altLang="ja-JP" dirty="0"/>
              </a:p>
              <a:p>
                <a:r>
                  <a:rPr kumimoji="1" lang="ja-JP" altLang="en-US"/>
                  <a:t>という命題が成り立ちます。</a:t>
                </a:r>
              </a:p>
            </p:txBody>
          </p:sp>
        </mc:Fallback>
      </mc:AlternateContent>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38</a:t>
            </a:fld>
            <a:endParaRPr kumimoji="1" lang="ja-JP" altLang="en-US"/>
          </a:p>
        </p:txBody>
      </p:sp>
    </p:spTree>
    <p:extLst>
      <p:ext uri="{BB962C8B-B14F-4D97-AF65-F5344CB8AC3E}">
        <p14:creationId xmlns:p14="http://schemas.microsoft.com/office/powerpoint/2010/main" val="77457784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170</a:t>
            </a:r>
          </a:p>
          <a:p>
            <a:endParaRPr kumimoji="1" lang="en-US" altLang="ja-JP" dirty="0"/>
          </a:p>
          <a:p>
            <a:endParaRPr kumimoji="1" lang="en-US" altLang="ja-JP" dirty="0"/>
          </a:p>
          <a:p>
            <a:r>
              <a:rPr kumimoji="1" lang="en-US" altLang="ja-JP" dirty="0"/>
              <a:t>130</a:t>
            </a:r>
          </a:p>
          <a:p>
            <a:endParaRPr kumimoji="1" lang="en-US" altLang="ja-JP" dirty="0"/>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40</a:t>
            </a:fld>
            <a:endParaRPr kumimoji="1" lang="ja-JP" altLang="en-US"/>
          </a:p>
        </p:txBody>
      </p:sp>
    </p:spTree>
    <p:extLst>
      <p:ext uri="{BB962C8B-B14F-4D97-AF65-F5344CB8AC3E}">
        <p14:creationId xmlns:p14="http://schemas.microsoft.com/office/powerpoint/2010/main" val="31630401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３</a:t>
            </a:r>
            <a:r>
              <a:rPr kumimoji="1" lang="en-US" altLang="ja-JP" dirty="0"/>
              <a:t>40</a:t>
            </a:r>
          </a:p>
          <a:p>
            <a:endParaRPr kumimoji="1" lang="en-US" altLang="ja-JP" dirty="0"/>
          </a:p>
          <a:p>
            <a:endParaRPr kumimoji="1" lang="en-US" altLang="ja-JP" dirty="0"/>
          </a:p>
          <a:p>
            <a:r>
              <a:rPr kumimoji="1" lang="en-US" altLang="ja-JP" dirty="0"/>
              <a:t>300</a:t>
            </a:r>
          </a:p>
          <a:p>
            <a:endParaRPr kumimoji="1" lang="en-US" altLang="ja-JP" dirty="0"/>
          </a:p>
          <a:p>
            <a:r>
              <a:rPr kumimoji="1" lang="en-US" altLang="ja-JP" dirty="0"/>
              <a:t>270</a:t>
            </a:r>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41</a:t>
            </a:fld>
            <a:endParaRPr kumimoji="1" lang="ja-JP" altLang="en-US"/>
          </a:p>
        </p:txBody>
      </p:sp>
    </p:spTree>
    <p:extLst>
      <p:ext uri="{BB962C8B-B14F-4D97-AF65-F5344CB8AC3E}">
        <p14:creationId xmlns:p14="http://schemas.microsoft.com/office/powerpoint/2010/main" val="278307066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５</a:t>
            </a:r>
            <a:r>
              <a:rPr kumimoji="1" lang="en-US" altLang="ja-JP" dirty="0"/>
              <a:t>4</a:t>
            </a:r>
            <a:r>
              <a:rPr kumimoji="1" lang="ja-JP" altLang="en-US"/>
              <a:t>０</a:t>
            </a:r>
            <a:endParaRPr kumimoji="1" lang="en-US" altLang="ja-JP" dirty="0"/>
          </a:p>
          <a:p>
            <a:endParaRPr kumimoji="1" lang="en-US" altLang="ja-JP" dirty="0"/>
          </a:p>
          <a:p>
            <a:r>
              <a:rPr kumimoji="1" lang="en-US" altLang="ja-JP" dirty="0"/>
              <a:t>520</a:t>
            </a:r>
          </a:p>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42</a:t>
            </a:fld>
            <a:endParaRPr kumimoji="1" lang="ja-JP" altLang="en-US"/>
          </a:p>
        </p:txBody>
      </p:sp>
    </p:spTree>
    <p:extLst>
      <p:ext uri="{BB962C8B-B14F-4D97-AF65-F5344CB8AC3E}">
        <p14:creationId xmlns:p14="http://schemas.microsoft.com/office/powerpoint/2010/main" val="326604391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６</a:t>
            </a:r>
            <a:r>
              <a:rPr kumimoji="1" lang="en-US" altLang="ja-JP" dirty="0"/>
              <a:t>40</a:t>
            </a:r>
          </a:p>
          <a:p>
            <a:endParaRPr kumimoji="1" lang="en-US" altLang="ja-JP" dirty="0"/>
          </a:p>
          <a:p>
            <a:r>
              <a:rPr kumimoji="1" lang="en-US" altLang="ja-JP" dirty="0"/>
              <a:t>570</a:t>
            </a:r>
          </a:p>
          <a:p>
            <a:endParaRPr kumimoji="1" lang="en-US" altLang="ja-JP" dirty="0"/>
          </a:p>
          <a:p>
            <a:r>
              <a:rPr kumimoji="1" lang="en-US" altLang="ja-JP" dirty="0"/>
              <a:t>510</a:t>
            </a:r>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43</a:t>
            </a:fld>
            <a:endParaRPr kumimoji="1" lang="ja-JP" altLang="en-US"/>
          </a:p>
        </p:txBody>
      </p:sp>
    </p:spTree>
    <p:extLst>
      <p:ext uri="{BB962C8B-B14F-4D97-AF65-F5344CB8AC3E}">
        <p14:creationId xmlns:p14="http://schemas.microsoft.com/office/powerpoint/2010/main" val="135444506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18:</a:t>
            </a:r>
            <a:r>
              <a:rPr kumimoji="1" lang="ja-JP" altLang="en-US"/>
              <a:t>４</a:t>
            </a:r>
            <a:r>
              <a:rPr kumimoji="1" lang="en-US" altLang="ja-JP" dirty="0"/>
              <a:t>0</a:t>
            </a:r>
          </a:p>
          <a:p>
            <a:endParaRPr kumimoji="1" lang="ja-JP" altLang="en-US"/>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44</a:t>
            </a:fld>
            <a:endParaRPr kumimoji="1" lang="ja-JP" altLang="en-US"/>
          </a:p>
        </p:txBody>
      </p:sp>
    </p:spTree>
    <p:extLst>
      <p:ext uri="{BB962C8B-B14F-4D97-AF65-F5344CB8AC3E}">
        <p14:creationId xmlns:p14="http://schemas.microsoft.com/office/powerpoint/2010/main" val="356561919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実験結果は次のようになりました。</a:t>
            </a:r>
            <a:endParaRPr kumimoji="1" lang="en-US" altLang="ja-JP" dirty="0"/>
          </a:p>
          <a:p>
            <a:r>
              <a:rPr kumimoji="1" lang="ja-JP" altLang="en-US"/>
              <a:t>実験結果として、真の因果効果値と推定した因果効果値の平均２乗誤差および推定した因果効果値の標準偏差を求めました。</a:t>
            </a:r>
            <a:endParaRPr kumimoji="1" lang="en-US" altLang="ja-JP" dirty="0"/>
          </a:p>
          <a:p>
            <a:r>
              <a:rPr kumimoji="1" lang="ja-JP" altLang="en-US"/>
              <a:t>赤字の部分が３つの方法の中で、最も精度良く因果効果知の推定を行えた手法となっています。</a:t>
            </a:r>
            <a:endParaRPr kumimoji="1" lang="en-US" altLang="ja-JP" dirty="0"/>
          </a:p>
          <a:p>
            <a:endParaRPr kumimoji="1" lang="en-US" altLang="ja-JP" dirty="0"/>
          </a:p>
          <a:p>
            <a:r>
              <a:rPr kumimoji="1" lang="en-US" altLang="ja-JP" dirty="0"/>
              <a:t>P=</a:t>
            </a:r>
            <a:r>
              <a:rPr kumimoji="1" lang="ja-JP" altLang="en-US"/>
              <a:t>１</a:t>
            </a:r>
            <a:r>
              <a:rPr kumimoji="1" lang="en-US" altLang="ja-JP" dirty="0"/>
              <a:t>0</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まず、傾向スコアモデルおよび結果モデルに関する関数が共に線形である場合このような実験結果となりました。</a:t>
            </a:r>
            <a:endParaRPr kumimoji="1" lang="en-US" altLang="ja-JP" dirty="0"/>
          </a:p>
          <a:p>
            <a:r>
              <a:rPr kumimoji="1" lang="ja-JP" altLang="en-US"/>
              <a:t>このような条件下の場合、提案手法よりも既存手法の方が精度良く因果効果値の推定を行えていました。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45</a:t>
            </a:fld>
            <a:endParaRPr kumimoji="1" lang="ja-JP" altLang="en-US"/>
          </a:p>
        </p:txBody>
      </p:sp>
    </p:spTree>
    <p:extLst>
      <p:ext uri="{BB962C8B-B14F-4D97-AF65-F5344CB8AC3E}">
        <p14:creationId xmlns:p14="http://schemas.microsoft.com/office/powerpoint/2010/main" val="374973815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次に、傾向スコアモデルに関する関数が線形、結果モデルに関する関数が非線形である設定６、７、８はこのような結果となりました。</a:t>
            </a:r>
            <a:endParaRPr kumimoji="1" lang="en-US" altLang="ja-JP" dirty="0"/>
          </a:p>
          <a:p>
            <a:r>
              <a:rPr kumimoji="1" lang="ja-JP" altLang="en-US"/>
              <a:t>このような条件下の場合、既存手法よりも提案手法の方が精度良く因果効果値の推定を行えていました。</a:t>
            </a:r>
          </a:p>
          <a:p>
            <a:endParaRPr kumimoji="1" lang="en-US" altLang="ja-JP" dirty="0"/>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最後に、傾向スコアモデルに関する関数が非線形、結果モデルに関する関数が線形である設定９、１０はこのような結果となりました。</a:t>
            </a:r>
            <a:endParaRPr kumimoji="1" lang="en-US" altLang="ja-JP" dirty="0"/>
          </a:p>
          <a:p>
            <a:r>
              <a:rPr kumimoji="1" lang="ja-JP" altLang="en-US"/>
              <a:t>このような条件下の場合、３つの推定方法による推定結果に大きな差はありませんでした。</a:t>
            </a:r>
            <a:endParaRPr kumimoji="1" lang="en-US" altLang="ja-JP" dirty="0"/>
          </a:p>
          <a:p>
            <a:endParaRPr kumimoji="1" lang="en-US" altLang="ja-JP" dirty="0"/>
          </a:p>
          <a:p>
            <a:r>
              <a:rPr kumimoji="1" lang="ja-JP" altLang="en-US"/>
              <a:t>以上のことから、球共分散を用いて今日変量と結果変数の非線形性を捉えたことおよび球共分散を用いることによってモデルに１次のこうだけではなく２次のこうを含めた場合でも計算可能にすることにより、結果モデルが非線形である場合に既存手法と比べて大きく精度良く推定を行うことができるようになり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46</a:t>
            </a:fld>
            <a:endParaRPr kumimoji="1" lang="ja-JP" altLang="en-US"/>
          </a:p>
        </p:txBody>
      </p:sp>
    </p:spTree>
    <p:extLst>
      <p:ext uri="{BB962C8B-B14F-4D97-AF65-F5344CB8AC3E}">
        <p14:creationId xmlns:p14="http://schemas.microsoft.com/office/powerpoint/2010/main" val="190001535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実験結果は次のようになりました。</a:t>
            </a:r>
            <a:endParaRPr kumimoji="1" lang="en-US" altLang="ja-JP" dirty="0"/>
          </a:p>
          <a:p>
            <a:r>
              <a:rPr kumimoji="1" lang="ja-JP" altLang="en-US"/>
              <a:t>実験結果として、真の因果効果値と推定した因果効果値の平均２乗誤差および推定した因果効果値の標準偏差を求めました。</a:t>
            </a:r>
            <a:endParaRPr kumimoji="1" lang="en-US" altLang="ja-JP" dirty="0"/>
          </a:p>
          <a:p>
            <a:r>
              <a:rPr kumimoji="1" lang="ja-JP" altLang="en-US"/>
              <a:t>赤字の部分が３つの方法の中で、最も精度良く因果効果知の推定を行えた手法となっています。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まず、傾向スコアモデルおよび結果モデルに関する関数が共に線形である場合このような実験結果となりました。</a:t>
            </a:r>
            <a:endParaRPr kumimoji="1" lang="en-US" altLang="ja-JP" dirty="0"/>
          </a:p>
          <a:p>
            <a:r>
              <a:rPr kumimoji="1" lang="ja-JP" altLang="en-US"/>
              <a:t>このような条件下の場合、提案手法よりも既存手法の方が精度良く因果効果値の推定を行えていました。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47</a:t>
            </a:fld>
            <a:endParaRPr kumimoji="1" lang="ja-JP" altLang="en-US"/>
          </a:p>
        </p:txBody>
      </p:sp>
    </p:spTree>
    <p:extLst>
      <p:ext uri="{BB962C8B-B14F-4D97-AF65-F5344CB8AC3E}">
        <p14:creationId xmlns:p14="http://schemas.microsoft.com/office/powerpoint/2010/main" val="113452193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次に、傾向スコアモデルに関する関数が線形、結果モデルに関する関数が非線形である設定６、７、８はこのような結果となりました。</a:t>
            </a:r>
            <a:endParaRPr kumimoji="1" lang="en-US" altLang="ja-JP" dirty="0"/>
          </a:p>
          <a:p>
            <a:r>
              <a:rPr kumimoji="1" lang="ja-JP" altLang="en-US"/>
              <a:t>このような条件下の場合、既存手法よりも提案手法の方が精度良く因果効果値の推定を行えていました。</a:t>
            </a:r>
          </a:p>
          <a:p>
            <a:endParaRPr kumimoji="1" lang="en-US" altLang="ja-JP" dirty="0"/>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最後に、傾向スコアモデルに関する関数が非線形、結果モデルに関する関数が線形である設定９、１０はこのような結果となりました。</a:t>
            </a:r>
            <a:endParaRPr kumimoji="1" lang="en-US" altLang="ja-JP" dirty="0"/>
          </a:p>
          <a:p>
            <a:r>
              <a:rPr kumimoji="1" lang="ja-JP" altLang="en-US"/>
              <a:t>このような条件下の場合、３つの推定方法による推定結果に大きな差はありませんでした。</a:t>
            </a:r>
            <a:endParaRPr kumimoji="1" lang="en-US" altLang="ja-JP" dirty="0"/>
          </a:p>
          <a:p>
            <a:endParaRPr kumimoji="1" lang="en-US" altLang="ja-JP" dirty="0"/>
          </a:p>
          <a:p>
            <a:r>
              <a:rPr kumimoji="1" lang="ja-JP" altLang="en-US"/>
              <a:t>以上のことから、球共分散を用いて今日変量と結果変数の非線形性を捉えたことおよび球共分散を用いることによってモデルに１次のこうだけではなく２次のこうを含めた場合でも計算可能にすることにより、結果モデルが非線形である場合に既存手法と比べて大きく精度良く推定を行うことができるようになり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48</a:t>
            </a:fld>
            <a:endParaRPr kumimoji="1" lang="ja-JP" altLang="en-US"/>
          </a:p>
        </p:txBody>
      </p:sp>
    </p:spTree>
    <p:extLst>
      <p:ext uri="{BB962C8B-B14F-4D97-AF65-F5344CB8AC3E}">
        <p14:creationId xmlns:p14="http://schemas.microsoft.com/office/powerpoint/2010/main" val="324655560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実験結果は次のようになりました。</a:t>
            </a:r>
            <a:endParaRPr kumimoji="1" lang="en-US" altLang="ja-JP" dirty="0"/>
          </a:p>
          <a:p>
            <a:r>
              <a:rPr kumimoji="1" lang="ja-JP" altLang="en-US"/>
              <a:t>実験結果として、真の因果効果値と推定した因果効果値の平均２乗誤差および推定した因果効果値の標準偏差を求めました。</a:t>
            </a:r>
            <a:endParaRPr kumimoji="1" lang="en-US" altLang="ja-JP" dirty="0"/>
          </a:p>
          <a:p>
            <a:r>
              <a:rPr kumimoji="1" lang="ja-JP" altLang="en-US"/>
              <a:t>赤字の部分が３つの方法の中で、最も精度良く因果効果知の推定を行えた手法となっています。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まず、傾向スコアモデルおよび結果モデルに関する関数が共に線形である場合このような実験結果となりました。</a:t>
            </a:r>
            <a:endParaRPr kumimoji="1" lang="en-US" altLang="ja-JP" dirty="0"/>
          </a:p>
          <a:p>
            <a:r>
              <a:rPr kumimoji="1" lang="ja-JP" altLang="en-US"/>
              <a:t>このような条件下の場合、提案手法よりも既存手法の方が精度良く因果効果値の推定を行えていました。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49</a:t>
            </a:fld>
            <a:endParaRPr kumimoji="1" lang="ja-JP" altLang="en-US"/>
          </a:p>
        </p:txBody>
      </p:sp>
    </p:spTree>
    <p:extLst>
      <p:ext uri="{BB962C8B-B14F-4D97-AF65-F5344CB8AC3E}">
        <p14:creationId xmlns:p14="http://schemas.microsoft.com/office/powerpoint/2010/main" val="425034110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次に、傾向スコアモデルに関する関数が線形、結果モデルに関する関数が非線形である設定６、７、８はこのような結果となりました。</a:t>
            </a:r>
            <a:endParaRPr kumimoji="1" lang="en-US" altLang="ja-JP" dirty="0"/>
          </a:p>
          <a:p>
            <a:r>
              <a:rPr kumimoji="1" lang="ja-JP" altLang="en-US"/>
              <a:t>このような条件下の場合、既存手法よりも提案手法の方が精度良く因果効果値の推定を行えていました。</a:t>
            </a:r>
          </a:p>
          <a:p>
            <a:endParaRPr kumimoji="1" lang="en-US" altLang="ja-JP" dirty="0"/>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最後に、傾向スコアモデルに関する関数が非線形、結果モデルに関する関数が線形である設定９、１０はこのような結果となりました。</a:t>
            </a:r>
            <a:endParaRPr kumimoji="1" lang="en-US" altLang="ja-JP" dirty="0"/>
          </a:p>
          <a:p>
            <a:r>
              <a:rPr kumimoji="1" lang="ja-JP" altLang="en-US"/>
              <a:t>このような条件下の場合、３つの推定方法による推定結果に大きな差はありませんでした。</a:t>
            </a:r>
            <a:endParaRPr kumimoji="1" lang="en-US" altLang="ja-JP" dirty="0"/>
          </a:p>
          <a:p>
            <a:endParaRPr kumimoji="1" lang="en-US" altLang="ja-JP" dirty="0"/>
          </a:p>
          <a:p>
            <a:r>
              <a:rPr kumimoji="1" lang="ja-JP" altLang="en-US"/>
              <a:t>以上のことから、球共分散を用いて今日変量と結果変数の非線形性を捉えたことおよび球共分散を用いることによってモデルに１次のこうだけではなく２次のこうを含めた場合でも計算可能にすることにより、結果モデルが非線形である場合に既存手法と比べて大きく精度良く推定を行うことができるようになり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50</a:t>
            </a:fld>
            <a:endParaRPr kumimoji="1" lang="ja-JP" altLang="en-US"/>
          </a:p>
        </p:txBody>
      </p:sp>
    </p:spTree>
    <p:extLst>
      <p:ext uri="{BB962C8B-B14F-4D97-AF65-F5344CB8AC3E}">
        <p14:creationId xmlns:p14="http://schemas.microsoft.com/office/powerpoint/2010/main" val="36463069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実験結果は次のようになりました。</a:t>
            </a:r>
            <a:endParaRPr kumimoji="1" lang="en-US" altLang="ja-JP" dirty="0"/>
          </a:p>
          <a:p>
            <a:r>
              <a:rPr kumimoji="1" lang="ja-JP" altLang="en-US"/>
              <a:t>実験結果として、真の因果効果値と推定した因果効果値の平均２乗誤差および推定した因果効果値の標準偏差を求めました。</a:t>
            </a:r>
            <a:endParaRPr kumimoji="1" lang="en-US" altLang="ja-JP" dirty="0"/>
          </a:p>
          <a:p>
            <a:r>
              <a:rPr kumimoji="1" lang="ja-JP" altLang="en-US"/>
              <a:t>赤字の部分が３つの方法の中で、最も精度良く因果効果知の推定を行えた手法となっています。</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まず、傾向スコアモデルおよび結果モデルに関する関数が共に線形である場合このような実験結果となりました。</a:t>
            </a:r>
            <a:endParaRPr kumimoji="1" lang="en-US" altLang="ja-JP" dirty="0"/>
          </a:p>
          <a:p>
            <a:r>
              <a:rPr kumimoji="1" lang="ja-JP" altLang="en-US"/>
              <a:t>このような条件下の場合、提案手法よりも既存手法の方が精度良く因果効果値の推定を行えていました。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51</a:t>
            </a:fld>
            <a:endParaRPr kumimoji="1" lang="ja-JP" altLang="en-US"/>
          </a:p>
        </p:txBody>
      </p:sp>
    </p:spTree>
    <p:extLst>
      <p:ext uri="{BB962C8B-B14F-4D97-AF65-F5344CB8AC3E}">
        <p14:creationId xmlns:p14="http://schemas.microsoft.com/office/powerpoint/2010/main" val="101331260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次に、傾向スコアモデルに関する関数が線形、結果モデルに関する関数が非線形である設定６、７、８はこのような結果となりました。</a:t>
            </a:r>
            <a:endParaRPr kumimoji="1" lang="en-US" altLang="ja-JP" dirty="0"/>
          </a:p>
          <a:p>
            <a:r>
              <a:rPr kumimoji="1" lang="ja-JP" altLang="en-US"/>
              <a:t>このような条件下の場合、既存手法よりも提案手法の方が精度良く因果効果値の推定を行えていました。</a:t>
            </a:r>
          </a:p>
          <a:p>
            <a:endParaRPr kumimoji="1" lang="en-US" altLang="ja-JP" dirty="0"/>
          </a:p>
          <a:p>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a:t>最後に、傾向スコアモデルに関する関数が非線形、結果モデルに関する関数が線形である設定９、１０はこのような結果となりました。</a:t>
            </a:r>
            <a:endParaRPr kumimoji="1" lang="en-US" altLang="ja-JP" dirty="0"/>
          </a:p>
          <a:p>
            <a:r>
              <a:rPr kumimoji="1" lang="ja-JP" altLang="en-US"/>
              <a:t>このような条件下の場合、３つの推定方法による推定結果に大きな差はありませんでした。</a:t>
            </a:r>
            <a:endParaRPr kumimoji="1" lang="en-US" altLang="ja-JP" dirty="0"/>
          </a:p>
          <a:p>
            <a:endParaRPr kumimoji="1" lang="en-US" altLang="ja-JP" dirty="0"/>
          </a:p>
          <a:p>
            <a:r>
              <a:rPr kumimoji="1" lang="ja-JP" altLang="en-US"/>
              <a:t>以上のことから、球共分散を用いて今日変量と結果変数の非線形性を捉えたことおよび球共分散を用いることによってモデルに１次のこうだけではなく２次のこうを含めた場合でも計算可能にすることにより、結果モデルが非線形である場合に既存手法と比べて大きく精度良く推定を行うことができるようになりました</a:t>
            </a:r>
          </a:p>
        </p:txBody>
      </p:sp>
      <p:sp>
        <p:nvSpPr>
          <p:cNvPr id="4" name="スライド番号プレースホルダー 3"/>
          <p:cNvSpPr>
            <a:spLocks noGrp="1"/>
          </p:cNvSpPr>
          <p:nvPr>
            <p:ph type="sldNum" sz="quarter" idx="5"/>
          </p:nvPr>
        </p:nvSpPr>
        <p:spPr/>
        <p:txBody>
          <a:bodyPr/>
          <a:lstStyle/>
          <a:p>
            <a:fld id="{A54612E2-97D9-754F-8743-8E67D0375EB8}" type="slidenum">
              <a:rPr kumimoji="1" lang="ja-JP" altLang="en-US" smtClean="0"/>
              <a:t>52</a:t>
            </a:fld>
            <a:endParaRPr kumimoji="1" lang="ja-JP" altLang="en-US"/>
          </a:p>
        </p:txBody>
      </p:sp>
    </p:spTree>
    <p:extLst>
      <p:ext uri="{BB962C8B-B14F-4D97-AF65-F5344CB8AC3E}">
        <p14:creationId xmlns:p14="http://schemas.microsoft.com/office/powerpoint/2010/main" val="265423936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色付けした部分の説明</a:t>
            </a:r>
          </a:p>
        </p:txBody>
      </p:sp>
      <p:sp>
        <p:nvSpPr>
          <p:cNvPr id="4" name="スライド番号プレースホルダー 3"/>
          <p:cNvSpPr>
            <a:spLocks noGrp="1"/>
          </p:cNvSpPr>
          <p:nvPr>
            <p:ph type="sldNum" sz="quarter" idx="5"/>
          </p:nvPr>
        </p:nvSpPr>
        <p:spPr/>
        <p:txBody>
          <a:bodyPr/>
          <a:lstStyle/>
          <a:p>
            <a:fld id="{4EE6ADC3-84F0-674D-838E-6D0EA1EBA505}" type="slidenum">
              <a:rPr kumimoji="1" lang="ja-JP" altLang="en-US" smtClean="0"/>
              <a:t>54</a:t>
            </a:fld>
            <a:endParaRPr kumimoji="1" lang="ja-JP" altLang="en-US"/>
          </a:p>
        </p:txBody>
      </p:sp>
    </p:spTree>
    <p:extLst>
      <p:ext uri="{BB962C8B-B14F-4D97-AF65-F5344CB8AC3E}">
        <p14:creationId xmlns:p14="http://schemas.microsoft.com/office/powerpoint/2010/main" val="231564212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4EE6ADC3-84F0-674D-838E-6D0EA1EBA505}" type="slidenum">
              <a:rPr kumimoji="1" lang="ja-JP" altLang="en-US" smtClean="0"/>
              <a:t>80</a:t>
            </a:fld>
            <a:endParaRPr kumimoji="1" lang="ja-JP" altLang="en-US"/>
          </a:p>
        </p:txBody>
      </p:sp>
    </p:spTree>
    <p:extLst>
      <p:ext uri="{BB962C8B-B14F-4D97-AF65-F5344CB8AC3E}">
        <p14:creationId xmlns:p14="http://schemas.microsoft.com/office/powerpoint/2010/main" val="190764529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4EE6ADC3-84F0-674D-838E-6D0EA1EBA505}" type="slidenum">
              <a:rPr kumimoji="1" lang="ja-JP" altLang="en-US" smtClean="0"/>
              <a:t>81</a:t>
            </a:fld>
            <a:endParaRPr kumimoji="1" lang="ja-JP" altLang="en-US"/>
          </a:p>
        </p:txBody>
      </p:sp>
    </p:spTree>
    <p:extLst>
      <p:ext uri="{BB962C8B-B14F-4D97-AF65-F5344CB8AC3E}">
        <p14:creationId xmlns:p14="http://schemas.microsoft.com/office/powerpoint/2010/main" val="120409074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C594B7C-2EE7-D561-1516-1B0B34E2C573}"/>
              </a:ext>
            </a:extLst>
          </p:cNvPr>
          <p:cNvSpPr>
            <a:spLocks noGrp="1"/>
          </p:cNvSpPr>
          <p:nvPr>
            <p:ph type="ctrTitle"/>
          </p:nvPr>
        </p:nvSpPr>
        <p:spPr>
          <a:xfrm>
            <a:off x="1524000" y="1122363"/>
            <a:ext cx="9144000" cy="2387600"/>
          </a:xfrm>
        </p:spPr>
        <p:txBody>
          <a:bodyPr anchor="b"/>
          <a:lstStyle>
            <a:lvl1pPr algn="ctr">
              <a:defRPr sz="6000"/>
            </a:lvl1pPr>
          </a:lstStyle>
          <a:p>
            <a:r>
              <a:rPr kumimoji="1" lang="ja-JP" altLang="en-US"/>
              <a:t>マスター タイトルの書式設定</a:t>
            </a:r>
          </a:p>
        </p:txBody>
      </p:sp>
      <p:sp>
        <p:nvSpPr>
          <p:cNvPr id="3" name="字幕 2">
            <a:extLst>
              <a:ext uri="{FF2B5EF4-FFF2-40B4-BE49-F238E27FC236}">
                <a16:creationId xmlns:a16="http://schemas.microsoft.com/office/drawing/2014/main" id="{DDC2C3AD-77C0-6ACB-C13A-5F7DF1B710B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ja-JP" altLang="en-US"/>
              <a:t>マスター サブタイトルの書式設定</a:t>
            </a:r>
          </a:p>
        </p:txBody>
      </p:sp>
      <p:sp>
        <p:nvSpPr>
          <p:cNvPr id="4" name="日付プレースホルダー 3">
            <a:extLst>
              <a:ext uri="{FF2B5EF4-FFF2-40B4-BE49-F238E27FC236}">
                <a16:creationId xmlns:a16="http://schemas.microsoft.com/office/drawing/2014/main" id="{D0658CA3-D6BF-52B1-68E4-107165447C3A}"/>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5" name="フッター プレースホルダー 4">
            <a:extLst>
              <a:ext uri="{FF2B5EF4-FFF2-40B4-BE49-F238E27FC236}">
                <a16:creationId xmlns:a16="http://schemas.microsoft.com/office/drawing/2014/main" id="{B752445B-4C7D-EA7E-5260-F71381E9B8D8}"/>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55B5509A-9BF7-86C7-36D0-354FD32BE0CA}"/>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35187425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B6D28591-22F8-1061-4A2A-5C32FA4FEE6B}"/>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7B3C8300-1011-9AAF-898E-6AF6B7439293}"/>
              </a:ext>
            </a:extLst>
          </p:cNvPr>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BE9EF6C2-44C7-14E0-5DA4-A0AEE535A4E3}"/>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5" name="フッター プレースホルダー 4">
            <a:extLst>
              <a:ext uri="{FF2B5EF4-FFF2-40B4-BE49-F238E27FC236}">
                <a16:creationId xmlns:a16="http://schemas.microsoft.com/office/drawing/2014/main" id="{8159012C-B369-F8EE-715B-4BD5AE58A3D8}"/>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28022856-9CDE-3767-78E6-431EF82A50AC}"/>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272799798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867CB6D-1D24-A376-92AD-360331A1B40B}"/>
              </a:ext>
            </a:extLst>
          </p:cNvPr>
          <p:cNvSpPr>
            <a:spLocks noGrp="1"/>
          </p:cNvSpPr>
          <p:nvPr>
            <p:ph type="title"/>
          </p:nvPr>
        </p:nvSpPr>
        <p:spPr>
          <a:xfrm>
            <a:off x="831850" y="1709738"/>
            <a:ext cx="10515600" cy="2852737"/>
          </a:xfrm>
        </p:spPr>
        <p:txBody>
          <a:bodyPr anchor="b"/>
          <a:lstStyle>
            <a:lvl1pPr>
              <a:defRPr sz="6000"/>
            </a:lvl1p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44412928-E107-38DA-D8D3-BAD5FDE3E086}"/>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kumimoji="1" lang="ja-JP" altLang="en-US"/>
              <a:t>マスター テキストの書式設定</a:t>
            </a:r>
          </a:p>
        </p:txBody>
      </p:sp>
      <p:sp>
        <p:nvSpPr>
          <p:cNvPr id="4" name="日付プレースホルダー 3">
            <a:extLst>
              <a:ext uri="{FF2B5EF4-FFF2-40B4-BE49-F238E27FC236}">
                <a16:creationId xmlns:a16="http://schemas.microsoft.com/office/drawing/2014/main" id="{0BE872DD-AC7D-5DB1-4107-0B7B1C620AFF}"/>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5" name="フッター プレースホルダー 4">
            <a:extLst>
              <a:ext uri="{FF2B5EF4-FFF2-40B4-BE49-F238E27FC236}">
                <a16:creationId xmlns:a16="http://schemas.microsoft.com/office/drawing/2014/main" id="{9501CFD7-9629-9C20-484F-55DBD810DD72}"/>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36AB631D-3EA1-06E8-6110-620C6EEFF558}"/>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105160790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E97654E1-952F-5C25-6559-F8D582EB5AFB}"/>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9C28A137-2BD8-F23C-8E50-3E693E7F63B6}"/>
              </a:ext>
            </a:extLst>
          </p:cNvPr>
          <p:cNvSpPr>
            <a:spLocks noGrp="1"/>
          </p:cNvSpPr>
          <p:nvPr>
            <p:ph sz="half" idx="1"/>
          </p:nvPr>
        </p:nvSpPr>
        <p:spPr>
          <a:xfrm>
            <a:off x="838200" y="1825625"/>
            <a:ext cx="518160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a:extLst>
              <a:ext uri="{FF2B5EF4-FFF2-40B4-BE49-F238E27FC236}">
                <a16:creationId xmlns:a16="http://schemas.microsoft.com/office/drawing/2014/main" id="{057400B5-3F9F-BE7D-E74B-C441BD6D9629}"/>
              </a:ext>
            </a:extLst>
          </p:cNvPr>
          <p:cNvSpPr>
            <a:spLocks noGrp="1"/>
          </p:cNvSpPr>
          <p:nvPr>
            <p:ph sz="half" idx="2"/>
          </p:nvPr>
        </p:nvSpPr>
        <p:spPr>
          <a:xfrm>
            <a:off x="6172200" y="1825625"/>
            <a:ext cx="518160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a:extLst>
              <a:ext uri="{FF2B5EF4-FFF2-40B4-BE49-F238E27FC236}">
                <a16:creationId xmlns:a16="http://schemas.microsoft.com/office/drawing/2014/main" id="{F0D66299-4DFA-21AE-4681-D9961B60F8A8}"/>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6" name="フッター プレースホルダー 5">
            <a:extLst>
              <a:ext uri="{FF2B5EF4-FFF2-40B4-BE49-F238E27FC236}">
                <a16:creationId xmlns:a16="http://schemas.microsoft.com/office/drawing/2014/main" id="{28373B13-9626-E9CE-0B63-4D01EAF4224B}"/>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30B62670-7FFD-6209-46EE-E1D2204603BC}"/>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152101947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0C6D7C5D-31E3-3C82-A2F2-1AD5093F550C}"/>
              </a:ext>
            </a:extLst>
          </p:cNvPr>
          <p:cNvSpPr>
            <a:spLocks noGrp="1"/>
          </p:cNvSpPr>
          <p:nvPr>
            <p:ph type="title"/>
          </p:nvPr>
        </p:nvSpPr>
        <p:spPr>
          <a:xfrm>
            <a:off x="839788" y="365125"/>
            <a:ext cx="10515600" cy="1325563"/>
          </a:xfrm>
        </p:spPr>
        <p:txBody>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2ABD881D-6C28-A05D-D82C-7C6E4AFBACA8}"/>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4" name="コンテンツ プレースホルダー 3">
            <a:extLst>
              <a:ext uri="{FF2B5EF4-FFF2-40B4-BE49-F238E27FC236}">
                <a16:creationId xmlns:a16="http://schemas.microsoft.com/office/drawing/2014/main" id="{710A9643-5448-8F18-4AA7-CF79ACAA85EC}"/>
              </a:ext>
            </a:extLst>
          </p:cNvPr>
          <p:cNvSpPr>
            <a:spLocks noGrp="1"/>
          </p:cNvSpPr>
          <p:nvPr>
            <p:ph sz="half" idx="2"/>
          </p:nvPr>
        </p:nvSpPr>
        <p:spPr>
          <a:xfrm>
            <a:off x="839788" y="2505075"/>
            <a:ext cx="5157787"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a:extLst>
              <a:ext uri="{FF2B5EF4-FFF2-40B4-BE49-F238E27FC236}">
                <a16:creationId xmlns:a16="http://schemas.microsoft.com/office/drawing/2014/main" id="{3A47A415-51F6-64ED-576D-D7334DCE94A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6" name="コンテンツ プレースホルダー 5">
            <a:extLst>
              <a:ext uri="{FF2B5EF4-FFF2-40B4-BE49-F238E27FC236}">
                <a16:creationId xmlns:a16="http://schemas.microsoft.com/office/drawing/2014/main" id="{9D5AF830-6460-B9C8-4B9B-998CE75BDF1F}"/>
              </a:ext>
            </a:extLst>
          </p:cNvPr>
          <p:cNvSpPr>
            <a:spLocks noGrp="1"/>
          </p:cNvSpPr>
          <p:nvPr>
            <p:ph sz="quarter" idx="4"/>
          </p:nvPr>
        </p:nvSpPr>
        <p:spPr>
          <a:xfrm>
            <a:off x="6172200" y="2505075"/>
            <a:ext cx="5183188"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a:extLst>
              <a:ext uri="{FF2B5EF4-FFF2-40B4-BE49-F238E27FC236}">
                <a16:creationId xmlns:a16="http://schemas.microsoft.com/office/drawing/2014/main" id="{555147E9-73C1-2A01-C54F-C8D2A205C11C}"/>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8" name="フッター プレースホルダー 7">
            <a:extLst>
              <a:ext uri="{FF2B5EF4-FFF2-40B4-BE49-F238E27FC236}">
                <a16:creationId xmlns:a16="http://schemas.microsoft.com/office/drawing/2014/main" id="{A9E2089B-DDED-5EE2-2E0B-7AE343094276}"/>
              </a:ext>
            </a:extLst>
          </p:cNvPr>
          <p:cNvSpPr>
            <a:spLocks noGrp="1"/>
          </p:cNvSpPr>
          <p:nvPr>
            <p:ph type="ftr" sz="quarter" idx="11"/>
          </p:nvPr>
        </p:nvSpPr>
        <p:spPr/>
        <p:txBody>
          <a:bodyPr/>
          <a:lstStyle/>
          <a:p>
            <a:endParaRPr kumimoji="1" lang="ja-JP" altLang="en-US"/>
          </a:p>
        </p:txBody>
      </p:sp>
      <p:sp>
        <p:nvSpPr>
          <p:cNvPr id="9" name="スライド番号プレースホルダー 8">
            <a:extLst>
              <a:ext uri="{FF2B5EF4-FFF2-40B4-BE49-F238E27FC236}">
                <a16:creationId xmlns:a16="http://schemas.microsoft.com/office/drawing/2014/main" id="{A7744947-1EA3-38B9-88F3-9DF96FDC740C}"/>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43939854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B4BA37B2-FB45-1FA2-F5C6-D492E2507B88}"/>
              </a:ext>
            </a:extLst>
          </p:cNvPr>
          <p:cNvSpPr>
            <a:spLocks noGrp="1"/>
          </p:cNvSpPr>
          <p:nvPr>
            <p:ph type="title"/>
          </p:nvPr>
        </p:nvSpPr>
        <p:spPr/>
        <p:txBody>
          <a:bodyPr/>
          <a:lstStyle/>
          <a:p>
            <a:r>
              <a:rPr kumimoji="1" lang="ja-JP" altLang="en-US"/>
              <a:t>マスター タイトルの書式設定</a:t>
            </a:r>
          </a:p>
        </p:txBody>
      </p:sp>
      <p:sp>
        <p:nvSpPr>
          <p:cNvPr id="3" name="日付プレースホルダー 2">
            <a:extLst>
              <a:ext uri="{FF2B5EF4-FFF2-40B4-BE49-F238E27FC236}">
                <a16:creationId xmlns:a16="http://schemas.microsoft.com/office/drawing/2014/main" id="{1FAC4589-0BFB-850D-9250-B58880E9A414}"/>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4" name="フッター プレースホルダー 3">
            <a:extLst>
              <a:ext uri="{FF2B5EF4-FFF2-40B4-BE49-F238E27FC236}">
                <a16:creationId xmlns:a16="http://schemas.microsoft.com/office/drawing/2014/main" id="{91049218-0DA8-CD65-DFFA-C96FF7F26F6D}"/>
              </a:ext>
            </a:extLst>
          </p:cNvPr>
          <p:cNvSpPr>
            <a:spLocks noGrp="1"/>
          </p:cNvSpPr>
          <p:nvPr>
            <p:ph type="ftr" sz="quarter" idx="11"/>
          </p:nvPr>
        </p:nvSpPr>
        <p:spPr/>
        <p:txBody>
          <a:bodyPr/>
          <a:lstStyle/>
          <a:p>
            <a:endParaRPr kumimoji="1" lang="ja-JP" altLang="en-US"/>
          </a:p>
        </p:txBody>
      </p:sp>
      <p:sp>
        <p:nvSpPr>
          <p:cNvPr id="5" name="スライド番号プレースホルダー 4">
            <a:extLst>
              <a:ext uri="{FF2B5EF4-FFF2-40B4-BE49-F238E27FC236}">
                <a16:creationId xmlns:a16="http://schemas.microsoft.com/office/drawing/2014/main" id="{C1AFFCA5-279C-82DD-E3DE-966DAF473159}"/>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335961859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a:extLst>
              <a:ext uri="{FF2B5EF4-FFF2-40B4-BE49-F238E27FC236}">
                <a16:creationId xmlns:a16="http://schemas.microsoft.com/office/drawing/2014/main" id="{17893561-344B-A417-BB17-98F5738D6C33}"/>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3" name="フッター プレースホルダー 2">
            <a:extLst>
              <a:ext uri="{FF2B5EF4-FFF2-40B4-BE49-F238E27FC236}">
                <a16:creationId xmlns:a16="http://schemas.microsoft.com/office/drawing/2014/main" id="{BEFFDA95-D59A-56DA-603F-29B9096B40A6}"/>
              </a:ext>
            </a:extLst>
          </p:cNvPr>
          <p:cNvSpPr>
            <a:spLocks noGrp="1"/>
          </p:cNvSpPr>
          <p:nvPr>
            <p:ph type="ftr" sz="quarter" idx="1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01B9854E-B1D4-8BEC-2934-A51508517962}"/>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40685646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1837301-6969-19C1-E1C9-297C1010F2DD}"/>
              </a:ext>
            </a:extLst>
          </p:cNvPr>
          <p:cNvSpPr>
            <a:spLocks noGrp="1"/>
          </p:cNvSpPr>
          <p:nvPr>
            <p:ph type="title"/>
          </p:nvPr>
        </p:nvSpPr>
        <p:spPr>
          <a:xfrm>
            <a:off x="839788" y="457200"/>
            <a:ext cx="3932237" cy="1600200"/>
          </a:xfrm>
        </p:spPr>
        <p:txBody>
          <a:bodyPr anchor="b"/>
          <a:lstStyle>
            <a:lvl1pPr>
              <a:defRPr sz="3200"/>
            </a:lvl1p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C4D08F49-CD3E-E7FF-A892-8BAB11710E5C}"/>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a:extLst>
              <a:ext uri="{FF2B5EF4-FFF2-40B4-BE49-F238E27FC236}">
                <a16:creationId xmlns:a16="http://schemas.microsoft.com/office/drawing/2014/main" id="{2A5A7065-900B-4A70-DF54-56C3888E566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53DC6C9B-6E6D-9A45-A845-37B6D4ADC3DA}"/>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6" name="フッター プレースホルダー 5">
            <a:extLst>
              <a:ext uri="{FF2B5EF4-FFF2-40B4-BE49-F238E27FC236}">
                <a16:creationId xmlns:a16="http://schemas.microsoft.com/office/drawing/2014/main" id="{C14A81E1-5159-2036-F285-7C6A77603AEE}"/>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8C395C80-2B7C-845C-AC7F-A9E7DBE84952}"/>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285843727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B0CA4EC-7F20-3293-93FB-6612D9E8697D}"/>
              </a:ext>
            </a:extLst>
          </p:cNvPr>
          <p:cNvSpPr>
            <a:spLocks noGrp="1"/>
          </p:cNvSpPr>
          <p:nvPr>
            <p:ph type="title"/>
          </p:nvPr>
        </p:nvSpPr>
        <p:spPr>
          <a:xfrm>
            <a:off x="839788" y="457200"/>
            <a:ext cx="3932237" cy="1600200"/>
          </a:xfrm>
        </p:spPr>
        <p:txBody>
          <a:bodyPr anchor="b"/>
          <a:lstStyle>
            <a:lvl1pPr>
              <a:defRPr sz="3200"/>
            </a:lvl1pPr>
          </a:lstStyle>
          <a:p>
            <a:r>
              <a:rPr kumimoji="1" lang="ja-JP" altLang="en-US"/>
              <a:t>マスター タイトルの書式設定</a:t>
            </a:r>
          </a:p>
        </p:txBody>
      </p:sp>
      <p:sp>
        <p:nvSpPr>
          <p:cNvPr id="3" name="図プレースホルダー 2">
            <a:extLst>
              <a:ext uri="{FF2B5EF4-FFF2-40B4-BE49-F238E27FC236}">
                <a16:creationId xmlns:a16="http://schemas.microsoft.com/office/drawing/2014/main" id="{A076D71D-336D-EE12-5DC5-DC1F73D793ED}"/>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a:extLst>
              <a:ext uri="{FF2B5EF4-FFF2-40B4-BE49-F238E27FC236}">
                <a16:creationId xmlns:a16="http://schemas.microsoft.com/office/drawing/2014/main" id="{23DF4061-074D-AAEF-2633-06FE2378A88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C1CECA50-25DA-0E8B-F86A-DB4CF5210D8C}"/>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6" name="フッター プレースホルダー 5">
            <a:extLst>
              <a:ext uri="{FF2B5EF4-FFF2-40B4-BE49-F238E27FC236}">
                <a16:creationId xmlns:a16="http://schemas.microsoft.com/office/drawing/2014/main" id="{14B49762-3D54-301A-5D82-66B0F6C95F7D}"/>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C042E153-5065-6D79-78AF-FF601D45397B}"/>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11589194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0848518-BB09-ECCD-8E9C-A17A9FAA7A02}"/>
              </a:ext>
            </a:extLst>
          </p:cNvPr>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B2727A6C-6602-D1AD-DB2A-6CF2C22CDC43}"/>
              </a:ext>
            </a:extLst>
          </p:cNvPr>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89F572C5-FE93-991A-87A5-957605F64B98}"/>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5" name="フッター プレースホルダー 4">
            <a:extLst>
              <a:ext uri="{FF2B5EF4-FFF2-40B4-BE49-F238E27FC236}">
                <a16:creationId xmlns:a16="http://schemas.microsoft.com/office/drawing/2014/main" id="{FA0C4A7C-05C8-98D1-0D95-E013CAD97741}"/>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00471959-B17C-0927-43F1-8FED3865A1EB}"/>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36606132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a:extLst>
              <a:ext uri="{FF2B5EF4-FFF2-40B4-BE49-F238E27FC236}">
                <a16:creationId xmlns:a16="http://schemas.microsoft.com/office/drawing/2014/main" id="{AA4534EC-4618-C897-2248-D0C62930DA28}"/>
              </a:ext>
            </a:extLst>
          </p:cNvPr>
          <p:cNvSpPr>
            <a:spLocks noGrp="1"/>
          </p:cNvSpPr>
          <p:nvPr>
            <p:ph type="title" orient="vert"/>
          </p:nvPr>
        </p:nvSpPr>
        <p:spPr>
          <a:xfrm>
            <a:off x="8724900" y="365125"/>
            <a:ext cx="2628900" cy="5811838"/>
          </a:xfrm>
        </p:spPr>
        <p:txBody>
          <a:bodyPr vert="eaVert"/>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B2E4D81B-601A-F1FC-F1C6-76AADB00359B}"/>
              </a:ext>
            </a:extLst>
          </p:cNvPr>
          <p:cNvSpPr>
            <a:spLocks noGrp="1"/>
          </p:cNvSpPr>
          <p:nvPr>
            <p:ph type="body" orient="vert" idx="1"/>
          </p:nvPr>
        </p:nvSpPr>
        <p:spPr>
          <a:xfrm>
            <a:off x="838200" y="365125"/>
            <a:ext cx="7734300" cy="5811838"/>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DD1D9B0C-6082-0C8F-0BAB-8FA4956E9291}"/>
              </a:ext>
            </a:extLst>
          </p:cNvPr>
          <p:cNvSpPr>
            <a:spLocks noGrp="1"/>
          </p:cNvSpPr>
          <p:nvPr>
            <p:ph type="dt" sz="half" idx="10"/>
          </p:nvPr>
        </p:nvSpPr>
        <p:spPr/>
        <p:txBody>
          <a:bodyPr/>
          <a:lstStyle/>
          <a:p>
            <a:fld id="{0A81B9C5-CECB-184C-B07C-AAE5A0D3437F}" type="datetimeFigureOut">
              <a:rPr kumimoji="1" lang="ja-JP" altLang="en-US" smtClean="0"/>
              <a:t>2024/1/24</a:t>
            </a:fld>
            <a:endParaRPr kumimoji="1" lang="ja-JP" altLang="en-US"/>
          </a:p>
        </p:txBody>
      </p:sp>
      <p:sp>
        <p:nvSpPr>
          <p:cNvPr id="5" name="フッター プレースホルダー 4">
            <a:extLst>
              <a:ext uri="{FF2B5EF4-FFF2-40B4-BE49-F238E27FC236}">
                <a16:creationId xmlns:a16="http://schemas.microsoft.com/office/drawing/2014/main" id="{3D2B7F16-EA23-E3C0-5829-1FC325908C17}"/>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1F0EA0CC-741B-CB46-25B0-28C094CF8E3F}"/>
              </a:ext>
            </a:extLst>
          </p:cNvPr>
          <p:cNvSpPr>
            <a:spLocks noGrp="1"/>
          </p:cNvSpPr>
          <p:nvPr>
            <p:ph type="sldNum" sz="quarter" idx="12"/>
          </p:nvPr>
        </p:nvSpPr>
        <p:spPr/>
        <p:txBody>
          <a:body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197914011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a:extLst>
              <a:ext uri="{FF2B5EF4-FFF2-40B4-BE49-F238E27FC236}">
                <a16:creationId xmlns:a16="http://schemas.microsoft.com/office/drawing/2014/main" id="{D6EB2188-1D62-D548-55E2-CA0A3577DEAD}"/>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5C3DEE3F-AB3B-F411-F7AF-50F335E57A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99B7C5AC-E999-BD74-1D0F-0DC7824FC0F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A81B9C5-CECB-184C-B07C-AAE5A0D3437F}" type="datetimeFigureOut">
              <a:rPr kumimoji="1" lang="ja-JP" altLang="en-US" smtClean="0"/>
              <a:t>2024/1/24</a:t>
            </a:fld>
            <a:endParaRPr kumimoji="1" lang="ja-JP" altLang="en-US"/>
          </a:p>
        </p:txBody>
      </p:sp>
      <p:sp>
        <p:nvSpPr>
          <p:cNvPr id="5" name="フッター プレースホルダー 4">
            <a:extLst>
              <a:ext uri="{FF2B5EF4-FFF2-40B4-BE49-F238E27FC236}">
                <a16:creationId xmlns:a16="http://schemas.microsoft.com/office/drawing/2014/main" id="{4849C1F1-FEE5-1D86-B2E3-A0399C2DBD3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
        <p:nvSpPr>
          <p:cNvPr id="6" name="スライド番号プレースホルダー 5">
            <a:extLst>
              <a:ext uri="{FF2B5EF4-FFF2-40B4-BE49-F238E27FC236}">
                <a16:creationId xmlns:a16="http://schemas.microsoft.com/office/drawing/2014/main" id="{D380E6DD-7244-FC1B-73FE-98E535036790}"/>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4A2BA82-FEB9-AF4A-AB18-BEB4C3F44F1E}" type="slidenum">
              <a:rPr kumimoji="1" lang="ja-JP" altLang="en-US" smtClean="0"/>
              <a:t>‹#›</a:t>
            </a:fld>
            <a:endParaRPr kumimoji="1" lang="ja-JP" altLang="en-US"/>
          </a:p>
        </p:txBody>
      </p:sp>
    </p:spTree>
    <p:extLst>
      <p:ext uri="{BB962C8B-B14F-4D97-AF65-F5344CB8AC3E}">
        <p14:creationId xmlns:p14="http://schemas.microsoft.com/office/powerpoint/2010/main" val="325773639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6.png"/><Relationship Id="rId4" Type="http://schemas.openxmlformats.org/officeDocument/2006/relationships/image" Target="../media/image5.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2.xml"/><Relationship Id="rId5" Type="http://schemas.openxmlformats.org/officeDocument/2006/relationships/image" Target="../media/image6.png"/><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8.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 Id="rId9" Type="http://schemas.openxmlformats.org/officeDocument/2006/relationships/image" Target="../media/image15.png"/></Relationships>
</file>

<file path=ppt/slides/_rels/slide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9.xml"/><Relationship Id="rId1" Type="http://schemas.openxmlformats.org/officeDocument/2006/relationships/slideLayout" Target="../slideLayouts/slideLayout2.xml"/><Relationship Id="rId5" Type="http://schemas.openxmlformats.org/officeDocument/2006/relationships/image" Target="../media/image18.png"/><Relationship Id="rId4" Type="http://schemas.openxmlformats.org/officeDocument/2006/relationships/image" Target="../media/image17.png"/></Relationships>
</file>

<file path=ppt/slides/_rels/slide10.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80.png"/><Relationship Id="rId7" Type="http://schemas.openxmlformats.org/officeDocument/2006/relationships/image" Target="../media/image22.pn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11.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image" Target="../media/image25.png"/><Relationship Id="rId5" Type="http://schemas.openxmlformats.org/officeDocument/2006/relationships/image" Target="../media/image2.png"/><Relationship Id="rId4" Type="http://schemas.openxmlformats.org/officeDocument/2006/relationships/image" Target="../media/image1.png"/></Relationships>
</file>

<file path=ppt/slides/_rels/slide12.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26.png"/><Relationship Id="rId5" Type="http://schemas.openxmlformats.org/officeDocument/2006/relationships/image" Target="../media/image2.png"/><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27.png"/><Relationship Id="rId5" Type="http://schemas.openxmlformats.org/officeDocument/2006/relationships/image" Target="../media/image2.png"/><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28.png"/><Relationship Id="rId5" Type="http://schemas.openxmlformats.org/officeDocument/2006/relationships/image" Target="../media/image2.png"/><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6.xml"/><Relationship Id="rId1" Type="http://schemas.openxmlformats.org/officeDocument/2006/relationships/slideLayout" Target="../slideLayouts/slideLayout2.xml"/><Relationship Id="rId5" Type="http://schemas.openxmlformats.org/officeDocument/2006/relationships/image" Target="../media/image31.png"/><Relationship Id="rId4" Type="http://schemas.openxmlformats.org/officeDocument/2006/relationships/image" Target="../media/image30.png"/></Relationships>
</file>

<file path=ppt/slides/_rels/slide1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image" Target="../media/image35.png"/><Relationship Id="rId4" Type="http://schemas.openxmlformats.org/officeDocument/2006/relationships/image" Target="../media/image34.png"/></Relationships>
</file>

<file path=ppt/slides/_rels/slide22.xml.rels><?xml version="1.0" encoding="UTF-8" standalone="yes"?>
<Relationships xmlns="http://schemas.openxmlformats.org/package/2006/relationships"><Relationship Id="rId3" Type="http://schemas.openxmlformats.org/officeDocument/2006/relationships/image" Target="../media/image36.png"/><Relationship Id="rId7" Type="http://schemas.openxmlformats.org/officeDocument/2006/relationships/image" Target="../media/image43.png"/><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s/_rels/slide23.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1.png"/><Relationship Id="rId7" Type="http://schemas.openxmlformats.org/officeDocument/2006/relationships/image" Target="../media/image49.png"/><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image" Target="../media/image42.png"/><Relationship Id="rId4" Type="http://schemas.openxmlformats.org/officeDocument/2006/relationships/image" Target="../media/image46.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 Id="rId4" Type="http://schemas.openxmlformats.org/officeDocument/2006/relationships/image" Target="../media/image57.png"/></Relationships>
</file>

<file path=ppt/slides/_rels/slide3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openxmlformats.org/officeDocument/2006/relationships/image" Target="../media/image53.png"/></Relationships>
</file>

<file path=ppt/slides/_rels/slide34.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55.png"/></Relationships>
</file>

<file path=ppt/slides/_rels/slide35.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320.png"/><Relationship Id="rId2" Type="http://schemas.openxmlformats.org/officeDocument/2006/relationships/notesSlide" Target="../notesSlides/notesSlide35.xml"/><Relationship Id="rId1" Type="http://schemas.openxmlformats.org/officeDocument/2006/relationships/slideLayout" Target="../slideLayouts/slideLayout2.xml"/><Relationship Id="rId5" Type="http://schemas.openxmlformats.org/officeDocument/2006/relationships/image" Target="../media/image340.png"/><Relationship Id="rId4" Type="http://schemas.openxmlformats.org/officeDocument/2006/relationships/image" Target="../media/image56.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540.png"/><Relationship Id="rId2" Type="http://schemas.openxmlformats.org/officeDocument/2006/relationships/notesSlide" Target="../notesSlides/notesSlide41.xml"/><Relationship Id="rId1" Type="http://schemas.openxmlformats.org/officeDocument/2006/relationships/slideLayout" Target="../slideLayouts/slideLayout2.xml"/><Relationship Id="rId4" Type="http://schemas.openxmlformats.org/officeDocument/2006/relationships/image" Target="../media/image550.png"/></Relationships>
</file>

<file path=ppt/slides/_rels/slide46.xml.rels><?xml version="1.0" encoding="UTF-8" standalone="yes"?>
<Relationships xmlns="http://schemas.openxmlformats.org/package/2006/relationships"><Relationship Id="rId3" Type="http://schemas.openxmlformats.org/officeDocument/2006/relationships/image" Target="../media/image560.png"/><Relationship Id="rId2" Type="http://schemas.openxmlformats.org/officeDocument/2006/relationships/notesSlide" Target="../notesSlides/notesSlide42.xml"/><Relationship Id="rId1" Type="http://schemas.openxmlformats.org/officeDocument/2006/relationships/slideLayout" Target="../slideLayouts/slideLayout2.xml"/><Relationship Id="rId4" Type="http://schemas.openxmlformats.org/officeDocument/2006/relationships/image" Target="../media/image57.png"/></Relationships>
</file>

<file path=ppt/slides/_rels/slide47.xml.rels><?xml version="1.0" encoding="UTF-8" standalone="yes"?>
<Relationships xmlns="http://schemas.openxmlformats.org/package/2006/relationships"><Relationship Id="rId3" Type="http://schemas.openxmlformats.org/officeDocument/2006/relationships/image" Target="../media/image580.pn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image" Target="../media/image590.png"/></Relationships>
</file>

<file path=ppt/slides/_rels/slide48.xml.rels><?xml version="1.0" encoding="UTF-8" standalone="yes"?>
<Relationships xmlns="http://schemas.openxmlformats.org/package/2006/relationships"><Relationship Id="rId3" Type="http://schemas.openxmlformats.org/officeDocument/2006/relationships/image" Target="../media/image600.png"/><Relationship Id="rId2" Type="http://schemas.openxmlformats.org/officeDocument/2006/relationships/notesSlide" Target="../notesSlides/notesSlide44.xml"/><Relationship Id="rId1" Type="http://schemas.openxmlformats.org/officeDocument/2006/relationships/slideLayout" Target="../slideLayouts/slideLayout2.xml"/><Relationship Id="rId4" Type="http://schemas.openxmlformats.org/officeDocument/2006/relationships/image" Target="../media/image610.png"/></Relationships>
</file>

<file path=ppt/slides/_rels/slide49.xml.rels><?xml version="1.0" encoding="UTF-8" standalone="yes"?>
<Relationships xmlns="http://schemas.openxmlformats.org/package/2006/relationships"><Relationship Id="rId3" Type="http://schemas.openxmlformats.org/officeDocument/2006/relationships/image" Target="../media/image620.png"/><Relationship Id="rId2" Type="http://schemas.openxmlformats.org/officeDocument/2006/relationships/notesSlide" Target="../notesSlides/notesSlide45.xml"/><Relationship Id="rId1" Type="http://schemas.openxmlformats.org/officeDocument/2006/relationships/slideLayout" Target="../slideLayouts/slideLayout2.xml"/><Relationship Id="rId4" Type="http://schemas.openxmlformats.org/officeDocument/2006/relationships/image" Target="../media/image630.png"/></Relationships>
</file>

<file path=ppt/slides/_rels/slide50.xml.rels><?xml version="1.0" encoding="UTF-8" standalone="yes"?>
<Relationships xmlns="http://schemas.openxmlformats.org/package/2006/relationships"><Relationship Id="rId3" Type="http://schemas.openxmlformats.org/officeDocument/2006/relationships/image" Target="../media/image640.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650.png"/></Relationships>
</file>

<file path=ppt/slides/_rels/slide51.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image" Target="../media/image67.png"/></Relationships>
</file>

<file path=ppt/slides/_rels/slide52.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48.xml"/><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53.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74.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image" Target="../media/image61.png"/></Relationships>
</file>

<file path=ppt/slides/_rels/slide55.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78.pn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86.pn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92.pn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image" Target="../media/image94.png"/><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96.png"/><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98.png"/><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100.png"/><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104.pn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106.png"/><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image" Target="../media/image108.png"/><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png"/><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113.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115.png"/><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117.png"/><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19.pn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image" Target="../media/image121.png"/><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image" Target="../media/image125.png"/><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notesSlide" Target="../notesSlides/notesSlide50.xml"/><Relationship Id="rId1" Type="http://schemas.openxmlformats.org/officeDocument/2006/relationships/slideLayout" Target="../slideLayouts/slideLayout2.xml"/><Relationship Id="rId4" Type="http://schemas.openxmlformats.org/officeDocument/2006/relationships/image" Target="../media/image68.png"/></Relationships>
</file>

<file path=ppt/slides/_rels/slide81.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51.xml"/><Relationship Id="rId1" Type="http://schemas.openxmlformats.org/officeDocument/2006/relationships/slideLayout" Target="../slideLayouts/slideLayout2.xml"/><Relationship Id="rId4" Type="http://schemas.openxmlformats.org/officeDocument/2006/relationships/image" Target="../media/image71.png"/></Relationships>
</file>

<file path=ppt/slides/_rels/slide82.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image" Target="../media/image129.png"/><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image" Target="../media/image131.pn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image" Target="../media/image133.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398D4618-FEAA-4656-EFAA-66E1DA115A96}"/>
              </a:ext>
            </a:extLst>
          </p:cNvPr>
          <p:cNvSpPr>
            <a:spLocks noGrp="1"/>
          </p:cNvSpPr>
          <p:nvPr>
            <p:ph type="ctrTitle"/>
          </p:nvPr>
        </p:nvSpPr>
        <p:spPr>
          <a:xfrm>
            <a:off x="181555" y="906227"/>
            <a:ext cx="11828890" cy="2387600"/>
          </a:xfrm>
        </p:spPr>
        <p:txBody>
          <a:bodyPr>
            <a:normAutofit/>
          </a:bodyPr>
          <a:lstStyle/>
          <a:p>
            <a:r>
              <a:rPr lang="ja-JP" altLang="en-US" sz="5400">
                <a:effectLst/>
                <a:latin typeface="HaranoAjiMincho-Regular-Identity-H"/>
              </a:rPr>
              <a:t>二重頑健推定法</a:t>
            </a:r>
            <a:r>
              <a:rPr lang="ja-JP" altLang="en-US" sz="5400">
                <a:latin typeface="HaranoAjiMincho-Regular-Identity-H"/>
              </a:rPr>
              <a:t>における球共分散に基づく共変量選択</a:t>
            </a:r>
            <a:endParaRPr lang="ja-JP" altLang="en-US" sz="19900"/>
          </a:p>
        </p:txBody>
      </p:sp>
      <p:sp>
        <p:nvSpPr>
          <p:cNvPr id="3" name="字幕 2">
            <a:extLst>
              <a:ext uri="{FF2B5EF4-FFF2-40B4-BE49-F238E27FC236}">
                <a16:creationId xmlns:a16="http://schemas.microsoft.com/office/drawing/2014/main" id="{EA57FEF9-5067-1033-14EC-AE9B079A4B66}"/>
              </a:ext>
            </a:extLst>
          </p:cNvPr>
          <p:cNvSpPr>
            <a:spLocks noGrp="1"/>
          </p:cNvSpPr>
          <p:nvPr>
            <p:ph type="subTitle" idx="1"/>
          </p:nvPr>
        </p:nvSpPr>
        <p:spPr>
          <a:xfrm>
            <a:off x="1524000" y="4016430"/>
            <a:ext cx="9829800" cy="2522482"/>
          </a:xfrm>
        </p:spPr>
        <p:txBody>
          <a:bodyPr>
            <a:normAutofit/>
          </a:bodyPr>
          <a:lstStyle/>
          <a:p>
            <a:r>
              <a:rPr kumimoji="1" lang="ja-JP" altLang="en-US"/>
              <a:t>情報・ネットワーク工学専攻　情報数理工学プログラム　西山研究室　　　</a:t>
            </a:r>
            <a:endParaRPr kumimoji="1" lang="en-US" altLang="ja-JP" dirty="0"/>
          </a:p>
          <a:p>
            <a:r>
              <a:rPr lang="ja-JP" altLang="en-US"/>
              <a:t>武藤　大樹</a:t>
            </a:r>
            <a:r>
              <a:rPr kumimoji="1" lang="ja-JP" altLang="en-US"/>
              <a:t>  </a:t>
            </a:r>
            <a:endParaRPr kumimoji="1" lang="en-US" altLang="ja-JP" dirty="0"/>
          </a:p>
          <a:p>
            <a:r>
              <a:rPr lang="ja-JP" altLang="en-US"/>
              <a:t>学籍番号：</a:t>
            </a:r>
            <a:r>
              <a:rPr lang="en-US" altLang="ja-JP" dirty="0"/>
              <a:t>2231150</a:t>
            </a:r>
          </a:p>
          <a:p>
            <a:endParaRPr kumimoji="1" lang="en-US" altLang="ja-JP" dirty="0"/>
          </a:p>
          <a:p>
            <a:r>
              <a:rPr kumimoji="1" lang="en-US" altLang="ja-JP" dirty="0"/>
              <a:t>2023/02/05</a:t>
            </a:r>
            <a:endParaRPr kumimoji="1" lang="ja-JP" altLang="en-US" dirty="0"/>
          </a:p>
        </p:txBody>
      </p:sp>
      <p:sp>
        <p:nvSpPr>
          <p:cNvPr id="4" name="スライド番号プレースホルダー 3">
            <a:extLst>
              <a:ext uri="{FF2B5EF4-FFF2-40B4-BE49-F238E27FC236}">
                <a16:creationId xmlns:a16="http://schemas.microsoft.com/office/drawing/2014/main" id="{4B8616A4-6CEE-43F8-C4C4-98D78CAECB9B}"/>
              </a:ext>
            </a:extLst>
          </p:cNvPr>
          <p:cNvSpPr>
            <a:spLocks noGrp="1"/>
          </p:cNvSpPr>
          <p:nvPr>
            <p:ph type="sldNum" sz="quarter" idx="12"/>
          </p:nvPr>
        </p:nvSpPr>
        <p:spPr/>
        <p:txBody>
          <a:bodyPr/>
          <a:lstStyle/>
          <a:p>
            <a:fld id="{21218AEF-8260-6F42-89D9-6D82E053F226}" type="slidenum">
              <a:rPr kumimoji="1" lang="ja-JP" altLang="en-US" smtClean="0"/>
              <a:t>1</a:t>
            </a:fld>
            <a:endParaRPr kumimoji="1" lang="ja-JP" altLang="en-US"/>
          </a:p>
        </p:txBody>
      </p:sp>
    </p:spTree>
    <p:extLst>
      <p:ext uri="{BB962C8B-B14F-4D97-AF65-F5344CB8AC3E}">
        <p14:creationId xmlns:p14="http://schemas.microsoft.com/office/powerpoint/2010/main" val="1156943676"/>
      </p:ext>
    </p:extLst>
  </p:cSld>
  <p:clrMapOvr>
    <a:masterClrMapping/>
  </p:clrMapOvr>
  <mc:AlternateContent xmlns:mc="http://schemas.openxmlformats.org/markup-compatibility/2006">
    <mc:Choice xmlns:p14="http://schemas.microsoft.com/office/powerpoint/2010/main" Requires="p14">
      <p:transition spd="slow" p14:dur="2000" advTm="9910"/>
    </mc:Choice>
    <mc:Fallback>
      <p:transition spd="slow" advTm="991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AECBC4B-969A-4250-1DA5-82EB0890DE5A}"/>
              </a:ext>
            </a:extLst>
          </p:cNvPr>
          <p:cNvSpPr>
            <a:spLocks noGrp="1"/>
          </p:cNvSpPr>
          <p:nvPr>
            <p:ph type="title"/>
          </p:nvPr>
        </p:nvSpPr>
        <p:spPr/>
        <p:txBody>
          <a:bodyPr/>
          <a:lstStyle/>
          <a:p>
            <a:r>
              <a:rPr kumimoji="1" lang="ja-JP" altLang="en-US" dirty="0"/>
              <a:t>統計的因果推論</a:t>
            </a:r>
          </a:p>
        </p:txBody>
      </p:sp>
      <mc:AlternateContent xmlns:mc="http://schemas.openxmlformats.org/markup-compatibility/2006">
        <mc:Choice xmlns:a14="http://schemas.microsoft.com/office/drawing/2010/main" Requires="a14">
          <p:sp>
            <p:nvSpPr>
              <p:cNvPr id="4" name="正方形/長方形 3">
                <a:extLst>
                  <a:ext uri="{FF2B5EF4-FFF2-40B4-BE49-F238E27FC236}">
                    <a16:creationId xmlns:a16="http://schemas.microsoft.com/office/drawing/2014/main" id="{AE4B4FB1-C123-6A24-9E3A-13A475856AFE}"/>
                  </a:ext>
                </a:extLst>
              </p:cNvPr>
              <p:cNvSpPr/>
              <p:nvPr/>
            </p:nvSpPr>
            <p:spPr>
              <a:xfrm>
                <a:off x="7830972" y="4647348"/>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kumimoji="1" lang="en-US" altLang="ja-JP" sz="2800" b="1" i="1" smtClean="0">
                        <a:latin typeface="Cambria Math" panose="02040503050406030204" pitchFamily="18" charset="0"/>
                      </a:rPr>
                      <m:t>𝒀</m:t>
                    </m:r>
                  </m:oMath>
                </a14:m>
                <a:endParaRPr kumimoji="1" lang="en-US" altLang="ja-JP" sz="2800" b="1"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4" name="正方形/長方形 3">
                <a:extLst>
                  <a:ext uri="{FF2B5EF4-FFF2-40B4-BE49-F238E27FC236}">
                    <a16:creationId xmlns:a16="http://schemas.microsoft.com/office/drawing/2014/main" id="{AE4B4FB1-C123-6A24-9E3A-13A475856AFE}"/>
                  </a:ext>
                </a:extLst>
              </p:cNvPr>
              <p:cNvSpPr>
                <a:spLocks noRot="1" noChangeAspect="1" noMove="1" noResize="1" noEditPoints="1" noAdjustHandles="1" noChangeArrowheads="1" noChangeShapeType="1" noTextEdit="1"/>
              </p:cNvSpPr>
              <p:nvPr/>
            </p:nvSpPr>
            <p:spPr>
              <a:xfrm>
                <a:off x="7830972" y="4647348"/>
                <a:ext cx="2875280" cy="1187213"/>
              </a:xfrm>
              <a:prstGeom prst="rect">
                <a:avLst/>
              </a:prstGeom>
              <a:blipFill>
                <a:blip r:embed="rId3"/>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正方形/長方形 4">
                <a:extLst>
                  <a:ext uri="{FF2B5EF4-FFF2-40B4-BE49-F238E27FC236}">
                    <a16:creationId xmlns:a16="http://schemas.microsoft.com/office/drawing/2014/main" id="{BB2F3A59-B9E9-51E6-0470-FCC29CC0EB67}"/>
                  </a:ext>
                </a:extLst>
              </p:cNvPr>
              <p:cNvSpPr/>
              <p:nvPr/>
            </p:nvSpPr>
            <p:spPr>
              <a:xfrm>
                <a:off x="630073" y="4647348"/>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割り当て変数</a:t>
                </a:r>
                <a14:m>
                  <m:oMath xmlns:m="http://schemas.openxmlformats.org/officeDocument/2006/math">
                    <m:r>
                      <a:rPr kumimoji="1" lang="en-US" altLang="ja-JP" sz="2800" b="1" i="1" smtClean="0">
                        <a:latin typeface="Cambria Math" panose="02040503050406030204" pitchFamily="18" charset="0"/>
                      </a:rPr>
                      <m:t>𝑿</m:t>
                    </m:r>
                  </m:oMath>
                </a14:m>
                <a:endParaRPr kumimoji="1" lang="en-US" altLang="ja-JP" sz="2800" b="1" dirty="0"/>
              </a:p>
              <a:p>
                <a:pPr algn="ctr"/>
                <a:r>
                  <a:rPr lang="ja-JP" altLang="en-US" sz="2800" dirty="0"/>
                  <a:t>（原因）</a:t>
                </a:r>
                <a:endParaRPr kumimoji="1" lang="ja-JP" altLang="en-US" sz="2800" dirty="0"/>
              </a:p>
            </p:txBody>
          </p:sp>
        </mc:Choice>
        <mc:Fallback>
          <p:sp>
            <p:nvSpPr>
              <p:cNvPr id="5" name="正方形/長方形 4">
                <a:extLst>
                  <a:ext uri="{FF2B5EF4-FFF2-40B4-BE49-F238E27FC236}">
                    <a16:creationId xmlns:a16="http://schemas.microsoft.com/office/drawing/2014/main" id="{BB2F3A59-B9E9-51E6-0470-FCC29CC0EB67}"/>
                  </a:ext>
                </a:extLst>
              </p:cNvPr>
              <p:cNvSpPr>
                <a:spLocks noRot="1" noChangeAspect="1" noMove="1" noResize="1" noEditPoints="1" noAdjustHandles="1" noChangeArrowheads="1" noChangeShapeType="1" noTextEdit="1"/>
              </p:cNvSpPr>
              <p:nvPr/>
            </p:nvSpPr>
            <p:spPr>
              <a:xfrm>
                <a:off x="630073" y="4647348"/>
                <a:ext cx="2875280" cy="1187212"/>
              </a:xfrm>
              <a:prstGeom prst="rect">
                <a:avLst/>
              </a:prstGeom>
              <a:blipFill>
                <a:blip r:embed="rId4"/>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6" name="正方形/長方形 5">
                <a:extLst>
                  <a:ext uri="{FF2B5EF4-FFF2-40B4-BE49-F238E27FC236}">
                    <a16:creationId xmlns:a16="http://schemas.microsoft.com/office/drawing/2014/main" id="{A8F8776B-6EC0-ECEE-7C71-EF17307BAC5A}"/>
                  </a:ext>
                </a:extLst>
              </p:cNvPr>
              <p:cNvSpPr/>
              <p:nvPr/>
            </p:nvSpPr>
            <p:spPr>
              <a:xfrm>
                <a:off x="3505352" y="1787994"/>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dirty="0"/>
                  <a:t>共変量</a:t>
                </a:r>
                <a:endParaRPr lang="en-US" altLang="ja-JP" sz="2800" dirty="0"/>
              </a:p>
              <a:p>
                <a:pPr algn="ctr"/>
                <a14:m>
                  <m:oMathPara xmlns:m="http://schemas.openxmlformats.org/officeDocument/2006/math">
                    <m:oMathParaPr>
                      <m:jc m:val="centerGroup"/>
                    </m:oMathParaPr>
                    <m:oMath xmlns:m="http://schemas.openxmlformats.org/officeDocument/2006/math">
                      <m:r>
                        <a:rPr lang="en-US" altLang="ja-JP" sz="2800" b="1" i="1" smtClean="0">
                          <a:latin typeface="Cambria Math" panose="02040503050406030204" pitchFamily="18" charset="0"/>
                        </a:rPr>
                        <m:t>𝑪</m:t>
                      </m:r>
                      <m:r>
                        <a:rPr lang="en-US" altLang="ja-JP" sz="2800" b="1" i="1" smtClean="0">
                          <a:latin typeface="Cambria Math" panose="02040503050406030204" pitchFamily="18" charset="0"/>
                        </a:rPr>
                        <m:t>=</m:t>
                      </m:r>
                      <m:d>
                        <m:dPr>
                          <m:ctrlPr>
                            <a:rPr lang="en-US" altLang="ja-JP" sz="2800" i="1" smtClean="0">
                              <a:latin typeface="Cambria Math" panose="02040503050406030204" pitchFamily="18" charset="0"/>
                            </a:rPr>
                          </m:ctrlPr>
                        </m:dPr>
                        <m:e>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1</m:t>
                              </m:r>
                            </m:sub>
                          </m:sSub>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2</m:t>
                              </m:r>
                            </m:sub>
                          </m:sSub>
                          <m:r>
                            <a:rPr lang="en-US" altLang="ja-JP" sz="2800" b="0" i="1" smtClean="0">
                              <a:latin typeface="Cambria Math" panose="02040503050406030204" pitchFamily="18" charset="0"/>
                            </a:rPr>
                            <m:t>,</m:t>
                          </m:r>
                          <m:r>
                            <a:rPr lang="en-US" altLang="ja-JP" sz="2800" b="0" i="1">
                              <a:latin typeface="Cambria Math" panose="02040503050406030204" pitchFamily="18" charset="0"/>
                              <a:ea typeface="Cambria Math" panose="02040503050406030204" pitchFamily="18" charset="0"/>
                            </a:rPr>
                            <m:t>⋯</m:t>
                          </m:r>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𝑝</m:t>
                              </m:r>
                            </m:sub>
                          </m:sSub>
                        </m:e>
                      </m:d>
                    </m:oMath>
                  </m:oMathPara>
                </a14:m>
                <a:endParaRPr kumimoji="1" lang="ja-JP" altLang="en-US" sz="2800" dirty="0"/>
              </a:p>
            </p:txBody>
          </p:sp>
        </mc:Choice>
        <mc:Fallback>
          <p:sp>
            <p:nvSpPr>
              <p:cNvPr id="6" name="正方形/長方形 5">
                <a:extLst>
                  <a:ext uri="{FF2B5EF4-FFF2-40B4-BE49-F238E27FC236}">
                    <a16:creationId xmlns:a16="http://schemas.microsoft.com/office/drawing/2014/main" id="{A8F8776B-6EC0-ECEE-7C71-EF17307BAC5A}"/>
                  </a:ext>
                </a:extLst>
              </p:cNvPr>
              <p:cNvSpPr>
                <a:spLocks noRot="1" noChangeAspect="1" noMove="1" noResize="1" noEditPoints="1" noAdjustHandles="1" noChangeArrowheads="1" noChangeShapeType="1" noTextEdit="1"/>
              </p:cNvSpPr>
              <p:nvPr/>
            </p:nvSpPr>
            <p:spPr>
              <a:xfrm>
                <a:off x="3505352" y="1787994"/>
                <a:ext cx="4372609" cy="1042352"/>
              </a:xfrm>
              <a:prstGeom prst="rect">
                <a:avLst/>
              </a:prstGeom>
              <a:blipFill>
                <a:blip r:embed="rId5"/>
                <a:stretch>
                  <a:fillRect t="-4762" b="-2381"/>
                </a:stretch>
              </a:blipFill>
              <a:ln w="19050">
                <a:solidFill>
                  <a:schemeClr val="accent1"/>
                </a:solidFill>
              </a:ln>
            </p:spPr>
            <p:txBody>
              <a:bodyPr/>
              <a:lstStyle/>
              <a:p>
                <a:r>
                  <a:rPr lang="ja-JP" altLang="en-US">
                    <a:noFill/>
                  </a:rPr>
                  <a:t> </a:t>
                </a:r>
              </a:p>
            </p:txBody>
          </p:sp>
        </mc:Fallback>
      </mc:AlternateContent>
      <p:cxnSp>
        <p:nvCxnSpPr>
          <p:cNvPr id="7" name="直線矢印コネクタ 6">
            <a:extLst>
              <a:ext uri="{FF2B5EF4-FFF2-40B4-BE49-F238E27FC236}">
                <a16:creationId xmlns:a16="http://schemas.microsoft.com/office/drawing/2014/main" id="{7CF26B5F-E6E8-B0C7-A84F-F25C0662F4E2}"/>
              </a:ext>
            </a:extLst>
          </p:cNvPr>
          <p:cNvCxnSpPr>
            <a:cxnSpLocks/>
            <a:stCxn id="5" idx="3"/>
            <a:endCxn id="4" idx="1"/>
          </p:cNvCxnSpPr>
          <p:nvPr/>
        </p:nvCxnSpPr>
        <p:spPr>
          <a:xfrm>
            <a:off x="3505353" y="5240954"/>
            <a:ext cx="4325619" cy="1"/>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8" name="直線矢印コネクタ 7">
            <a:extLst>
              <a:ext uri="{FF2B5EF4-FFF2-40B4-BE49-F238E27FC236}">
                <a16:creationId xmlns:a16="http://schemas.microsoft.com/office/drawing/2014/main" id="{0C7E52CE-541D-9194-2BC7-6A3D565A7039}"/>
              </a:ext>
            </a:extLst>
          </p:cNvPr>
          <p:cNvCxnSpPr>
            <a:cxnSpLocks/>
            <a:stCxn id="6" idx="3"/>
            <a:endCxn id="4" idx="0"/>
          </p:cNvCxnSpPr>
          <p:nvPr/>
        </p:nvCxnSpPr>
        <p:spPr>
          <a:xfrm>
            <a:off x="7877961" y="2309170"/>
            <a:ext cx="1390651"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9" name="直線矢印コネクタ 8">
            <a:extLst>
              <a:ext uri="{FF2B5EF4-FFF2-40B4-BE49-F238E27FC236}">
                <a16:creationId xmlns:a16="http://schemas.microsoft.com/office/drawing/2014/main" id="{2F9D3536-632B-3362-9FEA-FB2CD2C5DE1E}"/>
              </a:ext>
            </a:extLst>
          </p:cNvPr>
          <p:cNvCxnSpPr>
            <a:cxnSpLocks/>
            <a:stCxn id="6" idx="1"/>
            <a:endCxn id="5" idx="0"/>
          </p:cNvCxnSpPr>
          <p:nvPr/>
        </p:nvCxnSpPr>
        <p:spPr>
          <a:xfrm flipH="1">
            <a:off x="2067713" y="2309170"/>
            <a:ext cx="1437639"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0" name="テキスト ボックス 9">
            <a:extLst>
              <a:ext uri="{FF2B5EF4-FFF2-40B4-BE49-F238E27FC236}">
                <a16:creationId xmlns:a16="http://schemas.microsoft.com/office/drawing/2014/main" id="{BC271E31-35F3-AA37-89D6-EA676B4BD669}"/>
              </a:ext>
            </a:extLst>
          </p:cNvPr>
          <p:cNvSpPr txBox="1"/>
          <p:nvPr/>
        </p:nvSpPr>
        <p:spPr>
          <a:xfrm>
            <a:off x="4603635" y="4366695"/>
            <a:ext cx="2534355" cy="707886"/>
          </a:xfrm>
          <a:prstGeom prst="rect">
            <a:avLst/>
          </a:prstGeom>
          <a:noFill/>
        </p:spPr>
        <p:txBody>
          <a:bodyPr wrap="square" rtlCol="0">
            <a:spAutoFit/>
          </a:bodyPr>
          <a:lstStyle/>
          <a:p>
            <a:r>
              <a:rPr kumimoji="1" lang="ja-JP" altLang="en-US" sz="4000" b="1" dirty="0">
                <a:solidFill>
                  <a:srgbClr val="FF0000"/>
                </a:solidFill>
              </a:rPr>
              <a:t>因果効果</a:t>
            </a:r>
          </a:p>
        </p:txBody>
      </p:sp>
      <p:sp>
        <p:nvSpPr>
          <p:cNvPr id="11" name="テキスト ボックス 10">
            <a:extLst>
              <a:ext uri="{FF2B5EF4-FFF2-40B4-BE49-F238E27FC236}">
                <a16:creationId xmlns:a16="http://schemas.microsoft.com/office/drawing/2014/main" id="{BB058654-D062-6880-8B4B-297C97648668}"/>
              </a:ext>
            </a:extLst>
          </p:cNvPr>
          <p:cNvSpPr txBox="1"/>
          <p:nvPr/>
        </p:nvSpPr>
        <p:spPr>
          <a:xfrm>
            <a:off x="517042" y="5952184"/>
            <a:ext cx="3068320" cy="400110"/>
          </a:xfrm>
          <a:prstGeom prst="rect">
            <a:avLst/>
          </a:prstGeom>
          <a:noFill/>
        </p:spPr>
        <p:txBody>
          <a:bodyPr wrap="square" rtlCol="0">
            <a:spAutoFit/>
          </a:bodyPr>
          <a:lstStyle/>
          <a:p>
            <a:r>
              <a:rPr kumimoji="1" lang="ja-JP" altLang="en-US" sz="2000" dirty="0"/>
              <a:t>例：広告を見たかどうか</a:t>
            </a:r>
          </a:p>
        </p:txBody>
      </p:sp>
      <p:sp>
        <p:nvSpPr>
          <p:cNvPr id="12" name="テキスト ボックス 11">
            <a:extLst>
              <a:ext uri="{FF2B5EF4-FFF2-40B4-BE49-F238E27FC236}">
                <a16:creationId xmlns:a16="http://schemas.microsoft.com/office/drawing/2014/main" id="{90F1F858-3EC5-949F-EBA0-CFD67DD3297F}"/>
              </a:ext>
            </a:extLst>
          </p:cNvPr>
          <p:cNvSpPr txBox="1"/>
          <p:nvPr/>
        </p:nvSpPr>
        <p:spPr>
          <a:xfrm>
            <a:off x="7830972" y="6012499"/>
            <a:ext cx="2875280" cy="400110"/>
          </a:xfrm>
          <a:prstGeom prst="rect">
            <a:avLst/>
          </a:prstGeom>
          <a:noFill/>
        </p:spPr>
        <p:txBody>
          <a:bodyPr wrap="square">
            <a:spAutoFit/>
          </a:bodyPr>
          <a:lstStyle/>
          <a:p>
            <a:r>
              <a:rPr kumimoji="1" lang="ja-JP" altLang="en-US" sz="2000" dirty="0"/>
              <a:t>例：</a:t>
            </a:r>
            <a:r>
              <a:rPr lang="ja-JP" altLang="en-US" sz="2000" dirty="0"/>
              <a:t>当該商品の購入量</a:t>
            </a:r>
            <a:endParaRPr kumimoji="1" lang="ja-JP" altLang="en-US" sz="2000" dirty="0"/>
          </a:p>
        </p:txBody>
      </p:sp>
      <p:sp>
        <p:nvSpPr>
          <p:cNvPr id="13" name="テキスト ボックス 12">
            <a:extLst>
              <a:ext uri="{FF2B5EF4-FFF2-40B4-BE49-F238E27FC236}">
                <a16:creationId xmlns:a16="http://schemas.microsoft.com/office/drawing/2014/main" id="{E995D5B6-BBA6-8D04-20E4-7CFF1B01DCFE}"/>
              </a:ext>
            </a:extLst>
          </p:cNvPr>
          <p:cNvSpPr txBox="1"/>
          <p:nvPr/>
        </p:nvSpPr>
        <p:spPr>
          <a:xfrm>
            <a:off x="7877962" y="1700964"/>
            <a:ext cx="858520" cy="400110"/>
          </a:xfrm>
          <a:prstGeom prst="rect">
            <a:avLst/>
          </a:prstGeom>
          <a:noFill/>
        </p:spPr>
        <p:txBody>
          <a:bodyPr wrap="square">
            <a:spAutoFit/>
          </a:bodyPr>
          <a:lstStyle/>
          <a:p>
            <a:r>
              <a:rPr kumimoji="1" lang="ja-JP" altLang="en-US" sz="2000" dirty="0"/>
              <a:t>例：</a:t>
            </a:r>
            <a:endParaRPr lang="en-US" altLang="ja-JP" sz="2000" dirty="0"/>
          </a:p>
        </p:txBody>
      </p:sp>
      <p:sp>
        <p:nvSpPr>
          <p:cNvPr id="14" name="テキスト ボックス 13">
            <a:extLst>
              <a:ext uri="{FF2B5EF4-FFF2-40B4-BE49-F238E27FC236}">
                <a16:creationId xmlns:a16="http://schemas.microsoft.com/office/drawing/2014/main" id="{B5C6395E-14D7-6367-902B-7253C41E2D09}"/>
              </a:ext>
            </a:extLst>
          </p:cNvPr>
          <p:cNvSpPr txBox="1"/>
          <p:nvPr/>
        </p:nvSpPr>
        <p:spPr>
          <a:xfrm>
            <a:off x="8573286" y="1727887"/>
            <a:ext cx="2132966" cy="1015663"/>
          </a:xfrm>
          <a:prstGeom prst="rect">
            <a:avLst/>
          </a:prstGeom>
          <a:noFill/>
        </p:spPr>
        <p:txBody>
          <a:bodyPr wrap="square" rtlCol="0">
            <a:spAutoFit/>
          </a:bodyPr>
          <a:lstStyle/>
          <a:p>
            <a:r>
              <a:rPr kumimoji="1" lang="ja-JP" altLang="en-US" sz="2000" dirty="0"/>
              <a:t>年齢</a:t>
            </a:r>
            <a:endParaRPr kumimoji="1" lang="en-US" altLang="ja-JP" sz="2000" dirty="0"/>
          </a:p>
          <a:p>
            <a:r>
              <a:rPr kumimoji="1" lang="ja-JP" altLang="en-US" sz="2000" dirty="0"/>
              <a:t>職業</a:t>
            </a:r>
            <a:endParaRPr kumimoji="1" lang="en-US" altLang="ja-JP" sz="2000" dirty="0"/>
          </a:p>
          <a:p>
            <a:r>
              <a:rPr lang="ja-JP" altLang="en-US" sz="2000" dirty="0"/>
              <a:t>住所　など</a:t>
            </a:r>
            <a:endParaRPr kumimoji="1" lang="ja-JP" altLang="en-US" sz="2000" dirty="0"/>
          </a:p>
        </p:txBody>
      </p:sp>
      <p:sp>
        <p:nvSpPr>
          <p:cNvPr id="3" name="スライド番号プレースホルダー 2">
            <a:extLst>
              <a:ext uri="{FF2B5EF4-FFF2-40B4-BE49-F238E27FC236}">
                <a16:creationId xmlns:a16="http://schemas.microsoft.com/office/drawing/2014/main" id="{83CFEE2C-B063-57AF-BBFA-6D3993D77C15}"/>
              </a:ext>
            </a:extLst>
          </p:cNvPr>
          <p:cNvSpPr>
            <a:spLocks noGrp="1"/>
          </p:cNvSpPr>
          <p:nvPr>
            <p:ph type="sldNum" sz="quarter" idx="12"/>
          </p:nvPr>
        </p:nvSpPr>
        <p:spPr/>
        <p:txBody>
          <a:bodyPr/>
          <a:lstStyle/>
          <a:p>
            <a:fld id="{21218AEF-8260-6F42-89D9-6D82E053F226}" type="slidenum">
              <a:rPr kumimoji="1" lang="ja-JP" altLang="en-US" smtClean="0"/>
              <a:t>2</a:t>
            </a:fld>
            <a:endParaRPr kumimoji="1" lang="ja-JP" altLang="en-US"/>
          </a:p>
        </p:txBody>
      </p:sp>
    </p:spTree>
    <p:extLst>
      <p:ext uri="{BB962C8B-B14F-4D97-AF65-F5344CB8AC3E}">
        <p14:creationId xmlns:p14="http://schemas.microsoft.com/office/powerpoint/2010/main" val="984628705"/>
      </p:ext>
    </p:extLst>
  </p:cSld>
  <p:clrMapOvr>
    <a:masterClrMapping/>
  </p:clrMapOvr>
  <mc:AlternateContent xmlns:mc="http://schemas.openxmlformats.org/markup-compatibility/2006">
    <mc:Choice xmlns:p14="http://schemas.microsoft.com/office/powerpoint/2010/main" Requires="p14">
      <p:transition spd="slow" p14:dur="2000" advTm="43726"/>
    </mc:Choice>
    <mc:Fallback>
      <p:transition spd="slow" advTm="43726"/>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9BD2A21-20C3-41FD-B1C9-3FBDC4C1DA67}"/>
              </a:ext>
            </a:extLst>
          </p:cNvPr>
          <p:cNvSpPr>
            <a:spLocks noGrp="1"/>
          </p:cNvSpPr>
          <p:nvPr>
            <p:ph type="title"/>
          </p:nvPr>
        </p:nvSpPr>
        <p:spPr/>
        <p:txBody>
          <a:bodyPr/>
          <a:lstStyle/>
          <a:p>
            <a:r>
              <a:rPr kumimoji="1" lang="ja-JP" altLang="en-US"/>
              <a:t>二重</a:t>
            </a:r>
            <a:r>
              <a:rPr lang="ja-JP" altLang="en-US"/>
              <a:t>頑健推定法</a:t>
            </a:r>
            <a:br>
              <a:rPr kumimoji="1" lang="en-US" altLang="ja-JP" dirty="0"/>
            </a:br>
            <a:r>
              <a:rPr kumimoji="1" lang="en-US" altLang="ja-JP" dirty="0"/>
              <a:t>(Bang and Robins, 2005; Hoshino, 2007)</a:t>
            </a:r>
            <a:endParaRPr kumimoji="1" lang="ja-JP" altLang="en-US" dirty="0"/>
          </a:p>
        </p:txBody>
      </p:sp>
      <p:sp>
        <p:nvSpPr>
          <p:cNvPr id="19" name="テキスト ボックス 18">
            <a:extLst>
              <a:ext uri="{FF2B5EF4-FFF2-40B4-BE49-F238E27FC236}">
                <a16:creationId xmlns:a16="http://schemas.microsoft.com/office/drawing/2014/main" id="{2CEA7783-49A3-46C8-B574-55ACA18523A1}"/>
              </a:ext>
            </a:extLst>
          </p:cNvPr>
          <p:cNvSpPr txBox="1"/>
          <p:nvPr/>
        </p:nvSpPr>
        <p:spPr>
          <a:xfrm>
            <a:off x="5146206" y="4479149"/>
            <a:ext cx="2376806" cy="707886"/>
          </a:xfrm>
          <a:prstGeom prst="rect">
            <a:avLst/>
          </a:prstGeom>
          <a:noFill/>
        </p:spPr>
        <p:txBody>
          <a:bodyPr wrap="square" rtlCol="0">
            <a:spAutoFit/>
          </a:bodyPr>
          <a:lstStyle/>
          <a:p>
            <a:r>
              <a:rPr kumimoji="1" lang="ja-JP" altLang="en-US" sz="4000" dirty="0">
                <a:solidFill>
                  <a:srgbClr val="FF0000"/>
                </a:solidFill>
              </a:rPr>
              <a:t>因果効果</a:t>
            </a:r>
          </a:p>
        </p:txBody>
      </p:sp>
      <p:sp>
        <p:nvSpPr>
          <p:cNvPr id="14" name="テキスト ボックス 13">
            <a:extLst>
              <a:ext uri="{FF2B5EF4-FFF2-40B4-BE49-F238E27FC236}">
                <a16:creationId xmlns:a16="http://schemas.microsoft.com/office/drawing/2014/main" id="{03AC6FB0-272F-47C0-BB94-764832ADED08}"/>
              </a:ext>
            </a:extLst>
          </p:cNvPr>
          <p:cNvSpPr txBox="1"/>
          <p:nvPr/>
        </p:nvSpPr>
        <p:spPr>
          <a:xfrm>
            <a:off x="235424" y="3122660"/>
            <a:ext cx="3122191" cy="523220"/>
          </a:xfrm>
          <a:prstGeom prst="rect">
            <a:avLst/>
          </a:prstGeom>
          <a:noFill/>
        </p:spPr>
        <p:txBody>
          <a:bodyPr wrap="square" rtlCol="0">
            <a:spAutoFit/>
          </a:bodyPr>
          <a:lstStyle/>
          <a:p>
            <a:r>
              <a:rPr kumimoji="1" lang="ja-JP" altLang="en-US" sz="2800">
                <a:solidFill>
                  <a:schemeClr val="accent2"/>
                </a:solidFill>
              </a:rPr>
              <a:t>傾向スコアモデル</a:t>
            </a:r>
            <a:endParaRPr kumimoji="1" lang="en-US" altLang="ja-JP" sz="2800" dirty="0">
              <a:solidFill>
                <a:schemeClr val="accent2"/>
              </a:solidFill>
            </a:endParaRPr>
          </a:p>
        </p:txBody>
      </p:sp>
      <p:sp>
        <p:nvSpPr>
          <p:cNvPr id="16" name="テキスト ボックス 15">
            <a:extLst>
              <a:ext uri="{FF2B5EF4-FFF2-40B4-BE49-F238E27FC236}">
                <a16:creationId xmlns:a16="http://schemas.microsoft.com/office/drawing/2014/main" id="{E8D1BC0F-7AC3-484A-9F9B-B4CD9F262AC0}"/>
              </a:ext>
            </a:extLst>
          </p:cNvPr>
          <p:cNvSpPr txBox="1"/>
          <p:nvPr/>
        </p:nvSpPr>
        <p:spPr>
          <a:xfrm>
            <a:off x="9588887" y="3139761"/>
            <a:ext cx="2082997" cy="523220"/>
          </a:xfrm>
          <a:prstGeom prst="rect">
            <a:avLst/>
          </a:prstGeom>
          <a:noFill/>
        </p:spPr>
        <p:txBody>
          <a:bodyPr wrap="square" rtlCol="0">
            <a:spAutoFit/>
          </a:bodyPr>
          <a:lstStyle/>
          <a:p>
            <a:r>
              <a:rPr kumimoji="1" lang="ja-JP" altLang="en-US" sz="2800">
                <a:solidFill>
                  <a:schemeClr val="accent1"/>
                </a:solidFill>
              </a:rPr>
              <a:t>結果モデル</a:t>
            </a:r>
            <a:endParaRPr kumimoji="1" lang="en-US" altLang="ja-JP" sz="2800" dirty="0">
              <a:solidFill>
                <a:schemeClr val="accent1"/>
              </a:solidFill>
            </a:endParaRPr>
          </a:p>
        </p:txBody>
      </p:sp>
      <mc:AlternateContent xmlns:mc="http://schemas.openxmlformats.org/markup-compatibility/2006">
        <mc:Choice xmlns:a14="http://schemas.microsoft.com/office/drawing/2010/main" Requires="a14">
          <p:sp>
            <p:nvSpPr>
              <p:cNvPr id="7" name="正方形/長方形 6">
                <a:extLst>
                  <a:ext uri="{FF2B5EF4-FFF2-40B4-BE49-F238E27FC236}">
                    <a16:creationId xmlns:a16="http://schemas.microsoft.com/office/drawing/2014/main" id="{8D3E4267-EA93-0F0B-502D-C50FA37170BE}"/>
                  </a:ext>
                </a:extLst>
              </p:cNvPr>
              <p:cNvSpPr/>
              <p:nvPr/>
            </p:nvSpPr>
            <p:spPr>
              <a:xfrm>
                <a:off x="8473925" y="4833092"/>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lang="en-US" altLang="ja-JP" sz="2800" b="1" i="1">
                        <a:latin typeface="Cambria Math" panose="02040503050406030204" pitchFamily="18" charset="0"/>
                      </a:rPr>
                      <m:t>𝒀</m:t>
                    </m:r>
                  </m:oMath>
                </a14:m>
                <a:endParaRPr kumimoji="1" lang="en-US" altLang="ja-JP" sz="2800"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7" name="正方形/長方形 6">
                <a:extLst>
                  <a:ext uri="{FF2B5EF4-FFF2-40B4-BE49-F238E27FC236}">
                    <a16:creationId xmlns:a16="http://schemas.microsoft.com/office/drawing/2014/main" id="{8D3E4267-EA93-0F0B-502D-C50FA37170BE}"/>
                  </a:ext>
                </a:extLst>
              </p:cNvPr>
              <p:cNvSpPr>
                <a:spLocks noRot="1" noChangeAspect="1" noMove="1" noResize="1" noEditPoints="1" noAdjustHandles="1" noChangeArrowheads="1" noChangeShapeType="1" noTextEdit="1"/>
              </p:cNvSpPr>
              <p:nvPr/>
            </p:nvSpPr>
            <p:spPr>
              <a:xfrm>
                <a:off x="8473925" y="4833092"/>
                <a:ext cx="2875280" cy="1187213"/>
              </a:xfrm>
              <a:prstGeom prst="rect">
                <a:avLst/>
              </a:prstGeom>
              <a:blipFill>
                <a:blip r:embed="rId3"/>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9" name="正方形/長方形 8">
                <a:extLst>
                  <a:ext uri="{FF2B5EF4-FFF2-40B4-BE49-F238E27FC236}">
                    <a16:creationId xmlns:a16="http://schemas.microsoft.com/office/drawing/2014/main" id="{05590140-FDC9-9B1C-8950-75C1794CBAEA}"/>
                  </a:ext>
                </a:extLst>
              </p:cNvPr>
              <p:cNvSpPr/>
              <p:nvPr/>
            </p:nvSpPr>
            <p:spPr>
              <a:xfrm>
                <a:off x="1273026" y="4833092"/>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a:t>
                </a:r>
                <a14:m>
                  <m:oMath xmlns:m="http://schemas.openxmlformats.org/officeDocument/2006/math">
                    <m:r>
                      <a:rPr lang="ja-JP" altLang="en-US" sz="2800" b="0" i="1" dirty="0">
                        <a:latin typeface="Cambria Math" panose="02040503050406030204" pitchFamily="18" charset="0"/>
                      </a:rPr>
                      <m:t>変数</m:t>
                    </m:r>
                    <m:r>
                      <a:rPr lang="en-US" altLang="ja-JP" sz="2800" b="1" i="1">
                        <a:latin typeface="Cambria Math" panose="02040503050406030204" pitchFamily="18" charset="0"/>
                      </a:rPr>
                      <m:t>𝑿</m:t>
                    </m:r>
                  </m:oMath>
                </a14:m>
                <a:endParaRPr kumimoji="1" lang="en-US" altLang="ja-JP" sz="2800" dirty="0"/>
              </a:p>
              <a:p>
                <a:pPr algn="ctr"/>
                <a:r>
                  <a:rPr lang="ja-JP" altLang="en-US" sz="2800" dirty="0"/>
                  <a:t>（原因）</a:t>
                </a:r>
                <a:endParaRPr kumimoji="1" lang="ja-JP" altLang="en-US" sz="2800" dirty="0"/>
              </a:p>
            </p:txBody>
          </p:sp>
        </mc:Choice>
        <mc:Fallback>
          <p:sp>
            <p:nvSpPr>
              <p:cNvPr id="9" name="正方形/長方形 8">
                <a:extLst>
                  <a:ext uri="{FF2B5EF4-FFF2-40B4-BE49-F238E27FC236}">
                    <a16:creationId xmlns:a16="http://schemas.microsoft.com/office/drawing/2014/main" id="{05590140-FDC9-9B1C-8950-75C1794CBAEA}"/>
                  </a:ext>
                </a:extLst>
              </p:cNvPr>
              <p:cNvSpPr>
                <a:spLocks noRot="1" noChangeAspect="1" noMove="1" noResize="1" noEditPoints="1" noAdjustHandles="1" noChangeArrowheads="1" noChangeShapeType="1" noTextEdit="1"/>
              </p:cNvSpPr>
              <p:nvPr/>
            </p:nvSpPr>
            <p:spPr>
              <a:xfrm>
                <a:off x="1273026" y="4833092"/>
                <a:ext cx="2875280" cy="1187212"/>
              </a:xfrm>
              <a:prstGeom prst="rect">
                <a:avLst/>
              </a:prstGeom>
              <a:blipFill>
                <a:blip r:embed="rId4"/>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10" name="正方形/長方形 9">
                <a:extLst>
                  <a:ext uri="{FF2B5EF4-FFF2-40B4-BE49-F238E27FC236}">
                    <a16:creationId xmlns:a16="http://schemas.microsoft.com/office/drawing/2014/main" id="{C1553550-9C25-8095-9869-1171B7D6A25C}"/>
                  </a:ext>
                </a:extLst>
              </p:cNvPr>
              <p:cNvSpPr/>
              <p:nvPr/>
            </p:nvSpPr>
            <p:spPr>
              <a:xfrm>
                <a:off x="4148305" y="1973738"/>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dirty="0"/>
                  <a:t>共変量</a:t>
                </a:r>
                <a:endParaRPr lang="en-US" altLang="ja-JP" sz="2800" dirty="0"/>
              </a:p>
              <a:p>
                <a:pPr algn="ctr"/>
                <a14:m>
                  <m:oMathPara xmlns:m="http://schemas.openxmlformats.org/officeDocument/2006/math">
                    <m:oMathParaPr>
                      <m:jc m:val="centerGroup"/>
                    </m:oMathParaPr>
                    <m:oMath xmlns:m="http://schemas.openxmlformats.org/officeDocument/2006/math">
                      <m:r>
                        <a:rPr lang="en-US" altLang="ja-JP" sz="2800" b="1" i="1" smtClean="0">
                          <a:latin typeface="Cambria Math" panose="02040503050406030204" pitchFamily="18" charset="0"/>
                        </a:rPr>
                        <m:t>𝑪</m:t>
                      </m:r>
                      <m:r>
                        <a:rPr lang="en-US" altLang="ja-JP" sz="2800" b="1" i="1" smtClean="0">
                          <a:latin typeface="Cambria Math" panose="02040503050406030204" pitchFamily="18" charset="0"/>
                        </a:rPr>
                        <m:t>=</m:t>
                      </m:r>
                      <m:d>
                        <m:dPr>
                          <m:ctrlPr>
                            <a:rPr lang="en-US" altLang="ja-JP" sz="2800" i="1" smtClean="0">
                              <a:latin typeface="Cambria Math" panose="02040503050406030204" pitchFamily="18" charset="0"/>
                            </a:rPr>
                          </m:ctrlPr>
                        </m:dPr>
                        <m:e>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1</m:t>
                              </m:r>
                            </m:sub>
                          </m:sSub>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2</m:t>
                              </m:r>
                            </m:sub>
                          </m:sSub>
                          <m:r>
                            <a:rPr lang="en-US" altLang="ja-JP" sz="2800" b="0" i="1" smtClean="0">
                              <a:latin typeface="Cambria Math" panose="02040503050406030204" pitchFamily="18" charset="0"/>
                            </a:rPr>
                            <m:t>,</m:t>
                          </m:r>
                          <m:r>
                            <a:rPr lang="en-US" altLang="ja-JP" sz="2800" b="0" i="1">
                              <a:latin typeface="Cambria Math" panose="02040503050406030204" pitchFamily="18" charset="0"/>
                              <a:ea typeface="Cambria Math" panose="02040503050406030204" pitchFamily="18" charset="0"/>
                            </a:rPr>
                            <m:t>⋯</m:t>
                          </m:r>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𝑝</m:t>
                              </m:r>
                            </m:sub>
                          </m:sSub>
                        </m:e>
                      </m:d>
                    </m:oMath>
                  </m:oMathPara>
                </a14:m>
                <a:endParaRPr kumimoji="1" lang="ja-JP" altLang="en-US" sz="2800" dirty="0"/>
              </a:p>
            </p:txBody>
          </p:sp>
        </mc:Choice>
        <mc:Fallback>
          <p:sp>
            <p:nvSpPr>
              <p:cNvPr id="10" name="正方形/長方形 9">
                <a:extLst>
                  <a:ext uri="{FF2B5EF4-FFF2-40B4-BE49-F238E27FC236}">
                    <a16:creationId xmlns:a16="http://schemas.microsoft.com/office/drawing/2014/main" id="{C1553550-9C25-8095-9869-1171B7D6A25C}"/>
                  </a:ext>
                </a:extLst>
              </p:cNvPr>
              <p:cNvSpPr>
                <a:spLocks noRot="1" noChangeAspect="1" noMove="1" noResize="1" noEditPoints="1" noAdjustHandles="1" noChangeArrowheads="1" noChangeShapeType="1" noTextEdit="1"/>
              </p:cNvSpPr>
              <p:nvPr/>
            </p:nvSpPr>
            <p:spPr>
              <a:xfrm>
                <a:off x="4148305" y="1973738"/>
                <a:ext cx="4372609" cy="1042352"/>
              </a:xfrm>
              <a:prstGeom prst="rect">
                <a:avLst/>
              </a:prstGeom>
              <a:blipFill>
                <a:blip r:embed="rId5"/>
                <a:stretch>
                  <a:fillRect t="-4762" b="-2381"/>
                </a:stretch>
              </a:blipFill>
              <a:ln w="19050">
                <a:solidFill>
                  <a:schemeClr val="accent1"/>
                </a:solidFill>
              </a:ln>
            </p:spPr>
            <p:txBody>
              <a:bodyPr/>
              <a:lstStyle/>
              <a:p>
                <a:r>
                  <a:rPr lang="ja-JP" altLang="en-US">
                    <a:noFill/>
                  </a:rPr>
                  <a:t> </a:t>
                </a:r>
              </a:p>
            </p:txBody>
          </p:sp>
        </mc:Fallback>
      </mc:AlternateContent>
      <p:cxnSp>
        <p:nvCxnSpPr>
          <p:cNvPr id="11" name="直線矢印コネクタ 10">
            <a:extLst>
              <a:ext uri="{FF2B5EF4-FFF2-40B4-BE49-F238E27FC236}">
                <a16:creationId xmlns:a16="http://schemas.microsoft.com/office/drawing/2014/main" id="{82B75116-9359-0B02-47B1-984DCD5803B0}"/>
              </a:ext>
            </a:extLst>
          </p:cNvPr>
          <p:cNvCxnSpPr>
            <a:cxnSpLocks/>
            <a:stCxn id="9" idx="3"/>
            <a:endCxn id="7" idx="1"/>
          </p:cNvCxnSpPr>
          <p:nvPr/>
        </p:nvCxnSpPr>
        <p:spPr>
          <a:xfrm>
            <a:off x="4148306" y="5426698"/>
            <a:ext cx="4325619" cy="1"/>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直線矢印コネクタ 11">
            <a:extLst>
              <a:ext uri="{FF2B5EF4-FFF2-40B4-BE49-F238E27FC236}">
                <a16:creationId xmlns:a16="http://schemas.microsoft.com/office/drawing/2014/main" id="{C9F8F214-8C66-3B60-3E62-79EAB80CF477}"/>
              </a:ext>
            </a:extLst>
          </p:cNvPr>
          <p:cNvCxnSpPr>
            <a:cxnSpLocks/>
            <a:stCxn id="10" idx="3"/>
            <a:endCxn id="7" idx="0"/>
          </p:cNvCxnSpPr>
          <p:nvPr/>
        </p:nvCxnSpPr>
        <p:spPr>
          <a:xfrm>
            <a:off x="8520914" y="2494914"/>
            <a:ext cx="1390651"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線矢印コネクタ 12">
            <a:extLst>
              <a:ext uri="{FF2B5EF4-FFF2-40B4-BE49-F238E27FC236}">
                <a16:creationId xmlns:a16="http://schemas.microsoft.com/office/drawing/2014/main" id="{914CE353-B595-35F8-B2AD-F7419A2BE328}"/>
              </a:ext>
            </a:extLst>
          </p:cNvPr>
          <p:cNvCxnSpPr>
            <a:cxnSpLocks/>
            <a:stCxn id="10" idx="1"/>
            <a:endCxn id="9" idx="0"/>
          </p:cNvCxnSpPr>
          <p:nvPr/>
        </p:nvCxnSpPr>
        <p:spPr>
          <a:xfrm flipH="1">
            <a:off x="2710666" y="2494914"/>
            <a:ext cx="1437639"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3" name="スライド番号プレースホルダー 2">
            <a:extLst>
              <a:ext uri="{FF2B5EF4-FFF2-40B4-BE49-F238E27FC236}">
                <a16:creationId xmlns:a16="http://schemas.microsoft.com/office/drawing/2014/main" id="{8254FAB5-4B27-09D3-CC52-20915D514FD1}"/>
              </a:ext>
            </a:extLst>
          </p:cNvPr>
          <p:cNvSpPr>
            <a:spLocks noGrp="1"/>
          </p:cNvSpPr>
          <p:nvPr>
            <p:ph type="sldNum" sz="quarter" idx="12"/>
          </p:nvPr>
        </p:nvSpPr>
        <p:spPr/>
        <p:txBody>
          <a:bodyPr/>
          <a:lstStyle/>
          <a:p>
            <a:fld id="{21218AEF-8260-6F42-89D9-6D82E053F226}" type="slidenum">
              <a:rPr kumimoji="1" lang="ja-JP" altLang="en-US" smtClean="0"/>
              <a:t>3</a:t>
            </a:fld>
            <a:endParaRPr kumimoji="1" lang="ja-JP" altLang="en-US"/>
          </a:p>
        </p:txBody>
      </p:sp>
    </p:spTree>
    <p:extLst>
      <p:ext uri="{BB962C8B-B14F-4D97-AF65-F5344CB8AC3E}">
        <p14:creationId xmlns:p14="http://schemas.microsoft.com/office/powerpoint/2010/main" val="1730506944"/>
      </p:ext>
    </p:extLst>
  </p:cSld>
  <p:clrMapOvr>
    <a:masterClrMapping/>
  </p:clrMapOvr>
  <mc:AlternateContent xmlns:mc="http://schemas.openxmlformats.org/markup-compatibility/2006">
    <mc:Choice xmlns:p14="http://schemas.microsoft.com/office/powerpoint/2010/main" Requires="p14">
      <p:transition spd="slow" p14:dur="2000" advTm="28357"/>
    </mc:Choice>
    <mc:Fallback>
      <p:transition spd="slow" advTm="28357"/>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96F1A12-7F76-D570-689E-BF263CA21264}"/>
              </a:ext>
            </a:extLst>
          </p:cNvPr>
          <p:cNvSpPr>
            <a:spLocks noGrp="1"/>
          </p:cNvSpPr>
          <p:nvPr>
            <p:ph type="title"/>
          </p:nvPr>
        </p:nvSpPr>
        <p:spPr/>
        <p:txBody>
          <a:bodyPr>
            <a:noAutofit/>
          </a:bodyPr>
          <a:lstStyle/>
          <a:p>
            <a:r>
              <a:rPr kumimoji="1" lang="ja-JP" altLang="en-US"/>
              <a:t>二重</a:t>
            </a:r>
            <a:r>
              <a:rPr lang="ja-JP" altLang="en-US"/>
              <a:t>頑健推定法</a:t>
            </a:r>
            <a:br>
              <a:rPr lang="en-US" altLang="ja-JP" dirty="0"/>
            </a:br>
            <a:r>
              <a:rPr lang="en-US" altLang="ja-JP" dirty="0"/>
              <a:t>(Bang and Robins, 2005; Hoshino, 2007)</a:t>
            </a:r>
            <a:endParaRPr lang="ja-JP" altLang="en-US" dirty="0"/>
          </a:p>
        </p:txBody>
      </p:sp>
      <p:sp>
        <p:nvSpPr>
          <p:cNvPr id="3" name="コンテンツ プレースホルダー 2">
            <a:extLst>
              <a:ext uri="{FF2B5EF4-FFF2-40B4-BE49-F238E27FC236}">
                <a16:creationId xmlns:a16="http://schemas.microsoft.com/office/drawing/2014/main" id="{B726CCAE-0952-A740-7E60-464FEB02B5A7}"/>
              </a:ext>
            </a:extLst>
          </p:cNvPr>
          <p:cNvSpPr>
            <a:spLocks noGrp="1"/>
          </p:cNvSpPr>
          <p:nvPr>
            <p:ph idx="1"/>
          </p:nvPr>
        </p:nvSpPr>
        <p:spPr>
          <a:xfrm>
            <a:off x="838200" y="1690688"/>
            <a:ext cx="10515600" cy="1738312"/>
          </a:xfrm>
        </p:spPr>
        <p:txBody>
          <a:bodyPr>
            <a:normAutofit lnSpcReduction="10000"/>
          </a:bodyPr>
          <a:lstStyle/>
          <a:p>
            <a:pPr>
              <a:buFont typeface="Wingdings" pitchFamily="2" charset="2"/>
              <a:buChar char="u"/>
            </a:pPr>
            <a:r>
              <a:rPr kumimoji="1" lang="en-US" altLang="ja-JP" sz="2800" dirty="0"/>
              <a:t> Group Lasso and Doubly Robust Estimation (</a:t>
            </a:r>
            <a:r>
              <a:rPr kumimoji="1" lang="en-US" altLang="ja-JP" sz="2800" dirty="0" err="1"/>
              <a:t>GLiDeR</a:t>
            </a:r>
            <a:r>
              <a:rPr kumimoji="1" lang="en-US" altLang="ja-JP" sz="2800" dirty="0"/>
              <a:t>)</a:t>
            </a:r>
            <a:br>
              <a:rPr kumimoji="1" lang="en-US" altLang="ja-JP" sz="2800" dirty="0"/>
            </a:br>
            <a:r>
              <a:rPr kumimoji="1" lang="en-US" altLang="ja-JP" sz="2800" dirty="0"/>
              <a:t>(Koch et al., 2017) </a:t>
            </a:r>
            <a:endParaRPr lang="en-US" altLang="ja-JP" dirty="0"/>
          </a:p>
          <a:p>
            <a:pPr>
              <a:buClr>
                <a:srgbClr val="FF0000"/>
              </a:buClr>
              <a:buFont typeface="Wingdings" pitchFamily="2" charset="2"/>
              <a:buChar char="Ø"/>
            </a:pPr>
            <a:r>
              <a:rPr lang="ja-JP" altLang="en-US">
                <a:solidFill>
                  <a:schemeClr val="accent2"/>
                </a:solidFill>
              </a:rPr>
              <a:t>傾向</a:t>
            </a:r>
            <a:r>
              <a:rPr lang="ja-JP" altLang="en-US" dirty="0">
                <a:solidFill>
                  <a:schemeClr val="accent2"/>
                </a:solidFill>
              </a:rPr>
              <a:t>スコアモデル</a:t>
            </a:r>
            <a:r>
              <a:rPr lang="ja-JP" altLang="en-US" dirty="0"/>
              <a:t>と</a:t>
            </a:r>
            <a:r>
              <a:rPr lang="ja-JP" altLang="en-US" dirty="0">
                <a:solidFill>
                  <a:schemeClr val="accent1"/>
                </a:solidFill>
              </a:rPr>
              <a:t>結果モデル</a:t>
            </a:r>
            <a:r>
              <a:rPr lang="ja-JP" altLang="en-US"/>
              <a:t>に対して，同時に回帰係数の推定および共変量選択</a:t>
            </a:r>
            <a:r>
              <a:rPr lang="ja-JP" altLang="en-US" dirty="0"/>
              <a:t>を行うこと</a:t>
            </a:r>
            <a:r>
              <a:rPr lang="ja-JP" altLang="en-US"/>
              <a:t>ができる</a:t>
            </a:r>
            <a:endParaRPr lang="en-US" altLang="ja-JP" dirty="0"/>
          </a:p>
        </p:txBody>
      </p:sp>
      <p:sp>
        <p:nvSpPr>
          <p:cNvPr id="8" name="スライド番号プレースホルダー 7">
            <a:extLst>
              <a:ext uri="{FF2B5EF4-FFF2-40B4-BE49-F238E27FC236}">
                <a16:creationId xmlns:a16="http://schemas.microsoft.com/office/drawing/2014/main" id="{FC95B3F6-403D-0155-426B-6C2049B6EB98}"/>
              </a:ext>
            </a:extLst>
          </p:cNvPr>
          <p:cNvSpPr>
            <a:spLocks noGrp="1"/>
          </p:cNvSpPr>
          <p:nvPr>
            <p:ph type="sldNum" sz="quarter" idx="12"/>
          </p:nvPr>
        </p:nvSpPr>
        <p:spPr/>
        <p:txBody>
          <a:bodyPr/>
          <a:lstStyle/>
          <a:p>
            <a:fld id="{21218AEF-8260-6F42-89D9-6D82E053F226}" type="slidenum">
              <a:rPr kumimoji="1" lang="ja-JP" altLang="en-US" smtClean="0"/>
              <a:t>4</a:t>
            </a:fld>
            <a:endParaRPr kumimoji="1" lang="ja-JP" altLang="en-US"/>
          </a:p>
        </p:txBody>
      </p:sp>
      <p:sp>
        <p:nvSpPr>
          <p:cNvPr id="4" name="テキスト ボックス 3">
            <a:extLst>
              <a:ext uri="{FF2B5EF4-FFF2-40B4-BE49-F238E27FC236}">
                <a16:creationId xmlns:a16="http://schemas.microsoft.com/office/drawing/2014/main" id="{6B285A73-AF7C-E2A2-9757-1D2C1121C24F}"/>
              </a:ext>
            </a:extLst>
          </p:cNvPr>
          <p:cNvSpPr txBox="1"/>
          <p:nvPr/>
        </p:nvSpPr>
        <p:spPr>
          <a:xfrm>
            <a:off x="2033144" y="3857674"/>
            <a:ext cx="10028869" cy="954107"/>
          </a:xfrm>
          <a:prstGeom prst="rect">
            <a:avLst/>
          </a:prstGeom>
          <a:noFill/>
          <a:ln w="28575">
            <a:solidFill>
              <a:schemeClr val="accent1"/>
            </a:solidFill>
          </a:ln>
        </p:spPr>
        <p:txBody>
          <a:bodyPr wrap="square" rtlCol="0">
            <a:spAutoFit/>
          </a:bodyPr>
          <a:lstStyle/>
          <a:p>
            <a:r>
              <a:rPr lang="en-US" altLang="ja-JP" sz="2800" dirty="0" err="1"/>
              <a:t>GLiDeR</a:t>
            </a:r>
            <a:r>
              <a:rPr lang="ja-JP" altLang="en-US" sz="2800"/>
              <a:t>で想定されている結果モデルは線形であるので，</a:t>
            </a:r>
            <a:r>
              <a:rPr lang="ja-JP" altLang="en-US" sz="2800">
                <a:solidFill>
                  <a:schemeClr val="accent1"/>
                </a:solidFill>
              </a:rPr>
              <a:t>結果モデル</a:t>
            </a:r>
            <a:r>
              <a:rPr lang="ja-JP" altLang="en-US" sz="2800"/>
              <a:t>の真の構造が非線形のとき，推定の精度が悪くなる</a:t>
            </a:r>
            <a:endParaRPr lang="en-US" altLang="ja-JP" sz="2800" dirty="0"/>
          </a:p>
        </p:txBody>
      </p:sp>
      <p:sp>
        <p:nvSpPr>
          <p:cNvPr id="9" name="右矢印 8">
            <a:extLst>
              <a:ext uri="{FF2B5EF4-FFF2-40B4-BE49-F238E27FC236}">
                <a16:creationId xmlns:a16="http://schemas.microsoft.com/office/drawing/2014/main" id="{35106CB4-AEDE-17CA-09CB-ED6D4723DC04}"/>
              </a:ext>
            </a:extLst>
          </p:cNvPr>
          <p:cNvSpPr/>
          <p:nvPr/>
        </p:nvSpPr>
        <p:spPr>
          <a:xfrm>
            <a:off x="520255" y="3998542"/>
            <a:ext cx="1445654" cy="672369"/>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a:extLst>
              <a:ext uri="{FF2B5EF4-FFF2-40B4-BE49-F238E27FC236}">
                <a16:creationId xmlns:a16="http://schemas.microsoft.com/office/drawing/2014/main" id="{62398040-03E4-8CB5-74D6-CC8C0AD3FA53}"/>
              </a:ext>
            </a:extLst>
          </p:cNvPr>
          <p:cNvSpPr txBox="1"/>
          <p:nvPr/>
        </p:nvSpPr>
        <p:spPr>
          <a:xfrm>
            <a:off x="587490" y="3500464"/>
            <a:ext cx="1261884" cy="523220"/>
          </a:xfrm>
          <a:prstGeom prst="rect">
            <a:avLst/>
          </a:prstGeom>
          <a:noFill/>
        </p:spPr>
        <p:txBody>
          <a:bodyPr wrap="none" rtlCol="0">
            <a:spAutoFit/>
          </a:bodyPr>
          <a:lstStyle/>
          <a:p>
            <a:r>
              <a:rPr kumimoji="1" lang="ja-JP" altLang="en-US" sz="2800"/>
              <a:t>しかし</a:t>
            </a:r>
          </a:p>
        </p:txBody>
      </p:sp>
      <p:sp>
        <p:nvSpPr>
          <p:cNvPr id="11" name="テキスト ボックス 10">
            <a:extLst>
              <a:ext uri="{FF2B5EF4-FFF2-40B4-BE49-F238E27FC236}">
                <a16:creationId xmlns:a16="http://schemas.microsoft.com/office/drawing/2014/main" id="{83C6DA00-D9BD-BD24-D069-8E47F4623BF8}"/>
              </a:ext>
            </a:extLst>
          </p:cNvPr>
          <p:cNvSpPr txBox="1"/>
          <p:nvPr/>
        </p:nvSpPr>
        <p:spPr>
          <a:xfrm>
            <a:off x="2245659" y="5677056"/>
            <a:ext cx="8748162" cy="954107"/>
          </a:xfrm>
          <a:prstGeom prst="rect">
            <a:avLst/>
          </a:prstGeom>
          <a:noFill/>
          <a:ln w="28575">
            <a:solidFill>
              <a:srgbClr val="FF0000"/>
            </a:solidFill>
          </a:ln>
        </p:spPr>
        <p:txBody>
          <a:bodyPr wrap="square" rtlCol="0">
            <a:spAutoFit/>
          </a:bodyPr>
          <a:lstStyle/>
          <a:p>
            <a:r>
              <a:rPr kumimoji="1" lang="ja-JP" altLang="en-US" sz="2800"/>
              <a:t>結果モデルに非線形モデルを考える必要がある</a:t>
            </a:r>
            <a:endParaRPr kumimoji="1" lang="en-US" altLang="ja-JP" sz="2800" dirty="0"/>
          </a:p>
          <a:p>
            <a:r>
              <a:rPr lang="ja-JP" altLang="en-US" sz="2800"/>
              <a:t>（今回は交互作用項を含めた非線形モデルを考える）</a:t>
            </a:r>
            <a:endParaRPr kumimoji="1" lang="ja-JP" altLang="en-US" sz="2800"/>
          </a:p>
        </p:txBody>
      </p:sp>
      <p:sp>
        <p:nvSpPr>
          <p:cNvPr id="13" name="下矢印 12">
            <a:extLst>
              <a:ext uri="{FF2B5EF4-FFF2-40B4-BE49-F238E27FC236}">
                <a16:creationId xmlns:a16="http://schemas.microsoft.com/office/drawing/2014/main" id="{70E212D2-B709-CA3D-3F33-3A0CA44D33A6}"/>
              </a:ext>
            </a:extLst>
          </p:cNvPr>
          <p:cNvSpPr/>
          <p:nvPr/>
        </p:nvSpPr>
        <p:spPr>
          <a:xfrm>
            <a:off x="4991797" y="5017451"/>
            <a:ext cx="1807779" cy="515007"/>
          </a:xfrm>
          <a:prstGeom prst="downArrow">
            <a:avLst/>
          </a:prstGeom>
          <a:solidFill>
            <a:srgbClr val="FF0000"/>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465091272"/>
      </p:ext>
    </p:extLst>
  </p:cSld>
  <p:clrMapOvr>
    <a:masterClrMapping/>
  </p:clrMapOvr>
  <mc:AlternateContent xmlns:mc="http://schemas.openxmlformats.org/markup-compatibility/2006">
    <mc:Choice xmlns:p14="http://schemas.microsoft.com/office/powerpoint/2010/main" Requires="p14">
      <p:transition spd="slow" p14:dur="2000" advTm="50633"/>
    </mc:Choice>
    <mc:Fallback>
      <p:transition spd="slow" advTm="50633"/>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96F1A12-7F76-D570-689E-BF263CA21264}"/>
              </a:ext>
            </a:extLst>
          </p:cNvPr>
          <p:cNvSpPr>
            <a:spLocks noGrp="1"/>
          </p:cNvSpPr>
          <p:nvPr>
            <p:ph type="title"/>
          </p:nvPr>
        </p:nvSpPr>
        <p:spPr/>
        <p:txBody>
          <a:bodyPr>
            <a:noAutofit/>
          </a:bodyPr>
          <a:lstStyle/>
          <a:p>
            <a:r>
              <a:rPr lang="ja-JP" altLang="en-US"/>
              <a:t>本研究の目的</a:t>
            </a:r>
            <a:endParaRPr lang="ja-JP" altLang="en-US" dirty="0"/>
          </a:p>
        </p:txBody>
      </p:sp>
      <p:sp>
        <p:nvSpPr>
          <p:cNvPr id="3" name="コンテンツ プレースホルダー 2">
            <a:extLst>
              <a:ext uri="{FF2B5EF4-FFF2-40B4-BE49-F238E27FC236}">
                <a16:creationId xmlns:a16="http://schemas.microsoft.com/office/drawing/2014/main" id="{B726CCAE-0952-A740-7E60-464FEB02B5A7}"/>
              </a:ext>
            </a:extLst>
          </p:cNvPr>
          <p:cNvSpPr>
            <a:spLocks noGrp="1"/>
          </p:cNvSpPr>
          <p:nvPr>
            <p:ph idx="1"/>
          </p:nvPr>
        </p:nvSpPr>
        <p:spPr>
          <a:xfrm>
            <a:off x="838200" y="1690688"/>
            <a:ext cx="10515600" cy="1136595"/>
          </a:xfrm>
        </p:spPr>
        <p:txBody>
          <a:bodyPr>
            <a:normAutofit/>
          </a:bodyPr>
          <a:lstStyle/>
          <a:p>
            <a:pPr>
              <a:buClr>
                <a:srgbClr val="7030A0"/>
              </a:buClr>
              <a:buFont typeface="Wingdings" pitchFamily="2" charset="2"/>
              <a:buChar char="Ø"/>
            </a:pPr>
            <a:r>
              <a:rPr lang="ja-JP" altLang="en-US"/>
              <a:t>交互作用項を含んだ非線形モデルを考えると共変量が多いときに組み合わせの個数が多くなり計算が困難になる</a:t>
            </a:r>
            <a:endParaRPr lang="en-US" altLang="ja-JP" dirty="0"/>
          </a:p>
        </p:txBody>
      </p:sp>
      <p:sp>
        <p:nvSpPr>
          <p:cNvPr id="6" name="テキスト ボックス 5">
            <a:extLst>
              <a:ext uri="{FF2B5EF4-FFF2-40B4-BE49-F238E27FC236}">
                <a16:creationId xmlns:a16="http://schemas.microsoft.com/office/drawing/2014/main" id="{61A71829-1208-0E82-30E3-4BF66E575358}"/>
              </a:ext>
            </a:extLst>
          </p:cNvPr>
          <p:cNvSpPr txBox="1"/>
          <p:nvPr/>
        </p:nvSpPr>
        <p:spPr>
          <a:xfrm>
            <a:off x="2955867" y="3172663"/>
            <a:ext cx="6280259" cy="954107"/>
          </a:xfrm>
          <a:prstGeom prst="rect">
            <a:avLst/>
          </a:prstGeom>
          <a:noFill/>
          <a:ln w="28575">
            <a:solidFill>
              <a:srgbClr val="FF0000"/>
            </a:solidFill>
          </a:ln>
        </p:spPr>
        <p:txBody>
          <a:bodyPr wrap="square">
            <a:spAutoFit/>
          </a:bodyPr>
          <a:lstStyle/>
          <a:p>
            <a:r>
              <a:rPr lang="ja-JP" altLang="en-US" sz="2800"/>
              <a:t>球共分散を組み込むことにより</a:t>
            </a:r>
            <a:endParaRPr lang="en-US" altLang="ja-JP" sz="2800" dirty="0"/>
          </a:p>
          <a:p>
            <a:r>
              <a:rPr lang="ja-JP" altLang="en-US" sz="2800"/>
              <a:t>非線形に対応した</a:t>
            </a:r>
            <a:r>
              <a:rPr lang="en-US" altLang="ja-JP" sz="2800" dirty="0" err="1"/>
              <a:t>GLiDeR</a:t>
            </a:r>
            <a:r>
              <a:rPr lang="ja-JP" altLang="en-US" sz="2800"/>
              <a:t>を提案する</a:t>
            </a:r>
            <a:endParaRPr kumimoji="1" lang="ja-JP" altLang="en-US" sz="2800" dirty="0"/>
          </a:p>
        </p:txBody>
      </p:sp>
      <p:sp>
        <p:nvSpPr>
          <p:cNvPr id="7" name="右矢印 6">
            <a:extLst>
              <a:ext uri="{FF2B5EF4-FFF2-40B4-BE49-F238E27FC236}">
                <a16:creationId xmlns:a16="http://schemas.microsoft.com/office/drawing/2014/main" id="{701BC92F-0EAB-D76C-AA72-1463D9F57A79}"/>
              </a:ext>
            </a:extLst>
          </p:cNvPr>
          <p:cNvSpPr/>
          <p:nvPr/>
        </p:nvSpPr>
        <p:spPr>
          <a:xfrm>
            <a:off x="1266032" y="3458603"/>
            <a:ext cx="1213945" cy="441435"/>
          </a:xfrm>
          <a:prstGeom prst="rightArrow">
            <a:avLst/>
          </a:prstGeom>
          <a:solidFill>
            <a:srgbClr val="FF0000"/>
          </a:solidFill>
          <a:ln>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p>
        </p:txBody>
      </p:sp>
      <p:sp>
        <p:nvSpPr>
          <p:cNvPr id="5" name="テキスト ボックス 4">
            <a:extLst>
              <a:ext uri="{FF2B5EF4-FFF2-40B4-BE49-F238E27FC236}">
                <a16:creationId xmlns:a16="http://schemas.microsoft.com/office/drawing/2014/main" id="{058DD381-F58D-5C66-E0DA-9DBD36C7040A}"/>
              </a:ext>
            </a:extLst>
          </p:cNvPr>
          <p:cNvSpPr txBox="1"/>
          <p:nvPr/>
        </p:nvSpPr>
        <p:spPr>
          <a:xfrm>
            <a:off x="697704" y="4758090"/>
            <a:ext cx="10796587" cy="461665"/>
          </a:xfrm>
          <a:prstGeom prst="rect">
            <a:avLst/>
          </a:prstGeom>
          <a:noFill/>
        </p:spPr>
        <p:txBody>
          <a:bodyPr wrap="square" rtlCol="0">
            <a:spAutoFit/>
          </a:bodyPr>
          <a:lstStyle/>
          <a:p>
            <a:r>
              <a:rPr kumimoji="1" lang="en-US" altLang="ja-JP" sz="2400" dirty="0"/>
              <a:t>(</a:t>
            </a:r>
            <a:r>
              <a:rPr kumimoji="1" lang="ja-JP" altLang="en-US" sz="2400"/>
              <a:t>球共分散</a:t>
            </a:r>
            <a:r>
              <a:rPr kumimoji="1" lang="en-US" altLang="ja-JP" sz="2400" dirty="0"/>
              <a:t>(</a:t>
            </a:r>
            <a:r>
              <a:rPr lang="en-US" altLang="ja-JP" sz="2400" dirty="0">
                <a:solidFill>
                  <a:schemeClr val="dk1"/>
                </a:solidFill>
                <a:latin typeface="+mn-ea"/>
                <a:cs typeface="Arial" panose="020B0604020202020204" pitchFamily="34" charset="0"/>
              </a:rPr>
              <a:t>Pan et al.,</a:t>
            </a:r>
            <a:r>
              <a:rPr lang="ja-JP" altLang="en-US" sz="2400">
                <a:solidFill>
                  <a:schemeClr val="dk1"/>
                </a:solidFill>
                <a:latin typeface="+mn-ea"/>
                <a:cs typeface="Arial" panose="020B0604020202020204" pitchFamily="34" charset="0"/>
              </a:rPr>
              <a:t> </a:t>
            </a:r>
            <a:r>
              <a:rPr lang="en-US" altLang="ja-JP" sz="2400" dirty="0">
                <a:solidFill>
                  <a:schemeClr val="dk1"/>
                </a:solidFill>
                <a:latin typeface="+mn-ea"/>
                <a:cs typeface="Arial" panose="020B0604020202020204" pitchFamily="34" charset="0"/>
              </a:rPr>
              <a:t>2020</a:t>
            </a:r>
            <a:r>
              <a:rPr kumimoji="1" lang="en-US" altLang="ja-JP" sz="2400" dirty="0"/>
              <a:t>)</a:t>
            </a:r>
            <a:r>
              <a:rPr kumimoji="1" lang="ja-JP" altLang="en-US" sz="2400"/>
              <a:t>：</a:t>
            </a:r>
            <a:r>
              <a:rPr lang="ja-JP" altLang="en-US" sz="2400"/>
              <a:t>２変数間の</a:t>
            </a:r>
            <a:r>
              <a:rPr kumimoji="1" lang="ja-JP" altLang="en-US" sz="2400">
                <a:latin typeface="+mn-ea"/>
                <a:cs typeface="Arial" panose="020B0604020202020204" pitchFamily="34" charset="0"/>
              </a:rPr>
              <a:t>非線形性を捉える</a:t>
            </a:r>
            <a:r>
              <a:rPr lang="ja-JP" altLang="en-US" sz="2400">
                <a:latin typeface="+mn-ea"/>
                <a:cs typeface="Arial" panose="020B0604020202020204" pitchFamily="34" charset="0"/>
              </a:rPr>
              <a:t>ことができる尺度</a:t>
            </a:r>
            <a:r>
              <a:rPr kumimoji="1" lang="en-US" altLang="ja-JP" sz="2400" dirty="0">
                <a:latin typeface="+mn-ea"/>
                <a:cs typeface="Arial" panose="020B0604020202020204" pitchFamily="34" charset="0"/>
              </a:rPr>
              <a:t>)</a:t>
            </a:r>
          </a:p>
        </p:txBody>
      </p:sp>
      <p:sp>
        <p:nvSpPr>
          <p:cNvPr id="8" name="スライド番号プレースホルダー 7">
            <a:extLst>
              <a:ext uri="{FF2B5EF4-FFF2-40B4-BE49-F238E27FC236}">
                <a16:creationId xmlns:a16="http://schemas.microsoft.com/office/drawing/2014/main" id="{FC95B3F6-403D-0155-426B-6C2049B6EB98}"/>
              </a:ext>
            </a:extLst>
          </p:cNvPr>
          <p:cNvSpPr>
            <a:spLocks noGrp="1"/>
          </p:cNvSpPr>
          <p:nvPr>
            <p:ph type="sldNum" sz="quarter" idx="12"/>
          </p:nvPr>
        </p:nvSpPr>
        <p:spPr/>
        <p:txBody>
          <a:bodyPr/>
          <a:lstStyle/>
          <a:p>
            <a:fld id="{21218AEF-8260-6F42-89D9-6D82E053F226}" type="slidenum">
              <a:rPr kumimoji="1" lang="ja-JP" altLang="en-US" smtClean="0"/>
              <a:t>5</a:t>
            </a:fld>
            <a:endParaRPr kumimoji="1" lang="ja-JP" altLang="en-US"/>
          </a:p>
        </p:txBody>
      </p:sp>
    </p:spTree>
    <p:extLst>
      <p:ext uri="{BB962C8B-B14F-4D97-AF65-F5344CB8AC3E}">
        <p14:creationId xmlns:p14="http://schemas.microsoft.com/office/powerpoint/2010/main" val="339505357"/>
      </p:ext>
    </p:extLst>
  </p:cSld>
  <p:clrMapOvr>
    <a:masterClrMapping/>
  </p:clrMapOvr>
  <mc:AlternateContent xmlns:mc="http://schemas.openxmlformats.org/markup-compatibility/2006">
    <mc:Choice xmlns:p14="http://schemas.microsoft.com/office/powerpoint/2010/main" Requires="p14">
      <p:transition spd="slow" p14:dur="2000" advTm="23548"/>
    </mc:Choice>
    <mc:Fallback>
      <p:transition spd="slow" advTm="23548"/>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テキスト ボックス 18">
            <a:extLst>
              <a:ext uri="{FF2B5EF4-FFF2-40B4-BE49-F238E27FC236}">
                <a16:creationId xmlns:a16="http://schemas.microsoft.com/office/drawing/2014/main" id="{2CEA7783-49A3-46C8-B574-55ACA18523A1}"/>
              </a:ext>
            </a:extLst>
          </p:cNvPr>
          <p:cNvSpPr txBox="1"/>
          <p:nvPr/>
        </p:nvSpPr>
        <p:spPr>
          <a:xfrm>
            <a:off x="5146206" y="4479149"/>
            <a:ext cx="2376806" cy="707886"/>
          </a:xfrm>
          <a:prstGeom prst="rect">
            <a:avLst/>
          </a:prstGeom>
          <a:noFill/>
        </p:spPr>
        <p:txBody>
          <a:bodyPr wrap="square" rtlCol="0">
            <a:spAutoFit/>
          </a:bodyPr>
          <a:lstStyle/>
          <a:p>
            <a:r>
              <a:rPr kumimoji="1" lang="ja-JP" altLang="en-US" sz="4000" dirty="0">
                <a:solidFill>
                  <a:srgbClr val="FF0000"/>
                </a:solidFill>
              </a:rPr>
              <a:t>因果効果</a:t>
            </a:r>
          </a:p>
        </p:txBody>
      </p:sp>
      <p:sp>
        <p:nvSpPr>
          <p:cNvPr id="14" name="テキスト ボックス 13">
            <a:extLst>
              <a:ext uri="{FF2B5EF4-FFF2-40B4-BE49-F238E27FC236}">
                <a16:creationId xmlns:a16="http://schemas.microsoft.com/office/drawing/2014/main" id="{03AC6FB0-272F-47C0-BB94-764832ADED08}"/>
              </a:ext>
            </a:extLst>
          </p:cNvPr>
          <p:cNvSpPr txBox="1"/>
          <p:nvPr/>
        </p:nvSpPr>
        <p:spPr>
          <a:xfrm>
            <a:off x="235424" y="3122660"/>
            <a:ext cx="3122191" cy="523220"/>
          </a:xfrm>
          <a:prstGeom prst="rect">
            <a:avLst/>
          </a:prstGeom>
          <a:noFill/>
        </p:spPr>
        <p:txBody>
          <a:bodyPr wrap="square" rtlCol="0">
            <a:spAutoFit/>
          </a:bodyPr>
          <a:lstStyle/>
          <a:p>
            <a:r>
              <a:rPr kumimoji="1" lang="ja-JP" altLang="en-US" sz="2800">
                <a:solidFill>
                  <a:schemeClr val="accent2"/>
                </a:solidFill>
              </a:rPr>
              <a:t>傾向スコアモデル</a:t>
            </a:r>
            <a:endParaRPr kumimoji="1" lang="en-US" altLang="ja-JP" sz="2800" dirty="0">
              <a:solidFill>
                <a:schemeClr val="accent2"/>
              </a:solidFill>
            </a:endParaRPr>
          </a:p>
        </p:txBody>
      </p:sp>
      <p:sp>
        <p:nvSpPr>
          <p:cNvPr id="16" name="テキスト ボックス 15">
            <a:extLst>
              <a:ext uri="{FF2B5EF4-FFF2-40B4-BE49-F238E27FC236}">
                <a16:creationId xmlns:a16="http://schemas.microsoft.com/office/drawing/2014/main" id="{E8D1BC0F-7AC3-484A-9F9B-B4CD9F262AC0}"/>
              </a:ext>
            </a:extLst>
          </p:cNvPr>
          <p:cNvSpPr txBox="1"/>
          <p:nvPr/>
        </p:nvSpPr>
        <p:spPr>
          <a:xfrm>
            <a:off x="9588887" y="3139761"/>
            <a:ext cx="2082997" cy="523220"/>
          </a:xfrm>
          <a:prstGeom prst="rect">
            <a:avLst/>
          </a:prstGeom>
          <a:noFill/>
        </p:spPr>
        <p:txBody>
          <a:bodyPr wrap="square" rtlCol="0">
            <a:spAutoFit/>
          </a:bodyPr>
          <a:lstStyle/>
          <a:p>
            <a:r>
              <a:rPr kumimoji="1" lang="ja-JP" altLang="en-US" sz="2800">
                <a:solidFill>
                  <a:schemeClr val="accent1"/>
                </a:solidFill>
              </a:rPr>
              <a:t>結果モデル</a:t>
            </a:r>
            <a:endParaRPr kumimoji="1" lang="en-US" altLang="ja-JP" sz="2800" dirty="0">
              <a:solidFill>
                <a:schemeClr val="accent1"/>
              </a:solidFill>
            </a:endParaRPr>
          </a:p>
        </p:txBody>
      </p:sp>
      <mc:AlternateContent xmlns:mc="http://schemas.openxmlformats.org/markup-compatibility/2006">
        <mc:Choice xmlns:a14="http://schemas.microsoft.com/office/drawing/2010/main" Requires="a14">
          <p:sp>
            <p:nvSpPr>
              <p:cNvPr id="7" name="正方形/長方形 6">
                <a:extLst>
                  <a:ext uri="{FF2B5EF4-FFF2-40B4-BE49-F238E27FC236}">
                    <a16:creationId xmlns:a16="http://schemas.microsoft.com/office/drawing/2014/main" id="{8D3E4267-EA93-0F0B-502D-C50FA37170BE}"/>
                  </a:ext>
                </a:extLst>
              </p:cNvPr>
              <p:cNvSpPr/>
              <p:nvPr/>
            </p:nvSpPr>
            <p:spPr>
              <a:xfrm>
                <a:off x="8473925" y="4833092"/>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lang="en-US" altLang="ja-JP" sz="2800" b="1" i="1">
                        <a:latin typeface="Cambria Math" panose="02040503050406030204" pitchFamily="18" charset="0"/>
                      </a:rPr>
                      <m:t>𝒀</m:t>
                    </m:r>
                  </m:oMath>
                </a14:m>
                <a:endParaRPr kumimoji="1" lang="en-US" altLang="ja-JP" sz="2800"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7" name="正方形/長方形 6">
                <a:extLst>
                  <a:ext uri="{FF2B5EF4-FFF2-40B4-BE49-F238E27FC236}">
                    <a16:creationId xmlns:a16="http://schemas.microsoft.com/office/drawing/2014/main" id="{8D3E4267-EA93-0F0B-502D-C50FA37170BE}"/>
                  </a:ext>
                </a:extLst>
              </p:cNvPr>
              <p:cNvSpPr>
                <a:spLocks noRot="1" noChangeAspect="1" noMove="1" noResize="1" noEditPoints="1" noAdjustHandles="1" noChangeArrowheads="1" noChangeShapeType="1" noTextEdit="1"/>
              </p:cNvSpPr>
              <p:nvPr/>
            </p:nvSpPr>
            <p:spPr>
              <a:xfrm>
                <a:off x="8473925" y="4833092"/>
                <a:ext cx="2875280" cy="1187213"/>
              </a:xfrm>
              <a:prstGeom prst="rect">
                <a:avLst/>
              </a:prstGeom>
              <a:blipFill>
                <a:blip r:embed="rId3"/>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9" name="正方形/長方形 8">
                <a:extLst>
                  <a:ext uri="{FF2B5EF4-FFF2-40B4-BE49-F238E27FC236}">
                    <a16:creationId xmlns:a16="http://schemas.microsoft.com/office/drawing/2014/main" id="{05590140-FDC9-9B1C-8950-75C1794CBAEA}"/>
                  </a:ext>
                </a:extLst>
              </p:cNvPr>
              <p:cNvSpPr/>
              <p:nvPr/>
            </p:nvSpPr>
            <p:spPr>
              <a:xfrm>
                <a:off x="1273026" y="4833092"/>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a:t>
                </a:r>
                <a14:m>
                  <m:oMath xmlns:m="http://schemas.openxmlformats.org/officeDocument/2006/math">
                    <m:r>
                      <a:rPr lang="ja-JP" altLang="en-US" sz="2800" b="0" i="1" dirty="0">
                        <a:latin typeface="Cambria Math" panose="02040503050406030204" pitchFamily="18" charset="0"/>
                      </a:rPr>
                      <m:t>変数</m:t>
                    </m:r>
                    <m:r>
                      <a:rPr lang="en-US" altLang="ja-JP" sz="2800" b="1" i="1">
                        <a:latin typeface="Cambria Math" panose="02040503050406030204" pitchFamily="18" charset="0"/>
                      </a:rPr>
                      <m:t>𝑿</m:t>
                    </m:r>
                  </m:oMath>
                </a14:m>
                <a:endParaRPr kumimoji="1" lang="en-US" altLang="ja-JP" sz="2800" dirty="0"/>
              </a:p>
              <a:p>
                <a:pPr algn="ctr"/>
                <a:r>
                  <a:rPr lang="ja-JP" altLang="en-US" sz="2800" dirty="0"/>
                  <a:t>（原因）</a:t>
                </a:r>
                <a:endParaRPr kumimoji="1" lang="ja-JP" altLang="en-US" sz="2800" dirty="0"/>
              </a:p>
            </p:txBody>
          </p:sp>
        </mc:Choice>
        <mc:Fallback>
          <p:sp>
            <p:nvSpPr>
              <p:cNvPr id="9" name="正方形/長方形 8">
                <a:extLst>
                  <a:ext uri="{FF2B5EF4-FFF2-40B4-BE49-F238E27FC236}">
                    <a16:creationId xmlns:a16="http://schemas.microsoft.com/office/drawing/2014/main" id="{05590140-FDC9-9B1C-8950-75C1794CBAEA}"/>
                  </a:ext>
                </a:extLst>
              </p:cNvPr>
              <p:cNvSpPr>
                <a:spLocks noRot="1" noChangeAspect="1" noMove="1" noResize="1" noEditPoints="1" noAdjustHandles="1" noChangeArrowheads="1" noChangeShapeType="1" noTextEdit="1"/>
              </p:cNvSpPr>
              <p:nvPr/>
            </p:nvSpPr>
            <p:spPr>
              <a:xfrm>
                <a:off x="1273026" y="4833092"/>
                <a:ext cx="2875280" cy="1187212"/>
              </a:xfrm>
              <a:prstGeom prst="rect">
                <a:avLst/>
              </a:prstGeom>
              <a:blipFill>
                <a:blip r:embed="rId4"/>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10" name="正方形/長方形 9">
                <a:extLst>
                  <a:ext uri="{FF2B5EF4-FFF2-40B4-BE49-F238E27FC236}">
                    <a16:creationId xmlns:a16="http://schemas.microsoft.com/office/drawing/2014/main" id="{C1553550-9C25-8095-9869-1171B7D6A25C}"/>
                  </a:ext>
                </a:extLst>
              </p:cNvPr>
              <p:cNvSpPr/>
              <p:nvPr/>
            </p:nvSpPr>
            <p:spPr>
              <a:xfrm>
                <a:off x="4148305" y="1973738"/>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dirty="0"/>
                  <a:t>共変量</a:t>
                </a:r>
                <a:endParaRPr lang="en-US" altLang="ja-JP" sz="2800" dirty="0"/>
              </a:p>
              <a:p>
                <a:pPr algn="ctr"/>
                <a14:m>
                  <m:oMathPara xmlns:m="http://schemas.openxmlformats.org/officeDocument/2006/math">
                    <m:oMathParaPr>
                      <m:jc m:val="centerGroup"/>
                    </m:oMathParaPr>
                    <m:oMath xmlns:m="http://schemas.openxmlformats.org/officeDocument/2006/math">
                      <m:r>
                        <a:rPr lang="en-US" altLang="ja-JP" sz="2800" b="1" i="1" smtClean="0">
                          <a:latin typeface="Cambria Math" panose="02040503050406030204" pitchFamily="18" charset="0"/>
                        </a:rPr>
                        <m:t>𝑪</m:t>
                      </m:r>
                      <m:r>
                        <a:rPr lang="en-US" altLang="ja-JP" sz="2800" b="1" i="1" smtClean="0">
                          <a:latin typeface="Cambria Math" panose="02040503050406030204" pitchFamily="18" charset="0"/>
                        </a:rPr>
                        <m:t>=</m:t>
                      </m:r>
                      <m:d>
                        <m:dPr>
                          <m:ctrlPr>
                            <a:rPr lang="en-US" altLang="ja-JP" sz="2800" i="1" smtClean="0">
                              <a:latin typeface="Cambria Math" panose="02040503050406030204" pitchFamily="18" charset="0"/>
                            </a:rPr>
                          </m:ctrlPr>
                        </m:dPr>
                        <m:e>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1</m:t>
                              </m:r>
                            </m:sub>
                          </m:sSub>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2</m:t>
                              </m:r>
                            </m:sub>
                          </m:sSub>
                          <m:r>
                            <a:rPr lang="en-US" altLang="ja-JP" sz="2800" b="0" i="1" smtClean="0">
                              <a:latin typeface="Cambria Math" panose="02040503050406030204" pitchFamily="18" charset="0"/>
                            </a:rPr>
                            <m:t>,</m:t>
                          </m:r>
                          <m:r>
                            <a:rPr lang="en-US" altLang="ja-JP" sz="2800" b="0" i="1">
                              <a:latin typeface="Cambria Math" panose="02040503050406030204" pitchFamily="18" charset="0"/>
                              <a:ea typeface="Cambria Math" panose="02040503050406030204" pitchFamily="18" charset="0"/>
                            </a:rPr>
                            <m:t>⋯</m:t>
                          </m:r>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𝑝</m:t>
                              </m:r>
                            </m:sub>
                          </m:sSub>
                        </m:e>
                      </m:d>
                    </m:oMath>
                  </m:oMathPara>
                </a14:m>
                <a:endParaRPr kumimoji="1" lang="ja-JP" altLang="en-US" sz="2800" dirty="0"/>
              </a:p>
            </p:txBody>
          </p:sp>
        </mc:Choice>
        <mc:Fallback>
          <p:sp>
            <p:nvSpPr>
              <p:cNvPr id="10" name="正方形/長方形 9">
                <a:extLst>
                  <a:ext uri="{FF2B5EF4-FFF2-40B4-BE49-F238E27FC236}">
                    <a16:creationId xmlns:a16="http://schemas.microsoft.com/office/drawing/2014/main" id="{C1553550-9C25-8095-9869-1171B7D6A25C}"/>
                  </a:ext>
                </a:extLst>
              </p:cNvPr>
              <p:cNvSpPr>
                <a:spLocks noRot="1" noChangeAspect="1" noMove="1" noResize="1" noEditPoints="1" noAdjustHandles="1" noChangeArrowheads="1" noChangeShapeType="1" noTextEdit="1"/>
              </p:cNvSpPr>
              <p:nvPr/>
            </p:nvSpPr>
            <p:spPr>
              <a:xfrm>
                <a:off x="4148305" y="1973738"/>
                <a:ext cx="4372609" cy="1042352"/>
              </a:xfrm>
              <a:prstGeom prst="rect">
                <a:avLst/>
              </a:prstGeom>
              <a:blipFill>
                <a:blip r:embed="rId5"/>
                <a:stretch>
                  <a:fillRect t="-4762" b="-2381"/>
                </a:stretch>
              </a:blipFill>
              <a:ln w="19050">
                <a:solidFill>
                  <a:schemeClr val="accent1"/>
                </a:solidFill>
              </a:ln>
            </p:spPr>
            <p:txBody>
              <a:bodyPr/>
              <a:lstStyle/>
              <a:p>
                <a:r>
                  <a:rPr lang="ja-JP" altLang="en-US">
                    <a:noFill/>
                  </a:rPr>
                  <a:t> </a:t>
                </a:r>
              </a:p>
            </p:txBody>
          </p:sp>
        </mc:Fallback>
      </mc:AlternateContent>
      <p:cxnSp>
        <p:nvCxnSpPr>
          <p:cNvPr id="11" name="直線矢印コネクタ 10">
            <a:extLst>
              <a:ext uri="{FF2B5EF4-FFF2-40B4-BE49-F238E27FC236}">
                <a16:creationId xmlns:a16="http://schemas.microsoft.com/office/drawing/2014/main" id="{82B75116-9359-0B02-47B1-984DCD5803B0}"/>
              </a:ext>
            </a:extLst>
          </p:cNvPr>
          <p:cNvCxnSpPr>
            <a:cxnSpLocks/>
            <a:stCxn id="9" idx="3"/>
            <a:endCxn id="7" idx="1"/>
          </p:cNvCxnSpPr>
          <p:nvPr/>
        </p:nvCxnSpPr>
        <p:spPr>
          <a:xfrm>
            <a:off x="4148306" y="5426698"/>
            <a:ext cx="4325619" cy="1"/>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直線矢印コネクタ 11">
            <a:extLst>
              <a:ext uri="{FF2B5EF4-FFF2-40B4-BE49-F238E27FC236}">
                <a16:creationId xmlns:a16="http://schemas.microsoft.com/office/drawing/2014/main" id="{C9F8F214-8C66-3B60-3E62-79EAB80CF477}"/>
              </a:ext>
            </a:extLst>
          </p:cNvPr>
          <p:cNvCxnSpPr>
            <a:cxnSpLocks/>
            <a:stCxn id="10" idx="3"/>
            <a:endCxn id="7" idx="0"/>
          </p:cNvCxnSpPr>
          <p:nvPr/>
        </p:nvCxnSpPr>
        <p:spPr>
          <a:xfrm>
            <a:off x="8520914" y="2494914"/>
            <a:ext cx="1390651"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線矢印コネクタ 12">
            <a:extLst>
              <a:ext uri="{FF2B5EF4-FFF2-40B4-BE49-F238E27FC236}">
                <a16:creationId xmlns:a16="http://schemas.microsoft.com/office/drawing/2014/main" id="{914CE353-B595-35F8-B2AD-F7419A2BE328}"/>
              </a:ext>
            </a:extLst>
          </p:cNvPr>
          <p:cNvCxnSpPr>
            <a:cxnSpLocks/>
            <a:stCxn id="10" idx="1"/>
            <a:endCxn id="9" idx="0"/>
          </p:cNvCxnSpPr>
          <p:nvPr/>
        </p:nvCxnSpPr>
        <p:spPr>
          <a:xfrm flipH="1">
            <a:off x="2710666" y="2494914"/>
            <a:ext cx="1437639"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 name="テキスト ボックス 4">
            <a:extLst>
              <a:ext uri="{FF2B5EF4-FFF2-40B4-BE49-F238E27FC236}">
                <a16:creationId xmlns:a16="http://schemas.microsoft.com/office/drawing/2014/main" id="{B60D6434-3C01-40AA-444F-E4E7AF3582F9}"/>
              </a:ext>
            </a:extLst>
          </p:cNvPr>
          <p:cNvSpPr txBox="1"/>
          <p:nvPr/>
        </p:nvSpPr>
        <p:spPr>
          <a:xfrm>
            <a:off x="1234470" y="6106564"/>
            <a:ext cx="2837636" cy="523220"/>
          </a:xfrm>
          <a:prstGeom prst="rect">
            <a:avLst/>
          </a:prstGeom>
          <a:noFill/>
        </p:spPr>
        <p:txBody>
          <a:bodyPr wrap="none" rtlCol="0">
            <a:spAutoFit/>
          </a:bodyPr>
          <a:lstStyle/>
          <a:p>
            <a:r>
              <a:rPr kumimoji="1" lang="ja-JP" altLang="en-US" sz="2800"/>
              <a:t>２値変数</a:t>
            </a:r>
            <a:r>
              <a:rPr kumimoji="1" lang="en-US" altLang="ja-JP" sz="2800" dirty="0"/>
              <a:t>(0 or 1)</a:t>
            </a:r>
            <a:endParaRPr kumimoji="1" lang="ja-JP" altLang="en-US" sz="2800"/>
          </a:p>
        </p:txBody>
      </p:sp>
      <p:sp>
        <p:nvSpPr>
          <p:cNvPr id="15" name="テキスト ボックス 14">
            <a:extLst>
              <a:ext uri="{FF2B5EF4-FFF2-40B4-BE49-F238E27FC236}">
                <a16:creationId xmlns:a16="http://schemas.microsoft.com/office/drawing/2014/main" id="{662B9893-989B-FCA2-BDBD-805B7100ECD5}"/>
              </a:ext>
            </a:extLst>
          </p:cNvPr>
          <p:cNvSpPr txBox="1"/>
          <p:nvPr/>
        </p:nvSpPr>
        <p:spPr>
          <a:xfrm>
            <a:off x="9125751" y="6094740"/>
            <a:ext cx="1620957" cy="523220"/>
          </a:xfrm>
          <a:prstGeom prst="rect">
            <a:avLst/>
          </a:prstGeom>
          <a:noFill/>
        </p:spPr>
        <p:txBody>
          <a:bodyPr wrap="none" rtlCol="0">
            <a:spAutoFit/>
          </a:bodyPr>
          <a:lstStyle/>
          <a:p>
            <a:r>
              <a:rPr lang="ja-JP" altLang="en-US" sz="2800"/>
              <a:t>連続</a:t>
            </a:r>
            <a:r>
              <a:rPr kumimoji="1" lang="ja-JP" altLang="en-US" sz="2800"/>
              <a:t>変数</a:t>
            </a:r>
          </a:p>
        </p:txBody>
      </p:sp>
      <p:sp>
        <p:nvSpPr>
          <p:cNvPr id="17" name="テキスト ボックス 16">
            <a:extLst>
              <a:ext uri="{FF2B5EF4-FFF2-40B4-BE49-F238E27FC236}">
                <a16:creationId xmlns:a16="http://schemas.microsoft.com/office/drawing/2014/main" id="{9CB2CBF0-6D6D-1B62-E557-F93057D85AA3}"/>
              </a:ext>
            </a:extLst>
          </p:cNvPr>
          <p:cNvSpPr txBox="1"/>
          <p:nvPr/>
        </p:nvSpPr>
        <p:spPr>
          <a:xfrm>
            <a:off x="5285521" y="1330687"/>
            <a:ext cx="1620957" cy="523220"/>
          </a:xfrm>
          <a:prstGeom prst="rect">
            <a:avLst/>
          </a:prstGeom>
          <a:noFill/>
        </p:spPr>
        <p:txBody>
          <a:bodyPr wrap="none" rtlCol="0">
            <a:spAutoFit/>
          </a:bodyPr>
          <a:lstStyle/>
          <a:p>
            <a:r>
              <a:rPr lang="ja-JP" altLang="en-US" sz="2800"/>
              <a:t>連続</a:t>
            </a:r>
            <a:r>
              <a:rPr kumimoji="1" lang="ja-JP" altLang="en-US" sz="2800"/>
              <a:t>変数</a:t>
            </a:r>
          </a:p>
        </p:txBody>
      </p:sp>
      <p:sp>
        <p:nvSpPr>
          <p:cNvPr id="2" name="スライド番号プレースホルダー 1">
            <a:extLst>
              <a:ext uri="{FF2B5EF4-FFF2-40B4-BE49-F238E27FC236}">
                <a16:creationId xmlns:a16="http://schemas.microsoft.com/office/drawing/2014/main" id="{08279408-C04E-93F6-97D0-3B687725649A}"/>
              </a:ext>
            </a:extLst>
          </p:cNvPr>
          <p:cNvSpPr>
            <a:spLocks noGrp="1"/>
          </p:cNvSpPr>
          <p:nvPr>
            <p:ph type="sldNum" sz="quarter" idx="12"/>
          </p:nvPr>
        </p:nvSpPr>
        <p:spPr/>
        <p:txBody>
          <a:bodyPr/>
          <a:lstStyle/>
          <a:p>
            <a:fld id="{21218AEF-8260-6F42-89D9-6D82E053F226}" type="slidenum">
              <a:rPr kumimoji="1" lang="ja-JP" altLang="en-US" smtClean="0"/>
              <a:t>6</a:t>
            </a:fld>
            <a:endParaRPr kumimoji="1" lang="ja-JP" altLang="en-US"/>
          </a:p>
        </p:txBody>
      </p:sp>
    </p:spTree>
    <p:extLst>
      <p:ext uri="{BB962C8B-B14F-4D97-AF65-F5344CB8AC3E}">
        <p14:creationId xmlns:p14="http://schemas.microsoft.com/office/powerpoint/2010/main" val="1024517378"/>
      </p:ext>
    </p:extLst>
  </p:cSld>
  <p:clrMapOvr>
    <a:masterClrMapping/>
  </p:clrMapOvr>
  <mc:AlternateContent xmlns:mc="http://schemas.openxmlformats.org/markup-compatibility/2006">
    <mc:Choice xmlns:p14="http://schemas.microsoft.com/office/powerpoint/2010/main" Requires="p14">
      <p:transition spd="slow" p14:dur="2000" advTm="14426"/>
    </mc:Choice>
    <mc:Fallback>
      <p:transition spd="slow" advTm="14426"/>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DF39AAC-BED1-B1E3-A116-47230682D321}"/>
              </a:ext>
            </a:extLst>
          </p:cNvPr>
          <p:cNvSpPr>
            <a:spLocks noGrp="1"/>
          </p:cNvSpPr>
          <p:nvPr>
            <p:ph type="title"/>
          </p:nvPr>
        </p:nvSpPr>
        <p:spPr>
          <a:xfrm>
            <a:off x="317746" y="229758"/>
            <a:ext cx="11036054" cy="1325563"/>
          </a:xfrm>
        </p:spPr>
        <p:txBody>
          <a:bodyPr/>
          <a:lstStyle/>
          <a:p>
            <a:r>
              <a:rPr kumimoji="1" lang="en-US" altLang="ja-JP" sz="4400" dirty="0"/>
              <a:t>Group Lasso and Doubly Robust Estimation (</a:t>
            </a:r>
            <a:r>
              <a:rPr kumimoji="1" lang="en-US" altLang="ja-JP" sz="4400" dirty="0" err="1"/>
              <a:t>GLiDeR</a:t>
            </a:r>
            <a:r>
              <a:rPr kumimoji="1" lang="en-US" altLang="ja-JP" sz="4400" dirty="0"/>
              <a:t>) (Koch et al., 2017)</a:t>
            </a:r>
            <a:endParaRPr kumimoji="1" lang="ja-JP" altLang="en-US"/>
          </a:p>
        </p:txBody>
      </p:sp>
      <mc:AlternateContent xmlns:mc="http://schemas.openxmlformats.org/markup-compatibility/2006">
        <mc:Choice xmlns:a14="http://schemas.microsoft.com/office/drawing/2010/main" Requires="a14">
          <p:sp>
            <p:nvSpPr>
              <p:cNvPr id="4" name="テキスト ボックス 3">
                <a:extLst>
                  <a:ext uri="{FF2B5EF4-FFF2-40B4-BE49-F238E27FC236}">
                    <a16:creationId xmlns:a16="http://schemas.microsoft.com/office/drawing/2014/main" id="{E6120E5E-A64E-28BC-319A-9E6D115D3F18}"/>
                  </a:ext>
                </a:extLst>
              </p:cNvPr>
              <p:cNvSpPr txBox="1"/>
              <p:nvPr/>
            </p:nvSpPr>
            <p:spPr>
              <a:xfrm>
                <a:off x="1550467" y="2045729"/>
                <a:ext cx="8884938" cy="1268552"/>
              </a:xfrm>
              <a:prstGeom prst="rect">
                <a:avLst/>
              </a:prstGeom>
              <a:noFill/>
              <a:ln w="28575">
                <a:noFill/>
              </a:ln>
            </p:spPr>
            <p:txBody>
              <a:bodyPr wrap="square" rtlCol="0">
                <a:spAutoFit/>
              </a:bodyPr>
              <a:lstStyle/>
              <a:p>
                <a:pPr/>
                <a14:m>
                  <m:oMathPara xmlns:m="http://schemas.openxmlformats.org/officeDocument/2006/math">
                    <m:oMathParaPr>
                      <m:jc m:val="centerGroup"/>
                    </m:oMathParaPr>
                    <m:oMath xmlns:m="http://schemas.openxmlformats.org/officeDocument/2006/math">
                      <m:acc>
                        <m:accPr>
                          <m:chr m:val="̂"/>
                          <m:ctrlPr>
                            <a:rPr kumimoji="1" lang="ja-JP" altLang="en-US" sz="2800" b="1" i="1" smtClean="0">
                              <a:latin typeface="Cambria Math" panose="02040503050406030204" pitchFamily="18" charset="0"/>
                            </a:rPr>
                          </m:ctrlPr>
                        </m:accPr>
                        <m:e>
                          <m:r>
                            <a:rPr kumimoji="1" lang="ja-JP" altLang="en-US" sz="2800" b="1" i="1" smtClean="0">
                              <a:latin typeface="Cambria Math" panose="02040503050406030204" pitchFamily="18" charset="0"/>
                            </a:rPr>
                            <m:t>𝜷</m:t>
                          </m:r>
                        </m:e>
                      </m:acc>
                      <m:d>
                        <m:dPr>
                          <m:ctrlPr>
                            <a:rPr kumimoji="1" lang="en-US" altLang="ja-JP" sz="2800" i="1" smtClean="0">
                              <a:latin typeface="Cambria Math" panose="02040503050406030204" pitchFamily="18" charset="0"/>
                            </a:rPr>
                          </m:ctrlPr>
                        </m:dPr>
                        <m:e>
                          <m:r>
                            <a:rPr lang="el-GR" altLang="ja-JP" sz="2800" i="1">
                              <a:latin typeface="Cambria Math" panose="02040503050406030204" pitchFamily="18" charset="0"/>
                            </a:rPr>
                            <m:t>𝜆</m:t>
                          </m:r>
                        </m:e>
                      </m:d>
                      <m:r>
                        <a:rPr kumimoji="1" lang="en-US" altLang="ja-JP" sz="2800" b="0" i="1" smtClean="0">
                          <a:latin typeface="Cambria Math" panose="02040503050406030204" pitchFamily="18" charset="0"/>
                        </a:rPr>
                        <m:t>=</m:t>
                      </m:r>
                      <m:func>
                        <m:funcPr>
                          <m:ctrlPr>
                            <a:rPr kumimoji="1" lang="en-US" altLang="ja-JP" sz="2800" b="0" i="1" smtClean="0">
                              <a:latin typeface="Cambria Math" panose="02040503050406030204" pitchFamily="18" charset="0"/>
                            </a:rPr>
                          </m:ctrlPr>
                        </m:funcPr>
                        <m:fName>
                          <m:limLow>
                            <m:limLowPr>
                              <m:ctrlPr>
                                <a:rPr kumimoji="1" lang="en-US" altLang="ja-JP" sz="2800" b="0" i="1" smtClean="0">
                                  <a:latin typeface="Cambria Math" panose="02040503050406030204" pitchFamily="18" charset="0"/>
                                </a:rPr>
                              </m:ctrlPr>
                            </m:limLowPr>
                            <m:e>
                              <m:r>
                                <m:rPr>
                                  <m:sty m:val="p"/>
                                </m:rPr>
                                <a:rPr kumimoji="1" lang="en-US" altLang="ja-JP" sz="2800" b="0" i="0" smtClean="0">
                                  <a:latin typeface="Cambria Math" panose="02040503050406030204" pitchFamily="18" charset="0"/>
                                </a:rPr>
                                <m:t>argmin</m:t>
                              </m:r>
                            </m:e>
                            <m:lim>
                              <m:r>
                                <a:rPr kumimoji="1" lang="ja-JP" altLang="en-US" sz="2800" b="1" i="1" smtClean="0">
                                  <a:latin typeface="Cambria Math" panose="02040503050406030204" pitchFamily="18" charset="0"/>
                                </a:rPr>
                                <m:t>𝜷</m:t>
                              </m:r>
                            </m:lim>
                          </m:limLow>
                        </m:fName>
                        <m:e>
                          <m:f>
                            <m:fPr>
                              <m:ctrlPr>
                                <a:rPr kumimoji="1" lang="en-US" altLang="ja-JP" sz="2800" b="0" i="1" smtClean="0">
                                  <a:latin typeface="Cambria Math" panose="02040503050406030204" pitchFamily="18" charset="0"/>
                                </a:rPr>
                              </m:ctrlPr>
                            </m:fPr>
                            <m:num>
                              <m:r>
                                <a:rPr kumimoji="1" lang="en-US" altLang="ja-JP" sz="2800" b="0" i="1" smtClean="0">
                                  <a:latin typeface="Cambria Math" panose="02040503050406030204" pitchFamily="18" charset="0"/>
                                </a:rPr>
                                <m:t>1</m:t>
                              </m:r>
                            </m:num>
                            <m:den>
                              <m:r>
                                <a:rPr kumimoji="1" lang="en-US" altLang="ja-JP" sz="2800" b="0" i="1" smtClean="0">
                                  <a:latin typeface="Cambria Math" panose="02040503050406030204" pitchFamily="18" charset="0"/>
                                </a:rPr>
                                <m:t>𝑛</m:t>
                              </m:r>
                            </m:den>
                          </m:f>
                          <m:sSub>
                            <m:sSubPr>
                              <m:ctrlPr>
                                <a:rPr lang="en-US" altLang="ja-JP" sz="2800" i="1">
                                  <a:latin typeface="Cambria Math" panose="02040503050406030204" pitchFamily="18" charset="0"/>
                                </a:rPr>
                              </m:ctrlPr>
                            </m:sSubPr>
                            <m:e>
                              <m:r>
                                <m:rPr>
                                  <m:sty m:val="p"/>
                                </m:rPr>
                                <a:rPr lang="el-GR" altLang="ja-JP" sz="2800" i="1">
                                  <a:latin typeface="Cambria Math" panose="02040503050406030204" pitchFamily="18" charset="0"/>
                                </a:rPr>
                                <m:t>Φ</m:t>
                              </m:r>
                            </m:e>
                            <m:sub>
                              <m:r>
                                <m:rPr>
                                  <m:sty m:val="p"/>
                                </m:rPr>
                                <a:rPr lang="en-US" altLang="ja-JP" sz="2800">
                                  <a:latin typeface="Cambria Math" panose="02040503050406030204" pitchFamily="18" charset="0"/>
                                </a:rPr>
                                <m:t>sum</m:t>
                              </m:r>
                            </m:sub>
                          </m:sSub>
                          <m:d>
                            <m:dPr>
                              <m:ctrlPr>
                                <a:rPr lang="en-US" altLang="ja-JP" sz="2800" b="1" i="1">
                                  <a:latin typeface="Cambria Math" panose="02040503050406030204" pitchFamily="18" charset="0"/>
                                </a:rPr>
                              </m:ctrlPr>
                            </m:dPr>
                            <m:e>
                              <m:r>
                                <a:rPr lang="en-US" altLang="ja-JP" sz="2800" b="1" i="1" smtClean="0">
                                  <a:latin typeface="Cambria Math" panose="02040503050406030204" pitchFamily="18" charset="0"/>
                                  <a:cs typeface="Arial" panose="020B0604020202020204" pitchFamily="34" charset="0"/>
                                </a:rPr>
                                <m:t>𝒀</m:t>
                              </m:r>
                              <m:r>
                                <a:rPr lang="en-US" altLang="ja-JP" sz="2800" b="1" i="1">
                                  <a:latin typeface="Cambria Math" panose="02040503050406030204" pitchFamily="18" charset="0"/>
                                </a:rPr>
                                <m:t>,</m:t>
                              </m:r>
                              <m:r>
                                <a:rPr lang="en-US" altLang="ja-JP" sz="2800" b="1" i="1" smtClean="0">
                                  <a:latin typeface="Cambria Math" panose="02040503050406030204" pitchFamily="18" charset="0"/>
                                </a:rPr>
                                <m:t>𝑿</m:t>
                              </m:r>
                              <m:r>
                                <a:rPr lang="en-US" altLang="ja-JP" sz="2800" b="1" i="1">
                                  <a:latin typeface="Cambria Math" panose="02040503050406030204" pitchFamily="18" charset="0"/>
                                </a:rPr>
                                <m:t>,</m:t>
                              </m:r>
                              <m:r>
                                <a:rPr lang="en-US" altLang="ja-JP" sz="2800" b="1" i="1" smtClean="0">
                                  <a:latin typeface="Cambria Math" panose="02040503050406030204" pitchFamily="18" charset="0"/>
                                </a:rPr>
                                <m:t>𝑪</m:t>
                              </m:r>
                              <m:r>
                                <a:rPr lang="en-US" altLang="ja-JP" sz="2800" b="1" i="1">
                                  <a:latin typeface="Cambria Math" panose="02040503050406030204" pitchFamily="18" charset="0"/>
                                </a:rPr>
                                <m:t>;</m:t>
                              </m:r>
                              <m:r>
                                <a:rPr lang="ja-JP" altLang="en-US" sz="2800" b="1" i="1">
                                  <a:latin typeface="Cambria Math" panose="02040503050406030204" pitchFamily="18" charset="0"/>
                                </a:rPr>
                                <m:t>𝜷</m:t>
                              </m:r>
                            </m:e>
                          </m:d>
                          <m:r>
                            <a:rPr kumimoji="1" lang="en-US" altLang="ja-JP" sz="2800" b="0" i="1" smtClean="0">
                              <a:latin typeface="Cambria Math" panose="02040503050406030204" pitchFamily="18" charset="0"/>
                            </a:rPr>
                            <m:t>+</m:t>
                          </m:r>
                          <m:r>
                            <a:rPr kumimoji="1" lang="ja-JP" altLang="en-US" sz="2800" b="0" i="1" smtClean="0">
                              <a:latin typeface="Cambria Math" panose="02040503050406030204" pitchFamily="18" charset="0"/>
                            </a:rPr>
                            <m:t>𝜆</m:t>
                          </m:r>
                          <m:nary>
                            <m:naryPr>
                              <m:chr m:val="∑"/>
                              <m:ctrlPr>
                                <a:rPr kumimoji="1" lang="ja-JP" altLang="en-US" sz="2800" b="0" i="1" smtClean="0">
                                  <a:latin typeface="Cambria Math" panose="02040503050406030204" pitchFamily="18" charset="0"/>
                                </a:rPr>
                              </m:ctrlPr>
                            </m:naryPr>
                            <m:sub>
                              <m:r>
                                <m:rPr>
                                  <m:brk m:alnAt="23"/>
                                </m:rPr>
                                <a:rPr kumimoji="1" lang="en-US" altLang="ja-JP" sz="2800" b="0" i="1" smtClean="0">
                                  <a:latin typeface="Cambria Math" panose="02040503050406030204" pitchFamily="18" charset="0"/>
                                </a:rPr>
                                <m:t>𝑘</m:t>
                              </m:r>
                              <m:r>
                                <a:rPr kumimoji="1" lang="en-US" altLang="ja-JP" sz="2800" b="0" i="1" smtClean="0">
                                  <a:latin typeface="Cambria Math" panose="02040503050406030204" pitchFamily="18" charset="0"/>
                                </a:rPr>
                                <m:t>=1</m:t>
                              </m:r>
                            </m:sub>
                            <m:sup>
                              <m:r>
                                <a:rPr kumimoji="1" lang="en-US" altLang="ja-JP" sz="2800" b="0" i="1" smtClean="0">
                                  <a:latin typeface="Cambria Math" panose="02040503050406030204" pitchFamily="18" charset="0"/>
                                </a:rPr>
                                <m:t>𝑝</m:t>
                              </m:r>
                            </m:sup>
                            <m:e>
                              <m:sSub>
                                <m:sSubPr>
                                  <m:ctrlPr>
                                    <a:rPr kumimoji="1" lang="en-US" altLang="ja-JP" sz="2800" b="0" i="1" smtClean="0">
                                      <a:latin typeface="Cambria Math" panose="02040503050406030204" pitchFamily="18" charset="0"/>
                                    </a:rPr>
                                  </m:ctrlPr>
                                </m:sSubPr>
                                <m:e>
                                  <m:r>
                                    <a:rPr kumimoji="1" lang="en-US" altLang="ja-JP" sz="2800" b="0" i="1" smtClean="0">
                                      <a:latin typeface="Cambria Math" panose="02040503050406030204" pitchFamily="18" charset="0"/>
                                    </a:rPr>
                                    <m:t>𝑊</m:t>
                                  </m:r>
                                </m:e>
                                <m:sub>
                                  <m:r>
                                    <a:rPr kumimoji="1" lang="en-US" altLang="ja-JP" sz="2800" b="0" i="1" smtClean="0">
                                      <a:latin typeface="Cambria Math" panose="02040503050406030204" pitchFamily="18" charset="0"/>
                                    </a:rPr>
                                    <m:t>𝑘</m:t>
                                  </m:r>
                                </m:sub>
                              </m:sSub>
                              <m:sSub>
                                <m:sSubPr>
                                  <m:ctrlPr>
                                    <a:rPr kumimoji="1" lang="en-US" altLang="ja-JP" sz="2800" b="0" i="1" smtClean="0">
                                      <a:latin typeface="Cambria Math" panose="02040503050406030204" pitchFamily="18" charset="0"/>
                                    </a:rPr>
                                  </m:ctrlPr>
                                </m:sSubPr>
                                <m:e>
                                  <m:d>
                                    <m:dPr>
                                      <m:begChr m:val="‖"/>
                                      <m:endChr m:val="‖"/>
                                      <m:ctrlPr>
                                        <a:rPr kumimoji="1" lang="en-US" altLang="ja-JP" sz="2800" b="0" i="1" smtClean="0">
                                          <a:latin typeface="Cambria Math" panose="02040503050406030204" pitchFamily="18" charset="0"/>
                                        </a:rPr>
                                      </m:ctrlPr>
                                    </m:dPr>
                                    <m:e>
                                      <m:sSub>
                                        <m:sSubPr>
                                          <m:ctrlPr>
                                            <a:rPr kumimoji="1" lang="en-US" altLang="ja-JP" sz="2800" b="0" i="1" smtClean="0">
                                              <a:latin typeface="Cambria Math" panose="02040503050406030204" pitchFamily="18" charset="0"/>
                                            </a:rPr>
                                          </m:ctrlPr>
                                        </m:sSubPr>
                                        <m:e>
                                          <m:r>
                                            <a:rPr kumimoji="1" lang="ja-JP" altLang="en-US" sz="2800" b="0" i="1" smtClean="0">
                                              <a:latin typeface="Cambria Math" panose="02040503050406030204" pitchFamily="18" charset="0"/>
                                            </a:rPr>
                                            <m:t>𝛽</m:t>
                                          </m:r>
                                        </m:e>
                                        <m:sub>
                                          <m:r>
                                            <a:rPr kumimoji="1" lang="en-US" altLang="ja-JP" sz="2800" b="0" i="1" smtClean="0">
                                              <a:latin typeface="Cambria Math" panose="02040503050406030204" pitchFamily="18" charset="0"/>
                                            </a:rPr>
                                            <m:t>𝑘</m:t>
                                          </m:r>
                                        </m:sub>
                                      </m:sSub>
                                    </m:e>
                                  </m:d>
                                </m:e>
                                <m:sub>
                                  <m:r>
                                    <a:rPr kumimoji="1" lang="en-US" altLang="ja-JP" sz="2800" b="0" i="1" smtClean="0">
                                      <a:latin typeface="Cambria Math" panose="02040503050406030204" pitchFamily="18" charset="0"/>
                                    </a:rPr>
                                    <m:t>2</m:t>
                                  </m:r>
                                </m:sub>
                              </m:sSub>
                            </m:e>
                          </m:nary>
                        </m:e>
                      </m:func>
                    </m:oMath>
                  </m:oMathPara>
                </a14:m>
                <a:endParaRPr kumimoji="1" lang="en-US" altLang="ja-JP" sz="2800" b="0" i="1" dirty="0">
                  <a:latin typeface="+mn-ea"/>
                  <a:cs typeface="Arial" panose="020B0604020202020204" pitchFamily="34" charset="0"/>
                </a:endParaRPr>
              </a:p>
            </p:txBody>
          </p:sp>
        </mc:Choice>
        <mc:Fallback>
          <p:sp>
            <p:nvSpPr>
              <p:cNvPr id="4" name="テキスト ボックス 3">
                <a:extLst>
                  <a:ext uri="{FF2B5EF4-FFF2-40B4-BE49-F238E27FC236}">
                    <a16:creationId xmlns:a16="http://schemas.microsoft.com/office/drawing/2014/main" id="{E6120E5E-A64E-28BC-319A-9E6D115D3F18}"/>
                  </a:ext>
                </a:extLst>
              </p:cNvPr>
              <p:cNvSpPr txBox="1">
                <a:spLocks noRot="1" noChangeAspect="1" noMove="1" noResize="1" noEditPoints="1" noAdjustHandles="1" noChangeArrowheads="1" noChangeShapeType="1" noTextEdit="1"/>
              </p:cNvSpPr>
              <p:nvPr/>
            </p:nvSpPr>
            <p:spPr>
              <a:xfrm>
                <a:off x="1550467" y="2045729"/>
                <a:ext cx="8884938" cy="1268552"/>
              </a:xfrm>
              <a:prstGeom prst="rect">
                <a:avLst/>
              </a:prstGeom>
              <a:blipFill>
                <a:blip r:embed="rId3"/>
                <a:stretch>
                  <a:fillRect t="-106931" b="-161386"/>
                </a:stretch>
              </a:blipFill>
              <a:ln w="28575">
                <a:no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Google Shape;95;p1">
                <a:extLst>
                  <a:ext uri="{FF2B5EF4-FFF2-40B4-BE49-F238E27FC236}">
                    <a16:creationId xmlns:a16="http://schemas.microsoft.com/office/drawing/2014/main" id="{934DDED4-206A-4E32-ABED-99D944A9F73C}"/>
                  </a:ext>
                </a:extLst>
              </p:cNvPr>
              <p:cNvSpPr/>
              <p:nvPr/>
            </p:nvSpPr>
            <p:spPr>
              <a:xfrm>
                <a:off x="317746" y="3625369"/>
                <a:ext cx="11710442" cy="2677616"/>
              </a:xfrm>
              <a:prstGeom prst="rect">
                <a:avLst/>
              </a:prstGeom>
              <a:noFill/>
              <a:ln>
                <a:noFill/>
              </a:ln>
            </p:spPr>
            <p:style>
              <a:lnRef idx="2">
                <a:schemeClr val="accent1"/>
              </a:lnRef>
              <a:fillRef idx="1">
                <a:schemeClr val="lt1"/>
              </a:fillRef>
              <a:effectRef idx="0">
                <a:schemeClr val="accent1"/>
              </a:effectRef>
              <a:fontRef idx="minor">
                <a:schemeClr val="dk1"/>
              </a:fontRef>
            </p:style>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14:m>
                  <m:oMath xmlns:m="http://schemas.openxmlformats.org/officeDocument/2006/math">
                    <m:r>
                      <a:rPr lang="en-US" altLang="ja-JP" sz="2800" b="1" i="1" smtClean="0">
                        <a:latin typeface="Cambria Math" panose="02040503050406030204" pitchFamily="18" charset="0"/>
                        <a:cs typeface="Arial" panose="020B0604020202020204" pitchFamily="34" charset="0"/>
                      </a:rPr>
                      <m:t>𝒀</m:t>
                    </m:r>
                    <m:r>
                      <a:rPr lang="en-US" altLang="ja-JP" sz="2800" b="0" i="1" smtClean="0">
                        <a:latin typeface="Cambria Math" panose="02040503050406030204" pitchFamily="18" charset="0"/>
                        <a:ea typeface="+mn-ea"/>
                      </a:rPr>
                      <m:t>:</m:t>
                    </m:r>
                  </m:oMath>
                </a14:m>
                <a:r>
                  <a:rPr lang="en-US" altLang="ja-JP" sz="2800" dirty="0">
                    <a:latin typeface="+mn-ea"/>
                    <a:ea typeface="+mn-ea"/>
                    <a:cs typeface="Arial" panose="020B0604020202020204" pitchFamily="34" charset="0"/>
                  </a:rPr>
                  <a:t> </a:t>
                </a:r>
                <a:r>
                  <a:rPr lang="ja-JP" altLang="en-US" sz="2800">
                    <a:latin typeface="+mn-ea"/>
                    <a:ea typeface="+mn-ea"/>
                    <a:cs typeface="Arial" panose="020B0604020202020204" pitchFamily="34" charset="0"/>
                  </a:rPr>
                  <a:t>結果変数，</a:t>
                </a:r>
                <a14:m>
                  <m:oMath xmlns:m="http://schemas.openxmlformats.org/officeDocument/2006/math">
                    <m:r>
                      <a:rPr lang="en-US" altLang="ja-JP" sz="2800" b="1" i="1">
                        <a:latin typeface="Cambria Math" panose="02040503050406030204" pitchFamily="18" charset="0"/>
                      </a:rPr>
                      <m:t>𝑿</m:t>
                    </m:r>
                    <m:r>
                      <a:rPr lang="en-US" altLang="ja-JP" sz="2800" b="0" i="1" smtClean="0">
                        <a:latin typeface="Cambria Math" panose="02040503050406030204" pitchFamily="18" charset="0"/>
                        <a:ea typeface="+mn-ea"/>
                      </a:rPr>
                      <m:t>:</m:t>
                    </m:r>
                  </m:oMath>
                </a14:m>
                <a:r>
                  <a:rPr lang="ja-JP" altLang="en-US" sz="2800">
                    <a:latin typeface="+mn-ea"/>
                    <a:ea typeface="+mn-ea"/>
                    <a:cs typeface="Arial" panose="020B0604020202020204" pitchFamily="34" charset="0"/>
                  </a:rPr>
                  <a:t> 割り当て変数，</a:t>
                </a:r>
                <a14:m>
                  <m:oMath xmlns:m="http://schemas.openxmlformats.org/officeDocument/2006/math">
                    <m:r>
                      <a:rPr lang="en-US" altLang="ja-JP" sz="2800" b="1" i="1">
                        <a:latin typeface="Cambria Math" panose="02040503050406030204" pitchFamily="18" charset="0"/>
                      </a:rPr>
                      <m:t>𝑪</m:t>
                    </m:r>
                    <m:r>
                      <a:rPr lang="en-US" altLang="ja-JP" sz="2800" b="1" i="1" smtClean="0">
                        <a:latin typeface="Cambria Math" panose="02040503050406030204" pitchFamily="18" charset="0"/>
                        <a:ea typeface="+mn-ea"/>
                      </a:rPr>
                      <m:t>:</m:t>
                    </m:r>
                  </m:oMath>
                </a14:m>
                <a:r>
                  <a:rPr lang="en-US" altLang="ja-JP" sz="2800" dirty="0">
                    <a:latin typeface="+mn-ea"/>
                    <a:ea typeface="+mn-ea"/>
                    <a:cs typeface="Arial" panose="020B0604020202020204" pitchFamily="34" charset="0"/>
                  </a:rPr>
                  <a:t> </a:t>
                </a:r>
                <a:r>
                  <a:rPr lang="ja-JP" altLang="en-US" sz="2800">
                    <a:latin typeface="+mn-ea"/>
                    <a:ea typeface="+mn-ea"/>
                    <a:cs typeface="Arial" panose="020B0604020202020204" pitchFamily="34" charset="0"/>
                  </a:rPr>
                  <a:t>共変量</a:t>
                </a:r>
                <a:endParaRPr lang="en-US" altLang="ja-JP" sz="2800" dirty="0">
                  <a:latin typeface="+mn-ea"/>
                  <a:ea typeface="+mn-ea"/>
                  <a:cs typeface="Arial" panose="020B0604020202020204" pitchFamily="34" charset="0"/>
                </a:endParaRPr>
              </a:p>
              <a:p>
                <a14:m>
                  <m:oMath xmlns:m="http://schemas.openxmlformats.org/officeDocument/2006/math">
                    <m:r>
                      <a:rPr lang="ja-JP" altLang="en-US" sz="2800" i="1" smtClean="0">
                        <a:latin typeface="Cambria Math" panose="02040503050406030204" pitchFamily="18" charset="0"/>
                        <a:ea typeface="+mn-ea"/>
                      </a:rPr>
                      <m:t>𝜆</m:t>
                    </m:r>
                    <m:r>
                      <a:rPr lang="en-US" altLang="ja-JP" sz="2800" b="0" i="1" smtClean="0">
                        <a:latin typeface="Cambria Math" panose="02040503050406030204" pitchFamily="18" charset="0"/>
                        <a:ea typeface="+mn-ea"/>
                      </a:rPr>
                      <m:t> </m:t>
                    </m:r>
                    <m:d>
                      <m:dPr>
                        <m:ctrlPr>
                          <a:rPr lang="en-US" altLang="ja-JP" sz="2800" b="0" i="1" smtClean="0">
                            <a:latin typeface="Cambria Math" panose="02040503050406030204" pitchFamily="18" charset="0"/>
                            <a:ea typeface="+mn-ea"/>
                          </a:rPr>
                        </m:ctrlPr>
                      </m:dPr>
                      <m:e>
                        <m:r>
                          <a:rPr lang="en-US" altLang="ja-JP" sz="2800" b="0" i="1" smtClean="0">
                            <a:latin typeface="Cambria Math" panose="02040503050406030204" pitchFamily="18" charset="0"/>
                            <a:ea typeface="+mn-ea"/>
                          </a:rPr>
                          <m:t>&gt;0</m:t>
                        </m:r>
                      </m:e>
                    </m:d>
                    <m:r>
                      <a:rPr lang="en-US" altLang="ja-JP" sz="2800" b="0" i="1" smtClean="0">
                        <a:latin typeface="Cambria Math" panose="02040503050406030204" pitchFamily="18" charset="0"/>
                        <a:ea typeface="+mn-ea"/>
                      </a:rPr>
                      <m:t>:</m:t>
                    </m:r>
                  </m:oMath>
                </a14:m>
                <a:r>
                  <a:rPr lang="ja-JP" altLang="en-US" sz="2800">
                    <a:latin typeface="+mn-ea"/>
                    <a:ea typeface="+mn-ea"/>
                    <a:cs typeface="Arial" panose="020B0604020202020204" pitchFamily="34" charset="0"/>
                  </a:rPr>
                  <a:t> 正則化パ ラメータ，</a:t>
                </a:r>
                <a14:m>
                  <m:oMath xmlns:m="http://schemas.openxmlformats.org/officeDocument/2006/math">
                    <m:sSub>
                      <m:sSubPr>
                        <m:ctrlPr>
                          <a:rPr lang="en-US" altLang="ja-JP" sz="2800" i="1" smtClean="0">
                            <a:latin typeface="Cambria Math" panose="02040503050406030204" pitchFamily="18" charset="0"/>
                            <a:ea typeface="+mn-ea"/>
                          </a:rPr>
                        </m:ctrlPr>
                      </m:sSubPr>
                      <m:e>
                        <m:r>
                          <a:rPr lang="en-US" altLang="ja-JP" sz="2800" b="0" i="1" smtClean="0">
                            <a:latin typeface="Cambria Math" panose="02040503050406030204" pitchFamily="18" charset="0"/>
                            <a:ea typeface="+mn-ea"/>
                          </a:rPr>
                          <m:t>𝑊</m:t>
                        </m:r>
                      </m:e>
                      <m:sub>
                        <m:r>
                          <a:rPr lang="en-US" altLang="ja-JP" sz="2800" b="0" i="1" smtClean="0">
                            <a:latin typeface="Cambria Math" panose="02040503050406030204" pitchFamily="18" charset="0"/>
                            <a:ea typeface="+mn-ea"/>
                          </a:rPr>
                          <m:t>𝑘</m:t>
                        </m:r>
                      </m:sub>
                    </m:sSub>
                    <m:r>
                      <a:rPr lang="en-US" altLang="ja-JP" sz="2800" b="0" i="1" smtClean="0">
                        <a:latin typeface="Cambria Math" panose="02040503050406030204" pitchFamily="18" charset="0"/>
                        <a:ea typeface="+mn-ea"/>
                      </a:rPr>
                      <m:t>:</m:t>
                    </m:r>
                  </m:oMath>
                </a14:m>
                <a:r>
                  <a:rPr lang="en-US" altLang="ja-JP" sz="2800" dirty="0">
                    <a:latin typeface="+mn-ea"/>
                    <a:ea typeface="+mn-ea"/>
                    <a:cs typeface="Arial" panose="020B0604020202020204" pitchFamily="34" charset="0"/>
                  </a:rPr>
                  <a:t> </a:t>
                </a:r>
                <a:r>
                  <a:rPr lang="ja-JP" altLang="en-US" sz="2800">
                    <a:latin typeface="+mn-ea"/>
                    <a:ea typeface="+mn-ea"/>
                    <a:cs typeface="Arial" panose="020B0604020202020204" pitchFamily="34" charset="0"/>
                  </a:rPr>
                  <a:t>正の重み</a:t>
                </a:r>
                <a:endParaRPr lang="en-US" altLang="ja-JP" sz="2800" dirty="0">
                  <a:latin typeface="+mn-ea"/>
                  <a:ea typeface="+mn-ea"/>
                  <a:cs typeface="Arial" panose="020B0604020202020204" pitchFamily="34" charset="0"/>
                </a:endParaRPr>
              </a:p>
              <a:p>
                <a:pPr marL="0" indent="0">
                  <a:buNone/>
                </a:pPr>
                <a14:m>
                  <m:oMath xmlns:m="http://schemas.openxmlformats.org/officeDocument/2006/math">
                    <m:r>
                      <a:rPr lang="ja-JP" altLang="en-US" sz="2800" b="1" i="1" smtClean="0">
                        <a:latin typeface="Cambria Math" panose="02040503050406030204" pitchFamily="18" charset="0"/>
                        <a:ea typeface="+mn-ea"/>
                      </a:rPr>
                      <m:t>𝜷</m:t>
                    </m:r>
                    <m:r>
                      <a:rPr lang="en-US" altLang="ja-JP" sz="2800" b="1" i="1" smtClean="0">
                        <a:latin typeface="Cambria Math" panose="02040503050406030204" pitchFamily="18" charset="0"/>
                        <a:ea typeface="+mn-ea"/>
                      </a:rPr>
                      <m:t>:</m:t>
                    </m:r>
                  </m:oMath>
                </a14:m>
                <a:r>
                  <a:rPr lang="ja-JP" altLang="en-US" sz="2800">
                    <a:latin typeface="+mn-ea"/>
                    <a:ea typeface="+mn-ea"/>
                    <a:cs typeface="Arial" panose="020B0604020202020204" pitchFamily="34" charset="0"/>
                  </a:rPr>
                  <a:t> </a:t>
                </a:r>
                <a:r>
                  <a:rPr lang="ja-JP" altLang="en-US" sz="2800">
                    <a:solidFill>
                      <a:schemeClr val="accent1"/>
                    </a:solidFill>
                    <a:latin typeface="+mn-ea"/>
                    <a:ea typeface="+mn-ea"/>
                    <a:cs typeface="Arial" panose="020B0604020202020204" pitchFamily="34" charset="0"/>
                  </a:rPr>
                  <a:t>結果モデル</a:t>
                </a:r>
                <a:r>
                  <a:rPr lang="ja-JP" altLang="en-US" sz="2800">
                    <a:latin typeface="+mn-ea"/>
                    <a:ea typeface="+mn-ea"/>
                    <a:cs typeface="Arial" panose="020B0604020202020204" pitchFamily="34" charset="0"/>
                  </a:rPr>
                  <a:t>の回帰係数と</a:t>
                </a:r>
                <a:r>
                  <a:rPr lang="ja-JP" altLang="en-US" sz="2800">
                    <a:solidFill>
                      <a:schemeClr val="accent2"/>
                    </a:solidFill>
                    <a:latin typeface="+mn-ea"/>
                    <a:ea typeface="+mn-ea"/>
                    <a:cs typeface="Arial" panose="020B0604020202020204" pitchFamily="34" charset="0"/>
                  </a:rPr>
                  <a:t>傾向スコアモデル</a:t>
                </a:r>
                <a:r>
                  <a:rPr lang="ja-JP" altLang="en-US" sz="2800">
                    <a:latin typeface="+mn-ea"/>
                    <a:ea typeface="+mn-ea"/>
                    <a:cs typeface="Arial" panose="020B0604020202020204" pitchFamily="34" charset="0"/>
                  </a:rPr>
                  <a:t>の回帰係数をグループ化したもの</a:t>
                </a:r>
                <a:endParaRPr lang="en-US" altLang="ja-JP" sz="2800" dirty="0">
                  <a:latin typeface="+mn-ea"/>
                  <a:ea typeface="+mn-ea"/>
                  <a:cs typeface="Arial" panose="020B0604020202020204" pitchFamily="34" charset="0"/>
                </a:endParaRPr>
              </a:p>
              <a:p>
                <a14:m>
                  <m:oMath xmlns:m="http://schemas.openxmlformats.org/officeDocument/2006/math">
                    <m:sSub>
                      <m:sSubPr>
                        <m:ctrlPr>
                          <a:rPr lang="en-US" altLang="ja-JP" sz="2800" i="1">
                            <a:latin typeface="Cambria Math" panose="02040503050406030204" pitchFamily="18" charset="0"/>
                          </a:rPr>
                        </m:ctrlPr>
                      </m:sSubPr>
                      <m:e>
                        <m:r>
                          <m:rPr>
                            <m:sty m:val="p"/>
                          </m:rPr>
                          <a:rPr lang="el-GR" altLang="ja-JP" sz="2800" i="1">
                            <a:latin typeface="Cambria Math" panose="02040503050406030204" pitchFamily="18" charset="0"/>
                          </a:rPr>
                          <m:t>Φ</m:t>
                        </m:r>
                      </m:e>
                      <m:sub>
                        <m:r>
                          <m:rPr>
                            <m:sty m:val="p"/>
                          </m:rPr>
                          <a:rPr lang="en-US" altLang="ja-JP" sz="2800">
                            <a:latin typeface="Cambria Math" panose="02040503050406030204" pitchFamily="18" charset="0"/>
                          </a:rPr>
                          <m:t>sum</m:t>
                        </m:r>
                      </m:sub>
                    </m:sSub>
                    <m:d>
                      <m:dPr>
                        <m:ctrlPr>
                          <a:rPr lang="en-US" altLang="ja-JP" sz="2800" b="1" i="1">
                            <a:latin typeface="Cambria Math" panose="02040503050406030204" pitchFamily="18" charset="0"/>
                          </a:rPr>
                        </m:ctrlPr>
                      </m:dPr>
                      <m:e>
                        <m:r>
                          <a:rPr lang="en-US" altLang="ja-JP" sz="2800" b="1" i="1">
                            <a:latin typeface="Cambria Math" panose="02040503050406030204" pitchFamily="18" charset="0"/>
                            <a:cs typeface="Arial" panose="020B0604020202020204" pitchFamily="34" charset="0"/>
                          </a:rPr>
                          <m:t>𝒀</m:t>
                        </m:r>
                        <m:r>
                          <a:rPr lang="en-US" altLang="ja-JP" sz="2800" b="1" i="1">
                            <a:latin typeface="Cambria Math" panose="02040503050406030204" pitchFamily="18" charset="0"/>
                          </a:rPr>
                          <m:t>,</m:t>
                        </m:r>
                        <m:r>
                          <a:rPr lang="en-US" altLang="ja-JP" sz="2800" b="1" i="1">
                            <a:latin typeface="Cambria Math" panose="02040503050406030204" pitchFamily="18" charset="0"/>
                          </a:rPr>
                          <m:t>𝑿</m:t>
                        </m:r>
                        <m:r>
                          <a:rPr lang="en-US" altLang="ja-JP" sz="2800" b="1" i="1">
                            <a:latin typeface="Cambria Math" panose="02040503050406030204" pitchFamily="18" charset="0"/>
                          </a:rPr>
                          <m:t>,</m:t>
                        </m:r>
                        <m:r>
                          <a:rPr lang="en-US" altLang="ja-JP" sz="2800" b="1" i="1">
                            <a:latin typeface="Cambria Math" panose="02040503050406030204" pitchFamily="18" charset="0"/>
                          </a:rPr>
                          <m:t>𝑪</m:t>
                        </m:r>
                        <m:r>
                          <a:rPr lang="en-US" altLang="ja-JP" sz="2800" b="1" i="1">
                            <a:latin typeface="Cambria Math" panose="02040503050406030204" pitchFamily="18" charset="0"/>
                          </a:rPr>
                          <m:t>;</m:t>
                        </m:r>
                        <m:r>
                          <a:rPr lang="ja-JP" altLang="en-US" sz="2800" b="1" i="1">
                            <a:latin typeface="Cambria Math" panose="02040503050406030204" pitchFamily="18" charset="0"/>
                          </a:rPr>
                          <m:t>𝜷</m:t>
                        </m:r>
                      </m:e>
                    </m:d>
                    <m:r>
                      <a:rPr kumimoji="1" lang="en-US" altLang="ja-JP" sz="2800" b="1" i="1" smtClean="0">
                        <a:latin typeface="Cambria Math" panose="02040503050406030204" pitchFamily="18" charset="0"/>
                        <a:ea typeface="+mn-ea"/>
                      </a:rPr>
                      <m:t>:</m:t>
                    </m:r>
                  </m:oMath>
                </a14:m>
                <a:r>
                  <a:rPr lang="ja-JP" altLang="en-US" sz="2800">
                    <a:latin typeface="+mn-ea"/>
                    <a:ea typeface="+mn-ea"/>
                    <a:cs typeface="Arial" panose="020B0604020202020204" pitchFamily="34" charset="0"/>
                  </a:rPr>
                  <a:t> </a:t>
                </a:r>
                <a:r>
                  <a:rPr lang="ja-JP" altLang="en-US" sz="2800">
                    <a:solidFill>
                      <a:schemeClr val="accent1"/>
                    </a:solidFill>
                    <a:latin typeface="+mn-ea"/>
                    <a:ea typeface="+mn-ea"/>
                    <a:cs typeface="Arial" panose="020B0604020202020204" pitchFamily="34" charset="0"/>
                  </a:rPr>
                  <a:t>結果モデル</a:t>
                </a:r>
                <a14:m>
                  <m:oMath xmlns:m="http://schemas.openxmlformats.org/officeDocument/2006/math">
                    <m:r>
                      <a:rPr kumimoji="1" lang="ja-JP" altLang="en-US" sz="2800" i="1">
                        <a:latin typeface="Cambria Math" panose="02040503050406030204" pitchFamily="18" charset="0"/>
                      </a:rPr>
                      <m:t>𝜇</m:t>
                    </m:r>
                    <m:d>
                      <m:dPr>
                        <m:ctrlPr>
                          <a:rPr kumimoji="1" lang="en-US" altLang="ja-JP" sz="2800" b="1" i="1">
                            <a:latin typeface="Cambria Math" panose="02040503050406030204" pitchFamily="18" charset="0"/>
                          </a:rPr>
                        </m:ctrlPr>
                      </m:dPr>
                      <m:e>
                        <m:r>
                          <a:rPr kumimoji="1" lang="en-US" altLang="ja-JP" sz="2800" b="1" i="1" smtClean="0">
                            <a:latin typeface="Cambria Math" panose="02040503050406030204" pitchFamily="18" charset="0"/>
                          </a:rPr>
                          <m:t>𝑿</m:t>
                        </m:r>
                        <m:r>
                          <a:rPr kumimoji="1" lang="en-US" altLang="ja-JP" sz="2800" b="1" i="1">
                            <a:latin typeface="Cambria Math" panose="02040503050406030204" pitchFamily="18" charset="0"/>
                          </a:rPr>
                          <m:t>,</m:t>
                        </m:r>
                        <m:r>
                          <a:rPr kumimoji="1" lang="en-US" altLang="ja-JP" sz="2800" b="1" i="1" smtClean="0">
                            <a:latin typeface="Cambria Math" panose="02040503050406030204" pitchFamily="18" charset="0"/>
                          </a:rPr>
                          <m:t>𝑪</m:t>
                        </m:r>
                        <m:r>
                          <a:rPr kumimoji="1" lang="en-US" altLang="ja-JP" sz="2800" b="1" i="1">
                            <a:latin typeface="Cambria Math" panose="02040503050406030204" pitchFamily="18" charset="0"/>
                          </a:rPr>
                          <m:t>;</m:t>
                        </m:r>
                        <m:r>
                          <a:rPr kumimoji="1" lang="ja-JP" altLang="en-US" sz="2800" b="1" i="1">
                            <a:latin typeface="Cambria Math" panose="02040503050406030204" pitchFamily="18" charset="0"/>
                          </a:rPr>
                          <m:t>𝜶</m:t>
                        </m:r>
                      </m:e>
                    </m:d>
                  </m:oMath>
                </a14:m>
                <a:r>
                  <a:rPr lang="ja-JP" altLang="en-US" sz="2800">
                    <a:latin typeface="+mn-ea"/>
                    <a:ea typeface="+mn-ea"/>
                    <a:cs typeface="Arial" panose="020B0604020202020204" pitchFamily="34" charset="0"/>
                  </a:rPr>
                  <a:t>おける誤差</a:t>
                </a:r>
                <a:r>
                  <a:rPr lang="en-US" altLang="ja-JP" sz="2800" dirty="0">
                    <a:latin typeface="+mn-ea"/>
                    <a:ea typeface="+mn-ea"/>
                    <a:cs typeface="Arial" panose="020B0604020202020204" pitchFamily="34" charset="0"/>
                  </a:rPr>
                  <a:t>2</a:t>
                </a:r>
                <a:r>
                  <a:rPr lang="ja-JP" altLang="en-US" sz="2800">
                    <a:latin typeface="+mn-ea"/>
                    <a:ea typeface="+mn-ea"/>
                    <a:cs typeface="Arial" panose="020B0604020202020204" pitchFamily="34" charset="0"/>
                  </a:rPr>
                  <a:t>乗和と</a:t>
                </a:r>
                <a:r>
                  <a:rPr lang="ja-JP" altLang="en-US" sz="2800">
                    <a:solidFill>
                      <a:schemeClr val="accent2"/>
                    </a:solidFill>
                    <a:latin typeface="+mn-ea"/>
                    <a:ea typeface="+mn-ea"/>
                    <a:cs typeface="Arial" panose="020B0604020202020204" pitchFamily="34" charset="0"/>
                  </a:rPr>
                  <a:t>傾向スコアモデル</a:t>
                </a:r>
                <a14:m>
                  <m:oMath xmlns:m="http://schemas.openxmlformats.org/officeDocument/2006/math">
                    <m:r>
                      <a:rPr kumimoji="1" lang="ja-JP" altLang="en-US" sz="2800" i="1">
                        <a:latin typeface="Cambria Math" panose="02040503050406030204" pitchFamily="18" charset="0"/>
                      </a:rPr>
                      <m:t>𝜋</m:t>
                    </m:r>
                    <m:d>
                      <m:dPr>
                        <m:ctrlPr>
                          <a:rPr kumimoji="1" lang="en-US" altLang="ja-JP" sz="2800" b="1" i="1">
                            <a:latin typeface="Cambria Math" panose="02040503050406030204" pitchFamily="18" charset="0"/>
                          </a:rPr>
                        </m:ctrlPr>
                      </m:dPr>
                      <m:e>
                        <m:r>
                          <a:rPr kumimoji="1" lang="en-US" altLang="ja-JP" sz="2800" b="1" i="1" smtClean="0">
                            <a:latin typeface="Cambria Math" panose="02040503050406030204" pitchFamily="18" charset="0"/>
                          </a:rPr>
                          <m:t>𝑪</m:t>
                        </m:r>
                        <m:r>
                          <a:rPr kumimoji="1" lang="en-US" altLang="ja-JP" sz="2800" b="1" i="1">
                            <a:latin typeface="Cambria Math" panose="02040503050406030204" pitchFamily="18" charset="0"/>
                          </a:rPr>
                          <m:t>;</m:t>
                        </m:r>
                        <m:r>
                          <a:rPr kumimoji="1" lang="ja-JP" altLang="en-US" sz="2800" b="1" i="1">
                            <a:latin typeface="Cambria Math" panose="02040503050406030204" pitchFamily="18" charset="0"/>
                          </a:rPr>
                          <m:t>𝜸</m:t>
                        </m:r>
                      </m:e>
                    </m:d>
                  </m:oMath>
                </a14:m>
                <a:r>
                  <a:rPr lang="ja-JP" altLang="en-US" sz="2800">
                    <a:latin typeface="+mn-ea"/>
                    <a:ea typeface="+mn-ea"/>
                    <a:cs typeface="Arial" panose="020B0604020202020204" pitchFamily="34" charset="0"/>
                  </a:rPr>
                  <a:t>における負の対数尤度関数の和</a:t>
                </a:r>
                <a:endParaRPr kumimoji="1" lang="ja-JP" altLang="en-US" sz="2800">
                  <a:latin typeface="+mn-ea"/>
                  <a:ea typeface="+mn-ea"/>
                  <a:cs typeface="Arial" panose="020B0604020202020204" pitchFamily="34" charset="0"/>
                </a:endParaRPr>
              </a:p>
            </p:txBody>
          </p:sp>
        </mc:Choice>
        <mc:Fallback>
          <p:sp>
            <p:nvSpPr>
              <p:cNvPr id="5" name="Google Shape;95;p1">
                <a:extLst>
                  <a:ext uri="{FF2B5EF4-FFF2-40B4-BE49-F238E27FC236}">
                    <a16:creationId xmlns:a16="http://schemas.microsoft.com/office/drawing/2014/main" id="{934DDED4-206A-4E32-ABED-99D944A9F73C}"/>
                  </a:ext>
                </a:extLst>
              </p:cNvPr>
              <p:cNvSpPr>
                <a:spLocks noRot="1" noChangeAspect="1" noMove="1" noResize="1" noEditPoints="1" noAdjustHandles="1" noChangeArrowheads="1" noChangeShapeType="1" noTextEdit="1"/>
              </p:cNvSpPr>
              <p:nvPr/>
            </p:nvSpPr>
            <p:spPr>
              <a:xfrm>
                <a:off x="317746" y="3625369"/>
                <a:ext cx="11710442" cy="2677616"/>
              </a:xfrm>
              <a:prstGeom prst="rect">
                <a:avLst/>
              </a:prstGeom>
              <a:blipFill>
                <a:blip r:embed="rId4"/>
                <a:stretch>
                  <a:fillRect l="-1082" t="-2358" r="-541" b="-5660"/>
                </a:stretch>
              </a:blipFill>
              <a:ln>
                <a:noFill/>
              </a:ln>
            </p:spPr>
            <p:txBody>
              <a:bodyPr/>
              <a:lstStyle/>
              <a:p>
                <a:r>
                  <a:rPr lang="ja-JP" altLang="en-US">
                    <a:noFill/>
                  </a:rPr>
                  <a:t> </a:t>
                </a:r>
              </a:p>
            </p:txBody>
          </p:sp>
        </mc:Fallback>
      </mc:AlternateContent>
      <p:sp>
        <p:nvSpPr>
          <p:cNvPr id="6" name="大かっこ 5">
            <a:extLst>
              <a:ext uri="{FF2B5EF4-FFF2-40B4-BE49-F238E27FC236}">
                <a16:creationId xmlns:a16="http://schemas.microsoft.com/office/drawing/2014/main" id="{08768F63-F00C-1DAA-6D3B-B192898C2A43}"/>
              </a:ext>
            </a:extLst>
          </p:cNvPr>
          <p:cNvSpPr/>
          <p:nvPr/>
        </p:nvSpPr>
        <p:spPr>
          <a:xfrm>
            <a:off x="163813" y="3543719"/>
            <a:ext cx="11864376" cy="2885661"/>
          </a:xfrm>
          <a:prstGeom prst="bracketPair">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EDC14F07-C143-F64E-E942-25E32AC0B322}"/>
              </a:ext>
            </a:extLst>
          </p:cNvPr>
          <p:cNvSpPr txBox="1"/>
          <p:nvPr/>
        </p:nvSpPr>
        <p:spPr>
          <a:xfrm>
            <a:off x="5362488" y="1784759"/>
            <a:ext cx="1620957" cy="523220"/>
          </a:xfrm>
          <a:prstGeom prst="rect">
            <a:avLst/>
          </a:prstGeom>
          <a:ln w="28575">
            <a:solidFill>
              <a:schemeClr val="accent4"/>
            </a:solidFill>
          </a:ln>
        </p:spPr>
        <p:style>
          <a:lnRef idx="2">
            <a:schemeClr val="accent1"/>
          </a:lnRef>
          <a:fillRef idx="1">
            <a:schemeClr val="lt1"/>
          </a:fillRef>
          <a:effectRef idx="0">
            <a:schemeClr val="accent1"/>
          </a:effectRef>
          <a:fontRef idx="minor">
            <a:schemeClr val="dk1"/>
          </a:fontRef>
        </p:style>
        <p:txBody>
          <a:bodyPr wrap="none" rtlCol="0">
            <a:spAutoFit/>
          </a:bodyPr>
          <a:lstStyle/>
          <a:p>
            <a:r>
              <a:rPr kumimoji="1" lang="ja-JP" altLang="en-US" sz="2800"/>
              <a:t>損失関数</a:t>
            </a:r>
          </a:p>
        </p:txBody>
      </p:sp>
      <p:sp>
        <p:nvSpPr>
          <p:cNvPr id="8" name="テキスト ボックス 7">
            <a:extLst>
              <a:ext uri="{FF2B5EF4-FFF2-40B4-BE49-F238E27FC236}">
                <a16:creationId xmlns:a16="http://schemas.microsoft.com/office/drawing/2014/main" id="{9EAD836A-629C-6926-0FBF-AF93A7A0FD0E}"/>
              </a:ext>
            </a:extLst>
          </p:cNvPr>
          <p:cNvSpPr txBox="1"/>
          <p:nvPr/>
        </p:nvSpPr>
        <p:spPr>
          <a:xfrm>
            <a:off x="8814448" y="1743294"/>
            <a:ext cx="1620957" cy="523220"/>
          </a:xfrm>
          <a:prstGeom prst="rect">
            <a:avLst/>
          </a:prstGeom>
          <a:noFill/>
          <a:ln w="28575">
            <a:solidFill>
              <a:schemeClr val="accent6"/>
            </a:solidFill>
          </a:ln>
        </p:spPr>
        <p:txBody>
          <a:bodyPr wrap="none" rtlCol="0">
            <a:spAutoFit/>
          </a:bodyPr>
          <a:lstStyle/>
          <a:p>
            <a:r>
              <a:rPr lang="ja-JP" altLang="en-US" sz="2800"/>
              <a:t>正則化</a:t>
            </a:r>
            <a:r>
              <a:rPr kumimoji="1" lang="ja-JP" altLang="en-US" sz="2800"/>
              <a:t>項</a:t>
            </a:r>
          </a:p>
        </p:txBody>
      </p:sp>
      <p:sp>
        <p:nvSpPr>
          <p:cNvPr id="3" name="スライド番号プレースホルダー 2">
            <a:extLst>
              <a:ext uri="{FF2B5EF4-FFF2-40B4-BE49-F238E27FC236}">
                <a16:creationId xmlns:a16="http://schemas.microsoft.com/office/drawing/2014/main" id="{22075995-298E-8961-60E3-ACCF3995BA74}"/>
              </a:ext>
            </a:extLst>
          </p:cNvPr>
          <p:cNvSpPr>
            <a:spLocks noGrp="1"/>
          </p:cNvSpPr>
          <p:nvPr>
            <p:ph type="sldNum" sz="quarter" idx="12"/>
          </p:nvPr>
        </p:nvSpPr>
        <p:spPr/>
        <p:txBody>
          <a:bodyPr/>
          <a:lstStyle/>
          <a:p>
            <a:fld id="{21218AEF-8260-6F42-89D9-6D82E053F226}" type="slidenum">
              <a:rPr kumimoji="1" lang="ja-JP" altLang="en-US" smtClean="0"/>
              <a:t>7</a:t>
            </a:fld>
            <a:endParaRPr kumimoji="1" lang="ja-JP" altLang="en-US"/>
          </a:p>
        </p:txBody>
      </p:sp>
    </p:spTree>
    <p:extLst>
      <p:ext uri="{BB962C8B-B14F-4D97-AF65-F5344CB8AC3E}">
        <p14:creationId xmlns:p14="http://schemas.microsoft.com/office/powerpoint/2010/main" val="2022875358"/>
      </p:ext>
    </p:extLst>
  </p:cSld>
  <p:clrMapOvr>
    <a:masterClrMapping/>
  </p:clrMapOvr>
  <mc:AlternateContent xmlns:mc="http://schemas.openxmlformats.org/markup-compatibility/2006">
    <mc:Choice xmlns:p14="http://schemas.microsoft.com/office/powerpoint/2010/main" Requires="p14">
      <p:transition spd="slow" p14:dur="2000" advTm="23415"/>
    </mc:Choice>
    <mc:Fallback>
      <p:transition spd="slow" advTm="23415"/>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9BD2A21-20C3-41FD-B1C9-3FBDC4C1DA67}"/>
              </a:ext>
            </a:extLst>
          </p:cNvPr>
          <p:cNvSpPr>
            <a:spLocks noGrp="1"/>
          </p:cNvSpPr>
          <p:nvPr>
            <p:ph type="title"/>
          </p:nvPr>
        </p:nvSpPr>
        <p:spPr>
          <a:xfrm>
            <a:off x="0" y="-177372"/>
            <a:ext cx="10515600" cy="1325563"/>
          </a:xfrm>
        </p:spPr>
        <p:txBody>
          <a:bodyPr/>
          <a:lstStyle/>
          <a:p>
            <a:r>
              <a:rPr kumimoji="1" lang="en-US" altLang="ja-JP" dirty="0" err="1"/>
              <a:t>GLiDeR</a:t>
            </a:r>
            <a:r>
              <a:rPr lang="ja-JP" altLang="en-US"/>
              <a:t>（損失関数）</a:t>
            </a:r>
            <a:endParaRPr kumimoji="1" lang="ja-JP" altLang="en-US" dirty="0"/>
          </a:p>
        </p:txBody>
      </p:sp>
      <mc:AlternateContent xmlns:mc="http://schemas.openxmlformats.org/markup-compatibility/2006">
        <mc:Choice xmlns:a14="http://schemas.microsoft.com/office/drawing/2010/main" Requires="a14">
          <p:sp>
            <p:nvSpPr>
              <p:cNvPr id="4" name="正方形/長方形 3">
                <a:extLst>
                  <a:ext uri="{FF2B5EF4-FFF2-40B4-BE49-F238E27FC236}">
                    <a16:creationId xmlns:a16="http://schemas.microsoft.com/office/drawing/2014/main" id="{85F035AE-426F-43C6-8D57-99BA95B31D87}"/>
                  </a:ext>
                </a:extLst>
              </p:cNvPr>
              <p:cNvSpPr/>
              <p:nvPr/>
            </p:nvSpPr>
            <p:spPr>
              <a:xfrm>
                <a:off x="8453952" y="4447349"/>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lang="en-US" altLang="ja-JP" sz="2800" b="1" i="1">
                        <a:latin typeface="Cambria Math" panose="02040503050406030204" pitchFamily="18" charset="0"/>
                      </a:rPr>
                      <m:t>𝒀</m:t>
                    </m:r>
                  </m:oMath>
                </a14:m>
                <a:endParaRPr kumimoji="1" lang="en-US" altLang="ja-JP" sz="2800"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4" name="正方形/長方形 3">
                <a:extLst>
                  <a:ext uri="{FF2B5EF4-FFF2-40B4-BE49-F238E27FC236}">
                    <a16:creationId xmlns:a16="http://schemas.microsoft.com/office/drawing/2014/main" id="{85F035AE-426F-43C6-8D57-99BA95B31D87}"/>
                  </a:ext>
                </a:extLst>
              </p:cNvPr>
              <p:cNvSpPr>
                <a:spLocks noRot="1" noChangeAspect="1" noMove="1" noResize="1" noEditPoints="1" noAdjustHandles="1" noChangeArrowheads="1" noChangeShapeType="1" noTextEdit="1"/>
              </p:cNvSpPr>
              <p:nvPr/>
            </p:nvSpPr>
            <p:spPr>
              <a:xfrm>
                <a:off x="8453952" y="4447349"/>
                <a:ext cx="2875280" cy="1187213"/>
              </a:xfrm>
              <a:prstGeom prst="rect">
                <a:avLst/>
              </a:prstGeom>
              <a:blipFill>
                <a:blip r:embed="rId3"/>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正方形/長方形 4">
                <a:extLst>
                  <a:ext uri="{FF2B5EF4-FFF2-40B4-BE49-F238E27FC236}">
                    <a16:creationId xmlns:a16="http://schemas.microsoft.com/office/drawing/2014/main" id="{38BDF32F-22F3-4D10-A2BF-3BD807CE76D6}"/>
                  </a:ext>
                </a:extLst>
              </p:cNvPr>
              <p:cNvSpPr/>
              <p:nvPr/>
            </p:nvSpPr>
            <p:spPr>
              <a:xfrm>
                <a:off x="988542" y="4436785"/>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割り当て変数</a:t>
                </a:r>
                <a14:m>
                  <m:oMath xmlns:m="http://schemas.openxmlformats.org/officeDocument/2006/math">
                    <m:r>
                      <a:rPr lang="en-US" altLang="ja-JP" sz="2800" b="1" i="1" smtClean="0">
                        <a:latin typeface="Cambria Math" panose="02040503050406030204" pitchFamily="18" charset="0"/>
                      </a:rPr>
                      <m:t>𝑿</m:t>
                    </m:r>
                  </m:oMath>
                </a14:m>
                <a:endParaRPr kumimoji="1" lang="en-US" altLang="ja-JP" sz="2800" dirty="0"/>
              </a:p>
              <a:p>
                <a:pPr algn="ctr"/>
                <a:r>
                  <a:rPr lang="ja-JP" altLang="en-US" sz="2800" dirty="0"/>
                  <a:t>（原因）</a:t>
                </a:r>
                <a:endParaRPr kumimoji="1" lang="ja-JP" altLang="en-US" sz="2800" dirty="0"/>
              </a:p>
            </p:txBody>
          </p:sp>
        </mc:Choice>
        <mc:Fallback>
          <p:sp>
            <p:nvSpPr>
              <p:cNvPr id="5" name="正方形/長方形 4">
                <a:extLst>
                  <a:ext uri="{FF2B5EF4-FFF2-40B4-BE49-F238E27FC236}">
                    <a16:creationId xmlns:a16="http://schemas.microsoft.com/office/drawing/2014/main" id="{38BDF32F-22F3-4D10-A2BF-3BD807CE76D6}"/>
                  </a:ext>
                </a:extLst>
              </p:cNvPr>
              <p:cNvSpPr>
                <a:spLocks noRot="1" noChangeAspect="1" noMove="1" noResize="1" noEditPoints="1" noAdjustHandles="1" noChangeArrowheads="1" noChangeShapeType="1" noTextEdit="1"/>
              </p:cNvSpPr>
              <p:nvPr/>
            </p:nvSpPr>
            <p:spPr>
              <a:xfrm>
                <a:off x="988542" y="4436785"/>
                <a:ext cx="2875280" cy="1187212"/>
              </a:xfrm>
              <a:prstGeom prst="rect">
                <a:avLst/>
              </a:prstGeom>
              <a:blipFill>
                <a:blip r:embed="rId4"/>
                <a:stretch>
                  <a:fillRect b="-2062"/>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6" name="正方形/長方形 5">
                <a:extLst>
                  <a:ext uri="{FF2B5EF4-FFF2-40B4-BE49-F238E27FC236}">
                    <a16:creationId xmlns:a16="http://schemas.microsoft.com/office/drawing/2014/main" id="{26E43D76-2135-4BA3-9475-633E0885827D}"/>
                  </a:ext>
                </a:extLst>
              </p:cNvPr>
              <p:cNvSpPr/>
              <p:nvPr/>
            </p:nvSpPr>
            <p:spPr>
              <a:xfrm>
                <a:off x="3909695" y="1375578"/>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dirty="0"/>
                  <a:t>共変量</a:t>
                </a:r>
                <a:endParaRPr lang="en-US" altLang="ja-JP" sz="2800" dirty="0"/>
              </a:p>
              <a:p>
                <a:pPr algn="ctr"/>
                <a14:m>
                  <m:oMathPara xmlns:m="http://schemas.openxmlformats.org/officeDocument/2006/math">
                    <m:oMathParaPr>
                      <m:jc m:val="centerGroup"/>
                    </m:oMathParaPr>
                    <m:oMath xmlns:m="http://schemas.openxmlformats.org/officeDocument/2006/math">
                      <m:r>
                        <a:rPr lang="en-US" altLang="ja-JP" sz="2800" b="1" i="1" smtClean="0">
                          <a:latin typeface="Cambria Math" panose="02040503050406030204" pitchFamily="18" charset="0"/>
                        </a:rPr>
                        <m:t>𝑪</m:t>
                      </m:r>
                      <m:r>
                        <a:rPr lang="en-US" altLang="ja-JP" sz="2800" b="1" i="1" smtClean="0">
                          <a:latin typeface="Cambria Math" panose="02040503050406030204" pitchFamily="18" charset="0"/>
                        </a:rPr>
                        <m:t>=</m:t>
                      </m:r>
                      <m:d>
                        <m:dPr>
                          <m:ctrlPr>
                            <a:rPr lang="en-US" altLang="ja-JP" sz="2800" i="1" smtClean="0">
                              <a:latin typeface="Cambria Math" panose="02040503050406030204" pitchFamily="18" charset="0"/>
                            </a:rPr>
                          </m:ctrlPr>
                        </m:dPr>
                        <m:e>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1</m:t>
                              </m:r>
                            </m:sub>
                          </m:sSub>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2</m:t>
                              </m:r>
                            </m:sub>
                          </m:sSub>
                          <m:r>
                            <a:rPr lang="en-US" altLang="ja-JP" sz="2800" b="0" i="1" smtClean="0">
                              <a:latin typeface="Cambria Math" panose="02040503050406030204" pitchFamily="18" charset="0"/>
                            </a:rPr>
                            <m:t>,</m:t>
                          </m:r>
                          <m:r>
                            <a:rPr lang="en-US" altLang="ja-JP" sz="2800" b="0" i="1">
                              <a:latin typeface="Cambria Math" panose="02040503050406030204" pitchFamily="18" charset="0"/>
                              <a:ea typeface="Cambria Math" panose="02040503050406030204" pitchFamily="18" charset="0"/>
                            </a:rPr>
                            <m:t>⋯</m:t>
                          </m:r>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𝑝</m:t>
                              </m:r>
                            </m:sub>
                          </m:sSub>
                        </m:e>
                      </m:d>
                    </m:oMath>
                  </m:oMathPara>
                </a14:m>
                <a:endParaRPr kumimoji="1" lang="ja-JP" altLang="en-US" sz="2800" dirty="0"/>
              </a:p>
            </p:txBody>
          </p:sp>
        </mc:Choice>
        <mc:Fallback>
          <p:sp>
            <p:nvSpPr>
              <p:cNvPr id="6" name="正方形/長方形 5">
                <a:extLst>
                  <a:ext uri="{FF2B5EF4-FFF2-40B4-BE49-F238E27FC236}">
                    <a16:creationId xmlns:a16="http://schemas.microsoft.com/office/drawing/2014/main" id="{26E43D76-2135-4BA3-9475-633E0885827D}"/>
                  </a:ext>
                </a:extLst>
              </p:cNvPr>
              <p:cNvSpPr>
                <a:spLocks noRot="1" noChangeAspect="1" noMove="1" noResize="1" noEditPoints="1" noAdjustHandles="1" noChangeArrowheads="1" noChangeShapeType="1" noTextEdit="1"/>
              </p:cNvSpPr>
              <p:nvPr/>
            </p:nvSpPr>
            <p:spPr>
              <a:xfrm>
                <a:off x="3909695" y="1375578"/>
                <a:ext cx="4372609" cy="1042352"/>
              </a:xfrm>
              <a:prstGeom prst="rect">
                <a:avLst/>
              </a:prstGeom>
              <a:blipFill>
                <a:blip r:embed="rId5"/>
                <a:stretch>
                  <a:fillRect t="-4762" b="-2381"/>
                </a:stretch>
              </a:blipFill>
              <a:ln w="19050">
                <a:solidFill>
                  <a:schemeClr val="accent1"/>
                </a:solidFill>
              </a:ln>
            </p:spPr>
            <p:txBody>
              <a:bodyPr/>
              <a:lstStyle/>
              <a:p>
                <a:r>
                  <a:rPr lang="ja-JP" altLang="en-US">
                    <a:noFill/>
                  </a:rPr>
                  <a:t> </a:t>
                </a:r>
              </a:p>
            </p:txBody>
          </p:sp>
        </mc:Fallback>
      </mc:AlternateContent>
      <p:cxnSp>
        <p:nvCxnSpPr>
          <p:cNvPr id="8" name="直線矢印コネクタ 7">
            <a:extLst>
              <a:ext uri="{FF2B5EF4-FFF2-40B4-BE49-F238E27FC236}">
                <a16:creationId xmlns:a16="http://schemas.microsoft.com/office/drawing/2014/main" id="{26BD9ABE-5DF9-4B9E-9697-56CC2D18EAA5}"/>
              </a:ext>
            </a:extLst>
          </p:cNvPr>
          <p:cNvCxnSpPr>
            <a:cxnSpLocks/>
            <a:stCxn id="5" idx="3"/>
            <a:endCxn id="4" idx="1"/>
          </p:cNvCxnSpPr>
          <p:nvPr/>
        </p:nvCxnSpPr>
        <p:spPr>
          <a:xfrm>
            <a:off x="3863822" y="5030391"/>
            <a:ext cx="4590130" cy="10565"/>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直線矢印コネクタ 14">
            <a:extLst>
              <a:ext uri="{FF2B5EF4-FFF2-40B4-BE49-F238E27FC236}">
                <a16:creationId xmlns:a16="http://schemas.microsoft.com/office/drawing/2014/main" id="{AFCF2F68-AFA4-44E2-96EF-4C4B97260283}"/>
              </a:ext>
            </a:extLst>
          </p:cNvPr>
          <p:cNvCxnSpPr>
            <a:cxnSpLocks/>
            <a:stCxn id="6" idx="3"/>
            <a:endCxn id="4" idx="0"/>
          </p:cNvCxnSpPr>
          <p:nvPr/>
        </p:nvCxnSpPr>
        <p:spPr>
          <a:xfrm>
            <a:off x="8282304" y="1896754"/>
            <a:ext cx="1609288" cy="2550595"/>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直線矢印コネクタ 17">
            <a:extLst>
              <a:ext uri="{FF2B5EF4-FFF2-40B4-BE49-F238E27FC236}">
                <a16:creationId xmlns:a16="http://schemas.microsoft.com/office/drawing/2014/main" id="{36E40348-0F75-46A9-A482-A99B952AA93F}"/>
              </a:ext>
            </a:extLst>
          </p:cNvPr>
          <p:cNvCxnSpPr>
            <a:cxnSpLocks/>
            <a:stCxn id="6" idx="1"/>
            <a:endCxn id="5" idx="0"/>
          </p:cNvCxnSpPr>
          <p:nvPr/>
        </p:nvCxnSpPr>
        <p:spPr>
          <a:xfrm flipH="1">
            <a:off x="2426182" y="1896754"/>
            <a:ext cx="1483513" cy="2540031"/>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9" name="テキスト ボックス 18">
            <a:extLst>
              <a:ext uri="{FF2B5EF4-FFF2-40B4-BE49-F238E27FC236}">
                <a16:creationId xmlns:a16="http://schemas.microsoft.com/office/drawing/2014/main" id="{2CEA7783-49A3-46C8-B574-55ACA18523A1}"/>
              </a:ext>
            </a:extLst>
          </p:cNvPr>
          <p:cNvSpPr txBox="1"/>
          <p:nvPr/>
        </p:nvSpPr>
        <p:spPr>
          <a:xfrm>
            <a:off x="5257800" y="5111342"/>
            <a:ext cx="1910080" cy="523220"/>
          </a:xfrm>
          <a:prstGeom prst="rect">
            <a:avLst/>
          </a:prstGeom>
          <a:noFill/>
        </p:spPr>
        <p:txBody>
          <a:bodyPr wrap="square" rtlCol="0">
            <a:spAutoFit/>
          </a:bodyPr>
          <a:lstStyle/>
          <a:p>
            <a:r>
              <a:rPr kumimoji="1" lang="ja-JP" altLang="en-US" sz="2800" dirty="0">
                <a:solidFill>
                  <a:srgbClr val="FF0000"/>
                </a:solidFill>
              </a:rPr>
              <a:t>因果効果</a:t>
            </a:r>
          </a:p>
        </p:txBody>
      </p:sp>
      <mc:AlternateContent xmlns:mc="http://schemas.openxmlformats.org/markup-compatibility/2006">
        <mc:Choice xmlns:a14="http://schemas.microsoft.com/office/drawing/2010/main" Requires="a14">
          <p:sp>
            <p:nvSpPr>
              <p:cNvPr id="14" name="テキスト ボックス 13">
                <a:extLst>
                  <a:ext uri="{FF2B5EF4-FFF2-40B4-BE49-F238E27FC236}">
                    <a16:creationId xmlns:a16="http://schemas.microsoft.com/office/drawing/2014/main" id="{03AC6FB0-272F-47C0-BB94-764832ADED08}"/>
                  </a:ext>
                </a:extLst>
              </p:cNvPr>
              <p:cNvSpPr txBox="1"/>
              <p:nvPr/>
            </p:nvSpPr>
            <p:spPr>
              <a:xfrm>
                <a:off x="0" y="1550484"/>
                <a:ext cx="4297680" cy="1384995"/>
              </a:xfrm>
              <a:prstGeom prst="rect">
                <a:avLst/>
              </a:prstGeom>
              <a:noFill/>
            </p:spPr>
            <p:txBody>
              <a:bodyPr wrap="square" rtlCol="0">
                <a:spAutoFit/>
              </a:bodyPr>
              <a:lstStyle/>
              <a:p>
                <a:r>
                  <a:rPr kumimoji="1" lang="ja-JP" altLang="en-US" sz="2800">
                    <a:solidFill>
                      <a:schemeClr val="accent2"/>
                    </a:solidFill>
                  </a:rPr>
                  <a:t>傾向スコアモデルの</a:t>
                </a:r>
                <a:endParaRPr kumimoji="1" lang="en-US" altLang="ja-JP" sz="2800" dirty="0">
                  <a:solidFill>
                    <a:schemeClr val="accent2"/>
                  </a:solidFill>
                </a:endParaRPr>
              </a:p>
              <a:p>
                <a:r>
                  <a:rPr lang="ja-JP" altLang="en-US" sz="2800">
                    <a:solidFill>
                      <a:schemeClr val="accent2"/>
                    </a:solidFill>
                  </a:rPr>
                  <a:t>負の対数尤度関数</a:t>
                </a:r>
                <a:endParaRPr lang="en-US" altLang="ja-JP" sz="2800" dirty="0">
                  <a:solidFill>
                    <a:schemeClr val="accent2"/>
                  </a:solidFill>
                </a:endParaRPr>
              </a:p>
              <a:p>
                <a:pPr/>
                <a14:m>
                  <m:oMathPara xmlns:m="http://schemas.openxmlformats.org/officeDocument/2006/math">
                    <m:oMathParaPr>
                      <m:jc m:val="centerGroup"/>
                    </m:oMathParaPr>
                    <m:oMath xmlns:m="http://schemas.openxmlformats.org/officeDocument/2006/math">
                      <m:sSub>
                        <m:sSubPr>
                          <m:ctrlPr>
                            <a:rPr lang="en-US" altLang="ja-JP" sz="2800" smtClean="0">
                              <a:solidFill>
                                <a:schemeClr val="accent2"/>
                              </a:solidFill>
                              <a:latin typeface="Cambria Math" panose="02040503050406030204" pitchFamily="18" charset="0"/>
                            </a:rPr>
                          </m:ctrlPr>
                        </m:sSubPr>
                        <m:e>
                          <m:r>
                            <m:rPr>
                              <m:sty m:val="p"/>
                            </m:rPr>
                            <a:rPr lang="ja-JP" altLang="en-US" sz="2800" b="0" i="0">
                              <a:solidFill>
                                <a:schemeClr val="accent2"/>
                              </a:solidFill>
                              <a:latin typeface="Cambria Math" panose="02040503050406030204" pitchFamily="18" charset="0"/>
                            </a:rPr>
                            <m:t>Φ</m:t>
                          </m:r>
                        </m:e>
                        <m:sub>
                          <m:r>
                            <m:rPr>
                              <m:sty m:val="p"/>
                            </m:rPr>
                            <a:rPr lang="en-US" altLang="ja-JP" sz="2800" b="0" i="0">
                              <a:solidFill>
                                <a:schemeClr val="accent2"/>
                              </a:solidFill>
                              <a:latin typeface="Cambria Math" panose="02040503050406030204" pitchFamily="18" charset="0"/>
                            </a:rPr>
                            <m:t>trt</m:t>
                          </m:r>
                        </m:sub>
                      </m:sSub>
                      <m:d>
                        <m:dPr>
                          <m:ctrlPr>
                            <a:rPr lang="en-US" altLang="ja-JP" sz="2800" b="1" i="1">
                              <a:solidFill>
                                <a:schemeClr val="accent2"/>
                              </a:solidFill>
                              <a:latin typeface="Cambria Math" panose="02040503050406030204" pitchFamily="18" charset="0"/>
                            </a:rPr>
                          </m:ctrlPr>
                        </m:dPr>
                        <m:e>
                          <m:r>
                            <a:rPr lang="en-US" altLang="ja-JP" sz="2800" b="1" i="1" smtClean="0">
                              <a:solidFill>
                                <a:schemeClr val="accent2"/>
                              </a:solidFill>
                              <a:latin typeface="Cambria Math" panose="02040503050406030204" pitchFamily="18" charset="0"/>
                              <a:cs typeface="Arial" panose="020B0604020202020204" pitchFamily="34" charset="0"/>
                            </a:rPr>
                            <m:t>𝑿</m:t>
                          </m:r>
                          <m:r>
                            <a:rPr lang="en-US" altLang="ja-JP" sz="2800" b="1" i="1">
                              <a:solidFill>
                                <a:schemeClr val="accent2"/>
                              </a:solidFill>
                              <a:latin typeface="Cambria Math" panose="02040503050406030204" pitchFamily="18" charset="0"/>
                            </a:rPr>
                            <m:t>,</m:t>
                          </m:r>
                          <m:r>
                            <a:rPr lang="en-US" altLang="ja-JP" sz="2800" b="1" i="1" smtClean="0">
                              <a:solidFill>
                                <a:schemeClr val="accent2"/>
                              </a:solidFill>
                              <a:latin typeface="Cambria Math" panose="02040503050406030204" pitchFamily="18" charset="0"/>
                            </a:rPr>
                            <m:t>𝑪</m:t>
                          </m:r>
                          <m:r>
                            <a:rPr lang="en-US" altLang="ja-JP" sz="2800" b="1" i="1">
                              <a:solidFill>
                                <a:schemeClr val="accent2"/>
                              </a:solidFill>
                              <a:latin typeface="Cambria Math" panose="02040503050406030204" pitchFamily="18" charset="0"/>
                            </a:rPr>
                            <m:t>;</m:t>
                          </m:r>
                          <m:r>
                            <a:rPr lang="ja-JP" altLang="en-US" sz="2800" b="1" i="1">
                              <a:solidFill>
                                <a:schemeClr val="accent2"/>
                              </a:solidFill>
                              <a:latin typeface="Cambria Math" panose="02040503050406030204" pitchFamily="18" charset="0"/>
                            </a:rPr>
                            <m:t>𝜸</m:t>
                          </m:r>
                        </m:e>
                      </m:d>
                    </m:oMath>
                  </m:oMathPara>
                </a14:m>
                <a:endParaRPr kumimoji="1" lang="ja-JP" altLang="en-US" sz="2800" dirty="0">
                  <a:solidFill>
                    <a:schemeClr val="accent2"/>
                  </a:solidFill>
                </a:endParaRPr>
              </a:p>
            </p:txBody>
          </p:sp>
        </mc:Choice>
        <mc:Fallback>
          <p:sp>
            <p:nvSpPr>
              <p:cNvPr id="14" name="テキスト ボックス 13">
                <a:extLst>
                  <a:ext uri="{FF2B5EF4-FFF2-40B4-BE49-F238E27FC236}">
                    <a16:creationId xmlns:a16="http://schemas.microsoft.com/office/drawing/2014/main" id="{03AC6FB0-272F-47C0-BB94-764832ADED08}"/>
                  </a:ext>
                </a:extLst>
              </p:cNvPr>
              <p:cNvSpPr txBox="1">
                <a:spLocks noRot="1" noChangeAspect="1" noMove="1" noResize="1" noEditPoints="1" noAdjustHandles="1" noChangeArrowheads="1" noChangeShapeType="1" noTextEdit="1"/>
              </p:cNvSpPr>
              <p:nvPr/>
            </p:nvSpPr>
            <p:spPr>
              <a:xfrm>
                <a:off x="0" y="1550484"/>
                <a:ext cx="4297680" cy="1384995"/>
              </a:xfrm>
              <a:prstGeom prst="rect">
                <a:avLst/>
              </a:prstGeom>
              <a:blipFill>
                <a:blip r:embed="rId6"/>
                <a:stretch>
                  <a:fillRect l="-3245" t="-3604" b="-1802"/>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16" name="テキスト ボックス 15">
                <a:extLst>
                  <a:ext uri="{FF2B5EF4-FFF2-40B4-BE49-F238E27FC236}">
                    <a16:creationId xmlns:a16="http://schemas.microsoft.com/office/drawing/2014/main" id="{E8D1BC0F-7AC3-484A-9F9B-B4CD9F262AC0}"/>
                  </a:ext>
                </a:extLst>
              </p:cNvPr>
              <p:cNvSpPr txBox="1"/>
              <p:nvPr/>
            </p:nvSpPr>
            <p:spPr>
              <a:xfrm>
                <a:off x="9144000" y="1995575"/>
                <a:ext cx="2743200" cy="1384995"/>
              </a:xfrm>
              <a:prstGeom prst="rect">
                <a:avLst/>
              </a:prstGeom>
              <a:noFill/>
            </p:spPr>
            <p:txBody>
              <a:bodyPr wrap="square" rtlCol="0">
                <a:spAutoFit/>
              </a:bodyPr>
              <a:lstStyle/>
              <a:p>
                <a:r>
                  <a:rPr kumimoji="1" lang="ja-JP" altLang="en-US" sz="2800">
                    <a:solidFill>
                      <a:schemeClr val="accent1"/>
                    </a:solidFill>
                  </a:rPr>
                  <a:t>結果モデル</a:t>
                </a:r>
                <a:r>
                  <a:rPr lang="ja-JP" altLang="en-US" sz="2800">
                    <a:solidFill>
                      <a:schemeClr val="accent1"/>
                    </a:solidFill>
                  </a:rPr>
                  <a:t>の</a:t>
                </a:r>
                <a:endParaRPr lang="en-US" altLang="ja-JP" sz="2800" dirty="0">
                  <a:solidFill>
                    <a:schemeClr val="accent1"/>
                  </a:solidFill>
                </a:endParaRPr>
              </a:p>
              <a:p>
                <a:r>
                  <a:rPr lang="ja-JP" altLang="en-US" sz="2800">
                    <a:solidFill>
                      <a:schemeClr val="accent1"/>
                    </a:solidFill>
                  </a:rPr>
                  <a:t>誤差２乗和</a:t>
                </a:r>
                <a:endParaRPr kumimoji="1" lang="en-US" altLang="ja-JP" sz="2800" dirty="0">
                  <a:solidFill>
                    <a:schemeClr val="accent1"/>
                  </a:solidFill>
                </a:endParaRPr>
              </a:p>
              <a:p>
                <a:pPr/>
                <a14:m>
                  <m:oMathPara xmlns:m="http://schemas.openxmlformats.org/officeDocument/2006/math">
                    <m:oMathParaPr>
                      <m:jc m:val="centerGroup"/>
                    </m:oMathParaPr>
                    <m:oMath xmlns:m="http://schemas.openxmlformats.org/officeDocument/2006/math">
                      <m:sSub>
                        <m:sSubPr>
                          <m:ctrlPr>
                            <a:rPr lang="en-US" altLang="ja-JP" sz="2800" i="1" smtClean="0">
                              <a:solidFill>
                                <a:schemeClr val="accent1"/>
                              </a:solidFill>
                              <a:latin typeface="Cambria Math" panose="02040503050406030204" pitchFamily="18" charset="0"/>
                            </a:rPr>
                          </m:ctrlPr>
                        </m:sSubPr>
                        <m:e>
                          <m:r>
                            <m:rPr>
                              <m:sty m:val="p"/>
                            </m:rPr>
                            <a:rPr lang="ja-JP" altLang="en-US" sz="2800" b="0" i="0">
                              <a:solidFill>
                                <a:schemeClr val="accent1"/>
                              </a:solidFill>
                              <a:latin typeface="Cambria Math" panose="02040503050406030204" pitchFamily="18" charset="0"/>
                            </a:rPr>
                            <m:t>Φ</m:t>
                          </m:r>
                        </m:e>
                        <m:sub>
                          <m:r>
                            <m:rPr>
                              <m:sty m:val="p"/>
                            </m:rPr>
                            <a:rPr lang="en-US" altLang="ja-JP" sz="2800" b="0" i="0">
                              <a:solidFill>
                                <a:schemeClr val="accent1"/>
                              </a:solidFill>
                              <a:latin typeface="Cambria Math" panose="02040503050406030204" pitchFamily="18" charset="0"/>
                            </a:rPr>
                            <m:t>out</m:t>
                          </m:r>
                        </m:sub>
                      </m:sSub>
                      <m:d>
                        <m:dPr>
                          <m:ctrlPr>
                            <a:rPr lang="en-US" altLang="ja-JP" sz="2800" b="1" i="1">
                              <a:solidFill>
                                <a:schemeClr val="accent1"/>
                              </a:solidFill>
                              <a:latin typeface="Cambria Math" panose="02040503050406030204" pitchFamily="18" charset="0"/>
                            </a:rPr>
                          </m:ctrlPr>
                        </m:dPr>
                        <m:e>
                          <m:r>
                            <a:rPr lang="en-US" altLang="ja-JP" sz="2800" b="1" i="1" smtClean="0">
                              <a:solidFill>
                                <a:schemeClr val="accent1"/>
                              </a:solidFill>
                              <a:latin typeface="Cambria Math" panose="02040503050406030204" pitchFamily="18" charset="0"/>
                              <a:cs typeface="Arial" panose="020B0604020202020204" pitchFamily="34" charset="0"/>
                            </a:rPr>
                            <m:t>𝒀</m:t>
                          </m:r>
                          <m:r>
                            <a:rPr lang="en-US" altLang="ja-JP" sz="2800" b="1" i="1" smtClean="0">
                              <a:solidFill>
                                <a:schemeClr val="accent1"/>
                              </a:solidFill>
                              <a:latin typeface="Cambria Math" panose="02040503050406030204" pitchFamily="18" charset="0"/>
                              <a:cs typeface="Arial" panose="020B0604020202020204" pitchFamily="34" charset="0"/>
                            </a:rPr>
                            <m:t>,</m:t>
                          </m:r>
                          <m:r>
                            <a:rPr lang="en-US" altLang="ja-JP" sz="2800" b="1" i="1" smtClean="0">
                              <a:solidFill>
                                <a:schemeClr val="accent1"/>
                              </a:solidFill>
                              <a:latin typeface="Cambria Math" panose="02040503050406030204" pitchFamily="18" charset="0"/>
                              <a:cs typeface="Arial" panose="020B0604020202020204" pitchFamily="34" charset="0"/>
                            </a:rPr>
                            <m:t>𝑿</m:t>
                          </m:r>
                          <m:r>
                            <a:rPr lang="en-US" altLang="ja-JP" sz="2800" b="1" i="1" smtClean="0">
                              <a:solidFill>
                                <a:schemeClr val="accent1"/>
                              </a:solidFill>
                              <a:latin typeface="Cambria Math" panose="02040503050406030204" pitchFamily="18" charset="0"/>
                              <a:cs typeface="Arial" panose="020B0604020202020204" pitchFamily="34" charset="0"/>
                            </a:rPr>
                            <m:t>,</m:t>
                          </m:r>
                          <m:r>
                            <a:rPr lang="en-US" altLang="ja-JP" sz="2800" b="1" i="1" smtClean="0">
                              <a:solidFill>
                                <a:schemeClr val="accent1"/>
                              </a:solidFill>
                              <a:latin typeface="Cambria Math" panose="02040503050406030204" pitchFamily="18" charset="0"/>
                              <a:cs typeface="Arial" panose="020B0604020202020204" pitchFamily="34" charset="0"/>
                            </a:rPr>
                            <m:t>𝑪</m:t>
                          </m:r>
                          <m:r>
                            <a:rPr lang="en-US" altLang="ja-JP" sz="2800" b="1" i="1">
                              <a:solidFill>
                                <a:schemeClr val="accent1"/>
                              </a:solidFill>
                              <a:latin typeface="Cambria Math" panose="02040503050406030204" pitchFamily="18" charset="0"/>
                            </a:rPr>
                            <m:t>;</m:t>
                          </m:r>
                          <m:r>
                            <a:rPr lang="ja-JP" altLang="en-US" sz="2800" b="1" i="1">
                              <a:solidFill>
                                <a:schemeClr val="accent1"/>
                              </a:solidFill>
                              <a:latin typeface="Cambria Math" panose="02040503050406030204" pitchFamily="18" charset="0"/>
                            </a:rPr>
                            <m:t>𝜶</m:t>
                          </m:r>
                        </m:e>
                      </m:d>
                    </m:oMath>
                  </m:oMathPara>
                </a14:m>
                <a:endParaRPr kumimoji="1" lang="ja-JP" altLang="en-US" sz="2800" dirty="0">
                  <a:solidFill>
                    <a:schemeClr val="accent1"/>
                  </a:solidFill>
                </a:endParaRPr>
              </a:p>
            </p:txBody>
          </p:sp>
        </mc:Choice>
        <mc:Fallback>
          <p:sp>
            <p:nvSpPr>
              <p:cNvPr id="16" name="テキスト ボックス 15">
                <a:extLst>
                  <a:ext uri="{FF2B5EF4-FFF2-40B4-BE49-F238E27FC236}">
                    <a16:creationId xmlns:a16="http://schemas.microsoft.com/office/drawing/2014/main" id="{E8D1BC0F-7AC3-484A-9F9B-B4CD9F262AC0}"/>
                  </a:ext>
                </a:extLst>
              </p:cNvPr>
              <p:cNvSpPr txBox="1">
                <a:spLocks noRot="1" noChangeAspect="1" noMove="1" noResize="1" noEditPoints="1" noAdjustHandles="1" noChangeArrowheads="1" noChangeShapeType="1" noTextEdit="1"/>
              </p:cNvSpPr>
              <p:nvPr/>
            </p:nvSpPr>
            <p:spPr>
              <a:xfrm>
                <a:off x="9144000" y="1995575"/>
                <a:ext cx="2743200" cy="1384995"/>
              </a:xfrm>
              <a:prstGeom prst="rect">
                <a:avLst/>
              </a:prstGeom>
              <a:blipFill>
                <a:blip r:embed="rId7"/>
                <a:stretch>
                  <a:fillRect l="-5069" t="-3604"/>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7" name="テキスト ボックス 6">
                <a:extLst>
                  <a:ext uri="{FF2B5EF4-FFF2-40B4-BE49-F238E27FC236}">
                    <a16:creationId xmlns:a16="http://schemas.microsoft.com/office/drawing/2014/main" id="{B496766F-EE86-D18B-3927-60D7DDD5C69A}"/>
                  </a:ext>
                </a:extLst>
              </p:cNvPr>
              <p:cNvSpPr txBox="1"/>
              <p:nvPr/>
            </p:nvSpPr>
            <p:spPr>
              <a:xfrm>
                <a:off x="4061187" y="2716838"/>
                <a:ext cx="4372608" cy="1796004"/>
              </a:xfrm>
              <a:prstGeom prst="rect">
                <a:avLst/>
              </a:prstGeom>
              <a:noFill/>
            </p:spPr>
            <p:txBody>
              <a:bodyPr wrap="square" rtlCol="0">
                <a:spAutoFit/>
              </a:bodyPr>
              <a:lstStyle/>
              <a:p>
                <a:r>
                  <a:rPr lang="ja-JP" altLang="en-US" sz="2800">
                    <a:latin typeface="Cambria Math" panose="02040503050406030204" pitchFamily="18" charset="0"/>
                  </a:rPr>
                  <a:t>損失関数</a:t>
                </a:r>
                <a:endParaRPr lang="en-US" altLang="ja-JP" sz="2800" dirty="0">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US" altLang="ja-JP" sz="2800" i="1">
                              <a:latin typeface="Cambria Math" panose="02040503050406030204" pitchFamily="18" charset="0"/>
                            </a:rPr>
                          </m:ctrlPr>
                        </m:sSubPr>
                        <m:e>
                          <m:r>
                            <m:rPr>
                              <m:sty m:val="p"/>
                            </m:rPr>
                            <a:rPr lang="el-GR" altLang="ja-JP" sz="2800" i="1">
                              <a:latin typeface="Cambria Math" panose="02040503050406030204" pitchFamily="18" charset="0"/>
                            </a:rPr>
                            <m:t>Φ</m:t>
                          </m:r>
                        </m:e>
                        <m:sub>
                          <m:r>
                            <m:rPr>
                              <m:sty m:val="p"/>
                            </m:rPr>
                            <a:rPr lang="en-US" altLang="ja-JP" sz="2800">
                              <a:latin typeface="Cambria Math" panose="02040503050406030204" pitchFamily="18" charset="0"/>
                            </a:rPr>
                            <m:t>sum</m:t>
                          </m:r>
                        </m:sub>
                      </m:sSub>
                      <m:d>
                        <m:dPr>
                          <m:ctrlPr>
                            <a:rPr lang="en-US" altLang="ja-JP" sz="2800" b="1" i="1">
                              <a:latin typeface="Cambria Math" panose="02040503050406030204" pitchFamily="18" charset="0"/>
                            </a:rPr>
                          </m:ctrlPr>
                        </m:dPr>
                        <m:e>
                          <m:r>
                            <a:rPr lang="en-US" altLang="ja-JP" sz="2800" b="1" i="1" smtClean="0">
                              <a:latin typeface="Cambria Math" panose="02040503050406030204" pitchFamily="18" charset="0"/>
                            </a:rPr>
                            <m:t>𝒀</m:t>
                          </m:r>
                          <m:r>
                            <a:rPr lang="en-US" altLang="ja-JP" sz="2800" b="1" i="1">
                              <a:latin typeface="Cambria Math" panose="02040503050406030204" pitchFamily="18" charset="0"/>
                            </a:rPr>
                            <m:t>,</m:t>
                          </m:r>
                          <m:r>
                            <a:rPr lang="en-US" altLang="ja-JP" sz="2800" b="1" i="1" smtClean="0">
                              <a:latin typeface="Cambria Math" panose="02040503050406030204" pitchFamily="18" charset="0"/>
                            </a:rPr>
                            <m:t>𝑿</m:t>
                          </m:r>
                          <m:r>
                            <a:rPr lang="en-US" altLang="ja-JP" sz="2800" b="1" i="1">
                              <a:latin typeface="Cambria Math" panose="02040503050406030204" pitchFamily="18" charset="0"/>
                            </a:rPr>
                            <m:t>,</m:t>
                          </m:r>
                          <m:r>
                            <a:rPr lang="en-US" altLang="ja-JP" sz="2800" b="1" i="1" smtClean="0">
                              <a:latin typeface="Cambria Math" panose="02040503050406030204" pitchFamily="18" charset="0"/>
                            </a:rPr>
                            <m:t>𝑪</m:t>
                          </m:r>
                          <m:r>
                            <a:rPr lang="en-US" altLang="ja-JP" sz="2800" b="1" i="1">
                              <a:latin typeface="Cambria Math" panose="02040503050406030204" pitchFamily="18" charset="0"/>
                            </a:rPr>
                            <m:t>;</m:t>
                          </m:r>
                          <m:r>
                            <a:rPr lang="ja-JP" altLang="en-US" sz="2800" b="1" i="1">
                              <a:latin typeface="Cambria Math" panose="02040503050406030204" pitchFamily="18" charset="0"/>
                            </a:rPr>
                            <m:t>𝜷</m:t>
                          </m:r>
                        </m:e>
                      </m:d>
                      <m:r>
                        <a:rPr lang="en-US" altLang="ja-JP" sz="2800" b="1" i="1">
                          <a:latin typeface="Cambria Math" panose="02040503050406030204" pitchFamily="18" charset="0"/>
                        </a:rPr>
                        <m:t>= </m:t>
                      </m:r>
                      <m:sSub>
                        <m:sSubPr>
                          <m:ctrlPr>
                            <a:rPr lang="en-US" altLang="ja-JP" sz="2800" b="1" i="1" smtClean="0">
                              <a:solidFill>
                                <a:schemeClr val="accent2"/>
                              </a:solidFill>
                              <a:latin typeface="Cambria Math" panose="02040503050406030204" pitchFamily="18" charset="0"/>
                            </a:rPr>
                          </m:ctrlPr>
                        </m:sSubPr>
                        <m:e>
                          <m:r>
                            <m:rPr>
                              <m:sty m:val="p"/>
                            </m:rPr>
                            <a:rPr lang="ja-JP" altLang="en-US" sz="2800" b="0" i="0">
                              <a:solidFill>
                                <a:schemeClr val="accent2"/>
                              </a:solidFill>
                              <a:latin typeface="Cambria Math" panose="02040503050406030204" pitchFamily="18" charset="0"/>
                            </a:rPr>
                            <m:t>Φ</m:t>
                          </m:r>
                        </m:e>
                        <m:sub>
                          <m:r>
                            <m:rPr>
                              <m:sty m:val="p"/>
                            </m:rPr>
                            <a:rPr lang="en-US" altLang="ja-JP" sz="2800" b="0" i="0">
                              <a:solidFill>
                                <a:schemeClr val="accent2"/>
                              </a:solidFill>
                              <a:latin typeface="Cambria Math" panose="02040503050406030204" pitchFamily="18" charset="0"/>
                            </a:rPr>
                            <m:t>tr</m:t>
                          </m:r>
                          <m:r>
                            <m:rPr>
                              <m:sty m:val="p"/>
                            </m:rPr>
                            <a:rPr lang="en-US" altLang="ja-JP" sz="2800" b="0" i="0" smtClean="0">
                              <a:solidFill>
                                <a:schemeClr val="accent2"/>
                              </a:solidFill>
                              <a:latin typeface="Cambria Math" panose="02040503050406030204" pitchFamily="18" charset="0"/>
                            </a:rPr>
                            <m:t>t</m:t>
                          </m:r>
                        </m:sub>
                      </m:sSub>
                      <m:d>
                        <m:dPr>
                          <m:ctrlPr>
                            <a:rPr lang="en-US" altLang="ja-JP" sz="2800" b="1" i="1">
                              <a:solidFill>
                                <a:schemeClr val="accent2"/>
                              </a:solidFill>
                              <a:latin typeface="Cambria Math" panose="02040503050406030204" pitchFamily="18" charset="0"/>
                            </a:rPr>
                          </m:ctrlPr>
                        </m:dPr>
                        <m:e>
                          <m:r>
                            <a:rPr lang="en-US" altLang="ja-JP" sz="2800" b="1" i="1" smtClean="0">
                              <a:solidFill>
                                <a:schemeClr val="accent2"/>
                              </a:solidFill>
                              <a:latin typeface="Cambria Math" panose="02040503050406030204" pitchFamily="18" charset="0"/>
                              <a:cs typeface="Arial" panose="020B0604020202020204" pitchFamily="34" charset="0"/>
                            </a:rPr>
                            <m:t>𝑿</m:t>
                          </m:r>
                          <m:r>
                            <a:rPr lang="en-US" altLang="ja-JP" sz="2800" b="1" i="1">
                              <a:solidFill>
                                <a:schemeClr val="accent2"/>
                              </a:solidFill>
                              <a:latin typeface="Cambria Math" panose="02040503050406030204" pitchFamily="18" charset="0"/>
                            </a:rPr>
                            <m:t>,</m:t>
                          </m:r>
                          <m:r>
                            <a:rPr lang="en-US" altLang="ja-JP" sz="2800" b="1" i="1" smtClean="0">
                              <a:solidFill>
                                <a:schemeClr val="accent2"/>
                              </a:solidFill>
                              <a:latin typeface="Cambria Math" panose="02040503050406030204" pitchFamily="18" charset="0"/>
                            </a:rPr>
                            <m:t>𝑪</m:t>
                          </m:r>
                          <m:r>
                            <a:rPr lang="en-US" altLang="ja-JP" sz="2800" b="1" i="1">
                              <a:solidFill>
                                <a:schemeClr val="accent2"/>
                              </a:solidFill>
                              <a:latin typeface="Cambria Math" panose="02040503050406030204" pitchFamily="18" charset="0"/>
                            </a:rPr>
                            <m:t>;</m:t>
                          </m:r>
                          <m:r>
                            <a:rPr lang="ja-JP" altLang="en-US" sz="2800" b="1" i="1">
                              <a:solidFill>
                                <a:schemeClr val="accent2"/>
                              </a:solidFill>
                              <a:latin typeface="Cambria Math" panose="02040503050406030204" pitchFamily="18" charset="0"/>
                            </a:rPr>
                            <m:t>𝜸</m:t>
                          </m:r>
                        </m:e>
                      </m:d>
                      <m:r>
                        <a:rPr lang="en-US" altLang="ja-JP" sz="2800" b="1" i="1" smtClean="0">
                          <a:solidFill>
                            <a:schemeClr val="tx1"/>
                          </a:solidFill>
                          <a:latin typeface="Cambria Math" panose="02040503050406030204" pitchFamily="18" charset="0"/>
                        </a:rPr>
                        <m:t>+</m:t>
                      </m:r>
                      <m:sSub>
                        <m:sSubPr>
                          <m:ctrlPr>
                            <a:rPr lang="en-US" altLang="ja-JP" sz="2800">
                              <a:solidFill>
                                <a:schemeClr val="accent1"/>
                              </a:solidFill>
                              <a:latin typeface="Cambria Math" panose="02040503050406030204" pitchFamily="18" charset="0"/>
                            </a:rPr>
                          </m:ctrlPr>
                        </m:sSubPr>
                        <m:e>
                          <m:r>
                            <m:rPr>
                              <m:sty m:val="p"/>
                            </m:rPr>
                            <a:rPr lang="ja-JP" altLang="en-US" sz="2800" b="0" i="0">
                              <a:solidFill>
                                <a:schemeClr val="accent1"/>
                              </a:solidFill>
                              <a:latin typeface="Cambria Math" panose="02040503050406030204" pitchFamily="18" charset="0"/>
                            </a:rPr>
                            <m:t>Φ</m:t>
                          </m:r>
                        </m:e>
                        <m:sub>
                          <m:r>
                            <m:rPr>
                              <m:sty m:val="p"/>
                            </m:rPr>
                            <a:rPr lang="en-US" altLang="ja-JP" sz="2800" b="0" i="0">
                              <a:solidFill>
                                <a:schemeClr val="accent1"/>
                              </a:solidFill>
                              <a:latin typeface="Cambria Math" panose="02040503050406030204" pitchFamily="18" charset="0"/>
                            </a:rPr>
                            <m:t>out</m:t>
                          </m:r>
                        </m:sub>
                      </m:sSub>
                      <m:d>
                        <m:dPr>
                          <m:ctrlPr>
                            <a:rPr lang="en-US" altLang="ja-JP" sz="2800" b="1" i="1">
                              <a:solidFill>
                                <a:schemeClr val="accent1"/>
                              </a:solidFill>
                              <a:latin typeface="Cambria Math" panose="02040503050406030204" pitchFamily="18" charset="0"/>
                            </a:rPr>
                          </m:ctrlPr>
                        </m:dPr>
                        <m:e>
                          <m:r>
                            <a:rPr lang="en-US" altLang="ja-JP" sz="2800" b="1" i="1" smtClean="0">
                              <a:solidFill>
                                <a:schemeClr val="accent1"/>
                              </a:solidFill>
                              <a:latin typeface="Cambria Math" panose="02040503050406030204" pitchFamily="18" charset="0"/>
                              <a:cs typeface="Arial" panose="020B0604020202020204" pitchFamily="34" charset="0"/>
                            </a:rPr>
                            <m:t>𝒀</m:t>
                          </m:r>
                          <m:r>
                            <a:rPr lang="en-US" altLang="ja-JP" sz="2800" b="1" i="1" smtClean="0">
                              <a:solidFill>
                                <a:schemeClr val="accent1"/>
                              </a:solidFill>
                              <a:latin typeface="Cambria Math" panose="02040503050406030204" pitchFamily="18" charset="0"/>
                              <a:cs typeface="Arial" panose="020B0604020202020204" pitchFamily="34" charset="0"/>
                            </a:rPr>
                            <m:t>,</m:t>
                          </m:r>
                          <m:r>
                            <a:rPr lang="en-US" altLang="ja-JP" sz="2800" b="1" i="1" smtClean="0">
                              <a:solidFill>
                                <a:schemeClr val="accent1"/>
                              </a:solidFill>
                              <a:latin typeface="Cambria Math" panose="02040503050406030204" pitchFamily="18" charset="0"/>
                              <a:cs typeface="Arial" panose="020B0604020202020204" pitchFamily="34" charset="0"/>
                            </a:rPr>
                            <m:t>𝑿</m:t>
                          </m:r>
                          <m:r>
                            <a:rPr lang="en-US" altLang="ja-JP" sz="2800" b="1" i="1" smtClean="0">
                              <a:solidFill>
                                <a:schemeClr val="accent1"/>
                              </a:solidFill>
                              <a:latin typeface="Cambria Math" panose="02040503050406030204" pitchFamily="18" charset="0"/>
                              <a:cs typeface="Arial" panose="020B0604020202020204" pitchFamily="34" charset="0"/>
                            </a:rPr>
                            <m:t>,</m:t>
                          </m:r>
                          <m:r>
                            <a:rPr lang="en-US" altLang="ja-JP" sz="2800" b="1" i="1" smtClean="0">
                              <a:solidFill>
                                <a:schemeClr val="accent1"/>
                              </a:solidFill>
                              <a:latin typeface="Cambria Math" panose="02040503050406030204" pitchFamily="18" charset="0"/>
                              <a:cs typeface="Arial" panose="020B0604020202020204" pitchFamily="34" charset="0"/>
                            </a:rPr>
                            <m:t>𝑪</m:t>
                          </m:r>
                          <m:r>
                            <a:rPr lang="en-US" altLang="ja-JP" sz="2800" b="1" i="1">
                              <a:solidFill>
                                <a:schemeClr val="accent1"/>
                              </a:solidFill>
                              <a:latin typeface="Cambria Math" panose="02040503050406030204" pitchFamily="18" charset="0"/>
                            </a:rPr>
                            <m:t>;</m:t>
                          </m:r>
                          <m:r>
                            <a:rPr lang="ja-JP" altLang="en-US" sz="2800" b="1" i="1">
                              <a:solidFill>
                                <a:schemeClr val="accent1"/>
                              </a:solidFill>
                              <a:latin typeface="Cambria Math" panose="02040503050406030204" pitchFamily="18" charset="0"/>
                            </a:rPr>
                            <m:t>𝜶</m:t>
                          </m:r>
                        </m:e>
                      </m:d>
                    </m:oMath>
                  </m:oMathPara>
                </a14:m>
                <a:endParaRPr kumimoji="1" lang="ja-JP" altLang="en-US"/>
              </a:p>
            </p:txBody>
          </p:sp>
        </mc:Choice>
        <mc:Fallback>
          <p:sp>
            <p:nvSpPr>
              <p:cNvPr id="7" name="テキスト ボックス 6">
                <a:extLst>
                  <a:ext uri="{FF2B5EF4-FFF2-40B4-BE49-F238E27FC236}">
                    <a16:creationId xmlns:a16="http://schemas.microsoft.com/office/drawing/2014/main" id="{B496766F-EE86-D18B-3927-60D7DDD5C69A}"/>
                  </a:ext>
                </a:extLst>
              </p:cNvPr>
              <p:cNvSpPr txBox="1">
                <a:spLocks noRot="1" noChangeAspect="1" noMove="1" noResize="1" noEditPoints="1" noAdjustHandles="1" noChangeArrowheads="1" noChangeShapeType="1" noTextEdit="1"/>
              </p:cNvSpPr>
              <p:nvPr/>
            </p:nvSpPr>
            <p:spPr>
              <a:xfrm>
                <a:off x="4061187" y="2716838"/>
                <a:ext cx="4372608" cy="1796004"/>
              </a:xfrm>
              <a:prstGeom prst="rect">
                <a:avLst/>
              </a:prstGeom>
              <a:blipFill>
                <a:blip r:embed="rId8"/>
                <a:stretch>
                  <a:fillRect l="-2899" t="-4225"/>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sp>
            <p:nvSpPr>
              <p:cNvPr id="31" name="テキスト ボックス 30">
                <a:extLst>
                  <a:ext uri="{FF2B5EF4-FFF2-40B4-BE49-F238E27FC236}">
                    <a16:creationId xmlns:a16="http://schemas.microsoft.com/office/drawing/2014/main" id="{DEE9DE79-8AF5-1C3B-F8EE-FB326209D230}"/>
                  </a:ext>
                </a:extLst>
              </p:cNvPr>
              <p:cNvSpPr txBox="1"/>
              <p:nvPr/>
            </p:nvSpPr>
            <p:spPr>
              <a:xfrm>
                <a:off x="1139043" y="5837067"/>
                <a:ext cx="10689884" cy="954107"/>
              </a:xfrm>
              <a:prstGeom prst="rect">
                <a:avLst/>
              </a:prstGeom>
              <a:noFill/>
            </p:spPr>
            <p:txBody>
              <a:bodyPr wrap="square">
                <a:spAutoFit/>
              </a:bodyPr>
              <a:lstStyle/>
              <a:p>
                <a:pPr marL="0" indent="0">
                  <a:buNone/>
                </a:pPr>
                <a14:m>
                  <m:oMath xmlns:m="http://schemas.openxmlformats.org/officeDocument/2006/math">
                    <m:r>
                      <a:rPr lang="ja-JP" altLang="en-US" sz="2800" b="1" i="1" smtClean="0">
                        <a:latin typeface="Cambria Math" panose="02040503050406030204" pitchFamily="18" charset="0"/>
                      </a:rPr>
                      <m:t>𝜶</m:t>
                    </m:r>
                    <m:r>
                      <a:rPr lang="en-US" altLang="ja-JP" sz="2800" b="0" i="0" smtClean="0">
                        <a:latin typeface="Cambria Math" panose="02040503050406030204" pitchFamily="18" charset="0"/>
                      </a:rPr>
                      <m:t> : </m:t>
                    </m:r>
                  </m:oMath>
                </a14:m>
                <a:r>
                  <a:rPr kumimoji="1" lang="ja-JP" altLang="en-US" sz="2800" dirty="0"/>
                  <a:t>結果モデルの回帰係数</a:t>
                </a:r>
                <a:r>
                  <a:rPr lang="en-US" altLang="ja-JP" sz="2800" dirty="0"/>
                  <a:t>	</a:t>
                </a:r>
                <a14:m>
                  <m:oMath xmlns:m="http://schemas.openxmlformats.org/officeDocument/2006/math">
                    <m:r>
                      <a:rPr lang="ja-JP" altLang="en-US" sz="2800" b="1" i="1" smtClean="0">
                        <a:latin typeface="Cambria Math" panose="02040503050406030204" pitchFamily="18" charset="0"/>
                      </a:rPr>
                      <m:t>𝜸</m:t>
                    </m:r>
                    <m:r>
                      <a:rPr lang="en-US" altLang="ja-JP" sz="2800" b="1" i="1" smtClean="0">
                        <a:latin typeface="Cambria Math" panose="02040503050406030204" pitchFamily="18" charset="0"/>
                      </a:rPr>
                      <m:t> : </m:t>
                    </m:r>
                  </m:oMath>
                </a14:m>
                <a:r>
                  <a:rPr kumimoji="1" lang="ja-JP" altLang="en-US" sz="2800" dirty="0"/>
                  <a:t>傾向スコアモデルの</a:t>
                </a:r>
                <a:r>
                  <a:rPr kumimoji="1" lang="ja-JP" altLang="en-US" sz="2800"/>
                  <a:t>回帰係数</a:t>
                </a:r>
                <a:endParaRPr kumimoji="1" lang="en-US" altLang="ja-JP" sz="2800" dirty="0"/>
              </a:p>
              <a:p>
                <a:pPr marL="0" indent="0">
                  <a:buNone/>
                </a:pPr>
                <a14:m>
                  <m:oMath xmlns:m="http://schemas.openxmlformats.org/officeDocument/2006/math">
                    <m:r>
                      <a:rPr lang="ja-JP" altLang="en-US" sz="2800" b="1" i="1" smtClean="0">
                        <a:latin typeface="Cambria Math" panose="02040503050406030204" pitchFamily="18" charset="0"/>
                      </a:rPr>
                      <m:t>𝜷</m:t>
                    </m:r>
                    <m:r>
                      <a:rPr lang="en-US" altLang="ja-JP" sz="2800" b="1" i="1" smtClean="0">
                        <a:latin typeface="Cambria Math" panose="02040503050406030204" pitchFamily="18" charset="0"/>
                      </a:rPr>
                      <m:t>=(</m:t>
                    </m:r>
                    <m:r>
                      <a:rPr lang="ja-JP" altLang="en-US" sz="2800" b="1" i="1" smtClean="0">
                        <a:latin typeface="Cambria Math" panose="02040503050406030204" pitchFamily="18" charset="0"/>
                      </a:rPr>
                      <m:t>𝜶</m:t>
                    </m:r>
                    <m:r>
                      <a:rPr lang="en-US" altLang="ja-JP" sz="2800" b="1" i="1" smtClean="0">
                        <a:latin typeface="Cambria Math" panose="02040503050406030204" pitchFamily="18" charset="0"/>
                      </a:rPr>
                      <m:t>,</m:t>
                    </m:r>
                    <m:r>
                      <a:rPr lang="ja-JP" altLang="en-US" sz="2800" b="1" i="1" smtClean="0">
                        <a:latin typeface="Cambria Math" panose="02040503050406030204" pitchFamily="18" charset="0"/>
                      </a:rPr>
                      <m:t>𝜸</m:t>
                    </m:r>
                    <m:r>
                      <a:rPr lang="en-US" altLang="ja-JP" sz="2800" b="1" i="1" smtClean="0">
                        <a:latin typeface="Cambria Math" panose="02040503050406030204" pitchFamily="18" charset="0"/>
                      </a:rPr>
                      <m:t>)</m:t>
                    </m:r>
                  </m:oMath>
                </a14:m>
                <a:r>
                  <a:rPr kumimoji="1" lang="ja-JP" altLang="en-US" sz="2800" dirty="0"/>
                  <a:t>　</a:t>
                </a:r>
                <a:endParaRPr kumimoji="1" lang="en-US" altLang="ja-JP" sz="2800" dirty="0"/>
              </a:p>
            </p:txBody>
          </p:sp>
        </mc:Choice>
        <mc:Fallback xmlns="">
          <p:sp>
            <p:nvSpPr>
              <p:cNvPr id="31" name="テキスト ボックス 30">
                <a:extLst>
                  <a:ext uri="{FF2B5EF4-FFF2-40B4-BE49-F238E27FC236}">
                    <a16:creationId xmlns:a16="http://schemas.microsoft.com/office/drawing/2014/main" id="{DEE9DE79-8AF5-1C3B-F8EE-FB326209D230}"/>
                  </a:ext>
                </a:extLst>
              </p:cNvPr>
              <p:cNvSpPr txBox="1">
                <a:spLocks noRot="1" noChangeAspect="1" noMove="1" noResize="1" noEditPoints="1" noAdjustHandles="1" noChangeArrowheads="1" noChangeShapeType="1" noTextEdit="1"/>
              </p:cNvSpPr>
              <p:nvPr/>
            </p:nvSpPr>
            <p:spPr>
              <a:xfrm>
                <a:off x="1139043" y="5837067"/>
                <a:ext cx="10689884" cy="954107"/>
              </a:xfrm>
              <a:prstGeom prst="rect">
                <a:avLst/>
              </a:prstGeom>
              <a:blipFill>
                <a:blip r:embed="rId9"/>
                <a:stretch>
                  <a:fillRect l="-712" t="-6579" b="-10526"/>
                </a:stretch>
              </a:blipFill>
            </p:spPr>
            <p:txBody>
              <a:bodyPr/>
              <a:lstStyle/>
              <a:p>
                <a:r>
                  <a:rPr lang="ja-JP" altLang="en-US">
                    <a:noFill/>
                  </a:rPr>
                  <a:t> </a:t>
                </a:r>
              </a:p>
            </p:txBody>
          </p:sp>
        </mc:Fallback>
      </mc:AlternateContent>
      <p:sp>
        <p:nvSpPr>
          <p:cNvPr id="32" name="大かっこ 31">
            <a:extLst>
              <a:ext uri="{FF2B5EF4-FFF2-40B4-BE49-F238E27FC236}">
                <a16:creationId xmlns:a16="http://schemas.microsoft.com/office/drawing/2014/main" id="{F301BA11-71DB-3AC4-37C8-DDA13543AB04}"/>
              </a:ext>
            </a:extLst>
          </p:cNvPr>
          <p:cNvSpPr/>
          <p:nvPr/>
        </p:nvSpPr>
        <p:spPr>
          <a:xfrm>
            <a:off x="813945" y="5904809"/>
            <a:ext cx="10689884" cy="893619"/>
          </a:xfrm>
          <a:prstGeom prst="bracketPair">
            <a:avLst/>
          </a:prstGeom>
          <a:noFill/>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 name="スライド番号プレースホルダー 2">
            <a:extLst>
              <a:ext uri="{FF2B5EF4-FFF2-40B4-BE49-F238E27FC236}">
                <a16:creationId xmlns:a16="http://schemas.microsoft.com/office/drawing/2014/main" id="{EAC67F90-16D7-7FC7-D53E-6B10019AB099}"/>
              </a:ext>
            </a:extLst>
          </p:cNvPr>
          <p:cNvSpPr>
            <a:spLocks noGrp="1"/>
          </p:cNvSpPr>
          <p:nvPr>
            <p:ph type="sldNum" sz="quarter" idx="12"/>
          </p:nvPr>
        </p:nvSpPr>
        <p:spPr/>
        <p:txBody>
          <a:bodyPr/>
          <a:lstStyle/>
          <a:p>
            <a:fld id="{21218AEF-8260-6F42-89D9-6D82E053F226}" type="slidenum">
              <a:rPr kumimoji="1" lang="ja-JP" altLang="en-US" smtClean="0"/>
              <a:t>8</a:t>
            </a:fld>
            <a:endParaRPr kumimoji="1" lang="ja-JP" altLang="en-US"/>
          </a:p>
        </p:txBody>
      </p:sp>
    </p:spTree>
    <p:extLst>
      <p:ext uri="{BB962C8B-B14F-4D97-AF65-F5344CB8AC3E}">
        <p14:creationId xmlns:p14="http://schemas.microsoft.com/office/powerpoint/2010/main" val="3466673083"/>
      </p:ext>
    </p:extLst>
  </p:cSld>
  <p:clrMapOvr>
    <a:masterClrMapping/>
  </p:clrMapOvr>
  <mc:AlternateContent xmlns:mc="http://schemas.openxmlformats.org/markup-compatibility/2006">
    <mc:Choice xmlns:p14="http://schemas.microsoft.com/office/powerpoint/2010/main" Requires="p14">
      <p:transition spd="slow" p14:dur="2000" advTm="20401"/>
    </mc:Choice>
    <mc:Fallback>
      <p:transition spd="slow" advTm="20401"/>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80B6D3DC-1B16-792B-1310-E742A756F996}"/>
                  </a:ext>
                </a:extLst>
              </p:cNvPr>
              <p:cNvGraphicFramePr>
                <a:graphicFrameLocks noGrp="1"/>
              </p:cNvGraphicFramePr>
              <p:nvPr/>
            </p:nvGraphicFramePr>
            <p:xfrm>
              <a:off x="191814" y="3263779"/>
              <a:ext cx="9720000" cy="1554480"/>
            </p:xfrm>
            <a:graphic>
              <a:graphicData uri="http://schemas.openxmlformats.org/drawingml/2006/table">
                <a:tbl>
                  <a:tblPr firstRow="1" bandRow="1">
                    <a:tableStyleId>{5C22544A-7EE6-4342-B048-85BDC9FD1C3A}</a:tableStyleId>
                  </a:tblPr>
                  <a:tblGrid>
                    <a:gridCol w="5400000">
                      <a:extLst>
                        <a:ext uri="{9D8B030D-6E8A-4147-A177-3AD203B41FA5}">
                          <a16:colId xmlns:a16="http://schemas.microsoft.com/office/drawing/2014/main" val="2935729667"/>
                        </a:ext>
                      </a:extLst>
                    </a:gridCol>
                    <a:gridCol w="1080000">
                      <a:extLst>
                        <a:ext uri="{9D8B030D-6E8A-4147-A177-3AD203B41FA5}">
                          <a16:colId xmlns:a16="http://schemas.microsoft.com/office/drawing/2014/main" val="2988566633"/>
                        </a:ext>
                      </a:extLst>
                    </a:gridCol>
                    <a:gridCol w="1080000">
                      <a:extLst>
                        <a:ext uri="{9D8B030D-6E8A-4147-A177-3AD203B41FA5}">
                          <a16:colId xmlns:a16="http://schemas.microsoft.com/office/drawing/2014/main" val="480088830"/>
                        </a:ext>
                      </a:extLst>
                    </a:gridCol>
                    <a:gridCol w="1080000">
                      <a:extLst>
                        <a:ext uri="{9D8B030D-6E8A-4147-A177-3AD203B41FA5}">
                          <a16:colId xmlns:a16="http://schemas.microsoft.com/office/drawing/2014/main" val="3054015287"/>
                        </a:ext>
                      </a:extLst>
                    </a:gridCol>
                    <a:gridCol w="1080000">
                      <a:extLst>
                        <a:ext uri="{9D8B030D-6E8A-4147-A177-3AD203B41FA5}">
                          <a16:colId xmlns:a16="http://schemas.microsoft.com/office/drawing/2014/main" val="2847160167"/>
                        </a:ext>
                      </a:extLst>
                    </a:gridCol>
                  </a:tblGrid>
                  <a:tr h="370840">
                    <a:tc>
                      <a:txBody>
                        <a:bodyPr/>
                        <a:lstStyle/>
                        <a:p>
                          <a:endParaRPr kumimoji="1" lang="ja-JP" altLang="en-US" sz="28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14:m>
                            <m:oMathPara xmlns:m="http://schemas.openxmlformats.org/officeDocument/2006/math">
                              <m:oMathParaPr>
                                <m:jc m:val="centerGroup"/>
                              </m:oMathParaPr>
                              <m:oMath xmlns:m="http://schemas.openxmlformats.org/officeDocument/2006/math">
                                <m:sSub>
                                  <m:sSubPr>
                                    <m:ctrlPr>
                                      <a:rPr kumimoji="1" lang="en-US" altLang="ja-JP" sz="2800" i="1" smtClean="0">
                                        <a:solidFill>
                                          <a:schemeClr val="tx1"/>
                                        </a:solidFill>
                                        <a:latin typeface="Cambria Math" panose="02040503050406030204" pitchFamily="18" charset="0"/>
                                      </a:rPr>
                                    </m:ctrlPr>
                                  </m:sSubPr>
                                  <m:e>
                                    <m:r>
                                      <a:rPr kumimoji="1" lang="en-US" altLang="ja-JP" sz="2800" b="1" i="1" smtClean="0">
                                        <a:solidFill>
                                          <a:schemeClr val="tx1"/>
                                        </a:solidFill>
                                        <a:latin typeface="Cambria Math" panose="02040503050406030204" pitchFamily="18" charset="0"/>
                                      </a:rPr>
                                      <m:t>𝑪</m:t>
                                    </m:r>
                                  </m:e>
                                  <m:sub>
                                    <m:r>
                                      <a:rPr kumimoji="1" lang="en-US" altLang="ja-JP" sz="2800" b="1" i="1" smtClean="0">
                                        <a:solidFill>
                                          <a:schemeClr val="tx1"/>
                                        </a:solidFill>
                                        <a:latin typeface="Cambria Math" panose="02040503050406030204" pitchFamily="18" charset="0"/>
                                      </a:rPr>
                                      <m:t>𝟏</m:t>
                                    </m:r>
                                  </m:sub>
                                </m:sSub>
                              </m:oMath>
                            </m:oMathPara>
                          </a14:m>
                          <a:endParaRPr kumimoji="1" lang="ja-JP" altLang="en-US" sz="28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14:m>
                            <m:oMathPara xmlns:m="http://schemas.openxmlformats.org/officeDocument/2006/math">
                              <m:oMathParaPr>
                                <m:jc m:val="centerGroup"/>
                              </m:oMathParaPr>
                              <m:oMath xmlns:m="http://schemas.openxmlformats.org/officeDocument/2006/math">
                                <m:sSub>
                                  <m:sSubPr>
                                    <m:ctrlPr>
                                      <a:rPr kumimoji="1" lang="en-US" altLang="ja-JP" sz="2800" i="1" smtClean="0">
                                        <a:solidFill>
                                          <a:schemeClr val="tx1"/>
                                        </a:solidFill>
                                        <a:latin typeface="Cambria Math" panose="02040503050406030204" pitchFamily="18" charset="0"/>
                                      </a:rPr>
                                    </m:ctrlPr>
                                  </m:sSubPr>
                                  <m:e>
                                    <m:r>
                                      <a:rPr kumimoji="1" lang="en-US" altLang="ja-JP" sz="2800" b="1" i="1" smtClean="0">
                                        <a:solidFill>
                                          <a:schemeClr val="tx1"/>
                                        </a:solidFill>
                                        <a:latin typeface="Cambria Math" panose="02040503050406030204" pitchFamily="18" charset="0"/>
                                      </a:rPr>
                                      <m:t>𝑪</m:t>
                                    </m:r>
                                  </m:e>
                                  <m:sub>
                                    <m:r>
                                      <a:rPr kumimoji="1" lang="en-US" altLang="ja-JP" sz="2800" b="1" i="1" smtClean="0">
                                        <a:solidFill>
                                          <a:schemeClr val="tx1"/>
                                        </a:solidFill>
                                        <a:latin typeface="Cambria Math" panose="02040503050406030204" pitchFamily="18" charset="0"/>
                                      </a:rPr>
                                      <m:t>𝟐</m:t>
                                    </m:r>
                                  </m:sub>
                                </m:sSub>
                              </m:oMath>
                            </m:oMathPara>
                          </a14:m>
                          <a:endParaRPr kumimoji="1" lang="ja-JP" altLang="en-US" sz="28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14:m>
                            <m:oMathPara xmlns:m="http://schemas.openxmlformats.org/officeDocument/2006/math">
                              <m:oMathParaPr>
                                <m:jc m:val="centerGroup"/>
                              </m:oMathParaPr>
                              <m:oMath xmlns:m="http://schemas.openxmlformats.org/officeDocument/2006/math">
                                <m:sSub>
                                  <m:sSubPr>
                                    <m:ctrlPr>
                                      <a:rPr kumimoji="1" lang="en-US" altLang="ja-JP" sz="2800" i="1" smtClean="0">
                                        <a:solidFill>
                                          <a:schemeClr val="tx1"/>
                                        </a:solidFill>
                                        <a:latin typeface="Cambria Math" panose="02040503050406030204" pitchFamily="18" charset="0"/>
                                      </a:rPr>
                                    </m:ctrlPr>
                                  </m:sSubPr>
                                  <m:e>
                                    <m:r>
                                      <a:rPr kumimoji="1" lang="en-US" altLang="ja-JP" sz="2800" b="1" i="1" smtClean="0">
                                        <a:solidFill>
                                          <a:schemeClr val="tx1"/>
                                        </a:solidFill>
                                        <a:latin typeface="Cambria Math" panose="02040503050406030204" pitchFamily="18" charset="0"/>
                                      </a:rPr>
                                      <m:t>𝑪</m:t>
                                    </m:r>
                                  </m:e>
                                  <m:sub>
                                    <m:r>
                                      <a:rPr kumimoji="1" lang="en-US" altLang="ja-JP" sz="2800" b="1" i="1" smtClean="0">
                                        <a:solidFill>
                                          <a:schemeClr val="tx1"/>
                                        </a:solidFill>
                                        <a:latin typeface="Cambria Math" panose="02040503050406030204" pitchFamily="18" charset="0"/>
                                      </a:rPr>
                                      <m:t>𝟑</m:t>
                                    </m:r>
                                  </m:sub>
                                </m:sSub>
                              </m:oMath>
                            </m:oMathPara>
                          </a14:m>
                          <a:endParaRPr kumimoji="1" lang="ja-JP" altLang="en-US" sz="28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14:m>
                            <m:oMathPara xmlns:m="http://schemas.openxmlformats.org/officeDocument/2006/math">
                              <m:oMathParaPr>
                                <m:jc m:val="centerGroup"/>
                              </m:oMathParaPr>
                              <m:oMath xmlns:m="http://schemas.openxmlformats.org/officeDocument/2006/math">
                                <m:sSub>
                                  <m:sSubPr>
                                    <m:ctrlPr>
                                      <a:rPr kumimoji="1" lang="en-US" altLang="ja-JP" sz="2800" i="1" smtClean="0">
                                        <a:solidFill>
                                          <a:schemeClr val="tx1"/>
                                        </a:solidFill>
                                        <a:latin typeface="Cambria Math" panose="02040503050406030204" pitchFamily="18" charset="0"/>
                                      </a:rPr>
                                    </m:ctrlPr>
                                  </m:sSubPr>
                                  <m:e>
                                    <m:r>
                                      <a:rPr kumimoji="1" lang="en-US" altLang="ja-JP" sz="2800" b="1" i="1" smtClean="0">
                                        <a:solidFill>
                                          <a:schemeClr val="tx1"/>
                                        </a:solidFill>
                                        <a:latin typeface="Cambria Math" panose="02040503050406030204" pitchFamily="18" charset="0"/>
                                      </a:rPr>
                                      <m:t>𝑪</m:t>
                                    </m:r>
                                  </m:e>
                                  <m:sub>
                                    <m:r>
                                      <a:rPr kumimoji="1" lang="en-US" altLang="ja-JP" sz="2800" b="1" i="1" smtClean="0">
                                        <a:solidFill>
                                          <a:schemeClr val="tx1"/>
                                        </a:solidFill>
                                        <a:latin typeface="Cambria Math" panose="02040503050406030204" pitchFamily="18" charset="0"/>
                                      </a:rPr>
                                      <m:t>𝟒</m:t>
                                    </m:r>
                                  </m:sub>
                                </m:sSub>
                              </m:oMath>
                            </m:oMathPara>
                          </a14:m>
                          <a:endParaRPr kumimoji="1" lang="ja-JP" altLang="en-US" sz="28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48619100"/>
                      </a:ext>
                    </a:extLst>
                  </a:tr>
                  <a:tr h="370840">
                    <a:tc>
                      <a:txBody>
                        <a:bodyPr/>
                        <a:lstStyle/>
                        <a:p>
                          <a:r>
                            <a:rPr kumimoji="1" lang="ja-JP" altLang="en-US" sz="2800">
                              <a:solidFill>
                                <a:schemeClr val="tx1"/>
                              </a:solidFill>
                            </a:rPr>
                            <a:t>結果モデルの回帰係数</a:t>
                          </a:r>
                          <a14:m>
                            <m:oMath xmlns:m="http://schemas.openxmlformats.org/officeDocument/2006/math">
                              <m:r>
                                <a:rPr lang="ja-JP" altLang="en-US" sz="2800" b="1" i="1" smtClean="0">
                                  <a:latin typeface="Cambria Math" panose="02040503050406030204" pitchFamily="18" charset="0"/>
                                </a:rPr>
                                <m:t>𝜶</m:t>
                              </m:r>
                            </m:oMath>
                          </a14:m>
                          <a:endParaRPr kumimoji="1" lang="ja-JP" altLang="en-US" sz="28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2800">
                              <a:solidFill>
                                <a:schemeClr val="tx1"/>
                              </a:solidFill>
                            </a:rPr>
                            <a:t>非０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800">
                              <a:solidFill>
                                <a:schemeClr val="tx1"/>
                              </a:solidFill>
                            </a:rPr>
                            <a:t>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tc>
                      <a:txBody>
                        <a:bodyPr/>
                        <a:lstStyle/>
                        <a:p>
                          <a:pPr algn="ctr"/>
                          <a:r>
                            <a:rPr kumimoji="1" lang="ja-JP" altLang="en-US" sz="2800">
                              <a:solidFill>
                                <a:schemeClr val="tx1"/>
                              </a:solidFill>
                            </a:rPr>
                            <a:t>非０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800">
                              <a:solidFill>
                                <a:schemeClr val="tx1"/>
                              </a:solidFill>
                            </a:rPr>
                            <a:t>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328451798"/>
                      </a:ext>
                    </a:extLst>
                  </a:tr>
                  <a:tr h="370840">
                    <a:tc>
                      <a:txBody>
                        <a:bodyPr/>
                        <a:lstStyle/>
                        <a:p>
                          <a:r>
                            <a:rPr kumimoji="1" lang="ja-JP" altLang="en-US" sz="2800">
                              <a:solidFill>
                                <a:schemeClr val="tx1"/>
                              </a:solidFill>
                            </a:rPr>
                            <a:t>傾向スコアモデルの回帰係数</a:t>
                          </a:r>
                          <a14:m>
                            <m:oMath xmlns:m="http://schemas.openxmlformats.org/officeDocument/2006/math">
                              <m:r>
                                <a:rPr lang="ja-JP" altLang="en-US" sz="2800" b="1" i="1" smtClean="0">
                                  <a:latin typeface="Cambria Math" panose="02040503050406030204" pitchFamily="18" charset="0"/>
                                </a:rPr>
                                <m:t>𝜸</m:t>
                              </m:r>
                              <m:r>
                                <a:rPr lang="en-US" altLang="ja-JP" sz="2800" b="1" i="1" smtClean="0">
                                  <a:latin typeface="Cambria Math" panose="02040503050406030204" pitchFamily="18" charset="0"/>
                                </a:rPr>
                                <m:t> </m:t>
                              </m:r>
                            </m:oMath>
                          </a14:m>
                          <a:endParaRPr kumimoji="1" lang="ja-JP" altLang="en-US" sz="28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2800">
                              <a:solidFill>
                                <a:schemeClr val="tx1"/>
                              </a:solidFill>
                            </a:rPr>
                            <a:t>非０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800">
                              <a:solidFill>
                                <a:schemeClr val="tx1"/>
                              </a:solidFill>
                            </a:rPr>
                            <a:t>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tc>
                      <a:txBody>
                        <a:bodyPr/>
                        <a:lstStyle/>
                        <a:p>
                          <a:pPr algn="ctr"/>
                          <a:r>
                            <a:rPr kumimoji="1" lang="ja-JP" altLang="en-US" sz="2800">
                              <a:solidFill>
                                <a:schemeClr val="tx1"/>
                              </a:solidFill>
                            </a:rPr>
                            <a:t>非０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800">
                              <a:solidFill>
                                <a:schemeClr val="tx1"/>
                              </a:solidFill>
                            </a:rPr>
                            <a:t>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3124565267"/>
                      </a:ext>
                    </a:extLst>
                  </a:tr>
                </a:tbl>
              </a:graphicData>
            </a:graphic>
          </p:graphicFrame>
        </mc:Choice>
        <mc:Fallback xmlns="">
          <p:graphicFrame>
            <p:nvGraphicFramePr>
              <p:cNvPr id="4" name="表 4">
                <a:extLst>
                  <a:ext uri="{FF2B5EF4-FFF2-40B4-BE49-F238E27FC236}">
                    <a16:creationId xmlns:a16="http://schemas.microsoft.com/office/drawing/2014/main" id="{80B6D3DC-1B16-792B-1310-E742A756F996}"/>
                  </a:ext>
                </a:extLst>
              </p:cNvPr>
              <p:cNvGraphicFramePr>
                <a:graphicFrameLocks noGrp="1"/>
              </p:cNvGraphicFramePr>
              <p:nvPr>
                <p:extLst>
                  <p:ext uri="{D42A27DB-BD31-4B8C-83A1-F6EECF244321}">
                    <p14:modId xmlns:p14="http://schemas.microsoft.com/office/powerpoint/2010/main" val="3284284844"/>
                  </p:ext>
                </p:extLst>
              </p:nvPr>
            </p:nvGraphicFramePr>
            <p:xfrm>
              <a:off x="191814" y="3263779"/>
              <a:ext cx="9720000" cy="1554480"/>
            </p:xfrm>
            <a:graphic>
              <a:graphicData uri="http://schemas.openxmlformats.org/drawingml/2006/table">
                <a:tbl>
                  <a:tblPr firstRow="1" bandRow="1">
                    <a:tableStyleId>{5C22544A-7EE6-4342-B048-85BDC9FD1C3A}</a:tableStyleId>
                  </a:tblPr>
                  <a:tblGrid>
                    <a:gridCol w="5400000">
                      <a:extLst>
                        <a:ext uri="{9D8B030D-6E8A-4147-A177-3AD203B41FA5}">
                          <a16:colId xmlns:a16="http://schemas.microsoft.com/office/drawing/2014/main" val="2935729667"/>
                        </a:ext>
                      </a:extLst>
                    </a:gridCol>
                    <a:gridCol w="1080000">
                      <a:extLst>
                        <a:ext uri="{9D8B030D-6E8A-4147-A177-3AD203B41FA5}">
                          <a16:colId xmlns:a16="http://schemas.microsoft.com/office/drawing/2014/main" val="2988566633"/>
                        </a:ext>
                      </a:extLst>
                    </a:gridCol>
                    <a:gridCol w="1080000">
                      <a:extLst>
                        <a:ext uri="{9D8B030D-6E8A-4147-A177-3AD203B41FA5}">
                          <a16:colId xmlns:a16="http://schemas.microsoft.com/office/drawing/2014/main" val="480088830"/>
                        </a:ext>
                      </a:extLst>
                    </a:gridCol>
                    <a:gridCol w="1080000">
                      <a:extLst>
                        <a:ext uri="{9D8B030D-6E8A-4147-A177-3AD203B41FA5}">
                          <a16:colId xmlns:a16="http://schemas.microsoft.com/office/drawing/2014/main" val="3054015287"/>
                        </a:ext>
                      </a:extLst>
                    </a:gridCol>
                    <a:gridCol w="1080000">
                      <a:extLst>
                        <a:ext uri="{9D8B030D-6E8A-4147-A177-3AD203B41FA5}">
                          <a16:colId xmlns:a16="http://schemas.microsoft.com/office/drawing/2014/main" val="2847160167"/>
                        </a:ext>
                      </a:extLst>
                    </a:gridCol>
                  </a:tblGrid>
                  <a:tr h="518160">
                    <a:tc>
                      <a:txBody>
                        <a:bodyPr/>
                        <a:lstStyle/>
                        <a:p>
                          <a:endParaRPr kumimoji="1" lang="ja-JP" altLang="en-US" sz="280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3"/>
                          <a:stretch>
                            <a:fillRect l="-502353" r="-301176" b="-236585"/>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3"/>
                          <a:stretch>
                            <a:fillRect l="-602353" r="-201176" b="-236585"/>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3"/>
                          <a:stretch>
                            <a:fillRect l="-702353" r="-101176" b="-236585"/>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3"/>
                          <a:stretch>
                            <a:fillRect l="-802353" r="-1176" b="-236585"/>
                          </a:stretch>
                        </a:blipFill>
                      </a:tcPr>
                    </a:tc>
                    <a:extLst>
                      <a:ext uri="{0D108BD9-81ED-4DB2-BD59-A6C34878D82A}">
                        <a16:rowId xmlns:a16="http://schemas.microsoft.com/office/drawing/2014/main" val="1648619100"/>
                      </a:ext>
                    </a:extLst>
                  </a:tr>
                  <a:tr h="518160">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3"/>
                          <a:stretch>
                            <a:fillRect l="-235" t="-97619" r="-80047" b="-130952"/>
                          </a:stretch>
                        </a:blipFill>
                      </a:tcPr>
                    </a:tc>
                    <a:tc>
                      <a:txBody>
                        <a:bodyPr/>
                        <a:lstStyle/>
                        <a:p>
                          <a:pPr algn="ctr"/>
                          <a:r>
                            <a:rPr kumimoji="1" lang="ja-JP" altLang="en-US" sz="2800">
                              <a:solidFill>
                                <a:schemeClr val="tx1"/>
                              </a:solidFill>
                            </a:rPr>
                            <a:t>非０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800">
                              <a:solidFill>
                                <a:schemeClr val="tx1"/>
                              </a:solidFill>
                            </a:rPr>
                            <a:t>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tc>
                      <a:txBody>
                        <a:bodyPr/>
                        <a:lstStyle/>
                        <a:p>
                          <a:pPr algn="ctr"/>
                          <a:r>
                            <a:rPr kumimoji="1" lang="ja-JP" altLang="en-US" sz="2800">
                              <a:solidFill>
                                <a:schemeClr val="tx1"/>
                              </a:solidFill>
                            </a:rPr>
                            <a:t>非０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800">
                              <a:solidFill>
                                <a:schemeClr val="tx1"/>
                              </a:solidFill>
                            </a:rPr>
                            <a:t>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328451798"/>
                      </a:ext>
                    </a:extLst>
                  </a:tr>
                  <a:tr h="518160">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3"/>
                          <a:stretch>
                            <a:fillRect l="-235" t="-202439" r="-80047" b="-34146"/>
                          </a:stretch>
                        </a:blipFill>
                      </a:tcPr>
                    </a:tc>
                    <a:tc>
                      <a:txBody>
                        <a:bodyPr/>
                        <a:lstStyle/>
                        <a:p>
                          <a:pPr algn="ctr"/>
                          <a:r>
                            <a:rPr kumimoji="1" lang="ja-JP" altLang="en-US" sz="2800">
                              <a:solidFill>
                                <a:schemeClr val="tx1"/>
                              </a:solidFill>
                            </a:rPr>
                            <a:t>非０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800">
                              <a:solidFill>
                                <a:schemeClr val="tx1"/>
                              </a:solidFill>
                            </a:rPr>
                            <a:t>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tc>
                      <a:txBody>
                        <a:bodyPr/>
                        <a:lstStyle/>
                        <a:p>
                          <a:pPr algn="ctr"/>
                          <a:r>
                            <a:rPr kumimoji="1" lang="ja-JP" altLang="en-US" sz="2800">
                              <a:solidFill>
                                <a:schemeClr val="tx1"/>
                              </a:solidFill>
                            </a:rPr>
                            <a:t>非０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800">
                              <a:solidFill>
                                <a:schemeClr val="tx1"/>
                              </a:solidFill>
                            </a:rPr>
                            <a:t>０</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3124565267"/>
                      </a:ext>
                    </a:extLst>
                  </a:tr>
                </a:tbl>
              </a:graphicData>
            </a:graphic>
          </p:graphicFrame>
        </mc:Fallback>
      </mc:AlternateContent>
      <mc:AlternateContent xmlns:mc="http://schemas.openxmlformats.org/markup-compatibility/2006">
        <mc:Choice xmlns:a14="http://schemas.microsoft.com/office/drawing/2010/main" Requires="a14">
          <p:sp>
            <p:nvSpPr>
              <p:cNvPr id="12" name="テキスト ボックス 11">
                <a:extLst>
                  <a:ext uri="{FF2B5EF4-FFF2-40B4-BE49-F238E27FC236}">
                    <a16:creationId xmlns:a16="http://schemas.microsoft.com/office/drawing/2014/main" id="{550E0A7A-60B0-C4A2-A7B5-28EA0814D4CE}"/>
                  </a:ext>
                </a:extLst>
              </p:cNvPr>
              <p:cNvSpPr txBox="1"/>
              <p:nvPr/>
            </p:nvSpPr>
            <p:spPr>
              <a:xfrm>
                <a:off x="1730133" y="1319377"/>
                <a:ext cx="6101254" cy="126855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func>
                        <m:funcPr>
                          <m:ctrlPr>
                            <a:rPr lang="en-US" altLang="ja-JP" sz="2800" i="1">
                              <a:latin typeface="Cambria Math" panose="02040503050406030204" pitchFamily="18" charset="0"/>
                            </a:rPr>
                          </m:ctrlPr>
                        </m:funcPr>
                        <m:fName>
                          <m:limLow>
                            <m:limLowPr>
                              <m:ctrlPr>
                                <a:rPr lang="en-US" altLang="ja-JP" sz="2800" i="1">
                                  <a:latin typeface="Cambria Math" panose="02040503050406030204" pitchFamily="18" charset="0"/>
                                </a:rPr>
                              </m:ctrlPr>
                            </m:limLowPr>
                            <m:e>
                              <m:r>
                                <m:rPr>
                                  <m:sty m:val="p"/>
                                </m:rPr>
                                <a:rPr lang="en-US" altLang="ja-JP" sz="2800">
                                  <a:latin typeface="Cambria Math" panose="02040503050406030204" pitchFamily="18" charset="0"/>
                                </a:rPr>
                                <m:t>argmin</m:t>
                              </m:r>
                            </m:e>
                            <m:lim>
                              <m:r>
                                <a:rPr lang="ja-JP" altLang="en-US" sz="2800" b="1" i="1">
                                  <a:latin typeface="Cambria Math" panose="02040503050406030204" pitchFamily="18" charset="0"/>
                                </a:rPr>
                                <m:t>𝜷</m:t>
                              </m:r>
                            </m:lim>
                          </m:limLow>
                        </m:fName>
                        <m:e>
                          <m:f>
                            <m:fPr>
                              <m:ctrlPr>
                                <a:rPr lang="en-US" altLang="ja-JP" sz="2800" i="1">
                                  <a:latin typeface="Cambria Math" panose="02040503050406030204" pitchFamily="18" charset="0"/>
                                </a:rPr>
                              </m:ctrlPr>
                            </m:fPr>
                            <m:num>
                              <m:r>
                                <a:rPr lang="en-US" altLang="ja-JP" sz="2800" i="1">
                                  <a:latin typeface="Cambria Math" panose="02040503050406030204" pitchFamily="18" charset="0"/>
                                </a:rPr>
                                <m:t>1</m:t>
                              </m:r>
                            </m:num>
                            <m:den>
                              <m:r>
                                <a:rPr lang="en-US" altLang="ja-JP" sz="2800" i="1">
                                  <a:latin typeface="Cambria Math" panose="02040503050406030204" pitchFamily="18" charset="0"/>
                                </a:rPr>
                                <m:t>𝑛</m:t>
                              </m:r>
                            </m:den>
                          </m:f>
                          <m:sSub>
                            <m:sSubPr>
                              <m:ctrlPr>
                                <a:rPr lang="en-US" altLang="ja-JP" sz="2800" i="1">
                                  <a:latin typeface="Cambria Math" panose="02040503050406030204" pitchFamily="18" charset="0"/>
                                </a:rPr>
                              </m:ctrlPr>
                            </m:sSubPr>
                            <m:e>
                              <m:r>
                                <m:rPr>
                                  <m:sty m:val="p"/>
                                </m:rPr>
                                <a:rPr lang="el-GR" altLang="ja-JP" sz="2800" i="1">
                                  <a:latin typeface="Cambria Math" panose="02040503050406030204" pitchFamily="18" charset="0"/>
                                </a:rPr>
                                <m:t>Φ</m:t>
                              </m:r>
                            </m:e>
                            <m:sub>
                              <m:r>
                                <m:rPr>
                                  <m:sty m:val="p"/>
                                </m:rPr>
                                <a:rPr lang="en-US" altLang="ja-JP" sz="2800">
                                  <a:latin typeface="Cambria Math" panose="02040503050406030204" pitchFamily="18" charset="0"/>
                                </a:rPr>
                                <m:t>sum</m:t>
                              </m:r>
                            </m:sub>
                          </m:sSub>
                          <m:d>
                            <m:dPr>
                              <m:ctrlPr>
                                <a:rPr lang="en-US" altLang="ja-JP" sz="2800" b="1" i="1">
                                  <a:latin typeface="Cambria Math" panose="02040503050406030204" pitchFamily="18" charset="0"/>
                                </a:rPr>
                              </m:ctrlPr>
                            </m:dPr>
                            <m:e>
                              <m:r>
                                <a:rPr lang="en-US" altLang="ja-JP" sz="2800" b="1" i="1" smtClean="0">
                                  <a:latin typeface="Cambria Math" panose="02040503050406030204" pitchFamily="18" charset="0"/>
                                  <a:cs typeface="Arial" panose="020B0604020202020204" pitchFamily="34" charset="0"/>
                                </a:rPr>
                                <m:t>𝒀</m:t>
                              </m:r>
                              <m:r>
                                <a:rPr lang="en-US" altLang="ja-JP" sz="2800" b="1" i="1">
                                  <a:latin typeface="Cambria Math" panose="02040503050406030204" pitchFamily="18" charset="0"/>
                                </a:rPr>
                                <m:t>,</m:t>
                              </m:r>
                              <m:r>
                                <a:rPr lang="en-US" altLang="ja-JP" sz="2800" b="1" i="1" smtClean="0">
                                  <a:latin typeface="Cambria Math" panose="02040503050406030204" pitchFamily="18" charset="0"/>
                                </a:rPr>
                                <m:t>𝑿</m:t>
                              </m:r>
                              <m:r>
                                <a:rPr lang="en-US" altLang="ja-JP" sz="2800" b="1" i="1">
                                  <a:latin typeface="Cambria Math" panose="02040503050406030204" pitchFamily="18" charset="0"/>
                                </a:rPr>
                                <m:t>,</m:t>
                              </m:r>
                              <m:r>
                                <a:rPr lang="en-US" altLang="ja-JP" sz="2800" b="1" i="1" smtClean="0">
                                  <a:latin typeface="Cambria Math" panose="02040503050406030204" pitchFamily="18" charset="0"/>
                                </a:rPr>
                                <m:t>𝑪</m:t>
                              </m:r>
                              <m:r>
                                <a:rPr lang="en-US" altLang="ja-JP" sz="2800" b="1" i="1">
                                  <a:latin typeface="Cambria Math" panose="02040503050406030204" pitchFamily="18" charset="0"/>
                                </a:rPr>
                                <m:t>;</m:t>
                              </m:r>
                              <m:r>
                                <a:rPr lang="ja-JP" altLang="en-US" sz="2800" b="1" i="1">
                                  <a:latin typeface="Cambria Math" panose="02040503050406030204" pitchFamily="18" charset="0"/>
                                </a:rPr>
                                <m:t>𝜷</m:t>
                              </m:r>
                            </m:e>
                          </m:d>
                          <m:r>
                            <a:rPr lang="en-US" altLang="ja-JP" sz="2800" i="1">
                              <a:latin typeface="Cambria Math" panose="02040503050406030204" pitchFamily="18" charset="0"/>
                            </a:rPr>
                            <m:t>+</m:t>
                          </m:r>
                          <m:r>
                            <a:rPr lang="ja-JP" altLang="en-US" sz="2800" i="1">
                              <a:latin typeface="Cambria Math" panose="02040503050406030204" pitchFamily="18" charset="0"/>
                            </a:rPr>
                            <m:t>𝜆</m:t>
                          </m:r>
                          <m:nary>
                            <m:naryPr>
                              <m:chr m:val="∑"/>
                              <m:ctrlPr>
                                <a:rPr lang="ja-JP" altLang="en-US" sz="2800" i="1">
                                  <a:latin typeface="Cambria Math" panose="02040503050406030204" pitchFamily="18" charset="0"/>
                                </a:rPr>
                              </m:ctrlPr>
                            </m:naryPr>
                            <m:sub>
                              <m:r>
                                <m:rPr>
                                  <m:brk m:alnAt="23"/>
                                </m:rPr>
                                <a:rPr lang="en-US" altLang="ja-JP" sz="2800" i="1">
                                  <a:latin typeface="Cambria Math" panose="02040503050406030204" pitchFamily="18" charset="0"/>
                                </a:rPr>
                                <m:t>𝑘</m:t>
                              </m:r>
                              <m:r>
                                <a:rPr lang="en-US" altLang="ja-JP" sz="2800" i="1">
                                  <a:latin typeface="Cambria Math" panose="02040503050406030204" pitchFamily="18" charset="0"/>
                                </a:rPr>
                                <m:t>=1</m:t>
                              </m:r>
                            </m:sub>
                            <m:sup>
                              <m:r>
                                <a:rPr lang="en-US" altLang="ja-JP" sz="2800" i="1">
                                  <a:latin typeface="Cambria Math" panose="02040503050406030204" pitchFamily="18" charset="0"/>
                                </a:rPr>
                                <m:t>𝑝</m:t>
                              </m:r>
                            </m:sup>
                            <m:e>
                              <m:sSub>
                                <m:sSubPr>
                                  <m:ctrlPr>
                                    <a:rPr lang="en-US" altLang="ja-JP" sz="2800" i="1">
                                      <a:latin typeface="Cambria Math" panose="02040503050406030204" pitchFamily="18" charset="0"/>
                                    </a:rPr>
                                  </m:ctrlPr>
                                </m:sSubPr>
                                <m:e>
                                  <m:r>
                                    <a:rPr lang="en-US" altLang="ja-JP" sz="2800" i="1">
                                      <a:latin typeface="Cambria Math" panose="02040503050406030204" pitchFamily="18" charset="0"/>
                                    </a:rPr>
                                    <m:t>𝑊</m:t>
                                  </m:r>
                                </m:e>
                                <m:sub>
                                  <m:r>
                                    <a:rPr lang="en-US" altLang="ja-JP" sz="2800" i="1">
                                      <a:latin typeface="Cambria Math" panose="02040503050406030204" pitchFamily="18" charset="0"/>
                                    </a:rPr>
                                    <m:t>𝑘</m:t>
                                  </m:r>
                                </m:sub>
                              </m:sSub>
                              <m:sSub>
                                <m:sSubPr>
                                  <m:ctrlPr>
                                    <a:rPr lang="en-US" altLang="ja-JP" sz="2800" i="1">
                                      <a:latin typeface="Cambria Math" panose="02040503050406030204" pitchFamily="18" charset="0"/>
                                    </a:rPr>
                                  </m:ctrlPr>
                                </m:sSubPr>
                                <m:e>
                                  <m:d>
                                    <m:dPr>
                                      <m:begChr m:val="‖"/>
                                      <m:endChr m:val="‖"/>
                                      <m:ctrlPr>
                                        <a:rPr lang="en-US" altLang="ja-JP" sz="2800" i="1">
                                          <a:latin typeface="Cambria Math" panose="02040503050406030204" pitchFamily="18" charset="0"/>
                                        </a:rPr>
                                      </m:ctrlPr>
                                    </m:dPr>
                                    <m:e>
                                      <m:sSub>
                                        <m:sSubPr>
                                          <m:ctrlPr>
                                            <a:rPr lang="en-US" altLang="ja-JP" sz="2800" i="1">
                                              <a:latin typeface="Cambria Math" panose="02040503050406030204" pitchFamily="18" charset="0"/>
                                            </a:rPr>
                                          </m:ctrlPr>
                                        </m:sSubPr>
                                        <m:e>
                                          <m:r>
                                            <a:rPr lang="ja-JP" altLang="en-US" sz="2800" i="1">
                                              <a:latin typeface="Cambria Math" panose="02040503050406030204" pitchFamily="18" charset="0"/>
                                            </a:rPr>
                                            <m:t>𝛽</m:t>
                                          </m:r>
                                        </m:e>
                                        <m:sub>
                                          <m:r>
                                            <a:rPr lang="en-US" altLang="ja-JP" sz="2800" i="1">
                                              <a:latin typeface="Cambria Math" panose="02040503050406030204" pitchFamily="18" charset="0"/>
                                            </a:rPr>
                                            <m:t>𝑘</m:t>
                                          </m:r>
                                        </m:sub>
                                      </m:sSub>
                                    </m:e>
                                  </m:d>
                                </m:e>
                                <m:sub>
                                  <m:r>
                                    <a:rPr lang="en-US" altLang="ja-JP" sz="2800" i="1">
                                      <a:latin typeface="Cambria Math" panose="02040503050406030204" pitchFamily="18" charset="0"/>
                                    </a:rPr>
                                    <m:t>2</m:t>
                                  </m:r>
                                </m:sub>
                              </m:sSub>
                            </m:e>
                          </m:nary>
                        </m:e>
                      </m:func>
                    </m:oMath>
                  </m:oMathPara>
                </a14:m>
                <a:endParaRPr lang="ja-JP" altLang="en-US" sz="2800"/>
              </a:p>
            </p:txBody>
          </p:sp>
        </mc:Choice>
        <mc:Fallback>
          <p:sp>
            <p:nvSpPr>
              <p:cNvPr id="12" name="テキスト ボックス 11">
                <a:extLst>
                  <a:ext uri="{FF2B5EF4-FFF2-40B4-BE49-F238E27FC236}">
                    <a16:creationId xmlns:a16="http://schemas.microsoft.com/office/drawing/2014/main" id="{550E0A7A-60B0-C4A2-A7B5-28EA0814D4CE}"/>
                  </a:ext>
                </a:extLst>
              </p:cNvPr>
              <p:cNvSpPr txBox="1">
                <a:spLocks noRot="1" noChangeAspect="1" noMove="1" noResize="1" noEditPoints="1" noAdjustHandles="1" noChangeArrowheads="1" noChangeShapeType="1" noTextEdit="1"/>
              </p:cNvSpPr>
              <p:nvPr/>
            </p:nvSpPr>
            <p:spPr>
              <a:xfrm>
                <a:off x="1730133" y="1319377"/>
                <a:ext cx="6101254" cy="1268552"/>
              </a:xfrm>
              <a:prstGeom prst="rect">
                <a:avLst/>
              </a:prstGeom>
              <a:blipFill>
                <a:blip r:embed="rId4"/>
                <a:stretch>
                  <a:fillRect l="-1040" t="-104902" r="-9356" b="-159804"/>
                </a:stretch>
              </a:blipFill>
            </p:spPr>
            <p:txBody>
              <a:bodyPr/>
              <a:lstStyle/>
              <a:p>
                <a:r>
                  <a:rPr lang="ja-JP" altLang="en-US">
                    <a:noFill/>
                  </a:rPr>
                  <a:t> </a:t>
                </a:r>
              </a:p>
            </p:txBody>
          </p:sp>
        </mc:Fallback>
      </mc:AlternateContent>
      <p:sp>
        <p:nvSpPr>
          <p:cNvPr id="13" name="正方形/長方形 12">
            <a:extLst>
              <a:ext uri="{FF2B5EF4-FFF2-40B4-BE49-F238E27FC236}">
                <a16:creationId xmlns:a16="http://schemas.microsoft.com/office/drawing/2014/main" id="{279D40F9-E143-8A84-F1AD-0FE34099295C}"/>
              </a:ext>
            </a:extLst>
          </p:cNvPr>
          <p:cNvSpPr/>
          <p:nvPr/>
        </p:nvSpPr>
        <p:spPr>
          <a:xfrm>
            <a:off x="5770179" y="1285665"/>
            <a:ext cx="2680138" cy="1325563"/>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タイトル 1">
            <a:extLst>
              <a:ext uri="{FF2B5EF4-FFF2-40B4-BE49-F238E27FC236}">
                <a16:creationId xmlns:a16="http://schemas.microsoft.com/office/drawing/2014/main" id="{1CD218DE-BDA1-8C5E-09E0-F35466B3C2F1}"/>
              </a:ext>
            </a:extLst>
          </p:cNvPr>
          <p:cNvSpPr txBox="1">
            <a:spLocks/>
          </p:cNvSpPr>
          <p:nvPr/>
        </p:nvSpPr>
        <p:spPr>
          <a:xfrm>
            <a:off x="0" y="276634"/>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a:lstStyle>
          <a:p>
            <a:r>
              <a:rPr lang="en-US" altLang="ja-JP" dirty="0" err="1"/>
              <a:t>GLiDeR</a:t>
            </a:r>
            <a:r>
              <a:rPr lang="ja-JP" altLang="en-US"/>
              <a:t>（正則化項）</a:t>
            </a:r>
            <a:endParaRPr lang="ja-JP" altLang="en-US" dirty="0"/>
          </a:p>
        </p:txBody>
      </p:sp>
      <p:cxnSp>
        <p:nvCxnSpPr>
          <p:cNvPr id="17" name="直線コネクタ 16">
            <a:extLst>
              <a:ext uri="{FF2B5EF4-FFF2-40B4-BE49-F238E27FC236}">
                <a16:creationId xmlns:a16="http://schemas.microsoft.com/office/drawing/2014/main" id="{BF11DA41-35D5-3593-0763-AD0698722D6B}"/>
              </a:ext>
            </a:extLst>
          </p:cNvPr>
          <p:cNvCxnSpPr>
            <a:cxnSpLocks/>
          </p:cNvCxnSpPr>
          <p:nvPr/>
        </p:nvCxnSpPr>
        <p:spPr>
          <a:xfrm flipV="1">
            <a:off x="9911814" y="4240924"/>
            <a:ext cx="551513" cy="28377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線コネクタ 18">
            <a:extLst>
              <a:ext uri="{FF2B5EF4-FFF2-40B4-BE49-F238E27FC236}">
                <a16:creationId xmlns:a16="http://schemas.microsoft.com/office/drawing/2014/main" id="{D3E07D1D-23AC-0FBF-C395-518DB033E2F5}"/>
              </a:ext>
            </a:extLst>
          </p:cNvPr>
          <p:cNvCxnSpPr>
            <a:cxnSpLocks/>
            <a:stCxn id="4" idx="3"/>
          </p:cNvCxnSpPr>
          <p:nvPr/>
        </p:nvCxnSpPr>
        <p:spPr>
          <a:xfrm>
            <a:off x="9911814" y="4041019"/>
            <a:ext cx="498680" cy="19990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テキスト ボックス 22">
            <a:extLst>
              <a:ext uri="{FF2B5EF4-FFF2-40B4-BE49-F238E27FC236}">
                <a16:creationId xmlns:a16="http://schemas.microsoft.com/office/drawing/2014/main" id="{EB9B8E52-A664-E9DC-9987-87FA7A2BC36C}"/>
              </a:ext>
            </a:extLst>
          </p:cNvPr>
          <p:cNvSpPr txBox="1"/>
          <p:nvPr/>
        </p:nvSpPr>
        <p:spPr>
          <a:xfrm>
            <a:off x="10486696" y="3763870"/>
            <a:ext cx="1705304" cy="954107"/>
          </a:xfrm>
          <a:prstGeom prst="rect">
            <a:avLst/>
          </a:prstGeom>
          <a:noFill/>
          <a:ln w="28575">
            <a:solidFill>
              <a:srgbClr val="7030A0"/>
            </a:solidFill>
          </a:ln>
        </p:spPr>
        <p:txBody>
          <a:bodyPr wrap="square" rtlCol="0">
            <a:spAutoFit/>
          </a:bodyPr>
          <a:lstStyle/>
          <a:p>
            <a:r>
              <a:rPr lang="ja-JP" altLang="en-US" sz="2800"/>
              <a:t>０</a:t>
            </a:r>
            <a:r>
              <a:rPr lang="en-US" altLang="ja-JP" sz="2800" dirty="0"/>
              <a:t>or</a:t>
            </a:r>
            <a:r>
              <a:rPr lang="ja-JP" altLang="en-US" sz="2800"/>
              <a:t>非０で共通</a:t>
            </a:r>
            <a:endParaRPr kumimoji="1" lang="ja-JP" altLang="en-US" sz="2800"/>
          </a:p>
        </p:txBody>
      </p:sp>
      <p:sp>
        <p:nvSpPr>
          <p:cNvPr id="20" name="テキスト ボックス 19">
            <a:extLst>
              <a:ext uri="{FF2B5EF4-FFF2-40B4-BE49-F238E27FC236}">
                <a16:creationId xmlns:a16="http://schemas.microsoft.com/office/drawing/2014/main" id="{0247E871-A8CB-5531-E587-FEB0C5FD5E1C}"/>
              </a:ext>
            </a:extLst>
          </p:cNvPr>
          <p:cNvSpPr txBox="1"/>
          <p:nvPr/>
        </p:nvSpPr>
        <p:spPr>
          <a:xfrm>
            <a:off x="5285521" y="5686762"/>
            <a:ext cx="1620957" cy="523220"/>
          </a:xfrm>
          <a:prstGeom prst="rect">
            <a:avLst/>
          </a:prstGeom>
          <a:ln w="38100">
            <a:solidFill>
              <a:srgbClr val="00B050"/>
            </a:solidFill>
          </a:ln>
        </p:spPr>
        <p:style>
          <a:lnRef idx="2">
            <a:schemeClr val="accent2"/>
          </a:lnRef>
          <a:fillRef idx="1">
            <a:schemeClr val="lt1"/>
          </a:fillRef>
          <a:effectRef idx="0">
            <a:schemeClr val="accent2"/>
          </a:effectRef>
          <a:fontRef idx="minor">
            <a:schemeClr val="dk1"/>
          </a:fontRef>
        </p:style>
        <p:txBody>
          <a:bodyPr wrap="none" rtlCol="0">
            <a:spAutoFit/>
          </a:bodyPr>
          <a:lstStyle/>
          <a:p>
            <a:r>
              <a:rPr kumimoji="1" lang="ja-JP" altLang="en-US" sz="2800"/>
              <a:t>選択する</a:t>
            </a:r>
          </a:p>
        </p:txBody>
      </p:sp>
      <p:sp>
        <p:nvSpPr>
          <p:cNvPr id="21" name="テキスト ボックス 20">
            <a:extLst>
              <a:ext uri="{FF2B5EF4-FFF2-40B4-BE49-F238E27FC236}">
                <a16:creationId xmlns:a16="http://schemas.microsoft.com/office/drawing/2014/main" id="{EC1119A4-881B-2817-A0B5-20EA6EF01B94}"/>
              </a:ext>
            </a:extLst>
          </p:cNvPr>
          <p:cNvSpPr txBox="1"/>
          <p:nvPr/>
        </p:nvSpPr>
        <p:spPr>
          <a:xfrm>
            <a:off x="8393827" y="5710256"/>
            <a:ext cx="1980029" cy="523220"/>
          </a:xfrm>
          <a:prstGeom prst="rect">
            <a:avLst/>
          </a:prstGeom>
          <a:ln w="38100">
            <a:solidFill>
              <a:schemeClr val="accent2"/>
            </a:solidFill>
          </a:ln>
        </p:spPr>
        <p:style>
          <a:lnRef idx="2">
            <a:schemeClr val="accent2"/>
          </a:lnRef>
          <a:fillRef idx="1">
            <a:schemeClr val="lt1"/>
          </a:fillRef>
          <a:effectRef idx="0">
            <a:schemeClr val="accent2"/>
          </a:effectRef>
          <a:fontRef idx="minor">
            <a:schemeClr val="dk1"/>
          </a:fontRef>
        </p:style>
        <p:txBody>
          <a:bodyPr wrap="none" rtlCol="0">
            <a:spAutoFit/>
          </a:bodyPr>
          <a:lstStyle/>
          <a:p>
            <a:r>
              <a:rPr kumimoji="1" lang="ja-JP" altLang="en-US" sz="2800"/>
              <a:t>選択しない</a:t>
            </a:r>
          </a:p>
        </p:txBody>
      </p:sp>
      <p:cxnSp>
        <p:nvCxnSpPr>
          <p:cNvPr id="22" name="直線コネクタ 21">
            <a:extLst>
              <a:ext uri="{FF2B5EF4-FFF2-40B4-BE49-F238E27FC236}">
                <a16:creationId xmlns:a16="http://schemas.microsoft.com/office/drawing/2014/main" id="{CB0271EA-88D9-74F3-0B63-1BEE50124961}"/>
              </a:ext>
            </a:extLst>
          </p:cNvPr>
          <p:cNvCxnSpPr>
            <a:cxnSpLocks/>
            <a:stCxn id="20" idx="0"/>
          </p:cNvCxnSpPr>
          <p:nvPr/>
        </p:nvCxnSpPr>
        <p:spPr>
          <a:xfrm flipH="1" flipV="1">
            <a:off x="6095999" y="4818259"/>
            <a:ext cx="1" cy="868503"/>
          </a:xfrm>
          <a:prstGeom prst="line">
            <a:avLst/>
          </a:prstGeom>
          <a:ln w="38100">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直線コネクタ 27">
            <a:extLst>
              <a:ext uri="{FF2B5EF4-FFF2-40B4-BE49-F238E27FC236}">
                <a16:creationId xmlns:a16="http://schemas.microsoft.com/office/drawing/2014/main" id="{5CABF7AF-4C97-A661-604A-6411CCF1DCCE}"/>
              </a:ext>
            </a:extLst>
          </p:cNvPr>
          <p:cNvCxnSpPr>
            <a:cxnSpLocks/>
            <a:stCxn id="20" idx="0"/>
          </p:cNvCxnSpPr>
          <p:nvPr/>
        </p:nvCxnSpPr>
        <p:spPr>
          <a:xfrm flipV="1">
            <a:off x="6096000" y="4818259"/>
            <a:ext cx="2183523" cy="868503"/>
          </a:xfrm>
          <a:prstGeom prst="line">
            <a:avLst/>
          </a:prstGeom>
          <a:ln w="38100">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a16:creationId xmlns:a16="http://schemas.microsoft.com/office/drawing/2014/main" id="{7CCB9D59-902C-904C-20C5-0E61C105B007}"/>
              </a:ext>
            </a:extLst>
          </p:cNvPr>
          <p:cNvCxnSpPr>
            <a:cxnSpLocks/>
            <a:stCxn id="21" idx="0"/>
          </p:cNvCxnSpPr>
          <p:nvPr/>
        </p:nvCxnSpPr>
        <p:spPr>
          <a:xfrm flipH="1" flipV="1">
            <a:off x="7215188" y="4812386"/>
            <a:ext cx="2168654" cy="897870"/>
          </a:xfrm>
          <a:prstGeom prst="line">
            <a:avLst/>
          </a:prstGeom>
          <a:ln w="381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a16:creationId xmlns:a16="http://schemas.microsoft.com/office/drawing/2014/main" id="{38C5C78B-FC03-2FC3-6C3E-A57B9517196E}"/>
              </a:ext>
            </a:extLst>
          </p:cNvPr>
          <p:cNvCxnSpPr>
            <a:cxnSpLocks/>
            <a:stCxn id="21" idx="0"/>
          </p:cNvCxnSpPr>
          <p:nvPr/>
        </p:nvCxnSpPr>
        <p:spPr>
          <a:xfrm flipV="1">
            <a:off x="9383842" y="4818259"/>
            <a:ext cx="0" cy="891997"/>
          </a:xfrm>
          <a:prstGeom prst="line">
            <a:avLst/>
          </a:prstGeom>
          <a:ln w="381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3" name="スライド番号プレースホルダー 2">
            <a:extLst>
              <a:ext uri="{FF2B5EF4-FFF2-40B4-BE49-F238E27FC236}">
                <a16:creationId xmlns:a16="http://schemas.microsoft.com/office/drawing/2014/main" id="{AA47A458-D7E6-AF80-0BED-284E31D70838}"/>
              </a:ext>
            </a:extLst>
          </p:cNvPr>
          <p:cNvSpPr>
            <a:spLocks noGrp="1"/>
          </p:cNvSpPr>
          <p:nvPr>
            <p:ph type="sldNum" sz="quarter" idx="12"/>
          </p:nvPr>
        </p:nvSpPr>
        <p:spPr/>
        <p:txBody>
          <a:bodyPr/>
          <a:lstStyle/>
          <a:p>
            <a:fld id="{21218AEF-8260-6F42-89D9-6D82E053F226}" type="slidenum">
              <a:rPr kumimoji="1" lang="ja-JP" altLang="en-US" smtClean="0"/>
              <a:t>9</a:t>
            </a:fld>
            <a:endParaRPr kumimoji="1" lang="ja-JP" altLang="en-US"/>
          </a:p>
        </p:txBody>
      </p:sp>
      <mc:AlternateContent xmlns:mc="http://schemas.openxmlformats.org/markup-compatibility/2006" xmlns:a14="http://schemas.microsoft.com/office/drawing/2010/main">
        <mc:Choice Requires="a14">
          <p:sp>
            <p:nvSpPr>
              <p:cNvPr id="7" name="テキスト ボックス 6">
                <a:extLst>
                  <a:ext uri="{FF2B5EF4-FFF2-40B4-BE49-F238E27FC236}">
                    <a16:creationId xmlns:a16="http://schemas.microsoft.com/office/drawing/2014/main" id="{45B827CA-1588-DA74-1BC4-5B5CABFF6478}"/>
                  </a:ext>
                </a:extLst>
              </p:cNvPr>
              <p:cNvSpPr txBox="1"/>
              <p:nvPr/>
            </p:nvSpPr>
            <p:spPr>
              <a:xfrm>
                <a:off x="193928" y="5336480"/>
                <a:ext cx="3893978" cy="1015663"/>
              </a:xfrm>
              <a:prstGeom prst="rect">
                <a:avLst/>
              </a:prstGeom>
              <a:noFill/>
            </p:spPr>
            <p:txBody>
              <a:bodyPr wrap="square">
                <a:spAutoFit/>
              </a:bodyPr>
              <a:lstStyle/>
              <a:p>
                <a:pPr marL="0" indent="0">
                  <a:buNone/>
                </a:pPr>
                <a14:m>
                  <m:oMath xmlns:m="http://schemas.openxmlformats.org/officeDocument/2006/math">
                    <m:r>
                      <a:rPr lang="ja-JP" altLang="en-US" sz="2000" b="1" i="1" smtClean="0">
                        <a:latin typeface="Cambria Math" panose="02040503050406030204" pitchFamily="18" charset="0"/>
                      </a:rPr>
                      <m:t>𝜶</m:t>
                    </m:r>
                    <m:r>
                      <a:rPr lang="en-US" altLang="ja-JP" sz="2000" b="0" i="0" smtClean="0">
                        <a:latin typeface="Cambria Math" panose="02040503050406030204" pitchFamily="18" charset="0"/>
                      </a:rPr>
                      <m:t> : </m:t>
                    </m:r>
                  </m:oMath>
                </a14:m>
                <a:r>
                  <a:rPr kumimoji="1" lang="ja-JP" altLang="en-US" sz="2000" dirty="0"/>
                  <a:t>結果モデルの回帰係数</a:t>
                </a:r>
                <a:r>
                  <a:rPr lang="en-US" altLang="ja-JP" sz="2000" dirty="0"/>
                  <a:t>	</a:t>
                </a:r>
              </a:p>
              <a:p>
                <a:pPr marL="0" indent="0">
                  <a:buNone/>
                </a:pPr>
                <a14:m>
                  <m:oMath xmlns:m="http://schemas.openxmlformats.org/officeDocument/2006/math">
                    <m:r>
                      <a:rPr lang="ja-JP" altLang="en-US" sz="2000" b="1" i="1" smtClean="0">
                        <a:latin typeface="Cambria Math" panose="02040503050406030204" pitchFamily="18" charset="0"/>
                      </a:rPr>
                      <m:t>𝜸</m:t>
                    </m:r>
                    <m:r>
                      <a:rPr lang="en-US" altLang="ja-JP" sz="2000" b="1" i="1" smtClean="0">
                        <a:latin typeface="Cambria Math" panose="02040503050406030204" pitchFamily="18" charset="0"/>
                      </a:rPr>
                      <m:t> : </m:t>
                    </m:r>
                  </m:oMath>
                </a14:m>
                <a:r>
                  <a:rPr kumimoji="1" lang="ja-JP" altLang="en-US" sz="2000" dirty="0"/>
                  <a:t>傾向スコアモデルの</a:t>
                </a:r>
                <a:r>
                  <a:rPr kumimoji="1" lang="ja-JP" altLang="en-US" sz="2000"/>
                  <a:t>回帰係数</a:t>
                </a:r>
                <a:endParaRPr kumimoji="1" lang="en-US" altLang="ja-JP" sz="2000" dirty="0"/>
              </a:p>
              <a:p>
                <a:pPr marL="0" indent="0">
                  <a:buNone/>
                </a:pPr>
                <a14:m>
                  <m:oMath xmlns:m="http://schemas.openxmlformats.org/officeDocument/2006/math">
                    <m:r>
                      <a:rPr lang="ja-JP" altLang="en-US" sz="2000" b="1" i="1" smtClean="0">
                        <a:latin typeface="Cambria Math" panose="02040503050406030204" pitchFamily="18" charset="0"/>
                      </a:rPr>
                      <m:t>𝜷</m:t>
                    </m:r>
                    <m:r>
                      <a:rPr lang="en-US" altLang="ja-JP" sz="2000" b="1" i="1" smtClean="0">
                        <a:latin typeface="Cambria Math" panose="02040503050406030204" pitchFamily="18" charset="0"/>
                      </a:rPr>
                      <m:t>=(</m:t>
                    </m:r>
                    <m:r>
                      <a:rPr lang="ja-JP" altLang="en-US" sz="2000" b="1" i="1" smtClean="0">
                        <a:latin typeface="Cambria Math" panose="02040503050406030204" pitchFamily="18" charset="0"/>
                      </a:rPr>
                      <m:t>𝜶</m:t>
                    </m:r>
                    <m:r>
                      <a:rPr lang="en-US" altLang="ja-JP" sz="2000" b="1" i="1" smtClean="0">
                        <a:latin typeface="Cambria Math" panose="02040503050406030204" pitchFamily="18" charset="0"/>
                      </a:rPr>
                      <m:t>,</m:t>
                    </m:r>
                    <m:r>
                      <a:rPr lang="ja-JP" altLang="en-US" sz="2000" b="1" i="1" smtClean="0">
                        <a:latin typeface="Cambria Math" panose="02040503050406030204" pitchFamily="18" charset="0"/>
                      </a:rPr>
                      <m:t>𝜸</m:t>
                    </m:r>
                    <m:r>
                      <a:rPr lang="en-US" altLang="ja-JP" sz="2000" b="1" i="1" smtClean="0">
                        <a:latin typeface="Cambria Math" panose="02040503050406030204" pitchFamily="18" charset="0"/>
                      </a:rPr>
                      <m:t>)</m:t>
                    </m:r>
                  </m:oMath>
                </a14:m>
                <a:r>
                  <a:rPr kumimoji="1" lang="ja-JP" altLang="en-US" sz="2000" dirty="0"/>
                  <a:t>　</a:t>
                </a:r>
                <a:endParaRPr kumimoji="1" lang="en-US" altLang="ja-JP" sz="2000" dirty="0"/>
              </a:p>
            </p:txBody>
          </p:sp>
        </mc:Choice>
        <mc:Fallback xmlns="">
          <p:sp>
            <p:nvSpPr>
              <p:cNvPr id="7" name="テキスト ボックス 6">
                <a:extLst>
                  <a:ext uri="{FF2B5EF4-FFF2-40B4-BE49-F238E27FC236}">
                    <a16:creationId xmlns:a16="http://schemas.microsoft.com/office/drawing/2014/main" id="{45B827CA-1588-DA74-1BC4-5B5CABFF6478}"/>
                  </a:ext>
                </a:extLst>
              </p:cNvPr>
              <p:cNvSpPr txBox="1">
                <a:spLocks noRot="1" noChangeAspect="1" noMove="1" noResize="1" noEditPoints="1" noAdjustHandles="1" noChangeArrowheads="1" noChangeShapeType="1" noTextEdit="1"/>
              </p:cNvSpPr>
              <p:nvPr/>
            </p:nvSpPr>
            <p:spPr>
              <a:xfrm>
                <a:off x="193928" y="5336480"/>
                <a:ext cx="3893978" cy="1015663"/>
              </a:xfrm>
              <a:prstGeom prst="rect">
                <a:avLst/>
              </a:prstGeom>
              <a:blipFill>
                <a:blip r:embed="rId5"/>
                <a:stretch>
                  <a:fillRect l="-649" t="-2469" b="-4938"/>
                </a:stretch>
              </a:blipFill>
            </p:spPr>
            <p:txBody>
              <a:bodyPr/>
              <a:lstStyle/>
              <a:p>
                <a:r>
                  <a:rPr lang="ja-JP" altLang="en-US">
                    <a:noFill/>
                  </a:rPr>
                  <a:t> </a:t>
                </a:r>
              </a:p>
            </p:txBody>
          </p:sp>
        </mc:Fallback>
      </mc:AlternateContent>
      <p:sp>
        <p:nvSpPr>
          <p:cNvPr id="8" name="大かっこ 7">
            <a:extLst>
              <a:ext uri="{FF2B5EF4-FFF2-40B4-BE49-F238E27FC236}">
                <a16:creationId xmlns:a16="http://schemas.microsoft.com/office/drawing/2014/main" id="{EFE49288-B58D-0525-3B98-54AAC10AC152}"/>
              </a:ext>
            </a:extLst>
          </p:cNvPr>
          <p:cNvSpPr/>
          <p:nvPr/>
        </p:nvSpPr>
        <p:spPr>
          <a:xfrm>
            <a:off x="128772" y="5397501"/>
            <a:ext cx="3959134" cy="954642"/>
          </a:xfrm>
          <a:prstGeom prst="bracketPair">
            <a:avLst/>
          </a:prstGeom>
          <a:noFill/>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9" name="スライド番号プレースホルダー 2">
            <a:extLst>
              <a:ext uri="{FF2B5EF4-FFF2-40B4-BE49-F238E27FC236}">
                <a16:creationId xmlns:a16="http://schemas.microsoft.com/office/drawing/2014/main" id="{436B3E27-8DE3-4EE2-0C24-29AED1059A31}"/>
              </a:ext>
            </a:extLst>
          </p:cNvPr>
          <p:cNvSpPr txBox="1">
            <a:spLocks/>
          </p:cNvSpPr>
          <p:nvPr/>
        </p:nvSpPr>
        <p:spPr>
          <a:xfrm>
            <a:off x="3688151" y="6279397"/>
            <a:ext cx="27432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tint val="75000"/>
                  </a:schemeClr>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endParaRPr lang="ja-JP" altLang="en-US"/>
          </a:p>
        </p:txBody>
      </p:sp>
    </p:spTree>
    <p:extLst>
      <p:ext uri="{BB962C8B-B14F-4D97-AF65-F5344CB8AC3E}">
        <p14:creationId xmlns:p14="http://schemas.microsoft.com/office/powerpoint/2010/main" val="962375669"/>
      </p:ext>
    </p:extLst>
  </p:cSld>
  <p:clrMapOvr>
    <a:masterClrMapping/>
  </p:clrMapOvr>
  <mc:AlternateContent xmlns:mc="http://schemas.openxmlformats.org/markup-compatibility/2006">
    <mc:Choice xmlns:p14="http://schemas.microsoft.com/office/powerpoint/2010/main" Requires="p14">
      <p:transition spd="slow" p14:dur="2000" advTm="38970"/>
    </mc:Choice>
    <mc:Fallback>
      <p:transition spd="slow" advTm="38970"/>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タイトル 1">
                <a:extLst>
                  <a:ext uri="{FF2B5EF4-FFF2-40B4-BE49-F238E27FC236}">
                    <a16:creationId xmlns:a16="http://schemas.microsoft.com/office/drawing/2014/main" id="{69BD2A21-20C3-41FD-B1C9-3FBDC4C1DA67}"/>
                  </a:ext>
                </a:extLst>
              </p:cNvPr>
              <p:cNvSpPr>
                <a:spLocks noGrp="1"/>
              </p:cNvSpPr>
              <p:nvPr>
                <p:ph type="title"/>
              </p:nvPr>
            </p:nvSpPr>
            <p:spPr>
              <a:xfrm>
                <a:off x="527995" y="48427"/>
                <a:ext cx="10515600" cy="1325563"/>
              </a:xfrm>
            </p:spPr>
            <p:txBody>
              <a:bodyPr/>
              <a:lstStyle/>
              <a:p>
                <a:r>
                  <a:rPr kumimoji="1" lang="ja-JP" altLang="en-US"/>
                  <a:t>重み</a:t>
                </a:r>
                <a:r>
                  <a:rPr kumimoji="1" lang="en-US" altLang="ja-JP" dirty="0"/>
                  <a:t> </a:t>
                </a:r>
                <a14:m>
                  <m:oMath xmlns:m="http://schemas.openxmlformats.org/officeDocument/2006/math">
                    <m:sSub>
                      <m:sSubPr>
                        <m:ctrlPr>
                          <a:rPr lang="en-US" altLang="ja-JP" sz="4400" i="1" smtClean="0">
                            <a:latin typeface="Cambria Math" panose="02040503050406030204" pitchFamily="18" charset="0"/>
                          </a:rPr>
                        </m:ctrlPr>
                      </m:sSubPr>
                      <m:e>
                        <m:r>
                          <a:rPr lang="en-US" altLang="ja-JP" sz="4400" b="0" i="1" smtClean="0">
                            <a:latin typeface="Cambria Math" panose="02040503050406030204" pitchFamily="18" charset="0"/>
                          </a:rPr>
                          <m:t>𝑊</m:t>
                        </m:r>
                      </m:e>
                      <m:sub>
                        <m:r>
                          <a:rPr lang="en-US" altLang="ja-JP" sz="4400" b="0" i="1" smtClean="0">
                            <a:latin typeface="Cambria Math" panose="02040503050406030204" pitchFamily="18" charset="0"/>
                          </a:rPr>
                          <m:t>𝑘</m:t>
                        </m:r>
                      </m:sub>
                    </m:sSub>
                  </m:oMath>
                </a14:m>
                <a:r>
                  <a:rPr kumimoji="1" lang="en-US" altLang="ja-JP" dirty="0"/>
                  <a:t> </a:t>
                </a:r>
                <a:r>
                  <a:rPr kumimoji="1" lang="ja-JP" altLang="en-US"/>
                  <a:t>の決定方法</a:t>
                </a:r>
                <a:endParaRPr kumimoji="1" lang="ja-JP" altLang="en-US" dirty="0"/>
              </a:p>
            </p:txBody>
          </p:sp>
        </mc:Choice>
        <mc:Fallback xmlns="">
          <p:sp>
            <p:nvSpPr>
              <p:cNvPr id="2" name="タイトル 1">
                <a:extLst>
                  <a:ext uri="{FF2B5EF4-FFF2-40B4-BE49-F238E27FC236}">
                    <a16:creationId xmlns:a16="http://schemas.microsoft.com/office/drawing/2014/main" id="{69BD2A21-20C3-41FD-B1C9-3FBDC4C1DA67}"/>
                  </a:ext>
                </a:extLst>
              </p:cNvPr>
              <p:cNvSpPr>
                <a:spLocks noGrp="1" noRot="1" noChangeAspect="1" noMove="1" noResize="1" noEditPoints="1" noAdjustHandles="1" noChangeArrowheads="1" noChangeShapeType="1" noTextEdit="1"/>
              </p:cNvSpPr>
              <p:nvPr>
                <p:ph type="title"/>
              </p:nvPr>
            </p:nvSpPr>
            <p:spPr>
              <a:xfrm>
                <a:off x="527995" y="48427"/>
                <a:ext cx="10515600" cy="1325563"/>
              </a:xfrm>
              <a:blipFill>
                <a:blip r:embed="rId3"/>
                <a:stretch>
                  <a:fillRect l="-2292"/>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4" name="正方形/長方形 3">
                <a:extLst>
                  <a:ext uri="{FF2B5EF4-FFF2-40B4-BE49-F238E27FC236}">
                    <a16:creationId xmlns:a16="http://schemas.microsoft.com/office/drawing/2014/main" id="{85F035AE-426F-43C6-8D57-99BA95B31D87}"/>
                  </a:ext>
                </a:extLst>
              </p:cNvPr>
              <p:cNvSpPr/>
              <p:nvPr/>
            </p:nvSpPr>
            <p:spPr>
              <a:xfrm>
                <a:off x="7418798" y="5514943"/>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lang="en-US" altLang="ja-JP" sz="2800" b="1" i="1" smtClean="0">
                        <a:latin typeface="Cambria Math" panose="02040503050406030204" pitchFamily="18" charset="0"/>
                      </a:rPr>
                      <m:t>𝒀</m:t>
                    </m:r>
                  </m:oMath>
                </a14:m>
                <a:endParaRPr lang="en-US" altLang="ja-JP" sz="2800"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4" name="正方形/長方形 3">
                <a:extLst>
                  <a:ext uri="{FF2B5EF4-FFF2-40B4-BE49-F238E27FC236}">
                    <a16:creationId xmlns:a16="http://schemas.microsoft.com/office/drawing/2014/main" id="{85F035AE-426F-43C6-8D57-99BA95B31D87}"/>
                  </a:ext>
                </a:extLst>
              </p:cNvPr>
              <p:cNvSpPr>
                <a:spLocks noRot="1" noChangeAspect="1" noMove="1" noResize="1" noEditPoints="1" noAdjustHandles="1" noChangeArrowheads="1" noChangeShapeType="1" noTextEdit="1"/>
              </p:cNvSpPr>
              <p:nvPr/>
            </p:nvSpPr>
            <p:spPr>
              <a:xfrm>
                <a:off x="7418798" y="5514943"/>
                <a:ext cx="2875280" cy="1187213"/>
              </a:xfrm>
              <a:prstGeom prst="rect">
                <a:avLst/>
              </a:prstGeom>
              <a:blipFill>
                <a:blip r:embed="rId4"/>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正方形/長方形 4">
                <a:extLst>
                  <a:ext uri="{FF2B5EF4-FFF2-40B4-BE49-F238E27FC236}">
                    <a16:creationId xmlns:a16="http://schemas.microsoft.com/office/drawing/2014/main" id="{38BDF32F-22F3-4D10-A2BF-3BD807CE76D6}"/>
                  </a:ext>
                </a:extLst>
              </p:cNvPr>
              <p:cNvSpPr/>
              <p:nvPr/>
            </p:nvSpPr>
            <p:spPr>
              <a:xfrm>
                <a:off x="1945735" y="5514944"/>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a:t>
                </a:r>
                <a:r>
                  <a:rPr lang="ja-JP" altLang="en-US" sz="2800" dirty="0"/>
                  <a:t>変数</a:t>
                </a:r>
                <a14:m>
                  <m:oMath xmlns:m="http://schemas.openxmlformats.org/officeDocument/2006/math">
                    <m:r>
                      <a:rPr lang="en-US" altLang="ja-JP" sz="2800" b="1" i="1" smtClean="0">
                        <a:latin typeface="Cambria Math" panose="02040503050406030204" pitchFamily="18" charset="0"/>
                      </a:rPr>
                      <m:t>𝑿</m:t>
                    </m:r>
                  </m:oMath>
                </a14:m>
                <a:endParaRPr kumimoji="1" lang="en-US" altLang="ja-JP" sz="2800" dirty="0"/>
              </a:p>
              <a:p>
                <a:pPr algn="ctr"/>
                <a:r>
                  <a:rPr lang="ja-JP" altLang="en-US" sz="2800" dirty="0"/>
                  <a:t>（原因）</a:t>
                </a:r>
                <a:endParaRPr kumimoji="1" lang="ja-JP" altLang="en-US" sz="2800" dirty="0"/>
              </a:p>
            </p:txBody>
          </p:sp>
        </mc:Choice>
        <mc:Fallback>
          <p:sp>
            <p:nvSpPr>
              <p:cNvPr id="5" name="正方形/長方形 4">
                <a:extLst>
                  <a:ext uri="{FF2B5EF4-FFF2-40B4-BE49-F238E27FC236}">
                    <a16:creationId xmlns:a16="http://schemas.microsoft.com/office/drawing/2014/main" id="{38BDF32F-22F3-4D10-A2BF-3BD807CE76D6}"/>
                  </a:ext>
                </a:extLst>
              </p:cNvPr>
              <p:cNvSpPr>
                <a:spLocks noRot="1" noChangeAspect="1" noMove="1" noResize="1" noEditPoints="1" noAdjustHandles="1" noChangeArrowheads="1" noChangeShapeType="1" noTextEdit="1"/>
              </p:cNvSpPr>
              <p:nvPr/>
            </p:nvSpPr>
            <p:spPr>
              <a:xfrm>
                <a:off x="1945735" y="5514944"/>
                <a:ext cx="2875280" cy="1187212"/>
              </a:xfrm>
              <a:prstGeom prst="rect">
                <a:avLst/>
              </a:prstGeom>
              <a:blipFill>
                <a:blip r:embed="rId5"/>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6" name="正方形/長方形 5">
                <a:extLst>
                  <a:ext uri="{FF2B5EF4-FFF2-40B4-BE49-F238E27FC236}">
                    <a16:creationId xmlns:a16="http://schemas.microsoft.com/office/drawing/2014/main" id="{26E43D76-2135-4BA3-9475-633E0885827D}"/>
                  </a:ext>
                </a:extLst>
              </p:cNvPr>
              <p:cNvSpPr/>
              <p:nvPr/>
            </p:nvSpPr>
            <p:spPr>
              <a:xfrm>
                <a:off x="3929577" y="4055121"/>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dirty="0"/>
                  <a:t>共変量</a:t>
                </a:r>
                <a:endParaRPr lang="en-US" altLang="ja-JP" sz="2800" dirty="0"/>
              </a:p>
              <a:p>
                <a:pPr algn="ctr"/>
                <a14:m>
                  <m:oMathPara xmlns:m="http://schemas.openxmlformats.org/officeDocument/2006/math">
                    <m:oMathParaPr>
                      <m:jc m:val="centerGroup"/>
                    </m:oMathParaPr>
                    <m:oMath xmlns:m="http://schemas.openxmlformats.org/officeDocument/2006/math">
                      <m:r>
                        <a:rPr lang="en-US" altLang="ja-JP" sz="2800" b="1" i="1" smtClean="0">
                          <a:latin typeface="Cambria Math" panose="02040503050406030204" pitchFamily="18" charset="0"/>
                        </a:rPr>
                        <m:t>𝑪</m:t>
                      </m:r>
                      <m:r>
                        <a:rPr lang="en-US" altLang="ja-JP" sz="2800" b="1" i="1" smtClean="0">
                          <a:latin typeface="Cambria Math" panose="02040503050406030204" pitchFamily="18" charset="0"/>
                        </a:rPr>
                        <m:t>=</m:t>
                      </m:r>
                      <m:d>
                        <m:dPr>
                          <m:ctrlPr>
                            <a:rPr lang="en-US" altLang="ja-JP" sz="2800" i="1" smtClean="0">
                              <a:latin typeface="Cambria Math" panose="02040503050406030204" pitchFamily="18" charset="0"/>
                            </a:rPr>
                          </m:ctrlPr>
                        </m:dPr>
                        <m:e>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1</m:t>
                              </m:r>
                            </m:sub>
                          </m:sSub>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2</m:t>
                              </m:r>
                            </m:sub>
                          </m:sSub>
                          <m:r>
                            <a:rPr lang="en-US" altLang="ja-JP" sz="2800" b="0" i="1" smtClean="0">
                              <a:latin typeface="Cambria Math" panose="02040503050406030204" pitchFamily="18" charset="0"/>
                            </a:rPr>
                            <m:t>,</m:t>
                          </m:r>
                          <m:r>
                            <a:rPr lang="en-US" altLang="ja-JP" sz="2800" b="0" i="1">
                              <a:latin typeface="Cambria Math" panose="02040503050406030204" pitchFamily="18" charset="0"/>
                              <a:ea typeface="Cambria Math" panose="02040503050406030204" pitchFamily="18" charset="0"/>
                            </a:rPr>
                            <m:t>⋯</m:t>
                          </m:r>
                          <m:r>
                            <a:rPr lang="en-US" altLang="ja-JP" sz="2800" b="0" i="1" smtClean="0">
                              <a:latin typeface="Cambria Math" panose="02040503050406030204" pitchFamily="18" charset="0"/>
                            </a:rPr>
                            <m:t>,</m:t>
                          </m:r>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rPr>
                                <m:t>𝑝</m:t>
                              </m:r>
                            </m:sub>
                          </m:sSub>
                        </m:e>
                      </m:d>
                    </m:oMath>
                  </m:oMathPara>
                </a14:m>
                <a:endParaRPr kumimoji="1" lang="ja-JP" altLang="en-US" sz="2800" dirty="0"/>
              </a:p>
            </p:txBody>
          </p:sp>
        </mc:Choice>
        <mc:Fallback>
          <p:sp>
            <p:nvSpPr>
              <p:cNvPr id="6" name="正方形/長方形 5">
                <a:extLst>
                  <a:ext uri="{FF2B5EF4-FFF2-40B4-BE49-F238E27FC236}">
                    <a16:creationId xmlns:a16="http://schemas.microsoft.com/office/drawing/2014/main" id="{26E43D76-2135-4BA3-9475-633E0885827D}"/>
                  </a:ext>
                </a:extLst>
              </p:cNvPr>
              <p:cNvSpPr>
                <a:spLocks noRot="1" noChangeAspect="1" noMove="1" noResize="1" noEditPoints="1" noAdjustHandles="1" noChangeArrowheads="1" noChangeShapeType="1" noTextEdit="1"/>
              </p:cNvSpPr>
              <p:nvPr/>
            </p:nvSpPr>
            <p:spPr>
              <a:xfrm>
                <a:off x="3929577" y="4055121"/>
                <a:ext cx="4372609" cy="1042352"/>
              </a:xfrm>
              <a:prstGeom prst="rect">
                <a:avLst/>
              </a:prstGeom>
              <a:blipFill>
                <a:blip r:embed="rId6"/>
                <a:stretch>
                  <a:fillRect t="-3529" b="-2353"/>
                </a:stretch>
              </a:blipFill>
              <a:ln w="19050">
                <a:solidFill>
                  <a:schemeClr val="accent1"/>
                </a:solidFill>
              </a:ln>
            </p:spPr>
            <p:txBody>
              <a:bodyPr/>
              <a:lstStyle/>
              <a:p>
                <a:r>
                  <a:rPr lang="ja-JP" altLang="en-US">
                    <a:noFill/>
                  </a:rPr>
                  <a:t> </a:t>
                </a:r>
              </a:p>
            </p:txBody>
          </p:sp>
        </mc:Fallback>
      </mc:AlternateContent>
      <p:cxnSp>
        <p:nvCxnSpPr>
          <p:cNvPr id="8" name="直線矢印コネクタ 7">
            <a:extLst>
              <a:ext uri="{FF2B5EF4-FFF2-40B4-BE49-F238E27FC236}">
                <a16:creationId xmlns:a16="http://schemas.microsoft.com/office/drawing/2014/main" id="{26BD9ABE-5DF9-4B9E-9697-56CC2D18EAA5}"/>
              </a:ext>
            </a:extLst>
          </p:cNvPr>
          <p:cNvCxnSpPr>
            <a:cxnSpLocks/>
            <a:stCxn id="5" idx="3"/>
            <a:endCxn id="4" idx="1"/>
          </p:cNvCxnSpPr>
          <p:nvPr/>
        </p:nvCxnSpPr>
        <p:spPr>
          <a:xfrm>
            <a:off x="4821015" y="6108550"/>
            <a:ext cx="2597783" cy="0"/>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直線矢印コネクタ 14">
            <a:extLst>
              <a:ext uri="{FF2B5EF4-FFF2-40B4-BE49-F238E27FC236}">
                <a16:creationId xmlns:a16="http://schemas.microsoft.com/office/drawing/2014/main" id="{AFCF2F68-AFA4-44E2-96EF-4C4B97260283}"/>
              </a:ext>
            </a:extLst>
          </p:cNvPr>
          <p:cNvCxnSpPr>
            <a:cxnSpLocks/>
          </p:cNvCxnSpPr>
          <p:nvPr/>
        </p:nvCxnSpPr>
        <p:spPr>
          <a:xfrm>
            <a:off x="8302186" y="4714613"/>
            <a:ext cx="699201" cy="79740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直線矢印コネクタ 17">
            <a:extLst>
              <a:ext uri="{FF2B5EF4-FFF2-40B4-BE49-F238E27FC236}">
                <a16:creationId xmlns:a16="http://schemas.microsoft.com/office/drawing/2014/main" id="{36E40348-0F75-46A9-A482-A99B952AA93F}"/>
              </a:ext>
            </a:extLst>
          </p:cNvPr>
          <p:cNvCxnSpPr>
            <a:cxnSpLocks/>
            <a:endCxn id="5" idx="0"/>
          </p:cNvCxnSpPr>
          <p:nvPr/>
        </p:nvCxnSpPr>
        <p:spPr>
          <a:xfrm flipH="1">
            <a:off x="3383375" y="4714613"/>
            <a:ext cx="546202" cy="800331"/>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9" name="テキスト ボックス 18">
            <a:extLst>
              <a:ext uri="{FF2B5EF4-FFF2-40B4-BE49-F238E27FC236}">
                <a16:creationId xmlns:a16="http://schemas.microsoft.com/office/drawing/2014/main" id="{2CEA7783-49A3-46C8-B574-55ACA18523A1}"/>
              </a:ext>
            </a:extLst>
          </p:cNvPr>
          <p:cNvSpPr txBox="1"/>
          <p:nvPr/>
        </p:nvSpPr>
        <p:spPr>
          <a:xfrm>
            <a:off x="5366479" y="5397323"/>
            <a:ext cx="1910080" cy="523220"/>
          </a:xfrm>
          <a:prstGeom prst="rect">
            <a:avLst/>
          </a:prstGeom>
          <a:noFill/>
        </p:spPr>
        <p:txBody>
          <a:bodyPr wrap="square" rtlCol="0">
            <a:spAutoFit/>
          </a:bodyPr>
          <a:lstStyle/>
          <a:p>
            <a:r>
              <a:rPr kumimoji="1" lang="ja-JP" altLang="en-US" sz="2800" dirty="0">
                <a:solidFill>
                  <a:srgbClr val="FF0000"/>
                </a:solidFill>
              </a:rPr>
              <a:t>因果効果</a:t>
            </a:r>
          </a:p>
        </p:txBody>
      </p:sp>
      <mc:AlternateContent xmlns:mc="http://schemas.openxmlformats.org/markup-compatibility/2006" xmlns:a14="http://schemas.microsoft.com/office/drawing/2010/main">
        <mc:Choice Requires="a14">
          <p:sp>
            <p:nvSpPr>
              <p:cNvPr id="16" name="テキスト ボックス 15">
                <a:extLst>
                  <a:ext uri="{FF2B5EF4-FFF2-40B4-BE49-F238E27FC236}">
                    <a16:creationId xmlns:a16="http://schemas.microsoft.com/office/drawing/2014/main" id="{E8D1BC0F-7AC3-484A-9F9B-B4CD9F262AC0}"/>
                  </a:ext>
                </a:extLst>
              </p:cNvPr>
              <p:cNvSpPr txBox="1"/>
              <p:nvPr/>
            </p:nvSpPr>
            <p:spPr>
              <a:xfrm>
                <a:off x="3063419" y="1249227"/>
                <a:ext cx="5793019" cy="1353191"/>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kumimoji="1" lang="en-US" altLang="ja-JP" sz="3600" b="0" i="1" smtClean="0">
                              <a:latin typeface="Cambria Math" panose="02040503050406030204" pitchFamily="18" charset="0"/>
                            </a:rPr>
                          </m:ctrlPr>
                        </m:sSubPr>
                        <m:e>
                          <m:r>
                            <a:rPr kumimoji="1" lang="en-US" altLang="ja-JP" sz="3600" b="0" i="1" smtClean="0">
                              <a:latin typeface="Cambria Math" panose="02040503050406030204" pitchFamily="18" charset="0"/>
                            </a:rPr>
                            <m:t>𝑊</m:t>
                          </m:r>
                        </m:e>
                        <m:sub>
                          <m:r>
                            <a:rPr kumimoji="1" lang="en-US" altLang="ja-JP" sz="3600" b="0" i="1" smtClean="0">
                              <a:latin typeface="Cambria Math" panose="02040503050406030204" pitchFamily="18" charset="0"/>
                            </a:rPr>
                            <m:t>𝑘</m:t>
                          </m:r>
                        </m:sub>
                      </m:sSub>
                      <m:r>
                        <a:rPr kumimoji="1" lang="en-US" altLang="ja-JP" sz="3600" b="0" i="1" smtClean="0">
                          <a:latin typeface="Cambria Math" panose="02040503050406030204" pitchFamily="18" charset="0"/>
                        </a:rPr>
                        <m:t>=</m:t>
                      </m:r>
                      <m:f>
                        <m:fPr>
                          <m:ctrlPr>
                            <a:rPr kumimoji="1" lang="en-US" altLang="ja-JP" sz="3600" b="0" i="1" smtClean="0">
                              <a:latin typeface="Cambria Math" panose="02040503050406030204" pitchFamily="18" charset="0"/>
                            </a:rPr>
                          </m:ctrlPr>
                        </m:fPr>
                        <m:num>
                          <m:rad>
                            <m:radPr>
                              <m:degHide m:val="on"/>
                              <m:ctrlPr>
                                <a:rPr kumimoji="1" lang="en-US" altLang="ja-JP" sz="3600" b="0" i="1" smtClean="0">
                                  <a:latin typeface="Cambria Math" panose="02040503050406030204" pitchFamily="18" charset="0"/>
                                </a:rPr>
                              </m:ctrlPr>
                            </m:radPr>
                            <m:deg/>
                            <m:e>
                              <m:r>
                                <a:rPr kumimoji="1" lang="en-US" altLang="ja-JP" sz="3600" b="0" i="1" smtClean="0">
                                  <a:latin typeface="Cambria Math" panose="02040503050406030204" pitchFamily="18" charset="0"/>
                                </a:rPr>
                                <m:t>2</m:t>
                              </m:r>
                            </m:e>
                          </m:rad>
                        </m:num>
                        <m:den>
                          <m:r>
                            <a:rPr kumimoji="1" lang="en-US" altLang="ja-JP" sz="3600" b="0" i="1" smtClean="0">
                              <a:latin typeface="Cambria Math" panose="02040503050406030204" pitchFamily="18" charset="0"/>
                            </a:rPr>
                            <m:t>|</m:t>
                          </m:r>
                          <m:sSub>
                            <m:sSubPr>
                              <m:ctrlPr>
                                <a:rPr kumimoji="1" lang="en-US" altLang="ja-JP" sz="3600" b="0" i="1" smtClean="0">
                                  <a:latin typeface="Cambria Math" panose="02040503050406030204" pitchFamily="18" charset="0"/>
                                </a:rPr>
                              </m:ctrlPr>
                            </m:sSubPr>
                            <m:e>
                              <m:r>
                                <a:rPr kumimoji="1" lang="en-US" altLang="ja-JP" sz="3600" b="0" i="1" smtClean="0">
                                  <a:latin typeface="Cambria Math" panose="02040503050406030204" pitchFamily="18" charset="0"/>
                                </a:rPr>
                                <m:t>𝑣</m:t>
                              </m:r>
                            </m:e>
                            <m:sub>
                              <m:r>
                                <a:rPr kumimoji="1" lang="en-US" altLang="ja-JP" sz="3600" b="0" i="1" smtClean="0">
                                  <a:latin typeface="Cambria Math" panose="02040503050406030204" pitchFamily="18" charset="0"/>
                                </a:rPr>
                                <m:t>𝑘</m:t>
                              </m:r>
                            </m:sub>
                          </m:sSub>
                          <m:r>
                            <a:rPr kumimoji="1" lang="en-US" altLang="ja-JP" sz="3600" b="0" i="1" smtClean="0">
                              <a:latin typeface="Cambria Math" panose="02040503050406030204" pitchFamily="18" charset="0"/>
                            </a:rPr>
                            <m:t>|</m:t>
                          </m:r>
                        </m:den>
                      </m:f>
                    </m:oMath>
                  </m:oMathPara>
                </a14:m>
                <a:endParaRPr kumimoji="1" lang="en-US" altLang="ja-JP" sz="3600" i="1" dirty="0">
                  <a:latin typeface="Cambria Math" panose="02040503050406030204" pitchFamily="18" charset="0"/>
                </a:endParaRPr>
              </a:p>
            </p:txBody>
          </p:sp>
        </mc:Choice>
        <mc:Fallback xmlns="">
          <p:sp>
            <p:nvSpPr>
              <p:cNvPr id="16" name="テキスト ボックス 15">
                <a:extLst>
                  <a:ext uri="{FF2B5EF4-FFF2-40B4-BE49-F238E27FC236}">
                    <a16:creationId xmlns:a16="http://schemas.microsoft.com/office/drawing/2014/main" id="{E8D1BC0F-7AC3-484A-9F9B-B4CD9F262AC0}"/>
                  </a:ext>
                </a:extLst>
              </p:cNvPr>
              <p:cNvSpPr txBox="1">
                <a:spLocks noRot="1" noChangeAspect="1" noMove="1" noResize="1" noEditPoints="1" noAdjustHandles="1" noChangeArrowheads="1" noChangeShapeType="1" noTextEdit="1"/>
              </p:cNvSpPr>
              <p:nvPr/>
            </p:nvSpPr>
            <p:spPr>
              <a:xfrm>
                <a:off x="3063419" y="1249227"/>
                <a:ext cx="5793019" cy="1353191"/>
              </a:xfrm>
              <a:prstGeom prst="rect">
                <a:avLst/>
              </a:prstGeom>
              <a:blipFill>
                <a:blip r:embed="rId7"/>
                <a:stretch>
                  <a:fillRect b="-11215"/>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sp>
            <p:nvSpPr>
              <p:cNvPr id="10" name="テキスト ボックス 9">
                <a:extLst>
                  <a:ext uri="{FF2B5EF4-FFF2-40B4-BE49-F238E27FC236}">
                    <a16:creationId xmlns:a16="http://schemas.microsoft.com/office/drawing/2014/main" id="{B8ACFDAA-1085-7DC1-665C-C2EE72719D06}"/>
                  </a:ext>
                </a:extLst>
              </p:cNvPr>
              <p:cNvSpPr txBox="1"/>
              <p:nvPr/>
            </p:nvSpPr>
            <p:spPr>
              <a:xfrm>
                <a:off x="3502484" y="2880318"/>
                <a:ext cx="5793019" cy="523220"/>
              </a:xfrm>
              <a:prstGeom prst="rect">
                <a:avLst/>
              </a:prstGeom>
              <a:noFill/>
            </p:spPr>
            <p:txBody>
              <a:bodyPr wrap="square" rtlCol="0">
                <a:spAutoFit/>
              </a:bodyPr>
              <a:lstStyle/>
              <a:p>
                <a14:m>
                  <m:oMath xmlns:m="http://schemas.openxmlformats.org/officeDocument/2006/math">
                    <m:sSub>
                      <m:sSubPr>
                        <m:ctrlPr>
                          <a:rPr kumimoji="1" lang="en-US" altLang="ja-JP" sz="2800" i="1" smtClean="0">
                            <a:latin typeface="Cambria Math" panose="02040503050406030204" pitchFamily="18" charset="0"/>
                          </a:rPr>
                        </m:ctrlPr>
                      </m:sSubPr>
                      <m:e>
                        <m:r>
                          <a:rPr kumimoji="1" lang="en-US" altLang="ja-JP" sz="2800" b="0" i="1" smtClean="0">
                            <a:latin typeface="Cambria Math" panose="02040503050406030204" pitchFamily="18" charset="0"/>
                          </a:rPr>
                          <m:t>𝑣</m:t>
                        </m:r>
                      </m:e>
                      <m:sub>
                        <m:r>
                          <a:rPr kumimoji="1" lang="en-US" altLang="ja-JP" sz="2800" b="0" i="1" smtClean="0">
                            <a:latin typeface="Cambria Math" panose="02040503050406030204" pitchFamily="18" charset="0"/>
                          </a:rPr>
                          <m:t>𝑘</m:t>
                        </m:r>
                      </m:sub>
                    </m:sSub>
                  </m:oMath>
                </a14:m>
                <a:r>
                  <a:rPr kumimoji="1" lang="ja-JP" altLang="en-US" sz="2800"/>
                  <a:t>：</a:t>
                </a:r>
                <a:r>
                  <a:rPr kumimoji="1" lang="ja-JP" altLang="en-US" sz="2800">
                    <a:solidFill>
                      <a:schemeClr val="accent1"/>
                    </a:solidFill>
                  </a:rPr>
                  <a:t>結果モデル</a:t>
                </a:r>
                <a:r>
                  <a:rPr kumimoji="1" lang="ja-JP" altLang="en-US" sz="2800"/>
                  <a:t>のリッジ推定値</a:t>
                </a:r>
                <a:endParaRPr kumimoji="1" lang="en-US" altLang="ja-JP" sz="2800" dirty="0"/>
              </a:p>
            </p:txBody>
          </p:sp>
        </mc:Choice>
        <mc:Fallback xmlns="">
          <p:sp>
            <p:nvSpPr>
              <p:cNvPr id="10" name="テキスト ボックス 9">
                <a:extLst>
                  <a:ext uri="{FF2B5EF4-FFF2-40B4-BE49-F238E27FC236}">
                    <a16:creationId xmlns:a16="http://schemas.microsoft.com/office/drawing/2014/main" id="{B8ACFDAA-1085-7DC1-665C-C2EE72719D06}"/>
                  </a:ext>
                </a:extLst>
              </p:cNvPr>
              <p:cNvSpPr txBox="1">
                <a:spLocks noRot="1" noChangeAspect="1" noMove="1" noResize="1" noEditPoints="1" noAdjustHandles="1" noChangeArrowheads="1" noChangeShapeType="1" noTextEdit="1"/>
              </p:cNvSpPr>
              <p:nvPr/>
            </p:nvSpPr>
            <p:spPr>
              <a:xfrm>
                <a:off x="3502484" y="2880318"/>
                <a:ext cx="5793019" cy="523220"/>
              </a:xfrm>
              <a:prstGeom prst="rect">
                <a:avLst/>
              </a:prstGeom>
              <a:blipFill>
                <a:blip r:embed="rId8"/>
                <a:stretch>
                  <a:fillRect t="-11905" b="-33333"/>
                </a:stretch>
              </a:blipFill>
            </p:spPr>
            <p:txBody>
              <a:bodyPr/>
              <a:lstStyle/>
              <a:p>
                <a:r>
                  <a:rPr lang="ja-JP" altLang="en-US">
                    <a:noFill/>
                  </a:rPr>
                  <a:t> </a:t>
                </a:r>
              </a:p>
            </p:txBody>
          </p:sp>
        </mc:Fallback>
      </mc:AlternateContent>
      <p:sp>
        <p:nvSpPr>
          <p:cNvPr id="13" name="大かっこ 12">
            <a:extLst>
              <a:ext uri="{FF2B5EF4-FFF2-40B4-BE49-F238E27FC236}">
                <a16:creationId xmlns:a16="http://schemas.microsoft.com/office/drawing/2014/main" id="{24976F2B-3331-4ADE-B012-A31BF84BB5E6}"/>
              </a:ext>
            </a:extLst>
          </p:cNvPr>
          <p:cNvSpPr/>
          <p:nvPr/>
        </p:nvSpPr>
        <p:spPr>
          <a:xfrm>
            <a:off x="3383375" y="2773426"/>
            <a:ext cx="5485451" cy="771709"/>
          </a:xfrm>
          <a:prstGeom prst="bracketPair">
            <a:avLst/>
          </a:prstGeom>
          <a:noFill/>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14" name="正方形/長方形 13">
            <a:extLst>
              <a:ext uri="{FF2B5EF4-FFF2-40B4-BE49-F238E27FC236}">
                <a16:creationId xmlns:a16="http://schemas.microsoft.com/office/drawing/2014/main" id="{76BFF723-F7BE-7FF4-B8B0-EFFDE6D2F7FC}"/>
              </a:ext>
            </a:extLst>
          </p:cNvPr>
          <p:cNvSpPr/>
          <p:nvPr/>
        </p:nvSpPr>
        <p:spPr>
          <a:xfrm>
            <a:off x="2686341" y="1239127"/>
            <a:ext cx="6784830" cy="2398523"/>
          </a:xfrm>
          <a:prstGeom prst="rect">
            <a:avLst/>
          </a:prstGeom>
          <a:no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スライド番号プレースホルダー 2">
            <a:extLst>
              <a:ext uri="{FF2B5EF4-FFF2-40B4-BE49-F238E27FC236}">
                <a16:creationId xmlns:a16="http://schemas.microsoft.com/office/drawing/2014/main" id="{A0ABE24D-A05E-3C67-53B6-7F1F93503E97}"/>
              </a:ext>
            </a:extLst>
          </p:cNvPr>
          <p:cNvSpPr>
            <a:spLocks noGrp="1"/>
          </p:cNvSpPr>
          <p:nvPr>
            <p:ph type="sldNum" sz="quarter" idx="12"/>
          </p:nvPr>
        </p:nvSpPr>
        <p:spPr/>
        <p:txBody>
          <a:bodyPr/>
          <a:lstStyle/>
          <a:p>
            <a:fld id="{21218AEF-8260-6F42-89D9-6D82E053F226}" type="slidenum">
              <a:rPr kumimoji="1" lang="ja-JP" altLang="en-US" smtClean="0"/>
              <a:t>10</a:t>
            </a:fld>
            <a:endParaRPr kumimoji="1" lang="ja-JP" altLang="en-US"/>
          </a:p>
        </p:txBody>
      </p:sp>
    </p:spTree>
    <p:extLst>
      <p:ext uri="{BB962C8B-B14F-4D97-AF65-F5344CB8AC3E}">
        <p14:creationId xmlns:p14="http://schemas.microsoft.com/office/powerpoint/2010/main" val="755302494"/>
      </p:ext>
    </p:extLst>
  </p:cSld>
  <p:clrMapOvr>
    <a:masterClrMapping/>
  </p:clrMapOvr>
  <mc:AlternateContent xmlns:mc="http://schemas.openxmlformats.org/markup-compatibility/2006">
    <mc:Choice xmlns:p14="http://schemas.microsoft.com/office/powerpoint/2010/main" Requires="p14">
      <p:transition spd="slow" p14:dur="2000" advTm="11342"/>
    </mc:Choice>
    <mc:Fallback>
      <p:transition spd="slow" advTm="11342"/>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タイトル 1">
                <a:extLst>
                  <a:ext uri="{FF2B5EF4-FFF2-40B4-BE49-F238E27FC236}">
                    <a16:creationId xmlns:a16="http://schemas.microsoft.com/office/drawing/2014/main" id="{7AECBC4B-969A-4250-1DA5-82EB0890DE5A}"/>
                  </a:ext>
                </a:extLst>
              </p:cNvPr>
              <p:cNvSpPr>
                <a:spLocks noGrp="1"/>
              </p:cNvSpPr>
              <p:nvPr>
                <p:ph type="title"/>
              </p:nvPr>
            </p:nvSpPr>
            <p:spPr/>
            <p:txBody>
              <a:bodyPr/>
              <a:lstStyle/>
              <a:p>
                <a:r>
                  <a:rPr kumimoji="1" lang="ja-JP" altLang="en-US"/>
                  <a:t>重み</a:t>
                </a:r>
                <a14:m>
                  <m:oMath xmlns:m="http://schemas.openxmlformats.org/officeDocument/2006/math">
                    <m:sSub>
                      <m:sSubPr>
                        <m:ctrlPr>
                          <a:rPr lang="en-US" altLang="ja-JP" sz="4400" i="1" smtClean="0">
                            <a:latin typeface="Cambria Math" panose="02040503050406030204" pitchFamily="18" charset="0"/>
                          </a:rPr>
                        </m:ctrlPr>
                      </m:sSubPr>
                      <m:e>
                        <m:r>
                          <a:rPr lang="en-US" altLang="ja-JP" sz="4400" b="0" i="1" smtClean="0">
                            <a:latin typeface="Cambria Math" panose="02040503050406030204" pitchFamily="18" charset="0"/>
                          </a:rPr>
                          <m:t>𝑊</m:t>
                        </m:r>
                      </m:e>
                      <m:sub>
                        <m:r>
                          <a:rPr lang="en-US" altLang="ja-JP" sz="4400" b="0" i="1" smtClean="0">
                            <a:latin typeface="Cambria Math" panose="02040503050406030204" pitchFamily="18" charset="0"/>
                          </a:rPr>
                          <m:t>𝑘</m:t>
                        </m:r>
                      </m:sub>
                    </m:sSub>
                  </m:oMath>
                </a14:m>
                <a:r>
                  <a:rPr kumimoji="1" lang="ja-JP" altLang="en-US"/>
                  <a:t>と共変量との関係性</a:t>
                </a:r>
                <a:endParaRPr kumimoji="1" lang="ja-JP" altLang="en-US" dirty="0"/>
              </a:p>
            </p:txBody>
          </p:sp>
        </mc:Choice>
        <mc:Fallback xmlns="">
          <p:sp>
            <p:nvSpPr>
              <p:cNvPr id="2" name="タイトル 1">
                <a:extLst>
                  <a:ext uri="{FF2B5EF4-FFF2-40B4-BE49-F238E27FC236}">
                    <a16:creationId xmlns:a16="http://schemas.microsoft.com/office/drawing/2014/main" id="{7AECBC4B-969A-4250-1DA5-82EB0890DE5A}"/>
                  </a:ext>
                </a:extLst>
              </p:cNvPr>
              <p:cNvSpPr>
                <a:spLocks noGrp="1" noRot="1" noChangeAspect="1" noMove="1" noResize="1" noEditPoints="1" noAdjustHandles="1" noChangeArrowheads="1" noChangeShapeType="1" noTextEdit="1"/>
              </p:cNvSpPr>
              <p:nvPr>
                <p:ph type="title"/>
              </p:nvPr>
            </p:nvSpPr>
            <p:spPr>
              <a:blipFill>
                <a:blip r:embed="rId3"/>
                <a:stretch>
                  <a:fillRect l="-2413"/>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4" name="正方形/長方形 3">
                <a:extLst>
                  <a:ext uri="{FF2B5EF4-FFF2-40B4-BE49-F238E27FC236}">
                    <a16:creationId xmlns:a16="http://schemas.microsoft.com/office/drawing/2014/main" id="{AE4B4FB1-C123-6A24-9E3A-13A475856AFE}"/>
                  </a:ext>
                </a:extLst>
              </p:cNvPr>
              <p:cNvSpPr/>
              <p:nvPr/>
            </p:nvSpPr>
            <p:spPr>
              <a:xfrm>
                <a:off x="7830972" y="4647348"/>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kumimoji="1" lang="en-US" altLang="ja-JP" sz="2800" b="1" i="1" smtClean="0">
                        <a:latin typeface="Cambria Math" panose="02040503050406030204" pitchFamily="18" charset="0"/>
                      </a:rPr>
                      <m:t>𝒀</m:t>
                    </m:r>
                  </m:oMath>
                </a14:m>
                <a:endParaRPr kumimoji="1" lang="en-US" altLang="ja-JP" sz="2800" b="1"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4" name="正方形/長方形 3">
                <a:extLst>
                  <a:ext uri="{FF2B5EF4-FFF2-40B4-BE49-F238E27FC236}">
                    <a16:creationId xmlns:a16="http://schemas.microsoft.com/office/drawing/2014/main" id="{AE4B4FB1-C123-6A24-9E3A-13A475856AFE}"/>
                  </a:ext>
                </a:extLst>
              </p:cNvPr>
              <p:cNvSpPr>
                <a:spLocks noRot="1" noChangeAspect="1" noMove="1" noResize="1" noEditPoints="1" noAdjustHandles="1" noChangeArrowheads="1" noChangeShapeType="1" noTextEdit="1"/>
              </p:cNvSpPr>
              <p:nvPr/>
            </p:nvSpPr>
            <p:spPr>
              <a:xfrm>
                <a:off x="7830972" y="4647348"/>
                <a:ext cx="2875280" cy="1187213"/>
              </a:xfrm>
              <a:prstGeom prst="rect">
                <a:avLst/>
              </a:prstGeom>
              <a:blipFill>
                <a:blip r:embed="rId4"/>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正方形/長方形 4">
                <a:extLst>
                  <a:ext uri="{FF2B5EF4-FFF2-40B4-BE49-F238E27FC236}">
                    <a16:creationId xmlns:a16="http://schemas.microsoft.com/office/drawing/2014/main" id="{BB2F3A59-B9E9-51E6-0470-FCC29CC0EB67}"/>
                  </a:ext>
                </a:extLst>
              </p:cNvPr>
              <p:cNvSpPr/>
              <p:nvPr/>
            </p:nvSpPr>
            <p:spPr>
              <a:xfrm>
                <a:off x="630073" y="4647348"/>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割り当て変数</a:t>
                </a:r>
                <a14:m>
                  <m:oMath xmlns:m="http://schemas.openxmlformats.org/officeDocument/2006/math">
                    <m:r>
                      <a:rPr kumimoji="1" lang="en-US" altLang="ja-JP" sz="2800" b="1" i="1" smtClean="0">
                        <a:latin typeface="Cambria Math" panose="02040503050406030204" pitchFamily="18" charset="0"/>
                      </a:rPr>
                      <m:t>𝑿</m:t>
                    </m:r>
                  </m:oMath>
                </a14:m>
                <a:endParaRPr kumimoji="1" lang="en-US" altLang="ja-JP" sz="2800" b="1" dirty="0"/>
              </a:p>
              <a:p>
                <a:pPr algn="ctr"/>
                <a:r>
                  <a:rPr lang="ja-JP" altLang="en-US" sz="2800" dirty="0"/>
                  <a:t>（原因）</a:t>
                </a:r>
                <a:endParaRPr kumimoji="1" lang="ja-JP" altLang="en-US" sz="2800" dirty="0"/>
              </a:p>
            </p:txBody>
          </p:sp>
        </mc:Choice>
        <mc:Fallback>
          <p:sp>
            <p:nvSpPr>
              <p:cNvPr id="5" name="正方形/長方形 4">
                <a:extLst>
                  <a:ext uri="{FF2B5EF4-FFF2-40B4-BE49-F238E27FC236}">
                    <a16:creationId xmlns:a16="http://schemas.microsoft.com/office/drawing/2014/main" id="{BB2F3A59-B9E9-51E6-0470-FCC29CC0EB67}"/>
                  </a:ext>
                </a:extLst>
              </p:cNvPr>
              <p:cNvSpPr>
                <a:spLocks noRot="1" noChangeAspect="1" noMove="1" noResize="1" noEditPoints="1" noAdjustHandles="1" noChangeArrowheads="1" noChangeShapeType="1" noTextEdit="1"/>
              </p:cNvSpPr>
              <p:nvPr/>
            </p:nvSpPr>
            <p:spPr>
              <a:xfrm>
                <a:off x="630073" y="4647348"/>
                <a:ext cx="2875280" cy="1187212"/>
              </a:xfrm>
              <a:prstGeom prst="rect">
                <a:avLst/>
              </a:prstGeom>
              <a:blipFill>
                <a:blip r:embed="rId5"/>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sp>
            <p:nvSpPr>
              <p:cNvPr id="6" name="正方形/長方形 5">
                <a:extLst>
                  <a:ext uri="{FF2B5EF4-FFF2-40B4-BE49-F238E27FC236}">
                    <a16:creationId xmlns:a16="http://schemas.microsoft.com/office/drawing/2014/main" id="{A8F8776B-6EC0-ECEE-7C71-EF17307BAC5A}"/>
                  </a:ext>
                </a:extLst>
              </p:cNvPr>
              <p:cNvSpPr/>
              <p:nvPr/>
            </p:nvSpPr>
            <p:spPr>
              <a:xfrm>
                <a:off x="3505352" y="1787994"/>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a:t>共変量</a:t>
                </a:r>
                <a14:m>
                  <m:oMath xmlns:m="http://schemas.openxmlformats.org/officeDocument/2006/math">
                    <m:sSub>
                      <m:sSubPr>
                        <m:ctrlPr>
                          <a:rPr kumimoji="1" lang="en-US" altLang="ja-JP" sz="2800" i="1" smtClean="0">
                            <a:solidFill>
                              <a:schemeClr val="tx1"/>
                            </a:solidFill>
                            <a:latin typeface="Cambria Math" panose="02040503050406030204" pitchFamily="18" charset="0"/>
                          </a:rPr>
                        </m:ctrlPr>
                      </m:sSubPr>
                      <m:e>
                        <m:r>
                          <a:rPr kumimoji="1" lang="en-US" altLang="ja-JP" sz="2800" b="1" i="1" smtClean="0">
                            <a:solidFill>
                              <a:schemeClr val="tx1"/>
                            </a:solidFill>
                            <a:latin typeface="Cambria Math" panose="02040503050406030204" pitchFamily="18" charset="0"/>
                          </a:rPr>
                          <m:t>𝑪</m:t>
                        </m:r>
                      </m:e>
                      <m:sub>
                        <m:r>
                          <a:rPr kumimoji="1" lang="en-US" altLang="ja-JP" sz="2800" b="1" i="1" smtClean="0">
                            <a:solidFill>
                              <a:schemeClr val="tx1"/>
                            </a:solidFill>
                            <a:latin typeface="Cambria Math" panose="02040503050406030204" pitchFamily="18" charset="0"/>
                          </a:rPr>
                          <m:t>𝟏</m:t>
                        </m:r>
                      </m:sub>
                    </m:sSub>
                  </m:oMath>
                </a14:m>
                <a:endParaRPr lang="en-US" altLang="ja-JP" sz="2800" dirty="0"/>
              </a:p>
            </p:txBody>
          </p:sp>
        </mc:Choice>
        <mc:Fallback xmlns="">
          <p:sp>
            <p:nvSpPr>
              <p:cNvPr id="6" name="正方形/長方形 5">
                <a:extLst>
                  <a:ext uri="{FF2B5EF4-FFF2-40B4-BE49-F238E27FC236}">
                    <a16:creationId xmlns:a16="http://schemas.microsoft.com/office/drawing/2014/main" id="{A8F8776B-6EC0-ECEE-7C71-EF17307BAC5A}"/>
                  </a:ext>
                </a:extLst>
              </p:cNvPr>
              <p:cNvSpPr>
                <a:spLocks noRot="1" noChangeAspect="1" noMove="1" noResize="1" noEditPoints="1" noAdjustHandles="1" noChangeArrowheads="1" noChangeShapeType="1" noTextEdit="1"/>
              </p:cNvSpPr>
              <p:nvPr/>
            </p:nvSpPr>
            <p:spPr>
              <a:xfrm>
                <a:off x="3505352" y="1787994"/>
                <a:ext cx="4372609" cy="1042352"/>
              </a:xfrm>
              <a:prstGeom prst="rect">
                <a:avLst/>
              </a:prstGeom>
              <a:blipFill>
                <a:blip r:embed="rId6"/>
                <a:stretch>
                  <a:fillRect/>
                </a:stretch>
              </a:blipFill>
              <a:ln w="19050">
                <a:solidFill>
                  <a:schemeClr val="accent1"/>
                </a:solidFill>
              </a:ln>
            </p:spPr>
            <p:txBody>
              <a:bodyPr/>
              <a:lstStyle/>
              <a:p>
                <a:r>
                  <a:rPr lang="ja-JP" altLang="en-US">
                    <a:noFill/>
                  </a:rPr>
                  <a:t> </a:t>
                </a:r>
              </a:p>
            </p:txBody>
          </p:sp>
        </mc:Fallback>
      </mc:AlternateContent>
      <p:cxnSp>
        <p:nvCxnSpPr>
          <p:cNvPr id="8" name="直線矢印コネクタ 7">
            <a:extLst>
              <a:ext uri="{FF2B5EF4-FFF2-40B4-BE49-F238E27FC236}">
                <a16:creationId xmlns:a16="http://schemas.microsoft.com/office/drawing/2014/main" id="{0C7E52CE-541D-9194-2BC7-6A3D565A7039}"/>
              </a:ext>
            </a:extLst>
          </p:cNvPr>
          <p:cNvCxnSpPr>
            <a:cxnSpLocks/>
            <a:endCxn id="4" idx="0"/>
          </p:cNvCxnSpPr>
          <p:nvPr/>
        </p:nvCxnSpPr>
        <p:spPr>
          <a:xfrm>
            <a:off x="7877961" y="2633310"/>
            <a:ext cx="1390651" cy="201403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9" name="直線矢印コネクタ 8">
            <a:extLst>
              <a:ext uri="{FF2B5EF4-FFF2-40B4-BE49-F238E27FC236}">
                <a16:creationId xmlns:a16="http://schemas.microsoft.com/office/drawing/2014/main" id="{2F9D3536-632B-3362-9FEA-FB2CD2C5DE1E}"/>
              </a:ext>
            </a:extLst>
          </p:cNvPr>
          <p:cNvCxnSpPr>
            <a:cxnSpLocks/>
            <a:stCxn id="6" idx="1"/>
            <a:endCxn id="5" idx="0"/>
          </p:cNvCxnSpPr>
          <p:nvPr/>
        </p:nvCxnSpPr>
        <p:spPr>
          <a:xfrm flipH="1">
            <a:off x="2067713" y="2309170"/>
            <a:ext cx="1437639"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2" name="テキスト ボックス 11">
            <a:extLst>
              <a:ext uri="{FF2B5EF4-FFF2-40B4-BE49-F238E27FC236}">
                <a16:creationId xmlns:a16="http://schemas.microsoft.com/office/drawing/2014/main" id="{D4DE3872-D3D1-8215-1B50-DE001296792E}"/>
              </a:ext>
            </a:extLst>
          </p:cNvPr>
          <p:cNvSpPr txBox="1"/>
          <p:nvPr/>
        </p:nvSpPr>
        <p:spPr>
          <a:xfrm>
            <a:off x="7200000" y="1872000"/>
            <a:ext cx="1620957" cy="523220"/>
          </a:xfrm>
          <a:prstGeom prst="rect">
            <a:avLst/>
          </a:prstGeom>
          <a:ln w="38100">
            <a:solidFill>
              <a:srgbClr val="00B050"/>
            </a:solidFill>
          </a:ln>
        </p:spPr>
        <p:style>
          <a:lnRef idx="2">
            <a:schemeClr val="accent2"/>
          </a:lnRef>
          <a:fillRef idx="1">
            <a:schemeClr val="lt1"/>
          </a:fillRef>
          <a:effectRef idx="0">
            <a:schemeClr val="accent2"/>
          </a:effectRef>
          <a:fontRef idx="minor">
            <a:schemeClr val="dk1"/>
          </a:fontRef>
        </p:style>
        <p:txBody>
          <a:bodyPr wrap="none" rtlCol="0">
            <a:spAutoFit/>
          </a:bodyPr>
          <a:lstStyle/>
          <a:p>
            <a:r>
              <a:rPr kumimoji="1" lang="ja-JP" altLang="en-US" sz="2800"/>
              <a:t>選択する</a:t>
            </a:r>
          </a:p>
        </p:txBody>
      </p:sp>
      <p:sp>
        <p:nvSpPr>
          <p:cNvPr id="3" name="テキスト ボックス 2">
            <a:extLst>
              <a:ext uri="{FF2B5EF4-FFF2-40B4-BE49-F238E27FC236}">
                <a16:creationId xmlns:a16="http://schemas.microsoft.com/office/drawing/2014/main" id="{FAC6A112-5231-E9C9-B836-1B73EC9714FF}"/>
              </a:ext>
            </a:extLst>
          </p:cNvPr>
          <p:cNvSpPr txBox="1"/>
          <p:nvPr/>
        </p:nvSpPr>
        <p:spPr>
          <a:xfrm>
            <a:off x="288000" y="3060000"/>
            <a:ext cx="2339102" cy="523220"/>
          </a:xfrm>
          <a:prstGeom prst="rect">
            <a:avLst/>
          </a:prstGeom>
          <a:noFill/>
          <a:ln w="28575">
            <a:solidFill>
              <a:schemeClr val="accent1"/>
            </a:solidFill>
          </a:ln>
        </p:spPr>
        <p:txBody>
          <a:bodyPr wrap="none" rtlCol="0">
            <a:spAutoFit/>
          </a:bodyPr>
          <a:lstStyle/>
          <a:p>
            <a:r>
              <a:rPr lang="ja-JP" altLang="en-US" sz="2800"/>
              <a:t>影響を与える</a:t>
            </a:r>
            <a:endParaRPr kumimoji="1" lang="ja-JP" altLang="en-US" sz="2800"/>
          </a:p>
        </p:txBody>
      </p:sp>
      <p:sp>
        <p:nvSpPr>
          <p:cNvPr id="7" name="テキスト ボックス 6">
            <a:extLst>
              <a:ext uri="{FF2B5EF4-FFF2-40B4-BE49-F238E27FC236}">
                <a16:creationId xmlns:a16="http://schemas.microsoft.com/office/drawing/2014/main" id="{999B3DFA-725C-5802-AF5C-FFC8E0894F09}"/>
              </a:ext>
            </a:extLst>
          </p:cNvPr>
          <p:cNvSpPr txBox="1"/>
          <p:nvPr/>
        </p:nvSpPr>
        <p:spPr>
          <a:xfrm>
            <a:off x="9180000" y="3060000"/>
            <a:ext cx="2339102" cy="523220"/>
          </a:xfrm>
          <a:prstGeom prst="rect">
            <a:avLst/>
          </a:prstGeom>
          <a:noFill/>
          <a:ln w="28575">
            <a:solidFill>
              <a:schemeClr val="accent1"/>
            </a:solidFill>
          </a:ln>
        </p:spPr>
        <p:txBody>
          <a:bodyPr wrap="none" rtlCol="0">
            <a:spAutoFit/>
          </a:bodyPr>
          <a:lstStyle/>
          <a:p>
            <a:r>
              <a:rPr lang="ja-JP" altLang="en-US" sz="2800"/>
              <a:t>影響を与える</a:t>
            </a:r>
            <a:endParaRPr kumimoji="1" lang="ja-JP" altLang="en-US" sz="2800"/>
          </a:p>
        </p:txBody>
      </p:sp>
      <p:sp>
        <p:nvSpPr>
          <p:cNvPr id="11" name="スライド番号プレースホルダー 10">
            <a:extLst>
              <a:ext uri="{FF2B5EF4-FFF2-40B4-BE49-F238E27FC236}">
                <a16:creationId xmlns:a16="http://schemas.microsoft.com/office/drawing/2014/main" id="{2D82B668-917D-C533-A31F-5F5D439F3525}"/>
              </a:ext>
            </a:extLst>
          </p:cNvPr>
          <p:cNvSpPr>
            <a:spLocks noGrp="1"/>
          </p:cNvSpPr>
          <p:nvPr>
            <p:ph type="sldNum" sz="quarter" idx="12"/>
          </p:nvPr>
        </p:nvSpPr>
        <p:spPr/>
        <p:txBody>
          <a:bodyPr/>
          <a:lstStyle/>
          <a:p>
            <a:fld id="{21218AEF-8260-6F42-89D9-6D82E053F226}" type="slidenum">
              <a:rPr kumimoji="1" lang="ja-JP" altLang="en-US" smtClean="0"/>
              <a:t>11</a:t>
            </a:fld>
            <a:endParaRPr kumimoji="1" lang="ja-JP" altLang="en-US"/>
          </a:p>
        </p:txBody>
      </p:sp>
    </p:spTree>
    <p:extLst>
      <p:ext uri="{BB962C8B-B14F-4D97-AF65-F5344CB8AC3E}">
        <p14:creationId xmlns:p14="http://schemas.microsoft.com/office/powerpoint/2010/main" val="1144055116"/>
      </p:ext>
    </p:extLst>
  </p:cSld>
  <p:clrMapOvr>
    <a:masterClrMapping/>
  </p:clrMapOvr>
  <mc:AlternateContent xmlns:mc="http://schemas.openxmlformats.org/markup-compatibility/2006">
    <mc:Choice xmlns:p14="http://schemas.microsoft.com/office/powerpoint/2010/main" Requires="p14">
      <p:transition spd="slow" p14:dur="2000" advTm="7617"/>
    </mc:Choice>
    <mc:Fallback>
      <p:transition spd="slow" advTm="7617"/>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タイトル 1">
                <a:extLst>
                  <a:ext uri="{FF2B5EF4-FFF2-40B4-BE49-F238E27FC236}">
                    <a16:creationId xmlns:a16="http://schemas.microsoft.com/office/drawing/2014/main" id="{7AECBC4B-969A-4250-1DA5-82EB0890DE5A}"/>
                  </a:ext>
                </a:extLst>
              </p:cNvPr>
              <p:cNvSpPr>
                <a:spLocks noGrp="1"/>
              </p:cNvSpPr>
              <p:nvPr>
                <p:ph type="title"/>
              </p:nvPr>
            </p:nvSpPr>
            <p:spPr/>
            <p:txBody>
              <a:bodyPr/>
              <a:lstStyle/>
              <a:p>
                <a:r>
                  <a:rPr kumimoji="1" lang="ja-JP" altLang="en-US"/>
                  <a:t>重み</a:t>
                </a:r>
                <a14:m>
                  <m:oMath xmlns:m="http://schemas.openxmlformats.org/officeDocument/2006/math">
                    <m:sSub>
                      <m:sSubPr>
                        <m:ctrlPr>
                          <a:rPr lang="en-US" altLang="ja-JP" sz="4400" i="1" smtClean="0">
                            <a:latin typeface="Cambria Math" panose="02040503050406030204" pitchFamily="18" charset="0"/>
                          </a:rPr>
                        </m:ctrlPr>
                      </m:sSubPr>
                      <m:e>
                        <m:r>
                          <a:rPr lang="en-US" altLang="ja-JP" sz="4400" b="0" i="1" smtClean="0">
                            <a:latin typeface="Cambria Math" panose="02040503050406030204" pitchFamily="18" charset="0"/>
                          </a:rPr>
                          <m:t>𝑊</m:t>
                        </m:r>
                      </m:e>
                      <m:sub>
                        <m:r>
                          <a:rPr lang="en-US" altLang="ja-JP" sz="4400" b="0" i="1" smtClean="0">
                            <a:latin typeface="Cambria Math" panose="02040503050406030204" pitchFamily="18" charset="0"/>
                          </a:rPr>
                          <m:t>𝑘</m:t>
                        </m:r>
                      </m:sub>
                    </m:sSub>
                  </m:oMath>
                </a14:m>
                <a:r>
                  <a:rPr kumimoji="1" lang="ja-JP" altLang="en-US"/>
                  <a:t>と共変量との関係性</a:t>
                </a:r>
                <a:endParaRPr kumimoji="1" lang="ja-JP" altLang="en-US" dirty="0"/>
              </a:p>
            </p:txBody>
          </p:sp>
        </mc:Choice>
        <mc:Fallback xmlns="">
          <p:sp>
            <p:nvSpPr>
              <p:cNvPr id="2" name="タイトル 1">
                <a:extLst>
                  <a:ext uri="{FF2B5EF4-FFF2-40B4-BE49-F238E27FC236}">
                    <a16:creationId xmlns:a16="http://schemas.microsoft.com/office/drawing/2014/main" id="{7AECBC4B-969A-4250-1DA5-82EB0890DE5A}"/>
                  </a:ext>
                </a:extLst>
              </p:cNvPr>
              <p:cNvSpPr>
                <a:spLocks noGrp="1" noRot="1" noChangeAspect="1" noMove="1" noResize="1" noEditPoints="1" noAdjustHandles="1" noChangeArrowheads="1" noChangeShapeType="1" noTextEdit="1"/>
              </p:cNvSpPr>
              <p:nvPr>
                <p:ph type="title"/>
              </p:nvPr>
            </p:nvSpPr>
            <p:spPr>
              <a:blipFill>
                <a:blip r:embed="rId3"/>
                <a:stretch>
                  <a:fillRect l="-2413"/>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4" name="正方形/長方形 3">
                <a:extLst>
                  <a:ext uri="{FF2B5EF4-FFF2-40B4-BE49-F238E27FC236}">
                    <a16:creationId xmlns:a16="http://schemas.microsoft.com/office/drawing/2014/main" id="{AE4B4FB1-C123-6A24-9E3A-13A475856AFE}"/>
                  </a:ext>
                </a:extLst>
              </p:cNvPr>
              <p:cNvSpPr/>
              <p:nvPr/>
            </p:nvSpPr>
            <p:spPr>
              <a:xfrm>
                <a:off x="7830972" y="4647348"/>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kumimoji="1" lang="en-US" altLang="ja-JP" sz="2800" b="1" i="1" smtClean="0">
                        <a:latin typeface="Cambria Math" panose="02040503050406030204" pitchFamily="18" charset="0"/>
                      </a:rPr>
                      <m:t>𝒀</m:t>
                    </m:r>
                  </m:oMath>
                </a14:m>
                <a:endParaRPr kumimoji="1" lang="en-US" altLang="ja-JP" sz="2800" b="1"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4" name="正方形/長方形 3">
                <a:extLst>
                  <a:ext uri="{FF2B5EF4-FFF2-40B4-BE49-F238E27FC236}">
                    <a16:creationId xmlns:a16="http://schemas.microsoft.com/office/drawing/2014/main" id="{AE4B4FB1-C123-6A24-9E3A-13A475856AFE}"/>
                  </a:ext>
                </a:extLst>
              </p:cNvPr>
              <p:cNvSpPr>
                <a:spLocks noRot="1" noChangeAspect="1" noMove="1" noResize="1" noEditPoints="1" noAdjustHandles="1" noChangeArrowheads="1" noChangeShapeType="1" noTextEdit="1"/>
              </p:cNvSpPr>
              <p:nvPr/>
            </p:nvSpPr>
            <p:spPr>
              <a:xfrm>
                <a:off x="7830972" y="4647348"/>
                <a:ext cx="2875280" cy="1187213"/>
              </a:xfrm>
              <a:prstGeom prst="rect">
                <a:avLst/>
              </a:prstGeom>
              <a:blipFill>
                <a:blip r:embed="rId4"/>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正方形/長方形 4">
                <a:extLst>
                  <a:ext uri="{FF2B5EF4-FFF2-40B4-BE49-F238E27FC236}">
                    <a16:creationId xmlns:a16="http://schemas.microsoft.com/office/drawing/2014/main" id="{BB2F3A59-B9E9-51E6-0470-FCC29CC0EB67}"/>
                  </a:ext>
                </a:extLst>
              </p:cNvPr>
              <p:cNvSpPr/>
              <p:nvPr/>
            </p:nvSpPr>
            <p:spPr>
              <a:xfrm>
                <a:off x="630073" y="4647348"/>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割り当て変数</a:t>
                </a:r>
                <a14:m>
                  <m:oMath xmlns:m="http://schemas.openxmlformats.org/officeDocument/2006/math">
                    <m:r>
                      <a:rPr kumimoji="1" lang="en-US" altLang="ja-JP" sz="2800" b="1" i="1" smtClean="0">
                        <a:latin typeface="Cambria Math" panose="02040503050406030204" pitchFamily="18" charset="0"/>
                      </a:rPr>
                      <m:t>𝑿</m:t>
                    </m:r>
                  </m:oMath>
                </a14:m>
                <a:endParaRPr kumimoji="1" lang="en-US" altLang="ja-JP" sz="2800" b="1" dirty="0"/>
              </a:p>
              <a:p>
                <a:pPr algn="ctr"/>
                <a:r>
                  <a:rPr lang="ja-JP" altLang="en-US" sz="2800" dirty="0"/>
                  <a:t>（原因）</a:t>
                </a:r>
                <a:endParaRPr kumimoji="1" lang="ja-JP" altLang="en-US" sz="2800" dirty="0"/>
              </a:p>
            </p:txBody>
          </p:sp>
        </mc:Choice>
        <mc:Fallback>
          <p:sp>
            <p:nvSpPr>
              <p:cNvPr id="5" name="正方形/長方形 4">
                <a:extLst>
                  <a:ext uri="{FF2B5EF4-FFF2-40B4-BE49-F238E27FC236}">
                    <a16:creationId xmlns:a16="http://schemas.microsoft.com/office/drawing/2014/main" id="{BB2F3A59-B9E9-51E6-0470-FCC29CC0EB67}"/>
                  </a:ext>
                </a:extLst>
              </p:cNvPr>
              <p:cNvSpPr>
                <a:spLocks noRot="1" noChangeAspect="1" noMove="1" noResize="1" noEditPoints="1" noAdjustHandles="1" noChangeArrowheads="1" noChangeShapeType="1" noTextEdit="1"/>
              </p:cNvSpPr>
              <p:nvPr/>
            </p:nvSpPr>
            <p:spPr>
              <a:xfrm>
                <a:off x="630073" y="4647348"/>
                <a:ext cx="2875280" cy="1187212"/>
              </a:xfrm>
              <a:prstGeom prst="rect">
                <a:avLst/>
              </a:prstGeom>
              <a:blipFill>
                <a:blip r:embed="rId5"/>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sp>
            <p:nvSpPr>
              <p:cNvPr id="6" name="正方形/長方形 5">
                <a:extLst>
                  <a:ext uri="{FF2B5EF4-FFF2-40B4-BE49-F238E27FC236}">
                    <a16:creationId xmlns:a16="http://schemas.microsoft.com/office/drawing/2014/main" id="{A8F8776B-6EC0-ECEE-7C71-EF17307BAC5A}"/>
                  </a:ext>
                </a:extLst>
              </p:cNvPr>
              <p:cNvSpPr/>
              <p:nvPr/>
            </p:nvSpPr>
            <p:spPr>
              <a:xfrm>
                <a:off x="3505352" y="1787994"/>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a:t>共変量</a:t>
                </a:r>
                <a14:m>
                  <m:oMath xmlns:m="http://schemas.openxmlformats.org/officeDocument/2006/math">
                    <m:sSub>
                      <m:sSubPr>
                        <m:ctrlPr>
                          <a:rPr kumimoji="1" lang="en-US" altLang="ja-JP" sz="2800" i="1" smtClean="0">
                            <a:solidFill>
                              <a:schemeClr val="tx1"/>
                            </a:solidFill>
                            <a:latin typeface="Cambria Math" panose="02040503050406030204" pitchFamily="18" charset="0"/>
                          </a:rPr>
                        </m:ctrlPr>
                      </m:sSubPr>
                      <m:e>
                        <m:r>
                          <a:rPr kumimoji="1" lang="en-US" altLang="ja-JP" sz="2800" b="1" i="1" smtClean="0">
                            <a:solidFill>
                              <a:schemeClr val="tx1"/>
                            </a:solidFill>
                            <a:latin typeface="Cambria Math" panose="02040503050406030204" pitchFamily="18" charset="0"/>
                          </a:rPr>
                          <m:t>𝑪</m:t>
                        </m:r>
                      </m:e>
                      <m:sub>
                        <m:r>
                          <a:rPr kumimoji="1" lang="en-US" altLang="ja-JP" sz="2800" b="1" i="1" smtClean="0">
                            <a:solidFill>
                              <a:schemeClr val="tx1"/>
                            </a:solidFill>
                            <a:latin typeface="Cambria Math" panose="02040503050406030204" pitchFamily="18" charset="0"/>
                          </a:rPr>
                          <m:t>𝟐</m:t>
                        </m:r>
                      </m:sub>
                    </m:sSub>
                  </m:oMath>
                </a14:m>
                <a:endParaRPr lang="en-US" altLang="ja-JP" sz="2800" dirty="0"/>
              </a:p>
            </p:txBody>
          </p:sp>
        </mc:Choice>
        <mc:Fallback xmlns="">
          <p:sp>
            <p:nvSpPr>
              <p:cNvPr id="6" name="正方形/長方形 5">
                <a:extLst>
                  <a:ext uri="{FF2B5EF4-FFF2-40B4-BE49-F238E27FC236}">
                    <a16:creationId xmlns:a16="http://schemas.microsoft.com/office/drawing/2014/main" id="{A8F8776B-6EC0-ECEE-7C71-EF17307BAC5A}"/>
                  </a:ext>
                </a:extLst>
              </p:cNvPr>
              <p:cNvSpPr>
                <a:spLocks noRot="1" noChangeAspect="1" noMove="1" noResize="1" noEditPoints="1" noAdjustHandles="1" noChangeArrowheads="1" noChangeShapeType="1" noTextEdit="1"/>
              </p:cNvSpPr>
              <p:nvPr/>
            </p:nvSpPr>
            <p:spPr>
              <a:xfrm>
                <a:off x="3505352" y="1787994"/>
                <a:ext cx="4372609" cy="1042352"/>
              </a:xfrm>
              <a:prstGeom prst="rect">
                <a:avLst/>
              </a:prstGeom>
              <a:blipFill>
                <a:blip r:embed="rId6"/>
                <a:stretch>
                  <a:fillRect/>
                </a:stretch>
              </a:blipFill>
              <a:ln w="19050">
                <a:solidFill>
                  <a:schemeClr val="accent1"/>
                </a:solidFill>
              </a:ln>
            </p:spPr>
            <p:txBody>
              <a:bodyPr/>
              <a:lstStyle/>
              <a:p>
                <a:r>
                  <a:rPr lang="ja-JP" altLang="en-US">
                    <a:noFill/>
                  </a:rPr>
                  <a:t> </a:t>
                </a:r>
              </a:p>
            </p:txBody>
          </p:sp>
        </mc:Fallback>
      </mc:AlternateContent>
      <p:cxnSp>
        <p:nvCxnSpPr>
          <p:cNvPr id="9" name="直線矢印コネクタ 8">
            <a:extLst>
              <a:ext uri="{FF2B5EF4-FFF2-40B4-BE49-F238E27FC236}">
                <a16:creationId xmlns:a16="http://schemas.microsoft.com/office/drawing/2014/main" id="{2F9D3536-632B-3362-9FEA-FB2CD2C5DE1E}"/>
              </a:ext>
            </a:extLst>
          </p:cNvPr>
          <p:cNvCxnSpPr>
            <a:cxnSpLocks/>
            <a:stCxn id="6" idx="1"/>
            <a:endCxn id="5" idx="0"/>
          </p:cNvCxnSpPr>
          <p:nvPr/>
        </p:nvCxnSpPr>
        <p:spPr>
          <a:xfrm flipH="1">
            <a:off x="2067713" y="2309170"/>
            <a:ext cx="1437639"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AFAFBDCB-AB6E-15FF-5DB2-01CF5F0127D3}"/>
              </a:ext>
            </a:extLst>
          </p:cNvPr>
          <p:cNvCxnSpPr/>
          <p:nvPr/>
        </p:nvCxnSpPr>
        <p:spPr>
          <a:xfrm>
            <a:off x="8123286" y="3131422"/>
            <a:ext cx="900000" cy="900000"/>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11" name="直線コネクタ 10">
            <a:extLst>
              <a:ext uri="{FF2B5EF4-FFF2-40B4-BE49-F238E27FC236}">
                <a16:creationId xmlns:a16="http://schemas.microsoft.com/office/drawing/2014/main" id="{CB9B921E-1923-679F-5E70-886B4B2C430E}"/>
              </a:ext>
            </a:extLst>
          </p:cNvPr>
          <p:cNvCxnSpPr>
            <a:cxnSpLocks/>
          </p:cNvCxnSpPr>
          <p:nvPr/>
        </p:nvCxnSpPr>
        <p:spPr>
          <a:xfrm flipV="1">
            <a:off x="8123286" y="3107774"/>
            <a:ext cx="900000" cy="900000"/>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sp>
        <p:nvSpPr>
          <p:cNvPr id="20" name="テキスト ボックス 19">
            <a:extLst>
              <a:ext uri="{FF2B5EF4-FFF2-40B4-BE49-F238E27FC236}">
                <a16:creationId xmlns:a16="http://schemas.microsoft.com/office/drawing/2014/main" id="{F49D0576-8ECB-C2D6-E30C-2EDD59C36F7C}"/>
              </a:ext>
            </a:extLst>
          </p:cNvPr>
          <p:cNvSpPr txBox="1"/>
          <p:nvPr/>
        </p:nvSpPr>
        <p:spPr>
          <a:xfrm>
            <a:off x="7200000" y="1872000"/>
            <a:ext cx="1980029" cy="523220"/>
          </a:xfrm>
          <a:prstGeom prst="rect">
            <a:avLst/>
          </a:prstGeom>
          <a:ln w="38100">
            <a:solidFill>
              <a:schemeClr val="accent2"/>
            </a:solidFill>
          </a:ln>
        </p:spPr>
        <p:style>
          <a:lnRef idx="2">
            <a:schemeClr val="accent2"/>
          </a:lnRef>
          <a:fillRef idx="1">
            <a:schemeClr val="lt1"/>
          </a:fillRef>
          <a:effectRef idx="0">
            <a:schemeClr val="accent2"/>
          </a:effectRef>
          <a:fontRef idx="minor">
            <a:schemeClr val="dk1"/>
          </a:fontRef>
        </p:style>
        <p:txBody>
          <a:bodyPr wrap="none" rtlCol="0">
            <a:spAutoFit/>
          </a:bodyPr>
          <a:lstStyle/>
          <a:p>
            <a:r>
              <a:rPr kumimoji="1" lang="ja-JP" altLang="en-US" sz="2800"/>
              <a:t>選択しない</a:t>
            </a:r>
          </a:p>
        </p:txBody>
      </p:sp>
      <p:sp>
        <p:nvSpPr>
          <p:cNvPr id="3" name="テキスト ボックス 2">
            <a:extLst>
              <a:ext uri="{FF2B5EF4-FFF2-40B4-BE49-F238E27FC236}">
                <a16:creationId xmlns:a16="http://schemas.microsoft.com/office/drawing/2014/main" id="{972FA0BE-479C-4C7E-7313-87D1E2CF7B4C}"/>
              </a:ext>
            </a:extLst>
          </p:cNvPr>
          <p:cNvSpPr txBox="1"/>
          <p:nvPr/>
        </p:nvSpPr>
        <p:spPr>
          <a:xfrm>
            <a:off x="288000" y="3060000"/>
            <a:ext cx="2339102" cy="523220"/>
          </a:xfrm>
          <a:prstGeom prst="rect">
            <a:avLst/>
          </a:prstGeom>
          <a:noFill/>
          <a:ln w="28575">
            <a:solidFill>
              <a:schemeClr val="accent1"/>
            </a:solidFill>
          </a:ln>
        </p:spPr>
        <p:txBody>
          <a:bodyPr wrap="none" rtlCol="0">
            <a:spAutoFit/>
          </a:bodyPr>
          <a:lstStyle/>
          <a:p>
            <a:r>
              <a:rPr lang="ja-JP" altLang="en-US" sz="2800"/>
              <a:t>影響を与える</a:t>
            </a:r>
            <a:endParaRPr kumimoji="1" lang="ja-JP" altLang="en-US" sz="2800"/>
          </a:p>
        </p:txBody>
      </p:sp>
      <p:sp>
        <p:nvSpPr>
          <p:cNvPr id="7" name="テキスト ボックス 6">
            <a:extLst>
              <a:ext uri="{FF2B5EF4-FFF2-40B4-BE49-F238E27FC236}">
                <a16:creationId xmlns:a16="http://schemas.microsoft.com/office/drawing/2014/main" id="{3877F8AC-8B33-D921-7FEF-88246FA70825}"/>
              </a:ext>
            </a:extLst>
          </p:cNvPr>
          <p:cNvSpPr txBox="1"/>
          <p:nvPr/>
        </p:nvSpPr>
        <p:spPr>
          <a:xfrm>
            <a:off x="9180000" y="3058202"/>
            <a:ext cx="2698175" cy="523220"/>
          </a:xfrm>
          <a:prstGeom prst="rect">
            <a:avLst/>
          </a:prstGeom>
          <a:noFill/>
          <a:ln w="28575">
            <a:solidFill>
              <a:srgbClr val="FF0000"/>
            </a:solidFill>
          </a:ln>
        </p:spPr>
        <p:txBody>
          <a:bodyPr wrap="none" rtlCol="0">
            <a:spAutoFit/>
          </a:bodyPr>
          <a:lstStyle/>
          <a:p>
            <a:r>
              <a:rPr lang="ja-JP" altLang="en-US" sz="2800"/>
              <a:t>影響を与えない</a:t>
            </a:r>
            <a:endParaRPr kumimoji="1" lang="ja-JP" altLang="en-US" sz="2800"/>
          </a:p>
        </p:txBody>
      </p:sp>
      <p:sp>
        <p:nvSpPr>
          <p:cNvPr id="12" name="スライド番号プレースホルダー 11">
            <a:extLst>
              <a:ext uri="{FF2B5EF4-FFF2-40B4-BE49-F238E27FC236}">
                <a16:creationId xmlns:a16="http://schemas.microsoft.com/office/drawing/2014/main" id="{D9669448-B407-30FE-FBA5-3CBBF3BF6CF5}"/>
              </a:ext>
            </a:extLst>
          </p:cNvPr>
          <p:cNvSpPr>
            <a:spLocks noGrp="1"/>
          </p:cNvSpPr>
          <p:nvPr>
            <p:ph type="sldNum" sz="quarter" idx="12"/>
          </p:nvPr>
        </p:nvSpPr>
        <p:spPr/>
        <p:txBody>
          <a:bodyPr/>
          <a:lstStyle/>
          <a:p>
            <a:fld id="{21218AEF-8260-6F42-89D9-6D82E053F226}" type="slidenum">
              <a:rPr kumimoji="1" lang="ja-JP" altLang="en-US" smtClean="0"/>
              <a:t>12</a:t>
            </a:fld>
            <a:endParaRPr kumimoji="1" lang="ja-JP" altLang="en-US"/>
          </a:p>
        </p:txBody>
      </p:sp>
    </p:spTree>
    <p:extLst>
      <p:ext uri="{BB962C8B-B14F-4D97-AF65-F5344CB8AC3E}">
        <p14:creationId xmlns:p14="http://schemas.microsoft.com/office/powerpoint/2010/main" val="2630338803"/>
      </p:ext>
    </p:extLst>
  </p:cSld>
  <p:clrMapOvr>
    <a:masterClrMapping/>
  </p:clrMapOvr>
  <mc:AlternateContent xmlns:mc="http://schemas.openxmlformats.org/markup-compatibility/2006">
    <mc:Choice xmlns:p14="http://schemas.microsoft.com/office/powerpoint/2010/main" Requires="p14">
      <p:transition spd="slow" p14:dur="2000" advTm="7192"/>
    </mc:Choice>
    <mc:Fallback>
      <p:transition spd="slow" advTm="7192"/>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タイトル 1">
                <a:extLst>
                  <a:ext uri="{FF2B5EF4-FFF2-40B4-BE49-F238E27FC236}">
                    <a16:creationId xmlns:a16="http://schemas.microsoft.com/office/drawing/2014/main" id="{7AECBC4B-969A-4250-1DA5-82EB0890DE5A}"/>
                  </a:ext>
                </a:extLst>
              </p:cNvPr>
              <p:cNvSpPr>
                <a:spLocks noGrp="1"/>
              </p:cNvSpPr>
              <p:nvPr>
                <p:ph type="title"/>
              </p:nvPr>
            </p:nvSpPr>
            <p:spPr/>
            <p:txBody>
              <a:bodyPr/>
              <a:lstStyle/>
              <a:p>
                <a:r>
                  <a:rPr kumimoji="1" lang="ja-JP" altLang="en-US"/>
                  <a:t>重み</a:t>
                </a:r>
                <a14:m>
                  <m:oMath xmlns:m="http://schemas.openxmlformats.org/officeDocument/2006/math">
                    <m:sSub>
                      <m:sSubPr>
                        <m:ctrlPr>
                          <a:rPr lang="en-US" altLang="ja-JP" sz="4400" i="1" smtClean="0">
                            <a:latin typeface="Cambria Math" panose="02040503050406030204" pitchFamily="18" charset="0"/>
                          </a:rPr>
                        </m:ctrlPr>
                      </m:sSubPr>
                      <m:e>
                        <m:r>
                          <a:rPr lang="en-US" altLang="ja-JP" sz="4400" b="0" i="1" smtClean="0">
                            <a:latin typeface="Cambria Math" panose="02040503050406030204" pitchFamily="18" charset="0"/>
                          </a:rPr>
                          <m:t>𝑊</m:t>
                        </m:r>
                      </m:e>
                      <m:sub>
                        <m:r>
                          <a:rPr lang="en-US" altLang="ja-JP" sz="4400" b="0" i="1" smtClean="0">
                            <a:latin typeface="Cambria Math" panose="02040503050406030204" pitchFamily="18" charset="0"/>
                          </a:rPr>
                          <m:t>𝑘</m:t>
                        </m:r>
                      </m:sub>
                    </m:sSub>
                  </m:oMath>
                </a14:m>
                <a:r>
                  <a:rPr kumimoji="1" lang="ja-JP" altLang="en-US"/>
                  <a:t>と共変量との関係性</a:t>
                </a:r>
                <a:endParaRPr kumimoji="1" lang="ja-JP" altLang="en-US" dirty="0"/>
              </a:p>
            </p:txBody>
          </p:sp>
        </mc:Choice>
        <mc:Fallback xmlns="">
          <p:sp>
            <p:nvSpPr>
              <p:cNvPr id="2" name="タイトル 1">
                <a:extLst>
                  <a:ext uri="{FF2B5EF4-FFF2-40B4-BE49-F238E27FC236}">
                    <a16:creationId xmlns:a16="http://schemas.microsoft.com/office/drawing/2014/main" id="{7AECBC4B-969A-4250-1DA5-82EB0890DE5A}"/>
                  </a:ext>
                </a:extLst>
              </p:cNvPr>
              <p:cNvSpPr>
                <a:spLocks noGrp="1" noRot="1" noChangeAspect="1" noMove="1" noResize="1" noEditPoints="1" noAdjustHandles="1" noChangeArrowheads="1" noChangeShapeType="1" noTextEdit="1"/>
              </p:cNvSpPr>
              <p:nvPr>
                <p:ph type="title"/>
              </p:nvPr>
            </p:nvSpPr>
            <p:spPr>
              <a:blipFill>
                <a:blip r:embed="rId3"/>
                <a:stretch>
                  <a:fillRect l="-2413"/>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4" name="正方形/長方形 3">
                <a:extLst>
                  <a:ext uri="{FF2B5EF4-FFF2-40B4-BE49-F238E27FC236}">
                    <a16:creationId xmlns:a16="http://schemas.microsoft.com/office/drawing/2014/main" id="{AE4B4FB1-C123-6A24-9E3A-13A475856AFE}"/>
                  </a:ext>
                </a:extLst>
              </p:cNvPr>
              <p:cNvSpPr/>
              <p:nvPr/>
            </p:nvSpPr>
            <p:spPr>
              <a:xfrm>
                <a:off x="7830972" y="4647348"/>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kumimoji="1" lang="en-US" altLang="ja-JP" sz="2800" b="1" i="1" smtClean="0">
                        <a:latin typeface="Cambria Math" panose="02040503050406030204" pitchFamily="18" charset="0"/>
                      </a:rPr>
                      <m:t>𝒀</m:t>
                    </m:r>
                  </m:oMath>
                </a14:m>
                <a:endParaRPr kumimoji="1" lang="en-US" altLang="ja-JP" sz="2800" b="1"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4" name="正方形/長方形 3">
                <a:extLst>
                  <a:ext uri="{FF2B5EF4-FFF2-40B4-BE49-F238E27FC236}">
                    <a16:creationId xmlns:a16="http://schemas.microsoft.com/office/drawing/2014/main" id="{AE4B4FB1-C123-6A24-9E3A-13A475856AFE}"/>
                  </a:ext>
                </a:extLst>
              </p:cNvPr>
              <p:cNvSpPr>
                <a:spLocks noRot="1" noChangeAspect="1" noMove="1" noResize="1" noEditPoints="1" noAdjustHandles="1" noChangeArrowheads="1" noChangeShapeType="1" noTextEdit="1"/>
              </p:cNvSpPr>
              <p:nvPr/>
            </p:nvSpPr>
            <p:spPr>
              <a:xfrm>
                <a:off x="7830972" y="4647348"/>
                <a:ext cx="2875280" cy="1187213"/>
              </a:xfrm>
              <a:prstGeom prst="rect">
                <a:avLst/>
              </a:prstGeom>
              <a:blipFill>
                <a:blip r:embed="rId4"/>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正方形/長方形 4">
                <a:extLst>
                  <a:ext uri="{FF2B5EF4-FFF2-40B4-BE49-F238E27FC236}">
                    <a16:creationId xmlns:a16="http://schemas.microsoft.com/office/drawing/2014/main" id="{BB2F3A59-B9E9-51E6-0470-FCC29CC0EB67}"/>
                  </a:ext>
                </a:extLst>
              </p:cNvPr>
              <p:cNvSpPr/>
              <p:nvPr/>
            </p:nvSpPr>
            <p:spPr>
              <a:xfrm>
                <a:off x="630073" y="4647348"/>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割り当て変数</a:t>
                </a:r>
                <a14:m>
                  <m:oMath xmlns:m="http://schemas.openxmlformats.org/officeDocument/2006/math">
                    <m:r>
                      <a:rPr kumimoji="1" lang="en-US" altLang="ja-JP" sz="2800" b="1" i="1" smtClean="0">
                        <a:latin typeface="Cambria Math" panose="02040503050406030204" pitchFamily="18" charset="0"/>
                      </a:rPr>
                      <m:t>𝑿</m:t>
                    </m:r>
                  </m:oMath>
                </a14:m>
                <a:endParaRPr kumimoji="1" lang="en-US" altLang="ja-JP" sz="2800" b="1" dirty="0"/>
              </a:p>
              <a:p>
                <a:pPr algn="ctr"/>
                <a:r>
                  <a:rPr lang="ja-JP" altLang="en-US" sz="2800" dirty="0"/>
                  <a:t>（原因）</a:t>
                </a:r>
                <a:endParaRPr kumimoji="1" lang="ja-JP" altLang="en-US" sz="2800" dirty="0"/>
              </a:p>
            </p:txBody>
          </p:sp>
        </mc:Choice>
        <mc:Fallback>
          <p:sp>
            <p:nvSpPr>
              <p:cNvPr id="5" name="正方形/長方形 4">
                <a:extLst>
                  <a:ext uri="{FF2B5EF4-FFF2-40B4-BE49-F238E27FC236}">
                    <a16:creationId xmlns:a16="http://schemas.microsoft.com/office/drawing/2014/main" id="{BB2F3A59-B9E9-51E6-0470-FCC29CC0EB67}"/>
                  </a:ext>
                </a:extLst>
              </p:cNvPr>
              <p:cNvSpPr>
                <a:spLocks noRot="1" noChangeAspect="1" noMove="1" noResize="1" noEditPoints="1" noAdjustHandles="1" noChangeArrowheads="1" noChangeShapeType="1" noTextEdit="1"/>
              </p:cNvSpPr>
              <p:nvPr/>
            </p:nvSpPr>
            <p:spPr>
              <a:xfrm>
                <a:off x="630073" y="4647348"/>
                <a:ext cx="2875280" cy="1187212"/>
              </a:xfrm>
              <a:prstGeom prst="rect">
                <a:avLst/>
              </a:prstGeom>
              <a:blipFill>
                <a:blip r:embed="rId5"/>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sp>
            <p:nvSpPr>
              <p:cNvPr id="6" name="正方形/長方形 5">
                <a:extLst>
                  <a:ext uri="{FF2B5EF4-FFF2-40B4-BE49-F238E27FC236}">
                    <a16:creationId xmlns:a16="http://schemas.microsoft.com/office/drawing/2014/main" id="{A8F8776B-6EC0-ECEE-7C71-EF17307BAC5A}"/>
                  </a:ext>
                </a:extLst>
              </p:cNvPr>
              <p:cNvSpPr/>
              <p:nvPr/>
            </p:nvSpPr>
            <p:spPr>
              <a:xfrm>
                <a:off x="3505352" y="1787994"/>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a:t>共変量</a:t>
                </a:r>
                <a14:m>
                  <m:oMath xmlns:m="http://schemas.openxmlformats.org/officeDocument/2006/math">
                    <m:sSub>
                      <m:sSubPr>
                        <m:ctrlPr>
                          <a:rPr kumimoji="1" lang="en-US" altLang="ja-JP" sz="2800" i="1" smtClean="0">
                            <a:solidFill>
                              <a:schemeClr val="tx1"/>
                            </a:solidFill>
                            <a:latin typeface="Cambria Math" panose="02040503050406030204" pitchFamily="18" charset="0"/>
                          </a:rPr>
                        </m:ctrlPr>
                      </m:sSubPr>
                      <m:e>
                        <m:r>
                          <a:rPr kumimoji="1" lang="en-US" altLang="ja-JP" sz="2800" b="1" i="1" smtClean="0">
                            <a:solidFill>
                              <a:schemeClr val="tx1"/>
                            </a:solidFill>
                            <a:latin typeface="Cambria Math" panose="02040503050406030204" pitchFamily="18" charset="0"/>
                          </a:rPr>
                          <m:t>𝑪</m:t>
                        </m:r>
                      </m:e>
                      <m:sub>
                        <m:r>
                          <a:rPr kumimoji="1" lang="en-US" altLang="ja-JP" sz="2800" b="1" i="1" smtClean="0">
                            <a:solidFill>
                              <a:schemeClr val="tx1"/>
                            </a:solidFill>
                            <a:latin typeface="Cambria Math" panose="02040503050406030204" pitchFamily="18" charset="0"/>
                          </a:rPr>
                          <m:t>𝟑</m:t>
                        </m:r>
                      </m:sub>
                    </m:sSub>
                  </m:oMath>
                </a14:m>
                <a:endParaRPr lang="en-US" altLang="ja-JP" sz="2800" dirty="0"/>
              </a:p>
            </p:txBody>
          </p:sp>
        </mc:Choice>
        <mc:Fallback xmlns="">
          <p:sp>
            <p:nvSpPr>
              <p:cNvPr id="6" name="正方形/長方形 5">
                <a:extLst>
                  <a:ext uri="{FF2B5EF4-FFF2-40B4-BE49-F238E27FC236}">
                    <a16:creationId xmlns:a16="http://schemas.microsoft.com/office/drawing/2014/main" id="{A8F8776B-6EC0-ECEE-7C71-EF17307BAC5A}"/>
                  </a:ext>
                </a:extLst>
              </p:cNvPr>
              <p:cNvSpPr>
                <a:spLocks noRot="1" noChangeAspect="1" noMove="1" noResize="1" noEditPoints="1" noAdjustHandles="1" noChangeArrowheads="1" noChangeShapeType="1" noTextEdit="1"/>
              </p:cNvSpPr>
              <p:nvPr/>
            </p:nvSpPr>
            <p:spPr>
              <a:xfrm>
                <a:off x="3505352" y="1787994"/>
                <a:ext cx="4372609" cy="1042352"/>
              </a:xfrm>
              <a:prstGeom prst="rect">
                <a:avLst/>
              </a:prstGeom>
              <a:blipFill>
                <a:blip r:embed="rId6"/>
                <a:stretch>
                  <a:fillRect/>
                </a:stretch>
              </a:blipFill>
              <a:ln w="19050">
                <a:solidFill>
                  <a:schemeClr val="accent1"/>
                </a:solidFill>
              </a:ln>
            </p:spPr>
            <p:txBody>
              <a:bodyPr/>
              <a:lstStyle/>
              <a:p>
                <a:r>
                  <a:rPr lang="ja-JP" altLang="en-US">
                    <a:noFill/>
                  </a:rPr>
                  <a:t> </a:t>
                </a:r>
              </a:p>
            </p:txBody>
          </p:sp>
        </mc:Fallback>
      </mc:AlternateContent>
      <p:cxnSp>
        <p:nvCxnSpPr>
          <p:cNvPr id="8" name="直線矢印コネクタ 7">
            <a:extLst>
              <a:ext uri="{FF2B5EF4-FFF2-40B4-BE49-F238E27FC236}">
                <a16:creationId xmlns:a16="http://schemas.microsoft.com/office/drawing/2014/main" id="{0C7E52CE-541D-9194-2BC7-6A3D565A7039}"/>
              </a:ext>
            </a:extLst>
          </p:cNvPr>
          <p:cNvCxnSpPr>
            <a:cxnSpLocks/>
            <a:stCxn id="6" idx="3"/>
            <a:endCxn id="4" idx="0"/>
          </p:cNvCxnSpPr>
          <p:nvPr/>
        </p:nvCxnSpPr>
        <p:spPr>
          <a:xfrm>
            <a:off x="7877961" y="2309170"/>
            <a:ext cx="1390651" cy="2338178"/>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9" name="テキスト ボックス 8">
            <a:extLst>
              <a:ext uri="{FF2B5EF4-FFF2-40B4-BE49-F238E27FC236}">
                <a16:creationId xmlns:a16="http://schemas.microsoft.com/office/drawing/2014/main" id="{50F090E8-EBCE-86AB-68CF-9F56CB9A28C2}"/>
              </a:ext>
            </a:extLst>
          </p:cNvPr>
          <p:cNvSpPr txBox="1"/>
          <p:nvPr/>
        </p:nvSpPr>
        <p:spPr>
          <a:xfrm>
            <a:off x="7200000" y="1872000"/>
            <a:ext cx="1620957" cy="523220"/>
          </a:xfrm>
          <a:prstGeom prst="rect">
            <a:avLst/>
          </a:prstGeom>
          <a:ln w="38100">
            <a:solidFill>
              <a:srgbClr val="00B050"/>
            </a:solidFill>
          </a:ln>
        </p:spPr>
        <p:style>
          <a:lnRef idx="2">
            <a:schemeClr val="accent2"/>
          </a:lnRef>
          <a:fillRef idx="1">
            <a:schemeClr val="lt1"/>
          </a:fillRef>
          <a:effectRef idx="0">
            <a:schemeClr val="accent2"/>
          </a:effectRef>
          <a:fontRef idx="minor">
            <a:schemeClr val="dk1"/>
          </a:fontRef>
        </p:style>
        <p:txBody>
          <a:bodyPr wrap="none" rtlCol="0">
            <a:spAutoFit/>
          </a:bodyPr>
          <a:lstStyle/>
          <a:p>
            <a:r>
              <a:rPr kumimoji="1" lang="ja-JP" altLang="en-US" sz="2800"/>
              <a:t>選択する</a:t>
            </a:r>
          </a:p>
        </p:txBody>
      </p:sp>
      <p:cxnSp>
        <p:nvCxnSpPr>
          <p:cNvPr id="13" name="直線コネクタ 12">
            <a:extLst>
              <a:ext uri="{FF2B5EF4-FFF2-40B4-BE49-F238E27FC236}">
                <a16:creationId xmlns:a16="http://schemas.microsoft.com/office/drawing/2014/main" id="{024019A4-6048-0948-E845-82694091CFED}"/>
              </a:ext>
            </a:extLst>
          </p:cNvPr>
          <p:cNvCxnSpPr/>
          <p:nvPr/>
        </p:nvCxnSpPr>
        <p:spPr>
          <a:xfrm>
            <a:off x="3055352" y="3300671"/>
            <a:ext cx="900000" cy="900000"/>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14" name="直線コネクタ 13">
            <a:extLst>
              <a:ext uri="{FF2B5EF4-FFF2-40B4-BE49-F238E27FC236}">
                <a16:creationId xmlns:a16="http://schemas.microsoft.com/office/drawing/2014/main" id="{100A0979-0FF5-F7A7-5764-5E2C22784B16}"/>
              </a:ext>
            </a:extLst>
          </p:cNvPr>
          <p:cNvCxnSpPr>
            <a:cxnSpLocks/>
          </p:cNvCxnSpPr>
          <p:nvPr/>
        </p:nvCxnSpPr>
        <p:spPr>
          <a:xfrm flipV="1">
            <a:off x="3055352" y="3277023"/>
            <a:ext cx="900000" cy="900000"/>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sp>
        <p:nvSpPr>
          <p:cNvPr id="15" name="テキスト ボックス 14">
            <a:extLst>
              <a:ext uri="{FF2B5EF4-FFF2-40B4-BE49-F238E27FC236}">
                <a16:creationId xmlns:a16="http://schemas.microsoft.com/office/drawing/2014/main" id="{3B7EDE13-E76C-340E-A4F3-AB10713AA48F}"/>
              </a:ext>
            </a:extLst>
          </p:cNvPr>
          <p:cNvSpPr txBox="1"/>
          <p:nvPr/>
        </p:nvSpPr>
        <p:spPr>
          <a:xfrm>
            <a:off x="288000" y="3060000"/>
            <a:ext cx="2698175" cy="523220"/>
          </a:xfrm>
          <a:prstGeom prst="rect">
            <a:avLst/>
          </a:prstGeom>
          <a:noFill/>
          <a:ln w="28575">
            <a:solidFill>
              <a:srgbClr val="FF0000"/>
            </a:solidFill>
          </a:ln>
        </p:spPr>
        <p:txBody>
          <a:bodyPr wrap="none" rtlCol="0">
            <a:spAutoFit/>
          </a:bodyPr>
          <a:lstStyle/>
          <a:p>
            <a:r>
              <a:rPr lang="ja-JP" altLang="en-US" sz="2800"/>
              <a:t>影響を与えない</a:t>
            </a:r>
            <a:endParaRPr kumimoji="1" lang="ja-JP" altLang="en-US" sz="2800"/>
          </a:p>
        </p:txBody>
      </p:sp>
      <p:sp>
        <p:nvSpPr>
          <p:cNvPr id="16" name="テキスト ボックス 15">
            <a:extLst>
              <a:ext uri="{FF2B5EF4-FFF2-40B4-BE49-F238E27FC236}">
                <a16:creationId xmlns:a16="http://schemas.microsoft.com/office/drawing/2014/main" id="{3394F977-8B81-1A7A-0FCD-EE2CB03125A9}"/>
              </a:ext>
            </a:extLst>
          </p:cNvPr>
          <p:cNvSpPr txBox="1"/>
          <p:nvPr/>
        </p:nvSpPr>
        <p:spPr>
          <a:xfrm>
            <a:off x="9180000" y="3060000"/>
            <a:ext cx="2339102" cy="523220"/>
          </a:xfrm>
          <a:prstGeom prst="rect">
            <a:avLst/>
          </a:prstGeom>
          <a:noFill/>
          <a:ln w="28575">
            <a:solidFill>
              <a:schemeClr val="accent1"/>
            </a:solidFill>
          </a:ln>
        </p:spPr>
        <p:txBody>
          <a:bodyPr wrap="none" rtlCol="0">
            <a:spAutoFit/>
          </a:bodyPr>
          <a:lstStyle/>
          <a:p>
            <a:r>
              <a:rPr lang="ja-JP" altLang="en-US" sz="2800"/>
              <a:t>影響を与える</a:t>
            </a:r>
            <a:endParaRPr kumimoji="1" lang="ja-JP" altLang="en-US" sz="2800"/>
          </a:p>
        </p:txBody>
      </p:sp>
      <p:sp>
        <p:nvSpPr>
          <p:cNvPr id="7" name="スライド番号プレースホルダー 6">
            <a:extLst>
              <a:ext uri="{FF2B5EF4-FFF2-40B4-BE49-F238E27FC236}">
                <a16:creationId xmlns:a16="http://schemas.microsoft.com/office/drawing/2014/main" id="{B907681C-AD5F-95F3-4552-CF53E552E8B0}"/>
              </a:ext>
            </a:extLst>
          </p:cNvPr>
          <p:cNvSpPr>
            <a:spLocks noGrp="1"/>
          </p:cNvSpPr>
          <p:nvPr>
            <p:ph type="sldNum" sz="quarter" idx="12"/>
          </p:nvPr>
        </p:nvSpPr>
        <p:spPr/>
        <p:txBody>
          <a:bodyPr/>
          <a:lstStyle/>
          <a:p>
            <a:fld id="{21218AEF-8260-6F42-89D9-6D82E053F226}" type="slidenum">
              <a:rPr kumimoji="1" lang="ja-JP" altLang="en-US" smtClean="0"/>
              <a:t>13</a:t>
            </a:fld>
            <a:endParaRPr kumimoji="1" lang="ja-JP" altLang="en-US"/>
          </a:p>
        </p:txBody>
      </p:sp>
    </p:spTree>
    <p:extLst>
      <p:ext uri="{BB962C8B-B14F-4D97-AF65-F5344CB8AC3E}">
        <p14:creationId xmlns:p14="http://schemas.microsoft.com/office/powerpoint/2010/main" val="2011785434"/>
      </p:ext>
    </p:extLst>
  </p:cSld>
  <p:clrMapOvr>
    <a:masterClrMapping/>
  </p:clrMapOvr>
  <mc:AlternateContent xmlns:mc="http://schemas.openxmlformats.org/markup-compatibility/2006">
    <mc:Choice xmlns:p14="http://schemas.microsoft.com/office/powerpoint/2010/main" Requires="p14">
      <p:transition spd="slow" p14:dur="2000" advTm="7467"/>
    </mc:Choice>
    <mc:Fallback>
      <p:transition spd="slow" advTm="7467"/>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タイトル 1">
                <a:extLst>
                  <a:ext uri="{FF2B5EF4-FFF2-40B4-BE49-F238E27FC236}">
                    <a16:creationId xmlns:a16="http://schemas.microsoft.com/office/drawing/2014/main" id="{7AECBC4B-969A-4250-1DA5-82EB0890DE5A}"/>
                  </a:ext>
                </a:extLst>
              </p:cNvPr>
              <p:cNvSpPr>
                <a:spLocks noGrp="1"/>
              </p:cNvSpPr>
              <p:nvPr>
                <p:ph type="title"/>
              </p:nvPr>
            </p:nvSpPr>
            <p:spPr/>
            <p:txBody>
              <a:bodyPr/>
              <a:lstStyle/>
              <a:p>
                <a:r>
                  <a:rPr kumimoji="1" lang="ja-JP" altLang="en-US"/>
                  <a:t>重み</a:t>
                </a:r>
                <a14:m>
                  <m:oMath xmlns:m="http://schemas.openxmlformats.org/officeDocument/2006/math">
                    <m:sSub>
                      <m:sSubPr>
                        <m:ctrlPr>
                          <a:rPr lang="en-US" altLang="ja-JP" sz="4400" i="1" smtClean="0">
                            <a:latin typeface="Cambria Math" panose="02040503050406030204" pitchFamily="18" charset="0"/>
                          </a:rPr>
                        </m:ctrlPr>
                      </m:sSubPr>
                      <m:e>
                        <m:r>
                          <a:rPr lang="en-US" altLang="ja-JP" sz="4400" b="0" i="1" smtClean="0">
                            <a:latin typeface="Cambria Math" panose="02040503050406030204" pitchFamily="18" charset="0"/>
                          </a:rPr>
                          <m:t>𝑊</m:t>
                        </m:r>
                      </m:e>
                      <m:sub>
                        <m:r>
                          <a:rPr lang="en-US" altLang="ja-JP" sz="4400" b="0" i="1" smtClean="0">
                            <a:latin typeface="Cambria Math" panose="02040503050406030204" pitchFamily="18" charset="0"/>
                          </a:rPr>
                          <m:t>𝑘</m:t>
                        </m:r>
                      </m:sub>
                    </m:sSub>
                  </m:oMath>
                </a14:m>
                <a:r>
                  <a:rPr kumimoji="1" lang="ja-JP" altLang="en-US"/>
                  <a:t>と共変量との関係性</a:t>
                </a:r>
                <a:endParaRPr kumimoji="1" lang="ja-JP" altLang="en-US" dirty="0"/>
              </a:p>
            </p:txBody>
          </p:sp>
        </mc:Choice>
        <mc:Fallback xmlns="">
          <p:sp>
            <p:nvSpPr>
              <p:cNvPr id="2" name="タイトル 1">
                <a:extLst>
                  <a:ext uri="{FF2B5EF4-FFF2-40B4-BE49-F238E27FC236}">
                    <a16:creationId xmlns:a16="http://schemas.microsoft.com/office/drawing/2014/main" id="{7AECBC4B-969A-4250-1DA5-82EB0890DE5A}"/>
                  </a:ext>
                </a:extLst>
              </p:cNvPr>
              <p:cNvSpPr>
                <a:spLocks noGrp="1" noRot="1" noChangeAspect="1" noMove="1" noResize="1" noEditPoints="1" noAdjustHandles="1" noChangeArrowheads="1" noChangeShapeType="1" noTextEdit="1"/>
              </p:cNvSpPr>
              <p:nvPr>
                <p:ph type="title"/>
              </p:nvPr>
            </p:nvSpPr>
            <p:spPr>
              <a:blipFill>
                <a:blip r:embed="rId3"/>
                <a:stretch>
                  <a:fillRect l="-2413"/>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4" name="正方形/長方形 3">
                <a:extLst>
                  <a:ext uri="{FF2B5EF4-FFF2-40B4-BE49-F238E27FC236}">
                    <a16:creationId xmlns:a16="http://schemas.microsoft.com/office/drawing/2014/main" id="{AE4B4FB1-C123-6A24-9E3A-13A475856AFE}"/>
                  </a:ext>
                </a:extLst>
              </p:cNvPr>
              <p:cNvSpPr/>
              <p:nvPr/>
            </p:nvSpPr>
            <p:spPr>
              <a:xfrm>
                <a:off x="7830972" y="4647348"/>
                <a:ext cx="2875280"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結果変数</a:t>
                </a:r>
                <a14:m>
                  <m:oMath xmlns:m="http://schemas.openxmlformats.org/officeDocument/2006/math">
                    <m:r>
                      <a:rPr kumimoji="1" lang="en-US" altLang="ja-JP" sz="2800" b="1" i="1" smtClean="0">
                        <a:latin typeface="Cambria Math" panose="02040503050406030204" pitchFamily="18" charset="0"/>
                      </a:rPr>
                      <m:t>𝒀</m:t>
                    </m:r>
                  </m:oMath>
                </a14:m>
                <a:endParaRPr kumimoji="1" lang="en-US" altLang="ja-JP" sz="2800" b="1" dirty="0"/>
              </a:p>
              <a:p>
                <a:pPr algn="ctr"/>
                <a:r>
                  <a:rPr lang="en-US" altLang="ja-JP" sz="2800" dirty="0"/>
                  <a:t>(</a:t>
                </a:r>
                <a:r>
                  <a:rPr lang="ja-JP" altLang="en-US" sz="2800" dirty="0"/>
                  <a:t>結果</a:t>
                </a:r>
                <a:r>
                  <a:rPr lang="en-US" altLang="ja-JP" sz="2800" dirty="0"/>
                  <a:t>)</a:t>
                </a:r>
                <a:endParaRPr kumimoji="1" lang="ja-JP" altLang="en-US" sz="2800" dirty="0"/>
              </a:p>
            </p:txBody>
          </p:sp>
        </mc:Choice>
        <mc:Fallback>
          <p:sp>
            <p:nvSpPr>
              <p:cNvPr id="4" name="正方形/長方形 3">
                <a:extLst>
                  <a:ext uri="{FF2B5EF4-FFF2-40B4-BE49-F238E27FC236}">
                    <a16:creationId xmlns:a16="http://schemas.microsoft.com/office/drawing/2014/main" id="{AE4B4FB1-C123-6A24-9E3A-13A475856AFE}"/>
                  </a:ext>
                </a:extLst>
              </p:cNvPr>
              <p:cNvSpPr>
                <a:spLocks noRot="1" noChangeAspect="1" noMove="1" noResize="1" noEditPoints="1" noAdjustHandles="1" noChangeArrowheads="1" noChangeShapeType="1" noTextEdit="1"/>
              </p:cNvSpPr>
              <p:nvPr/>
            </p:nvSpPr>
            <p:spPr>
              <a:xfrm>
                <a:off x="7830972" y="4647348"/>
                <a:ext cx="2875280" cy="1187213"/>
              </a:xfrm>
              <a:prstGeom prst="rect">
                <a:avLst/>
              </a:prstGeom>
              <a:blipFill>
                <a:blip r:embed="rId4"/>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正方形/長方形 4">
                <a:extLst>
                  <a:ext uri="{FF2B5EF4-FFF2-40B4-BE49-F238E27FC236}">
                    <a16:creationId xmlns:a16="http://schemas.microsoft.com/office/drawing/2014/main" id="{BB2F3A59-B9E9-51E6-0470-FCC29CC0EB67}"/>
                  </a:ext>
                </a:extLst>
              </p:cNvPr>
              <p:cNvSpPr/>
              <p:nvPr/>
            </p:nvSpPr>
            <p:spPr>
              <a:xfrm>
                <a:off x="630073" y="4647348"/>
                <a:ext cx="2875280"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dirty="0"/>
                  <a:t>割り当て変数</a:t>
                </a:r>
                <a14:m>
                  <m:oMath xmlns:m="http://schemas.openxmlformats.org/officeDocument/2006/math">
                    <m:r>
                      <a:rPr kumimoji="1" lang="en-US" altLang="ja-JP" sz="2800" b="1" i="1" smtClean="0">
                        <a:latin typeface="Cambria Math" panose="02040503050406030204" pitchFamily="18" charset="0"/>
                      </a:rPr>
                      <m:t>𝑿</m:t>
                    </m:r>
                  </m:oMath>
                </a14:m>
                <a:endParaRPr kumimoji="1" lang="en-US" altLang="ja-JP" sz="2800" b="1" dirty="0"/>
              </a:p>
              <a:p>
                <a:pPr algn="ctr"/>
                <a:r>
                  <a:rPr lang="ja-JP" altLang="en-US" sz="2800" dirty="0"/>
                  <a:t>（原因）</a:t>
                </a:r>
                <a:endParaRPr kumimoji="1" lang="ja-JP" altLang="en-US" sz="2800" dirty="0"/>
              </a:p>
            </p:txBody>
          </p:sp>
        </mc:Choice>
        <mc:Fallback>
          <p:sp>
            <p:nvSpPr>
              <p:cNvPr id="5" name="正方形/長方形 4">
                <a:extLst>
                  <a:ext uri="{FF2B5EF4-FFF2-40B4-BE49-F238E27FC236}">
                    <a16:creationId xmlns:a16="http://schemas.microsoft.com/office/drawing/2014/main" id="{BB2F3A59-B9E9-51E6-0470-FCC29CC0EB67}"/>
                  </a:ext>
                </a:extLst>
              </p:cNvPr>
              <p:cNvSpPr>
                <a:spLocks noRot="1" noChangeAspect="1" noMove="1" noResize="1" noEditPoints="1" noAdjustHandles="1" noChangeArrowheads="1" noChangeShapeType="1" noTextEdit="1"/>
              </p:cNvSpPr>
              <p:nvPr/>
            </p:nvSpPr>
            <p:spPr>
              <a:xfrm>
                <a:off x="630073" y="4647348"/>
                <a:ext cx="2875280" cy="1187212"/>
              </a:xfrm>
              <a:prstGeom prst="rect">
                <a:avLst/>
              </a:prstGeom>
              <a:blipFill>
                <a:blip r:embed="rId5"/>
                <a:stretch>
                  <a:fillRect b="-3125"/>
                </a:stretch>
              </a:blipFill>
              <a:ln w="19050">
                <a:solidFill>
                  <a:schemeClr val="accent1"/>
                </a:solid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sp>
            <p:nvSpPr>
              <p:cNvPr id="6" name="正方形/長方形 5">
                <a:extLst>
                  <a:ext uri="{FF2B5EF4-FFF2-40B4-BE49-F238E27FC236}">
                    <a16:creationId xmlns:a16="http://schemas.microsoft.com/office/drawing/2014/main" id="{A8F8776B-6EC0-ECEE-7C71-EF17307BAC5A}"/>
                  </a:ext>
                </a:extLst>
              </p:cNvPr>
              <p:cNvSpPr/>
              <p:nvPr/>
            </p:nvSpPr>
            <p:spPr>
              <a:xfrm>
                <a:off x="3505352" y="1787994"/>
                <a:ext cx="4372609"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a:t>共変量</a:t>
                </a:r>
                <a14:m>
                  <m:oMath xmlns:m="http://schemas.openxmlformats.org/officeDocument/2006/math">
                    <m:sSub>
                      <m:sSubPr>
                        <m:ctrlPr>
                          <a:rPr kumimoji="1" lang="en-US" altLang="ja-JP" sz="2800" i="1" smtClean="0">
                            <a:solidFill>
                              <a:schemeClr val="tx1"/>
                            </a:solidFill>
                            <a:latin typeface="Cambria Math" panose="02040503050406030204" pitchFamily="18" charset="0"/>
                          </a:rPr>
                        </m:ctrlPr>
                      </m:sSubPr>
                      <m:e>
                        <m:r>
                          <a:rPr kumimoji="1" lang="en-US" altLang="ja-JP" sz="2800" b="1" i="1" smtClean="0">
                            <a:solidFill>
                              <a:schemeClr val="tx1"/>
                            </a:solidFill>
                            <a:latin typeface="Cambria Math" panose="02040503050406030204" pitchFamily="18" charset="0"/>
                          </a:rPr>
                          <m:t>𝑪</m:t>
                        </m:r>
                      </m:e>
                      <m:sub>
                        <m:r>
                          <a:rPr kumimoji="1" lang="en-US" altLang="ja-JP" sz="2800" b="1" i="1" smtClean="0">
                            <a:solidFill>
                              <a:schemeClr val="tx1"/>
                            </a:solidFill>
                            <a:latin typeface="Cambria Math" panose="02040503050406030204" pitchFamily="18" charset="0"/>
                          </a:rPr>
                          <m:t>𝟒</m:t>
                        </m:r>
                      </m:sub>
                    </m:sSub>
                  </m:oMath>
                </a14:m>
                <a:endParaRPr lang="en-US" altLang="ja-JP" sz="2800" dirty="0"/>
              </a:p>
            </p:txBody>
          </p:sp>
        </mc:Choice>
        <mc:Fallback xmlns="">
          <p:sp>
            <p:nvSpPr>
              <p:cNvPr id="6" name="正方形/長方形 5">
                <a:extLst>
                  <a:ext uri="{FF2B5EF4-FFF2-40B4-BE49-F238E27FC236}">
                    <a16:creationId xmlns:a16="http://schemas.microsoft.com/office/drawing/2014/main" id="{A8F8776B-6EC0-ECEE-7C71-EF17307BAC5A}"/>
                  </a:ext>
                </a:extLst>
              </p:cNvPr>
              <p:cNvSpPr>
                <a:spLocks noRot="1" noChangeAspect="1" noMove="1" noResize="1" noEditPoints="1" noAdjustHandles="1" noChangeArrowheads="1" noChangeShapeType="1" noTextEdit="1"/>
              </p:cNvSpPr>
              <p:nvPr/>
            </p:nvSpPr>
            <p:spPr>
              <a:xfrm>
                <a:off x="3505352" y="1787994"/>
                <a:ext cx="4372609" cy="1042352"/>
              </a:xfrm>
              <a:prstGeom prst="rect">
                <a:avLst/>
              </a:prstGeom>
              <a:blipFill>
                <a:blip r:embed="rId6"/>
                <a:stretch>
                  <a:fillRect/>
                </a:stretch>
              </a:blipFill>
              <a:ln w="19050">
                <a:solidFill>
                  <a:schemeClr val="accent1"/>
                </a:solidFill>
              </a:ln>
            </p:spPr>
            <p:txBody>
              <a:bodyPr/>
              <a:lstStyle/>
              <a:p>
                <a:r>
                  <a:rPr lang="ja-JP" altLang="en-US">
                    <a:noFill/>
                  </a:rPr>
                  <a:t> </a:t>
                </a:r>
              </a:p>
            </p:txBody>
          </p:sp>
        </mc:Fallback>
      </mc:AlternateContent>
      <p:cxnSp>
        <p:nvCxnSpPr>
          <p:cNvPr id="3" name="直線コネクタ 2">
            <a:extLst>
              <a:ext uri="{FF2B5EF4-FFF2-40B4-BE49-F238E27FC236}">
                <a16:creationId xmlns:a16="http://schemas.microsoft.com/office/drawing/2014/main" id="{4B1197AD-D4E2-9436-B8A2-29A9BC82E74A}"/>
              </a:ext>
            </a:extLst>
          </p:cNvPr>
          <p:cNvCxnSpPr/>
          <p:nvPr/>
        </p:nvCxnSpPr>
        <p:spPr>
          <a:xfrm>
            <a:off x="8123286" y="3131422"/>
            <a:ext cx="900000" cy="900000"/>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7" name="直線コネクタ 6">
            <a:extLst>
              <a:ext uri="{FF2B5EF4-FFF2-40B4-BE49-F238E27FC236}">
                <a16:creationId xmlns:a16="http://schemas.microsoft.com/office/drawing/2014/main" id="{EC1AA777-4736-E943-BEFD-5FC1C69A277E}"/>
              </a:ext>
            </a:extLst>
          </p:cNvPr>
          <p:cNvCxnSpPr>
            <a:cxnSpLocks/>
          </p:cNvCxnSpPr>
          <p:nvPr/>
        </p:nvCxnSpPr>
        <p:spPr>
          <a:xfrm flipV="1">
            <a:off x="8123286" y="3107774"/>
            <a:ext cx="900000" cy="900000"/>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9" name="直線コネクタ 8">
            <a:extLst>
              <a:ext uri="{FF2B5EF4-FFF2-40B4-BE49-F238E27FC236}">
                <a16:creationId xmlns:a16="http://schemas.microsoft.com/office/drawing/2014/main" id="{55B2A5CF-4FD5-3299-A7D2-4A062B068076}"/>
              </a:ext>
            </a:extLst>
          </p:cNvPr>
          <p:cNvCxnSpPr/>
          <p:nvPr/>
        </p:nvCxnSpPr>
        <p:spPr>
          <a:xfrm>
            <a:off x="3055352" y="3300671"/>
            <a:ext cx="900000" cy="900000"/>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10" name="直線コネクタ 9">
            <a:extLst>
              <a:ext uri="{FF2B5EF4-FFF2-40B4-BE49-F238E27FC236}">
                <a16:creationId xmlns:a16="http://schemas.microsoft.com/office/drawing/2014/main" id="{2981F2B8-F9BD-DE44-747B-E53D9EB6481D}"/>
              </a:ext>
            </a:extLst>
          </p:cNvPr>
          <p:cNvCxnSpPr>
            <a:cxnSpLocks/>
          </p:cNvCxnSpPr>
          <p:nvPr/>
        </p:nvCxnSpPr>
        <p:spPr>
          <a:xfrm flipV="1">
            <a:off x="3055352" y="3277023"/>
            <a:ext cx="900000" cy="900000"/>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sp>
        <p:nvSpPr>
          <p:cNvPr id="8" name="テキスト ボックス 7">
            <a:extLst>
              <a:ext uri="{FF2B5EF4-FFF2-40B4-BE49-F238E27FC236}">
                <a16:creationId xmlns:a16="http://schemas.microsoft.com/office/drawing/2014/main" id="{3B18042A-B027-0141-F1AB-7C8ED27B161D}"/>
              </a:ext>
            </a:extLst>
          </p:cNvPr>
          <p:cNvSpPr txBox="1"/>
          <p:nvPr/>
        </p:nvSpPr>
        <p:spPr>
          <a:xfrm>
            <a:off x="7200000" y="1872000"/>
            <a:ext cx="1980029" cy="523220"/>
          </a:xfrm>
          <a:prstGeom prst="rect">
            <a:avLst/>
          </a:prstGeom>
          <a:ln w="38100">
            <a:solidFill>
              <a:schemeClr val="accent2"/>
            </a:solidFill>
          </a:ln>
        </p:spPr>
        <p:style>
          <a:lnRef idx="2">
            <a:schemeClr val="accent2"/>
          </a:lnRef>
          <a:fillRef idx="1">
            <a:schemeClr val="lt1"/>
          </a:fillRef>
          <a:effectRef idx="0">
            <a:schemeClr val="accent2"/>
          </a:effectRef>
          <a:fontRef idx="minor">
            <a:schemeClr val="dk1"/>
          </a:fontRef>
        </p:style>
        <p:txBody>
          <a:bodyPr wrap="none" rtlCol="0">
            <a:spAutoFit/>
          </a:bodyPr>
          <a:lstStyle/>
          <a:p>
            <a:r>
              <a:rPr kumimoji="1" lang="ja-JP" altLang="en-US" sz="2800"/>
              <a:t>選択しない</a:t>
            </a:r>
          </a:p>
        </p:txBody>
      </p:sp>
      <p:sp>
        <p:nvSpPr>
          <p:cNvPr id="13" name="テキスト ボックス 12">
            <a:extLst>
              <a:ext uri="{FF2B5EF4-FFF2-40B4-BE49-F238E27FC236}">
                <a16:creationId xmlns:a16="http://schemas.microsoft.com/office/drawing/2014/main" id="{F9141FA2-AE06-5B23-CC1D-B352B07AA5B0}"/>
              </a:ext>
            </a:extLst>
          </p:cNvPr>
          <p:cNvSpPr txBox="1"/>
          <p:nvPr/>
        </p:nvSpPr>
        <p:spPr>
          <a:xfrm>
            <a:off x="9180000" y="3058202"/>
            <a:ext cx="2698175" cy="523220"/>
          </a:xfrm>
          <a:prstGeom prst="rect">
            <a:avLst/>
          </a:prstGeom>
          <a:noFill/>
          <a:ln w="28575">
            <a:solidFill>
              <a:srgbClr val="FF0000"/>
            </a:solidFill>
          </a:ln>
        </p:spPr>
        <p:txBody>
          <a:bodyPr wrap="none" rtlCol="0">
            <a:spAutoFit/>
          </a:bodyPr>
          <a:lstStyle/>
          <a:p>
            <a:r>
              <a:rPr lang="ja-JP" altLang="en-US" sz="2800"/>
              <a:t>影響を与えない</a:t>
            </a:r>
            <a:endParaRPr kumimoji="1" lang="ja-JP" altLang="en-US" sz="2800"/>
          </a:p>
        </p:txBody>
      </p:sp>
      <p:sp>
        <p:nvSpPr>
          <p:cNvPr id="14" name="テキスト ボックス 13">
            <a:extLst>
              <a:ext uri="{FF2B5EF4-FFF2-40B4-BE49-F238E27FC236}">
                <a16:creationId xmlns:a16="http://schemas.microsoft.com/office/drawing/2014/main" id="{56404D67-57C0-21C3-A0CD-C1B8D163D7D1}"/>
              </a:ext>
            </a:extLst>
          </p:cNvPr>
          <p:cNvSpPr txBox="1"/>
          <p:nvPr/>
        </p:nvSpPr>
        <p:spPr>
          <a:xfrm>
            <a:off x="288000" y="3060000"/>
            <a:ext cx="2698175" cy="523220"/>
          </a:xfrm>
          <a:prstGeom prst="rect">
            <a:avLst/>
          </a:prstGeom>
          <a:noFill/>
          <a:ln w="28575">
            <a:solidFill>
              <a:srgbClr val="FF0000"/>
            </a:solidFill>
          </a:ln>
        </p:spPr>
        <p:txBody>
          <a:bodyPr wrap="none" rtlCol="0">
            <a:spAutoFit/>
          </a:bodyPr>
          <a:lstStyle/>
          <a:p>
            <a:r>
              <a:rPr lang="ja-JP" altLang="en-US" sz="2800"/>
              <a:t>影響を与えない</a:t>
            </a:r>
            <a:endParaRPr kumimoji="1" lang="ja-JP" altLang="en-US" sz="2800"/>
          </a:p>
        </p:txBody>
      </p:sp>
      <p:sp>
        <p:nvSpPr>
          <p:cNvPr id="12" name="スライド番号プレースホルダー 11">
            <a:extLst>
              <a:ext uri="{FF2B5EF4-FFF2-40B4-BE49-F238E27FC236}">
                <a16:creationId xmlns:a16="http://schemas.microsoft.com/office/drawing/2014/main" id="{C3FE5132-5D9A-80CA-772E-4F88074BA519}"/>
              </a:ext>
            </a:extLst>
          </p:cNvPr>
          <p:cNvSpPr>
            <a:spLocks noGrp="1"/>
          </p:cNvSpPr>
          <p:nvPr>
            <p:ph type="sldNum" sz="quarter" idx="12"/>
          </p:nvPr>
        </p:nvSpPr>
        <p:spPr/>
        <p:txBody>
          <a:bodyPr/>
          <a:lstStyle/>
          <a:p>
            <a:fld id="{21218AEF-8260-6F42-89D9-6D82E053F226}" type="slidenum">
              <a:rPr kumimoji="1" lang="ja-JP" altLang="en-US" smtClean="0"/>
              <a:t>14</a:t>
            </a:fld>
            <a:endParaRPr kumimoji="1" lang="ja-JP" altLang="en-US"/>
          </a:p>
        </p:txBody>
      </p:sp>
    </p:spTree>
    <p:extLst>
      <p:ext uri="{BB962C8B-B14F-4D97-AF65-F5344CB8AC3E}">
        <p14:creationId xmlns:p14="http://schemas.microsoft.com/office/powerpoint/2010/main" val="1164285355"/>
      </p:ext>
    </p:extLst>
  </p:cSld>
  <p:clrMapOvr>
    <a:masterClrMapping/>
  </p:clrMapOvr>
  <mc:AlternateContent xmlns:mc="http://schemas.openxmlformats.org/markup-compatibility/2006">
    <mc:Choice xmlns:p14="http://schemas.microsoft.com/office/powerpoint/2010/main" Requires="p14">
      <p:transition spd="slow" p14:dur="2000" advTm="6769"/>
    </mc:Choice>
    <mc:Fallback>
      <p:transition spd="slow" advTm="6769"/>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E8672C3-1AEB-E9A0-3FBD-1E6F9F1DC34D}"/>
              </a:ext>
            </a:extLst>
          </p:cNvPr>
          <p:cNvSpPr>
            <a:spLocks noGrp="1"/>
          </p:cNvSpPr>
          <p:nvPr>
            <p:ph type="title"/>
          </p:nvPr>
        </p:nvSpPr>
        <p:spPr/>
        <p:txBody>
          <a:bodyPr/>
          <a:lstStyle/>
          <a:p>
            <a:r>
              <a:rPr kumimoji="1" lang="ja-JP" altLang="en-US"/>
              <a:t>共変量選択</a:t>
            </a:r>
          </a:p>
        </p:txBody>
      </p:sp>
      <p:graphicFrame>
        <p:nvGraphicFramePr>
          <p:cNvPr id="5" name="表 5">
            <a:extLst>
              <a:ext uri="{FF2B5EF4-FFF2-40B4-BE49-F238E27FC236}">
                <a16:creationId xmlns:a16="http://schemas.microsoft.com/office/drawing/2014/main" id="{D734DC8B-D879-A598-C3D2-EA8A0AE144B8}"/>
              </a:ext>
            </a:extLst>
          </p:cNvPr>
          <p:cNvGraphicFramePr>
            <a:graphicFrameLocks noGrp="1"/>
          </p:cNvGraphicFramePr>
          <p:nvPr/>
        </p:nvGraphicFramePr>
        <p:xfrm>
          <a:off x="509588" y="2953862"/>
          <a:ext cx="11172824" cy="2072640"/>
        </p:xfrm>
        <a:graphic>
          <a:graphicData uri="http://schemas.openxmlformats.org/drawingml/2006/table">
            <a:tbl>
              <a:tblPr firstRow="1" bandRow="1">
                <a:tableStyleId>{5C22544A-7EE6-4342-B048-85BDC9FD1C3A}</a:tableStyleId>
              </a:tblPr>
              <a:tblGrid>
                <a:gridCol w="2533650">
                  <a:extLst>
                    <a:ext uri="{9D8B030D-6E8A-4147-A177-3AD203B41FA5}">
                      <a16:colId xmlns:a16="http://schemas.microsoft.com/office/drawing/2014/main" val="1488891011"/>
                    </a:ext>
                  </a:extLst>
                </a:gridCol>
                <a:gridCol w="2786062">
                  <a:extLst>
                    <a:ext uri="{9D8B030D-6E8A-4147-A177-3AD203B41FA5}">
                      <a16:colId xmlns:a16="http://schemas.microsoft.com/office/drawing/2014/main" val="920897761"/>
                    </a:ext>
                  </a:extLst>
                </a:gridCol>
                <a:gridCol w="2926556">
                  <a:extLst>
                    <a:ext uri="{9D8B030D-6E8A-4147-A177-3AD203B41FA5}">
                      <a16:colId xmlns:a16="http://schemas.microsoft.com/office/drawing/2014/main" val="1439432078"/>
                    </a:ext>
                  </a:extLst>
                </a:gridCol>
                <a:gridCol w="2926556">
                  <a:extLst>
                    <a:ext uri="{9D8B030D-6E8A-4147-A177-3AD203B41FA5}">
                      <a16:colId xmlns:a16="http://schemas.microsoft.com/office/drawing/2014/main" val="3026607250"/>
                    </a:ext>
                  </a:extLst>
                </a:gridCol>
              </a:tblGrid>
              <a:tr h="370840">
                <a:tc rowSpan="2" gridSpan="2">
                  <a:txBody>
                    <a:bodyPr/>
                    <a:lstStyle/>
                    <a:p>
                      <a:pPr algn="ctr"/>
                      <a:endParaRPr kumimoji="1" lang="ja-JP" altLang="en-US" sz="2800" b="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hMerge="1">
                  <a:txBody>
                    <a:bodyPr/>
                    <a:lstStyle/>
                    <a:p>
                      <a:endParaRPr kumimoji="1" lang="ja-JP" altLang="en-US" sz="2800" b="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r>
                        <a:rPr kumimoji="1" lang="ja-JP" altLang="en-US" sz="2800" b="0">
                          <a:solidFill>
                            <a:schemeClr val="tx1"/>
                          </a:solidFill>
                        </a:rPr>
                        <a:t>結果変数</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sz="2800" b="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05575479"/>
                  </a:ext>
                </a:extLst>
              </a:tr>
              <a:tr h="370840">
                <a:tc gridSpan="2" vMerge="1">
                  <a:txBody>
                    <a:bodyPr/>
                    <a:lstStyle/>
                    <a:p>
                      <a:endParaRPr kumimoji="1" lang="ja-JP" altLang="en-US" sz="2800" b="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vMerge="1">
                  <a:txBody>
                    <a:bodyPr/>
                    <a:lstStyle/>
                    <a:p>
                      <a:endParaRPr kumimoji="1" lang="ja-JP" altLang="en-US" sz="2800" b="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2800" b="0">
                          <a:solidFill>
                            <a:schemeClr val="tx1"/>
                          </a:solidFill>
                        </a:rPr>
                        <a:t>影響を与える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c>
                  <a:txBody>
                    <a:bodyPr/>
                    <a:lstStyle/>
                    <a:p>
                      <a:pPr algn="ctr"/>
                      <a:r>
                        <a:rPr kumimoji="1" lang="ja-JP" altLang="en-US" sz="2800" b="0">
                          <a:solidFill>
                            <a:schemeClr val="tx1"/>
                          </a:solidFill>
                        </a:rPr>
                        <a:t>影響を与えない</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1580593191"/>
                  </a:ext>
                </a:extLst>
              </a:tr>
              <a:tr h="370840">
                <a:tc rowSpan="2">
                  <a:txBody>
                    <a:bodyPr/>
                    <a:lstStyle/>
                    <a:p>
                      <a:pPr algn="ctr"/>
                      <a:r>
                        <a:rPr kumimoji="1" lang="ja-JP" altLang="en-US" sz="2800" b="0">
                          <a:solidFill>
                            <a:schemeClr val="tx1"/>
                          </a:solidFill>
                        </a:rPr>
                        <a:t>割り当て変数</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2800" b="0">
                          <a:solidFill>
                            <a:schemeClr val="tx1"/>
                          </a:solidFill>
                        </a:rPr>
                        <a:t>影響を与える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2800" b="0">
                          <a:solidFill>
                            <a:schemeClr val="tx1"/>
                          </a:solidFill>
                        </a:rPr>
                        <a:t>選択する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c>
                  <a:txBody>
                    <a:bodyPr/>
                    <a:lstStyle/>
                    <a:p>
                      <a:pPr algn="ctr"/>
                      <a:r>
                        <a:rPr kumimoji="1" lang="ja-JP" altLang="en-US" sz="2800" b="0">
                          <a:solidFill>
                            <a:schemeClr val="tx1"/>
                          </a:solidFill>
                        </a:rPr>
                        <a:t>選択しない</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2380564456"/>
                  </a:ext>
                </a:extLst>
              </a:tr>
              <a:tr h="370840">
                <a:tc vMerge="1">
                  <a:txBody>
                    <a:bodyPr/>
                    <a:lstStyle/>
                    <a:p>
                      <a:endParaRPr kumimoji="1" lang="ja-JP" altLang="en-US" sz="2800" b="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2800" b="0">
                          <a:solidFill>
                            <a:schemeClr val="tx1"/>
                          </a:solidFill>
                        </a:rPr>
                        <a:t>影響を与えない</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2800" b="0">
                          <a:solidFill>
                            <a:schemeClr val="tx1"/>
                          </a:solidFill>
                        </a:rPr>
                        <a:t>選択する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c>
                  <a:txBody>
                    <a:bodyPr/>
                    <a:lstStyle/>
                    <a:p>
                      <a:pPr algn="ctr"/>
                      <a:r>
                        <a:rPr kumimoji="1" lang="ja-JP" altLang="en-US" sz="2800" b="0">
                          <a:solidFill>
                            <a:schemeClr val="tx1"/>
                          </a:solidFill>
                        </a:rPr>
                        <a:t>選択しない</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1620460034"/>
                  </a:ext>
                </a:extLst>
              </a:tr>
            </a:tbl>
          </a:graphicData>
        </a:graphic>
      </p:graphicFrame>
      <p:sp>
        <p:nvSpPr>
          <p:cNvPr id="3" name="スライド番号プレースホルダー 2">
            <a:extLst>
              <a:ext uri="{FF2B5EF4-FFF2-40B4-BE49-F238E27FC236}">
                <a16:creationId xmlns:a16="http://schemas.microsoft.com/office/drawing/2014/main" id="{4945BF29-295B-91C7-1C0B-1D87D71148FE}"/>
              </a:ext>
            </a:extLst>
          </p:cNvPr>
          <p:cNvSpPr>
            <a:spLocks noGrp="1"/>
          </p:cNvSpPr>
          <p:nvPr>
            <p:ph type="sldNum" sz="quarter" idx="12"/>
          </p:nvPr>
        </p:nvSpPr>
        <p:spPr/>
        <p:txBody>
          <a:bodyPr/>
          <a:lstStyle/>
          <a:p>
            <a:fld id="{21218AEF-8260-6F42-89D9-6D82E053F226}" type="slidenum">
              <a:rPr kumimoji="1" lang="ja-JP" altLang="en-US" smtClean="0"/>
              <a:t>15</a:t>
            </a:fld>
            <a:endParaRPr kumimoji="1" lang="ja-JP" altLang="en-US"/>
          </a:p>
        </p:txBody>
      </p:sp>
    </p:spTree>
    <p:extLst>
      <p:ext uri="{BB962C8B-B14F-4D97-AF65-F5344CB8AC3E}">
        <p14:creationId xmlns:p14="http://schemas.microsoft.com/office/powerpoint/2010/main" val="4178292597"/>
      </p:ext>
    </p:extLst>
  </p:cSld>
  <p:clrMapOvr>
    <a:masterClrMapping/>
  </p:clrMapOvr>
  <mc:AlternateContent xmlns:mc="http://schemas.openxmlformats.org/markup-compatibility/2006">
    <mc:Choice xmlns:p14="http://schemas.microsoft.com/office/powerpoint/2010/main" Requires="p14">
      <p:transition spd="slow" p14:dur="2000" advTm="15070"/>
    </mc:Choice>
    <mc:Fallback>
      <p:transition spd="slow" advTm="1507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C120DFA-B96A-548A-F7F0-9B6A6AA23247}"/>
              </a:ext>
            </a:extLst>
          </p:cNvPr>
          <p:cNvSpPr>
            <a:spLocks noGrp="1"/>
          </p:cNvSpPr>
          <p:nvPr>
            <p:ph type="title"/>
          </p:nvPr>
        </p:nvSpPr>
        <p:spPr/>
        <p:txBody>
          <a:bodyPr/>
          <a:lstStyle/>
          <a:p>
            <a:r>
              <a:rPr kumimoji="1" lang="ja-JP" altLang="en-US"/>
              <a:t>球共分散</a:t>
            </a:r>
            <a:r>
              <a:rPr lang="en-US" altLang="ja-JP" sz="4400" dirty="0">
                <a:solidFill>
                  <a:schemeClr val="dk1"/>
                </a:solidFill>
                <a:latin typeface="+mn-ea"/>
                <a:ea typeface="+mn-ea"/>
                <a:cs typeface="Arial" panose="020B0604020202020204" pitchFamily="34" charset="0"/>
              </a:rPr>
              <a:t>(</a:t>
            </a:r>
            <a:r>
              <a:rPr lang="en-US" altLang="ja-JP" sz="4400" dirty="0">
                <a:solidFill>
                  <a:schemeClr val="dk1"/>
                </a:solidFill>
                <a:latin typeface="+mn-ea"/>
                <a:cs typeface="Arial" panose="020B0604020202020204" pitchFamily="34" charset="0"/>
              </a:rPr>
              <a:t>Pan et al.,</a:t>
            </a:r>
            <a:r>
              <a:rPr lang="ja-JP" altLang="en-US" sz="4400">
                <a:solidFill>
                  <a:schemeClr val="dk1"/>
                </a:solidFill>
                <a:latin typeface="+mn-ea"/>
                <a:cs typeface="Arial" panose="020B0604020202020204" pitchFamily="34" charset="0"/>
              </a:rPr>
              <a:t> </a:t>
            </a:r>
            <a:r>
              <a:rPr lang="en-US" altLang="ja-JP" sz="4400" dirty="0">
                <a:solidFill>
                  <a:schemeClr val="dk1"/>
                </a:solidFill>
                <a:latin typeface="+mn-ea"/>
                <a:cs typeface="Arial" panose="020B0604020202020204" pitchFamily="34" charset="0"/>
              </a:rPr>
              <a:t>2020)</a:t>
            </a:r>
            <a:endParaRPr kumimoji="1" lang="ja-JP" altLang="en-US"/>
          </a:p>
        </p:txBody>
      </p:sp>
      <mc:AlternateContent xmlns:mc="http://schemas.openxmlformats.org/markup-compatibility/2006">
        <mc:Choice xmlns:a14="http://schemas.microsoft.com/office/drawing/2010/main" Requires="a14">
          <p:sp>
            <p:nvSpPr>
              <p:cNvPr id="4" name="正方形/長方形 3">
                <a:extLst>
                  <a:ext uri="{FF2B5EF4-FFF2-40B4-BE49-F238E27FC236}">
                    <a16:creationId xmlns:a16="http://schemas.microsoft.com/office/drawing/2014/main" id="{A36B35C0-2B96-3201-C963-2BC627406036}"/>
                  </a:ext>
                </a:extLst>
              </p:cNvPr>
              <p:cNvSpPr/>
              <p:nvPr/>
            </p:nvSpPr>
            <p:spPr>
              <a:xfrm>
                <a:off x="442554" y="1690688"/>
                <a:ext cx="11560259" cy="963575"/>
              </a:xfrm>
              <a:prstGeom prst="rect">
                <a:avLst/>
              </a:prstGeom>
              <a:ln w="28575">
                <a:noFill/>
              </a:ln>
            </p:spPr>
            <p:style>
              <a:lnRef idx="2">
                <a:schemeClr val="accent6"/>
              </a:lnRef>
              <a:fillRef idx="1">
                <a:schemeClr val="lt1"/>
              </a:fillRef>
              <a:effectRef idx="0">
                <a:schemeClr val="accent6"/>
              </a:effectRef>
              <a:fontRef idx="minor">
                <a:schemeClr val="dk1"/>
              </a:fontRef>
            </p:style>
            <p:txBody>
              <a:bodyPr rtlCol="0" anchor="ctr"/>
              <a:lstStyle/>
              <a:p>
                <a:pPr algn="ctr"/>
                <a14:m>
                  <m:oMathPara xmlns:m="http://schemas.openxmlformats.org/officeDocument/2006/math">
                    <m:oMathParaPr>
                      <m:jc m:val="centerGroup"/>
                    </m:oMathParaPr>
                    <m:oMath xmlns:m="http://schemas.openxmlformats.org/officeDocument/2006/math">
                      <m:sSup>
                        <m:sSupPr>
                          <m:ctrlPr>
                            <a:rPr kumimoji="1" lang="en-US" altLang="ja-JP" sz="2800" i="1" smtClean="0">
                              <a:latin typeface="Cambria Math" panose="02040503050406030204" pitchFamily="18" charset="0"/>
                            </a:rPr>
                          </m:ctrlPr>
                        </m:sSupPr>
                        <m:e>
                          <m:r>
                            <m:rPr>
                              <m:sty m:val="p"/>
                            </m:rPr>
                            <a:rPr kumimoji="1" lang="en-US" altLang="ja-JP" sz="2800" b="0" i="0" smtClean="0">
                              <a:latin typeface="Cambria Math" panose="02040503050406030204" pitchFamily="18" charset="0"/>
                            </a:rPr>
                            <m:t>B</m:t>
                          </m:r>
                          <m:r>
                            <m:rPr>
                              <m:sty m:val="p"/>
                            </m:rPr>
                            <a:rPr kumimoji="1" lang="en-US" altLang="ja-JP" sz="2800" b="0" i="0" smtClean="0">
                              <a:latin typeface="Cambria Math" panose="02040503050406030204" pitchFamily="18" charset="0"/>
                            </a:rPr>
                            <m:t>C</m:t>
                          </m:r>
                          <m:r>
                            <m:rPr>
                              <m:sty m:val="p"/>
                            </m:rPr>
                            <a:rPr kumimoji="1" lang="en-US" altLang="ja-JP" sz="2800" b="0" i="0" smtClean="0">
                              <a:latin typeface="Cambria Math" panose="02040503050406030204" pitchFamily="18" charset="0"/>
                            </a:rPr>
                            <m:t>ov</m:t>
                          </m:r>
                        </m:e>
                        <m:sup>
                          <m:r>
                            <a:rPr kumimoji="1" lang="en-US" altLang="ja-JP" sz="2800" b="0" i="1" smtClean="0">
                              <a:latin typeface="Cambria Math" panose="02040503050406030204" pitchFamily="18" charset="0"/>
                            </a:rPr>
                            <m:t>2</m:t>
                          </m:r>
                        </m:sup>
                      </m:sSup>
                      <m:d>
                        <m:dPr>
                          <m:ctrlPr>
                            <a:rPr kumimoji="1" lang="en-US" altLang="ja-JP" sz="2800" b="0" i="1" smtClean="0">
                              <a:latin typeface="Cambria Math" panose="02040503050406030204" pitchFamily="18" charset="0"/>
                            </a:rPr>
                          </m:ctrlPr>
                        </m:dPr>
                        <m:e>
                          <m:r>
                            <a:rPr kumimoji="1" lang="en-US" altLang="ja-JP" sz="2800" b="0" i="1" smtClean="0">
                              <a:latin typeface="Cambria Math" panose="02040503050406030204" pitchFamily="18" charset="0"/>
                            </a:rPr>
                            <m:t>𝑆</m:t>
                          </m:r>
                          <m:r>
                            <a:rPr kumimoji="1" lang="en-US" altLang="ja-JP" sz="2800" b="0" i="1" smtClean="0">
                              <a:latin typeface="Cambria Math" panose="02040503050406030204" pitchFamily="18" charset="0"/>
                            </a:rPr>
                            <m:t>,</m:t>
                          </m:r>
                          <m:r>
                            <a:rPr kumimoji="1" lang="en-US" altLang="ja-JP" sz="2800" b="0" i="1" smtClean="0">
                              <a:latin typeface="Cambria Math" panose="02040503050406030204" pitchFamily="18" charset="0"/>
                            </a:rPr>
                            <m:t>𝑇</m:t>
                          </m:r>
                        </m:e>
                      </m:d>
                      <m:r>
                        <a:rPr kumimoji="1" lang="en-US" altLang="ja-JP" sz="2800" b="0" i="1" smtClean="0">
                          <a:latin typeface="Cambria Math" panose="02040503050406030204" pitchFamily="18" charset="0"/>
                        </a:rPr>
                        <m:t>=</m:t>
                      </m:r>
                      <m:nary>
                        <m:naryPr>
                          <m:limLoc m:val="undOvr"/>
                          <m:subHide m:val="on"/>
                          <m:supHide m:val="on"/>
                          <m:ctrlPr>
                            <a:rPr kumimoji="1" lang="en-US" altLang="ja-JP" sz="2800" b="0" i="1" smtClean="0">
                              <a:latin typeface="Cambria Math" panose="02040503050406030204" pitchFamily="18" charset="0"/>
                            </a:rPr>
                          </m:ctrlPr>
                        </m:naryPr>
                        <m:sub/>
                        <m:sup/>
                        <m:e>
                          <m:sSup>
                            <m:sSupPr>
                              <m:ctrlPr>
                                <a:rPr kumimoji="1" lang="en-US" altLang="ja-JP" sz="2800" b="0" i="1" smtClean="0">
                                  <a:latin typeface="Cambria Math" panose="02040503050406030204" pitchFamily="18" charset="0"/>
                                </a:rPr>
                              </m:ctrlPr>
                            </m:sSupPr>
                            <m:e>
                              <m:d>
                                <m:dPr>
                                  <m:ctrlPr>
                                    <a:rPr kumimoji="1" lang="en-US" altLang="ja-JP" sz="2800" b="0" i="1" smtClean="0">
                                      <a:latin typeface="Cambria Math" panose="02040503050406030204" pitchFamily="18" charset="0"/>
                                    </a:rPr>
                                  </m:ctrlPr>
                                </m:dPr>
                                <m:e>
                                  <m:r>
                                    <a:rPr kumimoji="1" lang="ja-JP" altLang="en-US" sz="2800" b="0" i="1" smtClean="0">
                                      <a:latin typeface="Cambria Math" panose="02040503050406030204" pitchFamily="18" charset="0"/>
                                    </a:rPr>
                                    <m:t>𝜃</m:t>
                                  </m:r>
                                  <m:r>
                                    <a:rPr kumimoji="1" lang="en-US" altLang="ja-JP" sz="2800" b="0" i="1" smtClean="0">
                                      <a:latin typeface="Cambria Math" panose="02040503050406030204" pitchFamily="18" charset="0"/>
                                    </a:rPr>
                                    <m:t>−</m:t>
                                  </m:r>
                                  <m:r>
                                    <a:rPr kumimoji="1" lang="ja-JP" altLang="en-US" sz="2800" b="0" i="1" smtClean="0">
                                      <a:latin typeface="Cambria Math" panose="02040503050406030204" pitchFamily="18" charset="0"/>
                                    </a:rPr>
                                    <m:t>𝜄</m:t>
                                  </m:r>
                                  <m:r>
                                    <a:rPr kumimoji="1" lang="ja-JP" altLang="en-US" sz="2800" b="0" i="1" smtClean="0">
                                      <a:latin typeface="Cambria Math" panose="02040503050406030204" pitchFamily="18" charset="0"/>
                                    </a:rPr>
                                    <m:t>⊗</m:t>
                                  </m:r>
                                  <m:r>
                                    <a:rPr kumimoji="1" lang="ja-JP" altLang="en-US" sz="2800" b="0" i="1" smtClean="0">
                                      <a:latin typeface="Cambria Math" panose="02040503050406030204" pitchFamily="18" charset="0"/>
                                    </a:rPr>
                                    <m:t>𝜅</m:t>
                                  </m:r>
                                </m:e>
                              </m:d>
                            </m:e>
                            <m:sup>
                              <m:r>
                                <a:rPr kumimoji="1" lang="en-US" altLang="ja-JP" sz="2800" b="0" i="1" smtClean="0">
                                  <a:latin typeface="Cambria Math" panose="02040503050406030204" pitchFamily="18" charset="0"/>
                                </a:rPr>
                                <m:t>2</m:t>
                              </m:r>
                            </m:sup>
                          </m:sSup>
                          <m:d>
                            <m:dPr>
                              <m:begChr m:val="{"/>
                              <m:endChr m:val="}"/>
                              <m:ctrlPr>
                                <a:rPr kumimoji="1" lang="en-US" altLang="ja-JP" sz="2800" b="0" i="1" smtClean="0">
                                  <a:latin typeface="Cambria Math" panose="02040503050406030204" pitchFamily="18" charset="0"/>
                                </a:rPr>
                              </m:ctrlPr>
                            </m:dPr>
                            <m:e>
                              <m:sSub>
                                <m:sSubPr>
                                  <m:ctrlPr>
                                    <a:rPr kumimoji="1" lang="en-US" altLang="ja-JP" sz="2800" b="0" i="1" smtClean="0">
                                      <a:latin typeface="Cambria Math" panose="02040503050406030204" pitchFamily="18" charset="0"/>
                                    </a:rPr>
                                  </m:ctrlPr>
                                </m:sSubPr>
                                <m:e>
                                  <m:acc>
                                    <m:accPr>
                                      <m:chr m:val="̅"/>
                                      <m:ctrlPr>
                                        <a:rPr kumimoji="1" lang="en-US" altLang="ja-JP" sz="2800" b="0" i="1" smtClean="0">
                                          <a:latin typeface="Cambria Math" panose="02040503050406030204" pitchFamily="18" charset="0"/>
                                        </a:rPr>
                                      </m:ctrlPr>
                                    </m:accPr>
                                    <m:e>
                                      <m:r>
                                        <a:rPr kumimoji="1" lang="en-US" altLang="ja-JP" sz="2800" b="0" i="1" smtClean="0">
                                          <a:latin typeface="Cambria Math" panose="02040503050406030204" pitchFamily="18" charset="0"/>
                                        </a:rPr>
                                        <m:t>𝐵</m:t>
                                      </m:r>
                                    </m:e>
                                  </m:acc>
                                </m:e>
                                <m:sub>
                                  <m:r>
                                    <a:rPr kumimoji="1" lang="ja-JP" altLang="en-US" sz="2800" b="0" i="1" smtClean="0">
                                      <a:latin typeface="Cambria Math" panose="02040503050406030204" pitchFamily="18" charset="0"/>
                                    </a:rPr>
                                    <m:t>𝜌</m:t>
                                  </m:r>
                                </m:sub>
                              </m:sSub>
                              <m:d>
                                <m:dPr>
                                  <m:ctrlPr>
                                    <a:rPr kumimoji="1" lang="en-US" altLang="ja-JP" sz="2800" b="0" i="1" smtClean="0">
                                      <a:latin typeface="Cambria Math" panose="02040503050406030204" pitchFamily="18" charset="0"/>
                                    </a:rPr>
                                  </m:ctrlPr>
                                </m:dPr>
                                <m:e>
                                  <m:sSub>
                                    <m:sSubPr>
                                      <m:ctrlPr>
                                        <a:rPr kumimoji="1" lang="en-US" altLang="ja-JP" sz="2800" b="0" i="1" smtClean="0">
                                          <a:latin typeface="Cambria Math" panose="02040503050406030204" pitchFamily="18" charset="0"/>
                                        </a:rPr>
                                      </m:ctrlPr>
                                    </m:sSubPr>
                                    <m:e>
                                      <m:r>
                                        <a:rPr kumimoji="1" lang="en-US" altLang="ja-JP" sz="2800" b="0" i="1" smtClean="0">
                                          <a:latin typeface="Cambria Math" panose="02040503050406030204" pitchFamily="18" charset="0"/>
                                        </a:rPr>
                                        <m:t>𝑠</m:t>
                                      </m:r>
                                    </m:e>
                                    <m:sub>
                                      <m:r>
                                        <a:rPr kumimoji="1" lang="en-US" altLang="ja-JP" sz="2800" b="0" i="1" smtClean="0">
                                          <a:latin typeface="Cambria Math" panose="02040503050406030204" pitchFamily="18" charset="0"/>
                                        </a:rPr>
                                        <m:t>1</m:t>
                                      </m:r>
                                    </m:sub>
                                  </m:sSub>
                                  <m:r>
                                    <a:rPr kumimoji="1" lang="en-US" altLang="ja-JP" sz="2800" b="0" i="1" smtClean="0">
                                      <a:latin typeface="Cambria Math" panose="02040503050406030204" pitchFamily="18" charset="0"/>
                                    </a:rPr>
                                    <m:t>,</m:t>
                                  </m:r>
                                  <m:sSub>
                                    <m:sSubPr>
                                      <m:ctrlPr>
                                        <a:rPr kumimoji="1" lang="en-US" altLang="ja-JP" sz="2800" b="0" i="1" smtClean="0">
                                          <a:latin typeface="Cambria Math" panose="02040503050406030204" pitchFamily="18" charset="0"/>
                                        </a:rPr>
                                      </m:ctrlPr>
                                    </m:sSubPr>
                                    <m:e>
                                      <m:r>
                                        <a:rPr kumimoji="1" lang="en-US" altLang="ja-JP" sz="2800" b="0" i="1" smtClean="0">
                                          <a:latin typeface="Cambria Math" panose="02040503050406030204" pitchFamily="18" charset="0"/>
                                        </a:rPr>
                                        <m:t>𝑠</m:t>
                                      </m:r>
                                    </m:e>
                                    <m:sub>
                                      <m:r>
                                        <a:rPr kumimoji="1" lang="en-US" altLang="ja-JP" sz="2800" b="0" i="1" smtClean="0">
                                          <a:latin typeface="Cambria Math" panose="02040503050406030204" pitchFamily="18" charset="0"/>
                                        </a:rPr>
                                        <m:t>2</m:t>
                                      </m:r>
                                    </m:sub>
                                  </m:sSub>
                                </m:e>
                              </m:d>
                              <m:r>
                                <a:rPr kumimoji="1" lang="en-US" altLang="ja-JP" sz="2800" b="0" i="1" smtClean="0">
                                  <a:latin typeface="Cambria Math" panose="02040503050406030204" pitchFamily="18" charset="0"/>
                                </a:rPr>
                                <m:t>×</m:t>
                              </m:r>
                              <m:sSub>
                                <m:sSubPr>
                                  <m:ctrlPr>
                                    <a:rPr kumimoji="1" lang="en-US" altLang="ja-JP" sz="2800" i="1">
                                      <a:latin typeface="Cambria Math" panose="02040503050406030204" pitchFamily="18" charset="0"/>
                                    </a:rPr>
                                  </m:ctrlPr>
                                </m:sSubPr>
                                <m:e>
                                  <m:acc>
                                    <m:accPr>
                                      <m:chr m:val="̅"/>
                                      <m:ctrlPr>
                                        <a:rPr kumimoji="1" lang="en-US" altLang="ja-JP" sz="2800" i="1">
                                          <a:latin typeface="Cambria Math" panose="02040503050406030204" pitchFamily="18" charset="0"/>
                                        </a:rPr>
                                      </m:ctrlPr>
                                    </m:accPr>
                                    <m:e>
                                      <m:r>
                                        <a:rPr kumimoji="1" lang="en-US" altLang="ja-JP" sz="2800" i="1">
                                          <a:latin typeface="Cambria Math" panose="02040503050406030204" pitchFamily="18" charset="0"/>
                                        </a:rPr>
                                        <m:t>𝐵</m:t>
                                      </m:r>
                                    </m:e>
                                  </m:acc>
                                </m:e>
                                <m:sub>
                                  <m:r>
                                    <a:rPr kumimoji="1" lang="ja-JP" altLang="en-US" sz="2800" i="1" smtClean="0">
                                      <a:latin typeface="Cambria Math" panose="02040503050406030204" pitchFamily="18" charset="0"/>
                                    </a:rPr>
                                    <m:t>𝜉</m:t>
                                  </m:r>
                                </m:sub>
                              </m:sSub>
                              <m:d>
                                <m:dPr>
                                  <m:ctrlPr>
                                    <a:rPr kumimoji="1" lang="en-US" altLang="ja-JP" sz="2800" i="1">
                                      <a:latin typeface="Cambria Math" panose="02040503050406030204" pitchFamily="18" charset="0"/>
                                    </a:rPr>
                                  </m:ctrlPr>
                                </m:dPr>
                                <m:e>
                                  <m:sSub>
                                    <m:sSubPr>
                                      <m:ctrlPr>
                                        <a:rPr kumimoji="1" lang="en-US" altLang="ja-JP" sz="2800" i="1">
                                          <a:latin typeface="Cambria Math" panose="02040503050406030204" pitchFamily="18" charset="0"/>
                                        </a:rPr>
                                      </m:ctrlPr>
                                    </m:sSubPr>
                                    <m:e>
                                      <m:r>
                                        <a:rPr kumimoji="1" lang="en-US" altLang="ja-JP" sz="2800" b="0" i="1" smtClean="0">
                                          <a:latin typeface="Cambria Math" panose="02040503050406030204" pitchFamily="18" charset="0"/>
                                        </a:rPr>
                                        <m:t>𝑡</m:t>
                                      </m:r>
                                    </m:e>
                                    <m:sub>
                                      <m:r>
                                        <a:rPr kumimoji="1" lang="en-US" altLang="ja-JP" sz="2800" i="1">
                                          <a:latin typeface="Cambria Math" panose="02040503050406030204" pitchFamily="18" charset="0"/>
                                        </a:rPr>
                                        <m:t>1</m:t>
                                      </m:r>
                                    </m:sub>
                                  </m:sSub>
                                  <m:r>
                                    <a:rPr kumimoji="1" lang="en-US" altLang="ja-JP" sz="2800" i="1">
                                      <a:latin typeface="Cambria Math" panose="02040503050406030204" pitchFamily="18" charset="0"/>
                                    </a:rPr>
                                    <m:t>,</m:t>
                                  </m:r>
                                  <m:sSub>
                                    <m:sSubPr>
                                      <m:ctrlPr>
                                        <a:rPr kumimoji="1" lang="en-US" altLang="ja-JP" sz="2800" i="1">
                                          <a:latin typeface="Cambria Math" panose="02040503050406030204" pitchFamily="18" charset="0"/>
                                        </a:rPr>
                                      </m:ctrlPr>
                                    </m:sSubPr>
                                    <m:e>
                                      <m:r>
                                        <a:rPr kumimoji="1" lang="en-US" altLang="ja-JP" sz="2800" b="0" i="1" smtClean="0">
                                          <a:latin typeface="Cambria Math" panose="02040503050406030204" pitchFamily="18" charset="0"/>
                                        </a:rPr>
                                        <m:t>𝑡</m:t>
                                      </m:r>
                                    </m:e>
                                    <m:sub>
                                      <m:r>
                                        <a:rPr kumimoji="1" lang="en-US" altLang="ja-JP" sz="2800" i="1">
                                          <a:latin typeface="Cambria Math" panose="02040503050406030204" pitchFamily="18" charset="0"/>
                                        </a:rPr>
                                        <m:t>2</m:t>
                                      </m:r>
                                    </m:sub>
                                  </m:sSub>
                                </m:e>
                              </m:d>
                            </m:e>
                          </m:d>
                          <m:r>
                            <a:rPr kumimoji="1" lang="ja-JP" altLang="en-US" sz="2800" b="0" i="1" smtClean="0">
                              <a:latin typeface="Cambria Math" panose="02040503050406030204" pitchFamily="18" charset="0"/>
                            </a:rPr>
                            <m:t>𝜃</m:t>
                          </m:r>
                          <m:d>
                            <m:dPr>
                              <m:ctrlPr>
                                <a:rPr kumimoji="1" lang="en-US" altLang="ja-JP" sz="2800" b="0" i="1" smtClean="0">
                                  <a:latin typeface="Cambria Math" panose="02040503050406030204" pitchFamily="18" charset="0"/>
                                </a:rPr>
                              </m:ctrlPr>
                            </m:dPr>
                            <m:e>
                              <m:r>
                                <a:rPr kumimoji="1" lang="en-US" altLang="ja-JP" sz="2800" b="0" i="1" smtClean="0">
                                  <a:latin typeface="Cambria Math" panose="02040503050406030204" pitchFamily="18" charset="0"/>
                                </a:rPr>
                                <m:t>𝑑</m:t>
                              </m:r>
                              <m:sSub>
                                <m:sSubPr>
                                  <m:ctrlPr>
                                    <a:rPr kumimoji="1" lang="en-US" altLang="ja-JP" sz="2800" b="0" i="1" smtClean="0">
                                      <a:latin typeface="Cambria Math" panose="02040503050406030204" pitchFamily="18" charset="0"/>
                                    </a:rPr>
                                  </m:ctrlPr>
                                </m:sSubPr>
                                <m:e>
                                  <m:r>
                                    <a:rPr kumimoji="1" lang="en-US" altLang="ja-JP" sz="2800" b="0" i="1" smtClean="0">
                                      <a:latin typeface="Cambria Math" panose="02040503050406030204" pitchFamily="18" charset="0"/>
                                    </a:rPr>
                                    <m:t>𝑠</m:t>
                                  </m:r>
                                </m:e>
                                <m:sub>
                                  <m:r>
                                    <a:rPr kumimoji="1" lang="en-US" altLang="ja-JP" sz="2800" b="0" i="1" smtClean="0">
                                      <a:latin typeface="Cambria Math" panose="02040503050406030204" pitchFamily="18" charset="0"/>
                                    </a:rPr>
                                    <m:t>1</m:t>
                                  </m:r>
                                </m:sub>
                              </m:sSub>
                              <m:r>
                                <a:rPr kumimoji="1" lang="en-US" altLang="ja-JP" sz="2800" b="0" i="1" smtClean="0">
                                  <a:latin typeface="Cambria Math" panose="02040503050406030204" pitchFamily="18" charset="0"/>
                                </a:rPr>
                                <m:t>,</m:t>
                              </m:r>
                              <m:r>
                                <a:rPr kumimoji="1" lang="en-US" altLang="ja-JP" sz="2800" b="0" i="1" smtClean="0">
                                  <a:latin typeface="Cambria Math" panose="02040503050406030204" pitchFamily="18" charset="0"/>
                                </a:rPr>
                                <m:t>𝑑</m:t>
                              </m:r>
                              <m:sSub>
                                <m:sSubPr>
                                  <m:ctrlPr>
                                    <a:rPr kumimoji="1" lang="en-US" altLang="ja-JP" sz="2800" b="0" i="1" smtClean="0">
                                      <a:latin typeface="Cambria Math" panose="02040503050406030204" pitchFamily="18" charset="0"/>
                                    </a:rPr>
                                  </m:ctrlPr>
                                </m:sSubPr>
                                <m:e>
                                  <m:r>
                                    <a:rPr kumimoji="1" lang="en-US" altLang="ja-JP" sz="2800" b="0" i="1" smtClean="0">
                                      <a:latin typeface="Cambria Math" panose="02040503050406030204" pitchFamily="18" charset="0"/>
                                    </a:rPr>
                                    <m:t>𝑡</m:t>
                                  </m:r>
                                </m:e>
                                <m:sub>
                                  <m:r>
                                    <a:rPr kumimoji="1" lang="en-US" altLang="ja-JP" sz="2800" b="0" i="1" smtClean="0">
                                      <a:latin typeface="Cambria Math" panose="02040503050406030204" pitchFamily="18" charset="0"/>
                                    </a:rPr>
                                    <m:t>1</m:t>
                                  </m:r>
                                </m:sub>
                              </m:sSub>
                            </m:e>
                          </m:d>
                          <m:r>
                            <a:rPr kumimoji="1" lang="ja-JP" altLang="en-US" sz="2800" b="0" i="1" smtClean="0">
                              <a:latin typeface="Cambria Math" panose="02040503050406030204" pitchFamily="18" charset="0"/>
                            </a:rPr>
                            <m:t>𝜃</m:t>
                          </m:r>
                          <m:d>
                            <m:dPr>
                              <m:ctrlPr>
                                <a:rPr kumimoji="1" lang="en-US" altLang="ja-JP" sz="2800" b="0" i="1" smtClean="0">
                                  <a:latin typeface="Cambria Math" panose="02040503050406030204" pitchFamily="18" charset="0"/>
                                </a:rPr>
                              </m:ctrlPr>
                            </m:dPr>
                            <m:e>
                              <m:r>
                                <a:rPr kumimoji="1" lang="en-US" altLang="ja-JP" sz="2800" b="0" i="1" smtClean="0">
                                  <a:latin typeface="Cambria Math" panose="02040503050406030204" pitchFamily="18" charset="0"/>
                                </a:rPr>
                                <m:t>𝑑</m:t>
                              </m:r>
                              <m:sSub>
                                <m:sSubPr>
                                  <m:ctrlPr>
                                    <a:rPr kumimoji="1" lang="en-US" altLang="ja-JP" sz="2800" b="0" i="1" smtClean="0">
                                      <a:latin typeface="Cambria Math" panose="02040503050406030204" pitchFamily="18" charset="0"/>
                                    </a:rPr>
                                  </m:ctrlPr>
                                </m:sSubPr>
                                <m:e>
                                  <m:r>
                                    <a:rPr kumimoji="1" lang="en-US" altLang="ja-JP" sz="2800" b="0" i="1" smtClean="0">
                                      <a:latin typeface="Cambria Math" panose="02040503050406030204" pitchFamily="18" charset="0"/>
                                    </a:rPr>
                                    <m:t>𝑠</m:t>
                                  </m:r>
                                </m:e>
                                <m:sub>
                                  <m:r>
                                    <a:rPr kumimoji="1" lang="en-US" altLang="ja-JP" sz="2800" b="0" i="1" smtClean="0">
                                      <a:latin typeface="Cambria Math" panose="02040503050406030204" pitchFamily="18" charset="0"/>
                                    </a:rPr>
                                    <m:t>2</m:t>
                                  </m:r>
                                </m:sub>
                              </m:sSub>
                              <m:r>
                                <a:rPr kumimoji="1" lang="en-US" altLang="ja-JP" sz="2800" b="0" i="1" smtClean="0">
                                  <a:latin typeface="Cambria Math" panose="02040503050406030204" pitchFamily="18" charset="0"/>
                                </a:rPr>
                                <m:t>,</m:t>
                              </m:r>
                              <m:r>
                                <a:rPr kumimoji="1" lang="en-US" altLang="ja-JP" sz="2800" b="0" i="1" smtClean="0">
                                  <a:latin typeface="Cambria Math" panose="02040503050406030204" pitchFamily="18" charset="0"/>
                                </a:rPr>
                                <m:t>𝑑</m:t>
                              </m:r>
                              <m:sSub>
                                <m:sSubPr>
                                  <m:ctrlPr>
                                    <a:rPr kumimoji="1" lang="en-US" altLang="ja-JP" sz="2800" b="0" i="1" smtClean="0">
                                      <a:latin typeface="Cambria Math" panose="02040503050406030204" pitchFamily="18" charset="0"/>
                                    </a:rPr>
                                  </m:ctrlPr>
                                </m:sSubPr>
                                <m:e>
                                  <m:r>
                                    <a:rPr kumimoji="1" lang="en-US" altLang="ja-JP" sz="2800" b="0" i="1" smtClean="0">
                                      <a:latin typeface="Cambria Math" panose="02040503050406030204" pitchFamily="18" charset="0"/>
                                    </a:rPr>
                                    <m:t>𝑡</m:t>
                                  </m:r>
                                </m:e>
                                <m:sub>
                                  <m:r>
                                    <a:rPr kumimoji="1" lang="en-US" altLang="ja-JP" sz="2800" b="0" i="1" smtClean="0">
                                      <a:latin typeface="Cambria Math" panose="02040503050406030204" pitchFamily="18" charset="0"/>
                                    </a:rPr>
                                    <m:t>2</m:t>
                                  </m:r>
                                </m:sub>
                              </m:sSub>
                            </m:e>
                          </m:d>
                        </m:e>
                      </m:nary>
                    </m:oMath>
                  </m:oMathPara>
                </a14:m>
                <a:endParaRPr kumimoji="1" lang="ja-JP" altLang="en-US" sz="2800">
                  <a:latin typeface="+mn-ea"/>
                  <a:cs typeface="Arial" panose="020B0604020202020204" pitchFamily="34" charset="0"/>
                </a:endParaRPr>
              </a:p>
            </p:txBody>
          </p:sp>
        </mc:Choice>
        <mc:Fallback>
          <p:sp>
            <p:nvSpPr>
              <p:cNvPr id="4" name="正方形/長方形 3">
                <a:extLst>
                  <a:ext uri="{FF2B5EF4-FFF2-40B4-BE49-F238E27FC236}">
                    <a16:creationId xmlns:a16="http://schemas.microsoft.com/office/drawing/2014/main" id="{A36B35C0-2B96-3201-C963-2BC627406036}"/>
                  </a:ext>
                </a:extLst>
              </p:cNvPr>
              <p:cNvSpPr>
                <a:spLocks noRot="1" noChangeAspect="1" noMove="1" noResize="1" noEditPoints="1" noAdjustHandles="1" noChangeArrowheads="1" noChangeShapeType="1" noTextEdit="1"/>
              </p:cNvSpPr>
              <p:nvPr/>
            </p:nvSpPr>
            <p:spPr>
              <a:xfrm>
                <a:off x="442554" y="1690688"/>
                <a:ext cx="11560259" cy="963575"/>
              </a:xfrm>
              <a:prstGeom prst="rect">
                <a:avLst/>
              </a:prstGeom>
              <a:blipFill>
                <a:blip r:embed="rId3"/>
                <a:stretch>
                  <a:fillRect t="-188312" b="-259740"/>
                </a:stretch>
              </a:blipFill>
              <a:ln w="28575">
                <a:no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sp>
            <p:nvSpPr>
              <p:cNvPr id="5" name="Google Shape;95;p1">
                <a:extLst>
                  <a:ext uri="{FF2B5EF4-FFF2-40B4-BE49-F238E27FC236}">
                    <a16:creationId xmlns:a16="http://schemas.microsoft.com/office/drawing/2014/main" id="{6EF21904-D7FD-AA13-474B-232EFE14E171}"/>
                  </a:ext>
                </a:extLst>
              </p:cNvPr>
              <p:cNvSpPr/>
              <p:nvPr/>
            </p:nvSpPr>
            <p:spPr>
              <a:xfrm>
                <a:off x="528320" y="2858485"/>
                <a:ext cx="11234737" cy="2339254"/>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14:m>
                  <m:oMath xmlns:m="http://schemas.openxmlformats.org/officeDocument/2006/math">
                    <m:r>
                      <a:rPr lang="en-US" altLang="ja-JP" sz="2800" i="1" smtClean="0">
                        <a:latin typeface="Cambria Math" panose="02040503050406030204" pitchFamily="18" charset="0"/>
                        <a:ea typeface="+mn-ea"/>
                      </a:rPr>
                      <m:t>𝑆</m:t>
                    </m:r>
                    <m:r>
                      <a:rPr lang="en-US" altLang="ja-JP" sz="2800">
                        <a:latin typeface="Cambria Math" panose="02040503050406030204" pitchFamily="18" charset="0"/>
                        <a:ea typeface="+mn-ea"/>
                      </a:rPr>
                      <m:t>:</m:t>
                    </m:r>
                  </m:oMath>
                </a14:m>
                <a:r>
                  <a:rPr lang="ja-JP" altLang="en-US" sz="2800">
                    <a:latin typeface="+mn-ea"/>
                    <a:ea typeface="+mn-ea"/>
                    <a:cs typeface="Arial" panose="020B0604020202020204" pitchFamily="34" charset="0"/>
                  </a:rPr>
                  <a:t>バナッハ空間</a:t>
                </a:r>
                <a14:m>
                  <m:oMath xmlns:m="http://schemas.openxmlformats.org/officeDocument/2006/math">
                    <m:d>
                      <m:dPr>
                        <m:ctrlPr>
                          <a:rPr lang="en-US" altLang="ja-JP" sz="2800" i="1">
                            <a:latin typeface="Cambria Math" panose="02040503050406030204" pitchFamily="18" charset="0"/>
                            <a:ea typeface="+mn-ea"/>
                            <a:cs typeface="Arial" panose="020B0604020202020204" pitchFamily="34" charset="0"/>
                          </a:rPr>
                        </m:ctrlPr>
                      </m:dPr>
                      <m:e>
                        <m:r>
                          <a:rPr lang="ja-JP" altLang="en-US" sz="2800" i="1">
                            <a:latin typeface="Cambria Math" panose="02040503050406030204" pitchFamily="18" charset="0"/>
                            <a:ea typeface="+mn-ea"/>
                            <a:cs typeface="Arial" panose="020B0604020202020204" pitchFamily="34" charset="0"/>
                          </a:rPr>
                          <m:t>𝒮</m:t>
                        </m:r>
                        <m:r>
                          <a:rPr lang="en-US" altLang="ja-JP" sz="2800" i="1">
                            <a:latin typeface="Cambria Math" panose="02040503050406030204" pitchFamily="18" charset="0"/>
                            <a:ea typeface="+mn-ea"/>
                            <a:cs typeface="Arial" panose="020B0604020202020204" pitchFamily="34" charset="0"/>
                          </a:rPr>
                          <m:t>,</m:t>
                        </m:r>
                        <m:r>
                          <a:rPr lang="ja-JP" altLang="en-US" sz="2800" i="1">
                            <a:latin typeface="Cambria Math" panose="02040503050406030204" pitchFamily="18" charset="0"/>
                            <a:ea typeface="+mn-ea"/>
                            <a:cs typeface="Arial" panose="020B0604020202020204" pitchFamily="34" charset="0"/>
                          </a:rPr>
                          <m:t>𝜌</m:t>
                        </m:r>
                      </m:e>
                    </m:d>
                  </m:oMath>
                </a14:m>
                <a:r>
                  <a:rPr lang="ja-JP" altLang="en-US" sz="2800">
                    <a:latin typeface="+mn-ea"/>
                    <a:ea typeface="+mn-ea"/>
                    <a:cs typeface="Arial" panose="020B0604020202020204" pitchFamily="34" charset="0"/>
                  </a:rPr>
                  <a:t>上の確率変数</a:t>
                </a:r>
                <a:endParaRPr lang="en-US" altLang="ja-JP" sz="2800" dirty="0">
                  <a:latin typeface="+mn-ea"/>
                  <a:ea typeface="+mn-ea"/>
                  <a:cs typeface="Arial" panose="020B0604020202020204" pitchFamily="34" charset="0"/>
                </a:endParaRPr>
              </a:p>
              <a:p>
                <a14:m>
                  <m:oMath xmlns:m="http://schemas.openxmlformats.org/officeDocument/2006/math">
                    <m:r>
                      <a:rPr lang="en-US" altLang="ja-JP" sz="2800" i="1">
                        <a:latin typeface="Cambria Math" panose="02040503050406030204" pitchFamily="18" charset="0"/>
                        <a:ea typeface="+mn-ea"/>
                      </a:rPr>
                      <m:t>𝑇</m:t>
                    </m:r>
                    <m:r>
                      <a:rPr lang="en-US" altLang="ja-JP" sz="2800">
                        <a:latin typeface="Cambria Math" panose="02040503050406030204" pitchFamily="18" charset="0"/>
                        <a:ea typeface="+mn-ea"/>
                      </a:rPr>
                      <m:t>:</m:t>
                    </m:r>
                  </m:oMath>
                </a14:m>
                <a:r>
                  <a:rPr lang="ja-JP" altLang="en-US" sz="2800">
                    <a:latin typeface="+mn-ea"/>
                    <a:ea typeface="+mn-ea"/>
                    <a:cs typeface="Arial" panose="020B0604020202020204" pitchFamily="34" charset="0"/>
                  </a:rPr>
                  <a:t>バナッハ空間</a:t>
                </a:r>
                <a14:m>
                  <m:oMath xmlns:m="http://schemas.openxmlformats.org/officeDocument/2006/math">
                    <m:d>
                      <m:dPr>
                        <m:ctrlPr>
                          <a:rPr lang="en-US" altLang="ja-JP" sz="2800" i="1">
                            <a:latin typeface="Cambria Math" panose="02040503050406030204" pitchFamily="18" charset="0"/>
                            <a:ea typeface="+mn-ea"/>
                            <a:cs typeface="Arial" panose="020B0604020202020204" pitchFamily="34" charset="0"/>
                          </a:rPr>
                        </m:ctrlPr>
                      </m:dPr>
                      <m:e>
                        <m:r>
                          <a:rPr lang="ja-JP" altLang="en-US" sz="2800" i="1">
                            <a:latin typeface="Cambria Math" panose="02040503050406030204" pitchFamily="18" charset="0"/>
                            <a:ea typeface="+mn-ea"/>
                            <a:cs typeface="Arial" panose="020B0604020202020204" pitchFamily="34" charset="0"/>
                          </a:rPr>
                          <m:t>𝒯</m:t>
                        </m:r>
                        <m:r>
                          <a:rPr lang="en-US" altLang="ja-JP" sz="2800" i="1">
                            <a:latin typeface="Cambria Math" panose="02040503050406030204" pitchFamily="18" charset="0"/>
                            <a:ea typeface="+mn-ea"/>
                            <a:cs typeface="Arial" panose="020B0604020202020204" pitchFamily="34" charset="0"/>
                          </a:rPr>
                          <m:t>,</m:t>
                        </m:r>
                        <m:r>
                          <a:rPr lang="ja-JP" altLang="en-US" sz="2800" i="1">
                            <a:latin typeface="Cambria Math" panose="02040503050406030204" pitchFamily="18" charset="0"/>
                            <a:ea typeface="+mn-ea"/>
                            <a:cs typeface="Arial" panose="020B0604020202020204" pitchFamily="34" charset="0"/>
                          </a:rPr>
                          <m:t>𝜉</m:t>
                        </m:r>
                      </m:e>
                    </m:d>
                  </m:oMath>
                </a14:m>
                <a:r>
                  <a:rPr lang="ja-JP" altLang="en-US" sz="2800">
                    <a:latin typeface="+mn-ea"/>
                    <a:ea typeface="+mn-ea"/>
                    <a:cs typeface="Arial" panose="020B0604020202020204" pitchFamily="34" charset="0"/>
                  </a:rPr>
                  <a:t>上の確率変数</a:t>
                </a:r>
                <a:endParaRPr lang="en-US" altLang="ja-JP" sz="2800" dirty="0">
                  <a:latin typeface="+mn-ea"/>
                  <a:ea typeface="+mn-ea"/>
                  <a:cs typeface="Arial" panose="020B0604020202020204" pitchFamily="34" charset="0"/>
                </a:endParaRPr>
              </a:p>
              <a:p>
                <a14:m>
                  <m:oMath xmlns:m="http://schemas.openxmlformats.org/officeDocument/2006/math">
                    <m:r>
                      <a:rPr lang="ja-JP" altLang="en-US" sz="2800" i="1">
                        <a:latin typeface="Cambria Math" panose="02040503050406030204" pitchFamily="18" charset="0"/>
                        <a:ea typeface="+mn-ea"/>
                        <a:cs typeface="Arial" panose="020B0604020202020204" pitchFamily="34" charset="0"/>
                      </a:rPr>
                      <m:t>𝜌</m:t>
                    </m:r>
                    <m:r>
                      <a:rPr lang="en-US" altLang="ja-JP" sz="2800" i="1">
                        <a:latin typeface="Cambria Math" panose="02040503050406030204" pitchFamily="18" charset="0"/>
                        <a:ea typeface="+mn-ea"/>
                        <a:cs typeface="Arial" panose="020B0604020202020204" pitchFamily="34" charset="0"/>
                      </a:rPr>
                      <m:t>,</m:t>
                    </m:r>
                    <m:r>
                      <a:rPr lang="ja-JP" altLang="en-US" sz="2800" i="1">
                        <a:latin typeface="Cambria Math" panose="02040503050406030204" pitchFamily="18" charset="0"/>
                        <a:ea typeface="+mn-ea"/>
                        <a:cs typeface="Arial" panose="020B0604020202020204" pitchFamily="34" charset="0"/>
                      </a:rPr>
                      <m:t>𝜉</m:t>
                    </m:r>
                    <m:r>
                      <a:rPr lang="en-US" altLang="ja-JP" sz="2800" i="1">
                        <a:latin typeface="Cambria Math" panose="02040503050406030204" pitchFamily="18" charset="0"/>
                        <a:ea typeface="+mn-ea"/>
                        <a:cs typeface="Arial" panose="020B0604020202020204" pitchFamily="34" charset="0"/>
                      </a:rPr>
                      <m:t>:</m:t>
                    </m:r>
                  </m:oMath>
                </a14:m>
                <a:r>
                  <a:rPr lang="ja-JP" altLang="en-US" sz="2800">
                    <a:latin typeface="+mn-ea"/>
                    <a:ea typeface="+mn-ea"/>
                    <a:cs typeface="Arial" panose="020B0604020202020204" pitchFamily="34" charset="0"/>
                  </a:rPr>
                  <a:t>距離関数，</a:t>
                </a:r>
                <a14:m>
                  <m:oMath xmlns:m="http://schemas.openxmlformats.org/officeDocument/2006/math">
                    <m:r>
                      <m:rPr>
                        <m:sty m:val="p"/>
                      </m:rPr>
                      <a:rPr kumimoji="1" lang="el-GR" altLang="ja-JP" sz="2800" i="1">
                        <a:latin typeface="Cambria Math" panose="02040503050406030204" pitchFamily="18" charset="0"/>
                        <a:ea typeface="+mn-ea"/>
                      </a:rPr>
                      <m:t>θ</m:t>
                    </m:r>
                    <m:r>
                      <a:rPr kumimoji="1" lang="en-US" altLang="ja-JP" sz="2800" i="1">
                        <a:latin typeface="Cambria Math" panose="02040503050406030204" pitchFamily="18" charset="0"/>
                        <a:ea typeface="+mn-ea"/>
                      </a:rPr>
                      <m:t>,</m:t>
                    </m:r>
                    <m:r>
                      <a:rPr kumimoji="1" lang="ja-JP" altLang="en-US" sz="2800" i="1">
                        <a:latin typeface="Cambria Math" panose="02040503050406030204" pitchFamily="18" charset="0"/>
                        <a:ea typeface="+mn-ea"/>
                      </a:rPr>
                      <m:t>𝜄</m:t>
                    </m:r>
                    <m:r>
                      <a:rPr kumimoji="1" lang="en-US" altLang="ja-JP" sz="2800" i="1">
                        <a:latin typeface="Cambria Math" panose="02040503050406030204" pitchFamily="18" charset="0"/>
                        <a:ea typeface="+mn-ea"/>
                      </a:rPr>
                      <m:t>,</m:t>
                    </m:r>
                    <m:r>
                      <a:rPr kumimoji="1" lang="ja-JP" altLang="en-US" sz="2800" i="1">
                        <a:latin typeface="Cambria Math" panose="02040503050406030204" pitchFamily="18" charset="0"/>
                        <a:ea typeface="+mn-ea"/>
                      </a:rPr>
                      <m:t>𝜅</m:t>
                    </m:r>
                    <m:r>
                      <a:rPr kumimoji="1" lang="en-US" altLang="ja-JP" sz="2800" i="1">
                        <a:latin typeface="Cambria Math" panose="02040503050406030204" pitchFamily="18" charset="0"/>
                        <a:ea typeface="+mn-ea"/>
                      </a:rPr>
                      <m:t>:</m:t>
                    </m:r>
                  </m:oMath>
                </a14:m>
                <a:r>
                  <a:rPr lang="en-US" altLang="ja-JP" sz="2800" dirty="0"/>
                  <a:t> </a:t>
                </a:r>
                <a14:m>
                  <m:oMath xmlns:m="http://schemas.openxmlformats.org/officeDocument/2006/math">
                    <m:r>
                      <a:rPr lang="en-US" altLang="ja-JP" sz="2800" i="1">
                        <a:latin typeface="Cambria Math" panose="02040503050406030204" pitchFamily="18" charset="0"/>
                      </a:rPr>
                      <m:t>𝑆</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𝑇</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𝑆</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𝑇</m:t>
                    </m:r>
                    <m:r>
                      <a:rPr lang="en-US" altLang="ja-JP" sz="2800" b="0" i="1" smtClean="0">
                        <a:latin typeface="Cambria Math" panose="02040503050406030204" pitchFamily="18" charset="0"/>
                      </a:rPr>
                      <m:t>)</m:t>
                    </m:r>
                  </m:oMath>
                </a14:m>
                <a:r>
                  <a:rPr lang="ja-JP" altLang="en-US" sz="2800">
                    <a:latin typeface="+mn-ea"/>
                    <a:ea typeface="+mn-ea"/>
                    <a:cs typeface="Arial" panose="020B0604020202020204" pitchFamily="34" charset="0"/>
                  </a:rPr>
                  <a:t>によって誘導される確率測度</a:t>
                </a:r>
                <a:endParaRPr lang="en-US" altLang="ja-JP" sz="2800" dirty="0">
                  <a:latin typeface="+mn-ea"/>
                  <a:ea typeface="+mn-ea"/>
                  <a:cs typeface="Arial" panose="020B0604020202020204" pitchFamily="34" charset="0"/>
                </a:endParaRPr>
              </a:p>
              <a:p>
                <a14:m>
                  <m:oMath xmlns:m="http://schemas.openxmlformats.org/officeDocument/2006/math">
                    <m:sSub>
                      <m:sSubPr>
                        <m:ctrlPr>
                          <a:rPr kumimoji="1" lang="en-US" altLang="ja-JP" sz="2800" i="1">
                            <a:latin typeface="Cambria Math" panose="02040503050406030204" pitchFamily="18" charset="0"/>
                            <a:ea typeface="+mn-ea"/>
                          </a:rPr>
                        </m:ctrlPr>
                      </m:sSubPr>
                      <m:e>
                        <m:acc>
                          <m:accPr>
                            <m:chr m:val="̅"/>
                            <m:ctrlPr>
                              <a:rPr kumimoji="1" lang="en-US" altLang="ja-JP" sz="2800" i="1">
                                <a:latin typeface="Cambria Math" panose="02040503050406030204" pitchFamily="18" charset="0"/>
                                <a:ea typeface="+mn-ea"/>
                              </a:rPr>
                            </m:ctrlPr>
                          </m:accPr>
                          <m:e>
                            <m:r>
                              <a:rPr kumimoji="1" lang="en-US" altLang="ja-JP" sz="2800" i="1">
                                <a:latin typeface="Cambria Math" panose="02040503050406030204" pitchFamily="18" charset="0"/>
                                <a:ea typeface="+mn-ea"/>
                              </a:rPr>
                              <m:t>𝐵</m:t>
                            </m:r>
                          </m:e>
                        </m:acc>
                      </m:e>
                      <m:sub>
                        <m:r>
                          <a:rPr kumimoji="1" lang="ja-JP" altLang="en-US" sz="2800" i="1">
                            <a:latin typeface="Cambria Math" panose="02040503050406030204" pitchFamily="18" charset="0"/>
                            <a:ea typeface="+mn-ea"/>
                          </a:rPr>
                          <m:t>𝜌</m:t>
                        </m:r>
                      </m:sub>
                    </m:sSub>
                    <m:d>
                      <m:dPr>
                        <m:ctrlPr>
                          <a:rPr kumimoji="1" lang="en-US" altLang="ja-JP" sz="2800" i="1">
                            <a:latin typeface="Cambria Math" panose="02040503050406030204" pitchFamily="18" charset="0"/>
                            <a:ea typeface="+mn-ea"/>
                          </a:rPr>
                        </m:ctrlPr>
                      </m:dPr>
                      <m:e>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𝑠</m:t>
                            </m:r>
                          </m:e>
                          <m:sub>
                            <m:r>
                              <a:rPr kumimoji="1" lang="en-US" altLang="ja-JP" sz="2800" i="1">
                                <a:latin typeface="Cambria Math" panose="02040503050406030204" pitchFamily="18" charset="0"/>
                                <a:ea typeface="+mn-ea"/>
                              </a:rPr>
                              <m:t>1</m:t>
                            </m:r>
                          </m:sub>
                        </m:sSub>
                        <m:r>
                          <a:rPr kumimoji="1" lang="en-US" altLang="ja-JP" sz="2800" i="1">
                            <a:latin typeface="Cambria Math" panose="02040503050406030204" pitchFamily="18" charset="0"/>
                            <a:ea typeface="+mn-ea"/>
                          </a:rPr>
                          <m:t>,</m:t>
                        </m:r>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𝑠</m:t>
                            </m:r>
                          </m:e>
                          <m:sub>
                            <m:r>
                              <a:rPr kumimoji="1" lang="en-US" altLang="ja-JP" sz="2800" i="1">
                                <a:latin typeface="Cambria Math" panose="02040503050406030204" pitchFamily="18" charset="0"/>
                                <a:ea typeface="+mn-ea"/>
                              </a:rPr>
                              <m:t>2</m:t>
                            </m:r>
                          </m:sub>
                        </m:sSub>
                      </m:e>
                    </m:d>
                    <m:r>
                      <a:rPr kumimoji="1" lang="en-US" altLang="ja-JP" sz="2800" i="1">
                        <a:latin typeface="Cambria Math" panose="02040503050406030204" pitchFamily="18" charset="0"/>
                        <a:ea typeface="+mn-ea"/>
                      </a:rPr>
                      <m:t>:</m:t>
                    </m:r>
                  </m:oMath>
                </a14:m>
                <a:r>
                  <a:rPr lang="ja-JP" altLang="en-US" sz="2800">
                    <a:latin typeface="+mn-ea"/>
                    <a:ea typeface="+mn-ea"/>
                    <a:cs typeface="Arial" panose="020B0604020202020204" pitchFamily="34" charset="0"/>
                  </a:rPr>
                  <a:t>中心</a:t>
                </a:r>
                <a14:m>
                  <m:oMath xmlns:m="http://schemas.openxmlformats.org/officeDocument/2006/math">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𝑠</m:t>
                        </m:r>
                      </m:e>
                      <m:sub>
                        <m:r>
                          <a:rPr kumimoji="1" lang="en-US" altLang="ja-JP" sz="2800" i="1">
                            <a:latin typeface="Cambria Math" panose="02040503050406030204" pitchFamily="18" charset="0"/>
                            <a:ea typeface="+mn-ea"/>
                          </a:rPr>
                          <m:t>1</m:t>
                        </m:r>
                      </m:sub>
                    </m:sSub>
                    <m:r>
                      <a:rPr kumimoji="1" lang="en-US" altLang="ja-JP" sz="2800" i="1">
                        <a:latin typeface="Cambria Math" panose="02040503050406030204" pitchFamily="18" charset="0"/>
                        <a:ea typeface="+mn-ea"/>
                      </a:rPr>
                      <m:t> </m:t>
                    </m:r>
                  </m:oMath>
                </a14:m>
                <a:r>
                  <a:rPr lang="ja-JP" altLang="en-US" sz="2800">
                    <a:latin typeface="+mn-ea"/>
                    <a:ea typeface="+mn-ea"/>
                    <a:cs typeface="Arial" panose="020B0604020202020204" pitchFamily="34" charset="0"/>
                  </a:rPr>
                  <a:t>，半径</a:t>
                </a:r>
                <a14:m>
                  <m:oMath xmlns:m="http://schemas.openxmlformats.org/officeDocument/2006/math">
                    <m:r>
                      <a:rPr lang="ja-JP" altLang="en-US" sz="2800" i="1">
                        <a:latin typeface="Cambria Math" panose="02040503050406030204" pitchFamily="18" charset="0"/>
                        <a:ea typeface="+mn-ea"/>
                        <a:cs typeface="Arial" panose="020B0604020202020204" pitchFamily="34" charset="0"/>
                      </a:rPr>
                      <m:t>𝜌</m:t>
                    </m:r>
                    <m:d>
                      <m:dPr>
                        <m:ctrlPr>
                          <a:rPr kumimoji="1" lang="en-US" altLang="ja-JP" sz="2800" i="1">
                            <a:latin typeface="Cambria Math" panose="02040503050406030204" pitchFamily="18" charset="0"/>
                            <a:ea typeface="+mn-ea"/>
                          </a:rPr>
                        </m:ctrlPr>
                      </m:dPr>
                      <m:e>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𝑠</m:t>
                            </m:r>
                          </m:e>
                          <m:sub>
                            <m:r>
                              <a:rPr kumimoji="1" lang="en-US" altLang="ja-JP" sz="2800" i="1">
                                <a:latin typeface="Cambria Math" panose="02040503050406030204" pitchFamily="18" charset="0"/>
                                <a:ea typeface="+mn-ea"/>
                              </a:rPr>
                              <m:t>1</m:t>
                            </m:r>
                          </m:sub>
                        </m:sSub>
                        <m:r>
                          <a:rPr kumimoji="1" lang="en-US" altLang="ja-JP" sz="2800" i="1">
                            <a:latin typeface="Cambria Math" panose="02040503050406030204" pitchFamily="18" charset="0"/>
                            <a:ea typeface="+mn-ea"/>
                          </a:rPr>
                          <m:t>,</m:t>
                        </m:r>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𝑠</m:t>
                            </m:r>
                          </m:e>
                          <m:sub>
                            <m:r>
                              <a:rPr kumimoji="1" lang="en-US" altLang="ja-JP" sz="2800" i="1">
                                <a:latin typeface="Cambria Math" panose="02040503050406030204" pitchFamily="18" charset="0"/>
                                <a:ea typeface="+mn-ea"/>
                              </a:rPr>
                              <m:t>2</m:t>
                            </m:r>
                          </m:sub>
                        </m:sSub>
                      </m:e>
                    </m:d>
                  </m:oMath>
                </a14:m>
                <a:r>
                  <a:rPr lang="ja-JP" altLang="en-US" sz="2800">
                    <a:latin typeface="+mn-ea"/>
                    <a:ea typeface="+mn-ea"/>
                    <a:cs typeface="Arial" panose="020B0604020202020204" pitchFamily="34" charset="0"/>
                  </a:rPr>
                  <a:t>とする空間</a:t>
                </a:r>
                <a14:m>
                  <m:oMath xmlns:m="http://schemas.openxmlformats.org/officeDocument/2006/math">
                    <m:d>
                      <m:dPr>
                        <m:ctrlPr>
                          <a:rPr lang="en-US" altLang="ja-JP" sz="2800" i="1">
                            <a:latin typeface="Cambria Math" panose="02040503050406030204" pitchFamily="18" charset="0"/>
                            <a:ea typeface="+mn-ea"/>
                            <a:cs typeface="Arial" panose="020B0604020202020204" pitchFamily="34" charset="0"/>
                          </a:rPr>
                        </m:ctrlPr>
                      </m:dPr>
                      <m:e>
                        <m:r>
                          <a:rPr lang="ja-JP" altLang="en-US" sz="2800" i="1">
                            <a:latin typeface="Cambria Math" panose="02040503050406030204" pitchFamily="18" charset="0"/>
                            <a:ea typeface="+mn-ea"/>
                            <a:cs typeface="Arial" panose="020B0604020202020204" pitchFamily="34" charset="0"/>
                          </a:rPr>
                          <m:t>𝒮</m:t>
                        </m:r>
                        <m:r>
                          <a:rPr lang="en-US" altLang="ja-JP" sz="2800" i="1">
                            <a:latin typeface="Cambria Math" panose="02040503050406030204" pitchFamily="18" charset="0"/>
                            <a:ea typeface="+mn-ea"/>
                            <a:cs typeface="Arial" panose="020B0604020202020204" pitchFamily="34" charset="0"/>
                          </a:rPr>
                          <m:t>,</m:t>
                        </m:r>
                        <m:r>
                          <a:rPr lang="ja-JP" altLang="en-US" sz="2800" i="1">
                            <a:latin typeface="Cambria Math" panose="02040503050406030204" pitchFamily="18" charset="0"/>
                            <a:ea typeface="+mn-ea"/>
                            <a:cs typeface="Arial" panose="020B0604020202020204" pitchFamily="34" charset="0"/>
                          </a:rPr>
                          <m:t>𝜌</m:t>
                        </m:r>
                      </m:e>
                    </m:d>
                  </m:oMath>
                </a14:m>
                <a:r>
                  <a:rPr lang="ja-JP" altLang="en-US" sz="2800">
                    <a:latin typeface="+mn-ea"/>
                    <a:ea typeface="+mn-ea"/>
                    <a:cs typeface="Arial" panose="020B0604020202020204" pitchFamily="34" charset="0"/>
                  </a:rPr>
                  <a:t>内の閉球</a:t>
                </a:r>
                <a:endParaRPr lang="en-US" altLang="ja-JP" sz="2800" dirty="0">
                  <a:latin typeface="+mn-ea"/>
                  <a:ea typeface="+mn-ea"/>
                  <a:cs typeface="Arial" panose="020B0604020202020204" pitchFamily="34" charset="0"/>
                </a:endParaRPr>
              </a:p>
              <a:p>
                <a14:m>
                  <m:oMath xmlns:m="http://schemas.openxmlformats.org/officeDocument/2006/math">
                    <m:sSub>
                      <m:sSubPr>
                        <m:ctrlPr>
                          <a:rPr kumimoji="1" lang="en-US" altLang="ja-JP" sz="2800" i="1">
                            <a:latin typeface="Cambria Math" panose="02040503050406030204" pitchFamily="18" charset="0"/>
                            <a:ea typeface="+mn-ea"/>
                          </a:rPr>
                        </m:ctrlPr>
                      </m:sSubPr>
                      <m:e>
                        <m:acc>
                          <m:accPr>
                            <m:chr m:val="̅"/>
                            <m:ctrlPr>
                              <a:rPr kumimoji="1" lang="en-US" altLang="ja-JP" sz="2800" i="1">
                                <a:latin typeface="Cambria Math" panose="02040503050406030204" pitchFamily="18" charset="0"/>
                                <a:ea typeface="+mn-ea"/>
                              </a:rPr>
                            </m:ctrlPr>
                          </m:accPr>
                          <m:e>
                            <m:r>
                              <a:rPr kumimoji="1" lang="en-US" altLang="ja-JP" sz="2800" i="1">
                                <a:latin typeface="Cambria Math" panose="02040503050406030204" pitchFamily="18" charset="0"/>
                                <a:ea typeface="+mn-ea"/>
                              </a:rPr>
                              <m:t>𝐵</m:t>
                            </m:r>
                          </m:e>
                        </m:acc>
                      </m:e>
                      <m:sub>
                        <m:r>
                          <a:rPr lang="ja-JP" altLang="en-US" sz="2800" i="1">
                            <a:latin typeface="Cambria Math" panose="02040503050406030204" pitchFamily="18" charset="0"/>
                            <a:ea typeface="+mn-ea"/>
                            <a:cs typeface="Arial" panose="020B0604020202020204" pitchFamily="34" charset="0"/>
                          </a:rPr>
                          <m:t>𝜉</m:t>
                        </m:r>
                      </m:sub>
                    </m:sSub>
                    <m:d>
                      <m:dPr>
                        <m:ctrlPr>
                          <a:rPr kumimoji="1" lang="en-US" altLang="ja-JP" sz="2800" i="1">
                            <a:latin typeface="Cambria Math" panose="02040503050406030204" pitchFamily="18" charset="0"/>
                            <a:ea typeface="+mn-ea"/>
                          </a:rPr>
                        </m:ctrlPr>
                      </m:dPr>
                      <m:e>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𝑡</m:t>
                            </m:r>
                          </m:e>
                          <m:sub>
                            <m:r>
                              <a:rPr kumimoji="1" lang="en-US" altLang="ja-JP" sz="2800" i="1">
                                <a:latin typeface="Cambria Math" panose="02040503050406030204" pitchFamily="18" charset="0"/>
                                <a:ea typeface="+mn-ea"/>
                              </a:rPr>
                              <m:t>1</m:t>
                            </m:r>
                          </m:sub>
                        </m:sSub>
                        <m:r>
                          <a:rPr kumimoji="1" lang="en-US" altLang="ja-JP" sz="2800" i="1">
                            <a:latin typeface="Cambria Math" panose="02040503050406030204" pitchFamily="18" charset="0"/>
                            <a:ea typeface="+mn-ea"/>
                          </a:rPr>
                          <m:t>,</m:t>
                        </m:r>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𝑡</m:t>
                            </m:r>
                          </m:e>
                          <m:sub>
                            <m:r>
                              <a:rPr kumimoji="1" lang="en-US" altLang="ja-JP" sz="2800" i="1">
                                <a:latin typeface="Cambria Math" panose="02040503050406030204" pitchFamily="18" charset="0"/>
                                <a:ea typeface="+mn-ea"/>
                              </a:rPr>
                              <m:t>2</m:t>
                            </m:r>
                          </m:sub>
                        </m:sSub>
                      </m:e>
                    </m:d>
                    <m:r>
                      <a:rPr kumimoji="1" lang="en-US" altLang="ja-JP" sz="2800" i="1">
                        <a:latin typeface="Cambria Math" panose="02040503050406030204" pitchFamily="18" charset="0"/>
                        <a:ea typeface="+mn-ea"/>
                      </a:rPr>
                      <m:t>:</m:t>
                    </m:r>
                  </m:oMath>
                </a14:m>
                <a:r>
                  <a:rPr lang="ja-JP" altLang="en-US" sz="2800">
                    <a:latin typeface="+mn-ea"/>
                    <a:ea typeface="+mn-ea"/>
                    <a:cs typeface="Arial" panose="020B0604020202020204" pitchFamily="34" charset="0"/>
                  </a:rPr>
                  <a:t>中心</a:t>
                </a:r>
                <a14:m>
                  <m:oMath xmlns:m="http://schemas.openxmlformats.org/officeDocument/2006/math">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𝑡</m:t>
                        </m:r>
                      </m:e>
                      <m:sub>
                        <m:r>
                          <a:rPr kumimoji="1" lang="en-US" altLang="ja-JP" sz="2800" i="1">
                            <a:latin typeface="Cambria Math" panose="02040503050406030204" pitchFamily="18" charset="0"/>
                            <a:ea typeface="+mn-ea"/>
                          </a:rPr>
                          <m:t>1</m:t>
                        </m:r>
                      </m:sub>
                    </m:sSub>
                    <m:r>
                      <a:rPr kumimoji="1" lang="en-US" altLang="ja-JP" sz="2800" i="1">
                        <a:latin typeface="Cambria Math" panose="02040503050406030204" pitchFamily="18" charset="0"/>
                        <a:ea typeface="+mn-ea"/>
                      </a:rPr>
                      <m:t> </m:t>
                    </m:r>
                  </m:oMath>
                </a14:m>
                <a:r>
                  <a:rPr lang="ja-JP" altLang="en-US" sz="2800">
                    <a:latin typeface="+mn-ea"/>
                    <a:ea typeface="+mn-ea"/>
                    <a:cs typeface="Arial" panose="020B0604020202020204" pitchFamily="34" charset="0"/>
                  </a:rPr>
                  <a:t>，半径</a:t>
                </a:r>
                <a14:m>
                  <m:oMath xmlns:m="http://schemas.openxmlformats.org/officeDocument/2006/math">
                    <m:r>
                      <a:rPr lang="ja-JP" altLang="en-US" sz="2800" i="1">
                        <a:latin typeface="Cambria Math" panose="02040503050406030204" pitchFamily="18" charset="0"/>
                        <a:ea typeface="+mn-ea"/>
                        <a:cs typeface="Arial" panose="020B0604020202020204" pitchFamily="34" charset="0"/>
                      </a:rPr>
                      <m:t>𝜉</m:t>
                    </m:r>
                    <m:d>
                      <m:dPr>
                        <m:ctrlPr>
                          <a:rPr kumimoji="1" lang="en-US" altLang="ja-JP" sz="2800" i="1">
                            <a:latin typeface="Cambria Math" panose="02040503050406030204" pitchFamily="18" charset="0"/>
                            <a:ea typeface="+mn-ea"/>
                          </a:rPr>
                        </m:ctrlPr>
                      </m:dPr>
                      <m:e>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𝑡</m:t>
                            </m:r>
                          </m:e>
                          <m:sub>
                            <m:r>
                              <a:rPr kumimoji="1" lang="en-US" altLang="ja-JP" sz="2800" i="1">
                                <a:latin typeface="Cambria Math" panose="02040503050406030204" pitchFamily="18" charset="0"/>
                                <a:ea typeface="+mn-ea"/>
                              </a:rPr>
                              <m:t>1</m:t>
                            </m:r>
                          </m:sub>
                        </m:sSub>
                        <m:r>
                          <a:rPr kumimoji="1" lang="en-US" altLang="ja-JP" sz="2800" i="1">
                            <a:latin typeface="Cambria Math" panose="02040503050406030204" pitchFamily="18" charset="0"/>
                            <a:ea typeface="+mn-ea"/>
                          </a:rPr>
                          <m:t>,</m:t>
                        </m:r>
                        <m:sSub>
                          <m:sSubPr>
                            <m:ctrlPr>
                              <a:rPr kumimoji="1" lang="en-US" altLang="ja-JP" sz="2800" i="1">
                                <a:latin typeface="Cambria Math" panose="02040503050406030204" pitchFamily="18" charset="0"/>
                                <a:ea typeface="+mn-ea"/>
                              </a:rPr>
                            </m:ctrlPr>
                          </m:sSubPr>
                          <m:e>
                            <m:r>
                              <a:rPr kumimoji="1" lang="en-US" altLang="ja-JP" sz="2800" i="1">
                                <a:latin typeface="Cambria Math" panose="02040503050406030204" pitchFamily="18" charset="0"/>
                                <a:ea typeface="+mn-ea"/>
                              </a:rPr>
                              <m:t>𝑡</m:t>
                            </m:r>
                          </m:e>
                          <m:sub>
                            <m:r>
                              <a:rPr kumimoji="1" lang="en-US" altLang="ja-JP" sz="2800" i="1">
                                <a:latin typeface="Cambria Math" panose="02040503050406030204" pitchFamily="18" charset="0"/>
                                <a:ea typeface="+mn-ea"/>
                              </a:rPr>
                              <m:t>2</m:t>
                            </m:r>
                          </m:sub>
                        </m:sSub>
                      </m:e>
                    </m:d>
                  </m:oMath>
                </a14:m>
                <a:r>
                  <a:rPr lang="ja-JP" altLang="en-US" sz="2800">
                    <a:latin typeface="+mn-ea"/>
                    <a:ea typeface="+mn-ea"/>
                    <a:cs typeface="Arial" panose="020B0604020202020204" pitchFamily="34" charset="0"/>
                  </a:rPr>
                  <a:t>とする空間</a:t>
                </a:r>
                <a14:m>
                  <m:oMath xmlns:m="http://schemas.openxmlformats.org/officeDocument/2006/math">
                    <m:d>
                      <m:dPr>
                        <m:ctrlPr>
                          <a:rPr lang="en-US" altLang="ja-JP" sz="2800" i="1">
                            <a:latin typeface="Cambria Math" panose="02040503050406030204" pitchFamily="18" charset="0"/>
                            <a:ea typeface="+mn-ea"/>
                            <a:cs typeface="Arial" panose="020B0604020202020204" pitchFamily="34" charset="0"/>
                          </a:rPr>
                        </m:ctrlPr>
                      </m:dPr>
                      <m:e>
                        <m:r>
                          <a:rPr lang="ja-JP" altLang="en-US" sz="2800" i="1">
                            <a:latin typeface="Cambria Math" panose="02040503050406030204" pitchFamily="18" charset="0"/>
                            <a:ea typeface="+mn-ea"/>
                            <a:cs typeface="Arial" panose="020B0604020202020204" pitchFamily="34" charset="0"/>
                          </a:rPr>
                          <m:t>𝒯</m:t>
                        </m:r>
                        <m:r>
                          <a:rPr lang="en-US" altLang="ja-JP" sz="2800" i="1">
                            <a:latin typeface="Cambria Math" panose="02040503050406030204" pitchFamily="18" charset="0"/>
                            <a:ea typeface="+mn-ea"/>
                            <a:cs typeface="Arial" panose="020B0604020202020204" pitchFamily="34" charset="0"/>
                          </a:rPr>
                          <m:t>,</m:t>
                        </m:r>
                        <m:r>
                          <a:rPr lang="ja-JP" altLang="en-US" sz="2800" i="1">
                            <a:latin typeface="Cambria Math" panose="02040503050406030204" pitchFamily="18" charset="0"/>
                            <a:ea typeface="+mn-ea"/>
                            <a:cs typeface="Arial" panose="020B0604020202020204" pitchFamily="34" charset="0"/>
                          </a:rPr>
                          <m:t>𝜉</m:t>
                        </m:r>
                      </m:e>
                    </m:d>
                  </m:oMath>
                </a14:m>
                <a:r>
                  <a:rPr lang="ja-JP" altLang="en-US" sz="2800">
                    <a:latin typeface="+mn-ea"/>
                    <a:ea typeface="+mn-ea"/>
                    <a:cs typeface="Arial" panose="020B0604020202020204" pitchFamily="34" charset="0"/>
                  </a:rPr>
                  <a:t>内の閉球</a:t>
                </a:r>
              </a:p>
            </p:txBody>
          </p:sp>
        </mc:Choice>
        <mc:Fallback xmlns="">
          <p:sp>
            <p:nvSpPr>
              <p:cNvPr id="5" name="Google Shape;95;p1">
                <a:extLst>
                  <a:ext uri="{FF2B5EF4-FFF2-40B4-BE49-F238E27FC236}">
                    <a16:creationId xmlns:a16="http://schemas.microsoft.com/office/drawing/2014/main" id="{6EF21904-D7FD-AA13-474B-232EFE14E171}"/>
                  </a:ext>
                </a:extLst>
              </p:cNvPr>
              <p:cNvSpPr>
                <a:spLocks noRot="1" noChangeAspect="1" noMove="1" noResize="1" noEditPoints="1" noAdjustHandles="1" noChangeArrowheads="1" noChangeShapeType="1" noTextEdit="1"/>
              </p:cNvSpPr>
              <p:nvPr/>
            </p:nvSpPr>
            <p:spPr>
              <a:xfrm>
                <a:off x="528320" y="2858485"/>
                <a:ext cx="11234737" cy="2339254"/>
              </a:xfrm>
              <a:prstGeom prst="rect">
                <a:avLst/>
              </a:prstGeom>
              <a:blipFill>
                <a:blip r:embed="rId4"/>
                <a:stretch>
                  <a:fillRect l="-339" t="-3243" b="-5405"/>
                </a:stretch>
              </a:blipFill>
              <a:ln>
                <a:noFill/>
              </a:ln>
            </p:spPr>
            <p:txBody>
              <a:bodyPr/>
              <a:lstStyle/>
              <a:p>
                <a:r>
                  <a:rPr lang="ja-JP" altLang="en-US">
                    <a:noFill/>
                  </a:rPr>
                  <a:t> </a:t>
                </a:r>
              </a:p>
            </p:txBody>
          </p:sp>
        </mc:Fallback>
      </mc:AlternateContent>
      <p:sp>
        <p:nvSpPr>
          <p:cNvPr id="6" name="大かっこ 5">
            <a:extLst>
              <a:ext uri="{FF2B5EF4-FFF2-40B4-BE49-F238E27FC236}">
                <a16:creationId xmlns:a16="http://schemas.microsoft.com/office/drawing/2014/main" id="{15A889B5-3837-82CB-EAB2-45EAF6D26CD3}"/>
              </a:ext>
            </a:extLst>
          </p:cNvPr>
          <p:cNvSpPr/>
          <p:nvPr/>
        </p:nvSpPr>
        <p:spPr>
          <a:xfrm>
            <a:off x="200024" y="2858485"/>
            <a:ext cx="11648799" cy="2339254"/>
          </a:xfrm>
          <a:prstGeom prst="bracketPair">
            <a:avLst/>
          </a:prstGeom>
          <a:ln w="38100"/>
        </p:spPr>
        <p:style>
          <a:lnRef idx="1">
            <a:schemeClr val="dk1"/>
          </a:lnRef>
          <a:fillRef idx="0">
            <a:schemeClr val="dk1"/>
          </a:fillRef>
          <a:effectRef idx="0">
            <a:schemeClr val="dk1"/>
          </a:effectRef>
          <a:fontRef idx="minor">
            <a:schemeClr val="tx1"/>
          </a:fontRef>
        </p:style>
        <p:txBody>
          <a:bodyPr rtlCol="0" anchor="ctr"/>
          <a:lstStyle/>
          <a:p>
            <a:pPr algn="ctr"/>
            <a:endParaRPr kumimoji="1" lang="ja-JP" altLang="en-US">
              <a:latin typeface="+mn-ea"/>
              <a:cs typeface="Arial" panose="020B0604020202020204" pitchFamily="34" charset="0"/>
            </a:endParaRPr>
          </a:p>
        </p:txBody>
      </p:sp>
      <mc:AlternateContent xmlns:mc="http://schemas.openxmlformats.org/markup-compatibility/2006" xmlns:a14="http://schemas.microsoft.com/office/drawing/2010/main">
        <mc:Choice Requires="a14">
          <p:sp>
            <p:nvSpPr>
              <p:cNvPr id="9" name="テキスト ボックス 8">
                <a:extLst>
                  <a:ext uri="{FF2B5EF4-FFF2-40B4-BE49-F238E27FC236}">
                    <a16:creationId xmlns:a16="http://schemas.microsoft.com/office/drawing/2014/main" id="{26DDA4E2-E8E8-B0D3-AB61-891487B12CC7}"/>
                  </a:ext>
                </a:extLst>
              </p:cNvPr>
              <p:cNvSpPr txBox="1"/>
              <p:nvPr/>
            </p:nvSpPr>
            <p:spPr>
              <a:xfrm>
                <a:off x="528320" y="5354186"/>
                <a:ext cx="11353800" cy="1145763"/>
              </a:xfrm>
              <a:prstGeom prst="rect">
                <a:avLst/>
              </a:prstGeom>
              <a:noFill/>
            </p:spPr>
            <p:txBody>
              <a:bodyPr wrap="square">
                <a:spAutoFit/>
              </a:bodyPr>
              <a:lstStyle/>
              <a:p>
                <a14:m>
                  <m:oMath xmlns:m="http://schemas.openxmlformats.org/officeDocument/2006/math">
                    <m:sSup>
                      <m:sSupPr>
                        <m:ctrlPr>
                          <a:rPr lang="en-US" altLang="ja-JP" sz="2400" i="1" smtClean="0">
                            <a:latin typeface="Cambria Math" panose="02040503050406030204" pitchFamily="18" charset="0"/>
                          </a:rPr>
                        </m:ctrlPr>
                      </m:sSupPr>
                      <m:e>
                        <m:d>
                          <m:dPr>
                            <m:ctrlPr>
                              <a:rPr lang="en-US" altLang="ja-JP" sz="2400" i="1">
                                <a:latin typeface="Cambria Math" panose="02040503050406030204" pitchFamily="18" charset="0"/>
                              </a:rPr>
                            </m:ctrlPr>
                          </m:dPr>
                          <m:e>
                            <m:r>
                              <a:rPr lang="ja-JP" altLang="en-US" sz="2400" i="1">
                                <a:latin typeface="Cambria Math" panose="02040503050406030204" pitchFamily="18" charset="0"/>
                              </a:rPr>
                              <m:t>𝜃</m:t>
                            </m:r>
                            <m:r>
                              <a:rPr lang="en-US" altLang="ja-JP" sz="2400" i="1">
                                <a:latin typeface="Cambria Math" panose="02040503050406030204" pitchFamily="18" charset="0"/>
                              </a:rPr>
                              <m:t>−</m:t>
                            </m:r>
                            <m:r>
                              <a:rPr lang="ja-JP" altLang="en-US" sz="2400" i="1">
                                <a:latin typeface="Cambria Math" panose="02040503050406030204" pitchFamily="18" charset="0"/>
                              </a:rPr>
                              <m:t>𝜄</m:t>
                            </m:r>
                            <m:r>
                              <a:rPr lang="ja-JP" altLang="en-US" sz="2400" i="1">
                                <a:latin typeface="Cambria Math" panose="02040503050406030204" pitchFamily="18" charset="0"/>
                              </a:rPr>
                              <m:t>⊗</m:t>
                            </m:r>
                            <m:r>
                              <a:rPr lang="ja-JP" altLang="en-US" sz="2400" i="1">
                                <a:latin typeface="Cambria Math" panose="02040503050406030204" pitchFamily="18" charset="0"/>
                              </a:rPr>
                              <m:t>𝜅</m:t>
                            </m:r>
                          </m:e>
                        </m:d>
                      </m:e>
                      <m:sup>
                        <m:r>
                          <a:rPr lang="en-US" altLang="ja-JP" sz="2400" i="1">
                            <a:latin typeface="Cambria Math" panose="02040503050406030204" pitchFamily="18" charset="0"/>
                          </a:rPr>
                          <m:t>2</m:t>
                        </m:r>
                      </m:sup>
                    </m:sSup>
                    <m:d>
                      <m:dPr>
                        <m:begChr m:val="{"/>
                        <m:endChr m:val="}"/>
                        <m:ctrlPr>
                          <a:rPr lang="en-US" altLang="ja-JP" sz="2400" i="1">
                            <a:latin typeface="Cambria Math" panose="02040503050406030204" pitchFamily="18" charset="0"/>
                          </a:rPr>
                        </m:ctrlPr>
                      </m:dPr>
                      <m:e>
                        <m:sSub>
                          <m:sSubPr>
                            <m:ctrlPr>
                              <a:rPr lang="en-US" altLang="ja-JP" sz="2400" i="1">
                                <a:latin typeface="Cambria Math" panose="02040503050406030204" pitchFamily="18" charset="0"/>
                              </a:rPr>
                            </m:ctrlPr>
                          </m:sSubPr>
                          <m:e>
                            <m:acc>
                              <m:accPr>
                                <m:chr m:val="̅"/>
                                <m:ctrlPr>
                                  <a:rPr lang="en-US" altLang="ja-JP" sz="2400" i="1">
                                    <a:latin typeface="Cambria Math" panose="02040503050406030204" pitchFamily="18" charset="0"/>
                                  </a:rPr>
                                </m:ctrlPr>
                              </m:accPr>
                              <m:e>
                                <m:r>
                                  <a:rPr lang="en-US" altLang="ja-JP" sz="2400" i="1">
                                    <a:latin typeface="Cambria Math" panose="02040503050406030204" pitchFamily="18" charset="0"/>
                                  </a:rPr>
                                  <m:t>𝐵</m:t>
                                </m:r>
                              </m:e>
                            </m:acc>
                          </m:e>
                          <m:sub>
                            <m:r>
                              <a:rPr lang="ja-JP" altLang="en-US" sz="2400" i="1">
                                <a:latin typeface="Cambria Math" panose="02040503050406030204" pitchFamily="18" charset="0"/>
                              </a:rPr>
                              <m:t>𝜌</m:t>
                            </m:r>
                          </m:sub>
                        </m:sSub>
                        <m:d>
                          <m:dPr>
                            <m:ctrlPr>
                              <a:rPr lang="en-US" altLang="ja-JP" sz="2400" i="1">
                                <a:latin typeface="Cambria Math" panose="02040503050406030204" pitchFamily="18" charset="0"/>
                              </a:rPr>
                            </m:ctrlPr>
                          </m:dPr>
                          <m:e>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𝑠</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𝑠</m:t>
                                </m:r>
                              </m:e>
                              <m:sub>
                                <m:r>
                                  <a:rPr lang="en-US" altLang="ja-JP" sz="2400" i="1">
                                    <a:latin typeface="Cambria Math" panose="02040503050406030204" pitchFamily="18" charset="0"/>
                                  </a:rPr>
                                  <m:t>2</m:t>
                                </m:r>
                              </m:sub>
                            </m:sSub>
                          </m:e>
                        </m:d>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acc>
                              <m:accPr>
                                <m:chr m:val="̅"/>
                                <m:ctrlPr>
                                  <a:rPr lang="en-US" altLang="ja-JP" sz="2400" i="1">
                                    <a:latin typeface="Cambria Math" panose="02040503050406030204" pitchFamily="18" charset="0"/>
                                  </a:rPr>
                                </m:ctrlPr>
                              </m:accPr>
                              <m:e>
                                <m:r>
                                  <a:rPr lang="en-US" altLang="ja-JP" sz="2400" i="1">
                                    <a:latin typeface="Cambria Math" panose="02040503050406030204" pitchFamily="18" charset="0"/>
                                  </a:rPr>
                                  <m:t>𝐵</m:t>
                                </m:r>
                              </m:e>
                            </m:acc>
                          </m:e>
                          <m:sub>
                            <m:r>
                              <a:rPr lang="ja-JP" altLang="en-US" sz="2400" i="1">
                                <a:latin typeface="Cambria Math" panose="02040503050406030204" pitchFamily="18" charset="0"/>
                              </a:rPr>
                              <m:t>𝜉</m:t>
                            </m:r>
                          </m:sub>
                        </m:sSub>
                        <m:d>
                          <m:dPr>
                            <m:ctrlPr>
                              <a:rPr lang="en-US" altLang="ja-JP" sz="2400" i="1">
                                <a:latin typeface="Cambria Math" panose="02040503050406030204" pitchFamily="18" charset="0"/>
                              </a:rPr>
                            </m:ctrlPr>
                          </m:dPr>
                          <m:e>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𝑡</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𝑡</m:t>
                                </m:r>
                              </m:e>
                              <m:sub>
                                <m:r>
                                  <a:rPr lang="en-US" altLang="ja-JP" sz="2400" i="1">
                                    <a:latin typeface="Cambria Math" panose="02040503050406030204" pitchFamily="18" charset="0"/>
                                  </a:rPr>
                                  <m:t>2</m:t>
                                </m:r>
                              </m:sub>
                            </m:sSub>
                          </m:e>
                        </m:d>
                      </m:e>
                    </m:d>
                  </m:oMath>
                </a14:m>
                <a:r>
                  <a:rPr lang="en-US" altLang="ja-JP" sz="2400" i="1" dirty="0">
                    <a:latin typeface="Cambria Math" panose="02040503050406030204" pitchFamily="18" charset="0"/>
                  </a:rPr>
                  <a:t> </a:t>
                </a:r>
              </a:p>
              <a:p>
                <a14:m>
                  <m:oMath xmlns:m="http://schemas.openxmlformats.org/officeDocument/2006/math">
                    <m:r>
                      <a:rPr lang="en-US" altLang="ja-JP" sz="2400" i="1" smtClean="0">
                        <a:latin typeface="Cambria Math" panose="02040503050406030204" pitchFamily="18" charset="0"/>
                        <a:ea typeface="Cambria Math" panose="02040503050406030204" pitchFamily="18" charset="0"/>
                      </a:rPr>
                      <m:t>∶</m:t>
                    </m:r>
                    <m:r>
                      <a:rPr lang="en-US" altLang="ja-JP" sz="2400" b="0" i="1" smtClean="0">
                        <a:latin typeface="Cambria Math" panose="02040503050406030204" pitchFamily="18" charset="0"/>
                        <a:ea typeface="Cambria Math" panose="02040503050406030204" pitchFamily="18" charset="0"/>
                      </a:rPr>
                      <m:t>=</m:t>
                    </m:r>
                    <m:sSup>
                      <m:sSupPr>
                        <m:ctrlPr>
                          <a:rPr lang="en-US" altLang="ja-JP" sz="2400" b="0" i="1" smtClean="0">
                            <a:latin typeface="Cambria Math" panose="02040503050406030204" pitchFamily="18" charset="0"/>
                            <a:ea typeface="Cambria Math" panose="02040503050406030204" pitchFamily="18" charset="0"/>
                          </a:rPr>
                        </m:ctrlPr>
                      </m:sSupPr>
                      <m:e>
                        <m:d>
                          <m:dPr>
                            <m:begChr m:val="["/>
                            <m:endChr m:val="]"/>
                            <m:ctrlPr>
                              <a:rPr lang="en-US" altLang="ja-JP" sz="2400" b="0" i="1" smtClean="0">
                                <a:latin typeface="Cambria Math" panose="02040503050406030204" pitchFamily="18" charset="0"/>
                                <a:ea typeface="Cambria Math" panose="02040503050406030204" pitchFamily="18" charset="0"/>
                              </a:rPr>
                            </m:ctrlPr>
                          </m:dPr>
                          <m:e>
                            <m:r>
                              <a:rPr lang="ja-JP" altLang="en-US" sz="2400" i="1" smtClean="0">
                                <a:latin typeface="Cambria Math" panose="02040503050406030204" pitchFamily="18" charset="0"/>
                              </a:rPr>
                              <m:t>𝜃</m:t>
                            </m:r>
                            <m:d>
                              <m:dPr>
                                <m:ctrlPr>
                                  <a:rPr lang="en-US" altLang="ja-JP" sz="2400" b="0" i="1" smtClean="0">
                                    <a:latin typeface="Cambria Math" panose="02040503050406030204" pitchFamily="18" charset="0"/>
                                  </a:rPr>
                                </m:ctrlPr>
                              </m:dPr>
                              <m:e>
                                <m:sSub>
                                  <m:sSubPr>
                                    <m:ctrlPr>
                                      <a:rPr lang="en-US" altLang="ja-JP" sz="2400" i="1" smtClean="0">
                                        <a:latin typeface="Cambria Math" panose="02040503050406030204" pitchFamily="18" charset="0"/>
                                      </a:rPr>
                                    </m:ctrlPr>
                                  </m:sSubPr>
                                  <m:e>
                                    <m:acc>
                                      <m:accPr>
                                        <m:chr m:val="̅"/>
                                        <m:ctrlPr>
                                          <a:rPr lang="en-US" altLang="ja-JP" sz="2400" i="1">
                                            <a:latin typeface="Cambria Math" panose="02040503050406030204" pitchFamily="18" charset="0"/>
                                          </a:rPr>
                                        </m:ctrlPr>
                                      </m:accPr>
                                      <m:e>
                                        <m:r>
                                          <a:rPr lang="en-US" altLang="ja-JP" sz="2400" i="1">
                                            <a:latin typeface="Cambria Math" panose="02040503050406030204" pitchFamily="18" charset="0"/>
                                          </a:rPr>
                                          <m:t>𝐵</m:t>
                                        </m:r>
                                      </m:e>
                                    </m:acc>
                                  </m:e>
                                  <m:sub>
                                    <m:r>
                                      <a:rPr lang="ja-JP" altLang="en-US" sz="2400" i="1">
                                        <a:latin typeface="Cambria Math" panose="02040503050406030204" pitchFamily="18" charset="0"/>
                                      </a:rPr>
                                      <m:t>𝜌</m:t>
                                    </m:r>
                                  </m:sub>
                                </m:sSub>
                                <m:d>
                                  <m:dPr>
                                    <m:ctrlPr>
                                      <a:rPr lang="en-US" altLang="ja-JP" sz="2400" i="1">
                                        <a:latin typeface="Cambria Math" panose="02040503050406030204" pitchFamily="18" charset="0"/>
                                      </a:rPr>
                                    </m:ctrlPr>
                                  </m:dPr>
                                  <m:e>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𝑠</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𝑠</m:t>
                                        </m:r>
                                      </m:e>
                                      <m:sub>
                                        <m:r>
                                          <a:rPr lang="en-US" altLang="ja-JP" sz="2400" i="1">
                                            <a:latin typeface="Cambria Math" panose="02040503050406030204" pitchFamily="18" charset="0"/>
                                          </a:rPr>
                                          <m:t>2</m:t>
                                        </m:r>
                                      </m:sub>
                                    </m:sSub>
                                  </m:e>
                                </m:d>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acc>
                                      <m:accPr>
                                        <m:chr m:val="̅"/>
                                        <m:ctrlPr>
                                          <a:rPr lang="en-US" altLang="ja-JP" sz="2400" i="1">
                                            <a:latin typeface="Cambria Math" panose="02040503050406030204" pitchFamily="18" charset="0"/>
                                          </a:rPr>
                                        </m:ctrlPr>
                                      </m:accPr>
                                      <m:e>
                                        <m:r>
                                          <a:rPr lang="en-US" altLang="ja-JP" sz="2400" i="1">
                                            <a:latin typeface="Cambria Math" panose="02040503050406030204" pitchFamily="18" charset="0"/>
                                          </a:rPr>
                                          <m:t>𝐵</m:t>
                                        </m:r>
                                      </m:e>
                                    </m:acc>
                                  </m:e>
                                  <m:sub>
                                    <m:r>
                                      <a:rPr lang="ja-JP" altLang="en-US" sz="2400" i="1">
                                        <a:latin typeface="Cambria Math" panose="02040503050406030204" pitchFamily="18" charset="0"/>
                                      </a:rPr>
                                      <m:t>𝜉</m:t>
                                    </m:r>
                                  </m:sub>
                                </m:sSub>
                                <m:d>
                                  <m:dPr>
                                    <m:ctrlPr>
                                      <a:rPr lang="en-US" altLang="ja-JP" sz="2400" i="1">
                                        <a:latin typeface="Cambria Math" panose="02040503050406030204" pitchFamily="18" charset="0"/>
                                      </a:rPr>
                                    </m:ctrlPr>
                                  </m:dPr>
                                  <m:e>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𝑡</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𝑡</m:t>
                                        </m:r>
                                      </m:e>
                                      <m:sub>
                                        <m:r>
                                          <a:rPr lang="en-US" altLang="ja-JP" sz="2400" i="1">
                                            <a:latin typeface="Cambria Math" panose="02040503050406030204" pitchFamily="18" charset="0"/>
                                          </a:rPr>
                                          <m:t>2</m:t>
                                        </m:r>
                                      </m:sub>
                                    </m:sSub>
                                  </m:e>
                                </m:d>
                              </m:e>
                            </m:d>
                            <m:r>
                              <a:rPr lang="en-US" altLang="ja-JP" sz="2400" b="0" i="1" smtClean="0">
                                <a:latin typeface="Cambria Math" panose="02040503050406030204" pitchFamily="18" charset="0"/>
                              </a:rPr>
                              <m:t>−</m:t>
                            </m:r>
                            <m:r>
                              <a:rPr lang="ja-JP" altLang="en-US" sz="2400" i="1" smtClean="0">
                                <a:latin typeface="Cambria Math" panose="02040503050406030204" pitchFamily="18" charset="0"/>
                              </a:rPr>
                              <m:t>𝜄</m:t>
                            </m:r>
                            <m:d>
                              <m:dPr>
                                <m:ctrlPr>
                                  <a:rPr lang="en-US" altLang="ja-JP" sz="2400" b="0" i="1" smtClean="0">
                                    <a:latin typeface="Cambria Math" panose="02040503050406030204" pitchFamily="18" charset="0"/>
                                  </a:rPr>
                                </m:ctrlPr>
                              </m:dPr>
                              <m:e>
                                <m:sSub>
                                  <m:sSubPr>
                                    <m:ctrlPr>
                                      <a:rPr lang="en-US" altLang="ja-JP" sz="2400" i="1" smtClean="0">
                                        <a:latin typeface="Cambria Math" panose="02040503050406030204" pitchFamily="18" charset="0"/>
                                      </a:rPr>
                                    </m:ctrlPr>
                                  </m:sSubPr>
                                  <m:e>
                                    <m:acc>
                                      <m:accPr>
                                        <m:chr m:val="̅"/>
                                        <m:ctrlPr>
                                          <a:rPr lang="en-US" altLang="ja-JP" sz="2400" i="1">
                                            <a:latin typeface="Cambria Math" panose="02040503050406030204" pitchFamily="18" charset="0"/>
                                          </a:rPr>
                                        </m:ctrlPr>
                                      </m:accPr>
                                      <m:e>
                                        <m:r>
                                          <a:rPr lang="en-US" altLang="ja-JP" sz="2400" i="1">
                                            <a:latin typeface="Cambria Math" panose="02040503050406030204" pitchFamily="18" charset="0"/>
                                          </a:rPr>
                                          <m:t>𝐵</m:t>
                                        </m:r>
                                      </m:e>
                                    </m:acc>
                                  </m:e>
                                  <m:sub>
                                    <m:r>
                                      <a:rPr lang="ja-JP" altLang="en-US" sz="2400" i="1">
                                        <a:latin typeface="Cambria Math" panose="02040503050406030204" pitchFamily="18" charset="0"/>
                                      </a:rPr>
                                      <m:t>𝜌</m:t>
                                    </m:r>
                                  </m:sub>
                                </m:sSub>
                                <m:d>
                                  <m:dPr>
                                    <m:ctrlPr>
                                      <a:rPr lang="en-US" altLang="ja-JP" sz="2400" i="1">
                                        <a:latin typeface="Cambria Math" panose="02040503050406030204" pitchFamily="18" charset="0"/>
                                      </a:rPr>
                                    </m:ctrlPr>
                                  </m:dPr>
                                  <m:e>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𝑠</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𝑠</m:t>
                                        </m:r>
                                      </m:e>
                                      <m:sub>
                                        <m:r>
                                          <a:rPr lang="en-US" altLang="ja-JP" sz="2400" i="1">
                                            <a:latin typeface="Cambria Math" panose="02040503050406030204" pitchFamily="18" charset="0"/>
                                          </a:rPr>
                                          <m:t>2</m:t>
                                        </m:r>
                                      </m:sub>
                                    </m:sSub>
                                  </m:e>
                                </m:d>
                              </m:e>
                            </m:d>
                            <m:r>
                              <a:rPr lang="ja-JP" altLang="en-US" sz="2400" i="1">
                                <a:latin typeface="Cambria Math" panose="02040503050406030204" pitchFamily="18" charset="0"/>
                              </a:rPr>
                              <m:t>𝜅</m:t>
                            </m:r>
                            <m:d>
                              <m:dPr>
                                <m:ctrlPr>
                                  <a:rPr lang="en-US" altLang="ja-JP" sz="2400" b="0" i="1" smtClean="0">
                                    <a:latin typeface="Cambria Math" panose="02040503050406030204" pitchFamily="18" charset="0"/>
                                  </a:rPr>
                                </m:ctrlPr>
                              </m:dPr>
                              <m:e>
                                <m:sSub>
                                  <m:sSubPr>
                                    <m:ctrlPr>
                                      <a:rPr lang="en-US" altLang="ja-JP" sz="2400" i="1" smtClean="0">
                                        <a:latin typeface="Cambria Math" panose="02040503050406030204" pitchFamily="18" charset="0"/>
                                      </a:rPr>
                                    </m:ctrlPr>
                                  </m:sSubPr>
                                  <m:e>
                                    <m:acc>
                                      <m:accPr>
                                        <m:chr m:val="̅"/>
                                        <m:ctrlPr>
                                          <a:rPr lang="en-US" altLang="ja-JP" sz="2400" i="1">
                                            <a:latin typeface="Cambria Math" panose="02040503050406030204" pitchFamily="18" charset="0"/>
                                          </a:rPr>
                                        </m:ctrlPr>
                                      </m:accPr>
                                      <m:e>
                                        <m:r>
                                          <a:rPr lang="en-US" altLang="ja-JP" sz="2400" i="1">
                                            <a:latin typeface="Cambria Math" panose="02040503050406030204" pitchFamily="18" charset="0"/>
                                          </a:rPr>
                                          <m:t>𝐵</m:t>
                                        </m:r>
                                      </m:e>
                                    </m:acc>
                                  </m:e>
                                  <m:sub>
                                    <m:r>
                                      <a:rPr lang="ja-JP" altLang="en-US" sz="2400" i="1">
                                        <a:latin typeface="Cambria Math" panose="02040503050406030204" pitchFamily="18" charset="0"/>
                                      </a:rPr>
                                      <m:t>𝜉</m:t>
                                    </m:r>
                                  </m:sub>
                                </m:sSub>
                                <m:d>
                                  <m:dPr>
                                    <m:ctrlPr>
                                      <a:rPr lang="en-US" altLang="ja-JP" sz="2400" i="1">
                                        <a:latin typeface="Cambria Math" panose="02040503050406030204" pitchFamily="18" charset="0"/>
                                      </a:rPr>
                                    </m:ctrlPr>
                                  </m:dPr>
                                  <m:e>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𝑡</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𝑡</m:t>
                                        </m:r>
                                      </m:e>
                                      <m:sub>
                                        <m:r>
                                          <a:rPr lang="en-US" altLang="ja-JP" sz="2400" i="1">
                                            <a:latin typeface="Cambria Math" panose="02040503050406030204" pitchFamily="18" charset="0"/>
                                          </a:rPr>
                                          <m:t>2</m:t>
                                        </m:r>
                                      </m:sub>
                                    </m:sSub>
                                  </m:e>
                                </m:d>
                              </m:e>
                            </m:d>
                          </m:e>
                        </m:d>
                      </m:e>
                      <m:sup>
                        <m:r>
                          <a:rPr lang="en-US" altLang="ja-JP" sz="2400" b="0" i="1" smtClean="0">
                            <a:latin typeface="Cambria Math" panose="02040503050406030204" pitchFamily="18" charset="0"/>
                            <a:ea typeface="Cambria Math" panose="02040503050406030204" pitchFamily="18" charset="0"/>
                          </a:rPr>
                          <m:t>2</m:t>
                        </m:r>
                      </m:sup>
                    </m:sSup>
                  </m:oMath>
                </a14:m>
                <a:r>
                  <a:rPr lang="en" altLang="ja-JP" sz="2400" dirty="0">
                    <a:effectLst/>
                  </a:rPr>
                  <a:t> </a:t>
                </a:r>
              </a:p>
            </p:txBody>
          </p:sp>
        </mc:Choice>
        <mc:Fallback xmlns="">
          <p:sp>
            <p:nvSpPr>
              <p:cNvPr id="9" name="テキスト ボックス 8">
                <a:extLst>
                  <a:ext uri="{FF2B5EF4-FFF2-40B4-BE49-F238E27FC236}">
                    <a16:creationId xmlns:a16="http://schemas.microsoft.com/office/drawing/2014/main" id="{26DDA4E2-E8E8-B0D3-AB61-891487B12CC7}"/>
                  </a:ext>
                </a:extLst>
              </p:cNvPr>
              <p:cNvSpPr txBox="1">
                <a:spLocks noRot="1" noChangeAspect="1" noMove="1" noResize="1" noEditPoints="1" noAdjustHandles="1" noChangeArrowheads="1" noChangeShapeType="1" noTextEdit="1"/>
              </p:cNvSpPr>
              <p:nvPr/>
            </p:nvSpPr>
            <p:spPr>
              <a:xfrm>
                <a:off x="528320" y="5354186"/>
                <a:ext cx="11353800" cy="1145763"/>
              </a:xfrm>
              <a:prstGeom prst="rect">
                <a:avLst/>
              </a:prstGeom>
              <a:blipFill>
                <a:blip r:embed="rId5"/>
                <a:stretch>
                  <a:fillRect/>
                </a:stretch>
              </a:blipFill>
            </p:spPr>
            <p:txBody>
              <a:bodyPr/>
              <a:lstStyle/>
              <a:p>
                <a:r>
                  <a:rPr lang="ja-JP" altLang="en-US">
                    <a:noFill/>
                  </a:rPr>
                  <a:t> </a:t>
                </a:r>
              </a:p>
            </p:txBody>
          </p:sp>
        </mc:Fallback>
      </mc:AlternateContent>
      <p:sp>
        <p:nvSpPr>
          <p:cNvPr id="10" name="大かっこ 9">
            <a:extLst>
              <a:ext uri="{FF2B5EF4-FFF2-40B4-BE49-F238E27FC236}">
                <a16:creationId xmlns:a16="http://schemas.microsoft.com/office/drawing/2014/main" id="{35331F38-877A-005A-1431-ADE036CF4DA2}"/>
              </a:ext>
            </a:extLst>
          </p:cNvPr>
          <p:cNvSpPr/>
          <p:nvPr/>
        </p:nvSpPr>
        <p:spPr>
          <a:xfrm>
            <a:off x="233321" y="5354186"/>
            <a:ext cx="11648799" cy="1145764"/>
          </a:xfrm>
          <a:prstGeom prst="bracketPair">
            <a:avLst/>
          </a:prstGeom>
          <a:ln w="38100"/>
        </p:spPr>
        <p:style>
          <a:lnRef idx="1">
            <a:schemeClr val="dk1"/>
          </a:lnRef>
          <a:fillRef idx="0">
            <a:schemeClr val="dk1"/>
          </a:fillRef>
          <a:effectRef idx="0">
            <a:schemeClr val="dk1"/>
          </a:effectRef>
          <a:fontRef idx="minor">
            <a:schemeClr val="tx1"/>
          </a:fontRef>
        </p:style>
        <p:txBody>
          <a:bodyPr rtlCol="0" anchor="ctr"/>
          <a:lstStyle/>
          <a:p>
            <a:pPr algn="ctr"/>
            <a:endParaRPr kumimoji="1" lang="ja-JP" altLang="en-US">
              <a:latin typeface="+mn-ea"/>
              <a:cs typeface="Arial" panose="020B0604020202020204" pitchFamily="34" charset="0"/>
            </a:endParaRPr>
          </a:p>
        </p:txBody>
      </p:sp>
      <p:sp>
        <p:nvSpPr>
          <p:cNvPr id="3" name="スライド番号プレースホルダー 2">
            <a:extLst>
              <a:ext uri="{FF2B5EF4-FFF2-40B4-BE49-F238E27FC236}">
                <a16:creationId xmlns:a16="http://schemas.microsoft.com/office/drawing/2014/main" id="{D006CF08-A3DD-9A10-53A9-5EE8C0DC99F5}"/>
              </a:ext>
            </a:extLst>
          </p:cNvPr>
          <p:cNvSpPr>
            <a:spLocks noGrp="1"/>
          </p:cNvSpPr>
          <p:nvPr>
            <p:ph type="sldNum" sz="quarter" idx="12"/>
          </p:nvPr>
        </p:nvSpPr>
        <p:spPr/>
        <p:txBody>
          <a:bodyPr/>
          <a:lstStyle/>
          <a:p>
            <a:fld id="{21218AEF-8260-6F42-89D9-6D82E053F226}" type="slidenum">
              <a:rPr kumimoji="1" lang="ja-JP" altLang="en-US" smtClean="0"/>
              <a:t>16</a:t>
            </a:fld>
            <a:endParaRPr kumimoji="1" lang="ja-JP" altLang="en-US"/>
          </a:p>
        </p:txBody>
      </p:sp>
    </p:spTree>
    <p:extLst>
      <p:ext uri="{BB962C8B-B14F-4D97-AF65-F5344CB8AC3E}">
        <p14:creationId xmlns:p14="http://schemas.microsoft.com/office/powerpoint/2010/main" val="1926053406"/>
      </p:ext>
    </p:extLst>
  </p:cSld>
  <p:clrMapOvr>
    <a:masterClrMapping/>
  </p:clrMapOvr>
  <mc:AlternateContent xmlns:mc="http://schemas.openxmlformats.org/markup-compatibility/2006">
    <mc:Choice xmlns:p14="http://schemas.microsoft.com/office/powerpoint/2010/main" Requires="p14">
      <p:transition spd="slow" p14:dur="2000" advTm="17885"/>
    </mc:Choice>
    <mc:Fallback>
      <p:transition spd="slow" advTm="17885"/>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514A236-E8CE-86A8-7B2A-C4900A471CAE}"/>
              </a:ext>
            </a:extLst>
          </p:cNvPr>
          <p:cNvSpPr>
            <a:spLocks noGrp="1"/>
          </p:cNvSpPr>
          <p:nvPr>
            <p:ph type="title"/>
          </p:nvPr>
        </p:nvSpPr>
        <p:spPr/>
        <p:txBody>
          <a:bodyPr/>
          <a:lstStyle/>
          <a:p>
            <a:r>
              <a:rPr kumimoji="1" lang="ja-JP" altLang="en-US"/>
              <a:t>条件付き</a:t>
            </a:r>
            <a:r>
              <a:rPr lang="ja-JP" altLang="en-US"/>
              <a:t>球</a:t>
            </a:r>
            <a:r>
              <a:rPr kumimoji="1" lang="ja-JP" altLang="en-US"/>
              <a:t>共分散</a:t>
            </a:r>
            <a:r>
              <a:rPr kumimoji="1" lang="en-US" altLang="ja-JP" dirty="0"/>
              <a:t>(</a:t>
            </a:r>
            <a:r>
              <a:rPr lang="en" altLang="ja-JP" dirty="0">
                <a:effectLst/>
                <a:latin typeface="+mn-lt"/>
              </a:rPr>
              <a:t>Tang et al.</a:t>
            </a:r>
            <a:r>
              <a:rPr lang="en" altLang="ja-JP" dirty="0">
                <a:latin typeface="+mn-lt"/>
              </a:rPr>
              <a:t>, </a:t>
            </a:r>
            <a:r>
              <a:rPr lang="en" altLang="ja-JP" dirty="0">
                <a:latin typeface="HaranoAjiMincho-Regular-Identity-H"/>
              </a:rPr>
              <a:t>2023</a:t>
            </a:r>
            <a:r>
              <a:rPr kumimoji="1" lang="en-US" altLang="ja-JP" dirty="0"/>
              <a:t>)</a:t>
            </a:r>
            <a:endParaRPr kumimoji="1" lang="ja-JP" altLang="en-US" dirty="0"/>
          </a:p>
        </p:txBody>
      </p:sp>
      <mc:AlternateContent xmlns:mc="http://schemas.openxmlformats.org/markup-compatibility/2006">
        <mc:Choice xmlns:a14="http://schemas.microsoft.com/office/drawing/2010/main" Requires="a14">
          <p:sp>
            <p:nvSpPr>
              <p:cNvPr id="3" name="コンテンツ プレースホルダー 2">
                <a:extLst>
                  <a:ext uri="{FF2B5EF4-FFF2-40B4-BE49-F238E27FC236}">
                    <a16:creationId xmlns:a16="http://schemas.microsoft.com/office/drawing/2014/main" id="{9485E6DA-8272-2D22-FFD4-3BF41F7CB1A9}"/>
                  </a:ext>
                </a:extLst>
              </p:cNvPr>
              <p:cNvSpPr>
                <a:spLocks noGrp="1"/>
              </p:cNvSpPr>
              <p:nvPr>
                <p:ph idx="1"/>
              </p:nvPr>
            </p:nvSpPr>
            <p:spPr/>
            <p:txBody>
              <a:bodyPr>
                <a:normAutofit/>
              </a:bodyPr>
              <a:lstStyle/>
              <a:p>
                <a14:m>
                  <m:oMath xmlns:m="http://schemas.openxmlformats.org/officeDocument/2006/math">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r>
                      <a:rPr lang="en-US" altLang="ja-JP" b="0" i="1" smtClean="0">
                        <a:latin typeface="Cambria Math" panose="02040503050406030204" pitchFamily="18" charset="0"/>
                        <a:ea typeface="Cambria Math" panose="02040503050406030204" pitchFamily="18" charset="0"/>
                      </a:rPr>
                      <m:t>=</m:t>
                    </m:r>
                    <m:sSup>
                      <m:sSupPr>
                        <m:ctrlPr>
                          <a:rPr lang="en-US" altLang="ja-JP" b="0" i="1" smtClean="0">
                            <a:latin typeface="Cambria Math" panose="02040503050406030204" pitchFamily="18" charset="0"/>
                            <a:ea typeface="Cambria Math" panose="02040503050406030204" pitchFamily="18" charset="0"/>
                          </a:rPr>
                        </m:ctrlPr>
                      </m:sSupPr>
                      <m:e>
                        <m:d>
                          <m:dPr>
                            <m:ctrlPr>
                              <a:rPr lang="en-US" altLang="ja-JP" i="1">
                                <a:latin typeface="Cambria Math" panose="02040503050406030204" pitchFamily="18" charset="0"/>
                              </a:rPr>
                            </m:ctrlPr>
                          </m:dPr>
                          <m:e>
                            <m:sSub>
                              <m:sSubPr>
                                <m:ctrlPr>
                                  <a:rPr lang="en-US" altLang="ja-JP" i="1">
                                    <a:latin typeface="Cambria Math" panose="02040503050406030204" pitchFamily="18" charset="0"/>
                                  </a:rPr>
                                </m:ctrlPr>
                              </m:sSubPr>
                              <m:e>
                                <m:r>
                                  <a:rPr lang="en-US" altLang="ja-JP" i="1">
                                    <a:latin typeface="Cambria Math" panose="02040503050406030204" pitchFamily="18" charset="0"/>
                                  </a:rPr>
                                  <m:t>𝐶</m:t>
                                </m:r>
                              </m:e>
                              <m:sub>
                                <m:r>
                                  <a:rPr lang="en-US" altLang="ja-JP" i="1">
                                    <a:latin typeface="Cambria Math" panose="02040503050406030204" pitchFamily="18" charset="0"/>
                                  </a:rPr>
                                  <m:t>1</m:t>
                                </m:r>
                                <m:r>
                                  <a:rPr lang="en-US" altLang="ja-JP" i="1" smtClean="0">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rPr>
                                  <m:t>𝐶</m:t>
                                </m:r>
                              </m:e>
                              <m:sub>
                                <m:r>
                                  <a:rPr lang="en-US" altLang="ja-JP" i="1">
                                    <a:latin typeface="Cambria Math" panose="02040503050406030204" pitchFamily="18" charset="0"/>
                                  </a:rPr>
                                  <m:t>2</m:t>
                                </m:r>
                                <m:r>
                                  <a:rPr lang="en-US" altLang="ja-JP" i="1" smtClean="0">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r>
                              <a:rPr lang="en-US" altLang="ja-JP" i="1">
                                <a:latin typeface="Cambria Math" panose="02040503050406030204" pitchFamily="18" charset="0"/>
                                <a:ea typeface="Cambria Math" panose="02040503050406030204" pitchFamily="18" charset="0"/>
                              </a:rPr>
                              <m:t>⋯</m:t>
                            </m:r>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rPr>
                                  <m:t>𝐶</m:t>
                                </m:r>
                              </m:e>
                              <m:sub>
                                <m:r>
                                  <a:rPr lang="en-US" altLang="ja-JP" b="0" i="1" smtClean="0">
                                    <a:latin typeface="Cambria Math" panose="02040503050406030204" pitchFamily="18" charset="0"/>
                                  </a:rPr>
                                  <m:t>𝑛</m:t>
                                </m:r>
                                <m:r>
                                  <a:rPr lang="en-US" altLang="ja-JP" b="0" i="1" smtClean="0">
                                    <a:latin typeface="Cambria Math" panose="02040503050406030204" pitchFamily="18" charset="0"/>
                                    <a:ea typeface="Cambria Math" panose="02040503050406030204" pitchFamily="18" charset="0"/>
                                  </a:rPr>
                                  <m:t>𝛼</m:t>
                                </m:r>
                              </m:sub>
                            </m:sSub>
                          </m:e>
                        </m:d>
                      </m:e>
                      <m:sup>
                        <m:r>
                          <a:rPr lang="en-US" altLang="ja-JP" b="0" i="1" smtClean="0">
                            <a:latin typeface="Cambria Math" panose="02040503050406030204" pitchFamily="18" charset="0"/>
                            <a:ea typeface="Cambria Math" panose="02040503050406030204" pitchFamily="18" charset="0"/>
                          </a:rPr>
                          <m:t>𝑇</m:t>
                        </m:r>
                      </m:sup>
                    </m:sSup>
                  </m:oMath>
                </a14:m>
                <a:r>
                  <a:rPr kumimoji="1" lang="en-US" altLang="ja-JP" dirty="0">
                    <a:latin typeface="Cambria Math" panose="02040503050406030204" pitchFamily="18" charset="0"/>
                  </a:rPr>
                  <a:t>:</a:t>
                </a:r>
                <a14:m>
                  <m:oMath xmlns:m="http://schemas.openxmlformats.org/officeDocument/2006/math">
                    <m:r>
                      <a:rPr lang="en-US" altLang="ja-JP" b="0" i="1" smtClean="0">
                        <a:latin typeface="Cambria Math" panose="02040503050406030204" pitchFamily="18" charset="0"/>
                        <a:ea typeface="Cambria Math" panose="02040503050406030204" pitchFamily="18" charset="0"/>
                      </a:rPr>
                      <m:t>𝛼</m:t>
                    </m:r>
                  </m:oMath>
                </a14:m>
                <a:r>
                  <a:rPr kumimoji="1" lang="ja-JP" altLang="en-US" dirty="0">
                    <a:latin typeface="Cambria Math" panose="02040503050406030204" pitchFamily="18" charset="0"/>
                  </a:rPr>
                  <a:t>番目</a:t>
                </a:r>
                <a:r>
                  <a:rPr kumimoji="1" lang="ja-JP" altLang="en-US">
                    <a:latin typeface="Cambria Math" panose="02040503050406030204" pitchFamily="18" charset="0"/>
                  </a:rPr>
                  <a:t>の共変量に関するデータ</a:t>
                </a:r>
                <a:endParaRPr kumimoji="1" lang="en-US" altLang="ja-JP" i="1" dirty="0">
                  <a:latin typeface="Cambria Math" panose="02040503050406030204" pitchFamily="18" charset="0"/>
                </a:endParaRPr>
              </a:p>
              <a:p>
                <a14:m>
                  <m:oMath xmlns:m="http://schemas.openxmlformats.org/officeDocument/2006/math">
                    <m:r>
                      <a:rPr kumimoji="1" lang="ja-JP" altLang="en-US" i="1" smtClean="0">
                        <a:latin typeface="Cambria Math" panose="02040503050406030204" pitchFamily="18" charset="0"/>
                      </a:rPr>
                      <m:t>𝜔</m:t>
                    </m:r>
                    <m:r>
                      <a:rPr kumimoji="1" lang="en-US" altLang="ja-JP" b="0" i="1" smtClean="0">
                        <a:latin typeface="Cambria Math" panose="02040503050406030204" pitchFamily="18" charset="0"/>
                      </a:rPr>
                      <m:t>=</m:t>
                    </m:r>
                    <m:r>
                      <a:rPr kumimoji="1" lang="en-US" altLang="ja-JP" b="0" i="1" smtClean="0">
                        <a:latin typeface="Cambria Math" panose="02040503050406030204" pitchFamily="18" charset="0"/>
                      </a:rPr>
                      <m:t>𝑃</m:t>
                    </m:r>
                    <m:r>
                      <a:rPr kumimoji="1" lang="en-US" altLang="ja-JP" b="0" i="1" smtClean="0">
                        <a:latin typeface="Cambria Math" panose="02040503050406030204" pitchFamily="18" charset="0"/>
                      </a:rPr>
                      <m:t>(</m:t>
                    </m:r>
                    <m:r>
                      <a:rPr kumimoji="1" lang="en-US" altLang="ja-JP" b="0" i="1" smtClean="0">
                        <a:latin typeface="Cambria Math" panose="02040503050406030204" pitchFamily="18" charset="0"/>
                      </a:rPr>
                      <m:t>𝑋</m:t>
                    </m:r>
                    <m:r>
                      <a:rPr kumimoji="1" lang="en-US" altLang="ja-JP" b="0" i="1" smtClean="0">
                        <a:latin typeface="Cambria Math" panose="02040503050406030204" pitchFamily="18" charset="0"/>
                      </a:rPr>
                      <m:t>=1)</m:t>
                    </m:r>
                  </m:oMath>
                </a14:m>
                <a:r>
                  <a:rPr kumimoji="1" lang="ja-JP" altLang="en-US"/>
                  <a:t>：</a:t>
                </a:r>
                <a:r>
                  <a:rPr lang="ja-JP" altLang="en-US"/>
                  <a:t>処置群</a:t>
                </a:r>
                <a:r>
                  <a:rPr kumimoji="1" lang="ja-JP" altLang="en-US"/>
                  <a:t>に割り当てられる確率</a:t>
                </a:r>
                <a:endParaRPr kumimoji="1" lang="en-US" altLang="ja-JP" dirty="0"/>
              </a:p>
              <a:p>
                <a14:m>
                  <m:oMath xmlns:m="http://schemas.openxmlformats.org/officeDocument/2006/math">
                    <m:sSubSup>
                      <m:sSubSupPr>
                        <m:ctrlPr>
                          <a:rPr kumimoji="1" lang="en-US" altLang="ja-JP" b="0" i="1" smtClean="0">
                            <a:latin typeface="Cambria Math" panose="02040503050406030204" pitchFamily="18" charset="0"/>
                          </a:rPr>
                        </m:ctrlPr>
                      </m:sSubSupPr>
                      <m:e>
                        <m:r>
                          <a:rPr kumimoji="1" lang="en-US" altLang="ja-JP" b="1" i="1" smtClean="0">
                            <a:latin typeface="Cambria Math" panose="02040503050406030204" pitchFamily="18" charset="0"/>
                          </a:rPr>
                          <m:t>𝑪</m:t>
                        </m:r>
                      </m:e>
                      <m:sub>
                        <m:r>
                          <a:rPr kumimoji="1" lang="en-US" altLang="ja-JP" b="0" i="1" smtClean="0">
                            <a:latin typeface="Cambria Math" panose="02040503050406030204" pitchFamily="18" charset="0"/>
                            <a:ea typeface="Cambria Math" panose="02040503050406030204" pitchFamily="18" charset="0"/>
                          </a:rPr>
                          <m:t>𝛼</m:t>
                        </m:r>
                      </m:sub>
                      <m:sup>
                        <m:r>
                          <a:rPr kumimoji="1" lang="en-US" altLang="ja-JP" b="0" i="1" smtClean="0">
                            <a:latin typeface="Cambria Math" panose="02040503050406030204" pitchFamily="18" charset="0"/>
                          </a:rPr>
                          <m:t>(</m:t>
                        </m:r>
                        <m:r>
                          <a:rPr kumimoji="1" lang="en-US" altLang="ja-JP" b="0" i="1" smtClean="0">
                            <a:latin typeface="Cambria Math" panose="02040503050406030204" pitchFamily="18" charset="0"/>
                          </a:rPr>
                          <m:t>𝑥</m:t>
                        </m:r>
                        <m:r>
                          <a:rPr kumimoji="1" lang="en-US" altLang="ja-JP" b="0" i="1" smtClean="0">
                            <a:latin typeface="Cambria Math" panose="02040503050406030204" pitchFamily="18" charset="0"/>
                          </a:rPr>
                          <m:t>)</m:t>
                        </m:r>
                      </m:sup>
                    </m:sSubSup>
                    <m:r>
                      <a:rPr kumimoji="1" lang="en-US" altLang="ja-JP" b="0" i="1" smtClean="0">
                        <a:latin typeface="Cambria Math" panose="02040503050406030204" pitchFamily="18" charset="0"/>
                      </a:rPr>
                      <m:t>,</m:t>
                    </m:r>
                    <m:sSup>
                      <m:sSupPr>
                        <m:ctrlPr>
                          <a:rPr kumimoji="1" lang="en-US" altLang="ja-JP" b="0" i="1" smtClean="0">
                            <a:latin typeface="Cambria Math" panose="02040503050406030204" pitchFamily="18" charset="0"/>
                          </a:rPr>
                        </m:ctrlPr>
                      </m:sSupPr>
                      <m:e>
                        <m:r>
                          <a:rPr kumimoji="1" lang="en-US" altLang="ja-JP" b="1" i="1" smtClean="0">
                            <a:latin typeface="Cambria Math" panose="02040503050406030204" pitchFamily="18" charset="0"/>
                          </a:rPr>
                          <m:t>𝒀</m:t>
                        </m:r>
                      </m:e>
                      <m:sup>
                        <m:r>
                          <a:rPr kumimoji="1" lang="en-US" altLang="ja-JP" b="0" i="1" smtClean="0">
                            <a:latin typeface="Cambria Math" panose="02040503050406030204" pitchFamily="18" charset="0"/>
                          </a:rPr>
                          <m:t>(</m:t>
                        </m:r>
                        <m:r>
                          <a:rPr kumimoji="1" lang="en-US" altLang="ja-JP" b="0" i="1" smtClean="0">
                            <a:latin typeface="Cambria Math" panose="02040503050406030204" pitchFamily="18" charset="0"/>
                          </a:rPr>
                          <m:t>𝑥</m:t>
                        </m:r>
                        <m:r>
                          <a:rPr kumimoji="1" lang="en-US" altLang="ja-JP" b="0" i="1" smtClean="0">
                            <a:latin typeface="Cambria Math" panose="02040503050406030204" pitchFamily="18" charset="0"/>
                          </a:rPr>
                          <m:t>)</m:t>
                        </m:r>
                      </m:sup>
                    </m:sSup>
                    <m:r>
                      <a:rPr kumimoji="1" lang="en-US" altLang="ja-JP" b="0" i="1" smtClean="0">
                        <a:latin typeface="Cambria Math" panose="02040503050406030204" pitchFamily="18" charset="0"/>
                      </a:rPr>
                      <m:t>,</m:t>
                    </m:r>
                    <m:r>
                      <a:rPr kumimoji="1" lang="en-US" altLang="ja-JP" b="0" i="1" smtClean="0">
                        <a:latin typeface="Cambria Math" panose="02040503050406030204" pitchFamily="18" charset="0"/>
                      </a:rPr>
                      <m:t>𝑥</m:t>
                    </m:r>
                    <m:r>
                      <a:rPr kumimoji="1" lang="en-US" altLang="ja-JP" b="0" i="1" smtClean="0">
                        <a:latin typeface="Cambria Math" panose="02040503050406030204" pitchFamily="18" charset="0"/>
                      </a:rPr>
                      <m:t>=0,1</m:t>
                    </m:r>
                  </m:oMath>
                </a14:m>
                <a:r>
                  <a:rPr kumimoji="1" lang="ja-JP" altLang="en-US" b="0">
                    <a:latin typeface="Cambria Math" panose="02040503050406030204" pitchFamily="18" charset="0"/>
                  </a:rPr>
                  <a:t>：</a:t>
                </a:r>
                <a:endParaRPr kumimoji="1" lang="en-US" altLang="ja-JP" b="0" dirty="0">
                  <a:latin typeface="Cambria Math" panose="02040503050406030204" pitchFamily="18" charset="0"/>
                </a:endParaRPr>
              </a:p>
              <a:p>
                <a:pPr marL="0" indent="0">
                  <a:buNone/>
                </a:pPr>
                <a:r>
                  <a:rPr lang="en-US" altLang="ja-JP" dirty="0">
                    <a:latin typeface="Cambria Math" panose="02040503050406030204" pitchFamily="18" charset="0"/>
                  </a:rPr>
                  <a:t>	</a:t>
                </a:r>
                <a14:m>
                  <m:oMath xmlns:m="http://schemas.openxmlformats.org/officeDocument/2006/math">
                    <m:d>
                      <m:dPr>
                        <m:ctrlPr>
                          <a:rPr kumimoji="1" lang="en-US" altLang="ja-JP" b="0" i="1" dirty="0" smtClean="0">
                            <a:latin typeface="Cambria Math" panose="02040503050406030204" pitchFamily="18" charset="0"/>
                          </a:rPr>
                        </m:ctrlPr>
                      </m:dPr>
                      <m:e>
                        <m:sSubSup>
                          <m:sSubSupPr>
                            <m:ctrlPr>
                              <a:rPr lang="en-US" altLang="ja-JP" i="1">
                                <a:latin typeface="Cambria Math" panose="02040503050406030204" pitchFamily="18" charset="0"/>
                              </a:rPr>
                            </m:ctrlPr>
                          </m:sSubSupPr>
                          <m:e>
                            <m:r>
                              <a:rPr lang="en-US" altLang="ja-JP" b="1" i="1">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𝛼</m:t>
                            </m:r>
                          </m:sub>
                          <m:sup>
                            <m:r>
                              <a:rPr lang="en-US" altLang="ja-JP" i="1">
                                <a:latin typeface="Cambria Math" panose="02040503050406030204" pitchFamily="18" charset="0"/>
                              </a:rPr>
                              <m:t>(</m:t>
                            </m:r>
                            <m:r>
                              <a:rPr lang="en-US" altLang="ja-JP" i="1">
                                <a:latin typeface="Cambria Math" panose="02040503050406030204" pitchFamily="18" charset="0"/>
                              </a:rPr>
                              <m:t>𝑥</m:t>
                            </m:r>
                            <m:r>
                              <a:rPr lang="en-US" altLang="ja-JP" i="1">
                                <a:latin typeface="Cambria Math" panose="02040503050406030204" pitchFamily="18" charset="0"/>
                              </a:rPr>
                              <m:t>)</m:t>
                            </m:r>
                          </m:sup>
                        </m:sSubSup>
                        <m:r>
                          <a:rPr lang="en-US" altLang="ja-JP" i="1">
                            <a:latin typeface="Cambria Math" panose="02040503050406030204" pitchFamily="18" charset="0"/>
                          </a:rPr>
                          <m:t>,</m:t>
                        </m:r>
                        <m:sSup>
                          <m:sSupPr>
                            <m:ctrlPr>
                              <a:rPr lang="en-US" altLang="ja-JP" i="1">
                                <a:latin typeface="Cambria Math" panose="02040503050406030204" pitchFamily="18" charset="0"/>
                              </a:rPr>
                            </m:ctrlPr>
                          </m:sSupPr>
                          <m:e>
                            <m:r>
                              <a:rPr lang="en-US" altLang="ja-JP" b="1" i="1">
                                <a:latin typeface="Cambria Math" panose="02040503050406030204" pitchFamily="18" charset="0"/>
                              </a:rPr>
                              <m:t>𝒀</m:t>
                            </m:r>
                          </m:e>
                          <m:sup>
                            <m:r>
                              <a:rPr lang="en-US" altLang="ja-JP" i="1">
                                <a:latin typeface="Cambria Math" panose="02040503050406030204" pitchFamily="18" charset="0"/>
                              </a:rPr>
                              <m:t>(</m:t>
                            </m:r>
                            <m:r>
                              <a:rPr lang="en-US" altLang="ja-JP" i="1">
                                <a:latin typeface="Cambria Math" panose="02040503050406030204" pitchFamily="18" charset="0"/>
                              </a:rPr>
                              <m:t>𝑥</m:t>
                            </m:r>
                            <m:r>
                              <a:rPr lang="en-US" altLang="ja-JP" i="1">
                                <a:latin typeface="Cambria Math" panose="02040503050406030204" pitchFamily="18" charset="0"/>
                              </a:rPr>
                              <m:t>)</m:t>
                            </m:r>
                          </m:sup>
                        </m:sSup>
                      </m:e>
                    </m:d>
                    <m:r>
                      <a:rPr kumimoji="1" lang="en-US" altLang="ja-JP" b="0" i="1" dirty="0" smtClean="0">
                        <a:latin typeface="Cambria Math" panose="02040503050406030204" pitchFamily="18" charset="0"/>
                      </a:rPr>
                      <m:t>=</m:t>
                    </m:r>
                    <m:d>
                      <m:dPr>
                        <m:ctrlPr>
                          <a:rPr kumimoji="1" lang="en-US" altLang="ja-JP" b="0" i="1" dirty="0" smtClean="0">
                            <a:latin typeface="Cambria Math" panose="02040503050406030204" pitchFamily="18" charset="0"/>
                          </a:rPr>
                        </m:ctrlPr>
                      </m:dPr>
                      <m:e>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r>
                          <a:rPr kumimoji="1" lang="en-US" altLang="ja-JP" b="1" i="1" dirty="0" smtClean="0">
                            <a:latin typeface="Cambria Math" panose="02040503050406030204" pitchFamily="18" charset="0"/>
                          </a:rPr>
                          <m:t>𝒀</m:t>
                        </m:r>
                        <m:r>
                          <a:rPr kumimoji="1" lang="en-US" altLang="ja-JP" b="0" i="1" dirty="0" smtClean="0">
                            <a:latin typeface="Cambria Math" panose="02040503050406030204" pitchFamily="18" charset="0"/>
                          </a:rPr>
                          <m:t>|</m:t>
                        </m:r>
                        <m:r>
                          <a:rPr kumimoji="1" lang="en-US" altLang="ja-JP" b="0" i="1" dirty="0" smtClean="0">
                            <a:latin typeface="Cambria Math" panose="02040503050406030204" pitchFamily="18" charset="0"/>
                          </a:rPr>
                          <m:t>𝑋</m:t>
                        </m:r>
                        <m:r>
                          <a:rPr kumimoji="1" lang="en-US" altLang="ja-JP" b="0" i="1" dirty="0" smtClean="0">
                            <a:latin typeface="Cambria Math" panose="02040503050406030204" pitchFamily="18" charset="0"/>
                          </a:rPr>
                          <m:t>=</m:t>
                        </m:r>
                        <m:r>
                          <a:rPr kumimoji="1" lang="en-US" altLang="ja-JP" b="0" i="1" dirty="0" smtClean="0">
                            <a:latin typeface="Cambria Math" panose="02040503050406030204" pitchFamily="18" charset="0"/>
                          </a:rPr>
                          <m:t>𝑥</m:t>
                        </m:r>
                      </m:e>
                    </m:d>
                    <m:r>
                      <a:rPr kumimoji="1" lang="en-US" altLang="ja-JP" b="0" i="1" dirty="0" smtClean="0">
                        <a:latin typeface="Cambria Math" panose="02040503050406030204" pitchFamily="18" charset="0"/>
                      </a:rPr>
                      <m:t>,</m:t>
                    </m:r>
                    <m:r>
                      <a:rPr kumimoji="1" lang="en-US" altLang="ja-JP" b="0" i="1" dirty="0" smtClean="0">
                        <a:latin typeface="Cambria Math" panose="02040503050406030204" pitchFamily="18" charset="0"/>
                      </a:rPr>
                      <m:t>𝑥</m:t>
                    </m:r>
                    <m:r>
                      <a:rPr kumimoji="1" lang="en-US" altLang="ja-JP" b="0" i="1" dirty="0" smtClean="0">
                        <a:latin typeface="Cambria Math" panose="02040503050406030204" pitchFamily="18" charset="0"/>
                      </a:rPr>
                      <m:t>=0,1</m:t>
                    </m:r>
                  </m:oMath>
                </a14:m>
                <a:r>
                  <a:rPr kumimoji="1" lang="ja-JP" altLang="en-US"/>
                  <a:t>となる確率変数</a:t>
                </a:r>
                <a:endParaRPr kumimoji="1" lang="en-US" altLang="ja-JP" dirty="0"/>
              </a:p>
              <a:p>
                <a14:m>
                  <m:oMath xmlns:m="http://schemas.openxmlformats.org/officeDocument/2006/math">
                    <m:r>
                      <a:rPr kumimoji="1" lang="en-US" altLang="ja-JP" b="0" i="1" smtClean="0">
                        <a:latin typeface="Cambria Math" panose="02040503050406030204" pitchFamily="18" charset="0"/>
                      </a:rPr>
                      <m:t>𝑋</m:t>
                    </m:r>
                  </m:oMath>
                </a14:m>
                <a:r>
                  <a:rPr kumimoji="1" lang="ja-JP" altLang="en-US"/>
                  <a:t>が</a:t>
                </a:r>
                <a:r>
                  <a:rPr kumimoji="1" lang="ja-JP" altLang="en-US" dirty="0"/>
                  <a:t>与えられた</a:t>
                </a:r>
                <a:r>
                  <a:rPr kumimoji="1" lang="ja-JP" altLang="en-US"/>
                  <a:t>場合の</a:t>
                </a:r>
                <a14:m>
                  <m:oMath xmlns:m="http://schemas.openxmlformats.org/officeDocument/2006/math">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oMath>
                </a14:m>
                <a:r>
                  <a:rPr kumimoji="1" lang="ja-JP" altLang="en-US"/>
                  <a:t>と</a:t>
                </a:r>
                <a:r>
                  <a:rPr kumimoji="1" lang="ja-JP" altLang="en-US" b="1" dirty="0"/>
                  <a:t>𝑌</a:t>
                </a:r>
                <a:r>
                  <a:rPr kumimoji="1" lang="ja-JP" altLang="en-US" dirty="0"/>
                  <a:t>の間</a:t>
                </a:r>
                <a:r>
                  <a:rPr kumimoji="1" lang="ja-JP" altLang="en-US"/>
                  <a:t>の条件付き</a:t>
                </a:r>
                <a:r>
                  <a:rPr lang="ja-JP" altLang="en-US"/>
                  <a:t>球</a:t>
                </a:r>
                <a:r>
                  <a:rPr kumimoji="1" lang="ja-JP" altLang="en-US"/>
                  <a:t>共</a:t>
                </a:r>
                <a:r>
                  <a:rPr kumimoji="1" lang="ja-JP" altLang="en-US" dirty="0"/>
                  <a:t>分散は、次の平方根として定義される</a:t>
                </a:r>
                <a:endParaRPr lang="en-US" altLang="ja-JP" dirty="0"/>
              </a:p>
              <a:p>
                <a:pPr marL="0" indent="0">
                  <a:buNone/>
                </a:pPr>
                <a14:m>
                  <m:oMathPara xmlns:m="http://schemas.openxmlformats.org/officeDocument/2006/math">
                    <m:oMathParaPr>
                      <m:jc m:val="centerGroup"/>
                    </m:oMathParaPr>
                    <m:oMath xmlns:m="http://schemas.openxmlformats.org/officeDocument/2006/math">
                      <m:sSup>
                        <m:sSupPr>
                          <m:ctrlPr>
                            <a:rPr kumimoji="1" lang="en-US" altLang="ja-JP" i="1" smtClean="0">
                              <a:latin typeface="Cambria Math" panose="02040503050406030204" pitchFamily="18" charset="0"/>
                            </a:rPr>
                          </m:ctrlPr>
                        </m:sSupPr>
                        <m:e>
                          <m:r>
                            <m:rPr>
                              <m:sty m:val="p"/>
                            </m:rPr>
                            <a:rPr kumimoji="1" lang="en-US" altLang="ja-JP" b="0" i="0" smtClean="0">
                              <a:latin typeface="Cambria Math" panose="02040503050406030204" pitchFamily="18" charset="0"/>
                            </a:rPr>
                            <m:t>B</m:t>
                          </m:r>
                          <m:r>
                            <m:rPr>
                              <m:sty m:val="p"/>
                            </m:rPr>
                            <a:rPr kumimoji="1" lang="en-US" altLang="ja-JP" b="0" i="0" smtClean="0">
                              <a:latin typeface="Cambria Math" panose="02040503050406030204" pitchFamily="18" charset="0"/>
                            </a:rPr>
                            <m:t>C</m:t>
                          </m:r>
                          <m:r>
                            <m:rPr>
                              <m:sty m:val="p"/>
                            </m:rPr>
                            <a:rPr kumimoji="1" lang="en-US" altLang="ja-JP" b="0" i="0" smtClean="0">
                              <a:latin typeface="Cambria Math" panose="02040503050406030204" pitchFamily="18" charset="0"/>
                            </a:rPr>
                            <m:t>ov</m:t>
                          </m:r>
                        </m:e>
                        <m:sup>
                          <m:r>
                            <a:rPr kumimoji="1" lang="en-US" altLang="ja-JP" b="0" i="1" smtClean="0">
                              <a:latin typeface="Cambria Math" panose="02040503050406030204" pitchFamily="18" charset="0"/>
                            </a:rPr>
                            <m:t>2</m:t>
                          </m:r>
                        </m:sup>
                      </m:sSup>
                      <m:d>
                        <m:dPr>
                          <m:ctrlPr>
                            <a:rPr kumimoji="1" lang="en-US" altLang="ja-JP" b="0" i="1" smtClean="0">
                              <a:latin typeface="Cambria Math" panose="02040503050406030204" pitchFamily="18" charset="0"/>
                            </a:rPr>
                          </m:ctrlPr>
                        </m:dPr>
                        <m:e>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r>
                            <a:rPr lang="en-US" altLang="ja-JP" b="1" i="1" dirty="0">
                              <a:latin typeface="Cambria Math" panose="02040503050406030204" pitchFamily="18" charset="0"/>
                            </a:rPr>
                            <m:t>𝒀</m:t>
                          </m:r>
                        </m:e>
                        <m:e>
                          <m:r>
                            <a:rPr kumimoji="1" lang="en-US" altLang="ja-JP" b="1" i="1" smtClean="0">
                              <a:latin typeface="Cambria Math" panose="02040503050406030204" pitchFamily="18" charset="0"/>
                            </a:rPr>
                            <m:t>𝑿</m:t>
                          </m:r>
                        </m:e>
                      </m:d>
                      <m:r>
                        <a:rPr kumimoji="1" lang="en-US" altLang="ja-JP" b="0" i="1" smtClean="0">
                          <a:latin typeface="Cambria Math" panose="02040503050406030204" pitchFamily="18" charset="0"/>
                        </a:rPr>
                        <m:t>=</m:t>
                      </m:r>
                      <m:r>
                        <a:rPr lang="ja-JP" altLang="en-US" i="1">
                          <a:latin typeface="Cambria Math" panose="02040503050406030204" pitchFamily="18" charset="0"/>
                        </a:rPr>
                        <m:t>𝜔</m:t>
                      </m:r>
                      <m:sSup>
                        <m:sSupPr>
                          <m:ctrlPr>
                            <a:rPr lang="en-US" altLang="ja-JP" i="1" smtClean="0">
                              <a:latin typeface="Cambria Math" panose="02040503050406030204" pitchFamily="18" charset="0"/>
                            </a:rPr>
                          </m:ctrlPr>
                        </m:sSupPr>
                        <m:e>
                          <m:r>
                            <m:rPr>
                              <m:sty m:val="p"/>
                            </m:rPr>
                            <a:rPr lang="en-US" altLang="ja-JP" i="0">
                              <a:latin typeface="Cambria Math" panose="02040503050406030204" pitchFamily="18" charset="0"/>
                            </a:rPr>
                            <m:t>B</m:t>
                          </m:r>
                          <m:r>
                            <m:rPr>
                              <m:sty m:val="p"/>
                            </m:rPr>
                            <a:rPr lang="en-US" altLang="ja-JP" b="0" i="0" smtClean="0">
                              <a:latin typeface="Cambria Math" panose="02040503050406030204" pitchFamily="18" charset="0"/>
                            </a:rPr>
                            <m:t>C</m:t>
                          </m:r>
                          <m:r>
                            <m:rPr>
                              <m:sty m:val="p"/>
                            </m:rPr>
                            <a:rPr lang="en-US" altLang="ja-JP" i="0">
                              <a:latin typeface="Cambria Math" panose="02040503050406030204" pitchFamily="18" charset="0"/>
                            </a:rPr>
                            <m:t>ov</m:t>
                          </m:r>
                        </m:e>
                        <m:sup>
                          <m:r>
                            <a:rPr lang="en-US" altLang="ja-JP" i="1">
                              <a:latin typeface="Cambria Math" panose="02040503050406030204" pitchFamily="18" charset="0"/>
                            </a:rPr>
                            <m:t>2</m:t>
                          </m:r>
                        </m:sup>
                      </m:sSup>
                      <m:r>
                        <a:rPr lang="en-US" altLang="ja-JP" b="0" i="1" smtClean="0">
                          <a:latin typeface="Cambria Math" panose="02040503050406030204" pitchFamily="18" charset="0"/>
                        </a:rPr>
                        <m:t>(</m:t>
                      </m:r>
                      <m:sSubSup>
                        <m:sSubSupPr>
                          <m:ctrlPr>
                            <a:rPr lang="en-US" altLang="ja-JP" i="1" smtClean="0">
                              <a:latin typeface="Cambria Math" panose="02040503050406030204" pitchFamily="18" charset="0"/>
                            </a:rPr>
                          </m:ctrlPr>
                        </m:sSubSupPr>
                        <m:e>
                          <m:r>
                            <a:rPr lang="en-US" altLang="ja-JP" b="1" i="1">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𝛼</m:t>
                          </m:r>
                        </m:sub>
                        <m:sup>
                          <m:r>
                            <a:rPr lang="en-US" altLang="ja-JP" i="1">
                              <a:latin typeface="Cambria Math" panose="02040503050406030204" pitchFamily="18" charset="0"/>
                            </a:rPr>
                            <m:t>(</m:t>
                          </m:r>
                          <m:r>
                            <a:rPr lang="en-US" altLang="ja-JP" b="0" i="1" smtClean="0">
                              <a:latin typeface="Cambria Math" panose="02040503050406030204" pitchFamily="18" charset="0"/>
                            </a:rPr>
                            <m:t>1</m:t>
                          </m:r>
                          <m:r>
                            <a:rPr lang="en-US" altLang="ja-JP" i="1">
                              <a:latin typeface="Cambria Math" panose="02040503050406030204" pitchFamily="18" charset="0"/>
                            </a:rPr>
                            <m:t>)</m:t>
                          </m:r>
                        </m:sup>
                      </m:sSubSup>
                      <m:r>
                        <a:rPr lang="en-US" altLang="ja-JP" i="1">
                          <a:latin typeface="Cambria Math" panose="02040503050406030204" pitchFamily="18" charset="0"/>
                        </a:rPr>
                        <m:t>,</m:t>
                      </m:r>
                      <m:sSup>
                        <m:sSupPr>
                          <m:ctrlPr>
                            <a:rPr lang="en-US" altLang="ja-JP" i="1">
                              <a:latin typeface="Cambria Math" panose="02040503050406030204" pitchFamily="18" charset="0"/>
                            </a:rPr>
                          </m:ctrlPr>
                        </m:sSupPr>
                        <m:e>
                          <m:r>
                            <a:rPr lang="en-US" altLang="ja-JP" b="1" i="1">
                              <a:latin typeface="Cambria Math" panose="02040503050406030204" pitchFamily="18" charset="0"/>
                            </a:rPr>
                            <m:t>𝒀</m:t>
                          </m:r>
                        </m:e>
                        <m:sup>
                          <m:r>
                            <a:rPr lang="en-US" altLang="ja-JP" i="1">
                              <a:latin typeface="Cambria Math" panose="02040503050406030204" pitchFamily="18" charset="0"/>
                            </a:rPr>
                            <m:t>(</m:t>
                          </m:r>
                          <m:r>
                            <a:rPr lang="en-US" altLang="ja-JP" b="0" i="1" smtClean="0">
                              <a:latin typeface="Cambria Math" panose="02040503050406030204" pitchFamily="18" charset="0"/>
                            </a:rPr>
                            <m:t>1</m:t>
                          </m:r>
                          <m:r>
                            <a:rPr lang="en-US" altLang="ja-JP" i="1">
                              <a:latin typeface="Cambria Math" panose="02040503050406030204" pitchFamily="18" charset="0"/>
                            </a:rPr>
                            <m:t>)</m:t>
                          </m:r>
                        </m:sup>
                      </m:sSup>
                      <m:r>
                        <a:rPr lang="en-US" altLang="ja-JP" b="0" i="1" smtClean="0">
                          <a:latin typeface="Cambria Math" panose="02040503050406030204" pitchFamily="18" charset="0"/>
                        </a:rPr>
                        <m:t>)+(1−</m:t>
                      </m:r>
                      <m:r>
                        <a:rPr lang="ja-JP" altLang="en-US" i="1">
                          <a:latin typeface="Cambria Math" panose="02040503050406030204" pitchFamily="18" charset="0"/>
                        </a:rPr>
                        <m:t>𝜔</m:t>
                      </m:r>
                      <m:r>
                        <a:rPr lang="en-US" altLang="ja-JP" b="0" i="1" smtClean="0">
                          <a:latin typeface="Cambria Math" panose="02040503050406030204" pitchFamily="18" charset="0"/>
                        </a:rPr>
                        <m:t>)</m:t>
                      </m:r>
                      <m:sSup>
                        <m:sSupPr>
                          <m:ctrlPr>
                            <a:rPr lang="en-US" altLang="ja-JP" i="1">
                              <a:latin typeface="Cambria Math" panose="02040503050406030204" pitchFamily="18" charset="0"/>
                            </a:rPr>
                          </m:ctrlPr>
                        </m:sSupPr>
                        <m:e>
                          <m:r>
                            <m:rPr>
                              <m:sty m:val="p"/>
                            </m:rPr>
                            <a:rPr lang="en-US" altLang="ja-JP" i="0">
                              <a:latin typeface="Cambria Math" panose="02040503050406030204" pitchFamily="18" charset="0"/>
                            </a:rPr>
                            <m:t>B</m:t>
                          </m:r>
                          <m:r>
                            <m:rPr>
                              <m:sty m:val="p"/>
                            </m:rPr>
                            <a:rPr lang="en-US" altLang="ja-JP" b="0" i="0" smtClean="0">
                              <a:latin typeface="Cambria Math" panose="02040503050406030204" pitchFamily="18" charset="0"/>
                            </a:rPr>
                            <m:t>C</m:t>
                          </m:r>
                          <m:r>
                            <m:rPr>
                              <m:sty m:val="p"/>
                            </m:rPr>
                            <a:rPr lang="en-US" altLang="ja-JP" i="0">
                              <a:latin typeface="Cambria Math" panose="02040503050406030204" pitchFamily="18" charset="0"/>
                            </a:rPr>
                            <m:t>ov</m:t>
                          </m:r>
                        </m:e>
                        <m:sup>
                          <m:r>
                            <a:rPr lang="en-US" altLang="ja-JP" i="1">
                              <a:latin typeface="Cambria Math" panose="02040503050406030204" pitchFamily="18" charset="0"/>
                            </a:rPr>
                            <m:t>2</m:t>
                          </m:r>
                        </m:sup>
                      </m:sSup>
                      <m:r>
                        <a:rPr lang="en-US" altLang="ja-JP" b="0" i="1" smtClean="0">
                          <a:latin typeface="Cambria Math" panose="02040503050406030204" pitchFamily="18" charset="0"/>
                        </a:rPr>
                        <m:t>(</m:t>
                      </m:r>
                      <m:sSubSup>
                        <m:sSubSupPr>
                          <m:ctrlPr>
                            <a:rPr lang="en-US" altLang="ja-JP" i="1" smtClean="0">
                              <a:latin typeface="Cambria Math" panose="02040503050406030204" pitchFamily="18" charset="0"/>
                            </a:rPr>
                          </m:ctrlPr>
                        </m:sSubSupPr>
                        <m:e>
                          <m:r>
                            <a:rPr lang="en-US" altLang="ja-JP" b="1" i="1">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𝛼</m:t>
                          </m:r>
                        </m:sub>
                        <m:sup>
                          <m:r>
                            <a:rPr lang="en-US" altLang="ja-JP" i="1">
                              <a:latin typeface="Cambria Math" panose="02040503050406030204" pitchFamily="18" charset="0"/>
                            </a:rPr>
                            <m:t>(</m:t>
                          </m:r>
                          <m:r>
                            <a:rPr lang="en-US" altLang="ja-JP" b="0" i="1" smtClean="0">
                              <a:latin typeface="Cambria Math" panose="02040503050406030204" pitchFamily="18" charset="0"/>
                            </a:rPr>
                            <m:t>0</m:t>
                          </m:r>
                          <m:r>
                            <a:rPr lang="en-US" altLang="ja-JP" i="1">
                              <a:latin typeface="Cambria Math" panose="02040503050406030204" pitchFamily="18" charset="0"/>
                            </a:rPr>
                            <m:t>)</m:t>
                          </m:r>
                        </m:sup>
                      </m:sSubSup>
                      <m:r>
                        <a:rPr lang="en-US" altLang="ja-JP" i="1">
                          <a:latin typeface="Cambria Math" panose="02040503050406030204" pitchFamily="18" charset="0"/>
                        </a:rPr>
                        <m:t>,</m:t>
                      </m:r>
                      <m:sSup>
                        <m:sSupPr>
                          <m:ctrlPr>
                            <a:rPr lang="en-US" altLang="ja-JP" i="1">
                              <a:latin typeface="Cambria Math" panose="02040503050406030204" pitchFamily="18" charset="0"/>
                            </a:rPr>
                          </m:ctrlPr>
                        </m:sSupPr>
                        <m:e>
                          <m:r>
                            <a:rPr lang="en-US" altLang="ja-JP" b="1" i="1">
                              <a:latin typeface="Cambria Math" panose="02040503050406030204" pitchFamily="18" charset="0"/>
                            </a:rPr>
                            <m:t>𝒀</m:t>
                          </m:r>
                        </m:e>
                        <m:sup>
                          <m:r>
                            <a:rPr lang="en-US" altLang="ja-JP" i="1">
                              <a:latin typeface="Cambria Math" panose="02040503050406030204" pitchFamily="18" charset="0"/>
                            </a:rPr>
                            <m:t>(</m:t>
                          </m:r>
                          <m:r>
                            <a:rPr lang="en-US" altLang="ja-JP" b="0" i="1" smtClean="0">
                              <a:latin typeface="Cambria Math" panose="02040503050406030204" pitchFamily="18" charset="0"/>
                            </a:rPr>
                            <m:t>0</m:t>
                          </m:r>
                          <m:r>
                            <a:rPr lang="en-US" altLang="ja-JP" i="1">
                              <a:latin typeface="Cambria Math" panose="02040503050406030204" pitchFamily="18" charset="0"/>
                            </a:rPr>
                            <m:t>)</m:t>
                          </m:r>
                        </m:sup>
                      </m:sSup>
                      <m:r>
                        <a:rPr lang="en-US" altLang="ja-JP" b="0" i="1" smtClean="0">
                          <a:latin typeface="Cambria Math" panose="02040503050406030204" pitchFamily="18" charset="0"/>
                        </a:rPr>
                        <m:t>)</m:t>
                      </m:r>
                    </m:oMath>
                  </m:oMathPara>
                </a14:m>
                <a:endParaRPr kumimoji="1" lang="en-US" altLang="ja-JP" dirty="0"/>
              </a:p>
            </p:txBody>
          </p:sp>
        </mc:Choice>
        <mc:Fallback>
          <p:sp>
            <p:nvSpPr>
              <p:cNvPr id="3" name="コンテンツ プレースホルダー 2">
                <a:extLst>
                  <a:ext uri="{FF2B5EF4-FFF2-40B4-BE49-F238E27FC236}">
                    <a16:creationId xmlns:a16="http://schemas.microsoft.com/office/drawing/2014/main" id="{9485E6DA-8272-2D22-FFD4-3BF41F7CB1A9}"/>
                  </a:ext>
                </a:extLst>
              </p:cNvPr>
              <p:cNvSpPr>
                <a:spLocks noGrp="1" noRot="1" noChangeAspect="1" noMove="1" noResize="1" noEditPoints="1" noAdjustHandles="1" noChangeArrowheads="1" noChangeShapeType="1" noTextEdit="1"/>
              </p:cNvSpPr>
              <p:nvPr>
                <p:ph idx="1"/>
              </p:nvPr>
            </p:nvSpPr>
            <p:spPr>
              <a:blipFill>
                <a:blip r:embed="rId3"/>
                <a:stretch>
                  <a:fillRect l="-1086" t="-2326"/>
                </a:stretch>
              </a:blipFill>
            </p:spPr>
            <p:txBody>
              <a:bodyPr/>
              <a:lstStyle/>
              <a:p>
                <a:r>
                  <a:rPr lang="ja-JP" altLang="en-US">
                    <a:noFill/>
                  </a:rPr>
                  <a:t> </a:t>
                </a:r>
              </a:p>
            </p:txBody>
          </p:sp>
        </mc:Fallback>
      </mc:AlternateContent>
      <p:sp>
        <p:nvSpPr>
          <p:cNvPr id="5" name="スライド番号プレースホルダー 4">
            <a:extLst>
              <a:ext uri="{FF2B5EF4-FFF2-40B4-BE49-F238E27FC236}">
                <a16:creationId xmlns:a16="http://schemas.microsoft.com/office/drawing/2014/main" id="{8A5F2706-9CC3-CD48-4697-66A66F45BA92}"/>
              </a:ext>
            </a:extLst>
          </p:cNvPr>
          <p:cNvSpPr>
            <a:spLocks noGrp="1"/>
          </p:cNvSpPr>
          <p:nvPr>
            <p:ph type="sldNum" sz="quarter" idx="12"/>
          </p:nvPr>
        </p:nvSpPr>
        <p:spPr/>
        <p:txBody>
          <a:bodyPr/>
          <a:lstStyle/>
          <a:p>
            <a:fld id="{21218AEF-8260-6F42-89D9-6D82E053F226}" type="slidenum">
              <a:rPr kumimoji="1" lang="ja-JP" altLang="en-US" smtClean="0"/>
              <a:t>17</a:t>
            </a:fld>
            <a:endParaRPr kumimoji="1" lang="ja-JP" altLang="en-US"/>
          </a:p>
        </p:txBody>
      </p:sp>
    </p:spTree>
    <p:extLst>
      <p:ext uri="{BB962C8B-B14F-4D97-AF65-F5344CB8AC3E}">
        <p14:creationId xmlns:p14="http://schemas.microsoft.com/office/powerpoint/2010/main" val="3837021376"/>
      </p:ext>
    </p:extLst>
  </p:cSld>
  <p:clrMapOvr>
    <a:masterClrMapping/>
  </p:clrMapOvr>
  <mc:AlternateContent xmlns:mc="http://schemas.openxmlformats.org/markup-compatibility/2006">
    <mc:Choice xmlns:p14="http://schemas.microsoft.com/office/powerpoint/2010/main" Requires="p14">
      <p:transition spd="slow" p14:dur="2000" advTm="41530"/>
    </mc:Choice>
    <mc:Fallback>
      <p:transition spd="slow" advTm="4153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3" name="コンテンツ プレースホルダー 2">
                <a:extLst>
                  <a:ext uri="{FF2B5EF4-FFF2-40B4-BE49-F238E27FC236}">
                    <a16:creationId xmlns:a16="http://schemas.microsoft.com/office/drawing/2014/main" id="{72977EC3-59CA-230D-D112-0D040633D656}"/>
                  </a:ext>
                </a:extLst>
              </p:cNvPr>
              <p:cNvSpPr>
                <a:spLocks noGrp="1"/>
              </p:cNvSpPr>
              <p:nvPr>
                <p:ph idx="1"/>
              </p:nvPr>
            </p:nvSpPr>
            <p:spPr>
              <a:xfrm>
                <a:off x="838199" y="1135966"/>
                <a:ext cx="10515600" cy="1117600"/>
              </a:xfrm>
            </p:spPr>
            <p:txBody>
              <a:bodyPr>
                <a:normAutofit/>
              </a:bodyPr>
              <a:lstStyle/>
              <a:p>
                <a:pPr marL="0" indent="0">
                  <a:buNone/>
                </a:pPr>
                <a:r>
                  <a:rPr lang="ja-JP" altLang="en-US" dirty="0"/>
                  <a:t>命題</a:t>
                </a:r>
                <a:endParaRPr lang="en-US" altLang="ja-JP" dirty="0"/>
              </a:p>
              <a:p>
                <a:pPr marL="0" indent="0">
                  <a:buNone/>
                </a:pPr>
                <a14:m>
                  <m:oMathPara xmlns:m="http://schemas.openxmlformats.org/officeDocument/2006/math">
                    <m:oMathParaPr>
                      <m:jc m:val="centerGroup"/>
                    </m:oMathParaPr>
                    <m:oMath xmlns:m="http://schemas.openxmlformats.org/officeDocument/2006/math">
                      <m:r>
                        <m:rPr>
                          <m:sty m:val="p"/>
                        </m:rPr>
                        <a:rPr kumimoji="1" lang="en-US" altLang="ja-JP" b="0" i="0" smtClean="0">
                          <a:latin typeface="Cambria Math" panose="02040503050406030204" pitchFamily="18" charset="0"/>
                        </a:rPr>
                        <m:t>B</m:t>
                      </m:r>
                      <m:r>
                        <m:rPr>
                          <m:sty m:val="p"/>
                        </m:rPr>
                        <a:rPr kumimoji="1" lang="en-US" altLang="ja-JP" b="0" i="0" smtClean="0">
                          <a:latin typeface="Cambria Math" panose="02040503050406030204" pitchFamily="18" charset="0"/>
                        </a:rPr>
                        <m:t>C</m:t>
                      </m:r>
                      <m:r>
                        <m:rPr>
                          <m:sty m:val="p"/>
                        </m:rPr>
                        <a:rPr kumimoji="1" lang="en-US" altLang="ja-JP" b="0" i="0" smtClean="0">
                          <a:latin typeface="Cambria Math" panose="02040503050406030204" pitchFamily="18" charset="0"/>
                        </a:rPr>
                        <m:t>ov</m:t>
                      </m:r>
                      <m:d>
                        <m:dPr>
                          <m:ctrlPr>
                            <a:rPr lang="en-US" altLang="ja-JP" i="1" smtClean="0">
                              <a:latin typeface="Cambria Math" panose="02040503050406030204" pitchFamily="18" charset="0"/>
                            </a:rPr>
                          </m:ctrlPr>
                        </m:dPr>
                        <m:e>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r>
                            <a:rPr lang="en-US" altLang="ja-JP" b="1" i="1" dirty="0">
                              <a:latin typeface="Cambria Math" panose="02040503050406030204" pitchFamily="18" charset="0"/>
                            </a:rPr>
                            <m:t>𝒀</m:t>
                          </m:r>
                        </m:e>
                        <m:e>
                          <m:r>
                            <a:rPr lang="en-US" altLang="ja-JP" b="1" i="1">
                              <a:latin typeface="Cambria Math" panose="02040503050406030204" pitchFamily="18" charset="0"/>
                            </a:rPr>
                            <m:t>𝑿</m:t>
                          </m:r>
                        </m:e>
                      </m:d>
                      <m:r>
                        <a:rPr kumimoji="1" lang="en-US" altLang="ja-JP" b="0" i="1" smtClean="0">
                          <a:latin typeface="Cambria Math" panose="02040503050406030204" pitchFamily="18" charset="0"/>
                        </a:rPr>
                        <m:t>=0</m:t>
                      </m:r>
                      <m:r>
                        <a:rPr kumimoji="1" lang="en-US" altLang="ja-JP" b="0" i="1" smtClean="0">
                          <a:latin typeface="Cambria Math" panose="02040503050406030204" pitchFamily="18" charset="0"/>
                          <a:ea typeface="Cambria Math" panose="02040503050406030204" pitchFamily="18" charset="0"/>
                        </a:rPr>
                        <m:t>⟺</m:t>
                      </m:r>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r>
                        <a:rPr lang="en-US" altLang="ja-JP" b="1" i="1" u="sng" smtClean="0">
                          <a:latin typeface="Cambria Math" panose="02040503050406030204" pitchFamily="18" charset="0"/>
                        </a:rPr>
                        <m:t>∥</m:t>
                      </m:r>
                      <m:r>
                        <a:rPr kumimoji="1" lang="en-US" altLang="ja-JP" b="1" i="1" smtClean="0">
                          <a:latin typeface="Cambria Math" panose="02040503050406030204" pitchFamily="18" charset="0"/>
                          <a:ea typeface="Cambria Math" panose="02040503050406030204" pitchFamily="18" charset="0"/>
                        </a:rPr>
                        <m:t>𝒀</m:t>
                      </m:r>
                      <m:r>
                        <a:rPr kumimoji="1" lang="en-US" altLang="ja-JP" b="1" i="1" smtClean="0">
                          <a:latin typeface="Cambria Math" panose="02040503050406030204" pitchFamily="18" charset="0"/>
                          <a:ea typeface="Cambria Math" panose="02040503050406030204" pitchFamily="18" charset="0"/>
                        </a:rPr>
                        <m:t>|</m:t>
                      </m:r>
                      <m:r>
                        <a:rPr kumimoji="1" lang="en-US" altLang="ja-JP" b="1" i="1" smtClean="0">
                          <a:latin typeface="Cambria Math" panose="02040503050406030204" pitchFamily="18" charset="0"/>
                          <a:ea typeface="Cambria Math" panose="02040503050406030204" pitchFamily="18" charset="0"/>
                        </a:rPr>
                        <m:t>𝑿</m:t>
                      </m:r>
                    </m:oMath>
                  </m:oMathPara>
                </a14:m>
                <a:endParaRPr kumimoji="1" lang="ja-JP" altLang="en-US" b="1" dirty="0"/>
              </a:p>
              <a:p>
                <a:endParaRPr kumimoji="1" lang="ja-JP" altLang="en-US"/>
              </a:p>
            </p:txBody>
          </p:sp>
        </mc:Choice>
        <mc:Fallback>
          <p:sp>
            <p:nvSpPr>
              <p:cNvPr id="3" name="コンテンツ プレースホルダー 2">
                <a:extLst>
                  <a:ext uri="{FF2B5EF4-FFF2-40B4-BE49-F238E27FC236}">
                    <a16:creationId xmlns:a16="http://schemas.microsoft.com/office/drawing/2014/main" id="{72977EC3-59CA-230D-D112-0D040633D656}"/>
                  </a:ext>
                </a:extLst>
              </p:cNvPr>
              <p:cNvSpPr>
                <a:spLocks noGrp="1" noRot="1" noChangeAspect="1" noMove="1" noResize="1" noEditPoints="1" noAdjustHandles="1" noChangeArrowheads="1" noChangeShapeType="1" noTextEdit="1"/>
              </p:cNvSpPr>
              <p:nvPr>
                <p:ph idx="1"/>
              </p:nvPr>
            </p:nvSpPr>
            <p:spPr>
              <a:xfrm>
                <a:off x="838199" y="1135966"/>
                <a:ext cx="10515600" cy="1117600"/>
              </a:xfrm>
              <a:blipFill>
                <a:blip r:embed="rId3"/>
                <a:stretch>
                  <a:fillRect l="-1086" t="-8989"/>
                </a:stretch>
              </a:blipFill>
            </p:spPr>
            <p:txBody>
              <a:bodyPr/>
              <a:lstStyle/>
              <a:p>
                <a:r>
                  <a:rPr lang="ja-JP" altLang="en-US">
                    <a:noFill/>
                  </a:rPr>
                  <a:t> </a:t>
                </a:r>
              </a:p>
            </p:txBody>
          </p:sp>
        </mc:Fallback>
      </mc:AlternateContent>
      <p:sp>
        <p:nvSpPr>
          <p:cNvPr id="4" name="テキスト ボックス 3">
            <a:extLst>
              <a:ext uri="{FF2B5EF4-FFF2-40B4-BE49-F238E27FC236}">
                <a16:creationId xmlns:a16="http://schemas.microsoft.com/office/drawing/2014/main" id="{A7BEB4EB-0C9C-A4CA-5845-1360C2F4CB8B}"/>
              </a:ext>
            </a:extLst>
          </p:cNvPr>
          <p:cNvSpPr txBox="1"/>
          <p:nvPr/>
        </p:nvSpPr>
        <p:spPr>
          <a:xfrm>
            <a:off x="631031" y="2957513"/>
            <a:ext cx="10929937" cy="3108543"/>
          </a:xfrm>
          <a:prstGeom prst="rect">
            <a:avLst/>
          </a:prstGeom>
          <a:noFill/>
        </p:spPr>
        <p:txBody>
          <a:bodyPr wrap="square" rtlCol="0">
            <a:spAutoFit/>
          </a:bodyPr>
          <a:lstStyle/>
          <a:p>
            <a:pPr marL="457200" indent="-457200">
              <a:buFont typeface="Wingdings" pitchFamily="2" charset="2"/>
              <a:buChar char="l"/>
            </a:pPr>
            <a:r>
              <a:rPr kumimoji="1" lang="ja-JP" altLang="en-US" sz="2800"/>
              <a:t>条件付き球共分散の値が大きい時</a:t>
            </a:r>
            <a:endParaRPr kumimoji="1" lang="en-US" altLang="ja-JP" sz="2800" dirty="0"/>
          </a:p>
          <a:p>
            <a:pPr marL="457200" indent="-457200">
              <a:buFont typeface="Wingdings" pitchFamily="2" charset="2"/>
              <a:buChar char="Ø"/>
            </a:pPr>
            <a:r>
              <a:rPr kumimoji="1" lang="ja-JP" altLang="en-US" sz="2800"/>
              <a:t>共変量は結果に影響を与えていると考えることができる</a:t>
            </a:r>
            <a:endParaRPr kumimoji="1" lang="en-US" altLang="ja-JP" sz="2800" dirty="0"/>
          </a:p>
          <a:p>
            <a:pPr marL="457200" indent="-457200">
              <a:buFont typeface="Wingdings" pitchFamily="2" charset="2"/>
              <a:buChar char="Ø"/>
            </a:pPr>
            <a:r>
              <a:rPr kumimoji="1" lang="ja-JP" altLang="en-US" sz="2800"/>
              <a:t>選択すべき共変量</a:t>
            </a:r>
            <a:endParaRPr kumimoji="1" lang="en-US" altLang="ja-JP" sz="2800" dirty="0"/>
          </a:p>
          <a:p>
            <a:endParaRPr kumimoji="1" lang="en-US" altLang="ja-JP" sz="2800" dirty="0"/>
          </a:p>
          <a:p>
            <a:pPr marL="457200" indent="-457200">
              <a:buFont typeface="Wingdings" pitchFamily="2" charset="2"/>
              <a:buChar char="l"/>
            </a:pPr>
            <a:r>
              <a:rPr kumimoji="1" lang="ja-JP" altLang="en-US" sz="2800"/>
              <a:t>条件付き球共分散の値が小さい時</a:t>
            </a:r>
            <a:endParaRPr kumimoji="1" lang="en-US" altLang="ja-JP" sz="2800" dirty="0"/>
          </a:p>
          <a:p>
            <a:pPr marL="457200" indent="-457200">
              <a:buFont typeface="Wingdings" pitchFamily="2" charset="2"/>
              <a:buChar char="Ø"/>
            </a:pPr>
            <a:r>
              <a:rPr kumimoji="1" lang="ja-JP" altLang="en-US" sz="2800"/>
              <a:t>共変量は結果に影響を与えていないと考えることができる</a:t>
            </a:r>
            <a:endParaRPr kumimoji="1" lang="en-US" altLang="ja-JP" sz="2800" dirty="0"/>
          </a:p>
          <a:p>
            <a:pPr marL="457200" indent="-457200">
              <a:buFont typeface="Wingdings" pitchFamily="2" charset="2"/>
              <a:buChar char="Ø"/>
            </a:pPr>
            <a:r>
              <a:rPr kumimoji="1" lang="ja-JP" altLang="en-US" sz="2800"/>
              <a:t>選択すべきではない共変量</a:t>
            </a:r>
            <a:endParaRPr kumimoji="1" lang="en-US" altLang="ja-JP" sz="2800" dirty="0"/>
          </a:p>
        </p:txBody>
      </p:sp>
      <p:sp>
        <p:nvSpPr>
          <p:cNvPr id="2" name="スライド番号プレースホルダー 1">
            <a:extLst>
              <a:ext uri="{FF2B5EF4-FFF2-40B4-BE49-F238E27FC236}">
                <a16:creationId xmlns:a16="http://schemas.microsoft.com/office/drawing/2014/main" id="{FF97AF17-71FC-7D52-B390-51CB61CDA083}"/>
              </a:ext>
            </a:extLst>
          </p:cNvPr>
          <p:cNvSpPr>
            <a:spLocks noGrp="1"/>
          </p:cNvSpPr>
          <p:nvPr>
            <p:ph type="sldNum" sz="quarter" idx="12"/>
          </p:nvPr>
        </p:nvSpPr>
        <p:spPr/>
        <p:txBody>
          <a:bodyPr/>
          <a:lstStyle/>
          <a:p>
            <a:fld id="{21218AEF-8260-6F42-89D9-6D82E053F226}" type="slidenum">
              <a:rPr kumimoji="1" lang="ja-JP" altLang="en-US" smtClean="0"/>
              <a:t>18</a:t>
            </a:fld>
            <a:endParaRPr kumimoji="1" lang="ja-JP" altLang="en-US"/>
          </a:p>
        </p:txBody>
      </p:sp>
    </p:spTree>
    <p:extLst>
      <p:ext uri="{BB962C8B-B14F-4D97-AF65-F5344CB8AC3E}">
        <p14:creationId xmlns:p14="http://schemas.microsoft.com/office/powerpoint/2010/main" val="1623462214"/>
      </p:ext>
    </p:extLst>
  </p:cSld>
  <p:clrMapOvr>
    <a:masterClrMapping/>
  </p:clrMapOvr>
  <mc:AlternateContent xmlns:mc="http://schemas.openxmlformats.org/markup-compatibility/2006">
    <mc:Choice xmlns:p14="http://schemas.microsoft.com/office/powerpoint/2010/main" Requires="p14">
      <p:transition spd="slow" p14:dur="2000" advTm="12972"/>
    </mc:Choice>
    <mc:Fallback>
      <p:transition spd="slow" advTm="12972"/>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a:extLst>
              <a:ext uri="{FF2B5EF4-FFF2-40B4-BE49-F238E27FC236}">
                <a16:creationId xmlns:a16="http://schemas.microsoft.com/office/drawing/2014/main" id="{6D8FFF63-6D03-7B44-4F86-DA01A7FB8E53}"/>
              </a:ext>
            </a:extLst>
          </p:cNvPr>
          <p:cNvSpPr>
            <a:spLocks noGrp="1"/>
          </p:cNvSpPr>
          <p:nvPr>
            <p:ph idx="1"/>
          </p:nvPr>
        </p:nvSpPr>
        <p:spPr>
          <a:xfrm>
            <a:off x="630073" y="297430"/>
            <a:ext cx="10515600" cy="483545"/>
          </a:xfrm>
        </p:spPr>
        <p:txBody>
          <a:bodyPr/>
          <a:lstStyle/>
          <a:p>
            <a:r>
              <a:rPr kumimoji="1" lang="ja-JP" altLang="en-US" sz="2800"/>
              <a:t>条件付き球共分散の値が大きい時</a:t>
            </a:r>
            <a:endParaRPr kumimoji="1" lang="en-US" altLang="ja-JP" sz="2800" dirty="0"/>
          </a:p>
        </p:txBody>
      </p:sp>
      <p:sp>
        <p:nvSpPr>
          <p:cNvPr id="4" name="正方形/長方形 3">
            <a:extLst>
              <a:ext uri="{FF2B5EF4-FFF2-40B4-BE49-F238E27FC236}">
                <a16:creationId xmlns:a16="http://schemas.microsoft.com/office/drawing/2014/main" id="{AACC7038-E5A2-F4C9-C775-3F10F53D0E20}"/>
              </a:ext>
            </a:extLst>
          </p:cNvPr>
          <p:cNvSpPr/>
          <p:nvPr/>
        </p:nvSpPr>
        <p:spPr>
          <a:xfrm>
            <a:off x="3214688" y="3147160"/>
            <a:ext cx="1609169"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a:t>結果</a:t>
            </a:r>
            <a:endParaRPr kumimoji="1" lang="ja-JP" altLang="en-US" sz="2800" dirty="0"/>
          </a:p>
        </p:txBody>
      </p:sp>
      <p:sp>
        <p:nvSpPr>
          <p:cNvPr id="5" name="正方形/長方形 4">
            <a:extLst>
              <a:ext uri="{FF2B5EF4-FFF2-40B4-BE49-F238E27FC236}">
                <a16:creationId xmlns:a16="http://schemas.microsoft.com/office/drawing/2014/main" id="{3A54757B-D124-07F2-13BC-8B80527FEF60}"/>
              </a:ext>
            </a:extLst>
          </p:cNvPr>
          <p:cNvSpPr/>
          <p:nvPr/>
        </p:nvSpPr>
        <p:spPr>
          <a:xfrm>
            <a:off x="167562" y="3147161"/>
            <a:ext cx="1609169"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a:t>割り当て</a:t>
            </a:r>
            <a:endParaRPr kumimoji="1" lang="ja-JP" altLang="en-US" sz="2800" dirty="0"/>
          </a:p>
        </p:txBody>
      </p:sp>
      <p:sp>
        <p:nvSpPr>
          <p:cNvPr id="6" name="正方形/長方形 5">
            <a:extLst>
              <a:ext uri="{FF2B5EF4-FFF2-40B4-BE49-F238E27FC236}">
                <a16:creationId xmlns:a16="http://schemas.microsoft.com/office/drawing/2014/main" id="{9E52D6DB-F895-6FE4-5D6E-81E60D5B1DF0}"/>
              </a:ext>
            </a:extLst>
          </p:cNvPr>
          <p:cNvSpPr/>
          <p:nvPr/>
        </p:nvSpPr>
        <p:spPr>
          <a:xfrm>
            <a:off x="1675725" y="1016470"/>
            <a:ext cx="1538963"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a:t>共変量</a:t>
            </a:r>
            <a:endParaRPr lang="en-US" altLang="ja-JP" sz="2800" dirty="0"/>
          </a:p>
        </p:txBody>
      </p:sp>
      <p:cxnSp>
        <p:nvCxnSpPr>
          <p:cNvPr id="7" name="直線矢印コネクタ 6">
            <a:extLst>
              <a:ext uri="{FF2B5EF4-FFF2-40B4-BE49-F238E27FC236}">
                <a16:creationId xmlns:a16="http://schemas.microsoft.com/office/drawing/2014/main" id="{F094D6E5-6460-1EB1-9632-F63137242065}"/>
              </a:ext>
            </a:extLst>
          </p:cNvPr>
          <p:cNvCxnSpPr>
            <a:cxnSpLocks/>
            <a:stCxn id="6" idx="3"/>
            <a:endCxn id="4" idx="0"/>
          </p:cNvCxnSpPr>
          <p:nvPr/>
        </p:nvCxnSpPr>
        <p:spPr>
          <a:xfrm>
            <a:off x="3214688" y="1537646"/>
            <a:ext cx="804585" cy="1609514"/>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8" name="直線矢印コネクタ 7">
            <a:extLst>
              <a:ext uri="{FF2B5EF4-FFF2-40B4-BE49-F238E27FC236}">
                <a16:creationId xmlns:a16="http://schemas.microsoft.com/office/drawing/2014/main" id="{E06FAD35-5BB6-2BE1-07BD-69AC99860940}"/>
              </a:ext>
            </a:extLst>
          </p:cNvPr>
          <p:cNvCxnSpPr>
            <a:cxnSpLocks/>
            <a:stCxn id="6" idx="1"/>
            <a:endCxn id="5" idx="0"/>
          </p:cNvCxnSpPr>
          <p:nvPr/>
        </p:nvCxnSpPr>
        <p:spPr>
          <a:xfrm flipH="1">
            <a:off x="972147" y="1537646"/>
            <a:ext cx="703578" cy="1609515"/>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8" name="テキスト ボックス 17">
            <a:extLst>
              <a:ext uri="{FF2B5EF4-FFF2-40B4-BE49-F238E27FC236}">
                <a16:creationId xmlns:a16="http://schemas.microsoft.com/office/drawing/2014/main" id="{34F146E1-AA0A-FBBF-0AF4-1C42191C2515}"/>
              </a:ext>
            </a:extLst>
          </p:cNvPr>
          <p:cNvSpPr txBox="1"/>
          <p:nvPr/>
        </p:nvSpPr>
        <p:spPr>
          <a:xfrm>
            <a:off x="5751995" y="2371726"/>
            <a:ext cx="688009" cy="523220"/>
          </a:xfrm>
          <a:prstGeom prst="rect">
            <a:avLst/>
          </a:prstGeom>
          <a:noFill/>
        </p:spPr>
        <p:txBody>
          <a:bodyPr wrap="none" rtlCol="0">
            <a:spAutoFit/>
          </a:bodyPr>
          <a:lstStyle/>
          <a:p>
            <a:r>
              <a:rPr kumimoji="1" lang="en-US" altLang="ja-JP" sz="2800" dirty="0"/>
              <a:t>OR</a:t>
            </a:r>
            <a:endParaRPr kumimoji="1" lang="ja-JP" altLang="en-US" sz="2800"/>
          </a:p>
        </p:txBody>
      </p:sp>
      <p:sp>
        <p:nvSpPr>
          <p:cNvPr id="33" name="正方形/長方形 32">
            <a:extLst>
              <a:ext uri="{FF2B5EF4-FFF2-40B4-BE49-F238E27FC236}">
                <a16:creationId xmlns:a16="http://schemas.microsoft.com/office/drawing/2014/main" id="{56218E40-C958-841B-35B9-297EEA03934C}"/>
              </a:ext>
            </a:extLst>
          </p:cNvPr>
          <p:cNvSpPr/>
          <p:nvPr/>
        </p:nvSpPr>
        <p:spPr>
          <a:xfrm>
            <a:off x="10039351" y="3313848"/>
            <a:ext cx="1609169"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a:t>結果</a:t>
            </a:r>
            <a:endParaRPr kumimoji="1" lang="ja-JP" altLang="en-US" sz="2800" dirty="0"/>
          </a:p>
        </p:txBody>
      </p:sp>
      <p:sp>
        <p:nvSpPr>
          <p:cNvPr id="34" name="正方形/長方形 33">
            <a:extLst>
              <a:ext uri="{FF2B5EF4-FFF2-40B4-BE49-F238E27FC236}">
                <a16:creationId xmlns:a16="http://schemas.microsoft.com/office/drawing/2014/main" id="{17B0C6A4-D07C-F5BC-6D7A-8FCCFC108F52}"/>
              </a:ext>
            </a:extLst>
          </p:cNvPr>
          <p:cNvSpPr/>
          <p:nvPr/>
        </p:nvSpPr>
        <p:spPr>
          <a:xfrm>
            <a:off x="6992225" y="3313849"/>
            <a:ext cx="1609169"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a:t>割り当て</a:t>
            </a:r>
            <a:endParaRPr kumimoji="1" lang="ja-JP" altLang="en-US" sz="2800" dirty="0"/>
          </a:p>
        </p:txBody>
      </p:sp>
      <p:sp>
        <p:nvSpPr>
          <p:cNvPr id="35" name="正方形/長方形 34">
            <a:extLst>
              <a:ext uri="{FF2B5EF4-FFF2-40B4-BE49-F238E27FC236}">
                <a16:creationId xmlns:a16="http://schemas.microsoft.com/office/drawing/2014/main" id="{E2D3DE1C-99EE-4488-A9AD-FAC0927D351D}"/>
              </a:ext>
            </a:extLst>
          </p:cNvPr>
          <p:cNvSpPr/>
          <p:nvPr/>
        </p:nvSpPr>
        <p:spPr>
          <a:xfrm>
            <a:off x="8500388" y="1183158"/>
            <a:ext cx="1538963"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a:t>共変量</a:t>
            </a:r>
            <a:endParaRPr lang="en-US" altLang="ja-JP" sz="2800" dirty="0"/>
          </a:p>
        </p:txBody>
      </p:sp>
      <p:cxnSp>
        <p:nvCxnSpPr>
          <p:cNvPr id="36" name="直線矢印コネクタ 35">
            <a:extLst>
              <a:ext uri="{FF2B5EF4-FFF2-40B4-BE49-F238E27FC236}">
                <a16:creationId xmlns:a16="http://schemas.microsoft.com/office/drawing/2014/main" id="{CCEFC078-9E9F-2E16-6E78-82318AD1D943}"/>
              </a:ext>
            </a:extLst>
          </p:cNvPr>
          <p:cNvCxnSpPr>
            <a:cxnSpLocks/>
            <a:stCxn id="35" idx="3"/>
            <a:endCxn id="33" idx="0"/>
          </p:cNvCxnSpPr>
          <p:nvPr/>
        </p:nvCxnSpPr>
        <p:spPr>
          <a:xfrm>
            <a:off x="10039351" y="1704334"/>
            <a:ext cx="804585" cy="1609514"/>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a16:creationId xmlns:a16="http://schemas.microsoft.com/office/drawing/2014/main" id="{4D0A912A-D3C8-8D44-250C-A135BB6A2ED0}"/>
              </a:ext>
            </a:extLst>
          </p:cNvPr>
          <p:cNvCxnSpPr>
            <a:cxnSpLocks/>
          </p:cNvCxnSpPr>
          <p:nvPr/>
        </p:nvCxnSpPr>
        <p:spPr>
          <a:xfrm>
            <a:off x="7552645" y="2079134"/>
            <a:ext cx="686362" cy="670387"/>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39" name="直線コネクタ 38">
            <a:extLst>
              <a:ext uri="{FF2B5EF4-FFF2-40B4-BE49-F238E27FC236}">
                <a16:creationId xmlns:a16="http://schemas.microsoft.com/office/drawing/2014/main" id="{1C2B113E-B42D-8E95-0255-D584ECF7ADE8}"/>
              </a:ext>
            </a:extLst>
          </p:cNvPr>
          <p:cNvCxnSpPr>
            <a:cxnSpLocks/>
          </p:cNvCxnSpPr>
          <p:nvPr/>
        </p:nvCxnSpPr>
        <p:spPr>
          <a:xfrm flipV="1">
            <a:off x="7552645" y="2079134"/>
            <a:ext cx="591558" cy="670387"/>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sp>
        <p:nvSpPr>
          <p:cNvPr id="48" name="下矢印 47">
            <a:extLst>
              <a:ext uri="{FF2B5EF4-FFF2-40B4-BE49-F238E27FC236}">
                <a16:creationId xmlns:a16="http://schemas.microsoft.com/office/drawing/2014/main" id="{43007B14-161B-8E58-7E9F-F118D6861C67}"/>
              </a:ext>
            </a:extLst>
          </p:cNvPr>
          <p:cNvSpPr/>
          <p:nvPr/>
        </p:nvSpPr>
        <p:spPr>
          <a:xfrm>
            <a:off x="5486400" y="4657725"/>
            <a:ext cx="1228725" cy="528638"/>
          </a:xfrm>
          <a:prstGeom prst="down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テキスト ボックス 48">
            <a:extLst>
              <a:ext uri="{FF2B5EF4-FFF2-40B4-BE49-F238E27FC236}">
                <a16:creationId xmlns:a16="http://schemas.microsoft.com/office/drawing/2014/main" id="{BCFB8D12-E684-3ED0-A9A1-1CC8D55C46A5}"/>
              </a:ext>
            </a:extLst>
          </p:cNvPr>
          <p:cNvSpPr txBox="1"/>
          <p:nvPr/>
        </p:nvSpPr>
        <p:spPr>
          <a:xfrm>
            <a:off x="6000750" y="5686425"/>
            <a:ext cx="184731" cy="369332"/>
          </a:xfrm>
          <a:prstGeom prst="rect">
            <a:avLst/>
          </a:prstGeom>
          <a:noFill/>
        </p:spPr>
        <p:txBody>
          <a:bodyPr wrap="none" rtlCol="0">
            <a:spAutoFit/>
          </a:bodyPr>
          <a:lstStyle/>
          <a:p>
            <a:endParaRPr kumimoji="1" lang="ja-JP" altLang="en-US"/>
          </a:p>
        </p:txBody>
      </p:sp>
      <p:sp>
        <p:nvSpPr>
          <p:cNvPr id="50" name="テキスト ボックス 49">
            <a:extLst>
              <a:ext uri="{FF2B5EF4-FFF2-40B4-BE49-F238E27FC236}">
                <a16:creationId xmlns:a16="http://schemas.microsoft.com/office/drawing/2014/main" id="{F2A2AB99-B1FC-CF9D-5DB6-A0A4F9C80CE8}"/>
              </a:ext>
            </a:extLst>
          </p:cNvPr>
          <p:cNvSpPr txBox="1"/>
          <p:nvPr/>
        </p:nvSpPr>
        <p:spPr>
          <a:xfrm>
            <a:off x="4656857" y="5424815"/>
            <a:ext cx="3057247" cy="523220"/>
          </a:xfrm>
          <a:prstGeom prst="rect">
            <a:avLst/>
          </a:prstGeom>
          <a:ln w="38100">
            <a:solidFill>
              <a:srgbClr val="00B050"/>
            </a:solidFill>
          </a:ln>
        </p:spPr>
        <p:style>
          <a:lnRef idx="2">
            <a:schemeClr val="accent2"/>
          </a:lnRef>
          <a:fillRef idx="1">
            <a:schemeClr val="lt1"/>
          </a:fillRef>
          <a:effectRef idx="0">
            <a:schemeClr val="accent2"/>
          </a:effectRef>
          <a:fontRef idx="minor">
            <a:schemeClr val="dk1"/>
          </a:fontRef>
        </p:style>
        <p:txBody>
          <a:bodyPr wrap="none" rtlCol="0">
            <a:spAutoFit/>
          </a:bodyPr>
          <a:lstStyle/>
          <a:p>
            <a:r>
              <a:rPr kumimoji="1" lang="ja-JP" altLang="en-US" sz="2800"/>
              <a:t>選択すべき共変量</a:t>
            </a:r>
          </a:p>
        </p:txBody>
      </p:sp>
      <p:sp>
        <p:nvSpPr>
          <p:cNvPr id="2" name="スライド番号プレースホルダー 1">
            <a:extLst>
              <a:ext uri="{FF2B5EF4-FFF2-40B4-BE49-F238E27FC236}">
                <a16:creationId xmlns:a16="http://schemas.microsoft.com/office/drawing/2014/main" id="{E4341B37-BC72-19D6-07A3-B9E8495E324B}"/>
              </a:ext>
            </a:extLst>
          </p:cNvPr>
          <p:cNvSpPr>
            <a:spLocks noGrp="1"/>
          </p:cNvSpPr>
          <p:nvPr>
            <p:ph type="sldNum" sz="quarter" idx="12"/>
          </p:nvPr>
        </p:nvSpPr>
        <p:spPr/>
        <p:txBody>
          <a:bodyPr/>
          <a:lstStyle/>
          <a:p>
            <a:fld id="{21218AEF-8260-6F42-89D9-6D82E053F226}" type="slidenum">
              <a:rPr kumimoji="1" lang="ja-JP" altLang="en-US" smtClean="0"/>
              <a:t>19</a:t>
            </a:fld>
            <a:endParaRPr kumimoji="1" lang="ja-JP" altLang="en-US"/>
          </a:p>
        </p:txBody>
      </p:sp>
    </p:spTree>
    <p:extLst>
      <p:ext uri="{BB962C8B-B14F-4D97-AF65-F5344CB8AC3E}">
        <p14:creationId xmlns:p14="http://schemas.microsoft.com/office/powerpoint/2010/main" val="860475020"/>
      </p:ext>
    </p:extLst>
  </p:cSld>
  <p:clrMapOvr>
    <a:masterClrMapping/>
  </p:clrMapOvr>
  <mc:AlternateContent xmlns:mc="http://schemas.openxmlformats.org/markup-compatibility/2006">
    <mc:Choice xmlns:p14="http://schemas.microsoft.com/office/powerpoint/2010/main" Requires="p14">
      <p:transition spd="slow" p14:dur="2000" advTm="19266"/>
    </mc:Choice>
    <mc:Fallback>
      <p:transition spd="slow" advTm="19266"/>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a:extLst>
              <a:ext uri="{FF2B5EF4-FFF2-40B4-BE49-F238E27FC236}">
                <a16:creationId xmlns:a16="http://schemas.microsoft.com/office/drawing/2014/main" id="{6D8FFF63-6D03-7B44-4F86-DA01A7FB8E53}"/>
              </a:ext>
            </a:extLst>
          </p:cNvPr>
          <p:cNvSpPr>
            <a:spLocks noGrp="1"/>
          </p:cNvSpPr>
          <p:nvPr>
            <p:ph idx="1"/>
          </p:nvPr>
        </p:nvSpPr>
        <p:spPr>
          <a:xfrm>
            <a:off x="630073" y="297430"/>
            <a:ext cx="10515600" cy="483545"/>
          </a:xfrm>
        </p:spPr>
        <p:txBody>
          <a:bodyPr/>
          <a:lstStyle/>
          <a:p>
            <a:r>
              <a:rPr kumimoji="1" lang="ja-JP" altLang="en-US" sz="2800"/>
              <a:t>条件付き球共分散の値が</a:t>
            </a:r>
            <a:r>
              <a:rPr lang="ja-JP" altLang="en-US"/>
              <a:t>小さい</a:t>
            </a:r>
            <a:r>
              <a:rPr kumimoji="1" lang="ja-JP" altLang="en-US" sz="2800"/>
              <a:t>時</a:t>
            </a:r>
            <a:endParaRPr kumimoji="1" lang="en-US" altLang="ja-JP" sz="2800" dirty="0"/>
          </a:p>
        </p:txBody>
      </p:sp>
      <p:sp>
        <p:nvSpPr>
          <p:cNvPr id="4" name="正方形/長方形 3">
            <a:extLst>
              <a:ext uri="{FF2B5EF4-FFF2-40B4-BE49-F238E27FC236}">
                <a16:creationId xmlns:a16="http://schemas.microsoft.com/office/drawing/2014/main" id="{AACC7038-E5A2-F4C9-C775-3F10F53D0E20}"/>
              </a:ext>
            </a:extLst>
          </p:cNvPr>
          <p:cNvSpPr/>
          <p:nvPr/>
        </p:nvSpPr>
        <p:spPr>
          <a:xfrm>
            <a:off x="3214688" y="3147160"/>
            <a:ext cx="1609169"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a:t>結果</a:t>
            </a:r>
            <a:endParaRPr kumimoji="1" lang="ja-JP" altLang="en-US" sz="2800" dirty="0"/>
          </a:p>
        </p:txBody>
      </p:sp>
      <p:sp>
        <p:nvSpPr>
          <p:cNvPr id="5" name="正方形/長方形 4">
            <a:extLst>
              <a:ext uri="{FF2B5EF4-FFF2-40B4-BE49-F238E27FC236}">
                <a16:creationId xmlns:a16="http://schemas.microsoft.com/office/drawing/2014/main" id="{3A54757B-D124-07F2-13BC-8B80527FEF60}"/>
              </a:ext>
            </a:extLst>
          </p:cNvPr>
          <p:cNvSpPr/>
          <p:nvPr/>
        </p:nvSpPr>
        <p:spPr>
          <a:xfrm>
            <a:off x="167562" y="3147161"/>
            <a:ext cx="1609169"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a:t>割り当て</a:t>
            </a:r>
            <a:endParaRPr kumimoji="1" lang="ja-JP" altLang="en-US" sz="2800" dirty="0"/>
          </a:p>
        </p:txBody>
      </p:sp>
      <p:sp>
        <p:nvSpPr>
          <p:cNvPr id="6" name="正方形/長方形 5">
            <a:extLst>
              <a:ext uri="{FF2B5EF4-FFF2-40B4-BE49-F238E27FC236}">
                <a16:creationId xmlns:a16="http://schemas.microsoft.com/office/drawing/2014/main" id="{9E52D6DB-F895-6FE4-5D6E-81E60D5B1DF0}"/>
              </a:ext>
            </a:extLst>
          </p:cNvPr>
          <p:cNvSpPr/>
          <p:nvPr/>
        </p:nvSpPr>
        <p:spPr>
          <a:xfrm>
            <a:off x="1675725" y="1016470"/>
            <a:ext cx="1538963"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a:t>共変量</a:t>
            </a:r>
            <a:endParaRPr lang="en-US" altLang="ja-JP" sz="2800" dirty="0"/>
          </a:p>
        </p:txBody>
      </p:sp>
      <p:cxnSp>
        <p:nvCxnSpPr>
          <p:cNvPr id="8" name="直線矢印コネクタ 7">
            <a:extLst>
              <a:ext uri="{FF2B5EF4-FFF2-40B4-BE49-F238E27FC236}">
                <a16:creationId xmlns:a16="http://schemas.microsoft.com/office/drawing/2014/main" id="{E06FAD35-5BB6-2BE1-07BD-69AC99860940}"/>
              </a:ext>
            </a:extLst>
          </p:cNvPr>
          <p:cNvCxnSpPr>
            <a:cxnSpLocks/>
            <a:stCxn id="6" idx="1"/>
            <a:endCxn id="5" idx="0"/>
          </p:cNvCxnSpPr>
          <p:nvPr/>
        </p:nvCxnSpPr>
        <p:spPr>
          <a:xfrm flipH="1">
            <a:off x="972147" y="1537646"/>
            <a:ext cx="703578" cy="1609515"/>
          </a:xfrm>
          <a:prstGeom prst="straightConnector1">
            <a:avLst/>
          </a:prstGeom>
          <a:ln w="762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8" name="テキスト ボックス 17">
            <a:extLst>
              <a:ext uri="{FF2B5EF4-FFF2-40B4-BE49-F238E27FC236}">
                <a16:creationId xmlns:a16="http://schemas.microsoft.com/office/drawing/2014/main" id="{34F146E1-AA0A-FBBF-0AF4-1C42191C2515}"/>
              </a:ext>
            </a:extLst>
          </p:cNvPr>
          <p:cNvSpPr txBox="1"/>
          <p:nvPr/>
        </p:nvSpPr>
        <p:spPr>
          <a:xfrm>
            <a:off x="5751995" y="2371726"/>
            <a:ext cx="688009" cy="523220"/>
          </a:xfrm>
          <a:prstGeom prst="rect">
            <a:avLst/>
          </a:prstGeom>
          <a:noFill/>
        </p:spPr>
        <p:txBody>
          <a:bodyPr wrap="none" rtlCol="0">
            <a:spAutoFit/>
          </a:bodyPr>
          <a:lstStyle/>
          <a:p>
            <a:r>
              <a:rPr kumimoji="1" lang="en-US" altLang="ja-JP" sz="2800" dirty="0"/>
              <a:t>OR</a:t>
            </a:r>
            <a:endParaRPr kumimoji="1" lang="ja-JP" altLang="en-US" sz="2800"/>
          </a:p>
        </p:txBody>
      </p:sp>
      <p:sp>
        <p:nvSpPr>
          <p:cNvPr id="33" name="正方形/長方形 32">
            <a:extLst>
              <a:ext uri="{FF2B5EF4-FFF2-40B4-BE49-F238E27FC236}">
                <a16:creationId xmlns:a16="http://schemas.microsoft.com/office/drawing/2014/main" id="{56218E40-C958-841B-35B9-297EEA03934C}"/>
              </a:ext>
            </a:extLst>
          </p:cNvPr>
          <p:cNvSpPr/>
          <p:nvPr/>
        </p:nvSpPr>
        <p:spPr>
          <a:xfrm>
            <a:off x="10039351" y="3313848"/>
            <a:ext cx="1609169" cy="1187213"/>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a:t>結果</a:t>
            </a:r>
            <a:endParaRPr kumimoji="1" lang="ja-JP" altLang="en-US" sz="2800" dirty="0"/>
          </a:p>
        </p:txBody>
      </p:sp>
      <p:sp>
        <p:nvSpPr>
          <p:cNvPr id="34" name="正方形/長方形 33">
            <a:extLst>
              <a:ext uri="{FF2B5EF4-FFF2-40B4-BE49-F238E27FC236}">
                <a16:creationId xmlns:a16="http://schemas.microsoft.com/office/drawing/2014/main" id="{17B0C6A4-D07C-F5BC-6D7A-8FCCFC108F52}"/>
              </a:ext>
            </a:extLst>
          </p:cNvPr>
          <p:cNvSpPr/>
          <p:nvPr/>
        </p:nvSpPr>
        <p:spPr>
          <a:xfrm>
            <a:off x="6992225" y="3313849"/>
            <a:ext cx="1609169" cy="118721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kumimoji="1" lang="ja-JP" altLang="en-US" sz="2800"/>
              <a:t>割り当て</a:t>
            </a:r>
            <a:endParaRPr kumimoji="1" lang="ja-JP" altLang="en-US" sz="2800" dirty="0"/>
          </a:p>
        </p:txBody>
      </p:sp>
      <p:sp>
        <p:nvSpPr>
          <p:cNvPr id="35" name="正方形/長方形 34">
            <a:extLst>
              <a:ext uri="{FF2B5EF4-FFF2-40B4-BE49-F238E27FC236}">
                <a16:creationId xmlns:a16="http://schemas.microsoft.com/office/drawing/2014/main" id="{E2D3DE1C-99EE-4488-A9AD-FAC0927D351D}"/>
              </a:ext>
            </a:extLst>
          </p:cNvPr>
          <p:cNvSpPr/>
          <p:nvPr/>
        </p:nvSpPr>
        <p:spPr>
          <a:xfrm>
            <a:off x="8500388" y="1183158"/>
            <a:ext cx="1538963" cy="1042352"/>
          </a:xfrm>
          <a:prstGeom prst="rect">
            <a:avLst/>
          </a:prstGeom>
          <a:ln w="1905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ja-JP" altLang="en-US" sz="2800"/>
              <a:t>共変量</a:t>
            </a:r>
            <a:endParaRPr lang="en-US" altLang="ja-JP" sz="2800" dirty="0"/>
          </a:p>
        </p:txBody>
      </p:sp>
      <p:cxnSp>
        <p:nvCxnSpPr>
          <p:cNvPr id="38" name="直線コネクタ 37">
            <a:extLst>
              <a:ext uri="{FF2B5EF4-FFF2-40B4-BE49-F238E27FC236}">
                <a16:creationId xmlns:a16="http://schemas.microsoft.com/office/drawing/2014/main" id="{4D0A912A-D3C8-8D44-250C-A135BB6A2ED0}"/>
              </a:ext>
            </a:extLst>
          </p:cNvPr>
          <p:cNvCxnSpPr>
            <a:cxnSpLocks/>
          </p:cNvCxnSpPr>
          <p:nvPr/>
        </p:nvCxnSpPr>
        <p:spPr>
          <a:xfrm>
            <a:off x="7552645" y="2079134"/>
            <a:ext cx="686362" cy="670387"/>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39" name="直線コネクタ 38">
            <a:extLst>
              <a:ext uri="{FF2B5EF4-FFF2-40B4-BE49-F238E27FC236}">
                <a16:creationId xmlns:a16="http://schemas.microsoft.com/office/drawing/2014/main" id="{1C2B113E-B42D-8E95-0255-D584ECF7ADE8}"/>
              </a:ext>
            </a:extLst>
          </p:cNvPr>
          <p:cNvCxnSpPr>
            <a:cxnSpLocks/>
          </p:cNvCxnSpPr>
          <p:nvPr/>
        </p:nvCxnSpPr>
        <p:spPr>
          <a:xfrm flipV="1">
            <a:off x="7552645" y="2079134"/>
            <a:ext cx="591558" cy="670387"/>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sp>
        <p:nvSpPr>
          <p:cNvPr id="48" name="下矢印 47">
            <a:extLst>
              <a:ext uri="{FF2B5EF4-FFF2-40B4-BE49-F238E27FC236}">
                <a16:creationId xmlns:a16="http://schemas.microsoft.com/office/drawing/2014/main" id="{43007B14-161B-8E58-7E9F-F118D6861C67}"/>
              </a:ext>
            </a:extLst>
          </p:cNvPr>
          <p:cNvSpPr/>
          <p:nvPr/>
        </p:nvSpPr>
        <p:spPr>
          <a:xfrm>
            <a:off x="5486400" y="4657725"/>
            <a:ext cx="1228725" cy="528638"/>
          </a:xfrm>
          <a:prstGeom prst="down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テキスト ボックス 48">
            <a:extLst>
              <a:ext uri="{FF2B5EF4-FFF2-40B4-BE49-F238E27FC236}">
                <a16:creationId xmlns:a16="http://schemas.microsoft.com/office/drawing/2014/main" id="{BCFB8D12-E684-3ED0-A9A1-1CC8D55C46A5}"/>
              </a:ext>
            </a:extLst>
          </p:cNvPr>
          <p:cNvSpPr txBox="1"/>
          <p:nvPr/>
        </p:nvSpPr>
        <p:spPr>
          <a:xfrm>
            <a:off x="6000750" y="5686425"/>
            <a:ext cx="184731" cy="369332"/>
          </a:xfrm>
          <a:prstGeom prst="rect">
            <a:avLst/>
          </a:prstGeom>
          <a:noFill/>
        </p:spPr>
        <p:txBody>
          <a:bodyPr wrap="none" rtlCol="0">
            <a:spAutoFit/>
          </a:bodyPr>
          <a:lstStyle/>
          <a:p>
            <a:endParaRPr kumimoji="1" lang="ja-JP" altLang="en-US"/>
          </a:p>
        </p:txBody>
      </p:sp>
      <p:cxnSp>
        <p:nvCxnSpPr>
          <p:cNvPr id="2" name="直線コネクタ 1">
            <a:extLst>
              <a:ext uri="{FF2B5EF4-FFF2-40B4-BE49-F238E27FC236}">
                <a16:creationId xmlns:a16="http://schemas.microsoft.com/office/drawing/2014/main" id="{0F67CA82-FFCB-DB8B-9E5C-9A66A467EF67}"/>
              </a:ext>
            </a:extLst>
          </p:cNvPr>
          <p:cNvCxnSpPr>
            <a:cxnSpLocks/>
          </p:cNvCxnSpPr>
          <p:nvPr/>
        </p:nvCxnSpPr>
        <p:spPr>
          <a:xfrm>
            <a:off x="3317958" y="2122260"/>
            <a:ext cx="686362" cy="670387"/>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9" name="直線コネクタ 8">
            <a:extLst>
              <a:ext uri="{FF2B5EF4-FFF2-40B4-BE49-F238E27FC236}">
                <a16:creationId xmlns:a16="http://schemas.microsoft.com/office/drawing/2014/main" id="{D969D28E-E255-52BE-2806-50413137F903}"/>
              </a:ext>
            </a:extLst>
          </p:cNvPr>
          <p:cNvCxnSpPr>
            <a:cxnSpLocks/>
          </p:cNvCxnSpPr>
          <p:nvPr/>
        </p:nvCxnSpPr>
        <p:spPr>
          <a:xfrm flipV="1">
            <a:off x="3317958" y="2122260"/>
            <a:ext cx="591558" cy="670387"/>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10" name="直線コネクタ 9">
            <a:extLst>
              <a:ext uri="{FF2B5EF4-FFF2-40B4-BE49-F238E27FC236}">
                <a16:creationId xmlns:a16="http://schemas.microsoft.com/office/drawing/2014/main" id="{053958ED-E80F-31C5-8730-E11C6C848DDC}"/>
              </a:ext>
            </a:extLst>
          </p:cNvPr>
          <p:cNvCxnSpPr>
            <a:cxnSpLocks/>
          </p:cNvCxnSpPr>
          <p:nvPr/>
        </p:nvCxnSpPr>
        <p:spPr>
          <a:xfrm>
            <a:off x="10258786" y="2124543"/>
            <a:ext cx="686362" cy="670387"/>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11" name="直線コネクタ 10">
            <a:extLst>
              <a:ext uri="{FF2B5EF4-FFF2-40B4-BE49-F238E27FC236}">
                <a16:creationId xmlns:a16="http://schemas.microsoft.com/office/drawing/2014/main" id="{63D83AB1-B35F-9BF8-47E1-17138EBEEDB6}"/>
              </a:ext>
            </a:extLst>
          </p:cNvPr>
          <p:cNvCxnSpPr>
            <a:cxnSpLocks/>
          </p:cNvCxnSpPr>
          <p:nvPr/>
        </p:nvCxnSpPr>
        <p:spPr>
          <a:xfrm flipV="1">
            <a:off x="10258786" y="2124543"/>
            <a:ext cx="591558" cy="670387"/>
          </a:xfrm>
          <a:prstGeom prst="line">
            <a:avLst/>
          </a:prstGeom>
          <a:ln w="57150">
            <a:solidFill>
              <a:srgbClr val="FF0000"/>
            </a:solidFill>
          </a:ln>
        </p:spPr>
        <p:style>
          <a:lnRef idx="1">
            <a:schemeClr val="accent2"/>
          </a:lnRef>
          <a:fillRef idx="0">
            <a:schemeClr val="accent2"/>
          </a:fillRef>
          <a:effectRef idx="0">
            <a:schemeClr val="accent2"/>
          </a:effectRef>
          <a:fontRef idx="minor">
            <a:schemeClr val="tx1"/>
          </a:fontRef>
        </p:style>
      </p:cxnSp>
      <p:sp>
        <p:nvSpPr>
          <p:cNvPr id="12" name="テキスト ボックス 11">
            <a:extLst>
              <a:ext uri="{FF2B5EF4-FFF2-40B4-BE49-F238E27FC236}">
                <a16:creationId xmlns:a16="http://schemas.microsoft.com/office/drawing/2014/main" id="{28681C98-20E1-1243-A9F9-9DFA6EF1C68F}"/>
              </a:ext>
            </a:extLst>
          </p:cNvPr>
          <p:cNvSpPr txBox="1"/>
          <p:nvPr/>
        </p:nvSpPr>
        <p:spPr>
          <a:xfrm>
            <a:off x="4006850" y="5351639"/>
            <a:ext cx="4493538" cy="523220"/>
          </a:xfrm>
          <a:prstGeom prst="rect">
            <a:avLst/>
          </a:prstGeom>
          <a:ln w="38100">
            <a:solidFill>
              <a:schemeClr val="accent2"/>
            </a:solidFill>
          </a:ln>
        </p:spPr>
        <p:style>
          <a:lnRef idx="2">
            <a:schemeClr val="accent2"/>
          </a:lnRef>
          <a:fillRef idx="1">
            <a:schemeClr val="lt1"/>
          </a:fillRef>
          <a:effectRef idx="0">
            <a:schemeClr val="accent2"/>
          </a:effectRef>
          <a:fontRef idx="minor">
            <a:schemeClr val="dk1"/>
          </a:fontRef>
        </p:style>
        <p:txBody>
          <a:bodyPr wrap="none" rtlCol="0">
            <a:spAutoFit/>
          </a:bodyPr>
          <a:lstStyle/>
          <a:p>
            <a:r>
              <a:rPr kumimoji="1" lang="ja-JP" altLang="en-US" sz="2800"/>
              <a:t>選択</a:t>
            </a:r>
            <a:r>
              <a:rPr lang="ja-JP" altLang="en-US" sz="2800"/>
              <a:t>すべきではない共変量</a:t>
            </a:r>
            <a:endParaRPr kumimoji="1" lang="ja-JP" altLang="en-US" sz="2800"/>
          </a:p>
        </p:txBody>
      </p:sp>
      <p:sp>
        <p:nvSpPr>
          <p:cNvPr id="7" name="スライド番号プレースホルダー 6">
            <a:extLst>
              <a:ext uri="{FF2B5EF4-FFF2-40B4-BE49-F238E27FC236}">
                <a16:creationId xmlns:a16="http://schemas.microsoft.com/office/drawing/2014/main" id="{08F11891-E590-B75A-689A-369D02EB3387}"/>
              </a:ext>
            </a:extLst>
          </p:cNvPr>
          <p:cNvSpPr>
            <a:spLocks noGrp="1"/>
          </p:cNvSpPr>
          <p:nvPr>
            <p:ph type="sldNum" sz="quarter" idx="12"/>
          </p:nvPr>
        </p:nvSpPr>
        <p:spPr/>
        <p:txBody>
          <a:bodyPr/>
          <a:lstStyle/>
          <a:p>
            <a:fld id="{21218AEF-8260-6F42-89D9-6D82E053F226}" type="slidenum">
              <a:rPr kumimoji="1" lang="ja-JP" altLang="en-US" smtClean="0"/>
              <a:t>20</a:t>
            </a:fld>
            <a:endParaRPr kumimoji="1" lang="ja-JP" altLang="en-US"/>
          </a:p>
        </p:txBody>
      </p:sp>
    </p:spTree>
    <p:extLst>
      <p:ext uri="{BB962C8B-B14F-4D97-AF65-F5344CB8AC3E}">
        <p14:creationId xmlns:p14="http://schemas.microsoft.com/office/powerpoint/2010/main" val="358681567"/>
      </p:ext>
    </p:extLst>
  </p:cSld>
  <p:clrMapOvr>
    <a:masterClrMapping/>
  </p:clrMapOvr>
  <mc:AlternateContent xmlns:mc="http://schemas.openxmlformats.org/markup-compatibility/2006">
    <mc:Choice xmlns:p14="http://schemas.microsoft.com/office/powerpoint/2010/main" Requires="p14">
      <p:transition spd="slow" p14:dur="2000" advTm="18885"/>
    </mc:Choice>
    <mc:Fallback>
      <p:transition spd="slow" advTm="18885"/>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3" name="コンテンツ プレースホルダー 2">
                <a:extLst>
                  <a:ext uri="{FF2B5EF4-FFF2-40B4-BE49-F238E27FC236}">
                    <a16:creationId xmlns:a16="http://schemas.microsoft.com/office/drawing/2014/main" id="{84189846-A27B-C2B5-7593-869FD3A1179A}"/>
                  </a:ext>
                </a:extLst>
              </p:cNvPr>
              <p:cNvSpPr>
                <a:spLocks noGrp="1"/>
              </p:cNvSpPr>
              <p:nvPr>
                <p:ph idx="1"/>
              </p:nvPr>
            </p:nvSpPr>
            <p:spPr>
              <a:xfrm>
                <a:off x="838200" y="1436975"/>
                <a:ext cx="10515600" cy="4176713"/>
              </a:xfrm>
            </p:spPr>
            <p:txBody>
              <a:bodyPr>
                <a:normAutofit/>
              </a:bodyPr>
              <a:lstStyle/>
              <a:p>
                <a:pPr marL="0" indent="0">
                  <a:buNone/>
                </a:pPr>
                <a14:m>
                  <m:oMathPara xmlns:m="http://schemas.openxmlformats.org/officeDocument/2006/math">
                    <m:oMathParaPr>
                      <m:jc m:val="centerGroup"/>
                    </m:oMathParaPr>
                    <m:oMath xmlns:m="http://schemas.openxmlformats.org/officeDocument/2006/math">
                      <m:sSubSup>
                        <m:sSubSupPr>
                          <m:ctrlPr>
                            <a:rPr kumimoji="1" lang="en-US" altLang="ja-JP" b="0" i="1" smtClean="0">
                              <a:latin typeface="Cambria Math" panose="02040503050406030204" pitchFamily="18" charset="0"/>
                            </a:rPr>
                          </m:ctrlPr>
                        </m:sSubSupPr>
                        <m:e>
                          <m:r>
                            <m:rPr>
                              <m:sty m:val="p"/>
                            </m:rPr>
                            <a:rPr kumimoji="1" lang="en-US" altLang="ja-JP" b="0" i="0" smtClean="0">
                              <a:latin typeface="Cambria Math" panose="02040503050406030204" pitchFamily="18" charset="0"/>
                            </a:rPr>
                            <m:t>B</m:t>
                          </m:r>
                          <m:r>
                            <m:rPr>
                              <m:sty m:val="p"/>
                            </m:rPr>
                            <a:rPr kumimoji="1" lang="en-US" altLang="ja-JP" b="0" i="0" smtClean="0">
                              <a:latin typeface="Cambria Math" panose="02040503050406030204" pitchFamily="18" charset="0"/>
                            </a:rPr>
                            <m:t>C</m:t>
                          </m:r>
                          <m:r>
                            <m:rPr>
                              <m:sty m:val="p"/>
                            </m:rPr>
                            <a:rPr kumimoji="1" lang="en-US" altLang="ja-JP" b="0" i="0" smtClean="0">
                              <a:latin typeface="Cambria Math" panose="02040503050406030204" pitchFamily="18" charset="0"/>
                            </a:rPr>
                            <m:t>ov</m:t>
                          </m:r>
                        </m:e>
                        <m:sub>
                          <m:r>
                            <a:rPr kumimoji="1" lang="en-US" altLang="ja-JP" b="0" i="1" smtClean="0">
                              <a:latin typeface="Cambria Math" panose="02040503050406030204" pitchFamily="18" charset="0"/>
                            </a:rPr>
                            <m:t>𝑛</m:t>
                          </m:r>
                        </m:sub>
                        <m:sup>
                          <m:r>
                            <a:rPr kumimoji="1" lang="en-US" altLang="ja-JP" b="0" i="1" smtClean="0">
                              <a:latin typeface="Cambria Math" panose="02040503050406030204" pitchFamily="18" charset="0"/>
                            </a:rPr>
                            <m:t>2</m:t>
                          </m:r>
                        </m:sup>
                      </m:sSubSup>
                      <m:d>
                        <m:dPr>
                          <m:ctrlPr>
                            <a:rPr lang="en-US" altLang="ja-JP" i="1">
                              <a:latin typeface="Cambria Math" panose="02040503050406030204" pitchFamily="18" charset="0"/>
                            </a:rPr>
                          </m:ctrlPr>
                        </m:dPr>
                        <m:e>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r>
                            <a:rPr lang="en-US" altLang="ja-JP" b="1" i="1" dirty="0">
                              <a:latin typeface="Cambria Math" panose="02040503050406030204" pitchFamily="18" charset="0"/>
                            </a:rPr>
                            <m:t>𝒀</m:t>
                          </m:r>
                        </m:e>
                        <m:e>
                          <m:r>
                            <a:rPr lang="en-US" altLang="ja-JP" b="1" i="1">
                              <a:latin typeface="Cambria Math" panose="02040503050406030204" pitchFamily="18" charset="0"/>
                            </a:rPr>
                            <m:t>𝑿</m:t>
                          </m:r>
                        </m:e>
                      </m:d>
                      <m:r>
                        <a:rPr kumimoji="1" lang="en-US" altLang="ja-JP" b="0" i="1" smtClean="0">
                          <a:latin typeface="Cambria Math" panose="02040503050406030204" pitchFamily="18" charset="0"/>
                        </a:rPr>
                        <m:t>=</m:t>
                      </m:r>
                      <m:acc>
                        <m:accPr>
                          <m:chr m:val="̂"/>
                          <m:ctrlPr>
                            <a:rPr lang="ja-JP" altLang="en-US" i="1">
                              <a:latin typeface="Cambria Math" panose="02040503050406030204" pitchFamily="18" charset="0"/>
                            </a:rPr>
                          </m:ctrlPr>
                        </m:accPr>
                        <m:e>
                          <m:r>
                            <a:rPr lang="ja-JP" altLang="en-US" i="1">
                              <a:latin typeface="Cambria Math" panose="02040503050406030204" pitchFamily="18" charset="0"/>
                            </a:rPr>
                            <m:t>𝜔</m:t>
                          </m:r>
                        </m:e>
                      </m:acc>
                      <m:nary>
                        <m:naryPr>
                          <m:chr m:val="∑"/>
                          <m:supHide m:val="on"/>
                          <m:ctrlPr>
                            <a:rPr lang="ja-JP" altLang="en-US" i="1" smtClean="0">
                              <a:latin typeface="Cambria Math" panose="02040503050406030204" pitchFamily="18" charset="0"/>
                            </a:rPr>
                          </m:ctrlPr>
                        </m:naryPr>
                        <m:sub>
                          <m:d>
                            <m:dPr>
                              <m:ctrlPr>
                                <a:rPr lang="en-US" altLang="ja-JP" b="0" i="1" smtClean="0">
                                  <a:latin typeface="Cambria Math" panose="02040503050406030204" pitchFamily="18" charset="0"/>
                                </a:rPr>
                              </m:ctrlPr>
                            </m:dPr>
                            <m:e>
                              <m:r>
                                <m:rPr>
                                  <m:brk m:alnAt="7"/>
                                </m:rPr>
                                <a:rPr lang="en-US" altLang="ja-JP" b="0" i="1" smtClean="0">
                                  <a:latin typeface="Cambria Math" panose="02040503050406030204" pitchFamily="18" charset="0"/>
                                </a:rPr>
                                <m:t>𝑖</m:t>
                              </m:r>
                              <m:r>
                                <a:rPr lang="en-US" altLang="ja-JP" b="0" i="1" smtClean="0">
                                  <a:latin typeface="Cambria Math" panose="02040503050406030204" pitchFamily="18" charset="0"/>
                                </a:rPr>
                                <m:t>,</m:t>
                              </m:r>
                              <m:r>
                                <a:rPr lang="en-US" altLang="ja-JP" b="0" i="1" smtClean="0">
                                  <a:latin typeface="Cambria Math" panose="02040503050406030204" pitchFamily="18" charset="0"/>
                                </a:rPr>
                                <m:t>𝑗</m:t>
                              </m:r>
                              <m:r>
                                <a:rPr lang="en-US" altLang="ja-JP" b="0" i="1" smtClean="0">
                                  <a:latin typeface="Cambria Math" panose="02040503050406030204" pitchFamily="18" charset="0"/>
                                </a:rPr>
                                <m:t>,</m:t>
                              </m:r>
                              <m:r>
                                <a:rPr lang="en-US" altLang="ja-JP" b="0" i="1" smtClean="0">
                                  <a:latin typeface="Cambria Math" panose="02040503050406030204" pitchFamily="18" charset="0"/>
                                </a:rPr>
                                <m:t>𝑘</m:t>
                              </m:r>
                              <m:r>
                                <a:rPr lang="en-US" altLang="ja-JP" b="0" i="1" smtClean="0">
                                  <a:latin typeface="Cambria Math" panose="02040503050406030204" pitchFamily="18" charset="0"/>
                                </a:rPr>
                                <m:t>,</m:t>
                              </m:r>
                              <m:r>
                                <a:rPr lang="en-US" altLang="ja-JP" b="0" i="1" smtClean="0">
                                  <a:latin typeface="Cambria Math" panose="02040503050406030204" pitchFamily="18" charset="0"/>
                                </a:rPr>
                                <m:t>𝑙</m:t>
                              </m:r>
                              <m:r>
                                <a:rPr lang="en-US" altLang="ja-JP" b="0" i="1" smtClean="0">
                                  <a:latin typeface="Cambria Math" panose="02040503050406030204" pitchFamily="18" charset="0"/>
                                </a:rPr>
                                <m:t>.</m:t>
                              </m:r>
                              <m:r>
                                <a:rPr lang="en-US" altLang="ja-JP" b="0" i="1" smtClean="0">
                                  <a:latin typeface="Cambria Math" panose="02040503050406030204" pitchFamily="18" charset="0"/>
                                </a:rPr>
                                <m:t>𝑠</m:t>
                              </m:r>
                              <m:r>
                                <a:rPr lang="en-US" altLang="ja-JP" b="0" i="1" smtClean="0">
                                  <a:latin typeface="Cambria Math" panose="02040503050406030204" pitchFamily="18" charset="0"/>
                                </a:rPr>
                                <m:t>.</m:t>
                              </m:r>
                              <m:r>
                                <a:rPr lang="en-US" altLang="ja-JP" b="0" i="1" smtClean="0">
                                  <a:latin typeface="Cambria Math" panose="02040503050406030204" pitchFamily="18" charset="0"/>
                                </a:rPr>
                                <m:t>𝑡</m:t>
                              </m:r>
                            </m:e>
                          </m:d>
                          <m:r>
                            <m:rPr>
                              <m:brk m:alnAt="7"/>
                            </m:rP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i="1">
                                  <a:latin typeface="Cambria Math" panose="02040503050406030204" pitchFamily="18" charset="0"/>
                                </a:rPr>
                                <m:t>𝑖</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𝑗</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𝑘</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𝑙</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𝑠</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𝑡</m:t>
                              </m:r>
                            </m:sub>
                          </m:sSub>
                          <m:r>
                            <a:rPr lang="en-US" altLang="ja-JP" b="0" i="1" smtClean="0">
                              <a:latin typeface="Cambria Math" panose="02040503050406030204" pitchFamily="18" charset="0"/>
                            </a:rPr>
                            <m:t>=1</m:t>
                          </m:r>
                        </m:sub>
                        <m:sup/>
                        <m:e>
                          <m:sSubSup>
                            <m:sSubSupPr>
                              <m:ctrlPr>
                                <a:rPr lang="en-US" altLang="ja-JP" i="1">
                                  <a:latin typeface="Cambria Math" panose="02040503050406030204" pitchFamily="18" charset="0"/>
                                </a:rPr>
                              </m:ctrlPr>
                            </m:sSubSupPr>
                            <m:e>
                              <m:r>
                                <a:rPr lang="ja-JP" altLang="en-US" i="1">
                                  <a:latin typeface="Cambria Math" panose="02040503050406030204" pitchFamily="18" charset="0"/>
                                </a:rPr>
                                <m:t>𝜉</m:t>
                              </m:r>
                            </m:e>
                            <m:sub>
                              <m:r>
                                <a:rPr lang="en-US" altLang="ja-JP" i="1">
                                  <a:latin typeface="Cambria Math" panose="02040503050406030204" pitchFamily="18" charset="0"/>
                                </a:rPr>
                                <m:t>𝑖𝑗</m:t>
                              </m:r>
                              <m:r>
                                <a:rPr lang="en-US" altLang="ja-JP" i="1">
                                  <a:latin typeface="Cambria Math" panose="02040503050406030204" pitchFamily="18" charset="0"/>
                                </a:rPr>
                                <m:t>,</m:t>
                              </m:r>
                              <m:r>
                                <a:rPr lang="en-US" altLang="ja-JP" i="1">
                                  <a:latin typeface="Cambria Math" panose="02040503050406030204" pitchFamily="18" charset="0"/>
                                </a:rPr>
                                <m:t>𝑘𝑙𝑠𝑡</m:t>
                              </m:r>
                            </m:sub>
                            <m:sup>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sup>
                          </m:sSubSup>
                          <m:sSubSup>
                            <m:sSubSupPr>
                              <m:ctrlPr>
                                <a:rPr lang="en-US" altLang="ja-JP" i="1">
                                  <a:latin typeface="Cambria Math" panose="02040503050406030204" pitchFamily="18" charset="0"/>
                                </a:rPr>
                              </m:ctrlPr>
                            </m:sSubSupPr>
                            <m:e>
                              <m:r>
                                <a:rPr lang="ja-JP" altLang="en-US" i="1">
                                  <a:latin typeface="Cambria Math" panose="02040503050406030204" pitchFamily="18" charset="0"/>
                                </a:rPr>
                                <m:t>𝜉</m:t>
                              </m:r>
                            </m:e>
                            <m:sub>
                              <m:r>
                                <a:rPr lang="en-US" altLang="ja-JP" i="1">
                                  <a:latin typeface="Cambria Math" panose="02040503050406030204" pitchFamily="18" charset="0"/>
                                </a:rPr>
                                <m:t>𝑖𝑗</m:t>
                              </m:r>
                              <m:r>
                                <a:rPr lang="en-US" altLang="ja-JP" i="1">
                                  <a:latin typeface="Cambria Math" panose="02040503050406030204" pitchFamily="18" charset="0"/>
                                </a:rPr>
                                <m:t>,</m:t>
                              </m:r>
                              <m:r>
                                <a:rPr lang="en-US" altLang="ja-JP" i="1">
                                  <a:latin typeface="Cambria Math" panose="02040503050406030204" pitchFamily="18" charset="0"/>
                                </a:rPr>
                                <m:t>𝑘𝑙𝑠𝑡</m:t>
                              </m:r>
                            </m:sub>
                            <m:sup>
                              <m:r>
                                <a:rPr lang="en-US" altLang="ja-JP" b="1" i="1" smtClean="0">
                                  <a:latin typeface="Cambria Math" panose="02040503050406030204" pitchFamily="18" charset="0"/>
                                </a:rPr>
                                <m:t>𝒀</m:t>
                              </m:r>
                            </m:sup>
                          </m:sSubSup>
                          <m:r>
                            <a:rPr lang="en-US" altLang="ja-JP" b="0" i="1" smtClean="0">
                              <a:latin typeface="Cambria Math" panose="02040503050406030204" pitchFamily="18" charset="0"/>
                            </a:rPr>
                            <m:t>/</m:t>
                          </m:r>
                          <m:sSubSup>
                            <m:sSubSupPr>
                              <m:ctrlPr>
                                <a:rPr lang="en-US" altLang="ja-JP" b="0" i="1" smtClean="0">
                                  <a:latin typeface="Cambria Math" panose="02040503050406030204" pitchFamily="18" charset="0"/>
                                </a:rPr>
                              </m:ctrlPr>
                            </m:sSubSupPr>
                            <m:e>
                              <m:r>
                                <a:rPr lang="en-US" altLang="ja-JP" b="0" i="1" smtClean="0">
                                  <a:latin typeface="Cambria Math" panose="02040503050406030204" pitchFamily="18" charset="0"/>
                                </a:rPr>
                                <m:t>𝑛</m:t>
                              </m:r>
                            </m:e>
                            <m:sub>
                              <m:r>
                                <a:rPr lang="en-US" altLang="ja-JP" b="0" i="1" smtClean="0">
                                  <a:latin typeface="Cambria Math" panose="02040503050406030204" pitchFamily="18" charset="0"/>
                                </a:rPr>
                                <m:t>1</m:t>
                              </m:r>
                            </m:sub>
                            <m:sup>
                              <m:r>
                                <a:rPr lang="en-US" altLang="ja-JP" b="0" i="1" smtClean="0">
                                  <a:latin typeface="Cambria Math" panose="02040503050406030204" pitchFamily="18" charset="0"/>
                                </a:rPr>
                                <m:t>6</m:t>
                              </m:r>
                            </m:sup>
                          </m:sSubSup>
                        </m:e>
                      </m:nary>
                      <m:r>
                        <a:rPr lang="en-US" altLang="ja-JP" b="0" i="1" smtClean="0">
                          <a:latin typeface="Cambria Math" panose="02040503050406030204" pitchFamily="18" charset="0"/>
                        </a:rPr>
                        <m:t>+</m:t>
                      </m:r>
                      <m:d>
                        <m:dPr>
                          <m:ctrlPr>
                            <a:rPr lang="en-US" altLang="ja-JP" b="0" i="1" smtClean="0">
                              <a:latin typeface="Cambria Math" panose="02040503050406030204" pitchFamily="18" charset="0"/>
                            </a:rPr>
                          </m:ctrlPr>
                        </m:dPr>
                        <m:e>
                          <m:r>
                            <a:rPr lang="en-US" altLang="ja-JP" b="0" i="1" smtClean="0">
                              <a:latin typeface="Cambria Math" panose="02040503050406030204" pitchFamily="18" charset="0"/>
                            </a:rPr>
                            <m:t>1−</m:t>
                          </m:r>
                          <m:acc>
                            <m:accPr>
                              <m:chr m:val="̂"/>
                              <m:ctrlPr>
                                <a:rPr lang="ja-JP" altLang="en-US" i="1">
                                  <a:latin typeface="Cambria Math" panose="02040503050406030204" pitchFamily="18" charset="0"/>
                                </a:rPr>
                              </m:ctrlPr>
                            </m:accPr>
                            <m:e>
                              <m:r>
                                <a:rPr lang="ja-JP" altLang="en-US" i="1">
                                  <a:latin typeface="Cambria Math" panose="02040503050406030204" pitchFamily="18" charset="0"/>
                                </a:rPr>
                                <m:t>𝜔</m:t>
                              </m:r>
                            </m:e>
                          </m:acc>
                        </m:e>
                      </m:d>
                      <m:nary>
                        <m:naryPr>
                          <m:chr m:val="∑"/>
                          <m:supHide m:val="on"/>
                          <m:ctrlPr>
                            <a:rPr lang="ja-JP" altLang="en-US" i="1" smtClean="0">
                              <a:latin typeface="Cambria Math" panose="02040503050406030204" pitchFamily="18" charset="0"/>
                            </a:rPr>
                          </m:ctrlPr>
                        </m:naryPr>
                        <m:sub>
                          <m:d>
                            <m:dPr>
                              <m:ctrlPr>
                                <a:rPr lang="en-US" altLang="ja-JP" b="0" i="1" smtClean="0">
                                  <a:latin typeface="Cambria Math" panose="02040503050406030204" pitchFamily="18" charset="0"/>
                                </a:rPr>
                              </m:ctrlPr>
                            </m:dPr>
                            <m:e>
                              <m:r>
                                <m:rPr>
                                  <m:brk m:alnAt="7"/>
                                </m:rPr>
                                <a:rPr lang="en-US" altLang="ja-JP" b="0" i="1" smtClean="0">
                                  <a:latin typeface="Cambria Math" panose="02040503050406030204" pitchFamily="18" charset="0"/>
                                </a:rPr>
                                <m:t>𝑖</m:t>
                              </m:r>
                              <m:r>
                                <a:rPr lang="en-US" altLang="ja-JP" b="0" i="1" smtClean="0">
                                  <a:latin typeface="Cambria Math" panose="02040503050406030204" pitchFamily="18" charset="0"/>
                                </a:rPr>
                                <m:t>,</m:t>
                              </m:r>
                              <m:r>
                                <a:rPr lang="en-US" altLang="ja-JP" b="0" i="1" smtClean="0">
                                  <a:latin typeface="Cambria Math" panose="02040503050406030204" pitchFamily="18" charset="0"/>
                                </a:rPr>
                                <m:t>𝑗</m:t>
                              </m:r>
                              <m:r>
                                <a:rPr lang="en-US" altLang="ja-JP" b="0" i="1" smtClean="0">
                                  <a:latin typeface="Cambria Math" panose="02040503050406030204" pitchFamily="18" charset="0"/>
                                </a:rPr>
                                <m:t>,</m:t>
                              </m:r>
                              <m:r>
                                <a:rPr lang="en-US" altLang="ja-JP" b="0" i="1" smtClean="0">
                                  <a:latin typeface="Cambria Math" panose="02040503050406030204" pitchFamily="18" charset="0"/>
                                </a:rPr>
                                <m:t>𝑘</m:t>
                              </m:r>
                              <m:r>
                                <a:rPr lang="en-US" altLang="ja-JP" b="0" i="1" smtClean="0">
                                  <a:latin typeface="Cambria Math" panose="02040503050406030204" pitchFamily="18" charset="0"/>
                                </a:rPr>
                                <m:t>,</m:t>
                              </m:r>
                              <m:r>
                                <a:rPr lang="en-US" altLang="ja-JP" b="0" i="1" smtClean="0">
                                  <a:latin typeface="Cambria Math" panose="02040503050406030204" pitchFamily="18" charset="0"/>
                                </a:rPr>
                                <m:t>𝑙</m:t>
                              </m:r>
                              <m:r>
                                <a:rPr lang="en-US" altLang="ja-JP" b="0" i="1" smtClean="0">
                                  <a:latin typeface="Cambria Math" panose="02040503050406030204" pitchFamily="18" charset="0"/>
                                </a:rPr>
                                <m:t>.</m:t>
                              </m:r>
                              <m:r>
                                <a:rPr lang="en-US" altLang="ja-JP" b="0" i="1" smtClean="0">
                                  <a:latin typeface="Cambria Math" panose="02040503050406030204" pitchFamily="18" charset="0"/>
                                </a:rPr>
                                <m:t>𝑠</m:t>
                              </m:r>
                              <m:r>
                                <a:rPr lang="en-US" altLang="ja-JP" b="0" i="1" smtClean="0">
                                  <a:latin typeface="Cambria Math" panose="02040503050406030204" pitchFamily="18" charset="0"/>
                                </a:rPr>
                                <m:t>.</m:t>
                              </m:r>
                              <m:r>
                                <a:rPr lang="en-US" altLang="ja-JP" b="0" i="1" smtClean="0">
                                  <a:latin typeface="Cambria Math" panose="02040503050406030204" pitchFamily="18" charset="0"/>
                                </a:rPr>
                                <m:t>𝑡</m:t>
                              </m:r>
                            </m:e>
                          </m:d>
                          <m:r>
                            <m:rPr>
                              <m:brk m:alnAt="7"/>
                            </m:rPr>
                            <a:rPr lang="en-US" altLang="ja-JP" b="0" i="1" smtClean="0">
                              <a:latin typeface="Cambria Math" panose="02040503050406030204" pitchFamily="18" charset="0"/>
                            </a:rPr>
                            <m:t>:</m:t>
                          </m:r>
                          <m:sSub>
                            <m:sSubPr>
                              <m:ctrlPr>
                                <a:rPr lang="en-US" altLang="ja-JP" i="1" smtClean="0">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i="1">
                                  <a:latin typeface="Cambria Math" panose="02040503050406030204" pitchFamily="18" charset="0"/>
                                </a:rPr>
                                <m:t>𝑖</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𝑗</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𝑘</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𝑙</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𝑠</m:t>
                              </m:r>
                            </m:sub>
                          </m:sSub>
                          <m:r>
                            <a:rPr lang="en-US" altLang="ja-JP" b="0" i="1" smtClean="0">
                              <a:latin typeface="Cambria Math" panose="02040503050406030204" pitchFamily="18" charset="0"/>
                            </a:rPr>
                            <m:t>,</m:t>
                          </m:r>
                          <m:sSub>
                            <m:sSubPr>
                              <m:ctrlPr>
                                <a:rPr lang="en-US" altLang="ja-JP" i="1">
                                  <a:latin typeface="Cambria Math" panose="02040503050406030204" pitchFamily="18" charset="0"/>
                                </a:rPr>
                              </m:ctrlPr>
                            </m:sSubPr>
                            <m:e>
                              <m:r>
                                <a:rPr lang="en-US" altLang="ja-JP" b="0" i="1" smtClean="0">
                                  <a:latin typeface="Cambria Math" panose="02040503050406030204" pitchFamily="18" charset="0"/>
                                </a:rPr>
                                <m:t>𝑋</m:t>
                              </m:r>
                            </m:e>
                            <m:sub>
                              <m:r>
                                <a:rPr lang="en-US" altLang="ja-JP" b="0" i="1" smtClean="0">
                                  <a:latin typeface="Cambria Math" panose="02040503050406030204" pitchFamily="18" charset="0"/>
                                </a:rPr>
                                <m:t>𝑡</m:t>
                              </m:r>
                            </m:sub>
                          </m:sSub>
                          <m:r>
                            <a:rPr lang="en-US" altLang="ja-JP" b="0" i="1" smtClean="0">
                              <a:latin typeface="Cambria Math" panose="02040503050406030204" pitchFamily="18" charset="0"/>
                            </a:rPr>
                            <m:t>=0</m:t>
                          </m:r>
                        </m:sub>
                        <m:sup/>
                        <m:e>
                          <m:sSubSup>
                            <m:sSubSupPr>
                              <m:ctrlPr>
                                <a:rPr lang="en-US" altLang="ja-JP" i="1">
                                  <a:latin typeface="Cambria Math" panose="02040503050406030204" pitchFamily="18" charset="0"/>
                                </a:rPr>
                              </m:ctrlPr>
                            </m:sSubSupPr>
                            <m:e>
                              <m:r>
                                <a:rPr lang="ja-JP" altLang="en-US" i="1">
                                  <a:latin typeface="Cambria Math" panose="02040503050406030204" pitchFamily="18" charset="0"/>
                                </a:rPr>
                                <m:t>𝜉</m:t>
                              </m:r>
                            </m:e>
                            <m:sub>
                              <m:r>
                                <a:rPr lang="en-US" altLang="ja-JP" i="1">
                                  <a:latin typeface="Cambria Math" panose="02040503050406030204" pitchFamily="18" charset="0"/>
                                </a:rPr>
                                <m:t>𝑖𝑗</m:t>
                              </m:r>
                              <m:r>
                                <a:rPr lang="en-US" altLang="ja-JP" i="1">
                                  <a:latin typeface="Cambria Math" panose="02040503050406030204" pitchFamily="18" charset="0"/>
                                </a:rPr>
                                <m:t>,</m:t>
                              </m:r>
                              <m:r>
                                <a:rPr lang="en-US" altLang="ja-JP" i="1">
                                  <a:latin typeface="Cambria Math" panose="02040503050406030204" pitchFamily="18" charset="0"/>
                                </a:rPr>
                                <m:t>𝑘𝑙𝑠𝑡</m:t>
                              </m:r>
                            </m:sub>
                            <m:sup>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sup>
                          </m:sSubSup>
                          <m:sSubSup>
                            <m:sSubSupPr>
                              <m:ctrlPr>
                                <a:rPr lang="en-US" altLang="ja-JP" i="1">
                                  <a:latin typeface="Cambria Math" panose="02040503050406030204" pitchFamily="18" charset="0"/>
                                </a:rPr>
                              </m:ctrlPr>
                            </m:sSubSupPr>
                            <m:e>
                              <m:r>
                                <a:rPr lang="ja-JP" altLang="en-US" i="1">
                                  <a:latin typeface="Cambria Math" panose="02040503050406030204" pitchFamily="18" charset="0"/>
                                </a:rPr>
                                <m:t>𝜉</m:t>
                              </m:r>
                            </m:e>
                            <m:sub>
                              <m:r>
                                <a:rPr lang="en-US" altLang="ja-JP" i="1">
                                  <a:latin typeface="Cambria Math" panose="02040503050406030204" pitchFamily="18" charset="0"/>
                                </a:rPr>
                                <m:t>𝑖𝑗</m:t>
                              </m:r>
                              <m:r>
                                <a:rPr lang="en-US" altLang="ja-JP" i="1">
                                  <a:latin typeface="Cambria Math" panose="02040503050406030204" pitchFamily="18" charset="0"/>
                                </a:rPr>
                                <m:t>,</m:t>
                              </m:r>
                              <m:r>
                                <a:rPr lang="en-US" altLang="ja-JP" i="1">
                                  <a:latin typeface="Cambria Math" panose="02040503050406030204" pitchFamily="18" charset="0"/>
                                </a:rPr>
                                <m:t>𝑘𝑙𝑠𝑡</m:t>
                              </m:r>
                            </m:sub>
                            <m:sup>
                              <m:r>
                                <a:rPr lang="en-US" altLang="ja-JP" b="1" i="1" smtClean="0">
                                  <a:latin typeface="Cambria Math" panose="02040503050406030204" pitchFamily="18" charset="0"/>
                                </a:rPr>
                                <m:t>𝒀</m:t>
                              </m:r>
                            </m:sup>
                          </m:sSubSup>
                          <m:r>
                            <a:rPr lang="en-US" altLang="ja-JP" b="0" i="1" smtClean="0">
                              <a:latin typeface="Cambria Math" panose="02040503050406030204" pitchFamily="18" charset="0"/>
                            </a:rPr>
                            <m:t>/</m:t>
                          </m:r>
                          <m:sSubSup>
                            <m:sSubSupPr>
                              <m:ctrlPr>
                                <a:rPr lang="en-US" altLang="ja-JP" b="0" i="1" smtClean="0">
                                  <a:latin typeface="Cambria Math" panose="02040503050406030204" pitchFamily="18" charset="0"/>
                                </a:rPr>
                              </m:ctrlPr>
                            </m:sSubSupPr>
                            <m:e>
                              <m:r>
                                <a:rPr lang="en-US" altLang="ja-JP" b="0" i="1" smtClean="0">
                                  <a:latin typeface="Cambria Math" panose="02040503050406030204" pitchFamily="18" charset="0"/>
                                </a:rPr>
                                <m:t>𝑛</m:t>
                              </m:r>
                            </m:e>
                            <m:sub>
                              <m:r>
                                <a:rPr lang="en-US" altLang="ja-JP" b="0" i="1" smtClean="0">
                                  <a:latin typeface="Cambria Math" panose="02040503050406030204" pitchFamily="18" charset="0"/>
                                </a:rPr>
                                <m:t>0</m:t>
                              </m:r>
                            </m:sub>
                            <m:sup>
                              <m:r>
                                <a:rPr lang="en-US" altLang="ja-JP" b="0" i="1" smtClean="0">
                                  <a:latin typeface="Cambria Math" panose="02040503050406030204" pitchFamily="18" charset="0"/>
                                </a:rPr>
                                <m:t>6</m:t>
                              </m:r>
                            </m:sup>
                          </m:sSubSup>
                        </m:e>
                      </m:nary>
                    </m:oMath>
                  </m:oMathPara>
                </a14:m>
                <a:endParaRPr kumimoji="1" lang="en-US" altLang="ja-JP" dirty="0"/>
              </a:p>
            </p:txBody>
          </p:sp>
        </mc:Choice>
        <mc:Fallback>
          <p:sp>
            <p:nvSpPr>
              <p:cNvPr id="3" name="コンテンツ プレースホルダー 2">
                <a:extLst>
                  <a:ext uri="{FF2B5EF4-FFF2-40B4-BE49-F238E27FC236}">
                    <a16:creationId xmlns:a16="http://schemas.microsoft.com/office/drawing/2014/main" id="{84189846-A27B-C2B5-7593-869FD3A1179A}"/>
                  </a:ext>
                </a:extLst>
              </p:cNvPr>
              <p:cNvSpPr>
                <a:spLocks noGrp="1" noRot="1" noChangeAspect="1" noMove="1" noResize="1" noEditPoints="1" noAdjustHandles="1" noChangeArrowheads="1" noChangeShapeType="1" noTextEdit="1"/>
              </p:cNvSpPr>
              <p:nvPr>
                <p:ph idx="1"/>
              </p:nvPr>
            </p:nvSpPr>
            <p:spPr>
              <a:xfrm>
                <a:off x="838200" y="1436975"/>
                <a:ext cx="10515600" cy="4176713"/>
              </a:xfrm>
              <a:blipFill>
                <a:blip r:embed="rId3"/>
                <a:stretch>
                  <a:fillRect t="-28788" b="-8485"/>
                </a:stretch>
              </a:blipFill>
            </p:spPr>
            <p:txBody>
              <a:bodyPr/>
              <a:lstStyle/>
              <a:p>
                <a:r>
                  <a:rPr lang="ja-JP" altLang="en-US">
                    <a:noFill/>
                  </a:rPr>
                  <a:t> </a:t>
                </a:r>
              </a:p>
            </p:txBody>
          </p:sp>
        </mc:Fallback>
      </mc:AlternateContent>
      <p:sp>
        <p:nvSpPr>
          <p:cNvPr id="4" name="タイトル 1">
            <a:extLst>
              <a:ext uri="{FF2B5EF4-FFF2-40B4-BE49-F238E27FC236}">
                <a16:creationId xmlns:a16="http://schemas.microsoft.com/office/drawing/2014/main" id="{35D64C99-4BEE-5E09-F16A-909F7E131B88}"/>
              </a:ext>
            </a:extLst>
          </p:cNvPr>
          <p:cNvSpPr>
            <a:spLocks noGrp="1"/>
          </p:cNvSpPr>
          <p:nvPr>
            <p:ph type="title"/>
          </p:nvPr>
        </p:nvSpPr>
        <p:spPr>
          <a:xfrm>
            <a:off x="838200" y="365125"/>
            <a:ext cx="10515600" cy="1325563"/>
          </a:xfrm>
        </p:spPr>
        <p:txBody>
          <a:bodyPr/>
          <a:lstStyle/>
          <a:p>
            <a:pPr marL="0" indent="0">
              <a:buNone/>
            </a:pPr>
            <a:r>
              <a:rPr kumimoji="1" lang="ja-JP" altLang="en-US" sz="4400"/>
              <a:t>経験的条件付き球共分散</a:t>
            </a:r>
            <a:endParaRPr kumimoji="1" lang="en-US" altLang="ja-JP" sz="4400" dirty="0"/>
          </a:p>
        </p:txBody>
      </p:sp>
      <mc:AlternateContent xmlns:mc="http://schemas.openxmlformats.org/markup-compatibility/2006">
        <mc:Choice xmlns:a14="http://schemas.microsoft.com/office/drawing/2010/main" Requires="a14">
          <p:sp>
            <p:nvSpPr>
              <p:cNvPr id="6" name="テキスト ボックス 5">
                <a:extLst>
                  <a:ext uri="{FF2B5EF4-FFF2-40B4-BE49-F238E27FC236}">
                    <a16:creationId xmlns:a16="http://schemas.microsoft.com/office/drawing/2014/main" id="{AD6C2350-A62F-011B-E3DD-EE1E83E4644A}"/>
                  </a:ext>
                </a:extLst>
              </p:cNvPr>
              <p:cNvSpPr txBox="1"/>
              <p:nvPr/>
            </p:nvSpPr>
            <p:spPr>
              <a:xfrm>
                <a:off x="6454717" y="4560310"/>
                <a:ext cx="5523176" cy="1201611"/>
              </a:xfrm>
              <a:prstGeom prst="rect">
                <a:avLst/>
              </a:prstGeom>
              <a:noFill/>
            </p:spPr>
            <p:txBody>
              <a:bodyPr wrap="square" rtlCol="0">
                <a:spAutoFit/>
              </a:bodyPr>
              <a:lstStyle/>
              <a:p>
                <a14:m>
                  <m:oMath xmlns:m="http://schemas.openxmlformats.org/officeDocument/2006/math">
                    <m:sSub>
                      <m:sSubPr>
                        <m:ctrlPr>
                          <a:rPr kumimoji="1" lang="en-US" altLang="ja-JP" sz="2400" i="1" smtClean="0">
                            <a:latin typeface="Cambria Math" panose="02040503050406030204" pitchFamily="18" charset="0"/>
                          </a:rPr>
                        </m:ctrlPr>
                      </m:sSubPr>
                      <m:e>
                        <m:r>
                          <a:rPr kumimoji="1" lang="en-US" altLang="ja-JP" sz="2400" b="0" i="1" smtClean="0">
                            <a:latin typeface="Cambria Math" panose="02040503050406030204" pitchFamily="18" charset="0"/>
                          </a:rPr>
                          <m:t>𝑛</m:t>
                        </m:r>
                      </m:e>
                      <m:sub>
                        <m:r>
                          <a:rPr kumimoji="1" lang="en-US" altLang="ja-JP" sz="2400" b="0" i="1" smtClean="0">
                            <a:latin typeface="Cambria Math" panose="02040503050406030204" pitchFamily="18" charset="0"/>
                          </a:rPr>
                          <m:t>1</m:t>
                        </m:r>
                      </m:sub>
                    </m:sSub>
                    <m:r>
                      <a:rPr kumimoji="1" lang="en-US" altLang="ja-JP" sz="2400" b="0" i="1" smtClean="0">
                        <a:latin typeface="Cambria Math" panose="02040503050406030204" pitchFamily="18" charset="0"/>
                      </a:rPr>
                      <m:t>=</m:t>
                    </m:r>
                    <m:nary>
                      <m:naryPr>
                        <m:chr m:val="∑"/>
                        <m:ctrlPr>
                          <a:rPr kumimoji="1" lang="en-US" altLang="ja-JP" sz="2400" b="0" i="1" smtClean="0">
                            <a:latin typeface="Cambria Math" panose="02040503050406030204" pitchFamily="18" charset="0"/>
                          </a:rPr>
                        </m:ctrlPr>
                      </m:naryPr>
                      <m:sub>
                        <m:r>
                          <m:rPr>
                            <m:brk m:alnAt="23"/>
                          </m:rPr>
                          <a:rPr kumimoji="1" lang="en-US" altLang="ja-JP" sz="2400" b="0" i="1" smtClean="0">
                            <a:latin typeface="Cambria Math" panose="02040503050406030204" pitchFamily="18" charset="0"/>
                          </a:rPr>
                          <m:t>𝑖</m:t>
                        </m:r>
                        <m:r>
                          <a:rPr kumimoji="1" lang="en-US" altLang="ja-JP" sz="2400" b="0" i="1" smtClean="0">
                            <a:latin typeface="Cambria Math" panose="02040503050406030204" pitchFamily="18" charset="0"/>
                          </a:rPr>
                          <m:t>=1</m:t>
                        </m:r>
                      </m:sub>
                      <m:sup>
                        <m:r>
                          <a:rPr kumimoji="1" lang="en-US" altLang="ja-JP" sz="2400" b="0" i="1" smtClean="0">
                            <a:latin typeface="Cambria Math" panose="02040503050406030204" pitchFamily="18" charset="0"/>
                          </a:rPr>
                          <m:t>𝑛</m:t>
                        </m:r>
                      </m:sup>
                      <m:e>
                        <m:sSub>
                          <m:sSubPr>
                            <m:ctrlPr>
                              <a:rPr kumimoji="1" lang="en-US" altLang="ja-JP" sz="2400" b="0" i="1" smtClean="0">
                                <a:latin typeface="Cambria Math" panose="02040503050406030204" pitchFamily="18" charset="0"/>
                              </a:rPr>
                            </m:ctrlPr>
                          </m:sSubPr>
                          <m:e>
                            <m:r>
                              <a:rPr kumimoji="1" lang="en-US" altLang="ja-JP" sz="2400" b="0" i="1" smtClean="0">
                                <a:latin typeface="Cambria Math" panose="02040503050406030204" pitchFamily="18" charset="0"/>
                              </a:rPr>
                              <m:t>𝑋</m:t>
                            </m:r>
                          </m:e>
                          <m:sub>
                            <m:r>
                              <a:rPr kumimoji="1" lang="en-US" altLang="ja-JP" sz="2400" b="0" i="1" smtClean="0">
                                <a:latin typeface="Cambria Math" panose="02040503050406030204" pitchFamily="18" charset="0"/>
                              </a:rPr>
                              <m:t>𝑖</m:t>
                            </m:r>
                          </m:sub>
                        </m:sSub>
                      </m:e>
                    </m:nary>
                  </m:oMath>
                </a14:m>
                <a:r>
                  <a:rPr kumimoji="1" lang="ja-JP" altLang="en-US" sz="2400"/>
                  <a:t>：原因に割り当てられる数</a:t>
                </a:r>
                <a:endParaRPr kumimoji="1" lang="en-US" altLang="ja-JP" sz="2400" dirty="0"/>
              </a:p>
              <a:p>
                <a:pPr lvl="1"/>
                <a:r>
                  <a:rPr lang="ja-JP" altLang="en-US" sz="2400"/>
                  <a:t>（</a:t>
                </a:r>
                <a14:m>
                  <m:oMath xmlns:m="http://schemas.openxmlformats.org/officeDocument/2006/math">
                    <m:sSub>
                      <m:sSubPr>
                        <m:ctrlPr>
                          <a:rPr kumimoji="1" lang="en-US" altLang="ja-JP" sz="2400" i="1" smtClean="0">
                            <a:latin typeface="Cambria Math" panose="02040503050406030204" pitchFamily="18" charset="0"/>
                          </a:rPr>
                        </m:ctrlPr>
                      </m:sSubPr>
                      <m:e>
                        <m:r>
                          <a:rPr kumimoji="1" lang="en-US" altLang="ja-JP" sz="2400" b="0" i="1" smtClean="0">
                            <a:latin typeface="Cambria Math" panose="02040503050406030204" pitchFamily="18" charset="0"/>
                          </a:rPr>
                          <m:t>𝑛</m:t>
                        </m:r>
                      </m:e>
                      <m:sub>
                        <m:r>
                          <a:rPr kumimoji="1" lang="en-US" altLang="ja-JP" sz="2400" b="0" i="1" smtClean="0">
                            <a:latin typeface="Cambria Math" panose="02040503050406030204" pitchFamily="18" charset="0"/>
                          </a:rPr>
                          <m:t>0</m:t>
                        </m:r>
                      </m:sub>
                    </m:sSub>
                    <m:r>
                      <a:rPr kumimoji="1" lang="en-US" altLang="ja-JP" sz="2400" b="0" i="1" smtClean="0">
                        <a:latin typeface="Cambria Math" panose="02040503050406030204" pitchFamily="18" charset="0"/>
                      </a:rPr>
                      <m:t>=</m:t>
                    </m:r>
                    <m:r>
                      <a:rPr kumimoji="1" lang="en-US" altLang="ja-JP" sz="2400" b="0" i="1" smtClean="0">
                        <a:latin typeface="Cambria Math" panose="02040503050406030204" pitchFamily="18" charset="0"/>
                      </a:rPr>
                      <m:t>𝑛</m:t>
                    </m:r>
                    <m:r>
                      <a:rPr kumimoji="1" lang="en-US" altLang="ja-JP" sz="2400" b="0" i="1" smtClean="0">
                        <a:latin typeface="Cambria Math" panose="02040503050406030204" pitchFamily="18" charset="0"/>
                      </a:rPr>
                      <m:t>−</m:t>
                    </m:r>
                    <m:sSub>
                      <m:sSubPr>
                        <m:ctrlPr>
                          <a:rPr kumimoji="1" lang="en-US" altLang="ja-JP" sz="2400" b="0" i="1" smtClean="0">
                            <a:latin typeface="Cambria Math" panose="02040503050406030204" pitchFamily="18" charset="0"/>
                          </a:rPr>
                        </m:ctrlPr>
                      </m:sSubPr>
                      <m:e>
                        <m:r>
                          <a:rPr kumimoji="1" lang="en-US" altLang="ja-JP" sz="2400" b="0" i="1" smtClean="0">
                            <a:latin typeface="Cambria Math" panose="02040503050406030204" pitchFamily="18" charset="0"/>
                          </a:rPr>
                          <m:t>𝑛</m:t>
                        </m:r>
                      </m:e>
                      <m:sub>
                        <m:r>
                          <a:rPr kumimoji="1" lang="en-US" altLang="ja-JP" sz="2400" b="0" i="1" smtClean="0">
                            <a:latin typeface="Cambria Math" panose="02040503050406030204" pitchFamily="18" charset="0"/>
                          </a:rPr>
                          <m:t>1</m:t>
                        </m:r>
                      </m:sub>
                    </m:sSub>
                  </m:oMath>
                </a14:m>
                <a:r>
                  <a:rPr kumimoji="1" lang="ja-JP" altLang="en-US" sz="2400" dirty="0"/>
                  <a:t>）</a:t>
                </a:r>
                <a:endParaRPr kumimoji="1" lang="en-US" altLang="ja-JP" sz="2400" dirty="0"/>
              </a:p>
              <a:p>
                <a14:m>
                  <m:oMath xmlns:m="http://schemas.openxmlformats.org/officeDocument/2006/math">
                    <m:acc>
                      <m:accPr>
                        <m:chr m:val="̂"/>
                        <m:ctrlPr>
                          <a:rPr kumimoji="1" lang="ja-JP" altLang="en-US" sz="2400" i="1" smtClean="0">
                            <a:latin typeface="Cambria Math" panose="02040503050406030204" pitchFamily="18" charset="0"/>
                          </a:rPr>
                        </m:ctrlPr>
                      </m:accPr>
                      <m:e>
                        <m:r>
                          <a:rPr kumimoji="1" lang="ja-JP" altLang="en-US" sz="2400" i="1" smtClean="0">
                            <a:latin typeface="Cambria Math" panose="02040503050406030204" pitchFamily="18" charset="0"/>
                          </a:rPr>
                          <m:t>𝜔</m:t>
                        </m:r>
                      </m:e>
                    </m:acc>
                    <m:r>
                      <a:rPr kumimoji="1" lang="en-US" altLang="ja-JP" sz="2400" b="0"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rPr>
                          <m:t>𝑛</m:t>
                        </m:r>
                      </m:e>
                      <m:sub>
                        <m:r>
                          <a:rPr lang="en-US" altLang="ja-JP" sz="2400" i="1">
                            <a:latin typeface="Cambria Math" panose="02040503050406030204" pitchFamily="18" charset="0"/>
                          </a:rPr>
                          <m:t>1</m:t>
                        </m:r>
                      </m:sub>
                    </m:sSub>
                    <m:r>
                      <a:rPr lang="en-US" altLang="ja-JP" sz="2400" b="0" i="1" smtClean="0">
                        <a:latin typeface="Cambria Math" panose="02040503050406030204" pitchFamily="18" charset="0"/>
                      </a:rPr>
                      <m:t>/</m:t>
                    </m:r>
                    <m:r>
                      <a:rPr lang="en-US" altLang="ja-JP" sz="2400" b="0" i="1" smtClean="0">
                        <a:latin typeface="Cambria Math" panose="02040503050406030204" pitchFamily="18" charset="0"/>
                      </a:rPr>
                      <m:t>𝑛</m:t>
                    </m:r>
                  </m:oMath>
                </a14:m>
                <a:r>
                  <a:rPr kumimoji="1" lang="ja-JP" altLang="en-US" sz="2400"/>
                  <a:t>：𝜔の経験的推定量</a:t>
                </a:r>
                <a:endParaRPr kumimoji="1" lang="en-US" altLang="ja-JP" sz="2400" dirty="0"/>
              </a:p>
            </p:txBody>
          </p:sp>
        </mc:Choice>
        <mc:Fallback>
          <p:sp>
            <p:nvSpPr>
              <p:cNvPr id="6" name="テキスト ボックス 5">
                <a:extLst>
                  <a:ext uri="{FF2B5EF4-FFF2-40B4-BE49-F238E27FC236}">
                    <a16:creationId xmlns:a16="http://schemas.microsoft.com/office/drawing/2014/main" id="{AD6C2350-A62F-011B-E3DD-EE1E83E4644A}"/>
                  </a:ext>
                </a:extLst>
              </p:cNvPr>
              <p:cNvSpPr txBox="1">
                <a:spLocks noRot="1" noChangeAspect="1" noMove="1" noResize="1" noEditPoints="1" noAdjustHandles="1" noChangeArrowheads="1" noChangeShapeType="1" noTextEdit="1"/>
              </p:cNvSpPr>
              <p:nvPr/>
            </p:nvSpPr>
            <p:spPr>
              <a:xfrm>
                <a:off x="6454717" y="4560310"/>
                <a:ext cx="5523176" cy="1201611"/>
              </a:xfrm>
              <a:prstGeom prst="rect">
                <a:avLst/>
              </a:prstGeom>
              <a:blipFill>
                <a:blip r:embed="rId4"/>
                <a:stretch>
                  <a:fillRect t="-50526" r="-688" b="-13684"/>
                </a:stretch>
              </a:blipFill>
            </p:spPr>
            <p:txBody>
              <a:bodyPr/>
              <a:lstStyle/>
              <a:p>
                <a:r>
                  <a:rPr lang="ja-JP" altLang="en-US">
                    <a:noFill/>
                  </a:rPr>
                  <a:t> </a:t>
                </a:r>
              </a:p>
            </p:txBody>
          </p:sp>
        </mc:Fallback>
      </mc:AlternateContent>
      <p:sp>
        <p:nvSpPr>
          <p:cNvPr id="5" name="スライド番号プレースホルダー 4">
            <a:extLst>
              <a:ext uri="{FF2B5EF4-FFF2-40B4-BE49-F238E27FC236}">
                <a16:creationId xmlns:a16="http://schemas.microsoft.com/office/drawing/2014/main" id="{42A346FA-6BB7-0B6B-8BC0-C069B5D94C1E}"/>
              </a:ext>
            </a:extLst>
          </p:cNvPr>
          <p:cNvSpPr>
            <a:spLocks noGrp="1"/>
          </p:cNvSpPr>
          <p:nvPr>
            <p:ph type="sldNum" sz="quarter" idx="12"/>
          </p:nvPr>
        </p:nvSpPr>
        <p:spPr/>
        <p:txBody>
          <a:bodyPr/>
          <a:lstStyle/>
          <a:p>
            <a:fld id="{21218AEF-8260-6F42-89D9-6D82E053F226}" type="slidenum">
              <a:rPr kumimoji="1" lang="ja-JP" altLang="en-US" smtClean="0"/>
              <a:t>21</a:t>
            </a:fld>
            <a:endParaRPr kumimoji="1" lang="ja-JP" altLang="en-US"/>
          </a:p>
        </p:txBody>
      </p:sp>
      <mc:AlternateContent xmlns:mc="http://schemas.openxmlformats.org/markup-compatibility/2006">
        <mc:Choice xmlns:a14="http://schemas.microsoft.com/office/drawing/2010/main" Requires="a14">
          <p:sp>
            <p:nvSpPr>
              <p:cNvPr id="2" name="テキスト ボックス 1">
                <a:extLst>
                  <a:ext uri="{FF2B5EF4-FFF2-40B4-BE49-F238E27FC236}">
                    <a16:creationId xmlns:a16="http://schemas.microsoft.com/office/drawing/2014/main" id="{EC81F051-3689-9F5C-BA13-E374E5163799}"/>
                  </a:ext>
                </a:extLst>
              </p:cNvPr>
              <p:cNvSpPr txBox="1"/>
              <p:nvPr/>
            </p:nvSpPr>
            <p:spPr>
              <a:xfrm>
                <a:off x="276966" y="4077891"/>
                <a:ext cx="5980868" cy="2037289"/>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sSubSup>
                        <m:sSubSupPr>
                          <m:ctrlPr>
                            <a:rPr kumimoji="1" lang="en-US" altLang="ja-JP" sz="2400" i="1" smtClean="0">
                              <a:latin typeface="Cambria Math" panose="02040503050406030204" pitchFamily="18" charset="0"/>
                            </a:rPr>
                          </m:ctrlPr>
                        </m:sSubSupPr>
                        <m:e>
                          <m:r>
                            <a:rPr kumimoji="1" lang="ja-JP" altLang="en-US" sz="2400" i="1" smtClean="0">
                              <a:latin typeface="Cambria Math" panose="02040503050406030204" pitchFamily="18" charset="0"/>
                            </a:rPr>
                            <m:t>𝜉</m:t>
                          </m:r>
                        </m:e>
                        <m:sub>
                          <m:r>
                            <a:rPr kumimoji="1" lang="en-US" altLang="ja-JP" sz="2400" b="0" i="1" smtClean="0">
                              <a:latin typeface="Cambria Math" panose="02040503050406030204" pitchFamily="18" charset="0"/>
                            </a:rPr>
                            <m:t>𝑖𝑗</m:t>
                          </m:r>
                          <m:r>
                            <a:rPr kumimoji="1" lang="en-US" altLang="ja-JP" sz="2400" b="0" i="1" smtClean="0">
                              <a:latin typeface="Cambria Math" panose="02040503050406030204" pitchFamily="18" charset="0"/>
                            </a:rPr>
                            <m:t>,</m:t>
                          </m:r>
                          <m:r>
                            <a:rPr kumimoji="1" lang="en-US" altLang="ja-JP" sz="2400" b="0" i="1" smtClean="0">
                              <a:latin typeface="Cambria Math" panose="02040503050406030204" pitchFamily="18" charset="0"/>
                            </a:rPr>
                            <m:t>𝑘𝑙𝑠𝑡</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r>
                        <a:rPr kumimoji="1" lang="en-US" altLang="ja-JP" sz="2400" b="0" i="1" smtClean="0">
                          <a:latin typeface="Cambria Math" panose="02040503050406030204" pitchFamily="18" charset="0"/>
                        </a:rPr>
                        <m:t>=(</m:t>
                      </m:r>
                      <m:sSubSup>
                        <m:sSubSupPr>
                          <m:ctrlPr>
                            <a:rPr lang="en-US" altLang="ja-JP" sz="2400" i="1">
                              <a:latin typeface="Cambria Math" panose="02040503050406030204" pitchFamily="18" charset="0"/>
                            </a:rPr>
                          </m:ctrlPr>
                        </m:sSubSupPr>
                        <m:e>
                          <m:r>
                            <a:rPr lang="ja-JP" altLang="en-US" sz="2400" i="1">
                              <a:latin typeface="Cambria Math" panose="02040503050406030204" pitchFamily="18" charset="0"/>
                            </a:rPr>
                            <m:t>𝛿</m:t>
                          </m:r>
                        </m:e>
                        <m:sub>
                          <m:r>
                            <a:rPr lang="en-US" altLang="ja-JP" sz="2400" i="1">
                              <a:latin typeface="Cambria Math" panose="02040503050406030204" pitchFamily="18" charset="0"/>
                            </a:rPr>
                            <m:t>𝑖𝑗</m:t>
                          </m:r>
                          <m:r>
                            <a:rPr lang="en-US" altLang="ja-JP" sz="2400" i="1">
                              <a:latin typeface="Cambria Math" panose="02040503050406030204" pitchFamily="18" charset="0"/>
                            </a:rPr>
                            <m:t>,</m:t>
                          </m:r>
                          <m:r>
                            <a:rPr lang="en-US" altLang="ja-JP" sz="2400" i="1">
                              <a:latin typeface="Cambria Math" panose="02040503050406030204" pitchFamily="18" charset="0"/>
                            </a:rPr>
                            <m:t>𝑘𝑙</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r>
                        <a:rPr lang="en-US" altLang="ja-JP" sz="2400" b="0" i="1" smtClean="0">
                          <a:latin typeface="Cambria Math" panose="02040503050406030204" pitchFamily="18" charset="0"/>
                        </a:rPr>
                        <m:t>+</m:t>
                      </m:r>
                      <m:sSubSup>
                        <m:sSubSupPr>
                          <m:ctrlPr>
                            <a:rPr lang="en-US" altLang="ja-JP" sz="2400" i="1">
                              <a:latin typeface="Cambria Math" panose="02040503050406030204" pitchFamily="18" charset="0"/>
                            </a:rPr>
                          </m:ctrlPr>
                        </m:sSubSupPr>
                        <m:e>
                          <m:r>
                            <a:rPr lang="ja-JP" altLang="en-US" sz="2400" i="1">
                              <a:latin typeface="Cambria Math" panose="02040503050406030204" pitchFamily="18" charset="0"/>
                            </a:rPr>
                            <m:t>𝛿</m:t>
                          </m:r>
                        </m:e>
                        <m:sub>
                          <m:r>
                            <a:rPr lang="en-US" altLang="ja-JP" sz="2400" i="1">
                              <a:latin typeface="Cambria Math" panose="02040503050406030204" pitchFamily="18" charset="0"/>
                            </a:rPr>
                            <m:t>𝑖𝑗</m:t>
                          </m:r>
                          <m:r>
                            <a:rPr lang="en-US" altLang="ja-JP" sz="2400" i="1">
                              <a:latin typeface="Cambria Math" panose="02040503050406030204" pitchFamily="18" charset="0"/>
                            </a:rPr>
                            <m:t>,</m:t>
                          </m:r>
                          <m:r>
                            <a:rPr lang="en-US" altLang="ja-JP" sz="2400" b="0" i="1" smtClean="0">
                              <a:latin typeface="Cambria Math" panose="02040503050406030204" pitchFamily="18" charset="0"/>
                            </a:rPr>
                            <m:t>𝑠𝑡</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r>
                        <a:rPr lang="en-US" altLang="ja-JP" sz="2400" b="0" i="1" smtClean="0">
                          <a:latin typeface="Cambria Math" panose="02040503050406030204" pitchFamily="18" charset="0"/>
                        </a:rPr>
                        <m:t>−</m:t>
                      </m:r>
                      <m:sSubSup>
                        <m:sSubSupPr>
                          <m:ctrlPr>
                            <a:rPr lang="en-US" altLang="ja-JP" sz="2400" i="1">
                              <a:latin typeface="Cambria Math" panose="02040503050406030204" pitchFamily="18" charset="0"/>
                            </a:rPr>
                          </m:ctrlPr>
                        </m:sSubSupPr>
                        <m:e>
                          <m:r>
                            <a:rPr lang="ja-JP" altLang="en-US" sz="2400" i="1">
                              <a:latin typeface="Cambria Math" panose="02040503050406030204" pitchFamily="18" charset="0"/>
                            </a:rPr>
                            <m:t>𝛿</m:t>
                          </m:r>
                        </m:e>
                        <m:sub>
                          <m:r>
                            <a:rPr lang="en-US" altLang="ja-JP" sz="2400" i="1">
                              <a:latin typeface="Cambria Math" panose="02040503050406030204" pitchFamily="18" charset="0"/>
                            </a:rPr>
                            <m:t>𝑖𝑗</m:t>
                          </m:r>
                          <m:r>
                            <a:rPr lang="en-US" altLang="ja-JP" sz="2400" i="1">
                              <a:latin typeface="Cambria Math" panose="02040503050406030204" pitchFamily="18" charset="0"/>
                            </a:rPr>
                            <m:t>,</m:t>
                          </m:r>
                          <m:r>
                            <a:rPr lang="en-US" altLang="ja-JP" sz="2400" i="1">
                              <a:latin typeface="Cambria Math" panose="02040503050406030204" pitchFamily="18" charset="0"/>
                            </a:rPr>
                            <m:t>𝑘𝑠</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r>
                        <a:rPr lang="en-US" altLang="ja-JP" sz="2400" b="0" i="1" smtClean="0">
                          <a:latin typeface="Cambria Math" panose="02040503050406030204" pitchFamily="18" charset="0"/>
                        </a:rPr>
                        <m:t>−</m:t>
                      </m:r>
                      <m:sSubSup>
                        <m:sSubSupPr>
                          <m:ctrlPr>
                            <a:rPr lang="en-US" altLang="ja-JP" sz="2400" i="1">
                              <a:latin typeface="Cambria Math" panose="02040503050406030204" pitchFamily="18" charset="0"/>
                            </a:rPr>
                          </m:ctrlPr>
                        </m:sSubSupPr>
                        <m:e>
                          <m:r>
                            <a:rPr lang="ja-JP" altLang="en-US" sz="2400" i="1">
                              <a:latin typeface="Cambria Math" panose="02040503050406030204" pitchFamily="18" charset="0"/>
                            </a:rPr>
                            <m:t>𝛿</m:t>
                          </m:r>
                        </m:e>
                        <m:sub>
                          <m:r>
                            <a:rPr lang="en-US" altLang="ja-JP" sz="2400" i="1">
                              <a:latin typeface="Cambria Math" panose="02040503050406030204" pitchFamily="18" charset="0"/>
                            </a:rPr>
                            <m:t>𝑖𝑗</m:t>
                          </m:r>
                          <m:r>
                            <a:rPr lang="en-US" altLang="ja-JP" sz="2400" i="1">
                              <a:latin typeface="Cambria Math" panose="02040503050406030204" pitchFamily="18" charset="0"/>
                            </a:rPr>
                            <m:t>,</m:t>
                          </m:r>
                          <m:r>
                            <a:rPr lang="en-US" altLang="ja-JP" sz="2400" i="1">
                              <a:latin typeface="Cambria Math" panose="02040503050406030204" pitchFamily="18" charset="0"/>
                            </a:rPr>
                            <m:t>𝑙𝑡</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r>
                        <a:rPr kumimoji="1" lang="en-US" altLang="ja-JP" sz="2400" b="0" i="1" smtClean="0">
                          <a:latin typeface="Cambria Math" panose="02040503050406030204" pitchFamily="18" charset="0"/>
                        </a:rPr>
                        <m:t>)/2</m:t>
                      </m:r>
                    </m:oMath>
                  </m:oMathPara>
                </a14:m>
                <a:endParaRPr kumimoji="1" lang="en-US" altLang="ja-JP" sz="2400" i="1" dirty="0">
                  <a:latin typeface="Cambria Math" panose="02040503050406030204" pitchFamily="18" charset="0"/>
                </a:endParaRPr>
              </a:p>
              <a:p>
                <a14:m>
                  <m:oMath xmlns:m="http://schemas.openxmlformats.org/officeDocument/2006/math">
                    <m:sSubSup>
                      <m:sSubSupPr>
                        <m:ctrlPr>
                          <a:rPr kumimoji="1" lang="en-US" altLang="ja-JP" sz="2400" i="1" smtClean="0">
                            <a:latin typeface="Cambria Math" panose="02040503050406030204" pitchFamily="18" charset="0"/>
                          </a:rPr>
                        </m:ctrlPr>
                      </m:sSubSupPr>
                      <m:e>
                        <m:r>
                          <a:rPr kumimoji="1" lang="ja-JP" altLang="en-US" sz="2400" i="1" smtClean="0">
                            <a:latin typeface="Cambria Math" panose="02040503050406030204" pitchFamily="18" charset="0"/>
                          </a:rPr>
                          <m:t>𝛿</m:t>
                        </m:r>
                      </m:e>
                      <m:sub>
                        <m:r>
                          <a:rPr kumimoji="1" lang="en-US" altLang="ja-JP" sz="2400" b="0" i="1" smtClean="0">
                            <a:latin typeface="Cambria Math" panose="02040503050406030204" pitchFamily="18" charset="0"/>
                          </a:rPr>
                          <m:t>𝑖𝑗</m:t>
                        </m:r>
                        <m:r>
                          <a:rPr kumimoji="1" lang="en-US" altLang="ja-JP" sz="2400" b="0" i="1" smtClean="0">
                            <a:latin typeface="Cambria Math" panose="02040503050406030204" pitchFamily="18" charset="0"/>
                          </a:rPr>
                          <m:t>,</m:t>
                        </m:r>
                        <m:r>
                          <a:rPr kumimoji="1" lang="en-US" altLang="ja-JP" sz="2400" b="0" i="1" smtClean="0">
                            <a:latin typeface="Cambria Math" panose="02040503050406030204" pitchFamily="18" charset="0"/>
                          </a:rPr>
                          <m:t>𝑘𝑙</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r>
                      <a:rPr kumimoji="1" lang="en-US" altLang="ja-JP" sz="2400" b="0" i="1" smtClean="0">
                        <a:latin typeface="Cambria Math" panose="02040503050406030204" pitchFamily="18" charset="0"/>
                      </a:rPr>
                      <m:t>=</m:t>
                    </m:r>
                    <m:sSubSup>
                      <m:sSubSupPr>
                        <m:ctrlPr>
                          <a:rPr lang="en-US" altLang="ja-JP" sz="2400" i="1">
                            <a:latin typeface="Cambria Math" panose="02040503050406030204" pitchFamily="18" charset="0"/>
                          </a:rPr>
                        </m:ctrlPr>
                      </m:sSubSupPr>
                      <m:e>
                        <m:r>
                          <a:rPr lang="ja-JP" altLang="en-US" sz="2400" i="1">
                            <a:latin typeface="Cambria Math" panose="02040503050406030204" pitchFamily="18" charset="0"/>
                          </a:rPr>
                          <m:t>𝛿</m:t>
                        </m:r>
                      </m:e>
                      <m:sub>
                        <m:r>
                          <a:rPr lang="en-US" altLang="ja-JP" sz="2400" i="1">
                            <a:latin typeface="Cambria Math" panose="02040503050406030204" pitchFamily="18" charset="0"/>
                          </a:rPr>
                          <m:t>𝑖𝑗</m:t>
                        </m:r>
                        <m:r>
                          <a:rPr lang="en-US" altLang="ja-JP" sz="2400" i="1">
                            <a:latin typeface="Cambria Math" panose="02040503050406030204" pitchFamily="18" charset="0"/>
                          </a:rPr>
                          <m:t>,</m:t>
                        </m:r>
                        <m:r>
                          <a:rPr lang="en-US" altLang="ja-JP" sz="2400" i="1">
                            <a:latin typeface="Cambria Math" panose="02040503050406030204" pitchFamily="18" charset="0"/>
                          </a:rPr>
                          <m:t>𝑘</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sSubSup>
                      <m:sSubSupPr>
                        <m:ctrlPr>
                          <a:rPr lang="en-US" altLang="ja-JP" sz="2400" i="1">
                            <a:latin typeface="Cambria Math" panose="02040503050406030204" pitchFamily="18" charset="0"/>
                          </a:rPr>
                        </m:ctrlPr>
                      </m:sSubSupPr>
                      <m:e>
                        <m:r>
                          <a:rPr lang="ja-JP" altLang="en-US" sz="2400" i="1">
                            <a:latin typeface="Cambria Math" panose="02040503050406030204" pitchFamily="18" charset="0"/>
                          </a:rPr>
                          <m:t>𝛿</m:t>
                        </m:r>
                      </m:e>
                      <m:sub>
                        <m:r>
                          <a:rPr lang="en-US" altLang="ja-JP" sz="2400" i="1">
                            <a:latin typeface="Cambria Math" panose="02040503050406030204" pitchFamily="18" charset="0"/>
                          </a:rPr>
                          <m:t>𝑖𝑗</m:t>
                        </m:r>
                        <m:r>
                          <a:rPr lang="en-US" altLang="ja-JP" sz="2400" i="1">
                            <a:latin typeface="Cambria Math" panose="02040503050406030204" pitchFamily="18" charset="0"/>
                          </a:rPr>
                          <m:t>,</m:t>
                        </m:r>
                        <m:r>
                          <a:rPr lang="en-US" altLang="ja-JP" sz="2400" b="0" i="1" smtClean="0">
                            <a:latin typeface="Cambria Math" panose="02040503050406030204" pitchFamily="18" charset="0"/>
                          </a:rPr>
                          <m:t>𝑙</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oMath>
                </a14:m>
                <a:r>
                  <a:rPr kumimoji="1" lang="en-US" altLang="ja-JP" sz="2400" dirty="0"/>
                  <a:t> </a:t>
                </a:r>
                <a:endParaRPr kumimoji="1" lang="en-US" altLang="ja-JP" sz="2400" i="1" dirty="0">
                  <a:latin typeface="Cambria Math" panose="02040503050406030204" pitchFamily="18" charset="0"/>
                </a:endParaRPr>
              </a:p>
              <a:p>
                <a14:m>
                  <m:oMath xmlns:m="http://schemas.openxmlformats.org/officeDocument/2006/math">
                    <m:sSubSup>
                      <m:sSubSupPr>
                        <m:ctrlPr>
                          <a:rPr kumimoji="1" lang="en-US" altLang="ja-JP" sz="2400" i="1" smtClean="0">
                            <a:latin typeface="Cambria Math" panose="02040503050406030204" pitchFamily="18" charset="0"/>
                          </a:rPr>
                        </m:ctrlPr>
                      </m:sSubSupPr>
                      <m:e>
                        <m:r>
                          <a:rPr kumimoji="1" lang="ja-JP" altLang="en-US" sz="2400" i="1" smtClean="0">
                            <a:latin typeface="Cambria Math" panose="02040503050406030204" pitchFamily="18" charset="0"/>
                          </a:rPr>
                          <m:t>𝛿</m:t>
                        </m:r>
                      </m:e>
                      <m:sub>
                        <m:r>
                          <a:rPr kumimoji="1" lang="en-US" altLang="ja-JP" sz="2400" b="0" i="1" smtClean="0">
                            <a:latin typeface="Cambria Math" panose="02040503050406030204" pitchFamily="18" charset="0"/>
                          </a:rPr>
                          <m:t>𝑖𝑗</m:t>
                        </m:r>
                        <m:r>
                          <a:rPr kumimoji="1" lang="en-US" altLang="ja-JP" sz="2400" b="0" i="1" smtClean="0">
                            <a:latin typeface="Cambria Math" panose="02040503050406030204" pitchFamily="18" charset="0"/>
                          </a:rPr>
                          <m:t>,</m:t>
                        </m:r>
                        <m:r>
                          <a:rPr kumimoji="1" lang="en-US" altLang="ja-JP" sz="2400" b="0" i="1" smtClean="0">
                            <a:latin typeface="Cambria Math" panose="02040503050406030204" pitchFamily="18" charset="0"/>
                          </a:rPr>
                          <m:t>𝑘</m:t>
                        </m:r>
                      </m:sub>
                      <m:sup>
                        <m:sSub>
                          <m:sSubPr>
                            <m:ctrlPr>
                              <a:rPr lang="en-US" altLang="ja-JP" sz="2400" i="1" smtClean="0">
                                <a:latin typeface="Cambria Math" panose="02040503050406030204" pitchFamily="18" charset="0"/>
                              </a:rPr>
                            </m:ctrlPr>
                          </m:sSubPr>
                          <m:e>
                            <m:r>
                              <a:rPr lang="en-US" altLang="ja-JP" sz="2400" b="1" i="1" smtClean="0">
                                <a:latin typeface="Cambria Math" panose="02040503050406030204" pitchFamily="18" charset="0"/>
                              </a:rPr>
                              <m:t>𝑪</m:t>
                            </m:r>
                          </m:e>
                          <m:sub>
                            <m:r>
                              <a:rPr lang="en-US" altLang="ja-JP" sz="2400" b="0" i="1" smtClean="0">
                                <a:latin typeface="Cambria Math" panose="02040503050406030204" pitchFamily="18" charset="0"/>
                                <a:ea typeface="Cambria Math" panose="02040503050406030204" pitchFamily="18" charset="0"/>
                              </a:rPr>
                              <m:t>𝛼</m:t>
                            </m:r>
                          </m:sub>
                        </m:sSub>
                      </m:sup>
                    </m:sSubSup>
                    <m:r>
                      <a:rPr kumimoji="1" lang="en-US" altLang="ja-JP" sz="2400" b="0" i="1" smtClean="0">
                        <a:latin typeface="Cambria Math" panose="02040503050406030204" pitchFamily="18" charset="0"/>
                      </a:rPr>
                      <m:t>=</m:t>
                    </m:r>
                    <m:r>
                      <a:rPr kumimoji="1" lang="en-US" altLang="ja-JP" sz="2400" b="0" i="1" smtClean="0">
                        <a:latin typeface="Cambria Math" panose="02040503050406030204" pitchFamily="18" charset="0"/>
                      </a:rPr>
                      <m:t>𝐼</m:t>
                    </m:r>
                    <m:r>
                      <a:rPr kumimoji="1" lang="en-US" altLang="ja-JP" sz="2400" b="0" i="1" smtClean="0">
                        <a:latin typeface="Cambria Math" panose="02040503050406030204" pitchFamily="18" charset="0"/>
                      </a:rPr>
                      <m:t>{</m:t>
                    </m:r>
                    <m:sSub>
                      <m:sSubPr>
                        <m:ctrlPr>
                          <a:rPr kumimoji="1" lang="en-US" altLang="ja-JP" sz="2400" b="0" i="1" smtClean="0">
                            <a:latin typeface="Cambria Math" panose="02040503050406030204" pitchFamily="18" charset="0"/>
                          </a:rPr>
                        </m:ctrlPr>
                      </m:sSubPr>
                      <m:e>
                        <m:r>
                          <a:rPr kumimoji="1" lang="en-US" altLang="ja-JP" sz="2400" b="0" i="1" smtClean="0">
                            <a:latin typeface="Cambria Math" panose="02040503050406030204" pitchFamily="18" charset="0"/>
                          </a:rPr>
                          <m:t>𝐶</m:t>
                        </m:r>
                      </m:e>
                      <m:sub>
                        <m:r>
                          <a:rPr kumimoji="1" lang="en-US" altLang="ja-JP" sz="2400" b="0" i="1" smtClean="0">
                            <a:latin typeface="Cambria Math" panose="02040503050406030204" pitchFamily="18" charset="0"/>
                            <a:ea typeface="Cambria Math" panose="02040503050406030204" pitchFamily="18" charset="0"/>
                          </a:rPr>
                          <m:t>𝛼</m:t>
                        </m:r>
                        <m:r>
                          <a:rPr kumimoji="1" lang="en-US" altLang="ja-JP" sz="2400" b="0" i="1" smtClean="0">
                            <a:latin typeface="Cambria Math" panose="02040503050406030204" pitchFamily="18" charset="0"/>
                          </a:rPr>
                          <m:t>𝑘</m:t>
                        </m:r>
                      </m:sub>
                    </m:sSub>
                    <m:r>
                      <a:rPr kumimoji="1" lang="en-US" altLang="ja-JP" sz="2400" b="0" i="1" smtClean="0">
                        <a:latin typeface="Cambria Math" panose="02040503050406030204" pitchFamily="18" charset="0"/>
                        <a:ea typeface="Cambria Math" panose="02040503050406030204" pitchFamily="18" charset="0"/>
                      </a:rPr>
                      <m:t>∈</m:t>
                    </m:r>
                    <m:sSub>
                      <m:sSubPr>
                        <m:ctrlPr>
                          <a:rPr lang="en-US" altLang="ja-JP" sz="2400" i="1" smtClean="0">
                            <a:latin typeface="Cambria Math" panose="02040503050406030204" pitchFamily="18" charset="0"/>
                          </a:rPr>
                        </m:ctrlPr>
                      </m:sSubPr>
                      <m:e>
                        <m:acc>
                          <m:accPr>
                            <m:chr m:val="̅"/>
                            <m:ctrlPr>
                              <a:rPr lang="en-US" altLang="ja-JP" sz="2400" i="1">
                                <a:latin typeface="Cambria Math" panose="02040503050406030204" pitchFamily="18" charset="0"/>
                              </a:rPr>
                            </m:ctrlPr>
                          </m:accPr>
                          <m:e>
                            <m:r>
                              <a:rPr lang="en-US" altLang="ja-JP" sz="2400" i="1">
                                <a:latin typeface="Cambria Math" panose="02040503050406030204" pitchFamily="18" charset="0"/>
                              </a:rPr>
                              <m:t>𝐵</m:t>
                            </m:r>
                          </m:e>
                        </m:acc>
                      </m:e>
                      <m:sub>
                        <m:r>
                          <a:rPr lang="ja-JP" altLang="en-US" sz="2400" i="1">
                            <a:latin typeface="Cambria Math" panose="02040503050406030204" pitchFamily="18" charset="0"/>
                          </a:rPr>
                          <m:t>𝜌</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b="0" i="1" smtClean="0">
                            <a:latin typeface="Cambria Math" panose="02040503050406030204" pitchFamily="18" charset="0"/>
                          </a:rPr>
                          <m:t>𝐶</m:t>
                        </m:r>
                      </m:e>
                      <m:sub>
                        <m:r>
                          <a:rPr lang="en-US" altLang="ja-JP" sz="2400" b="0" i="1" smtClean="0">
                            <a:latin typeface="Cambria Math" panose="02040503050406030204" pitchFamily="18" charset="0"/>
                            <a:ea typeface="Cambria Math" panose="02040503050406030204" pitchFamily="18" charset="0"/>
                          </a:rPr>
                          <m:t>𝛼</m:t>
                        </m:r>
                        <m:r>
                          <a:rPr lang="en-US" altLang="ja-JP" sz="2400" b="0" i="1" smtClean="0">
                            <a:latin typeface="Cambria Math" panose="02040503050406030204" pitchFamily="18" charset="0"/>
                          </a:rPr>
                          <m:t>𝑖</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b="0" i="1" smtClean="0">
                            <a:latin typeface="Cambria Math" panose="02040503050406030204" pitchFamily="18" charset="0"/>
                          </a:rPr>
                          <m:t>𝐶</m:t>
                        </m:r>
                      </m:e>
                      <m:sub>
                        <m:r>
                          <a:rPr lang="en-US" altLang="ja-JP" sz="2400" b="0" i="1" smtClean="0">
                            <a:latin typeface="Cambria Math" panose="02040503050406030204" pitchFamily="18" charset="0"/>
                            <a:ea typeface="Cambria Math" panose="02040503050406030204" pitchFamily="18" charset="0"/>
                          </a:rPr>
                          <m:t>𝛼</m:t>
                        </m:r>
                        <m:r>
                          <a:rPr lang="en-US" altLang="ja-JP" sz="2400" b="0" i="1" smtClean="0">
                            <a:latin typeface="Cambria Math" panose="02040503050406030204" pitchFamily="18" charset="0"/>
                          </a:rPr>
                          <m:t>𝑗</m:t>
                        </m:r>
                      </m:sub>
                    </m:sSub>
                    <m:r>
                      <a:rPr lang="en-US" altLang="ja-JP" sz="2400" i="1">
                        <a:latin typeface="Cambria Math" panose="02040503050406030204" pitchFamily="18" charset="0"/>
                      </a:rPr>
                      <m:t>)</m:t>
                    </m:r>
                    <m:r>
                      <a:rPr kumimoji="1" lang="en-US" altLang="ja-JP" sz="2400" b="0" i="1" smtClean="0">
                        <a:latin typeface="Cambria Math" panose="02040503050406030204" pitchFamily="18" charset="0"/>
                      </a:rPr>
                      <m:t>}</m:t>
                    </m:r>
                  </m:oMath>
                </a14:m>
                <a:r>
                  <a:rPr kumimoji="1" lang="en-US" altLang="ja-JP" sz="2400" dirty="0"/>
                  <a:t> </a:t>
                </a:r>
                <a:r>
                  <a:rPr lang="ja-JP" altLang="en-US" sz="2400" dirty="0"/>
                  <a:t>　</a:t>
                </a:r>
                <a14:m>
                  <m:oMath xmlns:m="http://schemas.openxmlformats.org/officeDocument/2006/math">
                    <m:r>
                      <a:rPr kumimoji="1" lang="en-US" altLang="ja-JP" sz="2400" b="0" i="1" smtClean="0">
                        <a:latin typeface="Cambria Math" panose="02040503050406030204" pitchFamily="18" charset="0"/>
                      </a:rPr>
                      <m:t>𝐼</m:t>
                    </m:r>
                    <m:r>
                      <a:rPr kumimoji="1" lang="en-US" altLang="ja-JP" sz="2400" b="0" i="1" smtClean="0">
                        <a:latin typeface="Cambria Math" panose="02040503050406030204" pitchFamily="18" charset="0"/>
                      </a:rPr>
                      <m:t>()</m:t>
                    </m:r>
                  </m:oMath>
                </a14:m>
                <a:r>
                  <a:rPr lang="en-US" altLang="ja-JP" sz="2400" dirty="0"/>
                  <a:t>:</a:t>
                </a:r>
                <a:r>
                  <a:rPr lang="ja-JP" altLang="en-US" sz="2400" dirty="0"/>
                  <a:t>指示関数</a:t>
                </a:r>
                <a:endParaRPr lang="en-US" altLang="ja-JP" sz="2400" dirty="0"/>
              </a:p>
              <a:p>
                <a14:m>
                  <m:oMath xmlns:m="http://schemas.openxmlformats.org/officeDocument/2006/math">
                    <m:sSubSup>
                      <m:sSubSupPr>
                        <m:ctrlPr>
                          <a:rPr kumimoji="1" lang="en-US" altLang="ja-JP" sz="2400" i="1" smtClean="0">
                            <a:latin typeface="Cambria Math" panose="02040503050406030204" pitchFamily="18" charset="0"/>
                          </a:rPr>
                        </m:ctrlPr>
                      </m:sSubSupPr>
                      <m:e>
                        <m:sSubSup>
                          <m:sSubSupPr>
                            <m:ctrlPr>
                              <a:rPr lang="en-US" altLang="ja-JP" sz="2400" i="1">
                                <a:latin typeface="Cambria Math" panose="02040503050406030204" pitchFamily="18" charset="0"/>
                              </a:rPr>
                            </m:ctrlPr>
                          </m:sSubSupPr>
                          <m:e>
                            <m:r>
                              <a:rPr lang="ja-JP" altLang="en-US" sz="2400" i="1">
                                <a:latin typeface="Cambria Math" panose="02040503050406030204" pitchFamily="18" charset="0"/>
                              </a:rPr>
                              <m:t>𝛿</m:t>
                            </m:r>
                          </m:e>
                          <m:sub>
                            <m:r>
                              <a:rPr lang="en-US" altLang="ja-JP" sz="2400" i="1">
                                <a:latin typeface="Cambria Math" panose="02040503050406030204" pitchFamily="18" charset="0"/>
                              </a:rPr>
                              <m:t>𝑖𝑗</m:t>
                            </m:r>
                            <m:r>
                              <a:rPr lang="en-US" altLang="ja-JP" sz="2400" i="1">
                                <a:latin typeface="Cambria Math" panose="02040503050406030204" pitchFamily="18" charset="0"/>
                              </a:rPr>
                              <m:t>,</m:t>
                            </m:r>
                            <m:r>
                              <a:rPr lang="en-US" altLang="ja-JP" sz="2400" i="1">
                                <a:latin typeface="Cambria Math" panose="02040503050406030204" pitchFamily="18" charset="0"/>
                              </a:rPr>
                              <m:t>𝑘</m:t>
                            </m:r>
                          </m:sub>
                          <m:sup>
                            <m:r>
                              <a:rPr lang="en-US" altLang="ja-JP" sz="2400" b="1" i="1" smtClean="0">
                                <a:latin typeface="Cambria Math" panose="02040503050406030204" pitchFamily="18" charset="0"/>
                              </a:rPr>
                              <m:t>𝒀</m:t>
                            </m:r>
                          </m:sup>
                        </m:sSubSup>
                        <m:r>
                          <a:rPr kumimoji="1" lang="en-US" altLang="ja-JP" sz="2400" b="0" i="1" smtClean="0">
                            <a:latin typeface="Cambria Math" panose="02040503050406030204" pitchFamily="18" charset="0"/>
                          </a:rPr>
                          <m:t>,</m:t>
                        </m:r>
                        <m:r>
                          <a:rPr kumimoji="1" lang="ja-JP" altLang="en-US" sz="2400" i="1" smtClean="0">
                            <a:latin typeface="Cambria Math" panose="02040503050406030204" pitchFamily="18" charset="0"/>
                          </a:rPr>
                          <m:t>𝛿</m:t>
                        </m:r>
                      </m:e>
                      <m:sub>
                        <m:r>
                          <a:rPr kumimoji="1" lang="en-US" altLang="ja-JP" sz="2400" b="0" i="1" smtClean="0">
                            <a:latin typeface="Cambria Math" panose="02040503050406030204" pitchFamily="18" charset="0"/>
                          </a:rPr>
                          <m:t>𝑖𝑗</m:t>
                        </m:r>
                        <m:r>
                          <a:rPr kumimoji="1" lang="en-US" altLang="ja-JP" sz="2400" b="0" i="1" smtClean="0">
                            <a:latin typeface="Cambria Math" panose="02040503050406030204" pitchFamily="18" charset="0"/>
                          </a:rPr>
                          <m:t>,</m:t>
                        </m:r>
                        <m:r>
                          <a:rPr kumimoji="1" lang="en-US" altLang="ja-JP" sz="2400" b="0" i="1" smtClean="0">
                            <a:latin typeface="Cambria Math" panose="02040503050406030204" pitchFamily="18" charset="0"/>
                          </a:rPr>
                          <m:t>𝑘𝑙</m:t>
                        </m:r>
                      </m:sub>
                      <m:sup>
                        <m:r>
                          <a:rPr kumimoji="1" lang="en-US" altLang="ja-JP" sz="2400" b="1" i="1" smtClean="0">
                            <a:latin typeface="Cambria Math" panose="02040503050406030204" pitchFamily="18" charset="0"/>
                          </a:rPr>
                          <m:t>𝒀</m:t>
                        </m:r>
                      </m:sup>
                    </m:sSubSup>
                    <m:r>
                      <a:rPr kumimoji="1" lang="en-US" altLang="ja-JP" sz="2400" b="0" i="1" smtClean="0">
                        <a:latin typeface="Cambria Math" panose="02040503050406030204" pitchFamily="18" charset="0"/>
                      </a:rPr>
                      <m:t>,</m:t>
                    </m:r>
                    <m:sSubSup>
                      <m:sSubSupPr>
                        <m:ctrlPr>
                          <a:rPr lang="en-US" altLang="ja-JP" sz="2400" i="1">
                            <a:latin typeface="Cambria Math" panose="02040503050406030204" pitchFamily="18" charset="0"/>
                          </a:rPr>
                        </m:ctrlPr>
                      </m:sSubSupPr>
                      <m:e>
                        <m:r>
                          <a:rPr lang="ja-JP" altLang="en-US" sz="2400" i="1">
                            <a:latin typeface="Cambria Math" panose="02040503050406030204" pitchFamily="18" charset="0"/>
                          </a:rPr>
                          <m:t>𝜉</m:t>
                        </m:r>
                      </m:e>
                      <m:sub>
                        <m:r>
                          <a:rPr lang="en-US" altLang="ja-JP" sz="2400" i="1">
                            <a:latin typeface="Cambria Math" panose="02040503050406030204" pitchFamily="18" charset="0"/>
                          </a:rPr>
                          <m:t>𝑖𝑗</m:t>
                        </m:r>
                        <m:r>
                          <a:rPr lang="en-US" altLang="ja-JP" sz="2400" i="1">
                            <a:latin typeface="Cambria Math" panose="02040503050406030204" pitchFamily="18" charset="0"/>
                          </a:rPr>
                          <m:t>,</m:t>
                        </m:r>
                        <m:r>
                          <a:rPr lang="en-US" altLang="ja-JP" sz="2400" i="1">
                            <a:latin typeface="Cambria Math" panose="02040503050406030204" pitchFamily="18" charset="0"/>
                          </a:rPr>
                          <m:t>𝑘𝑙𝑠𝑡</m:t>
                        </m:r>
                      </m:sub>
                      <m:sup>
                        <m:r>
                          <a:rPr lang="en-US" altLang="ja-JP" sz="2400" b="1" i="1" smtClean="0">
                            <a:latin typeface="Cambria Math" panose="02040503050406030204" pitchFamily="18" charset="0"/>
                          </a:rPr>
                          <m:t>𝒀</m:t>
                        </m:r>
                      </m:sup>
                    </m:sSubSup>
                  </m:oMath>
                </a14:m>
                <a:r>
                  <a:rPr kumimoji="1" lang="ja-JP" altLang="en-US" sz="2400" b="0"/>
                  <a:t>も同様に定義</a:t>
                </a:r>
                <a:endParaRPr kumimoji="1" lang="en-US" altLang="ja-JP" sz="2400" b="0" dirty="0"/>
              </a:p>
            </p:txBody>
          </p:sp>
        </mc:Choice>
        <mc:Fallback>
          <p:sp>
            <p:nvSpPr>
              <p:cNvPr id="2" name="テキスト ボックス 1">
                <a:extLst>
                  <a:ext uri="{FF2B5EF4-FFF2-40B4-BE49-F238E27FC236}">
                    <a16:creationId xmlns:a16="http://schemas.microsoft.com/office/drawing/2014/main" id="{EC81F051-3689-9F5C-BA13-E374E5163799}"/>
                  </a:ext>
                </a:extLst>
              </p:cNvPr>
              <p:cNvSpPr txBox="1">
                <a:spLocks noRot="1" noChangeAspect="1" noMove="1" noResize="1" noEditPoints="1" noAdjustHandles="1" noChangeArrowheads="1" noChangeShapeType="1" noTextEdit="1"/>
              </p:cNvSpPr>
              <p:nvPr/>
            </p:nvSpPr>
            <p:spPr>
              <a:xfrm>
                <a:off x="276966" y="4077891"/>
                <a:ext cx="5980868" cy="2037289"/>
              </a:xfrm>
              <a:prstGeom prst="rect">
                <a:avLst/>
              </a:prstGeom>
              <a:blipFill>
                <a:blip r:embed="rId5"/>
                <a:stretch>
                  <a:fillRect l="-212" r="-636" b="-4348"/>
                </a:stretch>
              </a:blipFill>
            </p:spPr>
            <p:txBody>
              <a:bodyPr/>
              <a:lstStyle/>
              <a:p>
                <a:r>
                  <a:rPr lang="ja-JP" altLang="en-US">
                    <a:noFill/>
                  </a:rPr>
                  <a:t> </a:t>
                </a:r>
              </a:p>
            </p:txBody>
          </p:sp>
        </mc:Fallback>
      </mc:AlternateContent>
      <p:sp>
        <p:nvSpPr>
          <p:cNvPr id="8" name="大かっこ 7">
            <a:extLst>
              <a:ext uri="{FF2B5EF4-FFF2-40B4-BE49-F238E27FC236}">
                <a16:creationId xmlns:a16="http://schemas.microsoft.com/office/drawing/2014/main" id="{5FF1DA5A-A1BE-9BB5-C5DF-B460A8C6F4F2}"/>
              </a:ext>
            </a:extLst>
          </p:cNvPr>
          <p:cNvSpPr/>
          <p:nvPr/>
        </p:nvSpPr>
        <p:spPr>
          <a:xfrm>
            <a:off x="107585" y="4018474"/>
            <a:ext cx="11870310" cy="2156124"/>
          </a:xfrm>
          <a:prstGeom prst="bracketPair">
            <a:avLst/>
          </a:prstGeom>
          <a:ln w="38100"/>
        </p:spPr>
        <p:style>
          <a:lnRef idx="1">
            <a:schemeClr val="dk1"/>
          </a:lnRef>
          <a:fillRef idx="0">
            <a:schemeClr val="dk1"/>
          </a:fillRef>
          <a:effectRef idx="0">
            <a:schemeClr val="dk1"/>
          </a:effectRef>
          <a:fontRef idx="minor">
            <a:schemeClr val="tx1"/>
          </a:fontRef>
        </p:style>
        <p:txBody>
          <a:bodyPr rtlCol="0" anchor="ctr"/>
          <a:lstStyle/>
          <a:p>
            <a:pPr algn="ctr"/>
            <a:endParaRPr kumimoji="1" lang="ja-JP" altLang="en-US">
              <a:latin typeface="+mn-ea"/>
              <a:cs typeface="Arial" panose="020B0604020202020204" pitchFamily="34" charset="0"/>
            </a:endParaRPr>
          </a:p>
        </p:txBody>
      </p:sp>
      <p:cxnSp>
        <p:nvCxnSpPr>
          <p:cNvPr id="10" name="直線コネクタ 9">
            <a:extLst>
              <a:ext uri="{FF2B5EF4-FFF2-40B4-BE49-F238E27FC236}">
                <a16:creationId xmlns:a16="http://schemas.microsoft.com/office/drawing/2014/main" id="{212B4BAE-4C48-6EF0-5A6B-9877F446581B}"/>
              </a:ext>
            </a:extLst>
          </p:cNvPr>
          <p:cNvCxnSpPr/>
          <p:nvPr/>
        </p:nvCxnSpPr>
        <p:spPr>
          <a:xfrm>
            <a:off x="6239438" y="4018474"/>
            <a:ext cx="0" cy="233787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2377408"/>
      </p:ext>
    </p:extLst>
  </p:cSld>
  <p:clrMapOvr>
    <a:masterClrMapping/>
  </p:clrMapOvr>
  <mc:AlternateContent xmlns:mc="http://schemas.openxmlformats.org/markup-compatibility/2006">
    <mc:Choice xmlns:p14="http://schemas.microsoft.com/office/powerpoint/2010/main" Requires="p14">
      <p:transition spd="slow" p14:dur="2000" advTm="31666"/>
    </mc:Choice>
    <mc:Fallback>
      <p:transition spd="slow" advTm="31666"/>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0FFEBB0F-738D-E4BE-1B04-97A8AC888465}"/>
              </a:ext>
            </a:extLst>
          </p:cNvPr>
          <p:cNvSpPr>
            <a:spLocks noGrp="1"/>
          </p:cNvSpPr>
          <p:nvPr>
            <p:ph type="title"/>
          </p:nvPr>
        </p:nvSpPr>
        <p:spPr/>
        <p:txBody>
          <a:bodyPr/>
          <a:lstStyle/>
          <a:p>
            <a:r>
              <a:rPr kumimoji="1" lang="ja-JP" altLang="en-US"/>
              <a:t>提案手法</a:t>
            </a:r>
          </a:p>
        </p:txBody>
      </p:sp>
      <mc:AlternateContent xmlns:mc="http://schemas.openxmlformats.org/markup-compatibility/2006">
        <mc:Choice xmlns:a14="http://schemas.microsoft.com/office/drawing/2010/main" Requires="a14">
          <p:sp>
            <p:nvSpPr>
              <p:cNvPr id="3" name="コンテンツ プレースホルダー 2">
                <a:extLst>
                  <a:ext uri="{FF2B5EF4-FFF2-40B4-BE49-F238E27FC236}">
                    <a16:creationId xmlns:a16="http://schemas.microsoft.com/office/drawing/2014/main" id="{BF7BEC4D-F0B8-D031-A512-F062F3ED1F8C}"/>
                  </a:ext>
                </a:extLst>
              </p:cNvPr>
              <p:cNvSpPr>
                <a:spLocks noGrp="1"/>
              </p:cNvSpPr>
              <p:nvPr>
                <p:ph idx="1"/>
              </p:nvPr>
            </p:nvSpPr>
            <p:spPr>
              <a:xfrm>
                <a:off x="838199" y="1533656"/>
                <a:ext cx="10515600" cy="963771"/>
              </a:xfrm>
            </p:spPr>
            <p:txBody>
              <a:bodyPr>
                <a:normAutofit/>
              </a:bodyPr>
              <a:lstStyle/>
              <a:p>
                <a:pPr marL="514350" indent="-514350">
                  <a:buFont typeface="+mj-lt"/>
                  <a:buAutoNum type="arabicPeriod"/>
                </a:pPr>
                <a:r>
                  <a:rPr lang="ja-JP" altLang="en-US" sz="2800">
                    <a:latin typeface="+mn-ea"/>
                    <a:ea typeface="+mn-ea"/>
                    <a:cs typeface="Arial" panose="020B0604020202020204" pitchFamily="34" charset="0"/>
                  </a:rPr>
                  <a:t>結果モデル</a:t>
                </a:r>
                <a14:m>
                  <m:oMath xmlns:m="http://schemas.openxmlformats.org/officeDocument/2006/math">
                    <m:r>
                      <a:rPr kumimoji="1" lang="ja-JP" altLang="en-US" sz="2800" b="0" i="1" smtClean="0">
                        <a:latin typeface="Cambria Math" panose="02040503050406030204" pitchFamily="18" charset="0"/>
                      </a:rPr>
                      <m:t>𝜇</m:t>
                    </m:r>
                    <m:d>
                      <m:dPr>
                        <m:ctrlPr>
                          <a:rPr kumimoji="1" lang="en-US" altLang="ja-JP" sz="2800" b="1" i="1" smtClean="0">
                            <a:latin typeface="Cambria Math" panose="02040503050406030204" pitchFamily="18" charset="0"/>
                          </a:rPr>
                        </m:ctrlPr>
                      </m:dPr>
                      <m:e>
                        <m:r>
                          <a:rPr kumimoji="1" lang="en-US" altLang="ja-JP" sz="2800" b="1" i="1" smtClean="0">
                            <a:latin typeface="Cambria Math" panose="02040503050406030204" pitchFamily="18" charset="0"/>
                          </a:rPr>
                          <m:t>𝑿</m:t>
                        </m:r>
                        <m:r>
                          <a:rPr kumimoji="1" lang="en-US" altLang="ja-JP" sz="2800" b="1" i="1" smtClean="0">
                            <a:latin typeface="Cambria Math" panose="02040503050406030204" pitchFamily="18" charset="0"/>
                          </a:rPr>
                          <m:t>,</m:t>
                        </m:r>
                        <m:r>
                          <a:rPr lang="en-US" altLang="ja-JP" b="1" i="1">
                            <a:latin typeface="Cambria Math" panose="02040503050406030204" pitchFamily="18" charset="0"/>
                          </a:rPr>
                          <m:t>𝑪</m:t>
                        </m:r>
                        <m:r>
                          <a:rPr kumimoji="1" lang="en-US" altLang="ja-JP" sz="2800" b="1" i="1" smtClean="0">
                            <a:latin typeface="Cambria Math" panose="02040503050406030204" pitchFamily="18" charset="0"/>
                          </a:rPr>
                          <m:t>;</m:t>
                        </m:r>
                        <m:r>
                          <a:rPr kumimoji="1" lang="ja-JP" altLang="en-US" sz="2800" b="1" i="1" smtClean="0">
                            <a:latin typeface="Cambria Math" panose="02040503050406030204" pitchFamily="18" charset="0"/>
                          </a:rPr>
                          <m:t>𝜶</m:t>
                        </m:r>
                      </m:e>
                    </m:d>
                  </m:oMath>
                </a14:m>
                <a:r>
                  <a:rPr lang="ja-JP" altLang="en-US" sz="2800">
                    <a:latin typeface="+mn-ea"/>
                    <a:ea typeface="+mn-ea"/>
                    <a:cs typeface="Arial" panose="020B0604020202020204" pitchFamily="34" charset="0"/>
                  </a:rPr>
                  <a:t>と傾向スコアモデル</a:t>
                </a:r>
                <a14:m>
                  <m:oMath xmlns:m="http://schemas.openxmlformats.org/officeDocument/2006/math">
                    <m:r>
                      <a:rPr kumimoji="1" lang="ja-JP" altLang="en-US" sz="2800" i="1">
                        <a:latin typeface="Cambria Math" panose="02040503050406030204" pitchFamily="18" charset="0"/>
                      </a:rPr>
                      <m:t>𝜋</m:t>
                    </m:r>
                    <m:d>
                      <m:dPr>
                        <m:ctrlPr>
                          <a:rPr kumimoji="1" lang="en-US" altLang="ja-JP" sz="2800" b="1" i="1">
                            <a:latin typeface="Cambria Math" panose="02040503050406030204" pitchFamily="18" charset="0"/>
                          </a:rPr>
                        </m:ctrlPr>
                      </m:dPr>
                      <m:e>
                        <m:r>
                          <a:rPr lang="en-US" altLang="ja-JP" b="1" i="1">
                            <a:latin typeface="Cambria Math" panose="02040503050406030204" pitchFamily="18" charset="0"/>
                          </a:rPr>
                          <m:t>𝑪</m:t>
                        </m:r>
                        <m:r>
                          <a:rPr kumimoji="1" lang="en-US" altLang="ja-JP" sz="2800" b="1" i="1">
                            <a:latin typeface="Cambria Math" panose="02040503050406030204" pitchFamily="18" charset="0"/>
                          </a:rPr>
                          <m:t>;</m:t>
                        </m:r>
                        <m:r>
                          <a:rPr kumimoji="1" lang="ja-JP" altLang="en-US" sz="2800" b="1" i="1">
                            <a:latin typeface="Cambria Math" panose="02040503050406030204" pitchFamily="18" charset="0"/>
                          </a:rPr>
                          <m:t>𝜸</m:t>
                        </m:r>
                      </m:e>
                    </m:d>
                  </m:oMath>
                </a14:m>
                <a:r>
                  <a:rPr lang="ja-JP" altLang="en-US" sz="2800">
                    <a:latin typeface="+mn-ea"/>
                    <a:cs typeface="Arial" panose="020B0604020202020204" pitchFamily="34" charset="0"/>
                  </a:rPr>
                  <a:t>に対して，次のようなモデルを考える</a:t>
                </a:r>
              </a:p>
              <a:p>
                <a:pPr marL="0" indent="0">
                  <a:buNone/>
                </a:pPr>
                <a:endParaRPr kumimoji="1" lang="ja-JP" altLang="en-US"/>
              </a:p>
            </p:txBody>
          </p:sp>
        </mc:Choice>
        <mc:Fallback>
          <p:sp>
            <p:nvSpPr>
              <p:cNvPr id="3" name="コンテンツ プレースホルダー 2">
                <a:extLst>
                  <a:ext uri="{FF2B5EF4-FFF2-40B4-BE49-F238E27FC236}">
                    <a16:creationId xmlns:a16="http://schemas.microsoft.com/office/drawing/2014/main" id="{BF7BEC4D-F0B8-D031-A512-F062F3ED1F8C}"/>
                  </a:ext>
                </a:extLst>
              </p:cNvPr>
              <p:cNvSpPr>
                <a:spLocks noGrp="1" noRot="1" noChangeAspect="1" noMove="1" noResize="1" noEditPoints="1" noAdjustHandles="1" noChangeArrowheads="1" noChangeShapeType="1" noTextEdit="1"/>
              </p:cNvSpPr>
              <p:nvPr>
                <p:ph idx="1"/>
              </p:nvPr>
            </p:nvSpPr>
            <p:spPr>
              <a:xfrm>
                <a:off x="838199" y="1533656"/>
                <a:ext cx="10515600" cy="963771"/>
              </a:xfrm>
              <a:blipFill>
                <a:blip r:embed="rId3"/>
                <a:stretch>
                  <a:fillRect l="-1206" t="-14286" r="-241" b="-7792"/>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5" name="テキスト ボックス 4">
                <a:extLst>
                  <a:ext uri="{FF2B5EF4-FFF2-40B4-BE49-F238E27FC236}">
                    <a16:creationId xmlns:a16="http://schemas.microsoft.com/office/drawing/2014/main" id="{DBAC283D-94B4-5666-B26E-7795B5E7DA3C}"/>
                  </a:ext>
                </a:extLst>
              </p:cNvPr>
              <p:cNvSpPr txBox="1"/>
              <p:nvPr/>
            </p:nvSpPr>
            <p:spPr>
              <a:xfrm>
                <a:off x="2869636" y="2351450"/>
                <a:ext cx="6106415" cy="556434"/>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kumimoji="1" lang="ja-JP" altLang="en-US" sz="2800" b="0" i="1" smtClean="0">
                          <a:latin typeface="Cambria Math" panose="02040503050406030204" pitchFamily="18" charset="0"/>
                        </a:rPr>
                        <m:t>𝜇</m:t>
                      </m:r>
                      <m:d>
                        <m:dPr>
                          <m:ctrlPr>
                            <a:rPr kumimoji="1" lang="en-US" altLang="ja-JP" sz="2800" b="1" i="1" smtClean="0">
                              <a:latin typeface="Cambria Math" panose="02040503050406030204" pitchFamily="18" charset="0"/>
                            </a:rPr>
                          </m:ctrlPr>
                        </m:dPr>
                        <m:e>
                          <m:r>
                            <a:rPr lang="en-US" altLang="ja-JP" sz="2800" b="1" i="1">
                              <a:latin typeface="Cambria Math" panose="02040503050406030204" pitchFamily="18" charset="0"/>
                            </a:rPr>
                            <m:t>𝑿</m:t>
                          </m:r>
                          <m:r>
                            <a:rPr kumimoji="1" lang="en-US" altLang="ja-JP" sz="2800" b="1" i="1" smtClean="0">
                              <a:latin typeface="Cambria Math" panose="02040503050406030204" pitchFamily="18" charset="0"/>
                            </a:rPr>
                            <m:t>,</m:t>
                          </m:r>
                          <m:r>
                            <a:rPr lang="en-US" altLang="ja-JP" sz="2800" b="1" i="1" smtClean="0">
                              <a:latin typeface="Cambria Math" panose="02040503050406030204" pitchFamily="18" charset="0"/>
                            </a:rPr>
                            <m:t>𝑪</m:t>
                          </m:r>
                          <m:r>
                            <a:rPr kumimoji="1" lang="en-US" altLang="ja-JP" sz="2800" b="1" i="1" smtClean="0">
                              <a:latin typeface="Cambria Math" panose="02040503050406030204" pitchFamily="18" charset="0"/>
                            </a:rPr>
                            <m:t>;</m:t>
                          </m:r>
                          <m:r>
                            <a:rPr kumimoji="1" lang="ja-JP" altLang="en-US" sz="2800" b="1" i="1" smtClean="0">
                              <a:latin typeface="Cambria Math" panose="02040503050406030204" pitchFamily="18" charset="0"/>
                            </a:rPr>
                            <m:t>𝜶</m:t>
                          </m:r>
                        </m:e>
                      </m:d>
                      <m:r>
                        <a:rPr kumimoji="1" lang="en-US" altLang="ja-JP" sz="2800" b="0" i="1" smtClean="0">
                          <a:latin typeface="Cambria Math" panose="02040503050406030204" pitchFamily="18" charset="0"/>
                        </a:rPr>
                        <m:t>=</m:t>
                      </m:r>
                      <m:r>
                        <a:rPr kumimoji="1" lang="ja-JP" altLang="en-US" sz="2800" b="0" i="1" smtClean="0">
                          <a:latin typeface="Cambria Math" panose="02040503050406030204" pitchFamily="18" charset="0"/>
                        </a:rPr>
                        <m:t>𝜓</m:t>
                      </m:r>
                      <m:d>
                        <m:dPr>
                          <m:ctrlPr>
                            <a:rPr kumimoji="1" lang="en-US" altLang="ja-JP" sz="2800" b="1" i="1" smtClean="0">
                              <a:latin typeface="Cambria Math" panose="02040503050406030204" pitchFamily="18" charset="0"/>
                            </a:rPr>
                          </m:ctrlPr>
                        </m:dPr>
                        <m:e>
                          <m:r>
                            <a:rPr lang="en-US" altLang="ja-JP" sz="2800" b="1" i="1" smtClean="0">
                              <a:latin typeface="Cambria Math" panose="02040503050406030204" pitchFamily="18" charset="0"/>
                            </a:rPr>
                            <m:t>𝑪</m:t>
                          </m:r>
                          <m:r>
                            <a:rPr kumimoji="1" lang="en-US" altLang="ja-JP" sz="2800" b="1" i="1" smtClean="0">
                              <a:latin typeface="Cambria Math" panose="02040503050406030204" pitchFamily="18" charset="0"/>
                            </a:rPr>
                            <m:t>;</m:t>
                          </m:r>
                          <m:r>
                            <a:rPr kumimoji="1" lang="ja-JP" altLang="en-US" sz="2800" b="1" i="1" smtClean="0">
                              <a:latin typeface="Cambria Math" panose="02040503050406030204" pitchFamily="18" charset="0"/>
                            </a:rPr>
                            <m:t>𝜶</m:t>
                          </m:r>
                        </m:e>
                      </m:d>
                      <m:r>
                        <a:rPr kumimoji="1" lang="en-US" altLang="ja-JP" sz="2800" b="0" i="1" smtClean="0">
                          <a:latin typeface="Cambria Math" panose="02040503050406030204" pitchFamily="18" charset="0"/>
                        </a:rPr>
                        <m:t>+</m:t>
                      </m:r>
                      <m:sSub>
                        <m:sSubPr>
                          <m:ctrlPr>
                            <a:rPr kumimoji="1" lang="en-US" altLang="ja-JP" sz="2800" b="0" i="1" smtClean="0">
                              <a:latin typeface="Cambria Math" panose="02040503050406030204" pitchFamily="18" charset="0"/>
                            </a:rPr>
                          </m:ctrlPr>
                        </m:sSubPr>
                        <m:e>
                          <m:r>
                            <a:rPr kumimoji="1" lang="ja-JP" altLang="en-US" sz="2800" b="0" i="1" smtClean="0">
                              <a:latin typeface="Cambria Math" panose="02040503050406030204" pitchFamily="18" charset="0"/>
                            </a:rPr>
                            <m:t>𝛼</m:t>
                          </m:r>
                        </m:e>
                        <m:sub>
                          <m:r>
                            <a:rPr kumimoji="1" lang="en-US" altLang="ja-JP" sz="2800" b="0" i="1" smtClean="0">
                              <a:latin typeface="Cambria Math" panose="02040503050406030204" pitchFamily="18" charset="0"/>
                            </a:rPr>
                            <m:t>𝑝</m:t>
                          </m:r>
                          <m:r>
                            <a:rPr kumimoji="1" lang="en-US" altLang="ja-JP" sz="2800" b="0" i="1" smtClean="0">
                              <a:latin typeface="Cambria Math" panose="02040503050406030204" pitchFamily="18" charset="0"/>
                            </a:rPr>
                            <m:t>+1</m:t>
                          </m:r>
                        </m:sub>
                      </m:sSub>
                      <m:r>
                        <a:rPr kumimoji="1" lang="en-US" altLang="ja-JP" sz="2800" b="0" i="1" smtClean="0">
                          <a:latin typeface="Cambria Math" panose="02040503050406030204" pitchFamily="18" charset="0"/>
                        </a:rPr>
                        <m:t>+</m:t>
                      </m:r>
                      <m:sSub>
                        <m:sSubPr>
                          <m:ctrlPr>
                            <a:rPr kumimoji="1" lang="en-US" altLang="ja-JP" sz="2800" b="0" i="1" smtClean="0">
                              <a:latin typeface="Cambria Math" panose="02040503050406030204" pitchFamily="18" charset="0"/>
                            </a:rPr>
                          </m:ctrlPr>
                        </m:sSubPr>
                        <m:e>
                          <m:r>
                            <a:rPr kumimoji="1" lang="ja-JP" altLang="en-US" sz="2800" b="0" i="1" smtClean="0">
                              <a:latin typeface="Cambria Math" panose="02040503050406030204" pitchFamily="18" charset="0"/>
                            </a:rPr>
                            <m:t>𝛼</m:t>
                          </m:r>
                        </m:e>
                        <m:sub>
                          <m:r>
                            <a:rPr kumimoji="1" lang="en-US" altLang="ja-JP" sz="2800" b="0" i="1" smtClean="0">
                              <a:latin typeface="Cambria Math" panose="02040503050406030204" pitchFamily="18" charset="0"/>
                            </a:rPr>
                            <m:t>𝑝</m:t>
                          </m:r>
                          <m:r>
                            <a:rPr kumimoji="1" lang="en-US" altLang="ja-JP" sz="2800" b="0" i="1" smtClean="0">
                              <a:latin typeface="Cambria Math" panose="02040503050406030204" pitchFamily="18" charset="0"/>
                            </a:rPr>
                            <m:t>+2</m:t>
                          </m:r>
                        </m:sub>
                      </m:sSub>
                      <m:r>
                        <a:rPr lang="en-US" altLang="ja-JP" sz="2800" b="1" i="1">
                          <a:latin typeface="Cambria Math" panose="02040503050406030204" pitchFamily="18" charset="0"/>
                        </a:rPr>
                        <m:t>𝑿</m:t>
                      </m:r>
                    </m:oMath>
                  </m:oMathPara>
                </a14:m>
                <a:endParaRPr kumimoji="1" lang="en-US" altLang="ja-JP" sz="2800" b="0" i="1" dirty="0">
                  <a:latin typeface="+mn-ea"/>
                  <a:cs typeface="Arial" panose="020B0604020202020204" pitchFamily="34" charset="0"/>
                </a:endParaRPr>
              </a:p>
            </p:txBody>
          </p:sp>
        </mc:Choice>
        <mc:Fallback>
          <p:sp>
            <p:nvSpPr>
              <p:cNvPr id="5" name="テキスト ボックス 4">
                <a:extLst>
                  <a:ext uri="{FF2B5EF4-FFF2-40B4-BE49-F238E27FC236}">
                    <a16:creationId xmlns:a16="http://schemas.microsoft.com/office/drawing/2014/main" id="{DBAC283D-94B4-5666-B26E-7795B5E7DA3C}"/>
                  </a:ext>
                </a:extLst>
              </p:cNvPr>
              <p:cNvSpPr txBox="1">
                <a:spLocks noRot="1" noChangeAspect="1" noMove="1" noResize="1" noEditPoints="1" noAdjustHandles="1" noChangeArrowheads="1" noChangeShapeType="1" noTextEdit="1"/>
              </p:cNvSpPr>
              <p:nvPr/>
            </p:nvSpPr>
            <p:spPr>
              <a:xfrm>
                <a:off x="2869636" y="2351450"/>
                <a:ext cx="6106415" cy="556434"/>
              </a:xfrm>
              <a:prstGeom prst="rect">
                <a:avLst/>
              </a:prstGeom>
              <a:blipFill>
                <a:blip r:embed="rId4"/>
                <a:stretch>
                  <a:fillRect b="-13636"/>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6" name="テキスト ボックス 5">
                <a:extLst>
                  <a:ext uri="{FF2B5EF4-FFF2-40B4-BE49-F238E27FC236}">
                    <a16:creationId xmlns:a16="http://schemas.microsoft.com/office/drawing/2014/main" id="{9E731625-7E8B-253E-45DA-AE3615A492CC}"/>
                  </a:ext>
                </a:extLst>
              </p:cNvPr>
              <p:cNvSpPr txBox="1"/>
              <p:nvPr/>
            </p:nvSpPr>
            <p:spPr>
              <a:xfrm>
                <a:off x="3060293" y="2890203"/>
                <a:ext cx="5596211" cy="1142108"/>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kumimoji="1" lang="ja-JP" altLang="en-US" sz="2800" b="0" i="1" smtClean="0">
                          <a:latin typeface="Cambria Math" panose="02040503050406030204" pitchFamily="18" charset="0"/>
                        </a:rPr>
                        <m:t>𝜋</m:t>
                      </m:r>
                      <m:d>
                        <m:dPr>
                          <m:ctrlPr>
                            <a:rPr kumimoji="1" lang="en-US" altLang="ja-JP" sz="2800" b="1" i="1">
                              <a:latin typeface="Cambria Math" panose="02040503050406030204" pitchFamily="18" charset="0"/>
                            </a:rPr>
                          </m:ctrlPr>
                        </m:dPr>
                        <m:e>
                          <m:r>
                            <a:rPr lang="en-US" altLang="ja-JP" sz="2800" b="1" i="1" smtClean="0">
                              <a:latin typeface="Cambria Math" panose="02040503050406030204" pitchFamily="18" charset="0"/>
                            </a:rPr>
                            <m:t>𝑪</m:t>
                          </m:r>
                          <m:r>
                            <a:rPr kumimoji="1" lang="en-US" altLang="ja-JP" sz="2800" b="1" i="1">
                              <a:latin typeface="Cambria Math" panose="02040503050406030204" pitchFamily="18" charset="0"/>
                            </a:rPr>
                            <m:t>;</m:t>
                          </m:r>
                          <m:r>
                            <a:rPr kumimoji="1" lang="ja-JP" altLang="en-US" sz="2800" b="1" i="1">
                              <a:latin typeface="Cambria Math" panose="02040503050406030204" pitchFamily="18" charset="0"/>
                            </a:rPr>
                            <m:t>𝜸</m:t>
                          </m:r>
                        </m:e>
                      </m:d>
                      <m:r>
                        <a:rPr kumimoji="1" lang="en-US" altLang="ja-JP" sz="2800" b="0" i="1" smtClean="0">
                          <a:latin typeface="Cambria Math" panose="02040503050406030204" pitchFamily="18" charset="0"/>
                        </a:rPr>
                        <m:t>=</m:t>
                      </m:r>
                      <m:f>
                        <m:fPr>
                          <m:ctrlPr>
                            <a:rPr kumimoji="1" lang="en-US" altLang="ja-JP" sz="2800" b="0" i="1" smtClean="0">
                              <a:latin typeface="Cambria Math" panose="02040503050406030204" pitchFamily="18" charset="0"/>
                            </a:rPr>
                          </m:ctrlPr>
                        </m:fPr>
                        <m:num>
                          <m:func>
                            <m:funcPr>
                              <m:ctrlPr>
                                <a:rPr kumimoji="1" lang="en-US" altLang="ja-JP" sz="2800" b="0" i="1" smtClean="0">
                                  <a:latin typeface="Cambria Math" panose="02040503050406030204" pitchFamily="18" charset="0"/>
                                </a:rPr>
                              </m:ctrlPr>
                            </m:funcPr>
                            <m:fName>
                              <m:r>
                                <m:rPr>
                                  <m:sty m:val="p"/>
                                </m:rPr>
                                <a:rPr kumimoji="1" lang="en-US" altLang="ja-JP" sz="2800" b="0" i="0" smtClean="0">
                                  <a:latin typeface="Cambria Math" panose="02040503050406030204" pitchFamily="18" charset="0"/>
                                </a:rPr>
                                <m:t>exp</m:t>
                              </m:r>
                            </m:fName>
                            <m:e>
                              <m:d>
                                <m:dPr>
                                  <m:begChr m:val="{"/>
                                  <m:endChr m:val="}"/>
                                  <m:ctrlPr>
                                    <a:rPr kumimoji="1" lang="en-US" altLang="ja-JP" sz="2800" b="0" i="1" smtClean="0">
                                      <a:latin typeface="Cambria Math" panose="02040503050406030204" pitchFamily="18" charset="0"/>
                                    </a:rPr>
                                  </m:ctrlPr>
                                </m:dPr>
                                <m:e>
                                  <m:r>
                                    <a:rPr kumimoji="1" lang="ja-JP" altLang="en-US" sz="2800" b="0" i="1" smtClean="0">
                                      <a:latin typeface="Cambria Math" panose="02040503050406030204" pitchFamily="18" charset="0"/>
                                    </a:rPr>
                                    <m:t>𝜑</m:t>
                                  </m:r>
                                  <m:d>
                                    <m:dPr>
                                      <m:ctrlPr>
                                        <a:rPr kumimoji="1" lang="en-US" altLang="ja-JP" sz="2800" b="1" i="1">
                                          <a:latin typeface="Cambria Math" panose="02040503050406030204" pitchFamily="18" charset="0"/>
                                        </a:rPr>
                                      </m:ctrlPr>
                                    </m:dPr>
                                    <m:e>
                                      <m:r>
                                        <a:rPr lang="en-US" altLang="ja-JP" sz="2800" b="1" i="1" smtClean="0">
                                          <a:latin typeface="Cambria Math" panose="02040503050406030204" pitchFamily="18" charset="0"/>
                                        </a:rPr>
                                        <m:t>𝑪</m:t>
                                      </m:r>
                                      <m:r>
                                        <a:rPr kumimoji="1" lang="en-US" altLang="ja-JP" sz="2800" b="1" i="1">
                                          <a:latin typeface="Cambria Math" panose="02040503050406030204" pitchFamily="18" charset="0"/>
                                        </a:rPr>
                                        <m:t>;</m:t>
                                      </m:r>
                                      <m:r>
                                        <a:rPr kumimoji="1" lang="ja-JP" altLang="en-US" sz="2800" b="1" i="1">
                                          <a:latin typeface="Cambria Math" panose="02040503050406030204" pitchFamily="18" charset="0"/>
                                        </a:rPr>
                                        <m:t>𝜸</m:t>
                                      </m:r>
                                    </m:e>
                                  </m:d>
                                  <m:r>
                                    <a:rPr kumimoji="1" lang="en-US" altLang="ja-JP" sz="2800" b="0" i="1" smtClean="0">
                                      <a:latin typeface="Cambria Math" panose="02040503050406030204" pitchFamily="18" charset="0"/>
                                    </a:rPr>
                                    <m:t>+</m:t>
                                  </m:r>
                                  <m:sSub>
                                    <m:sSubPr>
                                      <m:ctrlPr>
                                        <a:rPr kumimoji="1" lang="en-US" altLang="ja-JP" sz="2800" b="0" i="1" smtClean="0">
                                          <a:latin typeface="Cambria Math" panose="02040503050406030204" pitchFamily="18" charset="0"/>
                                        </a:rPr>
                                      </m:ctrlPr>
                                    </m:sSubPr>
                                    <m:e>
                                      <m:r>
                                        <a:rPr kumimoji="1" lang="ja-JP" altLang="en-US" sz="2800" b="0" i="1" smtClean="0">
                                          <a:latin typeface="Cambria Math" panose="02040503050406030204" pitchFamily="18" charset="0"/>
                                        </a:rPr>
                                        <m:t>𝛾</m:t>
                                      </m:r>
                                    </m:e>
                                    <m:sub>
                                      <m:r>
                                        <a:rPr kumimoji="1" lang="en-US" altLang="ja-JP" sz="2800" b="0" i="1" smtClean="0">
                                          <a:latin typeface="Cambria Math" panose="02040503050406030204" pitchFamily="18" charset="0"/>
                                        </a:rPr>
                                        <m:t>𝑝</m:t>
                                      </m:r>
                                      <m:r>
                                        <a:rPr kumimoji="1" lang="en-US" altLang="ja-JP" sz="2800" b="0" i="1" smtClean="0">
                                          <a:latin typeface="Cambria Math" panose="02040503050406030204" pitchFamily="18" charset="0"/>
                                        </a:rPr>
                                        <m:t>+1</m:t>
                                      </m:r>
                                    </m:sub>
                                  </m:sSub>
                                </m:e>
                              </m:d>
                            </m:e>
                          </m:func>
                        </m:num>
                        <m:den>
                          <m:r>
                            <a:rPr kumimoji="1" lang="en-US" altLang="ja-JP" sz="2800" b="0" i="1" smtClean="0">
                              <a:latin typeface="Cambria Math" panose="02040503050406030204" pitchFamily="18" charset="0"/>
                            </a:rPr>
                            <m:t>1+</m:t>
                          </m:r>
                          <m:func>
                            <m:funcPr>
                              <m:ctrlPr>
                                <a:rPr kumimoji="1" lang="en-US" altLang="ja-JP" sz="2800" i="1">
                                  <a:latin typeface="Cambria Math" panose="02040503050406030204" pitchFamily="18" charset="0"/>
                                </a:rPr>
                              </m:ctrlPr>
                            </m:funcPr>
                            <m:fName>
                              <m:r>
                                <m:rPr>
                                  <m:sty m:val="p"/>
                                </m:rPr>
                                <a:rPr kumimoji="1" lang="en-US" altLang="ja-JP" sz="2800">
                                  <a:latin typeface="Cambria Math" panose="02040503050406030204" pitchFamily="18" charset="0"/>
                                </a:rPr>
                                <m:t>exp</m:t>
                              </m:r>
                            </m:fName>
                            <m:e>
                              <m:d>
                                <m:dPr>
                                  <m:begChr m:val="{"/>
                                  <m:endChr m:val="}"/>
                                  <m:ctrlPr>
                                    <a:rPr kumimoji="1" lang="en-US" altLang="ja-JP" sz="2800" i="1">
                                      <a:latin typeface="Cambria Math" panose="02040503050406030204" pitchFamily="18" charset="0"/>
                                    </a:rPr>
                                  </m:ctrlPr>
                                </m:dPr>
                                <m:e>
                                  <m:r>
                                    <a:rPr kumimoji="1" lang="ja-JP" altLang="en-US" sz="2800" i="1">
                                      <a:latin typeface="Cambria Math" panose="02040503050406030204" pitchFamily="18" charset="0"/>
                                    </a:rPr>
                                    <m:t>𝜑</m:t>
                                  </m:r>
                                  <m:d>
                                    <m:dPr>
                                      <m:ctrlPr>
                                        <a:rPr kumimoji="1" lang="en-US" altLang="ja-JP" sz="2800" b="1" i="1">
                                          <a:latin typeface="Cambria Math" panose="02040503050406030204" pitchFamily="18" charset="0"/>
                                        </a:rPr>
                                      </m:ctrlPr>
                                    </m:dPr>
                                    <m:e>
                                      <m:r>
                                        <a:rPr lang="en-US" altLang="ja-JP" sz="2800" b="1" i="1" smtClean="0">
                                          <a:latin typeface="Cambria Math" panose="02040503050406030204" pitchFamily="18" charset="0"/>
                                        </a:rPr>
                                        <m:t>𝑪</m:t>
                                      </m:r>
                                      <m:r>
                                        <a:rPr kumimoji="1" lang="en-US" altLang="ja-JP" sz="2800" b="1" i="1">
                                          <a:latin typeface="Cambria Math" panose="02040503050406030204" pitchFamily="18" charset="0"/>
                                        </a:rPr>
                                        <m:t>;</m:t>
                                      </m:r>
                                      <m:r>
                                        <a:rPr kumimoji="1" lang="ja-JP" altLang="en-US" sz="2800" b="1" i="1">
                                          <a:latin typeface="Cambria Math" panose="02040503050406030204" pitchFamily="18" charset="0"/>
                                        </a:rPr>
                                        <m:t>𝜸</m:t>
                                      </m:r>
                                    </m:e>
                                  </m:d>
                                  <m:r>
                                    <a:rPr kumimoji="1" lang="en-US" altLang="ja-JP" sz="2800" i="1">
                                      <a:latin typeface="Cambria Math" panose="02040503050406030204" pitchFamily="18" charset="0"/>
                                    </a:rPr>
                                    <m:t>+</m:t>
                                  </m:r>
                                  <m:sSub>
                                    <m:sSubPr>
                                      <m:ctrlPr>
                                        <a:rPr kumimoji="1" lang="en-US" altLang="ja-JP" sz="2800" i="1">
                                          <a:latin typeface="Cambria Math" panose="02040503050406030204" pitchFamily="18" charset="0"/>
                                        </a:rPr>
                                      </m:ctrlPr>
                                    </m:sSubPr>
                                    <m:e>
                                      <m:r>
                                        <a:rPr kumimoji="1" lang="ja-JP" altLang="en-US" sz="2800" i="1">
                                          <a:latin typeface="Cambria Math" panose="02040503050406030204" pitchFamily="18" charset="0"/>
                                        </a:rPr>
                                        <m:t>𝛾</m:t>
                                      </m:r>
                                    </m:e>
                                    <m:sub>
                                      <m:r>
                                        <a:rPr kumimoji="1" lang="en-US" altLang="ja-JP" sz="2800" i="1">
                                          <a:latin typeface="Cambria Math" panose="02040503050406030204" pitchFamily="18" charset="0"/>
                                        </a:rPr>
                                        <m:t>𝑝</m:t>
                                      </m:r>
                                      <m:r>
                                        <a:rPr kumimoji="1" lang="en-US" altLang="ja-JP" sz="2800" i="1">
                                          <a:latin typeface="Cambria Math" panose="02040503050406030204" pitchFamily="18" charset="0"/>
                                        </a:rPr>
                                        <m:t>+1</m:t>
                                      </m:r>
                                    </m:sub>
                                  </m:sSub>
                                </m:e>
                              </m:d>
                            </m:e>
                          </m:func>
                        </m:den>
                      </m:f>
                    </m:oMath>
                  </m:oMathPara>
                </a14:m>
                <a:endParaRPr kumimoji="1" lang="en-US" altLang="ja-JP" sz="2800" b="0" i="1" dirty="0">
                  <a:latin typeface="+mn-ea"/>
                  <a:cs typeface="Arial" panose="020B0604020202020204" pitchFamily="34" charset="0"/>
                </a:endParaRPr>
              </a:p>
            </p:txBody>
          </p:sp>
        </mc:Choice>
        <mc:Fallback>
          <p:sp>
            <p:nvSpPr>
              <p:cNvPr id="6" name="テキスト ボックス 5">
                <a:extLst>
                  <a:ext uri="{FF2B5EF4-FFF2-40B4-BE49-F238E27FC236}">
                    <a16:creationId xmlns:a16="http://schemas.microsoft.com/office/drawing/2014/main" id="{9E731625-7E8B-253E-45DA-AE3615A492CC}"/>
                  </a:ext>
                </a:extLst>
              </p:cNvPr>
              <p:cNvSpPr txBox="1">
                <a:spLocks noRot="1" noChangeAspect="1" noMove="1" noResize="1" noEditPoints="1" noAdjustHandles="1" noChangeArrowheads="1" noChangeShapeType="1" noTextEdit="1"/>
              </p:cNvSpPr>
              <p:nvPr/>
            </p:nvSpPr>
            <p:spPr>
              <a:xfrm>
                <a:off x="3060293" y="2890203"/>
                <a:ext cx="5596211" cy="1142108"/>
              </a:xfrm>
              <a:prstGeom prst="rect">
                <a:avLst/>
              </a:prstGeom>
              <a:blipFill>
                <a:blip r:embed="rId5"/>
                <a:stretch>
                  <a:fillRect b="-3297"/>
                </a:stretch>
              </a:blipFill>
            </p:spPr>
            <p:txBody>
              <a:bodyPr/>
              <a:lstStyle/>
              <a:p>
                <a:r>
                  <a:rPr lang="ja-JP" altLang="en-US">
                    <a:noFill/>
                  </a:rPr>
                  <a:t> </a:t>
                </a:r>
              </a:p>
            </p:txBody>
          </p:sp>
        </mc:Fallback>
      </mc:AlternateContent>
      <p:sp>
        <p:nvSpPr>
          <p:cNvPr id="8" name="テキスト ボックス 7">
            <a:extLst>
              <a:ext uri="{FF2B5EF4-FFF2-40B4-BE49-F238E27FC236}">
                <a16:creationId xmlns:a16="http://schemas.microsoft.com/office/drawing/2014/main" id="{59EB468F-6816-0462-F11C-CA39BAF60DCD}"/>
              </a:ext>
            </a:extLst>
          </p:cNvPr>
          <p:cNvSpPr txBox="1"/>
          <p:nvPr/>
        </p:nvSpPr>
        <p:spPr>
          <a:xfrm>
            <a:off x="5208608" y="6094740"/>
            <a:ext cx="3044868" cy="523220"/>
          </a:xfrm>
          <a:prstGeom prst="rect">
            <a:avLst/>
          </a:prstGeom>
          <a:noFill/>
          <a:ln w="28575">
            <a:noFill/>
          </a:ln>
        </p:spPr>
        <p:txBody>
          <a:bodyPr wrap="square" rtlCol="0">
            <a:spAutoFit/>
          </a:bodyPr>
          <a:lstStyle/>
          <a:p>
            <a:r>
              <a:rPr kumimoji="1" lang="ja-JP" altLang="en-US" sz="2800" u="sng">
                <a:uFill>
                  <a:solidFill>
                    <a:schemeClr val="accent5">
                      <a:lumMod val="75000"/>
                    </a:schemeClr>
                  </a:solidFill>
                </a:uFill>
                <a:latin typeface="+mn-ea"/>
                <a:cs typeface="Arial" panose="020B0604020202020204" pitchFamily="34" charset="0"/>
              </a:rPr>
              <a:t>共通の項を用いる</a:t>
            </a:r>
          </a:p>
        </p:txBody>
      </p:sp>
      <mc:AlternateContent xmlns:mc="http://schemas.openxmlformats.org/markup-compatibility/2006">
        <mc:Choice xmlns:a14="http://schemas.microsoft.com/office/drawing/2010/main" Requires="a14">
          <p:sp>
            <p:nvSpPr>
              <p:cNvPr id="13" name="コンテンツ プレースホルダー 2">
                <a:extLst>
                  <a:ext uri="{FF2B5EF4-FFF2-40B4-BE49-F238E27FC236}">
                    <a16:creationId xmlns:a16="http://schemas.microsoft.com/office/drawing/2014/main" id="{00B3AD3C-0CE4-2A4A-C739-F546923DE8FF}"/>
                  </a:ext>
                </a:extLst>
              </p:cNvPr>
              <p:cNvSpPr txBox="1">
                <a:spLocks/>
              </p:cNvSpPr>
              <p:nvPr/>
            </p:nvSpPr>
            <p:spPr>
              <a:xfrm>
                <a:off x="730847" y="4850309"/>
                <a:ext cx="10622952" cy="94876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lnSpc>
                    <a:spcPct val="100000"/>
                  </a:lnSpc>
                  <a:buNone/>
                </a:pPr>
                <a14:m>
                  <m:oMathPara xmlns:m="http://schemas.openxmlformats.org/officeDocument/2006/math">
                    <m:oMathParaPr>
                      <m:jc m:val="centerGroup"/>
                    </m:oMathParaPr>
                    <m:oMath xmlns:m="http://schemas.openxmlformats.org/officeDocument/2006/math">
                      <m:r>
                        <a:rPr lang="ja-JP" altLang="en-US" sz="2400" i="1" smtClean="0">
                          <a:latin typeface="Cambria Math" panose="02040503050406030204" pitchFamily="18" charset="0"/>
                        </a:rPr>
                        <m:t>𝜓</m:t>
                      </m:r>
                      <m:d>
                        <m:dPr>
                          <m:ctrlPr>
                            <a:rPr lang="en-US" altLang="ja-JP" sz="2400" b="1" i="1">
                              <a:latin typeface="Cambria Math" panose="02040503050406030204" pitchFamily="18" charset="0"/>
                            </a:rPr>
                          </m:ctrlPr>
                        </m:dPr>
                        <m:e>
                          <m:r>
                            <a:rPr lang="en-US" altLang="ja-JP" sz="2400" b="1" i="1">
                              <a:latin typeface="Cambria Math" panose="02040503050406030204" pitchFamily="18" charset="0"/>
                            </a:rPr>
                            <m:t>𝑪</m:t>
                          </m:r>
                          <m:r>
                            <a:rPr lang="en-US" altLang="ja-JP" sz="2400" b="1" i="1">
                              <a:latin typeface="Cambria Math" panose="02040503050406030204" pitchFamily="18" charset="0"/>
                            </a:rPr>
                            <m:t>;</m:t>
                          </m:r>
                          <m:r>
                            <a:rPr lang="ja-JP" altLang="en-US" sz="2400" b="1" i="1">
                              <a:latin typeface="Cambria Math" panose="02040503050406030204" pitchFamily="18" charset="0"/>
                            </a:rPr>
                            <m:t>𝜶</m:t>
                          </m:r>
                        </m:e>
                      </m:d>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𝑝</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𝑝</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𝑝</m:t>
                          </m:r>
                          <m:r>
                            <a:rPr lang="en-US" altLang="ja-JP" sz="2400" i="1">
                              <a:latin typeface="Cambria Math" panose="02040503050406030204" pitchFamily="18" charset="0"/>
                              <a:ea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𝑝</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𝑝</m:t>
                          </m:r>
                        </m:sub>
                        <m:sup>
                          <m:r>
                            <a:rPr lang="en-US" altLang="ja-JP" sz="2400" i="1">
                              <a:latin typeface="Cambria Math" panose="02040503050406030204" pitchFamily="18" charset="0"/>
                              <a:ea typeface="Cambria Math" panose="02040503050406030204" pitchFamily="18" charset="0"/>
                            </a:rPr>
                            <m:t>2</m:t>
                          </m:r>
                        </m:sup>
                      </m:sSubSup>
                    </m:oMath>
                  </m:oMathPara>
                </a14:m>
                <a:endParaRPr lang="en-US" altLang="ja-JP" sz="2400" dirty="0"/>
              </a:p>
              <a:p>
                <a:pPr marL="0" indent="0">
                  <a:lnSpc>
                    <a:spcPct val="100000"/>
                  </a:lnSpc>
                  <a:buNone/>
                </a:pPr>
                <a14:m>
                  <m:oMathPara xmlns:m="http://schemas.openxmlformats.org/officeDocument/2006/math">
                    <m:oMathParaPr>
                      <m:jc m:val="centerGroup"/>
                    </m:oMathParaPr>
                    <m:oMath xmlns:m="http://schemas.openxmlformats.org/officeDocument/2006/math">
                      <m:r>
                        <a:rPr lang="ja-JP" altLang="en-US" sz="2400" i="1">
                          <a:latin typeface="Cambria Math" panose="02040503050406030204" pitchFamily="18" charset="0"/>
                        </a:rPr>
                        <m:t>𝜑</m:t>
                      </m:r>
                      <m:d>
                        <m:dPr>
                          <m:ctrlPr>
                            <a:rPr lang="en-US" altLang="ja-JP" sz="2400" b="1" i="1">
                              <a:latin typeface="Cambria Math" panose="02040503050406030204" pitchFamily="18" charset="0"/>
                            </a:rPr>
                          </m:ctrlPr>
                        </m:dPr>
                        <m:e>
                          <m:r>
                            <a:rPr lang="en-US" altLang="ja-JP" sz="2400" b="1" i="1">
                              <a:latin typeface="Cambria Math" panose="02040503050406030204" pitchFamily="18" charset="0"/>
                            </a:rPr>
                            <m:t>𝑪</m:t>
                          </m:r>
                          <m:r>
                            <a:rPr lang="en-US" altLang="ja-JP" sz="2400" b="1" i="1">
                              <a:latin typeface="Cambria Math" panose="02040503050406030204" pitchFamily="18" charset="0"/>
                            </a:rPr>
                            <m:t>;</m:t>
                          </m:r>
                          <m:r>
                            <a:rPr lang="ja-JP" altLang="en-US" sz="2400" b="1" i="1">
                              <a:latin typeface="Cambria Math" panose="02040503050406030204" pitchFamily="18" charset="0"/>
                            </a:rPr>
                            <m:t>𝜸</m:t>
                          </m:r>
                        </m:e>
                      </m:d>
                      <m:r>
                        <a:rPr lang="en-US" altLang="ja-JP" sz="2400" b="1" i="1">
                          <a:latin typeface="Cambria Math" panose="02040503050406030204" pitchFamily="18" charset="0"/>
                        </a:rPr>
                        <m:t>=</m:t>
                      </m:r>
                      <m:r>
                        <a:rPr lang="en-US" altLang="ja-JP" sz="2400" b="1" i="1" smtClean="0">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r>
                        <a:rPr lang="en-US" altLang="ja-JP" sz="2400" b="0" i="1" smtClean="0">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𝑝</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𝑝</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ea typeface="Cambria Math" panose="02040503050406030204" pitchFamily="18" charset="0"/>
                        </a:rPr>
                        <m:t> </m:t>
                      </m:r>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𝑝</m:t>
                          </m:r>
                          <m:r>
                            <a:rPr lang="en-US" altLang="ja-JP" sz="2400" i="1">
                              <a:latin typeface="Cambria Math" panose="02040503050406030204" pitchFamily="18" charset="0"/>
                              <a:ea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𝑝</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𝑝</m:t>
                          </m:r>
                        </m:sub>
                        <m:sup>
                          <m:r>
                            <a:rPr lang="en-US" altLang="ja-JP" sz="2400" i="1">
                              <a:latin typeface="Cambria Math" panose="02040503050406030204" pitchFamily="18" charset="0"/>
                              <a:ea typeface="Cambria Math" panose="02040503050406030204" pitchFamily="18" charset="0"/>
                            </a:rPr>
                            <m:t>2</m:t>
                          </m:r>
                        </m:sup>
                      </m:sSubSup>
                    </m:oMath>
                  </m:oMathPara>
                </a14:m>
                <a:endParaRPr lang="en-US" altLang="ja-JP" sz="2400" dirty="0"/>
              </a:p>
            </p:txBody>
          </p:sp>
        </mc:Choice>
        <mc:Fallback>
          <p:sp>
            <p:nvSpPr>
              <p:cNvPr id="13" name="コンテンツ プレースホルダー 2">
                <a:extLst>
                  <a:ext uri="{FF2B5EF4-FFF2-40B4-BE49-F238E27FC236}">
                    <a16:creationId xmlns:a16="http://schemas.microsoft.com/office/drawing/2014/main" id="{00B3AD3C-0CE4-2A4A-C739-F546923DE8FF}"/>
                  </a:ext>
                </a:extLst>
              </p:cNvPr>
              <p:cNvSpPr txBox="1">
                <a:spLocks noRot="1" noChangeAspect="1" noMove="1" noResize="1" noEditPoints="1" noAdjustHandles="1" noChangeArrowheads="1" noChangeShapeType="1" noTextEdit="1"/>
              </p:cNvSpPr>
              <p:nvPr/>
            </p:nvSpPr>
            <p:spPr>
              <a:xfrm>
                <a:off x="730847" y="4850309"/>
                <a:ext cx="10622952" cy="948765"/>
              </a:xfrm>
              <a:prstGeom prst="rect">
                <a:avLst/>
              </a:prstGeom>
              <a:blipFill>
                <a:blip r:embed="rId6"/>
                <a:stretch>
                  <a:fillRect b="-2667"/>
                </a:stretch>
              </a:blipFill>
            </p:spPr>
            <p:txBody>
              <a:bodyPr/>
              <a:lstStyle/>
              <a:p>
                <a:r>
                  <a:rPr lang="ja-JP" altLang="en-US">
                    <a:noFill/>
                  </a:rPr>
                  <a:t> </a:t>
                </a:r>
              </a:p>
            </p:txBody>
          </p:sp>
        </mc:Fallback>
      </mc:AlternateContent>
      <p:sp>
        <p:nvSpPr>
          <p:cNvPr id="14" name="右中かっこ 13">
            <a:extLst>
              <a:ext uri="{FF2B5EF4-FFF2-40B4-BE49-F238E27FC236}">
                <a16:creationId xmlns:a16="http://schemas.microsoft.com/office/drawing/2014/main" id="{C4BFA080-8C46-16A3-053D-B6363A95D7F2}"/>
              </a:ext>
            </a:extLst>
          </p:cNvPr>
          <p:cNvSpPr/>
          <p:nvPr/>
        </p:nvSpPr>
        <p:spPr>
          <a:xfrm rot="16200000">
            <a:off x="6586099" y="719068"/>
            <a:ext cx="365127" cy="8113986"/>
          </a:xfrm>
          <a:prstGeom prst="rightBrace">
            <a:avLst>
              <a:gd name="adj1" fmla="val 8333"/>
              <a:gd name="adj2" fmla="val 50538"/>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mc:AlternateContent xmlns:mc="http://schemas.openxmlformats.org/markup-compatibility/2006" xmlns:a14="http://schemas.microsoft.com/office/drawing/2010/main">
        <mc:Choice Requires="a14">
          <p:sp>
            <p:nvSpPr>
              <p:cNvPr id="15" name="テキスト ボックス 14">
                <a:extLst>
                  <a:ext uri="{FF2B5EF4-FFF2-40B4-BE49-F238E27FC236}">
                    <a16:creationId xmlns:a16="http://schemas.microsoft.com/office/drawing/2014/main" id="{F1E0A2C1-11D3-35D2-85D5-285C74055D3E}"/>
                  </a:ext>
                </a:extLst>
              </p:cNvPr>
              <p:cNvSpPr txBox="1"/>
              <p:nvPr/>
            </p:nvSpPr>
            <p:spPr>
              <a:xfrm>
                <a:off x="5123111" y="4102610"/>
                <a:ext cx="2274982" cy="523220"/>
              </a:xfrm>
              <a:prstGeom prst="rect">
                <a:avLst/>
              </a:prstGeom>
              <a:noFill/>
            </p:spPr>
            <p:txBody>
              <a:bodyPr wrap="none" rtlCol="0">
                <a:spAutoFit/>
              </a:bodyPr>
              <a:lstStyle/>
              <a:p>
                <a14:m>
                  <m:oMath xmlns:m="http://schemas.openxmlformats.org/officeDocument/2006/math">
                    <m:f>
                      <m:fPr>
                        <m:type m:val="lin"/>
                        <m:ctrlPr>
                          <a:rPr lang="ja-JP" altLang="en-US" sz="2800" i="1" smtClean="0">
                            <a:solidFill>
                              <a:schemeClr val="tx1"/>
                            </a:solidFill>
                            <a:latin typeface="Cambria Math" panose="02040503050406030204" pitchFamily="18" charset="0"/>
                            <a:ea typeface="+mn-ea"/>
                          </a:rPr>
                        </m:ctrlPr>
                      </m:fPr>
                      <m:num>
                        <m:r>
                          <a:rPr lang="en-US" altLang="ja-JP" sz="2800" b="0" i="1" smtClean="0">
                            <a:solidFill>
                              <a:schemeClr val="tx1"/>
                            </a:solidFill>
                            <a:latin typeface="Cambria Math" panose="02040503050406030204" pitchFamily="18" charset="0"/>
                            <a:ea typeface="+mn-ea"/>
                          </a:rPr>
                          <m:t>𝑝</m:t>
                        </m:r>
                        <m:r>
                          <a:rPr lang="en-US" altLang="ja-JP" sz="2800" b="0" i="1" smtClean="0">
                            <a:solidFill>
                              <a:schemeClr val="tx1"/>
                            </a:solidFill>
                            <a:latin typeface="Cambria Math" panose="02040503050406030204" pitchFamily="18" charset="0"/>
                            <a:ea typeface="+mn-ea"/>
                          </a:rPr>
                          <m:t>(</m:t>
                        </m:r>
                        <m:r>
                          <a:rPr lang="en-US" altLang="ja-JP" sz="2800" b="0" i="1" smtClean="0">
                            <a:solidFill>
                              <a:schemeClr val="tx1"/>
                            </a:solidFill>
                            <a:latin typeface="Cambria Math" panose="02040503050406030204" pitchFamily="18" charset="0"/>
                            <a:ea typeface="+mn-ea"/>
                          </a:rPr>
                          <m:t>𝑝</m:t>
                        </m:r>
                        <m:r>
                          <a:rPr lang="en-US" altLang="ja-JP" sz="2800" b="0" i="1" smtClean="0">
                            <a:solidFill>
                              <a:schemeClr val="tx1"/>
                            </a:solidFill>
                            <a:latin typeface="Cambria Math" panose="02040503050406030204" pitchFamily="18" charset="0"/>
                            <a:ea typeface="+mn-ea"/>
                          </a:rPr>
                          <m:t>+3)</m:t>
                        </m:r>
                      </m:num>
                      <m:den>
                        <m:r>
                          <a:rPr lang="en-US" altLang="ja-JP" sz="2800" b="0" i="1" smtClean="0">
                            <a:solidFill>
                              <a:schemeClr val="tx1"/>
                            </a:solidFill>
                            <a:latin typeface="Cambria Math" panose="02040503050406030204" pitchFamily="18" charset="0"/>
                            <a:ea typeface="+mn-ea"/>
                          </a:rPr>
                          <m:t>2</m:t>
                        </m:r>
                      </m:den>
                    </m:f>
                  </m:oMath>
                </a14:m>
                <a:r>
                  <a:rPr lang="ja-JP" altLang="en-US" sz="2800">
                    <a:solidFill>
                      <a:schemeClr val="tx1"/>
                    </a:solidFill>
                    <a:latin typeface="+mn-ea"/>
                    <a:cs typeface="Arial" panose="020B0604020202020204" pitchFamily="34" charset="0"/>
                  </a:rPr>
                  <a:t>個</a:t>
                </a:r>
                <a:endParaRPr kumimoji="1" lang="ja-JP" altLang="en-US" sz="2800"/>
              </a:p>
            </p:txBody>
          </p:sp>
        </mc:Choice>
        <mc:Fallback xmlns="">
          <p:sp>
            <p:nvSpPr>
              <p:cNvPr id="15" name="テキスト ボックス 14">
                <a:extLst>
                  <a:ext uri="{FF2B5EF4-FFF2-40B4-BE49-F238E27FC236}">
                    <a16:creationId xmlns:a16="http://schemas.microsoft.com/office/drawing/2014/main" id="{F1E0A2C1-11D3-35D2-85D5-285C74055D3E}"/>
                  </a:ext>
                </a:extLst>
              </p:cNvPr>
              <p:cNvSpPr txBox="1">
                <a:spLocks noRot="1" noChangeAspect="1" noMove="1" noResize="1" noEditPoints="1" noAdjustHandles="1" noChangeArrowheads="1" noChangeShapeType="1" noTextEdit="1"/>
              </p:cNvSpPr>
              <p:nvPr/>
            </p:nvSpPr>
            <p:spPr>
              <a:xfrm>
                <a:off x="5123111" y="4102610"/>
                <a:ext cx="2274982" cy="523220"/>
              </a:xfrm>
              <a:prstGeom prst="rect">
                <a:avLst/>
              </a:prstGeom>
              <a:blipFill>
                <a:blip r:embed="rId7"/>
                <a:stretch>
                  <a:fillRect l="-1667" t="-128571" r="-4444" b="-190476"/>
                </a:stretch>
              </a:blipFill>
            </p:spPr>
            <p:txBody>
              <a:bodyPr/>
              <a:lstStyle/>
              <a:p>
                <a:r>
                  <a:rPr lang="ja-JP" altLang="en-US">
                    <a:noFill/>
                  </a:rPr>
                  <a:t> </a:t>
                </a:r>
              </a:p>
            </p:txBody>
          </p:sp>
        </mc:Fallback>
      </mc:AlternateContent>
      <p:sp>
        <p:nvSpPr>
          <p:cNvPr id="16" name="正方形/長方形 15">
            <a:extLst>
              <a:ext uri="{FF2B5EF4-FFF2-40B4-BE49-F238E27FC236}">
                <a16:creationId xmlns:a16="http://schemas.microsoft.com/office/drawing/2014/main" id="{36727965-73B7-1689-601B-38AB0054B893}"/>
              </a:ext>
            </a:extLst>
          </p:cNvPr>
          <p:cNvSpPr/>
          <p:nvPr/>
        </p:nvSpPr>
        <p:spPr>
          <a:xfrm>
            <a:off x="4126155" y="4832527"/>
            <a:ext cx="414338" cy="948765"/>
          </a:xfrm>
          <a:prstGeom prst="rect">
            <a:avLst/>
          </a:prstGeom>
          <a:noFill/>
          <a:ln w="285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正方形/長方形 16">
            <a:extLst>
              <a:ext uri="{FF2B5EF4-FFF2-40B4-BE49-F238E27FC236}">
                <a16:creationId xmlns:a16="http://schemas.microsoft.com/office/drawing/2014/main" id="{9C6BD0B4-872C-5DB0-D2E9-42229382BA97}"/>
              </a:ext>
            </a:extLst>
          </p:cNvPr>
          <p:cNvSpPr/>
          <p:nvPr/>
        </p:nvSpPr>
        <p:spPr>
          <a:xfrm>
            <a:off x="3088312" y="4859199"/>
            <a:ext cx="414338" cy="948765"/>
          </a:xfrm>
          <a:prstGeom prst="rect">
            <a:avLst/>
          </a:prstGeom>
          <a:noFill/>
          <a:ln w="285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正方形/長方形 17">
            <a:extLst>
              <a:ext uri="{FF2B5EF4-FFF2-40B4-BE49-F238E27FC236}">
                <a16:creationId xmlns:a16="http://schemas.microsoft.com/office/drawing/2014/main" id="{97F8366E-5464-7F1C-F194-125B262B600A}"/>
              </a:ext>
            </a:extLst>
          </p:cNvPr>
          <p:cNvSpPr/>
          <p:nvPr/>
        </p:nvSpPr>
        <p:spPr>
          <a:xfrm>
            <a:off x="8078598" y="4832526"/>
            <a:ext cx="802643" cy="948765"/>
          </a:xfrm>
          <a:prstGeom prst="rect">
            <a:avLst/>
          </a:prstGeom>
          <a:noFill/>
          <a:ln w="285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正方形/長方形 18">
            <a:extLst>
              <a:ext uri="{FF2B5EF4-FFF2-40B4-BE49-F238E27FC236}">
                <a16:creationId xmlns:a16="http://schemas.microsoft.com/office/drawing/2014/main" id="{E7DFC25B-CBED-D205-6B1F-80CDA751722B}"/>
              </a:ext>
            </a:extLst>
          </p:cNvPr>
          <p:cNvSpPr/>
          <p:nvPr/>
        </p:nvSpPr>
        <p:spPr>
          <a:xfrm>
            <a:off x="10260875" y="4879046"/>
            <a:ext cx="471490" cy="948765"/>
          </a:xfrm>
          <a:prstGeom prst="rect">
            <a:avLst/>
          </a:prstGeom>
          <a:noFill/>
          <a:ln w="285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正方形/長方形 19">
            <a:extLst>
              <a:ext uri="{FF2B5EF4-FFF2-40B4-BE49-F238E27FC236}">
                <a16:creationId xmlns:a16="http://schemas.microsoft.com/office/drawing/2014/main" id="{99071E3B-AADD-93D7-3235-6C9EC47D6D8D}"/>
              </a:ext>
            </a:extLst>
          </p:cNvPr>
          <p:cNvSpPr/>
          <p:nvPr/>
        </p:nvSpPr>
        <p:spPr>
          <a:xfrm>
            <a:off x="6937064" y="4868089"/>
            <a:ext cx="471490" cy="948765"/>
          </a:xfrm>
          <a:prstGeom prst="rect">
            <a:avLst/>
          </a:prstGeom>
          <a:noFill/>
          <a:ln w="285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正方形/長方形 20">
            <a:extLst>
              <a:ext uri="{FF2B5EF4-FFF2-40B4-BE49-F238E27FC236}">
                <a16:creationId xmlns:a16="http://schemas.microsoft.com/office/drawing/2014/main" id="{7513CDB3-F1A9-98CE-0542-F6759581A916}"/>
              </a:ext>
            </a:extLst>
          </p:cNvPr>
          <p:cNvSpPr/>
          <p:nvPr/>
        </p:nvSpPr>
        <p:spPr>
          <a:xfrm>
            <a:off x="5744586" y="4884709"/>
            <a:ext cx="414338" cy="948765"/>
          </a:xfrm>
          <a:prstGeom prst="rect">
            <a:avLst/>
          </a:prstGeom>
          <a:noFill/>
          <a:ln w="28575">
            <a:solidFill>
              <a:schemeClr val="accent5">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スライド番号プレースホルダー 3">
            <a:extLst>
              <a:ext uri="{FF2B5EF4-FFF2-40B4-BE49-F238E27FC236}">
                <a16:creationId xmlns:a16="http://schemas.microsoft.com/office/drawing/2014/main" id="{A77037DA-4838-25D7-EC1C-FEEF54C90934}"/>
              </a:ext>
            </a:extLst>
          </p:cNvPr>
          <p:cNvSpPr>
            <a:spLocks noGrp="1"/>
          </p:cNvSpPr>
          <p:nvPr>
            <p:ph type="sldNum" sz="quarter" idx="12"/>
          </p:nvPr>
        </p:nvSpPr>
        <p:spPr/>
        <p:txBody>
          <a:bodyPr/>
          <a:lstStyle/>
          <a:p>
            <a:fld id="{21218AEF-8260-6F42-89D9-6D82E053F226}" type="slidenum">
              <a:rPr kumimoji="1" lang="ja-JP" altLang="en-US" smtClean="0"/>
              <a:t>22</a:t>
            </a:fld>
            <a:endParaRPr kumimoji="1" lang="ja-JP" altLang="en-US"/>
          </a:p>
        </p:txBody>
      </p:sp>
    </p:spTree>
    <p:extLst>
      <p:ext uri="{BB962C8B-B14F-4D97-AF65-F5344CB8AC3E}">
        <p14:creationId xmlns:p14="http://schemas.microsoft.com/office/powerpoint/2010/main" val="389130822"/>
      </p:ext>
    </p:extLst>
  </p:cSld>
  <p:clrMapOvr>
    <a:masterClrMapping/>
  </p:clrMapOvr>
  <mc:AlternateContent xmlns:mc="http://schemas.openxmlformats.org/markup-compatibility/2006">
    <mc:Choice xmlns:p14="http://schemas.microsoft.com/office/powerpoint/2010/main" Requires="p14">
      <p:transition spd="slow" p14:dur="2000" advTm="30120"/>
    </mc:Choice>
    <mc:Fallback>
      <p:transition spd="slow" advTm="3012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F2E6361-E112-9056-2C97-A7F440BFD536}"/>
              </a:ext>
            </a:extLst>
          </p:cNvPr>
          <p:cNvSpPr>
            <a:spLocks noGrp="1"/>
          </p:cNvSpPr>
          <p:nvPr>
            <p:ph type="title"/>
          </p:nvPr>
        </p:nvSpPr>
        <p:spPr/>
        <p:txBody>
          <a:bodyPr/>
          <a:lstStyle/>
          <a:p>
            <a:r>
              <a:rPr kumimoji="1" lang="ja-JP" altLang="en-US"/>
              <a:t>提案手法</a:t>
            </a:r>
          </a:p>
        </p:txBody>
      </p:sp>
      <mc:AlternateContent xmlns:mc="http://schemas.openxmlformats.org/markup-compatibility/2006">
        <mc:Choice xmlns:a14="http://schemas.microsoft.com/office/drawing/2010/main" Requires="a14">
          <p:sp>
            <p:nvSpPr>
              <p:cNvPr id="3" name="コンテンツ プレースホルダー 2">
                <a:extLst>
                  <a:ext uri="{FF2B5EF4-FFF2-40B4-BE49-F238E27FC236}">
                    <a16:creationId xmlns:a16="http://schemas.microsoft.com/office/drawing/2014/main" id="{1773CBD7-A789-CB8F-3CFA-5E0ECDFDD138}"/>
                  </a:ext>
                </a:extLst>
              </p:cNvPr>
              <p:cNvSpPr>
                <a:spLocks noGrp="1"/>
              </p:cNvSpPr>
              <p:nvPr>
                <p:ph idx="1"/>
              </p:nvPr>
            </p:nvSpPr>
            <p:spPr/>
            <p:txBody>
              <a:bodyPr>
                <a:noAutofit/>
              </a:bodyPr>
              <a:lstStyle/>
              <a:p>
                <a:pPr marL="514350" indent="-514350">
                  <a:buFont typeface="+mj-lt"/>
                  <a:buAutoNum type="arabicPeriod" startAt="2"/>
                </a:pPr>
                <a:r>
                  <a:rPr lang="ja-JP" altLang="en-US">
                    <a:solidFill>
                      <a:schemeClr val="tx1"/>
                    </a:solidFill>
                    <a:latin typeface="+mn-ea"/>
                    <a:ea typeface="+mn-ea"/>
                    <a:cs typeface="Arial" panose="020B0604020202020204" pitchFamily="34" charset="0"/>
                  </a:rPr>
                  <a:t>結果変数と各共変量に関する項に対して，経験的条件付き球共分散を計算する</a:t>
                </a:r>
                <a:endParaRPr lang="en-US" altLang="ja-JP" dirty="0">
                  <a:solidFill>
                    <a:schemeClr val="tx1"/>
                  </a:solidFill>
                  <a:latin typeface="+mn-ea"/>
                  <a:ea typeface="+mn-ea"/>
                  <a:cs typeface="Arial" panose="020B0604020202020204" pitchFamily="34" charset="0"/>
                </a:endParaRPr>
              </a:p>
              <a:p>
                <a:pPr marL="0" indent="0">
                  <a:buNone/>
                </a:pPr>
                <a14:m>
                  <m:oMathPara xmlns:m="http://schemas.openxmlformats.org/officeDocument/2006/math">
                    <m:oMathParaPr>
                      <m:jc m:val="centerGroup"/>
                    </m:oMathParaPr>
                    <m:oMath xmlns:m="http://schemas.openxmlformats.org/officeDocument/2006/math">
                      <m:sSubSup>
                        <m:sSubSupPr>
                          <m:ctrlPr>
                            <a:rPr kumimoji="1" lang="en-US" altLang="ja-JP" i="1" smtClean="0">
                              <a:latin typeface="Cambria Math" panose="02040503050406030204" pitchFamily="18" charset="0"/>
                            </a:rPr>
                          </m:ctrlPr>
                        </m:sSubSupPr>
                        <m:e>
                          <m:r>
                            <m:rPr>
                              <m:sty m:val="p"/>
                            </m:rPr>
                            <a:rPr lang="en-US" altLang="ja-JP">
                              <a:latin typeface="Cambria Math" panose="02040503050406030204" pitchFamily="18" charset="0"/>
                            </a:rPr>
                            <m:t>BCov</m:t>
                          </m:r>
                        </m:e>
                        <m:sub>
                          <m:r>
                            <a:rPr kumimoji="1" lang="en-US" altLang="ja-JP" b="0" i="1" smtClean="0">
                              <a:latin typeface="Cambria Math" panose="02040503050406030204" pitchFamily="18" charset="0"/>
                            </a:rPr>
                            <m:t>𝑛</m:t>
                          </m:r>
                        </m:sub>
                        <m:sup>
                          <m:r>
                            <a:rPr kumimoji="1" lang="en-US" altLang="ja-JP" b="0" i="1" smtClean="0">
                              <a:latin typeface="Cambria Math" panose="02040503050406030204" pitchFamily="18" charset="0"/>
                            </a:rPr>
                            <m:t>2</m:t>
                          </m:r>
                        </m:sup>
                      </m:sSubSup>
                      <m:d>
                        <m:dPr>
                          <m:ctrlPr>
                            <a:rPr kumimoji="1" lang="en-US" altLang="ja-JP" b="0" i="1" smtClean="0">
                              <a:latin typeface="Cambria Math" panose="02040503050406030204" pitchFamily="18" charset="0"/>
                            </a:rPr>
                          </m:ctrlPr>
                        </m:dPr>
                        <m:e>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rPr>
                                <m:t>1</m:t>
                              </m:r>
                            </m:sub>
                          </m:sSub>
                          <m:r>
                            <a:rPr lang="en-US" altLang="ja-JP" i="1">
                              <a:latin typeface="Cambria Math" panose="02040503050406030204" pitchFamily="18" charset="0"/>
                            </a:rPr>
                            <m:t>,</m:t>
                          </m:r>
                          <m:r>
                            <a:rPr lang="en-US" altLang="ja-JP" b="1" i="1" dirty="0">
                              <a:latin typeface="Cambria Math" panose="02040503050406030204" pitchFamily="18" charset="0"/>
                            </a:rPr>
                            <m:t>𝒀</m:t>
                          </m:r>
                        </m:e>
                        <m:e>
                          <m:r>
                            <a:rPr kumimoji="1" lang="en-US" altLang="ja-JP" b="1" i="1" smtClean="0">
                              <a:latin typeface="Cambria Math" panose="02040503050406030204" pitchFamily="18" charset="0"/>
                            </a:rPr>
                            <m:t>𝑿</m:t>
                          </m:r>
                        </m:e>
                      </m:d>
                      <m:r>
                        <a:rPr kumimoji="1" lang="en-US" altLang="ja-JP" b="0" i="1" smtClean="0">
                          <a:latin typeface="Cambria Math" panose="02040503050406030204" pitchFamily="18" charset="0"/>
                        </a:rPr>
                        <m:t>,</m:t>
                      </m:r>
                      <m:sSubSup>
                        <m:sSubSupPr>
                          <m:ctrlPr>
                            <a:rPr lang="en-US" altLang="ja-JP" i="1">
                              <a:latin typeface="Cambria Math" panose="02040503050406030204" pitchFamily="18" charset="0"/>
                            </a:rPr>
                          </m:ctrlPr>
                        </m:sSubSupPr>
                        <m:e>
                          <m:r>
                            <m:rPr>
                              <m:sty m:val="p"/>
                            </m:rPr>
                            <a:rPr lang="en-US" altLang="ja-JP">
                              <a:latin typeface="Cambria Math" panose="02040503050406030204" pitchFamily="18" charset="0"/>
                            </a:rPr>
                            <m:t>BCov</m:t>
                          </m:r>
                        </m:e>
                        <m:sub>
                          <m:r>
                            <a:rPr lang="en-US" altLang="ja-JP" i="1">
                              <a:latin typeface="Cambria Math" panose="02040503050406030204" pitchFamily="18" charset="0"/>
                            </a:rPr>
                            <m:t>𝑛</m:t>
                          </m:r>
                        </m:sub>
                        <m:sup>
                          <m:r>
                            <a:rPr lang="en-US" altLang="ja-JP" i="1">
                              <a:latin typeface="Cambria Math" panose="02040503050406030204" pitchFamily="18" charset="0"/>
                            </a:rPr>
                            <m:t>2</m:t>
                          </m:r>
                        </m:sup>
                      </m:sSubSup>
                      <m:d>
                        <m:dPr>
                          <m:ctrlPr>
                            <a:rPr lang="en-US" altLang="ja-JP" i="1">
                              <a:latin typeface="Cambria Math" panose="02040503050406030204" pitchFamily="18" charset="0"/>
                            </a:rPr>
                          </m:ctrlPr>
                        </m:dPr>
                        <m:e>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rPr>
                                <m:t>2</m:t>
                              </m:r>
                            </m:sub>
                          </m:sSub>
                          <m:r>
                            <a:rPr lang="en-US" altLang="ja-JP" i="1">
                              <a:latin typeface="Cambria Math" panose="02040503050406030204" pitchFamily="18" charset="0"/>
                            </a:rPr>
                            <m:t>,</m:t>
                          </m:r>
                          <m:r>
                            <a:rPr lang="en-US" altLang="ja-JP" b="1" i="1" dirty="0">
                              <a:latin typeface="Cambria Math" panose="02040503050406030204" pitchFamily="18" charset="0"/>
                            </a:rPr>
                            <m:t>𝒀</m:t>
                          </m:r>
                        </m:e>
                        <m:e>
                          <m:r>
                            <a:rPr lang="en-US" altLang="ja-JP" b="1" i="1">
                              <a:latin typeface="Cambria Math" panose="02040503050406030204" pitchFamily="18" charset="0"/>
                            </a:rPr>
                            <m:t>𝑿</m:t>
                          </m:r>
                        </m:e>
                      </m:d>
                      <m:r>
                        <a:rPr lang="en-US" altLang="ja-JP" b="0" i="1" smtClean="0">
                          <a:latin typeface="Cambria Math" panose="02040503050406030204" pitchFamily="18" charset="0"/>
                        </a:rPr>
                        <m:t>,…,</m:t>
                      </m:r>
                      <m:sSubSup>
                        <m:sSubSupPr>
                          <m:ctrlPr>
                            <a:rPr lang="en-US" altLang="ja-JP" i="1">
                              <a:latin typeface="Cambria Math" panose="02040503050406030204" pitchFamily="18" charset="0"/>
                            </a:rPr>
                          </m:ctrlPr>
                        </m:sSubSupPr>
                        <m:e>
                          <m:r>
                            <m:rPr>
                              <m:sty m:val="p"/>
                            </m:rPr>
                            <a:rPr lang="en-US" altLang="ja-JP">
                              <a:latin typeface="Cambria Math" panose="02040503050406030204" pitchFamily="18" charset="0"/>
                            </a:rPr>
                            <m:t>BCov</m:t>
                          </m:r>
                        </m:e>
                        <m:sub>
                          <m:r>
                            <a:rPr lang="en-US" altLang="ja-JP" i="1">
                              <a:latin typeface="Cambria Math" panose="02040503050406030204" pitchFamily="18" charset="0"/>
                            </a:rPr>
                            <m:t>𝑛</m:t>
                          </m:r>
                        </m:sub>
                        <m:sup>
                          <m:r>
                            <a:rPr lang="en-US" altLang="ja-JP" i="1">
                              <a:latin typeface="Cambria Math" panose="02040503050406030204" pitchFamily="18" charset="0"/>
                            </a:rPr>
                            <m:t>2</m:t>
                          </m:r>
                        </m:sup>
                      </m:sSubSup>
                      <m:d>
                        <m:dPr>
                          <m:ctrlPr>
                            <a:rPr lang="en-US" altLang="ja-JP" i="1">
                              <a:latin typeface="Cambria Math" panose="02040503050406030204" pitchFamily="18" charset="0"/>
                            </a:rPr>
                          </m:ctrlPr>
                        </m:dPr>
                        <m:e>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rPr>
                                <m:t>𝑝</m:t>
                              </m:r>
                            </m:sub>
                          </m:sSub>
                          <m:r>
                            <a:rPr lang="en-US" altLang="ja-JP" i="1">
                              <a:latin typeface="Cambria Math" panose="02040503050406030204" pitchFamily="18" charset="0"/>
                            </a:rPr>
                            <m:t>,</m:t>
                          </m:r>
                          <m:r>
                            <a:rPr lang="en-US" altLang="ja-JP" b="1" i="1" dirty="0">
                              <a:latin typeface="Cambria Math" panose="02040503050406030204" pitchFamily="18" charset="0"/>
                            </a:rPr>
                            <m:t>𝒀</m:t>
                          </m:r>
                        </m:e>
                        <m:e>
                          <m:r>
                            <a:rPr lang="en-US" altLang="ja-JP" b="1" i="1">
                              <a:latin typeface="Cambria Math" panose="02040503050406030204" pitchFamily="18" charset="0"/>
                            </a:rPr>
                            <m:t>𝑿</m:t>
                          </m:r>
                        </m:e>
                      </m:d>
                      <m:r>
                        <a:rPr lang="en-US" altLang="ja-JP" b="0" i="1" smtClean="0">
                          <a:latin typeface="Cambria Math" panose="02040503050406030204" pitchFamily="18" charset="0"/>
                        </a:rPr>
                        <m:t>, </m:t>
                      </m:r>
                    </m:oMath>
                  </m:oMathPara>
                </a14:m>
                <a:endParaRPr lang="en-US" altLang="ja-JP" b="0" i="1" dirty="0">
                  <a:latin typeface="Cambria Math" panose="02040503050406030204" pitchFamily="18" charset="0"/>
                </a:endParaRPr>
              </a:p>
              <a:p>
                <a:pPr marL="0" indent="0">
                  <a:buNone/>
                </a:pPr>
                <a14:m>
                  <m:oMathPara xmlns:m="http://schemas.openxmlformats.org/officeDocument/2006/math">
                    <m:oMathParaPr>
                      <m:jc m:val="centerGroup"/>
                    </m:oMathParaPr>
                    <m:oMath xmlns:m="http://schemas.openxmlformats.org/officeDocument/2006/math">
                      <m:sSubSup>
                        <m:sSubSupPr>
                          <m:ctrlPr>
                            <a:rPr lang="en-US" altLang="ja-JP" i="1">
                              <a:latin typeface="Cambria Math" panose="02040503050406030204" pitchFamily="18" charset="0"/>
                            </a:rPr>
                          </m:ctrlPr>
                        </m:sSubSupPr>
                        <m:e>
                          <m:r>
                            <m:rPr>
                              <m:sty m:val="p"/>
                            </m:rPr>
                            <a:rPr lang="en-US" altLang="ja-JP">
                              <a:latin typeface="Cambria Math" panose="02040503050406030204" pitchFamily="18" charset="0"/>
                            </a:rPr>
                            <m:t>BCov</m:t>
                          </m:r>
                        </m:e>
                        <m:sub>
                          <m:r>
                            <a:rPr lang="en-US" altLang="ja-JP" i="1">
                              <a:latin typeface="Cambria Math" panose="02040503050406030204" pitchFamily="18" charset="0"/>
                            </a:rPr>
                            <m:t>𝑛</m:t>
                          </m:r>
                        </m:sub>
                        <m:sup>
                          <m:r>
                            <a:rPr lang="en-US" altLang="ja-JP" i="1">
                              <a:latin typeface="Cambria Math" panose="02040503050406030204" pitchFamily="18" charset="0"/>
                            </a:rPr>
                            <m:t>2</m:t>
                          </m:r>
                        </m:sup>
                      </m:sSubSup>
                      <m:d>
                        <m:dPr>
                          <m:ctrlPr>
                            <a:rPr lang="en-US" altLang="ja-JP" i="1">
                              <a:latin typeface="Cambria Math" panose="02040503050406030204" pitchFamily="18" charset="0"/>
                            </a:rPr>
                          </m:ctrlPr>
                        </m:dPr>
                        <m:e>
                          <m:sSubSup>
                            <m:sSubSupPr>
                              <m:ctrlPr>
                                <a:rPr lang="en-US" altLang="ja-JP" i="1">
                                  <a:latin typeface="Cambria Math" panose="02040503050406030204" pitchFamily="18" charset="0"/>
                                  <a:ea typeface="Cambria Math" panose="02040503050406030204" pitchFamily="18" charset="0"/>
                                </a:rPr>
                              </m:ctrlPr>
                            </m:sSubSupPr>
                            <m:e>
                              <m:r>
                                <a:rPr lang="en-US" altLang="ja-JP" b="1" i="1">
                                  <a:latin typeface="Cambria Math" panose="02040503050406030204" pitchFamily="18" charset="0"/>
                                  <a:ea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1</m:t>
                              </m:r>
                            </m:sub>
                            <m:sup>
                              <m:r>
                                <a:rPr lang="en-US" altLang="ja-JP" i="1">
                                  <a:latin typeface="Cambria Math" panose="02040503050406030204" pitchFamily="18" charset="0"/>
                                  <a:ea typeface="Cambria Math" panose="02040503050406030204" pitchFamily="18" charset="0"/>
                                </a:rPr>
                                <m:t>2</m:t>
                              </m:r>
                            </m:sup>
                          </m:sSubSup>
                          <m:r>
                            <a:rPr lang="en-US" altLang="ja-JP" i="1">
                              <a:latin typeface="Cambria Math" panose="02040503050406030204" pitchFamily="18" charset="0"/>
                            </a:rPr>
                            <m:t>,</m:t>
                          </m:r>
                          <m:r>
                            <a:rPr lang="en-US" altLang="ja-JP" b="1" i="1" dirty="0">
                              <a:latin typeface="Cambria Math" panose="02040503050406030204" pitchFamily="18" charset="0"/>
                            </a:rPr>
                            <m:t>𝒀</m:t>
                          </m:r>
                        </m:e>
                        <m:e>
                          <m:r>
                            <a:rPr lang="en-US" altLang="ja-JP" b="1" i="1">
                              <a:latin typeface="Cambria Math" panose="02040503050406030204" pitchFamily="18" charset="0"/>
                            </a:rPr>
                            <m:t>𝑿</m:t>
                          </m:r>
                        </m:e>
                      </m:d>
                      <m:r>
                        <a:rPr lang="en-US" altLang="ja-JP" b="0" i="1" smtClean="0">
                          <a:latin typeface="Cambria Math" panose="02040503050406030204" pitchFamily="18" charset="0"/>
                        </a:rPr>
                        <m:t>,</m:t>
                      </m:r>
                      <m:sSubSup>
                        <m:sSubSupPr>
                          <m:ctrlPr>
                            <a:rPr lang="en-US" altLang="ja-JP" i="1">
                              <a:latin typeface="Cambria Math" panose="02040503050406030204" pitchFamily="18" charset="0"/>
                            </a:rPr>
                          </m:ctrlPr>
                        </m:sSubSupPr>
                        <m:e>
                          <m:r>
                            <m:rPr>
                              <m:sty m:val="p"/>
                            </m:rPr>
                            <a:rPr lang="en-US" altLang="ja-JP">
                              <a:latin typeface="Cambria Math" panose="02040503050406030204" pitchFamily="18" charset="0"/>
                            </a:rPr>
                            <m:t>BCov</m:t>
                          </m:r>
                        </m:e>
                        <m:sub>
                          <m:r>
                            <a:rPr lang="en-US" altLang="ja-JP" i="1">
                              <a:latin typeface="Cambria Math" panose="02040503050406030204" pitchFamily="18" charset="0"/>
                            </a:rPr>
                            <m:t>𝑛</m:t>
                          </m:r>
                        </m:sub>
                        <m:sup>
                          <m:r>
                            <a:rPr lang="en-US" altLang="ja-JP" i="1">
                              <a:latin typeface="Cambria Math" panose="02040503050406030204" pitchFamily="18" charset="0"/>
                            </a:rPr>
                            <m:t>2</m:t>
                          </m:r>
                        </m:sup>
                      </m:sSubSup>
                      <m:d>
                        <m:dPr>
                          <m:ctrlPr>
                            <a:rPr lang="en-US" altLang="ja-JP" i="1">
                              <a:latin typeface="Cambria Math" panose="02040503050406030204" pitchFamily="18" charset="0"/>
                            </a:rPr>
                          </m:ctrlPr>
                        </m:dPr>
                        <m:e>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rPr>
                                <m:t>1</m:t>
                              </m:r>
                            </m:sub>
                          </m:sSub>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rPr>
                                <m:t>2</m:t>
                              </m:r>
                            </m:sub>
                          </m:sSub>
                          <m:r>
                            <a:rPr lang="en-US" altLang="ja-JP" i="1">
                              <a:latin typeface="Cambria Math" panose="02040503050406030204" pitchFamily="18" charset="0"/>
                            </a:rPr>
                            <m:t>,</m:t>
                          </m:r>
                          <m:r>
                            <a:rPr lang="en-US" altLang="ja-JP" b="1" i="1" dirty="0">
                              <a:latin typeface="Cambria Math" panose="02040503050406030204" pitchFamily="18" charset="0"/>
                            </a:rPr>
                            <m:t>𝒀</m:t>
                          </m:r>
                        </m:e>
                        <m:e>
                          <m:r>
                            <a:rPr lang="en-US" altLang="ja-JP" b="1" i="1">
                              <a:latin typeface="Cambria Math" panose="02040503050406030204" pitchFamily="18" charset="0"/>
                            </a:rPr>
                            <m:t>𝑿</m:t>
                          </m:r>
                        </m:e>
                      </m:d>
                      <m:r>
                        <a:rPr lang="en-US" altLang="ja-JP" b="0" i="1" smtClean="0">
                          <a:latin typeface="Cambria Math" panose="02040503050406030204" pitchFamily="18" charset="0"/>
                        </a:rPr>
                        <m:t>,…,</m:t>
                      </m:r>
                      <m:sSubSup>
                        <m:sSubSupPr>
                          <m:ctrlPr>
                            <a:rPr lang="en-US" altLang="ja-JP" i="1">
                              <a:latin typeface="Cambria Math" panose="02040503050406030204" pitchFamily="18" charset="0"/>
                            </a:rPr>
                          </m:ctrlPr>
                        </m:sSubSupPr>
                        <m:e>
                          <m:r>
                            <m:rPr>
                              <m:sty m:val="p"/>
                            </m:rPr>
                            <a:rPr lang="en-US" altLang="ja-JP">
                              <a:latin typeface="Cambria Math" panose="02040503050406030204" pitchFamily="18" charset="0"/>
                            </a:rPr>
                            <m:t>BCov</m:t>
                          </m:r>
                        </m:e>
                        <m:sub>
                          <m:r>
                            <a:rPr lang="en-US" altLang="ja-JP" i="1">
                              <a:latin typeface="Cambria Math" panose="02040503050406030204" pitchFamily="18" charset="0"/>
                            </a:rPr>
                            <m:t>𝑛</m:t>
                          </m:r>
                        </m:sub>
                        <m:sup>
                          <m:r>
                            <a:rPr lang="en-US" altLang="ja-JP" i="1">
                              <a:latin typeface="Cambria Math" panose="02040503050406030204" pitchFamily="18" charset="0"/>
                            </a:rPr>
                            <m:t>2</m:t>
                          </m:r>
                        </m:sup>
                      </m:sSubSup>
                      <m:d>
                        <m:dPr>
                          <m:ctrlPr>
                            <a:rPr lang="en-US" altLang="ja-JP" i="1">
                              <a:latin typeface="Cambria Math" panose="02040503050406030204" pitchFamily="18" charset="0"/>
                            </a:rPr>
                          </m:ctrlPr>
                        </m:dPr>
                        <m:e>
                          <m:sSubSup>
                            <m:sSubSupPr>
                              <m:ctrlPr>
                                <a:rPr lang="en-US" altLang="ja-JP" i="1" smtClean="0">
                                  <a:latin typeface="Cambria Math" panose="02040503050406030204" pitchFamily="18" charset="0"/>
                                  <a:ea typeface="Cambria Math" panose="02040503050406030204" pitchFamily="18" charset="0"/>
                                </a:rPr>
                              </m:ctrlPr>
                            </m:sSubSupPr>
                            <m:e>
                              <m:r>
                                <a:rPr lang="en-US" altLang="ja-JP" b="1" i="1">
                                  <a:latin typeface="Cambria Math" panose="02040503050406030204" pitchFamily="18" charset="0"/>
                                  <a:ea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𝑝</m:t>
                              </m:r>
                            </m:sub>
                            <m:sup>
                              <m:r>
                                <a:rPr lang="en-US" altLang="ja-JP" i="1">
                                  <a:latin typeface="Cambria Math" panose="02040503050406030204" pitchFamily="18" charset="0"/>
                                  <a:ea typeface="Cambria Math" panose="02040503050406030204" pitchFamily="18" charset="0"/>
                                </a:rPr>
                                <m:t>2</m:t>
                              </m:r>
                            </m:sup>
                          </m:sSubSup>
                          <m:r>
                            <a:rPr lang="en-US" altLang="ja-JP" i="1">
                              <a:latin typeface="Cambria Math" panose="02040503050406030204" pitchFamily="18" charset="0"/>
                            </a:rPr>
                            <m:t>,</m:t>
                          </m:r>
                          <m:r>
                            <a:rPr lang="en-US" altLang="ja-JP" b="1" i="1" dirty="0">
                              <a:latin typeface="Cambria Math" panose="02040503050406030204" pitchFamily="18" charset="0"/>
                            </a:rPr>
                            <m:t>𝒀</m:t>
                          </m:r>
                        </m:e>
                        <m:e>
                          <m:r>
                            <a:rPr lang="en-US" altLang="ja-JP" b="1" i="1">
                              <a:latin typeface="Cambria Math" panose="02040503050406030204" pitchFamily="18" charset="0"/>
                            </a:rPr>
                            <m:t>𝑿</m:t>
                          </m:r>
                        </m:e>
                      </m:d>
                    </m:oMath>
                  </m:oMathPara>
                </a14:m>
                <a:endParaRPr lang="en-US" altLang="ja-JP" dirty="0">
                  <a:solidFill>
                    <a:schemeClr val="tx1"/>
                  </a:solidFill>
                  <a:latin typeface="+mn-ea"/>
                  <a:ea typeface="+mn-ea"/>
                  <a:cs typeface="Arial" panose="020B0604020202020204" pitchFamily="34" charset="0"/>
                </a:endParaRPr>
              </a:p>
              <a:p>
                <a:pPr marL="571500" indent="-571500">
                  <a:buFont typeface="+mj-lt"/>
                  <a:buAutoNum type="arabicPeriod" startAt="3"/>
                </a:pPr>
                <a:r>
                  <a:rPr lang="ja-JP" altLang="en-US">
                    <a:solidFill>
                      <a:schemeClr val="tx1"/>
                    </a:solidFill>
                    <a:latin typeface="+mn-ea"/>
                    <a:ea typeface="+mn-ea"/>
                    <a:cs typeface="Arial" panose="020B0604020202020204" pitchFamily="34" charset="0"/>
                  </a:rPr>
                  <a:t>経験的</a:t>
                </a:r>
                <a:r>
                  <a:rPr lang="ja-JP" altLang="en-US">
                    <a:solidFill>
                      <a:schemeClr val="tx1"/>
                    </a:solidFill>
                    <a:latin typeface="+mn-ea"/>
                    <a:cs typeface="Arial" panose="020B0604020202020204" pitchFamily="34" charset="0"/>
                  </a:rPr>
                  <a:t>条件付き球共分散が大きい</a:t>
                </a:r>
                <a14:m>
                  <m:oMath xmlns:m="http://schemas.openxmlformats.org/officeDocument/2006/math">
                    <m:r>
                      <a:rPr lang="en-US" altLang="ja-JP" b="0" i="1" smtClean="0">
                        <a:solidFill>
                          <a:schemeClr val="tx1"/>
                        </a:solidFill>
                        <a:latin typeface="Cambria Math" panose="02040503050406030204" pitchFamily="18" charset="0"/>
                      </a:rPr>
                      <m:t>𝑞</m:t>
                    </m:r>
                  </m:oMath>
                </a14:m>
                <a:r>
                  <a:rPr lang="ja-JP" altLang="en-US">
                    <a:solidFill>
                      <a:schemeClr val="tx1"/>
                    </a:solidFill>
                    <a:latin typeface="+mn-ea"/>
                    <a:cs typeface="Arial" panose="020B0604020202020204" pitchFamily="34" charset="0"/>
                  </a:rPr>
                  <a:t>個の項を抽出する</a:t>
                </a:r>
                <a:endParaRPr lang="en-US" altLang="ja-JP" dirty="0">
                  <a:solidFill>
                    <a:schemeClr val="tx1"/>
                  </a:solidFill>
                  <a:latin typeface="+mn-ea"/>
                  <a:cs typeface="Arial" panose="020B0604020202020204" pitchFamily="34" charset="0"/>
                </a:endParaRPr>
              </a:p>
              <a:p>
                <a:pPr marL="0" indent="0">
                  <a:buNone/>
                </a:pPr>
                <a:endParaRPr kumimoji="1" lang="ja-JP" altLang="en-US"/>
              </a:p>
            </p:txBody>
          </p:sp>
        </mc:Choice>
        <mc:Fallback>
          <p:sp>
            <p:nvSpPr>
              <p:cNvPr id="3" name="コンテンツ プレースホルダー 2">
                <a:extLst>
                  <a:ext uri="{FF2B5EF4-FFF2-40B4-BE49-F238E27FC236}">
                    <a16:creationId xmlns:a16="http://schemas.microsoft.com/office/drawing/2014/main" id="{1773CBD7-A789-CB8F-3CFA-5E0ECDFDD138}"/>
                  </a:ext>
                </a:extLst>
              </p:cNvPr>
              <p:cNvSpPr>
                <a:spLocks noGrp="1" noRot="1" noChangeAspect="1" noMove="1" noResize="1" noEditPoints="1" noAdjustHandles="1" noChangeArrowheads="1" noChangeShapeType="1" noTextEdit="1"/>
              </p:cNvSpPr>
              <p:nvPr>
                <p:ph idx="1"/>
              </p:nvPr>
            </p:nvSpPr>
            <p:spPr>
              <a:blipFill>
                <a:blip r:embed="rId2"/>
                <a:stretch>
                  <a:fillRect l="-1327" t="-3198"/>
                </a:stretch>
              </a:blipFill>
            </p:spPr>
            <p:txBody>
              <a:bodyPr/>
              <a:lstStyle/>
              <a:p>
                <a:r>
                  <a:rPr lang="ja-JP" altLang="en-US">
                    <a:noFill/>
                  </a:rPr>
                  <a:t> </a:t>
                </a:r>
              </a:p>
            </p:txBody>
          </p:sp>
        </mc:Fallback>
      </mc:AlternateContent>
      <p:sp>
        <p:nvSpPr>
          <p:cNvPr id="5" name="スライド番号プレースホルダー 4">
            <a:extLst>
              <a:ext uri="{FF2B5EF4-FFF2-40B4-BE49-F238E27FC236}">
                <a16:creationId xmlns:a16="http://schemas.microsoft.com/office/drawing/2014/main" id="{D44EB945-F611-8EF3-ABAE-0C56F8A2EB53}"/>
              </a:ext>
            </a:extLst>
          </p:cNvPr>
          <p:cNvSpPr>
            <a:spLocks noGrp="1"/>
          </p:cNvSpPr>
          <p:nvPr>
            <p:ph type="sldNum" sz="quarter" idx="12"/>
          </p:nvPr>
        </p:nvSpPr>
        <p:spPr/>
        <p:txBody>
          <a:bodyPr/>
          <a:lstStyle/>
          <a:p>
            <a:fld id="{21218AEF-8260-6F42-89D9-6D82E053F226}" type="slidenum">
              <a:rPr kumimoji="1" lang="ja-JP" altLang="en-US" smtClean="0"/>
              <a:t>23</a:t>
            </a:fld>
            <a:endParaRPr kumimoji="1" lang="ja-JP" altLang="en-US"/>
          </a:p>
        </p:txBody>
      </p:sp>
    </p:spTree>
    <p:extLst>
      <p:ext uri="{BB962C8B-B14F-4D97-AF65-F5344CB8AC3E}">
        <p14:creationId xmlns:p14="http://schemas.microsoft.com/office/powerpoint/2010/main" val="3510795735"/>
      </p:ext>
    </p:extLst>
  </p:cSld>
  <p:clrMapOvr>
    <a:masterClrMapping/>
  </p:clrMapOvr>
  <mc:AlternateContent xmlns:mc="http://schemas.openxmlformats.org/markup-compatibility/2006">
    <mc:Choice xmlns:p14="http://schemas.microsoft.com/office/powerpoint/2010/main" Requires="p14">
      <p:transition spd="slow" p14:dur="2000" advTm="15527"/>
    </mc:Choice>
    <mc:Fallback>
      <p:transition spd="slow" advTm="15527"/>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B8378510-BAD7-1850-ACFE-9167ED5BDA09}"/>
              </a:ext>
            </a:extLst>
          </p:cNvPr>
          <p:cNvSpPr>
            <a:spLocks noGrp="1"/>
          </p:cNvSpPr>
          <p:nvPr>
            <p:ph type="title"/>
          </p:nvPr>
        </p:nvSpPr>
        <p:spPr>
          <a:xfrm>
            <a:off x="382491" y="340289"/>
            <a:ext cx="10515600" cy="1325563"/>
          </a:xfrm>
        </p:spPr>
        <p:txBody>
          <a:bodyPr/>
          <a:lstStyle/>
          <a:p>
            <a:r>
              <a:rPr lang="ja-JP" altLang="en-US"/>
              <a:t>モデル設定</a:t>
            </a:r>
            <a:endParaRPr kumimoji="1" lang="ja-JP" altLang="en-US"/>
          </a:p>
        </p:txBody>
      </p:sp>
      <mc:AlternateContent xmlns:mc="http://schemas.openxmlformats.org/markup-compatibility/2006">
        <mc:Choice xmlns:a14="http://schemas.microsoft.com/office/drawing/2010/main" Requires="a14">
          <p:sp>
            <p:nvSpPr>
              <p:cNvPr id="4" name="コンテンツ プレースホルダー 2">
                <a:extLst>
                  <a:ext uri="{FF2B5EF4-FFF2-40B4-BE49-F238E27FC236}">
                    <a16:creationId xmlns:a16="http://schemas.microsoft.com/office/drawing/2014/main" id="{6FA7D140-9F5F-5407-493C-F35D23F9F34D}"/>
                  </a:ext>
                </a:extLst>
              </p:cNvPr>
              <p:cNvSpPr txBox="1">
                <a:spLocks/>
              </p:cNvSpPr>
              <p:nvPr/>
            </p:nvSpPr>
            <p:spPr>
              <a:xfrm>
                <a:off x="585788" y="1323726"/>
                <a:ext cx="11606212" cy="94876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lnSpc>
                    <a:spcPct val="100000"/>
                  </a:lnSpc>
                  <a:buNone/>
                </a:pPr>
                <a14:m>
                  <m:oMathPara xmlns:m="http://schemas.openxmlformats.org/officeDocument/2006/math">
                    <m:oMathParaPr>
                      <m:jc m:val="centerGroup"/>
                    </m:oMathParaPr>
                    <m:oMath xmlns:m="http://schemas.openxmlformats.org/officeDocument/2006/math">
                      <m:r>
                        <a:rPr lang="ja-JP" altLang="en-US" sz="2400" i="1" smtClean="0">
                          <a:latin typeface="Cambria Math" panose="02040503050406030204" pitchFamily="18" charset="0"/>
                        </a:rPr>
                        <m:t>𝜓</m:t>
                      </m:r>
                      <m:d>
                        <m:dPr>
                          <m:ctrlPr>
                            <a:rPr lang="en-US" altLang="ja-JP" sz="2400" b="1" i="1">
                              <a:latin typeface="Cambria Math" panose="02040503050406030204" pitchFamily="18" charset="0"/>
                            </a:rPr>
                          </m:ctrlPr>
                        </m:dPr>
                        <m:e>
                          <m:r>
                            <a:rPr lang="en-US" altLang="ja-JP" sz="2400" b="1" i="1">
                              <a:latin typeface="Cambria Math" panose="02040503050406030204" pitchFamily="18" charset="0"/>
                            </a:rPr>
                            <m:t>𝑪</m:t>
                          </m:r>
                          <m:r>
                            <a:rPr lang="en-US" altLang="ja-JP" sz="2400" b="1" i="1">
                              <a:latin typeface="Cambria Math" panose="02040503050406030204" pitchFamily="18" charset="0"/>
                            </a:rPr>
                            <m:t>;</m:t>
                          </m:r>
                          <m:r>
                            <a:rPr lang="ja-JP" altLang="en-US" sz="2400" b="1" i="1">
                              <a:latin typeface="Cambria Math" panose="02040503050406030204" pitchFamily="18" charset="0"/>
                            </a:rPr>
                            <m:t>𝜶</m:t>
                          </m:r>
                        </m:e>
                      </m:d>
                      <m:r>
                        <a:rPr lang="en-US" altLang="ja-JP" sz="2400" b="0"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𝑝</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𝑝</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𝑝</m:t>
                          </m:r>
                          <m:r>
                            <a:rPr lang="en-US" altLang="ja-JP" sz="2400" i="1">
                              <a:latin typeface="Cambria Math" panose="02040503050406030204" pitchFamily="18" charset="0"/>
                              <a:ea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𝑝</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𝑝</m:t>
                          </m:r>
                        </m:sub>
                        <m:sup>
                          <m:r>
                            <a:rPr lang="en-US" altLang="ja-JP" sz="2400" i="1">
                              <a:latin typeface="Cambria Math" panose="02040503050406030204" pitchFamily="18" charset="0"/>
                              <a:ea typeface="Cambria Math" panose="02040503050406030204" pitchFamily="18" charset="0"/>
                            </a:rPr>
                            <m:t>2</m:t>
                          </m:r>
                        </m:sup>
                      </m:sSubSup>
                    </m:oMath>
                  </m:oMathPara>
                </a14:m>
                <a:endParaRPr lang="en-US" altLang="ja-JP" sz="2400" dirty="0"/>
              </a:p>
              <a:p>
                <a:pPr marL="0" indent="0">
                  <a:lnSpc>
                    <a:spcPct val="100000"/>
                  </a:lnSpc>
                  <a:buNone/>
                </a:pPr>
                <a14:m>
                  <m:oMathPara xmlns:m="http://schemas.openxmlformats.org/officeDocument/2006/math">
                    <m:oMathParaPr>
                      <m:jc m:val="centerGroup"/>
                    </m:oMathParaPr>
                    <m:oMath xmlns:m="http://schemas.openxmlformats.org/officeDocument/2006/math">
                      <m:r>
                        <a:rPr kumimoji="1" lang="ja-JP" altLang="en-US" sz="2400" b="0" i="1" smtClean="0">
                          <a:latin typeface="Cambria Math" panose="02040503050406030204" pitchFamily="18" charset="0"/>
                        </a:rPr>
                        <m:t>𝜑</m:t>
                      </m:r>
                      <m:d>
                        <m:dPr>
                          <m:ctrlPr>
                            <a:rPr kumimoji="1" lang="en-US" altLang="ja-JP" sz="2400" b="1" i="1" smtClean="0">
                              <a:latin typeface="Cambria Math" panose="02040503050406030204" pitchFamily="18" charset="0"/>
                            </a:rPr>
                          </m:ctrlPr>
                        </m:dPr>
                        <m:e>
                          <m:r>
                            <a:rPr lang="en-US" altLang="ja-JP" sz="2400" b="1" i="1">
                              <a:latin typeface="Cambria Math" panose="02040503050406030204" pitchFamily="18" charset="0"/>
                            </a:rPr>
                            <m:t>𝑪</m:t>
                          </m:r>
                          <m:r>
                            <a:rPr kumimoji="1" lang="en-US" altLang="ja-JP" sz="2400" b="1" i="1">
                              <a:latin typeface="Cambria Math" panose="02040503050406030204" pitchFamily="18" charset="0"/>
                            </a:rPr>
                            <m:t>;</m:t>
                          </m:r>
                          <m:r>
                            <a:rPr kumimoji="1" lang="ja-JP" altLang="en-US" sz="2400" b="1" i="1">
                              <a:latin typeface="Cambria Math" panose="02040503050406030204" pitchFamily="18" charset="0"/>
                            </a:rPr>
                            <m:t>𝜸</m:t>
                          </m:r>
                        </m:e>
                      </m:d>
                      <m:r>
                        <a:rPr kumimoji="1" lang="en-US" altLang="ja-JP" sz="2400" b="1"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𝑝</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𝑝</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ea typeface="Cambria Math" panose="02040503050406030204" pitchFamily="18" charset="0"/>
                        </a:rPr>
                        <m:t> </m:t>
                      </m:r>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𝑝</m:t>
                          </m:r>
                          <m:r>
                            <a:rPr lang="en-US" altLang="ja-JP" sz="2400" i="1">
                              <a:latin typeface="Cambria Math" panose="02040503050406030204" pitchFamily="18" charset="0"/>
                              <a:ea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𝑝</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𝑝</m:t>
                          </m:r>
                        </m:sub>
                        <m:sup>
                          <m:r>
                            <a:rPr lang="en-US" altLang="ja-JP" sz="2400" i="1">
                              <a:latin typeface="Cambria Math" panose="02040503050406030204" pitchFamily="18" charset="0"/>
                              <a:ea typeface="Cambria Math" panose="02040503050406030204" pitchFamily="18" charset="0"/>
                            </a:rPr>
                            <m:t>2</m:t>
                          </m:r>
                        </m:sup>
                      </m:sSubSup>
                    </m:oMath>
                  </m:oMathPara>
                </a14:m>
                <a:endParaRPr lang="en-US" altLang="ja-JP" sz="2400" dirty="0"/>
              </a:p>
            </p:txBody>
          </p:sp>
        </mc:Choice>
        <mc:Fallback>
          <p:sp>
            <p:nvSpPr>
              <p:cNvPr id="4" name="コンテンツ プレースホルダー 2">
                <a:extLst>
                  <a:ext uri="{FF2B5EF4-FFF2-40B4-BE49-F238E27FC236}">
                    <a16:creationId xmlns:a16="http://schemas.microsoft.com/office/drawing/2014/main" id="{6FA7D140-9F5F-5407-493C-F35D23F9F34D}"/>
                  </a:ext>
                </a:extLst>
              </p:cNvPr>
              <p:cNvSpPr txBox="1">
                <a:spLocks noRot="1" noChangeAspect="1" noMove="1" noResize="1" noEditPoints="1" noAdjustHandles="1" noChangeArrowheads="1" noChangeShapeType="1" noTextEdit="1"/>
              </p:cNvSpPr>
              <p:nvPr/>
            </p:nvSpPr>
            <p:spPr>
              <a:xfrm>
                <a:off x="585788" y="1323726"/>
                <a:ext cx="11606212" cy="948765"/>
              </a:xfrm>
              <a:prstGeom prst="rect">
                <a:avLst/>
              </a:prstGeom>
              <a:blipFill>
                <a:blip r:embed="rId3"/>
                <a:stretch>
                  <a:fillRect b="-2632"/>
                </a:stretch>
              </a:blipFill>
            </p:spPr>
            <p:txBody>
              <a:bodyPr/>
              <a:lstStyle/>
              <a:p>
                <a:r>
                  <a:rPr lang="ja-JP" altLang="en-US">
                    <a:noFill/>
                  </a:rPr>
                  <a:t> </a:t>
                </a:r>
              </a:p>
            </p:txBody>
          </p:sp>
        </mc:Fallback>
      </mc:AlternateContent>
      <p:sp>
        <p:nvSpPr>
          <p:cNvPr id="7" name="下矢印 6">
            <a:extLst>
              <a:ext uri="{FF2B5EF4-FFF2-40B4-BE49-F238E27FC236}">
                <a16:creationId xmlns:a16="http://schemas.microsoft.com/office/drawing/2014/main" id="{ED714BA5-917B-114C-F36E-8D41C6D43B6A}"/>
              </a:ext>
            </a:extLst>
          </p:cNvPr>
          <p:cNvSpPr/>
          <p:nvPr/>
        </p:nvSpPr>
        <p:spPr>
          <a:xfrm>
            <a:off x="3807608" y="3244839"/>
            <a:ext cx="1128713" cy="671512"/>
          </a:xfrm>
          <a:prstGeom prst="down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ysClr val="windowText" lastClr="000000"/>
              </a:solidFill>
            </a:endParaRPr>
          </a:p>
        </p:txBody>
      </p:sp>
      <mc:AlternateContent xmlns:mc="http://schemas.openxmlformats.org/markup-compatibility/2006" xmlns:a14="http://schemas.microsoft.com/office/drawing/2010/main">
        <mc:Choice Requires="a14">
          <p:sp>
            <p:nvSpPr>
              <p:cNvPr id="9" name="テキスト ボックス 8">
                <a:extLst>
                  <a:ext uri="{FF2B5EF4-FFF2-40B4-BE49-F238E27FC236}">
                    <a16:creationId xmlns:a16="http://schemas.microsoft.com/office/drawing/2014/main" id="{3D5686EE-09C9-8B82-F301-31544FA998BC}"/>
                  </a:ext>
                </a:extLst>
              </p:cNvPr>
              <p:cNvSpPr txBox="1"/>
              <p:nvPr/>
            </p:nvSpPr>
            <p:spPr>
              <a:xfrm>
                <a:off x="5125641" y="3283667"/>
                <a:ext cx="6852838" cy="523220"/>
              </a:xfrm>
              <a:prstGeom prst="rect">
                <a:avLst/>
              </a:prstGeom>
              <a:ln w="28575"/>
            </p:spPr>
            <p:style>
              <a:lnRef idx="2">
                <a:schemeClr val="accent1"/>
              </a:lnRef>
              <a:fillRef idx="1">
                <a:schemeClr val="lt1"/>
              </a:fillRef>
              <a:effectRef idx="0">
                <a:schemeClr val="accent1"/>
              </a:effectRef>
              <a:fontRef idx="minor">
                <a:schemeClr val="dk1"/>
              </a:fontRef>
            </p:style>
            <p:txBody>
              <a:bodyPr wrap="none" rtlCol="0">
                <a:spAutoFit/>
              </a:bodyPr>
              <a:lstStyle/>
              <a:p>
                <a:r>
                  <a:rPr lang="ja-JP" altLang="en-US" sz="2800">
                    <a:solidFill>
                      <a:schemeClr val="tx1"/>
                    </a:solidFill>
                    <a:latin typeface="+mn-ea"/>
                    <a:cs typeface="Arial" panose="020B0604020202020204" pitchFamily="34" charset="0"/>
                  </a:rPr>
                  <a:t>条件付き球共分散が大きい</a:t>
                </a:r>
                <a14:m>
                  <m:oMath xmlns:m="http://schemas.openxmlformats.org/officeDocument/2006/math">
                    <m:r>
                      <a:rPr lang="en-US" altLang="ja-JP" sz="2800" b="0" i="1" smtClean="0">
                        <a:solidFill>
                          <a:schemeClr val="tx1"/>
                        </a:solidFill>
                        <a:latin typeface="Cambria Math" panose="02040503050406030204" pitchFamily="18" charset="0"/>
                      </a:rPr>
                      <m:t>𝑞</m:t>
                    </m:r>
                  </m:oMath>
                </a14:m>
                <a:r>
                  <a:rPr lang="ja-JP" altLang="en-US" sz="2800">
                    <a:solidFill>
                      <a:schemeClr val="tx1"/>
                    </a:solidFill>
                    <a:latin typeface="+mn-ea"/>
                    <a:cs typeface="Arial" panose="020B0604020202020204" pitchFamily="34" charset="0"/>
                  </a:rPr>
                  <a:t>個の項を抽出</a:t>
                </a:r>
                <a:endParaRPr kumimoji="1" lang="ja-JP" altLang="en-US" sz="2800"/>
              </a:p>
            </p:txBody>
          </p:sp>
        </mc:Choice>
        <mc:Fallback xmlns="">
          <p:sp>
            <p:nvSpPr>
              <p:cNvPr id="9" name="テキスト ボックス 8">
                <a:extLst>
                  <a:ext uri="{FF2B5EF4-FFF2-40B4-BE49-F238E27FC236}">
                    <a16:creationId xmlns:a16="http://schemas.microsoft.com/office/drawing/2014/main" id="{3D5686EE-09C9-8B82-F301-31544FA998BC}"/>
                  </a:ext>
                </a:extLst>
              </p:cNvPr>
              <p:cNvSpPr txBox="1">
                <a:spLocks noRot="1" noChangeAspect="1" noMove="1" noResize="1" noEditPoints="1" noAdjustHandles="1" noChangeArrowheads="1" noChangeShapeType="1" noTextEdit="1"/>
              </p:cNvSpPr>
              <p:nvPr/>
            </p:nvSpPr>
            <p:spPr>
              <a:xfrm>
                <a:off x="5125641" y="3283667"/>
                <a:ext cx="6852838" cy="523220"/>
              </a:xfrm>
              <a:prstGeom prst="rect">
                <a:avLst/>
              </a:prstGeom>
              <a:blipFill>
                <a:blip r:embed="rId4"/>
                <a:stretch>
                  <a:fillRect l="-1657" t="-9091" r="-737" b="-29545"/>
                </a:stretch>
              </a:blipFill>
              <a:ln w="28575"/>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10" name="コンテンツ プレースホルダー 2">
                <a:extLst>
                  <a:ext uri="{FF2B5EF4-FFF2-40B4-BE49-F238E27FC236}">
                    <a16:creationId xmlns:a16="http://schemas.microsoft.com/office/drawing/2014/main" id="{97BB8110-B29E-B4DF-FD0D-832B52426175}"/>
                  </a:ext>
                </a:extLst>
              </p:cNvPr>
              <p:cNvSpPr txBox="1">
                <a:spLocks/>
              </p:cNvSpPr>
              <p:nvPr/>
            </p:nvSpPr>
            <p:spPr>
              <a:xfrm>
                <a:off x="264320" y="4000513"/>
                <a:ext cx="9722643" cy="79556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lnSpc>
                    <a:spcPct val="100000"/>
                  </a:lnSpc>
                  <a:buNone/>
                </a:pPr>
                <a14:m>
                  <m:oMathPara xmlns:m="http://schemas.openxmlformats.org/officeDocument/2006/math">
                    <m:oMathParaPr>
                      <m:jc m:val="centerGroup"/>
                    </m:oMathParaPr>
                    <m:oMath xmlns:m="http://schemas.openxmlformats.org/officeDocument/2006/math">
                      <m:r>
                        <a:rPr lang="ja-JP" altLang="en-US" sz="2400" i="1" smtClean="0">
                          <a:latin typeface="Cambria Math" panose="02040503050406030204" pitchFamily="18" charset="0"/>
                        </a:rPr>
                        <m:t>𝜓</m:t>
                      </m:r>
                      <m:d>
                        <m:dPr>
                          <m:ctrlPr>
                            <a:rPr lang="en-US" altLang="ja-JP" sz="2400" b="1" i="1">
                              <a:latin typeface="Cambria Math" panose="02040503050406030204" pitchFamily="18" charset="0"/>
                            </a:rPr>
                          </m:ctrlPr>
                        </m:dPr>
                        <m:e>
                          <m:r>
                            <a:rPr lang="en-US" altLang="ja-JP" sz="2400" b="1" i="1">
                              <a:latin typeface="Cambria Math" panose="02040503050406030204" pitchFamily="18" charset="0"/>
                            </a:rPr>
                            <m:t>𝑪</m:t>
                          </m:r>
                          <m:r>
                            <a:rPr lang="en-US" altLang="ja-JP" sz="2400" b="1" i="1">
                              <a:latin typeface="Cambria Math" panose="02040503050406030204" pitchFamily="18" charset="0"/>
                            </a:rPr>
                            <m:t>;</m:t>
                          </m:r>
                          <m:r>
                            <a:rPr lang="ja-JP" altLang="en-US" sz="2400" b="1" i="1">
                              <a:latin typeface="Cambria Math" panose="02040503050406030204" pitchFamily="18" charset="0"/>
                            </a:rPr>
                            <m:t>𝜶</m:t>
                          </m:r>
                        </m:e>
                      </m:d>
                      <m:r>
                        <a:rPr lang="en-US" altLang="ja-JP" sz="2400" b="0"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smtClean="0">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b="0" i="1" smtClean="0">
                              <a:latin typeface="Cambria Math" panose="02040503050406030204" pitchFamily="18" charset="0"/>
                              <a:ea typeface="Cambria Math" panose="02040503050406030204" pitchFamily="18" charset="0"/>
                            </a:rPr>
                            <m:t>𝑗</m:t>
                          </m:r>
                          <m:r>
                            <a:rPr lang="en-US" altLang="ja-JP" sz="2400" i="1">
                              <a:latin typeface="Cambria Math" panose="02040503050406030204" pitchFamily="18" charset="0"/>
                              <a:ea typeface="Cambria Math" panose="02040503050406030204" pitchFamily="18" charset="0"/>
                            </a:rPr>
                            <m:t>,</m:t>
                          </m:r>
                          <m:r>
                            <a:rPr lang="en-US" altLang="ja-JP" sz="2400" b="0" i="1" smtClean="0">
                              <a:latin typeface="Cambria Math" panose="02040503050406030204" pitchFamily="18" charset="0"/>
                              <a:ea typeface="Cambria Math" panose="02040503050406030204" pitchFamily="18" charset="0"/>
                            </a:rPr>
                            <m:t>𝑘</m:t>
                          </m:r>
                        </m:sub>
                      </m:sSub>
                      <m:sSub>
                        <m:sSubPr>
                          <m:ctrlPr>
                            <a:rPr lang="en-US" altLang="ja-JP" sz="2400" i="1" smtClean="0">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b="0" i="1" smtClean="0">
                              <a:latin typeface="Cambria Math" panose="02040503050406030204" pitchFamily="18" charset="0"/>
                            </a:rPr>
                            <m:t>𝑗</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b="0" i="1" smtClean="0">
                              <a:latin typeface="Cambria Math" panose="02040503050406030204" pitchFamily="18" charset="0"/>
                            </a:rPr>
                            <m:t>𝑘</m:t>
                          </m:r>
                        </m:sub>
                      </m:sSub>
                    </m:oMath>
                  </m:oMathPara>
                </a14:m>
                <a:endParaRPr lang="en-US" altLang="ja-JP" sz="2400" dirty="0"/>
              </a:p>
              <a:p>
                <a:pPr marL="0" indent="0">
                  <a:lnSpc>
                    <a:spcPct val="100000"/>
                  </a:lnSpc>
                  <a:buNone/>
                </a:pPr>
                <a14:m>
                  <m:oMathPara xmlns:m="http://schemas.openxmlformats.org/officeDocument/2006/math">
                    <m:oMathParaPr>
                      <m:jc m:val="centerGroup"/>
                    </m:oMathParaPr>
                    <m:oMath xmlns:m="http://schemas.openxmlformats.org/officeDocument/2006/math">
                      <m:r>
                        <a:rPr kumimoji="1" lang="ja-JP" altLang="en-US" sz="2400" b="0" i="1" smtClean="0">
                          <a:latin typeface="Cambria Math" panose="02040503050406030204" pitchFamily="18" charset="0"/>
                        </a:rPr>
                        <m:t>𝜑</m:t>
                      </m:r>
                      <m:d>
                        <m:dPr>
                          <m:ctrlPr>
                            <a:rPr kumimoji="1" lang="en-US" altLang="ja-JP" sz="2400" b="1" i="1">
                              <a:latin typeface="Cambria Math" panose="02040503050406030204" pitchFamily="18" charset="0"/>
                            </a:rPr>
                          </m:ctrlPr>
                        </m:dPr>
                        <m:e>
                          <m:r>
                            <a:rPr lang="en-US" altLang="ja-JP" sz="2400" b="1" i="1">
                              <a:latin typeface="Cambria Math" panose="02040503050406030204" pitchFamily="18" charset="0"/>
                            </a:rPr>
                            <m:t>𝑪</m:t>
                          </m:r>
                          <m:r>
                            <a:rPr kumimoji="1" lang="en-US" altLang="ja-JP" sz="2400" b="1" i="1">
                              <a:latin typeface="Cambria Math" panose="02040503050406030204" pitchFamily="18" charset="0"/>
                            </a:rPr>
                            <m:t>;</m:t>
                          </m:r>
                          <m:r>
                            <a:rPr kumimoji="1" lang="ja-JP" altLang="en-US" sz="2400" b="1" i="1">
                              <a:latin typeface="Cambria Math" panose="02040503050406030204" pitchFamily="18" charset="0"/>
                            </a:rPr>
                            <m:t>𝜸</m:t>
                          </m:r>
                        </m:e>
                      </m:d>
                      <m:r>
                        <a:rPr kumimoji="1" lang="en-US" altLang="ja-JP" sz="2400" b="1" i="1" smtClean="0">
                          <a:latin typeface="Cambria Math" panose="02040503050406030204" pitchFamily="18" charset="0"/>
                        </a:rPr>
                        <m:t>=</m:t>
                      </m:r>
                      <m:sSub>
                        <m:sSubPr>
                          <m:ctrlPr>
                            <a:rPr lang="en-US" altLang="ja-JP" sz="2400" i="1" smtClean="0">
                              <a:latin typeface="Cambria Math" panose="02040503050406030204" pitchFamily="18" charset="0"/>
                            </a:rPr>
                          </m:ctrlPr>
                        </m:sSubPr>
                        <m:e>
                          <m:r>
                            <a:rPr lang="en-US" altLang="ja-JP" sz="2400" i="1" smtClean="0">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smtClean="0">
                              <a:latin typeface="Cambria Math" panose="02040503050406030204" pitchFamily="18" charset="0"/>
                            </a:rPr>
                          </m:ctrlPr>
                        </m:sSubPr>
                        <m:e>
                          <m:r>
                            <a:rPr lang="en-US" altLang="ja-JP" sz="2400" i="1" smtClean="0">
                              <a:latin typeface="Cambria Math" panose="02040503050406030204" pitchFamily="18" charset="0"/>
                              <a:ea typeface="Cambria Math" panose="02040503050406030204" pitchFamily="18" charset="0"/>
                            </a:rPr>
                            <m:t>𝛾</m:t>
                          </m:r>
                        </m:e>
                        <m:sub>
                          <m:r>
                            <a:rPr lang="en-US" altLang="ja-JP" sz="2400" b="0" i="1" smtClean="0">
                              <a:latin typeface="Cambria Math" panose="02040503050406030204" pitchFamily="18" charset="0"/>
                              <a:ea typeface="Cambria Math" panose="02040503050406030204" pitchFamily="18" charset="0"/>
                            </a:rPr>
                            <m:t>𝑗</m:t>
                          </m:r>
                          <m:r>
                            <a:rPr lang="en-US" altLang="ja-JP" sz="2400" i="1">
                              <a:latin typeface="Cambria Math" panose="02040503050406030204" pitchFamily="18" charset="0"/>
                              <a:ea typeface="Cambria Math" panose="02040503050406030204" pitchFamily="18" charset="0"/>
                            </a:rPr>
                            <m:t>,</m:t>
                          </m:r>
                          <m:r>
                            <a:rPr lang="en-US" altLang="ja-JP" sz="2400" b="0" i="1" smtClean="0">
                              <a:latin typeface="Cambria Math" panose="02040503050406030204" pitchFamily="18" charset="0"/>
                              <a:ea typeface="Cambria Math" panose="02040503050406030204" pitchFamily="18" charset="0"/>
                            </a:rPr>
                            <m:t>𝑘</m:t>
                          </m:r>
                        </m:sub>
                      </m:sSub>
                      <m:sSub>
                        <m:sSubPr>
                          <m:ctrlPr>
                            <a:rPr lang="en-US" altLang="ja-JP" sz="2400" i="1" smtClean="0">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b="0" i="1" smtClean="0">
                              <a:latin typeface="Cambria Math" panose="02040503050406030204" pitchFamily="18" charset="0"/>
                            </a:rPr>
                            <m:t>𝑗</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b="0" i="1" smtClean="0">
                              <a:latin typeface="Cambria Math" panose="02040503050406030204" pitchFamily="18" charset="0"/>
                            </a:rPr>
                            <m:t>𝑘</m:t>
                          </m:r>
                        </m:sub>
                      </m:sSub>
                    </m:oMath>
                  </m:oMathPara>
                </a14:m>
                <a:endParaRPr lang="en-US" altLang="ja-JP" sz="2400" dirty="0"/>
              </a:p>
              <a:p>
                <a:pPr marL="0" indent="0">
                  <a:lnSpc>
                    <a:spcPct val="100000"/>
                  </a:lnSpc>
                  <a:buNone/>
                </a:pPr>
                <a:endParaRPr kumimoji="1" lang="ja-JP" altLang="en-US" sz="2400"/>
              </a:p>
            </p:txBody>
          </p:sp>
        </mc:Choice>
        <mc:Fallback>
          <p:sp>
            <p:nvSpPr>
              <p:cNvPr id="10" name="コンテンツ プレースホルダー 2">
                <a:extLst>
                  <a:ext uri="{FF2B5EF4-FFF2-40B4-BE49-F238E27FC236}">
                    <a16:creationId xmlns:a16="http://schemas.microsoft.com/office/drawing/2014/main" id="{97BB8110-B29E-B4DF-FD0D-832B52426175}"/>
                  </a:ext>
                </a:extLst>
              </p:cNvPr>
              <p:cNvSpPr txBox="1">
                <a:spLocks noRot="1" noChangeAspect="1" noMove="1" noResize="1" noEditPoints="1" noAdjustHandles="1" noChangeArrowheads="1" noChangeShapeType="1" noTextEdit="1"/>
              </p:cNvSpPr>
              <p:nvPr/>
            </p:nvSpPr>
            <p:spPr>
              <a:xfrm>
                <a:off x="264320" y="4000513"/>
                <a:ext cx="9722643" cy="795566"/>
              </a:xfrm>
              <a:prstGeom prst="rect">
                <a:avLst/>
              </a:prstGeom>
              <a:blipFill>
                <a:blip r:embed="rId5"/>
                <a:stretch>
                  <a:fillRect b="-18750"/>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11" name="テキスト ボックス 10">
                <a:extLst>
                  <a:ext uri="{FF2B5EF4-FFF2-40B4-BE49-F238E27FC236}">
                    <a16:creationId xmlns:a16="http://schemas.microsoft.com/office/drawing/2014/main" id="{901AAF7F-565F-C204-6CE2-BCD38FFB95FC}"/>
                  </a:ext>
                </a:extLst>
              </p:cNvPr>
              <p:cNvSpPr txBox="1"/>
              <p:nvPr/>
            </p:nvSpPr>
            <p:spPr>
              <a:xfrm>
                <a:off x="3290392" y="6038435"/>
                <a:ext cx="5347233" cy="523220"/>
              </a:xfrm>
              <a:prstGeom prst="rect">
                <a:avLst/>
              </a:prstGeom>
              <a:ln w="28575"/>
            </p:spPr>
            <p:style>
              <a:lnRef idx="2">
                <a:schemeClr val="accent1"/>
              </a:lnRef>
              <a:fillRef idx="1">
                <a:schemeClr val="lt1"/>
              </a:fillRef>
              <a:effectRef idx="0">
                <a:schemeClr val="accent1"/>
              </a:effectRef>
              <a:fontRef idx="minor">
                <a:schemeClr val="dk1"/>
              </a:fontRef>
            </p:style>
            <p:txBody>
              <a:bodyPr wrap="none" rtlCol="0">
                <a:spAutoFit/>
              </a:bodyPr>
              <a:lstStyle/>
              <a:p>
                <a14:m>
                  <m:oMath xmlns:m="http://schemas.openxmlformats.org/officeDocument/2006/math">
                    <m:r>
                      <a:rPr lang="ja-JP" altLang="en-US" sz="2800" i="1" smtClean="0">
                        <a:latin typeface="Cambria Math" panose="02040503050406030204" pitchFamily="18" charset="0"/>
                      </a:rPr>
                      <m:t>𝜓</m:t>
                    </m:r>
                    <m:d>
                      <m:dPr>
                        <m:ctrlPr>
                          <a:rPr lang="en-US" altLang="ja-JP" sz="2800" b="1" i="1">
                            <a:latin typeface="Cambria Math" panose="02040503050406030204" pitchFamily="18" charset="0"/>
                          </a:rPr>
                        </m:ctrlPr>
                      </m:dPr>
                      <m:e>
                        <m:r>
                          <a:rPr lang="en-US" altLang="ja-JP" sz="2800" b="1" i="1" smtClean="0">
                            <a:latin typeface="Cambria Math" panose="02040503050406030204" pitchFamily="18" charset="0"/>
                          </a:rPr>
                          <m:t>𝑪</m:t>
                        </m:r>
                        <m:r>
                          <a:rPr lang="en-US" altLang="ja-JP" sz="2800" b="1" i="1">
                            <a:latin typeface="Cambria Math" panose="02040503050406030204" pitchFamily="18" charset="0"/>
                          </a:rPr>
                          <m:t>;</m:t>
                        </m:r>
                        <m:r>
                          <a:rPr lang="ja-JP" altLang="en-US" sz="2800" b="1" i="1">
                            <a:latin typeface="Cambria Math" panose="02040503050406030204" pitchFamily="18" charset="0"/>
                          </a:rPr>
                          <m:t>𝜶</m:t>
                        </m:r>
                      </m:e>
                    </m:d>
                  </m:oMath>
                </a14:m>
                <a:r>
                  <a:rPr lang="ja-JP" altLang="en-US" sz="2800"/>
                  <a:t>と</a:t>
                </a:r>
                <a14:m>
                  <m:oMath xmlns:m="http://schemas.openxmlformats.org/officeDocument/2006/math">
                    <m:r>
                      <a:rPr lang="ja-JP" altLang="en-US" sz="2800" i="1">
                        <a:latin typeface="Cambria Math" panose="02040503050406030204" pitchFamily="18" charset="0"/>
                      </a:rPr>
                      <m:t>𝜑</m:t>
                    </m:r>
                    <m:d>
                      <m:dPr>
                        <m:ctrlPr>
                          <a:rPr lang="en-US" altLang="ja-JP" sz="2800" b="1" i="1">
                            <a:latin typeface="Cambria Math" panose="02040503050406030204" pitchFamily="18" charset="0"/>
                          </a:rPr>
                        </m:ctrlPr>
                      </m:dPr>
                      <m:e>
                        <m:r>
                          <a:rPr lang="en-US" altLang="ja-JP" sz="2800" b="1" i="1" smtClean="0">
                            <a:latin typeface="Cambria Math" panose="02040503050406030204" pitchFamily="18" charset="0"/>
                          </a:rPr>
                          <m:t>𝑪</m:t>
                        </m:r>
                        <m:r>
                          <a:rPr lang="en-US" altLang="ja-JP" sz="2800" b="1" i="1">
                            <a:latin typeface="Cambria Math" panose="02040503050406030204" pitchFamily="18" charset="0"/>
                          </a:rPr>
                          <m:t>;</m:t>
                        </m:r>
                        <m:r>
                          <a:rPr lang="ja-JP" altLang="en-US" sz="2800" b="1" i="1">
                            <a:latin typeface="Cambria Math" panose="02040503050406030204" pitchFamily="18" charset="0"/>
                          </a:rPr>
                          <m:t>𝜸</m:t>
                        </m:r>
                      </m:e>
                    </m:d>
                  </m:oMath>
                </a14:m>
                <a:r>
                  <a:rPr kumimoji="1" lang="ja-JP" altLang="en-US" sz="2800"/>
                  <a:t>は同じ項を抽出</a:t>
                </a:r>
              </a:p>
            </p:txBody>
          </p:sp>
        </mc:Choice>
        <mc:Fallback>
          <p:sp>
            <p:nvSpPr>
              <p:cNvPr id="11" name="テキスト ボックス 10">
                <a:extLst>
                  <a:ext uri="{FF2B5EF4-FFF2-40B4-BE49-F238E27FC236}">
                    <a16:creationId xmlns:a16="http://schemas.microsoft.com/office/drawing/2014/main" id="{901AAF7F-565F-C204-6CE2-BCD38FFB95FC}"/>
                  </a:ext>
                </a:extLst>
              </p:cNvPr>
              <p:cNvSpPr txBox="1">
                <a:spLocks noRot="1" noChangeAspect="1" noMove="1" noResize="1" noEditPoints="1" noAdjustHandles="1" noChangeArrowheads="1" noChangeShapeType="1" noTextEdit="1"/>
              </p:cNvSpPr>
              <p:nvPr/>
            </p:nvSpPr>
            <p:spPr>
              <a:xfrm>
                <a:off x="3290392" y="6038435"/>
                <a:ext cx="5347233" cy="523220"/>
              </a:xfrm>
              <a:prstGeom prst="rect">
                <a:avLst/>
              </a:prstGeom>
              <a:blipFill>
                <a:blip r:embed="rId6"/>
                <a:stretch>
                  <a:fillRect l="-1179" t="-9091" r="-1651" b="-29545"/>
                </a:stretch>
              </a:blipFill>
              <a:ln w="28575"/>
            </p:spPr>
            <p:txBody>
              <a:bodyPr/>
              <a:lstStyle/>
              <a:p>
                <a:r>
                  <a:rPr lang="ja-JP" altLang="en-US">
                    <a:noFill/>
                  </a:rPr>
                  <a:t> </a:t>
                </a:r>
              </a:p>
            </p:txBody>
          </p:sp>
        </mc:Fallback>
      </mc:AlternateContent>
      <p:sp>
        <p:nvSpPr>
          <p:cNvPr id="12" name="右中かっこ 11">
            <a:extLst>
              <a:ext uri="{FF2B5EF4-FFF2-40B4-BE49-F238E27FC236}">
                <a16:creationId xmlns:a16="http://schemas.microsoft.com/office/drawing/2014/main" id="{2B1E9CF1-81A8-B3F3-9CA0-1E1061970D16}"/>
              </a:ext>
            </a:extLst>
          </p:cNvPr>
          <p:cNvSpPr/>
          <p:nvPr/>
        </p:nvSpPr>
        <p:spPr>
          <a:xfrm rot="5400000">
            <a:off x="5721588" y="3477201"/>
            <a:ext cx="301139" cy="3000384"/>
          </a:xfrm>
          <a:prstGeom prst="rightBrace">
            <a:avLst>
              <a:gd name="adj1" fmla="val 8333"/>
              <a:gd name="adj2" fmla="val 50538"/>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mc:AlternateContent xmlns:mc="http://schemas.openxmlformats.org/markup-compatibility/2006" xmlns:a14="http://schemas.microsoft.com/office/drawing/2010/main">
        <mc:Choice Requires="a14">
          <p:sp>
            <p:nvSpPr>
              <p:cNvPr id="14" name="テキスト ボックス 13">
                <a:extLst>
                  <a:ext uri="{FF2B5EF4-FFF2-40B4-BE49-F238E27FC236}">
                    <a16:creationId xmlns:a16="http://schemas.microsoft.com/office/drawing/2014/main" id="{4E1A4944-BC21-164D-5717-4C983B45BE47}"/>
                  </a:ext>
                </a:extLst>
              </p:cNvPr>
              <p:cNvSpPr txBox="1"/>
              <p:nvPr/>
            </p:nvSpPr>
            <p:spPr>
              <a:xfrm>
                <a:off x="5640291" y="5127962"/>
                <a:ext cx="748603" cy="523220"/>
              </a:xfrm>
              <a:prstGeom prst="rect">
                <a:avLst/>
              </a:prstGeom>
              <a:noFill/>
            </p:spPr>
            <p:txBody>
              <a:bodyPr wrap="none" rtlCol="0">
                <a:spAutoFit/>
              </a:bodyPr>
              <a:lstStyle/>
              <a:p>
                <a14:m>
                  <m:oMath xmlns:m="http://schemas.openxmlformats.org/officeDocument/2006/math">
                    <m:r>
                      <a:rPr lang="en-US" altLang="ja-JP" sz="2800" b="0" i="1" smtClean="0">
                        <a:solidFill>
                          <a:schemeClr val="tx1"/>
                        </a:solidFill>
                        <a:latin typeface="Cambria Math" panose="02040503050406030204" pitchFamily="18" charset="0"/>
                      </a:rPr>
                      <m:t>𝑞</m:t>
                    </m:r>
                  </m:oMath>
                </a14:m>
                <a:r>
                  <a:rPr lang="ja-JP" altLang="en-US" sz="2800">
                    <a:solidFill>
                      <a:schemeClr val="tx1"/>
                    </a:solidFill>
                    <a:latin typeface="+mn-ea"/>
                    <a:cs typeface="Arial" panose="020B0604020202020204" pitchFamily="34" charset="0"/>
                  </a:rPr>
                  <a:t>個</a:t>
                </a:r>
                <a:endParaRPr kumimoji="1" lang="ja-JP" altLang="en-US" sz="2800"/>
              </a:p>
            </p:txBody>
          </p:sp>
        </mc:Choice>
        <mc:Fallback xmlns="">
          <p:sp>
            <p:nvSpPr>
              <p:cNvPr id="14" name="テキスト ボックス 13">
                <a:extLst>
                  <a:ext uri="{FF2B5EF4-FFF2-40B4-BE49-F238E27FC236}">
                    <a16:creationId xmlns:a16="http://schemas.microsoft.com/office/drawing/2014/main" id="{4E1A4944-BC21-164D-5717-4C983B45BE47}"/>
                  </a:ext>
                </a:extLst>
              </p:cNvPr>
              <p:cNvSpPr txBox="1">
                <a:spLocks noRot="1" noChangeAspect="1" noMove="1" noResize="1" noEditPoints="1" noAdjustHandles="1" noChangeArrowheads="1" noChangeShapeType="1" noTextEdit="1"/>
              </p:cNvSpPr>
              <p:nvPr/>
            </p:nvSpPr>
            <p:spPr>
              <a:xfrm>
                <a:off x="5640291" y="5127962"/>
                <a:ext cx="748603" cy="523220"/>
              </a:xfrm>
              <a:prstGeom prst="rect">
                <a:avLst/>
              </a:prstGeom>
              <a:blipFill>
                <a:blip r:embed="rId7"/>
                <a:stretch>
                  <a:fillRect l="-5000" t="-11905" r="-15000" b="-33333"/>
                </a:stretch>
              </a:blipFill>
            </p:spPr>
            <p:txBody>
              <a:bodyPr/>
              <a:lstStyle/>
              <a:p>
                <a:r>
                  <a:rPr lang="ja-JP" altLang="en-US">
                    <a:noFill/>
                  </a:rPr>
                  <a:t> </a:t>
                </a:r>
              </a:p>
            </p:txBody>
          </p:sp>
        </mc:Fallback>
      </mc:AlternateContent>
      <p:sp>
        <p:nvSpPr>
          <p:cNvPr id="16" name="右中かっこ 15">
            <a:extLst>
              <a:ext uri="{FF2B5EF4-FFF2-40B4-BE49-F238E27FC236}">
                <a16:creationId xmlns:a16="http://schemas.microsoft.com/office/drawing/2014/main" id="{5059707A-153B-9C92-C531-5031C378145F}"/>
              </a:ext>
            </a:extLst>
          </p:cNvPr>
          <p:cNvSpPr/>
          <p:nvPr/>
        </p:nvSpPr>
        <p:spPr>
          <a:xfrm rot="5400000">
            <a:off x="6978569" y="-1618140"/>
            <a:ext cx="325593" cy="8091500"/>
          </a:xfrm>
          <a:prstGeom prst="rightBrace">
            <a:avLst>
              <a:gd name="adj1" fmla="val 8333"/>
              <a:gd name="adj2" fmla="val 50538"/>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mc:AlternateContent xmlns:mc="http://schemas.openxmlformats.org/markup-compatibility/2006" xmlns:a14="http://schemas.microsoft.com/office/drawing/2010/main">
        <mc:Choice Requires="a14">
          <p:sp>
            <p:nvSpPr>
              <p:cNvPr id="17" name="テキスト ボックス 16">
                <a:extLst>
                  <a:ext uri="{FF2B5EF4-FFF2-40B4-BE49-F238E27FC236}">
                    <a16:creationId xmlns:a16="http://schemas.microsoft.com/office/drawing/2014/main" id="{F59038EE-4B55-FFF4-E57A-94FD698F790C}"/>
                  </a:ext>
                </a:extLst>
              </p:cNvPr>
              <p:cNvSpPr txBox="1"/>
              <p:nvPr/>
            </p:nvSpPr>
            <p:spPr>
              <a:xfrm>
                <a:off x="6166982" y="2566821"/>
                <a:ext cx="2274982" cy="523220"/>
              </a:xfrm>
              <a:prstGeom prst="rect">
                <a:avLst/>
              </a:prstGeom>
              <a:noFill/>
            </p:spPr>
            <p:txBody>
              <a:bodyPr wrap="none" rtlCol="0">
                <a:spAutoFit/>
              </a:bodyPr>
              <a:lstStyle/>
              <a:p>
                <a14:m>
                  <m:oMath xmlns:m="http://schemas.openxmlformats.org/officeDocument/2006/math">
                    <m:f>
                      <m:fPr>
                        <m:type m:val="lin"/>
                        <m:ctrlPr>
                          <a:rPr lang="ja-JP" altLang="en-US" sz="2800" i="1" smtClean="0">
                            <a:solidFill>
                              <a:schemeClr val="tx1"/>
                            </a:solidFill>
                            <a:latin typeface="Cambria Math" panose="02040503050406030204" pitchFamily="18" charset="0"/>
                            <a:ea typeface="+mn-ea"/>
                          </a:rPr>
                        </m:ctrlPr>
                      </m:fPr>
                      <m:num>
                        <m:r>
                          <a:rPr lang="en-US" altLang="ja-JP" sz="2800" b="0" i="1" smtClean="0">
                            <a:solidFill>
                              <a:schemeClr val="tx1"/>
                            </a:solidFill>
                            <a:latin typeface="Cambria Math" panose="02040503050406030204" pitchFamily="18" charset="0"/>
                            <a:ea typeface="+mn-ea"/>
                          </a:rPr>
                          <m:t>𝑝</m:t>
                        </m:r>
                        <m:r>
                          <a:rPr lang="en-US" altLang="ja-JP" sz="2800" b="0" i="1" smtClean="0">
                            <a:solidFill>
                              <a:schemeClr val="tx1"/>
                            </a:solidFill>
                            <a:latin typeface="Cambria Math" panose="02040503050406030204" pitchFamily="18" charset="0"/>
                            <a:ea typeface="+mn-ea"/>
                          </a:rPr>
                          <m:t>(</m:t>
                        </m:r>
                        <m:r>
                          <a:rPr lang="en-US" altLang="ja-JP" sz="2800" b="0" i="1" smtClean="0">
                            <a:solidFill>
                              <a:schemeClr val="tx1"/>
                            </a:solidFill>
                            <a:latin typeface="Cambria Math" panose="02040503050406030204" pitchFamily="18" charset="0"/>
                            <a:ea typeface="+mn-ea"/>
                          </a:rPr>
                          <m:t>𝑝</m:t>
                        </m:r>
                        <m:r>
                          <a:rPr lang="en-US" altLang="ja-JP" sz="2800" b="0" i="1" smtClean="0">
                            <a:solidFill>
                              <a:schemeClr val="tx1"/>
                            </a:solidFill>
                            <a:latin typeface="Cambria Math" panose="02040503050406030204" pitchFamily="18" charset="0"/>
                            <a:ea typeface="+mn-ea"/>
                          </a:rPr>
                          <m:t>+3)</m:t>
                        </m:r>
                      </m:num>
                      <m:den>
                        <m:r>
                          <a:rPr lang="en-US" altLang="ja-JP" sz="2800" b="0" i="1" smtClean="0">
                            <a:solidFill>
                              <a:schemeClr val="tx1"/>
                            </a:solidFill>
                            <a:latin typeface="Cambria Math" panose="02040503050406030204" pitchFamily="18" charset="0"/>
                            <a:ea typeface="+mn-ea"/>
                          </a:rPr>
                          <m:t>2</m:t>
                        </m:r>
                      </m:den>
                    </m:f>
                  </m:oMath>
                </a14:m>
                <a:r>
                  <a:rPr lang="ja-JP" altLang="en-US" sz="2800">
                    <a:solidFill>
                      <a:schemeClr val="tx1"/>
                    </a:solidFill>
                    <a:latin typeface="+mn-ea"/>
                    <a:cs typeface="Arial" panose="020B0604020202020204" pitchFamily="34" charset="0"/>
                  </a:rPr>
                  <a:t>個</a:t>
                </a:r>
                <a:endParaRPr kumimoji="1" lang="ja-JP" altLang="en-US" sz="2800"/>
              </a:p>
            </p:txBody>
          </p:sp>
        </mc:Choice>
        <mc:Fallback xmlns="">
          <p:sp>
            <p:nvSpPr>
              <p:cNvPr id="17" name="テキスト ボックス 16">
                <a:extLst>
                  <a:ext uri="{FF2B5EF4-FFF2-40B4-BE49-F238E27FC236}">
                    <a16:creationId xmlns:a16="http://schemas.microsoft.com/office/drawing/2014/main" id="{F59038EE-4B55-FFF4-E57A-94FD698F790C}"/>
                  </a:ext>
                </a:extLst>
              </p:cNvPr>
              <p:cNvSpPr txBox="1">
                <a:spLocks noRot="1" noChangeAspect="1" noMove="1" noResize="1" noEditPoints="1" noAdjustHandles="1" noChangeArrowheads="1" noChangeShapeType="1" noTextEdit="1"/>
              </p:cNvSpPr>
              <p:nvPr/>
            </p:nvSpPr>
            <p:spPr>
              <a:xfrm>
                <a:off x="6166982" y="2566821"/>
                <a:ext cx="2274982" cy="523220"/>
              </a:xfrm>
              <a:prstGeom prst="rect">
                <a:avLst/>
              </a:prstGeom>
              <a:blipFill>
                <a:blip r:embed="rId8"/>
                <a:stretch>
                  <a:fillRect l="-1667" t="-128571" r="-4444" b="-190476"/>
                </a:stretch>
              </a:blipFill>
            </p:spPr>
            <p:txBody>
              <a:bodyPr/>
              <a:lstStyle/>
              <a:p>
                <a:r>
                  <a:rPr lang="ja-JP" altLang="en-US">
                    <a:noFill/>
                  </a:rPr>
                  <a:t> </a:t>
                </a:r>
              </a:p>
            </p:txBody>
          </p:sp>
        </mc:Fallback>
      </mc:AlternateContent>
      <p:sp>
        <p:nvSpPr>
          <p:cNvPr id="3" name="スライド番号プレースホルダー 2">
            <a:extLst>
              <a:ext uri="{FF2B5EF4-FFF2-40B4-BE49-F238E27FC236}">
                <a16:creationId xmlns:a16="http://schemas.microsoft.com/office/drawing/2014/main" id="{185F843A-BBF9-85C5-3442-AC5580D20A08}"/>
              </a:ext>
            </a:extLst>
          </p:cNvPr>
          <p:cNvSpPr>
            <a:spLocks noGrp="1"/>
          </p:cNvSpPr>
          <p:nvPr>
            <p:ph type="sldNum" sz="quarter" idx="12"/>
          </p:nvPr>
        </p:nvSpPr>
        <p:spPr/>
        <p:txBody>
          <a:bodyPr/>
          <a:lstStyle/>
          <a:p>
            <a:fld id="{21218AEF-8260-6F42-89D9-6D82E053F226}" type="slidenum">
              <a:rPr kumimoji="1" lang="ja-JP" altLang="en-US" smtClean="0"/>
              <a:t>24</a:t>
            </a:fld>
            <a:endParaRPr kumimoji="1" lang="ja-JP" altLang="en-US"/>
          </a:p>
        </p:txBody>
      </p:sp>
    </p:spTree>
    <p:extLst>
      <p:ext uri="{BB962C8B-B14F-4D97-AF65-F5344CB8AC3E}">
        <p14:creationId xmlns:p14="http://schemas.microsoft.com/office/powerpoint/2010/main" val="2730247948"/>
      </p:ext>
    </p:extLst>
  </p:cSld>
  <p:clrMapOvr>
    <a:masterClrMapping/>
  </p:clrMapOvr>
  <mc:AlternateContent xmlns:mc="http://schemas.openxmlformats.org/markup-compatibility/2006">
    <mc:Choice xmlns:p14="http://schemas.microsoft.com/office/powerpoint/2010/main" Requires="p14">
      <p:transition spd="slow" p14:dur="2000" advTm="12355"/>
    </mc:Choice>
    <mc:Fallback>
      <p:transition spd="slow" advTm="12355"/>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F2E6361-E112-9056-2C97-A7F440BFD536}"/>
              </a:ext>
            </a:extLst>
          </p:cNvPr>
          <p:cNvSpPr>
            <a:spLocks noGrp="1"/>
          </p:cNvSpPr>
          <p:nvPr>
            <p:ph type="title"/>
          </p:nvPr>
        </p:nvSpPr>
        <p:spPr/>
        <p:txBody>
          <a:bodyPr/>
          <a:lstStyle/>
          <a:p>
            <a:r>
              <a:rPr kumimoji="1" lang="ja-JP" altLang="en-US"/>
              <a:t>提案手法</a:t>
            </a:r>
          </a:p>
        </p:txBody>
      </p:sp>
      <p:sp>
        <p:nvSpPr>
          <p:cNvPr id="3" name="コンテンツ プレースホルダー 2">
            <a:extLst>
              <a:ext uri="{FF2B5EF4-FFF2-40B4-BE49-F238E27FC236}">
                <a16:creationId xmlns:a16="http://schemas.microsoft.com/office/drawing/2014/main" id="{1773CBD7-A789-CB8F-3CFA-5E0ECDFDD138}"/>
              </a:ext>
            </a:extLst>
          </p:cNvPr>
          <p:cNvSpPr>
            <a:spLocks noGrp="1"/>
          </p:cNvSpPr>
          <p:nvPr>
            <p:ph idx="1"/>
          </p:nvPr>
        </p:nvSpPr>
        <p:spPr/>
        <p:txBody>
          <a:bodyPr/>
          <a:lstStyle/>
          <a:p>
            <a:pPr marL="571500" indent="-571500">
              <a:buFont typeface="+mj-lt"/>
              <a:buAutoNum type="arabicPeriod" startAt="4"/>
            </a:pPr>
            <a:r>
              <a:rPr lang="en-US" altLang="ja-JP" sz="2800" dirty="0" err="1">
                <a:latin typeface="+mn-ea"/>
                <a:cs typeface="Arial" panose="020B0604020202020204" pitchFamily="34" charset="0"/>
              </a:rPr>
              <a:t>GLiDeR</a:t>
            </a:r>
            <a:r>
              <a:rPr lang="ja-JP" altLang="en-US" sz="2800">
                <a:latin typeface="+mn-ea"/>
                <a:cs typeface="Arial" panose="020B0604020202020204" pitchFamily="34" charset="0"/>
              </a:rPr>
              <a:t>により，</a:t>
            </a:r>
            <a:r>
              <a:rPr lang="ja-JP" altLang="en-US">
                <a:latin typeface="+mn-ea"/>
                <a:cs typeface="Arial" panose="020B0604020202020204" pitchFamily="34" charset="0"/>
              </a:rPr>
              <a:t>共変量</a:t>
            </a:r>
            <a:r>
              <a:rPr lang="ja-JP" altLang="en-US" sz="2800">
                <a:latin typeface="+mn-ea"/>
                <a:cs typeface="Arial" panose="020B0604020202020204" pitchFamily="34" charset="0"/>
              </a:rPr>
              <a:t>選択および回帰係数の推定を行う</a:t>
            </a:r>
            <a:endParaRPr lang="en-US" altLang="ja-JP" sz="2800" dirty="0">
              <a:latin typeface="+mn-ea"/>
              <a:cs typeface="Arial" panose="020B0604020202020204" pitchFamily="34" charset="0"/>
            </a:endParaRPr>
          </a:p>
          <a:p>
            <a:pPr marL="571500" indent="-571500">
              <a:buFont typeface="+mj-lt"/>
              <a:buAutoNum type="arabicPeriod" startAt="5"/>
            </a:pPr>
            <a:r>
              <a:rPr kumimoji="1" lang="ja-JP" altLang="en-US" sz="2800">
                <a:latin typeface="+mn-ea"/>
                <a:cs typeface="Arial" panose="020B0604020202020204" pitchFamily="34" charset="0"/>
              </a:rPr>
              <a:t>二重頑健推定法により，因果効果値の推定を行う</a:t>
            </a:r>
            <a:endParaRPr kumimoji="1" lang="ja-JP" altLang="en-US" sz="2800"/>
          </a:p>
        </p:txBody>
      </p:sp>
      <p:sp>
        <p:nvSpPr>
          <p:cNvPr id="5" name="スライド番号プレースホルダー 4">
            <a:extLst>
              <a:ext uri="{FF2B5EF4-FFF2-40B4-BE49-F238E27FC236}">
                <a16:creationId xmlns:a16="http://schemas.microsoft.com/office/drawing/2014/main" id="{B9376E77-896A-AA9D-7CDE-2FE0523B0707}"/>
              </a:ext>
            </a:extLst>
          </p:cNvPr>
          <p:cNvSpPr>
            <a:spLocks noGrp="1"/>
          </p:cNvSpPr>
          <p:nvPr>
            <p:ph type="sldNum" sz="quarter" idx="12"/>
          </p:nvPr>
        </p:nvSpPr>
        <p:spPr/>
        <p:txBody>
          <a:bodyPr/>
          <a:lstStyle/>
          <a:p>
            <a:fld id="{21218AEF-8260-6F42-89D9-6D82E053F226}" type="slidenum">
              <a:rPr kumimoji="1" lang="ja-JP" altLang="en-US" smtClean="0"/>
              <a:t>25</a:t>
            </a:fld>
            <a:endParaRPr kumimoji="1" lang="ja-JP" altLang="en-US"/>
          </a:p>
        </p:txBody>
      </p:sp>
    </p:spTree>
    <p:extLst>
      <p:ext uri="{BB962C8B-B14F-4D97-AF65-F5344CB8AC3E}">
        <p14:creationId xmlns:p14="http://schemas.microsoft.com/office/powerpoint/2010/main" val="2304894412"/>
      </p:ext>
    </p:extLst>
  </p:cSld>
  <p:clrMapOvr>
    <a:masterClrMapping/>
  </p:clrMapOvr>
  <mc:AlternateContent xmlns:mc="http://schemas.openxmlformats.org/markup-compatibility/2006">
    <mc:Choice xmlns:p14="http://schemas.microsoft.com/office/powerpoint/2010/main" Requires="p14">
      <p:transition spd="slow" p14:dur="2000" advTm="11287"/>
    </mc:Choice>
    <mc:Fallback>
      <p:transition spd="slow" advTm="11287"/>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3" name="コンテンツ プレースホルダー 2">
                <a:extLst>
                  <a:ext uri="{FF2B5EF4-FFF2-40B4-BE49-F238E27FC236}">
                    <a16:creationId xmlns:a16="http://schemas.microsoft.com/office/drawing/2014/main" id="{6A400BFF-9D0B-8165-AF36-0B1D32E10F46}"/>
                  </a:ext>
                </a:extLst>
              </p:cNvPr>
              <p:cNvSpPr>
                <a:spLocks noGrp="1"/>
              </p:cNvSpPr>
              <p:nvPr>
                <p:ph idx="1"/>
              </p:nvPr>
            </p:nvSpPr>
            <p:spPr>
              <a:xfrm>
                <a:off x="838200" y="1285875"/>
                <a:ext cx="10515600" cy="5572125"/>
              </a:xfrm>
            </p:spPr>
            <p:txBody>
              <a:bodyPr>
                <a:normAutofit lnSpcReduction="10000"/>
              </a:bodyPr>
              <a:lstStyle/>
              <a:p>
                <a:pPr marL="0" indent="0">
                  <a:buNone/>
                </a:pPr>
                <a:r>
                  <a:rPr kumimoji="1" lang="ja-JP" altLang="en-US" sz="2400" dirty="0">
                    <a:latin typeface="Arial" panose="020B0604020202020204" pitchFamily="34" charset="0"/>
                    <a:cs typeface="Arial" panose="020B0604020202020204" pitchFamily="34" charset="0"/>
                  </a:rPr>
                  <a:t>共変量</a:t>
                </a:r>
                <a:endParaRPr kumimoji="1" lang="en-US" altLang="ja-JP" sz="2400" dirty="0">
                  <a:latin typeface="Arial" panose="020B0604020202020204" pitchFamily="34" charset="0"/>
                  <a:cs typeface="Arial" panose="020B0604020202020204" pitchFamily="34" charset="0"/>
                </a:endParaRPr>
              </a:p>
              <a:p>
                <a:pPr marL="0" indent="0">
                  <a:buNone/>
                </a:pPr>
                <a14:m>
                  <m:oMathPara xmlns:m="http://schemas.openxmlformats.org/officeDocument/2006/math">
                    <m:oMathParaPr>
                      <m:jc m:val="centerGroup"/>
                    </m:oMathParaPr>
                    <m:oMath xmlns:m="http://schemas.openxmlformats.org/officeDocument/2006/math">
                      <m:r>
                        <a:rPr lang="en-US" altLang="ja-JP" sz="2400" b="1" i="1">
                          <a:latin typeface="Cambria Math" panose="02040503050406030204" pitchFamily="18" charset="0"/>
                        </a:rPr>
                        <m:t>𝑪</m:t>
                      </m:r>
                      <m:r>
                        <a:rPr lang="en-US" altLang="ja-JP" sz="2400" b="0" i="1" smtClean="0">
                          <a:latin typeface="Cambria Math" panose="02040503050406030204" pitchFamily="18" charset="0"/>
                          <a:ea typeface="Cambria Math" panose="02040503050406030204" pitchFamily="18" charset="0"/>
                        </a:rPr>
                        <m:t>~</m:t>
                      </m:r>
                      <m:r>
                        <a:rPr lang="ja-JP" altLang="en-US" sz="2400" b="0" i="1" smtClean="0">
                          <a:latin typeface="Cambria Math" panose="02040503050406030204" pitchFamily="18" charset="0"/>
                          <a:ea typeface="Cambria Math" panose="02040503050406030204" pitchFamily="18" charset="0"/>
                        </a:rPr>
                        <m:t>𝒩</m:t>
                      </m:r>
                      <m:r>
                        <a:rPr lang="en-US" altLang="ja-JP" sz="2400" b="0" i="1" smtClean="0">
                          <a:latin typeface="Cambria Math" panose="02040503050406030204" pitchFamily="18" charset="0"/>
                          <a:ea typeface="Cambria Math" panose="02040503050406030204" pitchFamily="18" charset="0"/>
                        </a:rPr>
                        <m:t>(</m:t>
                      </m:r>
                      <m:r>
                        <a:rPr lang="en-US" altLang="ja-JP" sz="2400" b="1" i="1" smtClean="0">
                          <a:latin typeface="Cambria Math" panose="02040503050406030204" pitchFamily="18" charset="0"/>
                          <a:ea typeface="Cambria Math" panose="02040503050406030204" pitchFamily="18" charset="0"/>
                        </a:rPr>
                        <m:t>𝟎</m:t>
                      </m:r>
                      <m:r>
                        <a:rPr lang="en-US" altLang="ja-JP" sz="2400" b="0" i="1" smtClean="0">
                          <a:latin typeface="Cambria Math" panose="02040503050406030204" pitchFamily="18" charset="0"/>
                          <a:ea typeface="Cambria Math" panose="02040503050406030204" pitchFamily="18" charset="0"/>
                        </a:rPr>
                        <m:t>,</m:t>
                      </m:r>
                      <m:sSub>
                        <m:sSubPr>
                          <m:ctrlPr>
                            <a:rPr lang="en-US" altLang="ja-JP" sz="2400" b="0" i="1" smtClean="0">
                              <a:latin typeface="Cambria Math" panose="02040503050406030204" pitchFamily="18" charset="0"/>
                              <a:ea typeface="Cambria Math" panose="02040503050406030204" pitchFamily="18" charset="0"/>
                            </a:rPr>
                          </m:ctrlPr>
                        </m:sSubPr>
                        <m:e>
                          <m:r>
                            <a:rPr lang="en-US" altLang="ja-JP" sz="2400" b="0" i="1" smtClean="0">
                              <a:latin typeface="Cambria Math" panose="02040503050406030204" pitchFamily="18" charset="0"/>
                              <a:ea typeface="Cambria Math" panose="02040503050406030204" pitchFamily="18" charset="0"/>
                            </a:rPr>
                            <m:t>𝐼</m:t>
                          </m:r>
                        </m:e>
                        <m:sub>
                          <m:r>
                            <a:rPr lang="en-US" altLang="ja-JP" sz="2400" b="0" i="1" smtClean="0">
                              <a:latin typeface="Cambria Math" panose="02040503050406030204" pitchFamily="18" charset="0"/>
                              <a:ea typeface="Cambria Math" panose="02040503050406030204" pitchFamily="18" charset="0"/>
                            </a:rPr>
                            <m:t>𝑝</m:t>
                          </m:r>
                        </m:sub>
                      </m:sSub>
                      <m:r>
                        <a:rPr lang="en-US" altLang="ja-JP" sz="2400" b="0" i="1" smtClean="0">
                          <a:latin typeface="Cambria Math" panose="02040503050406030204" pitchFamily="18" charset="0"/>
                          <a:ea typeface="Cambria Math" panose="02040503050406030204" pitchFamily="18" charset="0"/>
                        </a:rPr>
                        <m:t>)</m:t>
                      </m:r>
                    </m:oMath>
                  </m:oMathPara>
                </a14:m>
                <a:endParaRPr lang="en-US" altLang="ja-JP" sz="2400" dirty="0">
                  <a:latin typeface="Arial" panose="020B0604020202020204" pitchFamily="34" charset="0"/>
                  <a:cs typeface="Arial" panose="020B0604020202020204" pitchFamily="34" charset="0"/>
                </a:endParaRPr>
              </a:p>
              <a:p>
                <a:pPr marL="0" indent="0">
                  <a:buNone/>
                </a:pPr>
                <a:r>
                  <a:rPr lang="ja-JP" altLang="en-US" sz="2400" dirty="0">
                    <a:latin typeface="Arial" panose="020B0604020202020204" pitchFamily="34" charset="0"/>
                    <a:cs typeface="Arial" panose="020B0604020202020204" pitchFamily="34" charset="0"/>
                  </a:rPr>
                  <a:t>割り当て</a:t>
                </a:r>
                <a:r>
                  <a:rPr kumimoji="1" lang="ja-JP" altLang="en-US" sz="2400" dirty="0">
                    <a:latin typeface="Arial" panose="020B0604020202020204" pitchFamily="34" charset="0"/>
                    <a:cs typeface="Arial" panose="020B0604020202020204" pitchFamily="34" charset="0"/>
                  </a:rPr>
                  <a:t>変数</a:t>
                </a:r>
                <a:endParaRPr kumimoji="1" lang="en-US" altLang="ja-JP" sz="2400" dirty="0">
                  <a:latin typeface="Arial" panose="020B0604020202020204" pitchFamily="34" charset="0"/>
                  <a:cs typeface="Arial" panose="020B0604020202020204" pitchFamily="34" charset="0"/>
                </a:endParaRPr>
              </a:p>
              <a:p>
                <a:pPr marL="0" indent="0">
                  <a:lnSpc>
                    <a:spcPct val="120000"/>
                  </a:lnSpc>
                  <a:buNone/>
                </a:pPr>
                <a14:m>
                  <m:oMathPara xmlns:m="http://schemas.openxmlformats.org/officeDocument/2006/math">
                    <m:oMathParaPr>
                      <m:jc m:val="centerGroup"/>
                    </m:oMathParaPr>
                    <m:oMath xmlns:m="http://schemas.openxmlformats.org/officeDocument/2006/math">
                      <m:sSub>
                        <m:sSubPr>
                          <m:ctrlPr>
                            <a:rPr lang="en-US" altLang="ja-JP" sz="2400" i="1" smtClean="0">
                              <a:latin typeface="Cambria Math" panose="02040503050406030204" pitchFamily="18" charset="0"/>
                            </a:rPr>
                          </m:ctrlPr>
                        </m:sSubPr>
                        <m:e>
                          <m:r>
                            <a:rPr lang="en-US" altLang="ja-JP" sz="2400" b="0" i="1" smtClean="0">
                              <a:latin typeface="Cambria Math" panose="02040503050406030204" pitchFamily="18" charset="0"/>
                            </a:rPr>
                            <m:t>𝑋</m:t>
                          </m:r>
                        </m:e>
                        <m:sub>
                          <m:r>
                            <a:rPr lang="en-US" altLang="ja-JP" sz="2400" b="0" i="1" smtClean="0">
                              <a:latin typeface="Cambria Math" panose="02040503050406030204" pitchFamily="18" charset="0"/>
                            </a:rPr>
                            <m:t>𝑖</m:t>
                          </m:r>
                        </m:sub>
                      </m:sSub>
                      <m:r>
                        <a:rPr lang="en-US" altLang="ja-JP" sz="2400" b="0" i="1" smtClean="0">
                          <a:latin typeface="Cambria Math" panose="02040503050406030204" pitchFamily="18" charset="0"/>
                        </a:rPr>
                        <m:t>~</m:t>
                      </m:r>
                      <m:r>
                        <a:rPr lang="en-US" altLang="ja-JP" sz="2400" b="0" i="1" smtClean="0">
                          <a:latin typeface="Cambria Math" panose="02040503050406030204" pitchFamily="18" charset="0"/>
                        </a:rPr>
                        <m:t>𝐵𝑒𝑟𝑛𝑜𝑢𝑙𝑙𝑖</m:t>
                      </m:r>
                      <m:r>
                        <a:rPr lang="en-US" altLang="ja-JP" sz="2400" b="0" i="1" smtClean="0">
                          <a:latin typeface="Cambria Math" panose="02040503050406030204" pitchFamily="18" charset="0"/>
                        </a:rPr>
                        <m:t>[</m:t>
                      </m:r>
                      <m:func>
                        <m:funcPr>
                          <m:ctrlPr>
                            <a:rPr lang="en-US" altLang="ja-JP" sz="2400" b="0" i="1" smtClean="0">
                              <a:latin typeface="Cambria Math" panose="02040503050406030204" pitchFamily="18" charset="0"/>
                            </a:rPr>
                          </m:ctrlPr>
                        </m:funcPr>
                        <m:fName>
                          <m:r>
                            <m:rPr>
                              <m:sty m:val="p"/>
                            </m:rPr>
                            <a:rPr lang="en-US" altLang="ja-JP" sz="2400" b="0" i="0" smtClean="0">
                              <a:latin typeface="Cambria Math" panose="02040503050406030204" pitchFamily="18" charset="0"/>
                            </a:rPr>
                            <m:t>expit</m:t>
                          </m:r>
                        </m:fName>
                        <m:e>
                          <m:r>
                            <a:rPr lang="en-US" altLang="ja-JP" sz="2400" b="0" i="1" smtClean="0">
                              <a:latin typeface="Cambria Math" panose="02040503050406030204" pitchFamily="18" charset="0"/>
                            </a:rPr>
                            <m:t>{</m:t>
                          </m:r>
                          <m:r>
                            <a:rPr lang="en-US" altLang="ja-JP" sz="2400" b="0" i="1" smtClean="0">
                              <a:latin typeface="Cambria Math" panose="02040503050406030204" pitchFamily="18" charset="0"/>
                            </a:rPr>
                            <m:t>𝑓</m:t>
                          </m:r>
                          <m:r>
                            <a:rPr lang="en-US" altLang="ja-JP" sz="2400" b="0"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b="0" i="1" smtClean="0">
                                  <a:latin typeface="Cambria Math" panose="02040503050406030204" pitchFamily="18" charset="0"/>
                                </a:rPr>
                                <m:t>𝑖</m:t>
                              </m:r>
                            </m:sub>
                          </m:sSub>
                          <m:r>
                            <a:rPr lang="en-US" altLang="ja-JP" sz="2400" b="0" i="1" smtClean="0">
                              <a:latin typeface="Cambria Math" panose="02040503050406030204" pitchFamily="18" charset="0"/>
                            </a:rPr>
                            <m:t>)}</m:t>
                          </m:r>
                        </m:e>
                      </m:func>
                      <m:r>
                        <a:rPr lang="en-US" altLang="ja-JP" sz="2400" b="0" i="1" smtClean="0">
                          <a:latin typeface="Cambria Math" panose="02040503050406030204" pitchFamily="18" charset="0"/>
                        </a:rPr>
                        <m:t>]</m:t>
                      </m:r>
                    </m:oMath>
                  </m:oMathPara>
                </a14:m>
                <a:endParaRPr lang="en-US" altLang="ja-JP" sz="2400" dirty="0">
                  <a:latin typeface="Arial" panose="020B0604020202020204" pitchFamily="34" charset="0"/>
                  <a:cs typeface="Arial" panose="020B0604020202020204" pitchFamily="34" charset="0"/>
                </a:endParaRPr>
              </a:p>
              <a:p>
                <a:pPr marL="0" indent="0">
                  <a:lnSpc>
                    <a:spcPct val="120000"/>
                  </a:lnSpc>
                  <a:buNone/>
                </a:pPr>
                <a14:m>
                  <m:oMathPara xmlns:m="http://schemas.openxmlformats.org/officeDocument/2006/math">
                    <m:oMathParaPr>
                      <m:jc m:val="centerGroup"/>
                    </m:oMathParaPr>
                    <m:oMath xmlns:m="http://schemas.openxmlformats.org/officeDocument/2006/math">
                      <m:func>
                        <m:funcPr>
                          <m:ctrlPr>
                            <a:rPr lang="en-US" altLang="ja-JP" sz="2400" b="0" i="1" smtClean="0">
                              <a:latin typeface="Cambria Math" panose="02040503050406030204" pitchFamily="18" charset="0"/>
                            </a:rPr>
                          </m:ctrlPr>
                        </m:funcPr>
                        <m:fName>
                          <m:r>
                            <m:rPr>
                              <m:sty m:val="p"/>
                            </m:rPr>
                            <a:rPr lang="en-US" altLang="ja-JP" sz="2400" b="0" i="0" smtClean="0">
                              <a:latin typeface="Cambria Math" panose="02040503050406030204" pitchFamily="18" charset="0"/>
                            </a:rPr>
                            <m:t>expit</m:t>
                          </m:r>
                        </m:fName>
                        <m:e>
                          <m:r>
                            <a:rPr lang="en-US" altLang="ja-JP" sz="2400" b="0" i="1" smtClean="0">
                              <a:latin typeface="Cambria Math" panose="02040503050406030204" pitchFamily="18" charset="0"/>
                            </a:rPr>
                            <m:t>{</m:t>
                          </m:r>
                          <m:r>
                            <a:rPr lang="en-US" altLang="ja-JP" sz="2400" b="0" i="1" smtClean="0">
                              <a:latin typeface="Cambria Math" panose="02040503050406030204" pitchFamily="18" charset="0"/>
                            </a:rPr>
                            <m:t>𝑓</m:t>
                          </m:r>
                          <m:r>
                            <a:rPr lang="en-US" altLang="ja-JP" sz="2400" b="0"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b="0" i="1" smtClean="0">
                                  <a:latin typeface="Cambria Math" panose="02040503050406030204" pitchFamily="18" charset="0"/>
                                </a:rPr>
                                <m:t>𝑖</m:t>
                              </m:r>
                            </m:sub>
                          </m:sSub>
                          <m:r>
                            <a:rPr lang="en-US" altLang="ja-JP" sz="2400" b="0" i="1" smtClean="0">
                              <a:latin typeface="Cambria Math" panose="02040503050406030204" pitchFamily="18" charset="0"/>
                            </a:rPr>
                            <m:t>)}</m:t>
                          </m:r>
                        </m:e>
                      </m:func>
                      <m:r>
                        <a:rPr lang="en-US" altLang="ja-JP" sz="2400" b="0" i="1" smtClean="0">
                          <a:latin typeface="Cambria Math" panose="02040503050406030204" pitchFamily="18" charset="0"/>
                        </a:rPr>
                        <m:t>=</m:t>
                      </m:r>
                      <m:f>
                        <m:fPr>
                          <m:ctrlPr>
                            <a:rPr lang="en-US" altLang="ja-JP" sz="2400" i="1" smtClean="0">
                              <a:latin typeface="Cambria Math" panose="02040503050406030204" pitchFamily="18" charset="0"/>
                            </a:rPr>
                          </m:ctrlPr>
                        </m:fPr>
                        <m:num>
                          <m:r>
                            <m:rPr>
                              <m:sty m:val="p"/>
                            </m:rPr>
                            <a:rPr lang="en-US" altLang="ja-JP" sz="2400" b="0" i="0" smtClean="0">
                              <a:latin typeface="Cambria Math" panose="02040503050406030204" pitchFamily="18" charset="0"/>
                            </a:rPr>
                            <m:t>exp</m:t>
                          </m:r>
                          <m:r>
                            <a:rPr lang="en-US" altLang="ja-JP" sz="2400" b="0" i="1" smtClean="0">
                              <a:latin typeface="Cambria Math" panose="02040503050406030204" pitchFamily="18" charset="0"/>
                            </a:rPr>
                            <m:t>⁡{</m:t>
                          </m:r>
                          <m:r>
                            <a:rPr lang="en-US" altLang="ja-JP" sz="2400" b="0" i="1" smtClean="0">
                              <a:latin typeface="Cambria Math" panose="02040503050406030204" pitchFamily="18" charset="0"/>
                            </a:rPr>
                            <m:t>𝑓</m:t>
                          </m:r>
                          <m:r>
                            <a:rPr lang="en-US" altLang="ja-JP" sz="2400" b="0"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b="0" i="1" smtClean="0">
                                  <a:latin typeface="Cambria Math" panose="02040503050406030204" pitchFamily="18" charset="0"/>
                                </a:rPr>
                                <m:t>𝑖</m:t>
                              </m:r>
                            </m:sub>
                          </m:sSub>
                          <m:r>
                            <a:rPr lang="en-US" altLang="ja-JP" sz="2400" b="0" i="1" smtClean="0">
                              <a:latin typeface="Cambria Math" panose="02040503050406030204" pitchFamily="18" charset="0"/>
                            </a:rPr>
                            <m:t>)}</m:t>
                          </m:r>
                        </m:num>
                        <m:den>
                          <m:r>
                            <a:rPr lang="en-US" altLang="ja-JP" sz="2400" b="0" i="1" smtClean="0">
                              <a:latin typeface="Cambria Math" panose="02040503050406030204" pitchFamily="18" charset="0"/>
                            </a:rPr>
                            <m:t>1+</m:t>
                          </m:r>
                          <m:r>
                            <m:rPr>
                              <m:sty m:val="p"/>
                            </m:rPr>
                            <a:rPr lang="en-US" altLang="ja-JP" sz="2400" b="0" i="0" smtClean="0">
                              <a:latin typeface="Cambria Math" panose="02040503050406030204" pitchFamily="18" charset="0"/>
                            </a:rPr>
                            <m:t>exp</m:t>
                          </m:r>
                          <m:r>
                            <a:rPr lang="en-US" altLang="ja-JP" sz="2400" b="0" i="1" smtClean="0">
                              <a:latin typeface="Cambria Math" panose="02040503050406030204" pitchFamily="18" charset="0"/>
                            </a:rPr>
                            <m:t>⁡{</m:t>
                          </m:r>
                          <m:r>
                            <a:rPr lang="en-US" altLang="ja-JP" sz="2400" b="0" i="1" smtClean="0">
                              <a:latin typeface="Cambria Math" panose="02040503050406030204" pitchFamily="18" charset="0"/>
                            </a:rPr>
                            <m:t>𝑓</m:t>
                          </m:r>
                          <m:r>
                            <a:rPr lang="en-US" altLang="ja-JP" sz="2400" b="0"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b="0" i="1" smtClean="0">
                                  <a:latin typeface="Cambria Math" panose="02040503050406030204" pitchFamily="18" charset="0"/>
                                </a:rPr>
                                <m:t>𝑖</m:t>
                              </m:r>
                            </m:sub>
                          </m:sSub>
                          <m:r>
                            <a:rPr lang="en-US" altLang="ja-JP" sz="2400" b="0" i="1" smtClean="0">
                              <a:latin typeface="Cambria Math" panose="02040503050406030204" pitchFamily="18" charset="0"/>
                            </a:rPr>
                            <m:t>)}</m:t>
                          </m:r>
                        </m:den>
                      </m:f>
                    </m:oMath>
                  </m:oMathPara>
                </a14:m>
                <a:endParaRPr lang="en-US" altLang="ja-JP" sz="2400" dirty="0">
                  <a:latin typeface="Arial" panose="020B0604020202020204" pitchFamily="34" charset="0"/>
                  <a:cs typeface="Arial" panose="020B0604020202020204" pitchFamily="34" charset="0"/>
                </a:endParaRPr>
              </a:p>
              <a:p>
                <a:pPr marL="0" indent="0">
                  <a:buNone/>
                </a:pPr>
                <a:r>
                  <a:rPr lang="ja-JP" altLang="en-US" sz="2400" dirty="0">
                    <a:latin typeface="Arial" panose="020B0604020202020204" pitchFamily="34" charset="0"/>
                    <a:cs typeface="Arial" panose="020B0604020202020204" pitchFamily="34" charset="0"/>
                  </a:rPr>
                  <a:t>結果</a:t>
                </a:r>
                <a:r>
                  <a:rPr kumimoji="1" lang="ja-JP" altLang="en-US" sz="2400" dirty="0">
                    <a:latin typeface="Arial" panose="020B0604020202020204" pitchFamily="34" charset="0"/>
                    <a:cs typeface="Arial" panose="020B0604020202020204" pitchFamily="34" charset="0"/>
                  </a:rPr>
                  <a:t>変数</a:t>
                </a:r>
                <a:endParaRPr kumimoji="1" lang="en-US" altLang="ja-JP" sz="2400" dirty="0">
                  <a:latin typeface="Arial" panose="020B0604020202020204" pitchFamily="34" charset="0"/>
                  <a:cs typeface="Arial" panose="020B0604020202020204" pitchFamily="34" charset="0"/>
                </a:endParaRPr>
              </a:p>
              <a:p>
                <a:pPr marL="0" indent="0">
                  <a:buNone/>
                </a:pPr>
                <a14:m>
                  <m:oMathPara xmlns:m="http://schemas.openxmlformats.org/officeDocument/2006/math">
                    <m:oMathParaPr>
                      <m:jc m:val="centerGroup"/>
                    </m:oMathParaPr>
                    <m:oMath xmlns:m="http://schemas.openxmlformats.org/officeDocument/2006/math">
                      <m:sSub>
                        <m:sSubPr>
                          <m:ctrlPr>
                            <a:rPr lang="en-US" altLang="ja-JP" sz="2400" i="1" smtClean="0">
                              <a:latin typeface="Cambria Math" panose="02040503050406030204" pitchFamily="18" charset="0"/>
                            </a:rPr>
                          </m:ctrlPr>
                        </m:sSubPr>
                        <m:e>
                          <m:r>
                            <a:rPr lang="en-US" altLang="ja-JP" sz="2400" b="0" i="1" smtClean="0">
                              <a:latin typeface="Cambria Math" panose="02040503050406030204" pitchFamily="18" charset="0"/>
                            </a:rPr>
                            <m:t>𝑌</m:t>
                          </m:r>
                        </m:e>
                        <m:sub>
                          <m:r>
                            <a:rPr lang="en-US" altLang="ja-JP" sz="2400" b="0" i="1" smtClean="0">
                              <a:latin typeface="Cambria Math" panose="02040503050406030204" pitchFamily="18" charset="0"/>
                            </a:rPr>
                            <m:t>𝑖</m:t>
                          </m:r>
                        </m:sub>
                      </m:sSub>
                      <m:r>
                        <a:rPr lang="en-US" altLang="ja-JP" sz="2400" b="0" i="1" smtClean="0">
                          <a:latin typeface="Cambria Math" panose="02040503050406030204" pitchFamily="18" charset="0"/>
                        </a:rPr>
                        <m:t>~</m:t>
                      </m:r>
                      <m:r>
                        <a:rPr lang="ja-JP" altLang="en-US" sz="2400" i="1">
                          <a:latin typeface="Cambria Math" panose="02040503050406030204" pitchFamily="18" charset="0"/>
                          <a:ea typeface="Cambria Math" panose="02040503050406030204" pitchFamily="18" charset="0"/>
                        </a:rPr>
                        <m:t>𝒩</m:t>
                      </m:r>
                      <m:r>
                        <a:rPr lang="en-US" altLang="ja-JP" sz="2400" b="0"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b="0" i="1" smtClean="0">
                              <a:latin typeface="Cambria Math" panose="02040503050406030204" pitchFamily="18" charset="0"/>
                            </a:rPr>
                            <m:t>𝑋</m:t>
                          </m:r>
                        </m:e>
                        <m:sub>
                          <m:r>
                            <a:rPr lang="en-US" altLang="ja-JP" sz="2400" i="1">
                              <a:latin typeface="Cambria Math" panose="02040503050406030204" pitchFamily="18" charset="0"/>
                            </a:rPr>
                            <m:t>𝑖</m:t>
                          </m:r>
                        </m:sub>
                      </m:sSub>
                      <m:r>
                        <a:rPr lang="en-US" altLang="ja-JP" sz="2400" b="0" i="1" smtClean="0">
                          <a:latin typeface="Cambria Math" panose="02040503050406030204" pitchFamily="18" charset="0"/>
                        </a:rPr>
                        <m:t>+</m:t>
                      </m:r>
                      <m:r>
                        <a:rPr lang="en-US" altLang="ja-JP" sz="2400" b="0" i="1" smtClean="0">
                          <a:latin typeface="Cambria Math" panose="02040503050406030204" pitchFamily="18" charset="0"/>
                        </a:rPr>
                        <m:t>𝑔</m:t>
                      </m:r>
                      <m:d>
                        <m:dPr>
                          <m:ctrlPr>
                            <a:rPr lang="en-US" altLang="ja-JP" sz="2400" b="0" i="1" smtClean="0">
                              <a:latin typeface="Cambria Math" panose="02040503050406030204" pitchFamily="18" charset="0"/>
                            </a:rPr>
                          </m:ctrlPr>
                        </m:dPr>
                        <m:e>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𝑖</m:t>
                              </m:r>
                            </m:sub>
                          </m:sSub>
                        </m:e>
                      </m:d>
                      <m:r>
                        <a:rPr lang="en-US" altLang="ja-JP" sz="2400" b="0" i="1" smtClean="0">
                          <a:latin typeface="Cambria Math" panose="02040503050406030204" pitchFamily="18" charset="0"/>
                        </a:rPr>
                        <m:t>,1)</m:t>
                      </m:r>
                    </m:oMath>
                  </m:oMathPara>
                </a14:m>
                <a:endParaRPr kumimoji="1" lang="en-US" altLang="ja-JP" sz="2400" dirty="0">
                  <a:latin typeface="Arial" panose="020B0604020202020204" pitchFamily="34" charset="0"/>
                  <a:cs typeface="Arial" panose="020B0604020202020204" pitchFamily="34" charset="0"/>
                </a:endParaRPr>
              </a:p>
              <a:p>
                <a:pPr marL="0" indent="0">
                  <a:buNone/>
                </a:pPr>
                <a:endParaRPr kumimoji="1" lang="en-US" altLang="ja-JP" sz="2400" dirty="0">
                  <a:latin typeface="Arial" panose="020B0604020202020204" pitchFamily="34" charset="0"/>
                  <a:cs typeface="Arial" panose="020B0604020202020204" pitchFamily="34" charset="0"/>
                </a:endParaRPr>
              </a:p>
              <a:p>
                <a:pPr marL="0" indent="0">
                  <a:buNone/>
                </a:pPr>
                <a:r>
                  <a:rPr kumimoji="1" lang="ja-JP" altLang="en-US" sz="2400" dirty="0">
                    <a:latin typeface="Arial" panose="020B0604020202020204" pitchFamily="34" charset="0"/>
                    <a:cs typeface="Arial" panose="020B0604020202020204" pitchFamily="34" charset="0"/>
                  </a:rPr>
                  <a:t>データ数</a:t>
                </a:r>
                <a:r>
                  <a:rPr kumimoji="1" lang="en-US" altLang="ja-JP" sz="2400" dirty="0">
                    <a:latin typeface="Arial" panose="020B0604020202020204" pitchFamily="34" charset="0"/>
                    <a:cs typeface="Arial" panose="020B0604020202020204" pitchFamily="34" charset="0"/>
                  </a:rPr>
                  <a:t>: 500</a:t>
                </a:r>
                <a:r>
                  <a:rPr kumimoji="1" lang="ja-JP" altLang="en-US" sz="2400" dirty="0">
                    <a:latin typeface="Arial" panose="020B0604020202020204" pitchFamily="34" charset="0"/>
                    <a:cs typeface="Arial" panose="020B0604020202020204" pitchFamily="34" charset="0"/>
                  </a:rPr>
                  <a:t>個</a:t>
                </a:r>
                <a:r>
                  <a:rPr lang="ja-JP" altLang="en-US" sz="2400" dirty="0">
                    <a:latin typeface="Arial" panose="020B0604020202020204" pitchFamily="34" charset="0"/>
                    <a:cs typeface="Arial" panose="020B0604020202020204" pitchFamily="34" charset="0"/>
                  </a:rPr>
                  <a:t>，</a:t>
                </a:r>
                <a:r>
                  <a:rPr lang="en-US" altLang="ja-JP" sz="2400" dirty="0">
                    <a:latin typeface="Arial" panose="020B0604020202020204" pitchFamily="34" charset="0"/>
                    <a:cs typeface="Arial" panose="020B0604020202020204" pitchFamily="34" charset="0"/>
                  </a:rPr>
                  <a:t>		</a:t>
                </a:r>
                <a:r>
                  <a:rPr lang="ja-JP" altLang="en-US" sz="2400" dirty="0">
                    <a:latin typeface="Arial" panose="020B0604020202020204" pitchFamily="34" charset="0"/>
                    <a:cs typeface="Arial" panose="020B0604020202020204" pitchFamily="34" charset="0"/>
                  </a:rPr>
                  <a:t>共変量</a:t>
                </a:r>
                <a:r>
                  <a:rPr lang="en-US" altLang="ja-JP" sz="2400" dirty="0">
                    <a:latin typeface="Arial" panose="020B0604020202020204" pitchFamily="34" charset="0"/>
                    <a:cs typeface="Arial" panose="020B0604020202020204" pitchFamily="34" charset="0"/>
                  </a:rPr>
                  <a:t>:</a:t>
                </a:r>
                <a:r>
                  <a:rPr lang="ja-JP" altLang="en-US" sz="2400">
                    <a:latin typeface="Arial" panose="020B0604020202020204" pitchFamily="34" charset="0"/>
                    <a:cs typeface="Arial" panose="020B0604020202020204" pitchFamily="34" charset="0"/>
                  </a:rPr>
                  <a:t> </a:t>
                </a:r>
                <a:r>
                  <a:rPr lang="en-US" altLang="ja-JP" sz="2400" dirty="0">
                    <a:latin typeface="Arial" panose="020B0604020202020204" pitchFamily="34" charset="0"/>
                    <a:cs typeface="Arial" panose="020B0604020202020204" pitchFamily="34" charset="0"/>
                  </a:rPr>
                  <a:t>10</a:t>
                </a:r>
                <a:r>
                  <a:rPr lang="ja-JP" altLang="en-US" sz="2400">
                    <a:latin typeface="Arial" panose="020B0604020202020204" pitchFamily="34" charset="0"/>
                    <a:cs typeface="Arial" panose="020B0604020202020204" pitchFamily="34" charset="0"/>
                  </a:rPr>
                  <a:t>個</a:t>
                </a:r>
                <a:r>
                  <a:rPr lang="en-US" altLang="ja-JP" sz="2400" dirty="0">
                    <a:latin typeface="Arial" panose="020B0604020202020204" pitchFamily="34" charset="0"/>
                    <a:cs typeface="Arial" panose="020B0604020202020204" pitchFamily="34" charset="0"/>
                  </a:rPr>
                  <a:t>,100</a:t>
                </a:r>
                <a:r>
                  <a:rPr lang="ja-JP" altLang="en-US" sz="2400">
                    <a:latin typeface="Arial" panose="020B0604020202020204" pitchFamily="34" charset="0"/>
                    <a:cs typeface="Arial" panose="020B0604020202020204" pitchFamily="34" charset="0"/>
                  </a:rPr>
                  <a:t>個</a:t>
                </a:r>
                <a:r>
                  <a:rPr lang="en-US" altLang="ja-JP" sz="2400" dirty="0">
                    <a:latin typeface="Arial" panose="020B0604020202020204" pitchFamily="34" charset="0"/>
                    <a:cs typeface="Arial" panose="020B0604020202020204" pitchFamily="34" charset="0"/>
                  </a:rPr>
                  <a:t>	</a:t>
                </a:r>
              </a:p>
              <a:p>
                <a:pPr marL="0" indent="0">
                  <a:buNone/>
                </a:pPr>
                <a:r>
                  <a:rPr lang="ja-JP" altLang="en-US" sz="2400">
                    <a:latin typeface="Arial" panose="020B0604020202020204" pitchFamily="34" charset="0"/>
                    <a:cs typeface="Arial" panose="020B0604020202020204" pitchFamily="34" charset="0"/>
                  </a:rPr>
                  <a:t>推定方法：既存手法（</a:t>
                </a:r>
                <a:r>
                  <a:rPr lang="en-US" altLang="ja-JP" sz="2400" dirty="0" err="1">
                    <a:latin typeface="Arial" panose="020B0604020202020204" pitchFamily="34" charset="0"/>
                    <a:cs typeface="Arial" panose="020B0604020202020204" pitchFamily="34" charset="0"/>
                  </a:rPr>
                  <a:t>GLiDeR</a:t>
                </a:r>
                <a:r>
                  <a:rPr lang="ja-JP" altLang="en-US" sz="2400">
                    <a:latin typeface="Arial" panose="020B0604020202020204" pitchFamily="34" charset="0"/>
                    <a:cs typeface="Arial" panose="020B0604020202020204" pitchFamily="34" charset="0"/>
                  </a:rPr>
                  <a:t>）、提案手法（</a:t>
                </a:r>
                <a14:m>
                  <m:oMath xmlns:m="http://schemas.openxmlformats.org/officeDocument/2006/math">
                    <m:r>
                      <a:rPr lang="en-US" altLang="ja-JP" sz="2400" b="0" i="1" smtClean="0">
                        <a:solidFill>
                          <a:schemeClr val="tx1"/>
                        </a:solidFill>
                        <a:latin typeface="Cambria Math" panose="02040503050406030204" pitchFamily="18" charset="0"/>
                      </a:rPr>
                      <m:t>𝑞</m:t>
                    </m:r>
                    <m:r>
                      <a:rPr lang="en-US" altLang="ja-JP" sz="2400" b="0" i="1" smtClean="0">
                        <a:solidFill>
                          <a:schemeClr val="tx1"/>
                        </a:solidFill>
                        <a:latin typeface="Cambria Math" panose="02040503050406030204" pitchFamily="18" charset="0"/>
                      </a:rPr>
                      <m:t>=30, 100</m:t>
                    </m:r>
                  </m:oMath>
                </a14:m>
                <a:r>
                  <a:rPr lang="ja-JP" altLang="en-US" sz="2400">
                    <a:latin typeface="Arial" panose="020B0604020202020204" pitchFamily="34" charset="0"/>
                    <a:cs typeface="Arial" panose="020B0604020202020204" pitchFamily="34" charset="0"/>
                  </a:rPr>
                  <a:t>）</a:t>
                </a:r>
                <a:endParaRPr lang="en-US" altLang="ja-JP" sz="2400" dirty="0">
                  <a:latin typeface="Arial" panose="020B0604020202020204" pitchFamily="34" charset="0"/>
                  <a:cs typeface="Arial" panose="020B0604020202020204" pitchFamily="34" charset="0"/>
                </a:endParaRPr>
              </a:p>
              <a:p>
                <a:pPr marL="0" indent="0">
                  <a:buNone/>
                </a:pPr>
                <a:r>
                  <a:rPr lang="ja-JP" altLang="en-US" sz="2400">
                    <a:latin typeface="Arial" panose="020B0604020202020204" pitchFamily="34" charset="0"/>
                    <a:cs typeface="Arial" panose="020B0604020202020204" pitchFamily="34" charset="0"/>
                  </a:rPr>
                  <a:t>真</a:t>
                </a:r>
                <a:r>
                  <a:rPr lang="ja-JP" altLang="en-US" sz="2400" dirty="0">
                    <a:latin typeface="Arial" panose="020B0604020202020204" pitchFamily="34" charset="0"/>
                    <a:cs typeface="Arial" panose="020B0604020202020204" pitchFamily="34" charset="0"/>
                  </a:rPr>
                  <a:t>の因果効果値</a:t>
                </a:r>
                <a:r>
                  <a:rPr lang="ja-JP" altLang="en-US" sz="2400">
                    <a:latin typeface="Arial" panose="020B0604020202020204" pitchFamily="34" charset="0"/>
                    <a:cs typeface="Arial" panose="020B0604020202020204" pitchFamily="34" charset="0"/>
                  </a:rPr>
                  <a:t>：</a:t>
                </a:r>
                <a:r>
                  <a:rPr lang="en-US" altLang="ja-JP" sz="2400" dirty="0">
                    <a:latin typeface="Arial" panose="020B0604020202020204" pitchFamily="34" charset="0"/>
                    <a:cs typeface="Arial" panose="020B0604020202020204" pitchFamily="34" charset="0"/>
                  </a:rPr>
                  <a:t>1</a:t>
                </a:r>
              </a:p>
              <a:p>
                <a:pPr marL="0" indent="0">
                  <a:buNone/>
                </a:pPr>
                <a:r>
                  <a:rPr lang="ja-JP" altLang="en-US" sz="2400">
                    <a:latin typeface="Arial" panose="020B0604020202020204" pitchFamily="34" charset="0"/>
                    <a:cs typeface="Arial" panose="020B0604020202020204" pitchFamily="34" charset="0"/>
                  </a:rPr>
                  <a:t>実験回数：</a:t>
                </a:r>
                <a:r>
                  <a:rPr lang="en-US" altLang="ja-JP" sz="2400" dirty="0">
                    <a:latin typeface="Arial" panose="020B0604020202020204" pitchFamily="34" charset="0"/>
                    <a:cs typeface="Arial" panose="020B0604020202020204" pitchFamily="34" charset="0"/>
                  </a:rPr>
                  <a:t>100</a:t>
                </a:r>
                <a:r>
                  <a:rPr lang="ja-JP" altLang="en-US" sz="2400">
                    <a:latin typeface="Arial" panose="020B0604020202020204" pitchFamily="34" charset="0"/>
                    <a:cs typeface="Arial" panose="020B0604020202020204" pitchFamily="34" charset="0"/>
                  </a:rPr>
                  <a:t>回</a:t>
                </a:r>
                <a:endParaRPr lang="en-US" altLang="ja-JP" sz="2400" dirty="0">
                  <a:latin typeface="Arial" panose="020B0604020202020204" pitchFamily="34" charset="0"/>
                  <a:cs typeface="Arial" panose="020B0604020202020204" pitchFamily="34" charset="0"/>
                </a:endParaRPr>
              </a:p>
            </p:txBody>
          </p:sp>
        </mc:Choice>
        <mc:Fallback>
          <p:sp>
            <p:nvSpPr>
              <p:cNvPr id="3" name="コンテンツ プレースホルダー 2">
                <a:extLst>
                  <a:ext uri="{FF2B5EF4-FFF2-40B4-BE49-F238E27FC236}">
                    <a16:creationId xmlns:a16="http://schemas.microsoft.com/office/drawing/2014/main" id="{6A400BFF-9D0B-8165-AF36-0B1D32E10F46}"/>
                  </a:ext>
                </a:extLst>
              </p:cNvPr>
              <p:cNvSpPr>
                <a:spLocks noGrp="1" noRot="1" noChangeAspect="1" noMove="1" noResize="1" noEditPoints="1" noAdjustHandles="1" noChangeArrowheads="1" noChangeShapeType="1" noTextEdit="1"/>
              </p:cNvSpPr>
              <p:nvPr>
                <p:ph idx="1"/>
              </p:nvPr>
            </p:nvSpPr>
            <p:spPr>
              <a:xfrm>
                <a:off x="838200" y="1285875"/>
                <a:ext cx="10515600" cy="5572125"/>
              </a:xfrm>
              <a:blipFill>
                <a:blip r:embed="rId3"/>
                <a:stretch>
                  <a:fillRect l="-965" t="-2050"/>
                </a:stretch>
              </a:blipFill>
            </p:spPr>
            <p:txBody>
              <a:bodyPr/>
              <a:lstStyle/>
              <a:p>
                <a:r>
                  <a:rPr lang="ja-JP" altLang="en-US">
                    <a:noFill/>
                  </a:rPr>
                  <a:t> </a:t>
                </a:r>
              </a:p>
            </p:txBody>
          </p:sp>
        </mc:Fallback>
      </mc:AlternateContent>
      <p:sp>
        <p:nvSpPr>
          <p:cNvPr id="4" name="タイトル 1">
            <a:extLst>
              <a:ext uri="{FF2B5EF4-FFF2-40B4-BE49-F238E27FC236}">
                <a16:creationId xmlns:a16="http://schemas.microsoft.com/office/drawing/2014/main" id="{AE7AF76E-ECF3-2D98-D801-8845F1FC5588}"/>
              </a:ext>
            </a:extLst>
          </p:cNvPr>
          <p:cNvSpPr>
            <a:spLocks noGrp="1"/>
          </p:cNvSpPr>
          <p:nvPr>
            <p:ph type="title"/>
          </p:nvPr>
        </p:nvSpPr>
        <p:spPr>
          <a:xfrm>
            <a:off x="569752" y="136525"/>
            <a:ext cx="10515600" cy="1325563"/>
          </a:xfrm>
        </p:spPr>
        <p:txBody>
          <a:bodyPr/>
          <a:lstStyle/>
          <a:p>
            <a:r>
              <a:rPr kumimoji="1" lang="ja-JP" altLang="en-US"/>
              <a:t>実験設定</a:t>
            </a:r>
            <a:endParaRPr kumimoji="1" lang="ja-JP" altLang="en-US" dirty="0"/>
          </a:p>
        </p:txBody>
      </p:sp>
      <p:sp>
        <p:nvSpPr>
          <p:cNvPr id="2" name="スライド番号プレースホルダー 1">
            <a:extLst>
              <a:ext uri="{FF2B5EF4-FFF2-40B4-BE49-F238E27FC236}">
                <a16:creationId xmlns:a16="http://schemas.microsoft.com/office/drawing/2014/main" id="{29DE03FA-D8EE-13BF-0CA4-A1BEBDCE6B98}"/>
              </a:ext>
            </a:extLst>
          </p:cNvPr>
          <p:cNvSpPr>
            <a:spLocks noGrp="1"/>
          </p:cNvSpPr>
          <p:nvPr>
            <p:ph type="sldNum" sz="quarter" idx="12"/>
          </p:nvPr>
        </p:nvSpPr>
        <p:spPr/>
        <p:txBody>
          <a:bodyPr/>
          <a:lstStyle/>
          <a:p>
            <a:fld id="{21218AEF-8260-6F42-89D9-6D82E053F226}" type="slidenum">
              <a:rPr kumimoji="1" lang="ja-JP" altLang="en-US" smtClean="0"/>
              <a:t>26</a:t>
            </a:fld>
            <a:endParaRPr kumimoji="1" lang="ja-JP" altLang="en-US"/>
          </a:p>
        </p:txBody>
      </p:sp>
    </p:spTree>
    <p:extLst>
      <p:ext uri="{BB962C8B-B14F-4D97-AF65-F5344CB8AC3E}">
        <p14:creationId xmlns:p14="http://schemas.microsoft.com/office/powerpoint/2010/main" val="3200585860"/>
      </p:ext>
    </p:extLst>
  </p:cSld>
  <p:clrMapOvr>
    <a:masterClrMapping/>
  </p:clrMapOvr>
  <mc:AlternateContent xmlns:mc="http://schemas.openxmlformats.org/markup-compatibility/2006">
    <mc:Choice xmlns:p14="http://schemas.microsoft.com/office/powerpoint/2010/main" Requires="p14">
      <p:transition spd="slow" p14:dur="2000" advTm="50210"/>
    </mc:Choice>
    <mc:Fallback>
      <p:transition spd="slow" advTm="5021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2120344-51B2-2D2B-A193-0E0AE52032AF}"/>
              </a:ext>
            </a:extLst>
          </p:cNvPr>
          <p:cNvSpPr>
            <a:spLocks noGrp="1"/>
          </p:cNvSpPr>
          <p:nvPr>
            <p:ph type="title"/>
          </p:nvPr>
        </p:nvSpPr>
        <p:spPr/>
        <p:txBody>
          <a:bodyPr/>
          <a:lstStyle/>
          <a:p>
            <a:r>
              <a:rPr lang="ja-JP" altLang="en-US"/>
              <a:t>モデル設定</a:t>
            </a:r>
            <a:endParaRPr kumimoji="1" lang="ja-JP" altLang="en-US"/>
          </a:p>
        </p:txBody>
      </p:sp>
      <mc:AlternateContent xmlns:mc="http://schemas.openxmlformats.org/markup-compatibility/2006">
        <mc:Choice xmlns:a14="http://schemas.microsoft.com/office/drawing/2010/main" Requires="a14">
          <p:sp>
            <p:nvSpPr>
              <p:cNvPr id="3" name="コンテンツ プレースホルダー 2">
                <a:extLst>
                  <a:ext uri="{FF2B5EF4-FFF2-40B4-BE49-F238E27FC236}">
                    <a16:creationId xmlns:a16="http://schemas.microsoft.com/office/drawing/2014/main" id="{44891DE8-887F-ACD8-3C5E-78E49C045A87}"/>
                  </a:ext>
                </a:extLst>
              </p:cNvPr>
              <p:cNvSpPr>
                <a:spLocks noGrp="1"/>
              </p:cNvSpPr>
              <p:nvPr>
                <p:ph idx="1"/>
              </p:nvPr>
            </p:nvSpPr>
            <p:spPr/>
            <p:txBody>
              <a:bodyPr>
                <a:normAutofit/>
              </a:bodyPr>
              <a:lstStyle/>
              <a:p>
                <a:r>
                  <a:rPr lang="ja-JP" altLang="en-US"/>
                  <a:t>既存手法（</a:t>
                </a:r>
                <a14:m>
                  <m:oMath xmlns:m="http://schemas.openxmlformats.org/officeDocument/2006/math">
                    <m:r>
                      <a:rPr lang="en-US" altLang="ja-JP" b="0" i="1" smtClean="0">
                        <a:latin typeface="Cambria Math" panose="02040503050406030204" pitchFamily="18" charset="0"/>
                      </a:rPr>
                      <m:t>𝑝</m:t>
                    </m:r>
                    <m:r>
                      <a:rPr lang="en-US" altLang="ja-JP" b="0" i="1" smtClean="0">
                        <a:latin typeface="Cambria Math" panose="02040503050406030204" pitchFamily="18" charset="0"/>
                      </a:rPr>
                      <m:t>=100</m:t>
                    </m:r>
                  </m:oMath>
                </a14:m>
                <a:r>
                  <a:rPr lang="ja-JP" altLang="en-US"/>
                  <a:t>）</a:t>
                </a:r>
                <a:endParaRPr lang="en-US" altLang="ja-JP" i="1" dirty="0">
                  <a:latin typeface="Cambria Math" panose="02040503050406030204" pitchFamily="18" charset="0"/>
                </a:endParaRPr>
              </a:p>
              <a:p>
                <a:pPr marL="0" indent="0">
                  <a:buNone/>
                </a:pPr>
                <a14:m>
                  <m:oMathPara xmlns:m="http://schemas.openxmlformats.org/officeDocument/2006/math">
                    <m:oMathParaPr>
                      <m:jc m:val="centerGroup"/>
                    </m:oMathParaPr>
                    <m:oMath xmlns:m="http://schemas.openxmlformats.org/officeDocument/2006/math">
                      <m:r>
                        <a:rPr lang="ja-JP" altLang="en-US" i="1">
                          <a:latin typeface="Cambria Math" panose="02040503050406030204" pitchFamily="18" charset="0"/>
                        </a:rPr>
                        <m:t>𝜓</m:t>
                      </m:r>
                      <m:d>
                        <m:dPr>
                          <m:ctrlPr>
                            <a:rPr lang="en-US" altLang="ja-JP" b="1" i="1">
                              <a:latin typeface="Cambria Math" panose="02040503050406030204" pitchFamily="18" charset="0"/>
                            </a:rPr>
                          </m:ctrlPr>
                        </m:dPr>
                        <m:e>
                          <m:r>
                            <a:rPr lang="en-US" altLang="ja-JP" b="1" i="1" smtClean="0">
                              <a:latin typeface="Cambria Math" panose="02040503050406030204" pitchFamily="18" charset="0"/>
                            </a:rPr>
                            <m:t>𝑪</m:t>
                          </m:r>
                          <m:r>
                            <a:rPr lang="en-US" altLang="ja-JP" b="1" i="1">
                              <a:latin typeface="Cambria Math" panose="02040503050406030204" pitchFamily="18" charset="0"/>
                            </a:rPr>
                            <m:t>;</m:t>
                          </m:r>
                          <m:r>
                            <a:rPr lang="ja-JP" altLang="en-US" b="1" i="1">
                              <a:latin typeface="Cambria Math" panose="02040503050406030204" pitchFamily="18" charset="0"/>
                            </a:rPr>
                            <m:t>𝜶</m:t>
                          </m:r>
                        </m:e>
                      </m:d>
                      <m:r>
                        <a:rPr lang="en-US" altLang="ja-JP" sz="2800" b="0" i="1" smtClean="0">
                          <a:latin typeface="Cambria Math" panose="02040503050406030204" pitchFamily="18" charset="0"/>
                        </a:rPr>
                        <m:t>=</m:t>
                      </m:r>
                      <m:sSub>
                        <m:sSubPr>
                          <m:ctrlPr>
                            <a:rPr lang="en-US" altLang="ja-JP" i="1" smtClean="0">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1</m:t>
                          </m:r>
                        </m:sub>
                      </m:sSub>
                      <m:sSub>
                        <m:sSubPr>
                          <m:ctrlPr>
                            <a:rPr lang="en-US" altLang="ja-JP" i="1">
                              <a:latin typeface="Cambria Math" panose="02040503050406030204" pitchFamily="18" charset="0"/>
                            </a:rPr>
                          </m:ctrlPr>
                        </m:sSubPr>
                        <m:e>
                          <m:r>
                            <a:rPr lang="en-US" altLang="ja-JP" b="1" i="1">
                              <a:latin typeface="Cambria Math" panose="02040503050406030204" pitchFamily="18" charset="0"/>
                            </a:rPr>
                            <m:t>𝑪</m:t>
                          </m:r>
                        </m:e>
                        <m:sub>
                          <m:r>
                            <a:rPr lang="en-US" altLang="ja-JP" i="1">
                              <a:latin typeface="Cambria Math" panose="02040503050406030204" pitchFamily="18" charset="0"/>
                            </a:rPr>
                            <m:t>1</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2</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2</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𝑝</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𝑝</m:t>
                          </m:r>
                        </m:sub>
                      </m:sSub>
                    </m:oMath>
                  </m:oMathPara>
                </a14:m>
                <a:endParaRPr lang="en-US" altLang="ja-JP" dirty="0">
                  <a:latin typeface="Arial" panose="020B0604020202020204" pitchFamily="34" charset="0"/>
                  <a:cs typeface="Arial" panose="020B0604020202020204" pitchFamily="34" charset="0"/>
                </a:endParaRPr>
              </a:p>
              <a:p>
                <a:pPr marL="0" indent="0">
                  <a:buNone/>
                </a:pPr>
                <a14:m>
                  <m:oMathPara xmlns:m="http://schemas.openxmlformats.org/officeDocument/2006/math">
                    <m:oMathParaPr>
                      <m:jc m:val="centerGroup"/>
                    </m:oMathParaPr>
                    <m:oMath xmlns:m="http://schemas.openxmlformats.org/officeDocument/2006/math">
                      <m:r>
                        <a:rPr lang="ja-JP" altLang="en-US" i="1">
                          <a:latin typeface="Cambria Math" panose="02040503050406030204" pitchFamily="18" charset="0"/>
                        </a:rPr>
                        <m:t>𝜑</m:t>
                      </m:r>
                      <m:d>
                        <m:dPr>
                          <m:ctrlPr>
                            <a:rPr lang="en-US" altLang="ja-JP" b="1" i="1">
                              <a:latin typeface="Cambria Math" panose="02040503050406030204" pitchFamily="18" charset="0"/>
                            </a:rPr>
                          </m:ctrlPr>
                        </m:dPr>
                        <m:e>
                          <m:r>
                            <a:rPr lang="en-US" altLang="ja-JP" b="1" i="1" smtClean="0">
                              <a:latin typeface="Cambria Math" panose="02040503050406030204" pitchFamily="18" charset="0"/>
                            </a:rPr>
                            <m:t>𝑪</m:t>
                          </m:r>
                          <m:r>
                            <a:rPr lang="en-US" altLang="ja-JP" b="1" i="1">
                              <a:latin typeface="Cambria Math" panose="02040503050406030204" pitchFamily="18" charset="0"/>
                            </a:rPr>
                            <m:t>;</m:t>
                          </m:r>
                          <m:r>
                            <a:rPr lang="ja-JP" altLang="en-US" b="1" i="1">
                              <a:latin typeface="Cambria Math" panose="02040503050406030204" pitchFamily="18" charset="0"/>
                            </a:rPr>
                            <m:t>𝜸</m:t>
                          </m:r>
                        </m:e>
                      </m:d>
                      <m:r>
                        <a:rPr lang="en-US" altLang="ja-JP" i="1">
                          <a:latin typeface="Cambria Math" panose="02040503050406030204" pitchFamily="18" charset="0"/>
                        </a:rPr>
                        <m:t>=</m:t>
                      </m:r>
                      <m:sSub>
                        <m:sSubPr>
                          <m:ctrlPr>
                            <a:rPr lang="en-US" altLang="ja-JP" i="1" smtClean="0">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1</m:t>
                          </m:r>
                        </m:sub>
                      </m:sSub>
                      <m:sSub>
                        <m:sSubPr>
                          <m:ctrlPr>
                            <a:rPr lang="en-US" altLang="ja-JP" i="1">
                              <a:latin typeface="Cambria Math" panose="02040503050406030204" pitchFamily="18" charset="0"/>
                            </a:rPr>
                          </m:ctrlPr>
                        </m:sSubPr>
                        <m:e>
                          <m:r>
                            <a:rPr lang="en-US" altLang="ja-JP" b="1" i="1">
                              <a:latin typeface="Cambria Math" panose="02040503050406030204" pitchFamily="18" charset="0"/>
                            </a:rPr>
                            <m:t>𝑪</m:t>
                          </m:r>
                        </m:e>
                        <m:sub>
                          <m:r>
                            <a:rPr lang="en-US" altLang="ja-JP" i="1">
                              <a:latin typeface="Cambria Math" panose="02040503050406030204" pitchFamily="18" charset="0"/>
                            </a:rPr>
                            <m:t>1</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2</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2</m:t>
                          </m:r>
                        </m:sub>
                      </m:sSub>
                      <m:r>
                        <a:rPr lang="en-US" altLang="ja-JP" i="1">
                          <a:latin typeface="Cambria Math" panose="02040503050406030204" pitchFamily="18" charset="0"/>
                        </a:rPr>
                        <m:t>+… +</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𝑝</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𝑝</m:t>
                          </m:r>
                        </m:sub>
                      </m:sSub>
                    </m:oMath>
                  </m:oMathPara>
                </a14:m>
                <a:endParaRPr lang="en-US" altLang="ja-JP" dirty="0">
                  <a:latin typeface="Arial" panose="020B0604020202020204" pitchFamily="34" charset="0"/>
                  <a:cs typeface="Arial" panose="020B0604020202020204" pitchFamily="34" charset="0"/>
                </a:endParaRPr>
              </a:p>
              <a:p>
                <a:r>
                  <a:rPr lang="ja-JP" altLang="en-US"/>
                  <a:t>既存手法（</a:t>
                </a:r>
                <a14:m>
                  <m:oMath xmlns:m="http://schemas.openxmlformats.org/officeDocument/2006/math">
                    <m:r>
                      <a:rPr lang="en-US" altLang="ja-JP" b="0" i="1" smtClean="0">
                        <a:latin typeface="Cambria Math" panose="02040503050406030204" pitchFamily="18" charset="0"/>
                      </a:rPr>
                      <m:t>𝑝</m:t>
                    </m:r>
                    <m:r>
                      <a:rPr lang="en-US" altLang="ja-JP" b="0" i="1" smtClean="0">
                        <a:latin typeface="Cambria Math" panose="02040503050406030204" pitchFamily="18" charset="0"/>
                      </a:rPr>
                      <m:t>=10</m:t>
                    </m:r>
                  </m:oMath>
                </a14:m>
                <a:r>
                  <a:rPr lang="ja-JP" altLang="en-US"/>
                  <a:t>）</a:t>
                </a:r>
                <a:r>
                  <a:rPr lang="en-US" altLang="ja-JP" dirty="0"/>
                  <a:t>, </a:t>
                </a:r>
                <a:r>
                  <a:rPr lang="ja-JP" altLang="en-US">
                    <a:latin typeface="Arial" panose="020B0604020202020204" pitchFamily="34" charset="0"/>
                    <a:cs typeface="Arial" panose="020B0604020202020204" pitchFamily="34" charset="0"/>
                  </a:rPr>
                  <a:t>提案手法</a:t>
                </a:r>
                <a:r>
                  <a:rPr lang="ja-JP" altLang="en-US"/>
                  <a:t>（</a:t>
                </a:r>
                <a14:m>
                  <m:oMath xmlns:m="http://schemas.openxmlformats.org/officeDocument/2006/math">
                    <m:r>
                      <a:rPr lang="en-US" altLang="ja-JP" b="0" i="1" smtClean="0">
                        <a:latin typeface="Cambria Math" panose="02040503050406030204" pitchFamily="18" charset="0"/>
                      </a:rPr>
                      <m:t>𝑝</m:t>
                    </m:r>
                    <m:r>
                      <a:rPr lang="en-US" altLang="ja-JP" b="0" i="1" smtClean="0">
                        <a:latin typeface="Cambria Math" panose="02040503050406030204" pitchFamily="18" charset="0"/>
                      </a:rPr>
                      <m:t>=10, </m:t>
                    </m:r>
                    <m:r>
                      <a:rPr lang="en-US" altLang="ja-JP" b="0" i="1" smtClean="0">
                        <a:latin typeface="Cambria Math" panose="02040503050406030204" pitchFamily="18" charset="0"/>
                      </a:rPr>
                      <m:t>100</m:t>
                    </m:r>
                  </m:oMath>
                </a14:m>
                <a:r>
                  <a:rPr lang="ja-JP" altLang="en-US"/>
                  <a:t>）</a:t>
                </a:r>
                <a:endParaRPr lang="en-US" altLang="ja-JP" sz="2800" dirty="0">
                  <a:latin typeface="Arial" panose="020B0604020202020204" pitchFamily="34" charset="0"/>
                  <a:cs typeface="Arial" panose="020B0604020202020204" pitchFamily="34" charset="0"/>
                </a:endParaRPr>
              </a:p>
              <a:p>
                <a:pPr marL="0" indent="0">
                  <a:buNone/>
                </a:pPr>
                <a14:m>
                  <m:oMathPara xmlns:m="http://schemas.openxmlformats.org/officeDocument/2006/math">
                    <m:oMathParaPr>
                      <m:jc m:val="centerGroup"/>
                    </m:oMathParaPr>
                    <m:oMath xmlns:m="http://schemas.openxmlformats.org/officeDocument/2006/math">
                      <m:r>
                        <a:rPr lang="ja-JP" altLang="en-US" i="1" smtClean="0">
                          <a:latin typeface="Cambria Math" panose="02040503050406030204" pitchFamily="18" charset="0"/>
                        </a:rPr>
                        <m:t>𝜓</m:t>
                      </m:r>
                      <m:d>
                        <m:dPr>
                          <m:ctrlPr>
                            <a:rPr lang="en-US" altLang="ja-JP" b="1" i="1">
                              <a:latin typeface="Cambria Math" panose="02040503050406030204" pitchFamily="18" charset="0"/>
                            </a:rPr>
                          </m:ctrlPr>
                        </m:dPr>
                        <m:e>
                          <m:r>
                            <a:rPr lang="en-US" altLang="ja-JP" b="1" i="1" smtClean="0">
                              <a:latin typeface="Cambria Math" panose="02040503050406030204" pitchFamily="18" charset="0"/>
                            </a:rPr>
                            <m:t>𝑪</m:t>
                          </m:r>
                          <m:r>
                            <a:rPr lang="en-US" altLang="ja-JP" b="1" i="1">
                              <a:latin typeface="Cambria Math" panose="02040503050406030204" pitchFamily="18" charset="0"/>
                            </a:rPr>
                            <m:t>;</m:t>
                          </m:r>
                          <m:r>
                            <a:rPr lang="ja-JP" altLang="en-US" b="1" i="1">
                              <a:latin typeface="Cambria Math" panose="02040503050406030204" pitchFamily="18" charset="0"/>
                            </a:rPr>
                            <m:t>𝜶</m:t>
                          </m:r>
                        </m:e>
                      </m:d>
                      <m:r>
                        <a:rPr lang="en-US" altLang="ja-JP" i="1">
                          <a:latin typeface="Cambria Math" panose="02040503050406030204" pitchFamily="18" charset="0"/>
                        </a:rPr>
                        <m:t>=</m:t>
                      </m:r>
                      <m:sSub>
                        <m:sSubPr>
                          <m:ctrlPr>
                            <a:rPr lang="en-US" altLang="ja-JP" i="1" smtClean="0">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1</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1</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2</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2</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𝑝</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𝑝</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1,1</m:t>
                          </m:r>
                        </m:sub>
                      </m:sSub>
                      <m:sSubSup>
                        <m:sSubSupPr>
                          <m:ctrlPr>
                            <a:rPr lang="en-US" altLang="ja-JP" i="1">
                              <a:latin typeface="Cambria Math" panose="02040503050406030204" pitchFamily="18" charset="0"/>
                              <a:ea typeface="Cambria Math" panose="02040503050406030204" pitchFamily="18" charset="0"/>
                            </a:rPr>
                          </m:ctrlPr>
                        </m:sSubSupPr>
                        <m:e>
                          <m:r>
                            <a:rPr lang="en-US" altLang="ja-JP" b="1" i="1" smtClean="0">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1</m:t>
                          </m:r>
                        </m:sub>
                        <m:sup>
                          <m:r>
                            <a:rPr lang="en-US" altLang="ja-JP" i="1">
                              <a:latin typeface="Cambria Math" panose="02040503050406030204" pitchFamily="18" charset="0"/>
                              <a:ea typeface="Cambria Math" panose="02040503050406030204" pitchFamily="18" charset="0"/>
                            </a:rPr>
                            <m:t>2</m:t>
                          </m:r>
                        </m:sup>
                      </m:sSubSup>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1,2</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1</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2</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𝛼</m:t>
                          </m:r>
                        </m:e>
                        <m:sub>
                          <m:r>
                            <a:rPr lang="en-US" altLang="ja-JP" i="1">
                              <a:latin typeface="Cambria Math" panose="02040503050406030204" pitchFamily="18" charset="0"/>
                              <a:ea typeface="Cambria Math" panose="02040503050406030204" pitchFamily="18" charset="0"/>
                            </a:rPr>
                            <m:t>𝑝</m:t>
                          </m:r>
                          <m:r>
                            <a:rPr lang="en-US" altLang="ja-JP" i="1">
                              <a:latin typeface="Cambria Math" panose="02040503050406030204" pitchFamily="18" charset="0"/>
                              <a:ea typeface="Cambria Math" panose="02040503050406030204" pitchFamily="18" charset="0"/>
                            </a:rPr>
                            <m:t>,</m:t>
                          </m:r>
                          <m:r>
                            <a:rPr lang="en-US" altLang="ja-JP" i="1">
                              <a:latin typeface="Cambria Math" panose="02040503050406030204" pitchFamily="18" charset="0"/>
                              <a:ea typeface="Cambria Math" panose="02040503050406030204" pitchFamily="18" charset="0"/>
                            </a:rPr>
                            <m:t>𝑝</m:t>
                          </m:r>
                        </m:sub>
                      </m:sSub>
                      <m:sSubSup>
                        <m:sSubSupPr>
                          <m:ctrlPr>
                            <a:rPr lang="en-US" altLang="ja-JP" i="1">
                              <a:latin typeface="Cambria Math" panose="02040503050406030204" pitchFamily="18" charset="0"/>
                              <a:ea typeface="Cambria Math" panose="02040503050406030204" pitchFamily="18" charset="0"/>
                            </a:rPr>
                          </m:ctrlPr>
                        </m:sSubSupPr>
                        <m:e>
                          <m:r>
                            <a:rPr lang="en-US" altLang="ja-JP" b="1" i="1" smtClean="0">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𝑝</m:t>
                          </m:r>
                        </m:sub>
                        <m:sup>
                          <m:r>
                            <a:rPr lang="en-US" altLang="ja-JP" i="1">
                              <a:latin typeface="Cambria Math" panose="02040503050406030204" pitchFamily="18" charset="0"/>
                              <a:ea typeface="Cambria Math" panose="02040503050406030204" pitchFamily="18" charset="0"/>
                            </a:rPr>
                            <m:t>2</m:t>
                          </m:r>
                        </m:sup>
                      </m:sSubSup>
                    </m:oMath>
                  </m:oMathPara>
                </a14:m>
                <a:endParaRPr lang="en-US" altLang="ja-JP" dirty="0">
                  <a:latin typeface="Arial" panose="020B0604020202020204" pitchFamily="34" charset="0"/>
                  <a:cs typeface="Arial" panose="020B0604020202020204" pitchFamily="34" charset="0"/>
                </a:endParaRPr>
              </a:p>
              <a:p>
                <a:pPr marL="0" indent="0">
                  <a:buNone/>
                </a:pPr>
                <a14:m>
                  <m:oMathPara xmlns:m="http://schemas.openxmlformats.org/officeDocument/2006/math">
                    <m:oMathParaPr>
                      <m:jc m:val="centerGroup"/>
                    </m:oMathParaPr>
                    <m:oMath xmlns:m="http://schemas.openxmlformats.org/officeDocument/2006/math">
                      <m:r>
                        <a:rPr lang="ja-JP" altLang="en-US" i="1">
                          <a:latin typeface="Cambria Math" panose="02040503050406030204" pitchFamily="18" charset="0"/>
                        </a:rPr>
                        <m:t>𝜑</m:t>
                      </m:r>
                      <m:d>
                        <m:dPr>
                          <m:ctrlPr>
                            <a:rPr lang="en-US" altLang="ja-JP" b="1" i="1">
                              <a:latin typeface="Cambria Math" panose="02040503050406030204" pitchFamily="18" charset="0"/>
                            </a:rPr>
                          </m:ctrlPr>
                        </m:dPr>
                        <m:e>
                          <m:r>
                            <a:rPr lang="en-US" altLang="ja-JP" b="1" i="1" smtClean="0">
                              <a:latin typeface="Cambria Math" panose="02040503050406030204" pitchFamily="18" charset="0"/>
                            </a:rPr>
                            <m:t>𝑪</m:t>
                          </m:r>
                          <m:r>
                            <a:rPr lang="en-US" altLang="ja-JP" b="1" i="1">
                              <a:latin typeface="Cambria Math" panose="02040503050406030204" pitchFamily="18" charset="0"/>
                            </a:rPr>
                            <m:t>;</m:t>
                          </m:r>
                          <m:r>
                            <a:rPr lang="ja-JP" altLang="en-US" b="1" i="1">
                              <a:latin typeface="Cambria Math" panose="02040503050406030204" pitchFamily="18" charset="0"/>
                            </a:rPr>
                            <m:t>𝜸</m:t>
                          </m:r>
                        </m:e>
                      </m:d>
                      <m:r>
                        <a:rPr lang="en-US" altLang="ja-JP" i="1">
                          <a:latin typeface="Cambria Math" panose="02040503050406030204" pitchFamily="18" charset="0"/>
                        </a:rPr>
                        <m:t>=</m:t>
                      </m:r>
                      <m:sSub>
                        <m:sSubPr>
                          <m:ctrlPr>
                            <a:rPr lang="en-US" altLang="ja-JP" i="1" smtClean="0">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1</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1</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2</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2</m:t>
                          </m:r>
                        </m:sub>
                      </m:sSub>
                      <m:r>
                        <a:rPr lang="en-US" altLang="ja-JP" i="1">
                          <a:latin typeface="Cambria Math" panose="02040503050406030204" pitchFamily="18" charset="0"/>
                        </a:rPr>
                        <m:t>+… +</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𝑝</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𝑝</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1,1</m:t>
                          </m:r>
                        </m:sub>
                      </m:sSub>
                      <m:sSubSup>
                        <m:sSubSupPr>
                          <m:ctrlPr>
                            <a:rPr lang="en-US" altLang="ja-JP" i="1">
                              <a:latin typeface="Cambria Math" panose="02040503050406030204" pitchFamily="18" charset="0"/>
                              <a:ea typeface="Cambria Math" panose="02040503050406030204" pitchFamily="18" charset="0"/>
                            </a:rPr>
                          </m:ctrlPr>
                        </m:sSubSupPr>
                        <m:e>
                          <m:r>
                            <a:rPr lang="en-US" altLang="ja-JP" b="1" i="1" smtClean="0">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1</m:t>
                          </m:r>
                        </m:sub>
                        <m:sup>
                          <m:r>
                            <a:rPr lang="en-US" altLang="ja-JP" i="1">
                              <a:latin typeface="Cambria Math" panose="02040503050406030204" pitchFamily="18" charset="0"/>
                              <a:ea typeface="Cambria Math" panose="02040503050406030204" pitchFamily="18" charset="0"/>
                            </a:rPr>
                            <m:t>2</m:t>
                          </m:r>
                        </m:sup>
                      </m:sSubSup>
                      <m:r>
                        <a:rPr lang="en-US" altLang="ja-JP" i="1">
                          <a:latin typeface="Cambria Math" panose="02040503050406030204" pitchFamily="18" charset="0"/>
                          <a:ea typeface="Cambria Math" panose="02040503050406030204" pitchFamily="18" charset="0"/>
                        </a:rPr>
                        <m:t> </m:t>
                      </m:r>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1,2</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1</m:t>
                          </m:r>
                        </m:sub>
                      </m:sSub>
                      <m:sSub>
                        <m:sSubPr>
                          <m:ctrlPr>
                            <a:rPr lang="en-US" altLang="ja-JP" i="1">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i="1">
                              <a:latin typeface="Cambria Math" panose="02040503050406030204" pitchFamily="18" charset="0"/>
                            </a:rPr>
                            <m:t>2</m:t>
                          </m:r>
                        </m:sub>
                      </m:sSub>
                      <m:r>
                        <a:rPr lang="en-US" altLang="ja-JP" i="1">
                          <a:latin typeface="Cambria Math" panose="02040503050406030204" pitchFamily="18" charset="0"/>
                        </a:rPr>
                        <m:t>+… +</m:t>
                      </m:r>
                      <m:sSub>
                        <m:sSubPr>
                          <m:ctrlPr>
                            <a:rPr lang="en-US" altLang="ja-JP" i="1">
                              <a:latin typeface="Cambria Math" panose="02040503050406030204" pitchFamily="18" charset="0"/>
                            </a:rPr>
                          </m:ctrlPr>
                        </m:sSubPr>
                        <m:e>
                          <m:r>
                            <a:rPr lang="en-US" altLang="ja-JP" i="1">
                              <a:latin typeface="Cambria Math" panose="02040503050406030204" pitchFamily="18" charset="0"/>
                              <a:ea typeface="Cambria Math" panose="02040503050406030204" pitchFamily="18" charset="0"/>
                            </a:rPr>
                            <m:t>𝛾</m:t>
                          </m:r>
                        </m:e>
                        <m:sub>
                          <m:r>
                            <a:rPr lang="en-US" altLang="ja-JP" i="1">
                              <a:latin typeface="Cambria Math" panose="02040503050406030204" pitchFamily="18" charset="0"/>
                              <a:ea typeface="Cambria Math" panose="02040503050406030204" pitchFamily="18" charset="0"/>
                            </a:rPr>
                            <m:t>𝑝</m:t>
                          </m:r>
                          <m:r>
                            <a:rPr lang="en-US" altLang="ja-JP" i="1">
                              <a:latin typeface="Cambria Math" panose="02040503050406030204" pitchFamily="18" charset="0"/>
                              <a:ea typeface="Cambria Math" panose="02040503050406030204" pitchFamily="18" charset="0"/>
                            </a:rPr>
                            <m:t>,</m:t>
                          </m:r>
                          <m:r>
                            <a:rPr lang="en-US" altLang="ja-JP" i="1">
                              <a:latin typeface="Cambria Math" panose="02040503050406030204" pitchFamily="18" charset="0"/>
                              <a:ea typeface="Cambria Math" panose="02040503050406030204" pitchFamily="18" charset="0"/>
                            </a:rPr>
                            <m:t>𝑝</m:t>
                          </m:r>
                        </m:sub>
                      </m:sSub>
                      <m:sSubSup>
                        <m:sSubSupPr>
                          <m:ctrlPr>
                            <a:rPr lang="en-US" altLang="ja-JP" i="1">
                              <a:latin typeface="Cambria Math" panose="02040503050406030204" pitchFamily="18" charset="0"/>
                              <a:ea typeface="Cambria Math" panose="02040503050406030204" pitchFamily="18" charset="0"/>
                            </a:rPr>
                          </m:ctrlPr>
                        </m:sSubSupPr>
                        <m:e>
                          <m:r>
                            <a:rPr lang="en-US" altLang="ja-JP" b="1" i="1" smtClean="0">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𝑝</m:t>
                          </m:r>
                        </m:sub>
                        <m:sup>
                          <m:r>
                            <a:rPr lang="en-US" altLang="ja-JP" i="1">
                              <a:latin typeface="Cambria Math" panose="02040503050406030204" pitchFamily="18" charset="0"/>
                              <a:ea typeface="Cambria Math" panose="02040503050406030204" pitchFamily="18" charset="0"/>
                            </a:rPr>
                            <m:t>2</m:t>
                          </m:r>
                        </m:sup>
                      </m:sSubSup>
                    </m:oMath>
                  </m:oMathPara>
                </a14:m>
                <a:endParaRPr lang="en-US" altLang="ja-JP" dirty="0">
                  <a:latin typeface="Arial" panose="020B0604020202020204" pitchFamily="34" charset="0"/>
                  <a:cs typeface="Arial" panose="020B0604020202020204" pitchFamily="34" charset="0"/>
                </a:endParaRPr>
              </a:p>
            </p:txBody>
          </p:sp>
        </mc:Choice>
        <mc:Fallback>
          <p:sp>
            <p:nvSpPr>
              <p:cNvPr id="3" name="コンテンツ プレースホルダー 2">
                <a:extLst>
                  <a:ext uri="{FF2B5EF4-FFF2-40B4-BE49-F238E27FC236}">
                    <a16:creationId xmlns:a16="http://schemas.microsoft.com/office/drawing/2014/main" id="{44891DE8-887F-ACD8-3C5E-78E49C045A87}"/>
                  </a:ext>
                </a:extLst>
              </p:cNvPr>
              <p:cNvSpPr>
                <a:spLocks noGrp="1" noRot="1" noChangeAspect="1" noMove="1" noResize="1" noEditPoints="1" noAdjustHandles="1" noChangeArrowheads="1" noChangeShapeType="1" noTextEdit="1"/>
              </p:cNvSpPr>
              <p:nvPr>
                <p:ph idx="1"/>
              </p:nvPr>
            </p:nvSpPr>
            <p:spPr>
              <a:blipFill>
                <a:blip r:embed="rId2"/>
                <a:stretch>
                  <a:fillRect l="-1086" t="-2326"/>
                </a:stretch>
              </a:blipFill>
            </p:spPr>
            <p:txBody>
              <a:bodyPr/>
              <a:lstStyle/>
              <a:p>
                <a:r>
                  <a:rPr lang="ja-JP" altLang="en-US">
                    <a:noFill/>
                  </a:rPr>
                  <a:t> </a:t>
                </a:r>
              </a:p>
            </p:txBody>
          </p:sp>
        </mc:Fallback>
      </mc:AlternateContent>
      <p:sp>
        <p:nvSpPr>
          <p:cNvPr id="4" name="スライド番号プレースホルダー 3">
            <a:extLst>
              <a:ext uri="{FF2B5EF4-FFF2-40B4-BE49-F238E27FC236}">
                <a16:creationId xmlns:a16="http://schemas.microsoft.com/office/drawing/2014/main" id="{8FF54C4F-044D-A3F9-63F6-6AB80E9E5EBD}"/>
              </a:ext>
            </a:extLst>
          </p:cNvPr>
          <p:cNvSpPr>
            <a:spLocks noGrp="1"/>
          </p:cNvSpPr>
          <p:nvPr>
            <p:ph type="sldNum" sz="quarter" idx="12"/>
          </p:nvPr>
        </p:nvSpPr>
        <p:spPr/>
        <p:txBody>
          <a:bodyPr/>
          <a:lstStyle/>
          <a:p>
            <a:fld id="{21218AEF-8260-6F42-89D9-6D82E053F226}" type="slidenum">
              <a:rPr kumimoji="1" lang="ja-JP" altLang="en-US" smtClean="0"/>
              <a:t>27</a:t>
            </a:fld>
            <a:endParaRPr kumimoji="1" lang="ja-JP" altLang="en-US"/>
          </a:p>
        </p:txBody>
      </p:sp>
    </p:spTree>
    <p:extLst>
      <p:ext uri="{BB962C8B-B14F-4D97-AF65-F5344CB8AC3E}">
        <p14:creationId xmlns:p14="http://schemas.microsoft.com/office/powerpoint/2010/main" val="2943393513"/>
      </p:ext>
    </p:extLst>
  </p:cSld>
  <p:clrMapOvr>
    <a:masterClrMapping/>
  </p:clrMapOvr>
  <mc:AlternateContent xmlns:mc="http://schemas.openxmlformats.org/markup-compatibility/2006">
    <mc:Choice xmlns:p14="http://schemas.microsoft.com/office/powerpoint/2010/main" Requires="p14">
      <p:transition spd="slow" p14:dur="2000" advTm="20682"/>
    </mc:Choice>
    <mc:Fallback>
      <p:transition spd="slow" advTm="20682"/>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2F6CF554-11EB-91EA-C09D-AA39824FD7DE}"/>
                  </a:ext>
                </a:extLst>
              </p:cNvPr>
              <p:cNvGraphicFramePr>
                <a:graphicFrameLocks noGrp="1"/>
              </p:cNvGraphicFramePr>
              <p:nvPr/>
            </p:nvGraphicFramePr>
            <p:xfrm>
              <a:off x="916474" y="742950"/>
              <a:ext cx="10713551" cy="5993832"/>
            </p:xfrm>
            <a:graphic>
              <a:graphicData uri="http://schemas.openxmlformats.org/drawingml/2006/table">
                <a:tbl>
                  <a:tblPr firstRow="1" bandRow="1">
                    <a:tableStyleId>{5C22544A-7EE6-4342-B048-85BDC9FD1C3A}</a:tableStyleId>
                  </a:tblPr>
                  <a:tblGrid>
                    <a:gridCol w="1710567">
                      <a:extLst>
                        <a:ext uri="{9D8B030D-6E8A-4147-A177-3AD203B41FA5}">
                          <a16:colId xmlns:a16="http://schemas.microsoft.com/office/drawing/2014/main" val="325760284"/>
                        </a:ext>
                      </a:extLst>
                    </a:gridCol>
                    <a:gridCol w="4501492">
                      <a:extLst>
                        <a:ext uri="{9D8B030D-6E8A-4147-A177-3AD203B41FA5}">
                          <a16:colId xmlns:a16="http://schemas.microsoft.com/office/drawing/2014/main" val="3406276233"/>
                        </a:ext>
                      </a:extLst>
                    </a:gridCol>
                    <a:gridCol w="4501492">
                      <a:extLst>
                        <a:ext uri="{9D8B030D-6E8A-4147-A177-3AD203B41FA5}">
                          <a16:colId xmlns:a16="http://schemas.microsoft.com/office/drawing/2014/main" val="4244958730"/>
                        </a:ext>
                      </a:extLst>
                    </a:gridCol>
                  </a:tblGrid>
                  <a:tr h="432000">
                    <a:tc>
                      <a:txBody>
                        <a:bodyPr/>
                        <a:lstStyle/>
                        <a:p>
                          <a:pPr algn="ctr"/>
                          <a:r>
                            <a:rPr kumimoji="1" lang="ja-JP" altLang="en-US" sz="2000" b="0">
                              <a:solidFill>
                                <a:schemeClr val="tx1"/>
                              </a:solidFill>
                              <a:latin typeface="Arial" panose="020B0604020202020204" pitchFamily="34" charset="0"/>
                              <a:cs typeface="Arial" panose="020B0604020202020204" pitchFamily="34" charset="0"/>
                            </a:rPr>
                            <a:t>設定番号</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𝑓</m:t>
                              </m:r>
                              <m:r>
                                <a:rPr kumimoji="1" lang="en-US" altLang="ja-JP" sz="2000" b="0" i="1" smtClean="0">
                                  <a:solidFill>
                                    <a:schemeClr val="tx1"/>
                                  </a:solidFill>
                                  <a:latin typeface="Cambria Math" panose="02040503050406030204" pitchFamily="18" charset="0"/>
                                  <a:cs typeface="Arial" panose="020B0604020202020204" pitchFamily="34" charset="0"/>
                                </a:rPr>
                                <m:t>(</m:t>
                              </m:r>
                              <m:r>
                                <a:rPr kumimoji="1" lang="en-US" altLang="ja-JP" sz="2000" b="1" i="1" smtClean="0">
                                  <a:solidFill>
                                    <a:schemeClr val="tx1"/>
                                  </a:solidFill>
                                  <a:latin typeface="Cambria Math" panose="02040503050406030204" pitchFamily="18" charset="0"/>
                                  <a:cs typeface="Arial" panose="020B0604020202020204" pitchFamily="34" charset="0"/>
                                </a:rPr>
                                <m:t>𝑪</m:t>
                              </m:r>
                              <m:r>
                                <a:rPr kumimoji="1" lang="en-US" altLang="ja-JP" sz="2000" b="0" i="1" smtClean="0">
                                  <a:solidFill>
                                    <a:schemeClr val="tx1"/>
                                  </a:solidFill>
                                  <a:latin typeface="Cambria Math" panose="02040503050406030204" pitchFamily="18" charset="0"/>
                                  <a:cs typeface="Arial" panose="020B0604020202020204" pitchFamily="34" charset="0"/>
                                </a:rPr>
                                <m:t>)</m:t>
                              </m:r>
                            </m:oMath>
                          </a14:m>
                          <a:r>
                            <a:rPr kumimoji="1" lang="ja-JP" altLang="en-US" sz="2000" b="0">
                              <a:solidFill>
                                <a:schemeClr val="tx1"/>
                              </a:solidFill>
                              <a:latin typeface="Arial" panose="020B0604020202020204" pitchFamily="34" charset="0"/>
                              <a:cs typeface="Arial" panose="020B0604020202020204" pitchFamily="34" charset="0"/>
                            </a:rPr>
                            <a:t>（傾向スコアモデル）</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𝑔</m:t>
                              </m:r>
                              <m:r>
                                <a:rPr kumimoji="1" lang="en-US" altLang="ja-JP" sz="2000" b="0" i="1" smtClean="0">
                                  <a:solidFill>
                                    <a:schemeClr val="tx1"/>
                                  </a:solidFill>
                                  <a:latin typeface="Cambria Math" panose="02040503050406030204" pitchFamily="18" charset="0"/>
                                  <a:cs typeface="Arial" panose="020B0604020202020204" pitchFamily="34" charset="0"/>
                                </a:rPr>
                                <m:t>(</m:t>
                              </m:r>
                              <m:r>
                                <a:rPr kumimoji="1" lang="en-US" altLang="ja-JP" sz="2000" b="1" i="1" smtClean="0">
                                  <a:solidFill>
                                    <a:schemeClr val="tx1"/>
                                  </a:solidFill>
                                  <a:latin typeface="Cambria Math" panose="02040503050406030204" pitchFamily="18" charset="0"/>
                                  <a:cs typeface="Arial" panose="020B0604020202020204" pitchFamily="34" charset="0"/>
                                </a:rPr>
                                <m:t>𝑪</m:t>
                              </m:r>
                              <m:r>
                                <a:rPr kumimoji="1" lang="en-US" altLang="ja-JP" sz="2000" b="0" i="1" smtClean="0">
                                  <a:solidFill>
                                    <a:schemeClr val="tx1"/>
                                  </a:solidFill>
                                  <a:latin typeface="Cambria Math" panose="02040503050406030204" pitchFamily="18" charset="0"/>
                                  <a:cs typeface="Arial" panose="020B0604020202020204" pitchFamily="34" charset="0"/>
                                </a:rPr>
                                <m:t>)</m:t>
                              </m:r>
                            </m:oMath>
                          </a14:m>
                          <a:r>
                            <a:rPr kumimoji="1" lang="ja-JP" altLang="en-US" sz="2000" b="0">
                              <a:solidFill>
                                <a:schemeClr val="tx1"/>
                              </a:solidFill>
                              <a:latin typeface="Arial" panose="020B0604020202020204" pitchFamily="34" charset="0"/>
                              <a:cs typeface="Arial" panose="020B0604020202020204" pitchFamily="34" charset="0"/>
                            </a:rPr>
                            <a:t>（結果モデル）</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03469797"/>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1</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0.4</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+0.3</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+0.1</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m:t>
                                </m:r>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6777244"/>
                      </a:ext>
                    </a:extLst>
                  </a:tr>
                  <a:tr h="432000">
                    <a:tc>
                      <a:txBody>
                        <a:bodyPr/>
                        <a:lstStyle/>
                        <a:p>
                          <a:pPr algn="ctr"/>
                          <a:r>
                            <a:rPr kumimoji="1" lang="en-US" altLang="ja-JP" sz="2000" b="0">
                              <a:solidFill>
                                <a:schemeClr val="tx1"/>
                              </a:solidFill>
                              <a:latin typeface="Arial" panose="020B0604020202020204" pitchFamily="34" charset="0"/>
                              <a:cs typeface="Arial" panose="020B0604020202020204" pitchFamily="34" charset="0"/>
                            </a:rPr>
                            <a:t>2</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+0.1</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4576548"/>
                      </a:ext>
                    </a:extLst>
                  </a:tr>
                  <a:tr h="432000">
                    <a:tc>
                      <a:txBody>
                        <a:bodyPr/>
                        <a:lstStyle/>
                        <a:p>
                          <a:pPr algn="ctr"/>
                          <a:r>
                            <a:rPr kumimoji="1" lang="en-US" altLang="ja-JP" sz="2000" b="0">
                              <a:solidFill>
                                <a:schemeClr val="tx1"/>
                              </a:solidFill>
                              <a:latin typeface="Arial" panose="020B0604020202020204" pitchFamily="34" charset="0"/>
                              <a:cs typeface="Arial" panose="020B0604020202020204" pitchFamily="34" charset="0"/>
                            </a:rPr>
                            <a:t>3</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0.1</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+0.1</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0332839"/>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4</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+0.4</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+0.3</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r>
                                  <a:rPr kumimoji="1" lang="en-US" altLang="ja-JP" sz="2000" b="0" i="1" smtClean="0">
                                    <a:solidFill>
                                      <a:schemeClr val="tx1"/>
                                    </a:solidFill>
                                    <a:latin typeface="Cambria Math" panose="02040503050406030204" pitchFamily="18" charset="0"/>
                                    <a:cs typeface="Arial" panose="020B0604020202020204" pitchFamily="34" charset="0"/>
                                  </a:rPr>
                                  <m:t>+0.1</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+1.0</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+1.5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r>
                                  <a:rPr kumimoji="1" lang="en-US" altLang="ja-JP" sz="2000" b="0" i="1" smtClean="0">
                                    <a:solidFill>
                                      <a:schemeClr val="tx1"/>
                                    </a:solidFill>
                                    <a:latin typeface="Cambria Math" panose="02040503050406030204" pitchFamily="18" charset="0"/>
                                    <a:cs typeface="Arial" panose="020B0604020202020204" pitchFamily="34" charset="0"/>
                                  </a:rPr>
                                  <m:t>+2.5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5634014"/>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5</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6</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7</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8</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4715069"/>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6</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+0.1</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r>
                                  <a:rPr kumimoji="1" lang="en-US" altLang="ja-JP" sz="2000" b="0" i="1" smtClean="0">
                                    <a:solidFill>
                                      <a:schemeClr val="tx1"/>
                                    </a:solidFill>
                                    <a:latin typeface="Cambria Math" panose="02040503050406030204" pitchFamily="18" charset="0"/>
                                    <a:cs typeface="Arial" panose="020B0604020202020204" pitchFamily="34" charset="0"/>
                                  </a:rPr>
                                  <m:t>+</m:t>
                                </m:r>
                                <m:nary>
                                  <m:naryPr>
                                    <m:chr m:val="∑"/>
                                    <m:limLoc m:val="subSup"/>
                                    <m:ctrlPr>
                                      <a:rPr kumimoji="1" lang="en-US" altLang="ja-JP" sz="2000" b="0" i="1" smtClean="0">
                                        <a:solidFill>
                                          <a:schemeClr val="tx1"/>
                                        </a:solidFill>
                                        <a:latin typeface="Cambria Math" panose="02040503050406030204" pitchFamily="18" charset="0"/>
                                        <a:cs typeface="Arial" panose="020B0604020202020204" pitchFamily="34" charset="0"/>
                                      </a:rPr>
                                    </m:ctrlPr>
                                  </m:naryPr>
                                  <m:sub>
                                    <m:r>
                                      <m:rPr>
                                        <m:brk m:alnAt="25"/>
                                      </m:rPr>
                                      <a:rPr kumimoji="1" lang="en-US" altLang="ja-JP" sz="2000" b="0" i="1" smtClean="0">
                                        <a:solidFill>
                                          <a:schemeClr val="tx1"/>
                                        </a:solidFill>
                                        <a:latin typeface="Cambria Math" panose="02040503050406030204" pitchFamily="18" charset="0"/>
                                        <a:cs typeface="Arial" panose="020B0604020202020204" pitchFamily="34" charset="0"/>
                                      </a:rPr>
                                      <m:t>𝑖</m:t>
                                    </m:r>
                                    <m:r>
                                      <a:rPr kumimoji="1" lang="en-US" altLang="ja-JP" sz="2000" b="0" i="1" smtClean="0">
                                        <a:solidFill>
                                          <a:schemeClr val="tx1"/>
                                        </a:solidFill>
                                        <a:latin typeface="Cambria Math" panose="02040503050406030204" pitchFamily="18" charset="0"/>
                                        <a:cs typeface="Arial" panose="020B0604020202020204" pitchFamily="34" charset="0"/>
                                      </a:rPr>
                                      <m:t>=1</m:t>
                                    </m:r>
                                  </m:sub>
                                  <m:sup>
                                    <m:r>
                                      <a:rPr kumimoji="1" lang="en-US" altLang="ja-JP" sz="2000" b="0" i="1" smtClean="0">
                                        <a:solidFill>
                                          <a:schemeClr val="tx1"/>
                                        </a:solidFill>
                                        <a:latin typeface="Cambria Math" panose="02040503050406030204" pitchFamily="18" charset="0"/>
                                        <a:cs typeface="Arial" panose="020B0604020202020204" pitchFamily="34" charset="0"/>
                                      </a:rPr>
                                      <m:t>5</m:t>
                                    </m:r>
                                  </m:sup>
                                  <m:e>
                                    <m:nary>
                                      <m:naryPr>
                                        <m:chr m:val="∑"/>
                                        <m:limLoc m:val="subSup"/>
                                        <m:ctrlPr>
                                          <a:rPr kumimoji="1" lang="en-US" altLang="ja-JP" sz="2000" b="0" i="1" smtClean="0">
                                            <a:solidFill>
                                              <a:schemeClr val="tx1"/>
                                            </a:solidFill>
                                            <a:latin typeface="Cambria Math" panose="02040503050406030204" pitchFamily="18" charset="0"/>
                                            <a:cs typeface="Arial" panose="020B0604020202020204" pitchFamily="34" charset="0"/>
                                          </a:rPr>
                                        </m:ctrlPr>
                                      </m:naryPr>
                                      <m:sub>
                                        <m:r>
                                          <m:rPr>
                                            <m:brk m:alnAt="25"/>
                                          </m:rPr>
                                          <a:rPr kumimoji="1" lang="en-US" altLang="ja-JP" sz="2000" b="0" i="1" smtClean="0">
                                            <a:solidFill>
                                              <a:schemeClr val="tx1"/>
                                            </a:solidFill>
                                            <a:latin typeface="Cambria Math" panose="02040503050406030204" pitchFamily="18" charset="0"/>
                                            <a:cs typeface="Arial" panose="020B0604020202020204" pitchFamily="34" charset="0"/>
                                          </a:rPr>
                                          <m:t>𝑗</m:t>
                                        </m:r>
                                        <m:r>
                                          <a:rPr kumimoji="1" lang="en-US" altLang="ja-JP" sz="2000" b="0" i="1" smtClean="0">
                                            <a:solidFill>
                                              <a:schemeClr val="tx1"/>
                                            </a:solidFill>
                                            <a:latin typeface="Cambria Math" panose="02040503050406030204" pitchFamily="18" charset="0"/>
                                            <a:cs typeface="Arial" panose="020B0604020202020204" pitchFamily="34" charset="0"/>
                                          </a:rPr>
                                          <m:t>=1</m:t>
                                        </m:r>
                                      </m:sub>
                                      <m:sup>
                                        <m:r>
                                          <a:rPr kumimoji="1" lang="en-US" altLang="ja-JP" sz="2000" b="0" i="1" smtClean="0">
                                            <a:solidFill>
                                              <a:schemeClr val="tx1"/>
                                            </a:solidFill>
                                            <a:latin typeface="Cambria Math" panose="02040503050406030204" pitchFamily="18" charset="0"/>
                                            <a:cs typeface="Arial" panose="020B0604020202020204" pitchFamily="34" charset="0"/>
                                          </a:rPr>
                                          <m:t>5</m:t>
                                        </m:r>
                                      </m:sup>
                                      <m:e>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𝑖</m:t>
                                            </m:r>
                                          </m:sub>
                                        </m:sSub>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𝑗</m:t>
                                            </m:r>
                                          </m:sub>
                                        </m:sSub>
                                      </m:e>
                                    </m:nary>
                                  </m:e>
                                </m:nary>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59323963"/>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7</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nary>
                                  <m:naryPr>
                                    <m:chr m:val="∑"/>
                                    <m:limLoc m:val="subSup"/>
                                    <m:ctrlPr>
                                      <a:rPr kumimoji="1" lang="en-US" altLang="ja-JP" sz="2000" b="0" i="1" smtClean="0">
                                        <a:solidFill>
                                          <a:schemeClr val="tx1"/>
                                        </a:solidFill>
                                        <a:latin typeface="Cambria Math" panose="02040503050406030204" pitchFamily="18" charset="0"/>
                                        <a:cs typeface="Arial" panose="020B0604020202020204" pitchFamily="34" charset="0"/>
                                      </a:rPr>
                                    </m:ctrlPr>
                                  </m:naryPr>
                                  <m:sub>
                                    <m:r>
                                      <m:rPr>
                                        <m:brk m:alnAt="25"/>
                                      </m:rPr>
                                      <a:rPr kumimoji="1" lang="en-US" altLang="ja-JP" sz="2000" b="0" i="1" smtClean="0">
                                        <a:solidFill>
                                          <a:schemeClr val="tx1"/>
                                        </a:solidFill>
                                        <a:latin typeface="Cambria Math" panose="02040503050406030204" pitchFamily="18" charset="0"/>
                                        <a:cs typeface="Arial" panose="020B0604020202020204" pitchFamily="34" charset="0"/>
                                      </a:rPr>
                                      <m:t>𝑖</m:t>
                                    </m:r>
                                    <m:r>
                                      <a:rPr kumimoji="1" lang="en-US" altLang="ja-JP" sz="2000" b="0" i="1" smtClean="0">
                                        <a:solidFill>
                                          <a:schemeClr val="tx1"/>
                                        </a:solidFill>
                                        <a:latin typeface="Cambria Math" panose="02040503050406030204" pitchFamily="18" charset="0"/>
                                        <a:cs typeface="Arial" panose="020B0604020202020204" pitchFamily="34" charset="0"/>
                                      </a:rPr>
                                      <m:t>=1</m:t>
                                    </m:r>
                                  </m:sub>
                                  <m:sup>
                                    <m:r>
                                      <a:rPr kumimoji="1" lang="en-US" altLang="ja-JP" sz="2000" b="0" i="1" smtClean="0">
                                        <a:solidFill>
                                          <a:schemeClr val="tx1"/>
                                        </a:solidFill>
                                        <a:latin typeface="Cambria Math" panose="02040503050406030204" pitchFamily="18" charset="0"/>
                                        <a:cs typeface="Arial" panose="020B0604020202020204" pitchFamily="34" charset="0"/>
                                      </a:rPr>
                                      <m:t>5</m:t>
                                    </m:r>
                                  </m:sup>
                                  <m:e>
                                    <m:nary>
                                      <m:naryPr>
                                        <m:chr m:val="∑"/>
                                        <m:limLoc m:val="subSup"/>
                                        <m:ctrlPr>
                                          <a:rPr kumimoji="1" lang="en-US" altLang="ja-JP" sz="2000" b="0" i="1" smtClean="0">
                                            <a:solidFill>
                                              <a:schemeClr val="tx1"/>
                                            </a:solidFill>
                                            <a:latin typeface="Cambria Math" panose="02040503050406030204" pitchFamily="18" charset="0"/>
                                            <a:cs typeface="Arial" panose="020B0604020202020204" pitchFamily="34" charset="0"/>
                                          </a:rPr>
                                        </m:ctrlPr>
                                      </m:naryPr>
                                      <m:sub>
                                        <m:r>
                                          <m:rPr>
                                            <m:brk m:alnAt="25"/>
                                          </m:rPr>
                                          <a:rPr kumimoji="1" lang="en-US" altLang="ja-JP" sz="2000" b="0" i="1" smtClean="0">
                                            <a:solidFill>
                                              <a:schemeClr val="tx1"/>
                                            </a:solidFill>
                                            <a:latin typeface="Cambria Math" panose="02040503050406030204" pitchFamily="18" charset="0"/>
                                            <a:cs typeface="Arial" panose="020B0604020202020204" pitchFamily="34" charset="0"/>
                                          </a:rPr>
                                          <m:t>𝑗</m:t>
                                        </m:r>
                                        <m:r>
                                          <a:rPr kumimoji="1" lang="en-US" altLang="ja-JP" sz="2000" b="0" i="1" smtClean="0">
                                            <a:solidFill>
                                              <a:schemeClr val="tx1"/>
                                            </a:solidFill>
                                            <a:latin typeface="Cambria Math" panose="02040503050406030204" pitchFamily="18" charset="0"/>
                                            <a:cs typeface="Arial" panose="020B0604020202020204" pitchFamily="34" charset="0"/>
                                          </a:rPr>
                                          <m:t>=1</m:t>
                                        </m:r>
                                      </m:sub>
                                      <m:sup>
                                        <m:r>
                                          <a:rPr kumimoji="1" lang="en-US" altLang="ja-JP" sz="2000" b="0" i="1" smtClean="0">
                                            <a:solidFill>
                                              <a:schemeClr val="tx1"/>
                                            </a:solidFill>
                                            <a:latin typeface="Cambria Math" panose="02040503050406030204" pitchFamily="18" charset="0"/>
                                            <a:cs typeface="Arial" panose="020B0604020202020204" pitchFamily="34" charset="0"/>
                                          </a:rPr>
                                          <m:t>5</m:t>
                                        </m:r>
                                      </m:sup>
                                      <m:e>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𝑖</m:t>
                                            </m:r>
                                          </m:sub>
                                        </m:sSub>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𝑗</m:t>
                                            </m:r>
                                          </m:sub>
                                        </m:sSub>
                                      </m:e>
                                    </m:nary>
                                  </m:e>
                                </m:nary>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3422512400"/>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8</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0.25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p>
                                  <m:sSupPr>
                                    <m:ctrlPr>
                                      <a:rPr kumimoji="1" lang="en-US" altLang="ja-JP" sz="2000" b="0" i="1" smtClean="0">
                                        <a:solidFill>
                                          <a:schemeClr val="tx1"/>
                                        </a:solidFill>
                                        <a:latin typeface="Cambria Math" panose="02040503050406030204" pitchFamily="18" charset="0"/>
                                        <a:cs typeface="Arial" panose="020B0604020202020204" pitchFamily="34" charset="0"/>
                                      </a:rPr>
                                    </m:ctrlPr>
                                  </m:sSupPr>
                                  <m:e>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e>
                                    </m:d>
                                  </m:e>
                                  <m:sup>
                                    <m:r>
                                      <a:rPr kumimoji="1" lang="en-US" altLang="ja-JP" sz="2000" b="0" i="1" smtClean="0">
                                        <a:solidFill>
                                          <a:schemeClr val="tx1"/>
                                        </a:solidFill>
                                        <a:latin typeface="Cambria Math" panose="02040503050406030204" pitchFamily="18" charset="0"/>
                                        <a:cs typeface="Arial" panose="020B0604020202020204" pitchFamily="34" charset="0"/>
                                      </a:rPr>
                                      <m:t>2</m:t>
                                    </m:r>
                                  </m:sup>
                                </m:sSup>
                                <m:r>
                                  <a:rPr kumimoji="1" lang="en-US" altLang="ja-JP" sz="2000" b="0" i="1" smtClean="0">
                                    <a:solidFill>
                                      <a:schemeClr val="tx1"/>
                                    </a:solidFill>
                                    <a:latin typeface="Cambria Math" panose="02040503050406030204" pitchFamily="18" charset="0"/>
                                    <a:cs typeface="Arial" panose="020B0604020202020204" pitchFamily="34" charset="0"/>
                                  </a:rPr>
                                  <m:t>−</m:t>
                                </m:r>
                                <m:sSup>
                                  <m:sSupPr>
                                    <m:ctrlPr>
                                      <a:rPr kumimoji="1" lang="en-US" altLang="ja-JP" sz="2000" b="0" i="1" smtClean="0">
                                        <a:solidFill>
                                          <a:schemeClr val="tx1"/>
                                        </a:solidFill>
                                        <a:latin typeface="Cambria Math" panose="02040503050406030204" pitchFamily="18" charset="0"/>
                                        <a:cs typeface="Arial" panose="020B0604020202020204" pitchFamily="34" charset="0"/>
                                      </a:rPr>
                                    </m:ctrlPr>
                                  </m:sSupPr>
                                  <m:e>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Sup>
                                          <m:sSubSupPr>
                                            <m:ctrlPr>
                                              <a:rPr kumimoji="1" lang="en-US" altLang="ja-JP" sz="2000" b="0" i="1" smtClean="0">
                                                <a:solidFill>
                                                  <a:schemeClr val="tx1"/>
                                                </a:solidFill>
                                                <a:latin typeface="Cambria Math" panose="02040503050406030204" pitchFamily="18" charset="0"/>
                                                <a:cs typeface="Arial" panose="020B0604020202020204" pitchFamily="34" charset="0"/>
                                              </a:rPr>
                                            </m:ctrlPr>
                                          </m:sSubSup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up>
                                            <m:r>
                                              <a:rPr kumimoji="1" lang="en-US" altLang="ja-JP" sz="2000" b="0" i="1" smtClean="0">
                                                <a:solidFill>
                                                  <a:schemeClr val="tx1"/>
                                                </a:solidFill>
                                                <a:latin typeface="Cambria Math" panose="02040503050406030204" pitchFamily="18" charset="0"/>
                                                <a:cs typeface="Arial" panose="020B0604020202020204" pitchFamily="34" charset="0"/>
                                              </a:rPr>
                                              <m:t>2</m:t>
                                            </m:r>
                                          </m:sup>
                                        </m:sSubSup>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e>
                                    </m:d>
                                  </m:e>
                                  <m:sup>
                                    <m:r>
                                      <a:rPr kumimoji="1" lang="en-US" altLang="ja-JP" sz="2000" b="0" i="1" smtClean="0">
                                        <a:solidFill>
                                          <a:schemeClr val="tx1"/>
                                        </a:solidFill>
                                        <a:latin typeface="Cambria Math" panose="02040503050406030204" pitchFamily="18" charset="0"/>
                                        <a:cs typeface="Arial" panose="020B0604020202020204" pitchFamily="34" charset="0"/>
                                      </a:rPr>
                                      <m:t>2</m:t>
                                    </m:r>
                                  </m:sup>
                                </m:sSup>
                                <m:r>
                                  <a:rPr kumimoji="1" lang="en-US" altLang="ja-JP" sz="2000" b="0" i="1" smtClean="0">
                                    <a:solidFill>
                                      <a:schemeClr val="tx1"/>
                                    </a:solidFill>
                                    <a:latin typeface="Cambria Math" panose="02040503050406030204" pitchFamily="18" charset="0"/>
                                    <a:cs typeface="Arial" panose="020B0604020202020204" pitchFamily="34" charset="0"/>
                                  </a:rPr>
                                  <m:t>+</m:t>
                                </m:r>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Sup>
                                      <m:sSubSupPr>
                                        <m:ctrlPr>
                                          <a:rPr kumimoji="1" lang="en-US" altLang="ja-JP" sz="2000" b="0" i="1" smtClean="0">
                                            <a:solidFill>
                                              <a:schemeClr val="tx1"/>
                                            </a:solidFill>
                                            <a:latin typeface="Cambria Math" panose="02040503050406030204" pitchFamily="18" charset="0"/>
                                            <a:cs typeface="Arial" panose="020B0604020202020204" pitchFamily="34" charset="0"/>
                                          </a:rPr>
                                        </m:ctrlPr>
                                      </m:sSubSup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up>
                                        <m:r>
                                          <a:rPr kumimoji="1" lang="en-US" altLang="ja-JP" sz="2000" b="0" i="1" smtClean="0">
                                            <a:solidFill>
                                              <a:schemeClr val="tx1"/>
                                            </a:solidFill>
                                            <a:latin typeface="Cambria Math" panose="02040503050406030204" pitchFamily="18" charset="0"/>
                                            <a:cs typeface="Arial" panose="020B0604020202020204" pitchFamily="34" charset="0"/>
                                          </a:rPr>
                                          <m:t>2</m:t>
                                        </m:r>
                                      </m:sup>
                                    </m:sSubSup>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e>
                                </m:d>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e>
                                </m:d>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78913005"/>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9</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r>
                                  <a:rPr kumimoji="1" lang="en-US" altLang="ja-JP" sz="2000" b="0" i="1" smtClean="0">
                                    <a:solidFill>
                                      <a:schemeClr val="tx1"/>
                                    </a:solidFill>
                                    <a:latin typeface="Cambria Math" panose="02040503050406030204" pitchFamily="18" charset="0"/>
                                    <a:cs typeface="Arial" panose="020B0604020202020204" pitchFamily="34" charset="0"/>
                                  </a:rPr>
                                  <m:t>+</m:t>
                                </m:r>
                                <m:nary>
                                  <m:naryPr>
                                    <m:chr m:val="∑"/>
                                    <m:limLoc m:val="subSup"/>
                                    <m:ctrlPr>
                                      <a:rPr kumimoji="1" lang="en-US" altLang="ja-JP" sz="2000" b="0" i="1" smtClean="0">
                                        <a:solidFill>
                                          <a:schemeClr val="tx1"/>
                                        </a:solidFill>
                                        <a:latin typeface="Cambria Math" panose="02040503050406030204" pitchFamily="18" charset="0"/>
                                        <a:cs typeface="Arial" panose="020B0604020202020204" pitchFamily="34" charset="0"/>
                                      </a:rPr>
                                    </m:ctrlPr>
                                  </m:naryPr>
                                  <m:sub>
                                    <m:r>
                                      <m:rPr>
                                        <m:brk m:alnAt="25"/>
                                      </m:rPr>
                                      <a:rPr kumimoji="1" lang="en-US" altLang="ja-JP" sz="2000" b="0" i="1" smtClean="0">
                                        <a:solidFill>
                                          <a:schemeClr val="tx1"/>
                                        </a:solidFill>
                                        <a:latin typeface="Cambria Math" panose="02040503050406030204" pitchFamily="18" charset="0"/>
                                        <a:cs typeface="Arial" panose="020B0604020202020204" pitchFamily="34" charset="0"/>
                                      </a:rPr>
                                      <m:t>𝑖</m:t>
                                    </m:r>
                                    <m:r>
                                      <a:rPr kumimoji="1" lang="en-US" altLang="ja-JP" sz="2000" b="0" i="1" smtClean="0">
                                        <a:solidFill>
                                          <a:schemeClr val="tx1"/>
                                        </a:solidFill>
                                        <a:latin typeface="Cambria Math" panose="02040503050406030204" pitchFamily="18" charset="0"/>
                                        <a:cs typeface="Arial" panose="020B0604020202020204" pitchFamily="34" charset="0"/>
                                      </a:rPr>
                                      <m:t>=1</m:t>
                                    </m:r>
                                  </m:sub>
                                  <m:sup>
                                    <m:r>
                                      <a:rPr kumimoji="1" lang="en-US" altLang="ja-JP" sz="2000" b="0" i="1" smtClean="0">
                                        <a:solidFill>
                                          <a:schemeClr val="tx1"/>
                                        </a:solidFill>
                                        <a:latin typeface="Cambria Math" panose="02040503050406030204" pitchFamily="18" charset="0"/>
                                        <a:cs typeface="Arial" panose="020B0604020202020204" pitchFamily="34" charset="0"/>
                                      </a:rPr>
                                      <m:t>5</m:t>
                                    </m:r>
                                  </m:sup>
                                  <m:e>
                                    <m:nary>
                                      <m:naryPr>
                                        <m:chr m:val="∑"/>
                                        <m:limLoc m:val="subSup"/>
                                        <m:ctrlPr>
                                          <a:rPr kumimoji="1" lang="en-US" altLang="ja-JP" sz="2000" b="0" i="1" smtClean="0">
                                            <a:solidFill>
                                              <a:schemeClr val="tx1"/>
                                            </a:solidFill>
                                            <a:latin typeface="Cambria Math" panose="02040503050406030204" pitchFamily="18" charset="0"/>
                                            <a:cs typeface="Arial" panose="020B0604020202020204" pitchFamily="34" charset="0"/>
                                          </a:rPr>
                                        </m:ctrlPr>
                                      </m:naryPr>
                                      <m:sub>
                                        <m:r>
                                          <m:rPr>
                                            <m:brk m:alnAt="25"/>
                                          </m:rPr>
                                          <a:rPr kumimoji="1" lang="en-US" altLang="ja-JP" sz="2000" b="0" i="1" smtClean="0">
                                            <a:solidFill>
                                              <a:schemeClr val="tx1"/>
                                            </a:solidFill>
                                            <a:latin typeface="Cambria Math" panose="02040503050406030204" pitchFamily="18" charset="0"/>
                                            <a:cs typeface="Arial" panose="020B0604020202020204" pitchFamily="34" charset="0"/>
                                          </a:rPr>
                                          <m:t>𝑗</m:t>
                                        </m:r>
                                        <m:r>
                                          <a:rPr kumimoji="1" lang="en-US" altLang="ja-JP" sz="2000" b="0" i="1" smtClean="0">
                                            <a:solidFill>
                                              <a:schemeClr val="tx1"/>
                                            </a:solidFill>
                                            <a:latin typeface="Cambria Math" panose="02040503050406030204" pitchFamily="18" charset="0"/>
                                            <a:cs typeface="Arial" panose="020B0604020202020204" pitchFamily="34" charset="0"/>
                                          </a:rPr>
                                          <m:t>=1</m:t>
                                        </m:r>
                                      </m:sub>
                                      <m:sup>
                                        <m:r>
                                          <a:rPr kumimoji="1" lang="en-US" altLang="ja-JP" sz="2000" b="0" i="1" smtClean="0">
                                            <a:solidFill>
                                              <a:schemeClr val="tx1"/>
                                            </a:solidFill>
                                            <a:latin typeface="Cambria Math" panose="02040503050406030204" pitchFamily="18" charset="0"/>
                                            <a:cs typeface="Arial" panose="020B0604020202020204" pitchFamily="34" charset="0"/>
                                          </a:rPr>
                                          <m:t>5</m:t>
                                        </m:r>
                                      </m:sup>
                                      <m:e>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𝑖</m:t>
                                            </m:r>
                                          </m:sub>
                                        </m:sSub>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𝑗</m:t>
                                            </m:r>
                                          </m:sub>
                                        </m:sSub>
                                      </m:e>
                                    </m:nary>
                                  </m:e>
                                </m:nary>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+0.1</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005724772"/>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10</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sSup>
                                  <m:sSupPr>
                                    <m:ctrlPr>
                                      <a:rPr kumimoji="1" lang="en-US" altLang="ja-JP" sz="2000" b="0" i="1" smtClean="0">
                                        <a:solidFill>
                                          <a:schemeClr val="tx1"/>
                                        </a:solidFill>
                                        <a:latin typeface="Cambria Math" panose="02040503050406030204" pitchFamily="18" charset="0"/>
                                        <a:cs typeface="Arial" panose="020B0604020202020204" pitchFamily="34" charset="0"/>
                                      </a:rPr>
                                    </m:ctrlPr>
                                  </m:sSupPr>
                                  <m:e>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e>
                                    </m:d>
                                  </m:e>
                                  <m:sup>
                                    <m:r>
                                      <a:rPr kumimoji="1" lang="en-US" altLang="ja-JP" sz="2000" b="0" i="1" smtClean="0">
                                        <a:solidFill>
                                          <a:schemeClr val="tx1"/>
                                        </a:solidFill>
                                        <a:latin typeface="Cambria Math" panose="02040503050406030204" pitchFamily="18" charset="0"/>
                                        <a:cs typeface="Arial" panose="020B0604020202020204" pitchFamily="34" charset="0"/>
                                      </a:rPr>
                                      <m:t>2</m:t>
                                    </m:r>
                                  </m:sup>
                                </m:sSup>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818555373"/>
                      </a:ext>
                    </a:extLst>
                  </a:tr>
                </a:tbl>
              </a:graphicData>
            </a:graphic>
          </p:graphicFrame>
        </mc:Choice>
        <mc:Fallback xmlns="">
          <p:graphicFrame>
            <p:nvGraphicFramePr>
              <p:cNvPr id="4" name="表 4">
                <a:extLst>
                  <a:ext uri="{FF2B5EF4-FFF2-40B4-BE49-F238E27FC236}">
                    <a16:creationId xmlns:a16="http://schemas.microsoft.com/office/drawing/2014/main" id="{2F6CF554-11EB-91EA-C09D-AA39824FD7DE}"/>
                  </a:ext>
                </a:extLst>
              </p:cNvPr>
              <p:cNvGraphicFramePr>
                <a:graphicFrameLocks noGrp="1"/>
              </p:cNvGraphicFramePr>
              <p:nvPr>
                <p:extLst>
                  <p:ext uri="{D42A27DB-BD31-4B8C-83A1-F6EECF244321}">
                    <p14:modId xmlns:p14="http://schemas.microsoft.com/office/powerpoint/2010/main" val="2071115970"/>
                  </p:ext>
                </p:extLst>
              </p:nvPr>
            </p:nvGraphicFramePr>
            <p:xfrm>
              <a:off x="916474" y="742950"/>
              <a:ext cx="10713551" cy="5993832"/>
            </p:xfrm>
            <a:graphic>
              <a:graphicData uri="http://schemas.openxmlformats.org/drawingml/2006/table">
                <a:tbl>
                  <a:tblPr firstRow="1" bandRow="1">
                    <a:tableStyleId>{5C22544A-7EE6-4342-B048-85BDC9FD1C3A}</a:tableStyleId>
                  </a:tblPr>
                  <a:tblGrid>
                    <a:gridCol w="1710567">
                      <a:extLst>
                        <a:ext uri="{9D8B030D-6E8A-4147-A177-3AD203B41FA5}">
                          <a16:colId xmlns:a16="http://schemas.microsoft.com/office/drawing/2014/main" val="325760284"/>
                        </a:ext>
                      </a:extLst>
                    </a:gridCol>
                    <a:gridCol w="4501492">
                      <a:extLst>
                        <a:ext uri="{9D8B030D-6E8A-4147-A177-3AD203B41FA5}">
                          <a16:colId xmlns:a16="http://schemas.microsoft.com/office/drawing/2014/main" val="3406276233"/>
                        </a:ext>
                      </a:extLst>
                    </a:gridCol>
                    <a:gridCol w="4501492">
                      <a:extLst>
                        <a:ext uri="{9D8B030D-6E8A-4147-A177-3AD203B41FA5}">
                          <a16:colId xmlns:a16="http://schemas.microsoft.com/office/drawing/2014/main" val="4244958730"/>
                        </a:ext>
                      </a:extLst>
                    </a:gridCol>
                  </a:tblGrid>
                  <a:tr h="432000">
                    <a:tc>
                      <a:txBody>
                        <a:bodyPr/>
                        <a:lstStyle/>
                        <a:p>
                          <a:pPr algn="ctr"/>
                          <a:r>
                            <a:rPr kumimoji="1" lang="ja-JP" altLang="en-US" sz="2000" b="0">
                              <a:solidFill>
                                <a:schemeClr val="tx1"/>
                              </a:solidFill>
                              <a:latin typeface="Arial" panose="020B0604020202020204" pitchFamily="34" charset="0"/>
                              <a:cs typeface="Arial" panose="020B0604020202020204" pitchFamily="34" charset="0"/>
                            </a:rPr>
                            <a:t>設定番号</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38136" t="-2941" r="-100565" b="-1552941"/>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37746" t="-2941" r="-282" b="-1552941"/>
                          </a:stretch>
                        </a:blipFill>
                      </a:tcPr>
                    </a:tc>
                    <a:extLst>
                      <a:ext uri="{0D108BD9-81ED-4DB2-BD59-A6C34878D82A}">
                        <a16:rowId xmlns:a16="http://schemas.microsoft.com/office/drawing/2014/main" val="3203469797"/>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1</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102941" r="-100565" b="-1452941"/>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102941" r="-282" b="-1452941"/>
                          </a:stretch>
                        </a:blipFill>
                      </a:tcPr>
                    </a:tc>
                    <a:extLst>
                      <a:ext uri="{0D108BD9-81ED-4DB2-BD59-A6C34878D82A}">
                        <a16:rowId xmlns:a16="http://schemas.microsoft.com/office/drawing/2014/main" val="2726777244"/>
                      </a:ext>
                    </a:extLst>
                  </a:tr>
                  <a:tr h="432000">
                    <a:tc>
                      <a:txBody>
                        <a:bodyPr/>
                        <a:lstStyle/>
                        <a:p>
                          <a:pPr algn="ctr"/>
                          <a:r>
                            <a:rPr kumimoji="1" lang="en-US" altLang="ja-JP" sz="2000" b="0">
                              <a:solidFill>
                                <a:schemeClr val="tx1"/>
                              </a:solidFill>
                              <a:latin typeface="Arial" panose="020B0604020202020204" pitchFamily="34" charset="0"/>
                              <a:cs typeface="Arial" panose="020B0604020202020204" pitchFamily="34" charset="0"/>
                            </a:rPr>
                            <a:t>2</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202941" r="-100565" b="-1352941"/>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202941" r="-282" b="-1352941"/>
                          </a:stretch>
                        </a:blipFill>
                      </a:tcPr>
                    </a:tc>
                    <a:extLst>
                      <a:ext uri="{0D108BD9-81ED-4DB2-BD59-A6C34878D82A}">
                        <a16:rowId xmlns:a16="http://schemas.microsoft.com/office/drawing/2014/main" val="1874576548"/>
                      </a:ext>
                    </a:extLst>
                  </a:tr>
                  <a:tr h="432000">
                    <a:tc>
                      <a:txBody>
                        <a:bodyPr/>
                        <a:lstStyle/>
                        <a:p>
                          <a:pPr algn="ctr"/>
                          <a:r>
                            <a:rPr kumimoji="1" lang="en-US" altLang="ja-JP" sz="2000" b="0">
                              <a:solidFill>
                                <a:schemeClr val="tx1"/>
                              </a:solidFill>
                              <a:latin typeface="Arial" panose="020B0604020202020204" pitchFamily="34" charset="0"/>
                              <a:cs typeface="Arial" panose="020B0604020202020204" pitchFamily="34" charset="0"/>
                            </a:rPr>
                            <a:t>3</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302941" r="-100565" b="-1252941"/>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302941" r="-282" b="-1252941"/>
                          </a:stretch>
                        </a:blipFill>
                      </a:tcPr>
                    </a:tc>
                    <a:extLst>
                      <a:ext uri="{0D108BD9-81ED-4DB2-BD59-A6C34878D82A}">
                        <a16:rowId xmlns:a16="http://schemas.microsoft.com/office/drawing/2014/main" val="3800332839"/>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4</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402941" r="-100565" b="-1152941"/>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402941" r="-282" b="-1152941"/>
                          </a:stretch>
                        </a:blipFill>
                      </a:tcPr>
                    </a:tc>
                    <a:extLst>
                      <a:ext uri="{0D108BD9-81ED-4DB2-BD59-A6C34878D82A}">
                        <a16:rowId xmlns:a16="http://schemas.microsoft.com/office/drawing/2014/main" val="3605634014"/>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5</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488571" r="-100565" b="-1020000"/>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488571" r="-282" b="-1020000"/>
                          </a:stretch>
                        </a:blipFill>
                      </a:tcPr>
                    </a:tc>
                    <a:extLst>
                      <a:ext uri="{0D108BD9-81ED-4DB2-BD59-A6C34878D82A}">
                        <a16:rowId xmlns:a16="http://schemas.microsoft.com/office/drawing/2014/main" val="2114715069"/>
                      </a:ext>
                    </a:extLst>
                  </a:tr>
                  <a:tr h="753999">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6</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349153" r="-100565" b="-505085"/>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349153" r="-282" b="-505085"/>
                          </a:stretch>
                        </a:blipFill>
                      </a:tcPr>
                    </a:tc>
                    <a:extLst>
                      <a:ext uri="{0D108BD9-81ED-4DB2-BD59-A6C34878D82A}">
                        <a16:rowId xmlns:a16="http://schemas.microsoft.com/office/drawing/2014/main" val="1059323963"/>
                      </a:ext>
                    </a:extLst>
                  </a:tr>
                  <a:tr h="753999">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7</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441667" r="-100565" b="-396667"/>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441667" r="-282" b="-396667"/>
                          </a:stretch>
                        </a:blipFill>
                      </a:tcPr>
                    </a:tc>
                    <a:extLst>
                      <a:ext uri="{0D108BD9-81ED-4DB2-BD59-A6C34878D82A}">
                        <a16:rowId xmlns:a16="http://schemas.microsoft.com/office/drawing/2014/main" val="3422512400"/>
                      </a:ext>
                    </a:extLst>
                  </a:tr>
                  <a:tr h="707835">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8</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590909" r="-100565" b="-332727"/>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590909" r="-282" b="-332727"/>
                          </a:stretch>
                        </a:blipFill>
                      </a:tcPr>
                    </a:tc>
                    <a:extLst>
                      <a:ext uri="{0D108BD9-81ED-4DB2-BD59-A6C34878D82A}">
                        <a16:rowId xmlns:a16="http://schemas.microsoft.com/office/drawing/2014/main" val="278913005"/>
                      </a:ext>
                    </a:extLst>
                  </a:tr>
                  <a:tr h="753999">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9</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633333" r="-100565" b="-205000"/>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633333" r="-282" b="-205000"/>
                          </a:stretch>
                        </a:blipFill>
                      </a:tcPr>
                    </a:tc>
                    <a:extLst>
                      <a:ext uri="{0D108BD9-81ED-4DB2-BD59-A6C34878D82A}">
                        <a16:rowId xmlns:a16="http://schemas.microsoft.com/office/drawing/2014/main" val="2005724772"/>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10</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38136" t="-1294118" r="-100565" b="-261765"/>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37746" t="-1294118" r="-282" b="-261765"/>
                          </a:stretch>
                        </a:blipFill>
                      </a:tcPr>
                    </a:tc>
                    <a:extLst>
                      <a:ext uri="{0D108BD9-81ED-4DB2-BD59-A6C34878D82A}">
                        <a16:rowId xmlns:a16="http://schemas.microsoft.com/office/drawing/2014/main" val="818555373"/>
                      </a:ext>
                    </a:extLst>
                  </a:tr>
                </a:tbl>
              </a:graphicData>
            </a:graphic>
          </p:graphicFrame>
        </mc:Fallback>
      </mc:AlternateContent>
      <p:sp>
        <p:nvSpPr>
          <p:cNvPr id="5" name="テキスト ボックス 4">
            <a:extLst>
              <a:ext uri="{FF2B5EF4-FFF2-40B4-BE49-F238E27FC236}">
                <a16:creationId xmlns:a16="http://schemas.microsoft.com/office/drawing/2014/main" id="{BEF11590-ADD6-D604-A4B3-CCB87922B25F}"/>
              </a:ext>
            </a:extLst>
          </p:cNvPr>
          <p:cNvSpPr txBox="1"/>
          <p:nvPr/>
        </p:nvSpPr>
        <p:spPr>
          <a:xfrm>
            <a:off x="4544132" y="126635"/>
            <a:ext cx="2698175" cy="523220"/>
          </a:xfrm>
          <a:prstGeom prst="rect">
            <a:avLst/>
          </a:prstGeom>
          <a:noFill/>
        </p:spPr>
        <p:txBody>
          <a:bodyPr wrap="none" rtlCol="0">
            <a:spAutoFit/>
          </a:bodyPr>
          <a:lstStyle/>
          <a:p>
            <a:r>
              <a:rPr lang="ja-JP" altLang="en-US" sz="2800">
                <a:solidFill>
                  <a:schemeClr val="dk1"/>
                </a:solidFill>
                <a:latin typeface="+mn-ea"/>
                <a:ea typeface="+mn-ea"/>
                <a:cs typeface="Arial" panose="020B0604020202020204" pitchFamily="34" charset="0"/>
              </a:rPr>
              <a:t>真のモデル設定</a:t>
            </a:r>
            <a:endParaRPr lang="en-US" altLang="ja-JP" sz="2800" dirty="0">
              <a:solidFill>
                <a:schemeClr val="dk1"/>
              </a:solidFill>
              <a:latin typeface="+mn-ea"/>
              <a:ea typeface="+mn-ea"/>
              <a:cs typeface="Arial" panose="020B0604020202020204" pitchFamily="34" charset="0"/>
            </a:endParaRPr>
          </a:p>
        </p:txBody>
      </p:sp>
      <p:sp>
        <p:nvSpPr>
          <p:cNvPr id="2" name="スライド番号プレースホルダー 1">
            <a:extLst>
              <a:ext uri="{FF2B5EF4-FFF2-40B4-BE49-F238E27FC236}">
                <a16:creationId xmlns:a16="http://schemas.microsoft.com/office/drawing/2014/main" id="{5FF8C553-B29D-C6E0-9CE6-1E9C2ADA79A3}"/>
              </a:ext>
            </a:extLst>
          </p:cNvPr>
          <p:cNvSpPr>
            <a:spLocks noGrp="1"/>
          </p:cNvSpPr>
          <p:nvPr>
            <p:ph type="sldNum" sz="quarter" idx="12"/>
          </p:nvPr>
        </p:nvSpPr>
        <p:spPr/>
        <p:txBody>
          <a:bodyPr/>
          <a:lstStyle/>
          <a:p>
            <a:fld id="{21218AEF-8260-6F42-89D9-6D82E053F226}" type="slidenum">
              <a:rPr kumimoji="1" lang="ja-JP" altLang="en-US" smtClean="0"/>
              <a:t>28</a:t>
            </a:fld>
            <a:endParaRPr kumimoji="1" lang="ja-JP" altLang="en-US"/>
          </a:p>
        </p:txBody>
      </p:sp>
    </p:spTree>
    <p:extLst>
      <p:ext uri="{BB962C8B-B14F-4D97-AF65-F5344CB8AC3E}">
        <p14:creationId xmlns:p14="http://schemas.microsoft.com/office/powerpoint/2010/main" val="3820689739"/>
      </p:ext>
    </p:extLst>
  </p:cSld>
  <p:clrMapOvr>
    <a:masterClrMapping/>
  </p:clrMapOvr>
  <mc:AlternateContent xmlns:mc="http://schemas.openxmlformats.org/markup-compatibility/2006">
    <mc:Choice xmlns:p14="http://schemas.microsoft.com/office/powerpoint/2010/main" Requires="p14">
      <p:transition spd="slow" p14:dur="2000" advTm="21528"/>
    </mc:Choice>
    <mc:Fallback>
      <p:transition spd="slow" advTm="21528"/>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109989042"/>
              </p:ext>
            </p:extLst>
          </p:nvPr>
        </p:nvGraphicFramePr>
        <p:xfrm>
          <a:off x="5040000" y="720000"/>
          <a:ext cx="5760000"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0.00749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0.08514</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0.00734</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(0.08443)</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0.00997</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0.09987</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0.00991</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(0.09966)</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0.00729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0.08576</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0.00734</a:t>
                      </a:r>
                    </a:p>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(0.08605)</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0.01235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0.09778</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0.05739</a:t>
                      </a:r>
                    </a:p>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(0.13935)</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0.04594</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(0.09572)</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0.04688</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(0.09187)</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p:sp>
        <p:nvSpPr>
          <p:cNvPr id="3" name="スライド番号プレースホルダー 2">
            <a:extLst>
              <a:ext uri="{FF2B5EF4-FFF2-40B4-BE49-F238E27FC236}">
                <a16:creationId xmlns:a16="http://schemas.microsoft.com/office/drawing/2014/main" id="{85870024-E431-5C9E-9330-684646A801FB}"/>
              </a:ext>
            </a:extLst>
          </p:cNvPr>
          <p:cNvSpPr>
            <a:spLocks noGrp="1"/>
          </p:cNvSpPr>
          <p:nvPr>
            <p:ph type="sldNum" sz="quarter" idx="12"/>
          </p:nvPr>
        </p:nvSpPr>
        <p:spPr/>
        <p:txBody>
          <a:bodyPr/>
          <a:lstStyle/>
          <a:p>
            <a:fld id="{21218AEF-8260-6F42-89D9-6D82E053F226}" type="slidenum">
              <a:rPr kumimoji="1" lang="ja-JP" altLang="en-US" smtClean="0"/>
              <a:t>29</a:t>
            </a:fld>
            <a:endParaRPr kumimoji="1" lang="ja-JP" altLang="en-US"/>
          </a:p>
        </p:txBody>
      </p:sp>
      <mc:AlternateContent xmlns:mc="http://schemas.openxmlformats.org/markup-compatibility/2006">
        <mc:Choice xmlns:a14="http://schemas.microsoft.com/office/drawing/2010/main" Requires="a14">
          <p:sp>
            <p:nvSpPr>
              <p:cNvPr id="22" name="Google Shape;95;p1">
                <a:extLst>
                  <a:ext uri="{FF2B5EF4-FFF2-40B4-BE49-F238E27FC236}">
                    <a16:creationId xmlns:a16="http://schemas.microsoft.com/office/drawing/2014/main" id="{0F1C3317-2782-3B7E-FFE8-490BE155C691}"/>
                  </a:ext>
                </a:extLst>
              </p:cNvPr>
              <p:cNvSpPr/>
              <p:nvPr/>
            </p:nvSpPr>
            <p:spPr>
              <a:xfrm>
                <a:off x="4068115" y="7722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lang="en-US" altLang="ja-JP" sz="2800" dirty="0">
                  <a:solidFill>
                    <a:schemeClr val="dk1"/>
                  </a:solidFill>
                  <a:latin typeface="+mn-ea"/>
                  <a:ea typeface="+mn-ea"/>
                  <a:cs typeface="Arial" panose="020B0604020202020204" pitchFamily="34" charset="0"/>
                </a:endParaRPr>
              </a:p>
            </p:txBody>
          </p:sp>
        </mc:Choice>
        <mc:Fallback>
          <p:sp>
            <p:nvSpPr>
              <p:cNvPr id="22" name="Google Shape;95;p1">
                <a:extLst>
                  <a:ext uri="{FF2B5EF4-FFF2-40B4-BE49-F238E27FC236}">
                    <a16:creationId xmlns:a16="http://schemas.microsoft.com/office/drawing/2014/main" id="{0F1C3317-2782-3B7E-FFE8-490BE155C691}"/>
                  </a:ext>
                </a:extLst>
              </p:cNvPr>
              <p:cNvSpPr>
                <a:spLocks noRot="1" noChangeAspect="1" noMove="1" noResize="1" noEditPoints="1" noAdjustHandles="1" noChangeArrowheads="1" noChangeShapeType="1" noTextEdit="1"/>
              </p:cNvSpPr>
              <p:nvPr/>
            </p:nvSpPr>
            <p:spPr>
              <a:xfrm>
                <a:off x="4068115" y="77227"/>
                <a:ext cx="4055770" cy="523180"/>
              </a:xfrm>
              <a:prstGeom prst="rect">
                <a:avLst/>
              </a:prstGeom>
              <a:blipFill>
                <a:blip r:embed="rId3"/>
                <a:stretch>
                  <a:fillRect l="-3125" t="-14286" b="-30952"/>
                </a:stretch>
              </a:blipFill>
              <a:ln>
                <a:noFill/>
              </a:ln>
            </p:spPr>
            <p:txBody>
              <a:bodyPr/>
              <a:lstStyle/>
              <a:p>
                <a:r>
                  <a:rPr lang="ja-JP" altLang="en-US">
                    <a:noFill/>
                  </a:rPr>
                  <a:t> </a:t>
                </a:r>
              </a:p>
            </p:txBody>
          </p:sp>
        </mc:Fallback>
      </mc:AlternateContent>
      <p:sp>
        <p:nvSpPr>
          <p:cNvPr id="23" name="テキスト ボックス 22">
            <a:extLst>
              <a:ext uri="{FF2B5EF4-FFF2-40B4-BE49-F238E27FC236}">
                <a16:creationId xmlns:a16="http://schemas.microsoft.com/office/drawing/2014/main" id="{789C301A-C00B-DF07-09DF-19D815115664}"/>
              </a:ext>
            </a:extLst>
          </p:cNvPr>
          <p:cNvSpPr txBox="1"/>
          <p:nvPr/>
        </p:nvSpPr>
        <p:spPr>
          <a:xfrm>
            <a:off x="95521" y="3273972"/>
            <a:ext cx="3858291" cy="1384995"/>
          </a:xfrm>
          <a:prstGeom prst="rect">
            <a:avLst/>
          </a:prstGeom>
          <a:noFill/>
          <a:ln w="28575">
            <a:solidFill>
              <a:schemeClr val="tx1"/>
            </a:solidFill>
          </a:ln>
        </p:spPr>
        <p:txBody>
          <a:bodyPr wrap="square" rtlCol="0">
            <a:spAutoFit/>
          </a:bodyPr>
          <a:lstStyle/>
          <a:p>
            <a:r>
              <a:rPr kumimoji="1" lang="ja-JP" altLang="en-US" sz="2800"/>
              <a:t>真の結果モデル</a:t>
            </a:r>
            <a:endParaRPr kumimoji="1" lang="en-US" altLang="ja-JP" sz="2800" dirty="0"/>
          </a:p>
          <a:p>
            <a:r>
              <a:rPr kumimoji="1" lang="ja-JP" altLang="en-US" sz="2800"/>
              <a:t>真の傾向スコアモデルともに線形</a:t>
            </a:r>
          </a:p>
        </p:txBody>
      </p:sp>
      <p:cxnSp>
        <p:nvCxnSpPr>
          <p:cNvPr id="24" name="直線コネクタ 23">
            <a:extLst>
              <a:ext uri="{FF2B5EF4-FFF2-40B4-BE49-F238E27FC236}">
                <a16:creationId xmlns:a16="http://schemas.microsoft.com/office/drawing/2014/main" id="{699A0205-BF37-BC4B-DDEA-F50D7F1353A9}"/>
              </a:ext>
            </a:extLst>
          </p:cNvPr>
          <p:cNvCxnSpPr>
            <a:cxnSpLocks/>
            <a:endCxn id="23" idx="3"/>
          </p:cNvCxnSpPr>
          <p:nvPr/>
        </p:nvCxnSpPr>
        <p:spPr>
          <a:xfrm flipH="1">
            <a:off x="3953812" y="2836303"/>
            <a:ext cx="1135491" cy="113016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線コネクタ 24">
            <a:extLst>
              <a:ext uri="{FF2B5EF4-FFF2-40B4-BE49-F238E27FC236}">
                <a16:creationId xmlns:a16="http://schemas.microsoft.com/office/drawing/2014/main" id="{90AF8C63-DA94-5A8B-143D-35DB0A338CC8}"/>
              </a:ext>
            </a:extLst>
          </p:cNvPr>
          <p:cNvCxnSpPr>
            <a:cxnSpLocks/>
            <a:endCxn id="23" idx="3"/>
          </p:cNvCxnSpPr>
          <p:nvPr/>
        </p:nvCxnSpPr>
        <p:spPr>
          <a:xfrm flipH="1" flipV="1">
            <a:off x="3953812" y="3966470"/>
            <a:ext cx="1135491" cy="5461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a16:creationId xmlns:a16="http://schemas.microsoft.com/office/drawing/2014/main" id="{5536C093-B66C-23C2-7E02-1D6AFD7A9749}"/>
              </a:ext>
            </a:extLst>
          </p:cNvPr>
          <p:cNvCxnSpPr>
            <a:cxnSpLocks/>
            <a:endCxn id="23" idx="3"/>
          </p:cNvCxnSpPr>
          <p:nvPr/>
        </p:nvCxnSpPr>
        <p:spPr>
          <a:xfrm flipH="1">
            <a:off x="3953812" y="3657600"/>
            <a:ext cx="1135491" cy="30887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a16:creationId xmlns:a16="http://schemas.microsoft.com/office/drawing/2014/main" id="{35D46409-BEF4-39E0-AD0E-44698D095471}"/>
              </a:ext>
            </a:extLst>
          </p:cNvPr>
          <p:cNvCxnSpPr>
            <a:cxnSpLocks/>
            <a:endCxn id="23" idx="3"/>
          </p:cNvCxnSpPr>
          <p:nvPr/>
        </p:nvCxnSpPr>
        <p:spPr>
          <a:xfrm flipH="1" flipV="1">
            <a:off x="3953812" y="3966470"/>
            <a:ext cx="1227788" cy="15137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線コネクタ 27">
            <a:extLst>
              <a:ext uri="{FF2B5EF4-FFF2-40B4-BE49-F238E27FC236}">
                <a16:creationId xmlns:a16="http://schemas.microsoft.com/office/drawing/2014/main" id="{147F9B86-1905-053A-659E-A554FD82019C}"/>
              </a:ext>
            </a:extLst>
          </p:cNvPr>
          <p:cNvCxnSpPr>
            <a:cxnSpLocks/>
            <a:endCxn id="23" idx="3"/>
          </p:cNvCxnSpPr>
          <p:nvPr/>
        </p:nvCxnSpPr>
        <p:spPr>
          <a:xfrm flipH="1" flipV="1">
            <a:off x="3953812" y="3966470"/>
            <a:ext cx="1135491" cy="246908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9033441"/>
      </p:ext>
    </p:extLst>
  </p:cSld>
  <p:clrMapOvr>
    <a:masterClrMapping/>
  </p:clrMapOvr>
  <mc:AlternateContent xmlns:mc="http://schemas.openxmlformats.org/markup-compatibility/2006">
    <mc:Choice xmlns:p14="http://schemas.microsoft.com/office/powerpoint/2010/main" Requires="p14">
      <p:transition spd="slow" p14:dur="2000" advTm="25946"/>
    </mc:Choice>
    <mc:Fallback>
      <p:transition spd="slow" advTm="25946"/>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1570477008"/>
              </p:ext>
            </p:extLst>
          </p:nvPr>
        </p:nvGraphicFramePr>
        <p:xfrm>
          <a:off x="5040000" y="720000"/>
          <a:ext cx="576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0.00760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0.08644</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0.02854</a:t>
                      </a:r>
                    </a:p>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(0.16611)</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0.00935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0.09685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0.01931</a:t>
                      </a:r>
                    </a:p>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(0.13944)</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0.28370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0.53441</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0.27653</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(0.52716)</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0.01528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0.12305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0.01504</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(0.12104)</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0.01229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0.11135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0.01245</a:t>
                      </a:r>
                    </a:p>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(0.11204)</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825497824"/>
                  </a:ext>
                </a:extLst>
              </a:tr>
            </a:tbl>
          </a:graphicData>
        </a:graphic>
      </p:graphicFrame>
      <p:sp>
        <p:nvSpPr>
          <p:cNvPr id="2" name="テキスト ボックス 1">
            <a:extLst>
              <a:ext uri="{FF2B5EF4-FFF2-40B4-BE49-F238E27FC236}">
                <a16:creationId xmlns:a16="http://schemas.microsoft.com/office/drawing/2014/main" id="{224D7986-F9FE-A23A-F7DB-22303537F01C}"/>
              </a:ext>
            </a:extLst>
          </p:cNvPr>
          <p:cNvSpPr txBox="1"/>
          <p:nvPr/>
        </p:nvSpPr>
        <p:spPr>
          <a:xfrm>
            <a:off x="85730" y="2951946"/>
            <a:ext cx="2711258" cy="954107"/>
          </a:xfrm>
          <a:prstGeom prst="rect">
            <a:avLst/>
          </a:prstGeom>
          <a:noFill/>
          <a:ln w="28575">
            <a:solidFill>
              <a:schemeClr val="accent1">
                <a:lumMod val="60000"/>
                <a:lumOff val="40000"/>
              </a:schemeClr>
            </a:solidFill>
          </a:ln>
        </p:spPr>
        <p:txBody>
          <a:bodyPr wrap="square" rtlCol="0">
            <a:spAutoFit/>
          </a:bodyPr>
          <a:lstStyle/>
          <a:p>
            <a:r>
              <a:rPr kumimoji="1" lang="ja-JP" altLang="en-US" sz="2800"/>
              <a:t>真の結果モデルが非線形</a:t>
            </a:r>
          </a:p>
        </p:txBody>
      </p:sp>
      <p:sp>
        <p:nvSpPr>
          <p:cNvPr id="3" name="テキスト ボックス 2">
            <a:extLst>
              <a:ext uri="{FF2B5EF4-FFF2-40B4-BE49-F238E27FC236}">
                <a16:creationId xmlns:a16="http://schemas.microsoft.com/office/drawing/2014/main" id="{8CAEED3F-DA8C-2EF1-F240-893D71B6E0E9}"/>
              </a:ext>
            </a:extLst>
          </p:cNvPr>
          <p:cNvSpPr txBox="1"/>
          <p:nvPr/>
        </p:nvSpPr>
        <p:spPr>
          <a:xfrm>
            <a:off x="85728" y="5261963"/>
            <a:ext cx="3854259" cy="954107"/>
          </a:xfrm>
          <a:prstGeom prst="rect">
            <a:avLst/>
          </a:prstGeom>
          <a:noFill/>
          <a:ln w="28575">
            <a:solidFill>
              <a:schemeClr val="accent2">
                <a:lumMod val="60000"/>
                <a:lumOff val="40000"/>
              </a:schemeClr>
            </a:solidFill>
          </a:ln>
        </p:spPr>
        <p:txBody>
          <a:bodyPr wrap="square" rtlCol="0">
            <a:spAutoFit/>
          </a:bodyPr>
          <a:lstStyle/>
          <a:p>
            <a:r>
              <a:rPr lang="ja-JP" altLang="en-US" sz="2800"/>
              <a:t>真の傾向スコア</a:t>
            </a:r>
            <a:r>
              <a:rPr kumimoji="1" lang="ja-JP" altLang="en-US" sz="2800"/>
              <a:t>モデルが非線形</a:t>
            </a:r>
          </a:p>
        </p:txBody>
      </p:sp>
      <p:cxnSp>
        <p:nvCxnSpPr>
          <p:cNvPr id="4" name="直線コネクタ 3">
            <a:extLst>
              <a:ext uri="{FF2B5EF4-FFF2-40B4-BE49-F238E27FC236}">
                <a16:creationId xmlns:a16="http://schemas.microsoft.com/office/drawing/2014/main" id="{23DD680F-DB5A-99B4-1BED-A9F4CA6442CF}"/>
              </a:ext>
            </a:extLst>
          </p:cNvPr>
          <p:cNvCxnSpPr>
            <a:cxnSpLocks/>
            <a:endCxn id="3" idx="3"/>
          </p:cNvCxnSpPr>
          <p:nvPr/>
        </p:nvCxnSpPr>
        <p:spPr>
          <a:xfrm flipH="1">
            <a:off x="3939987" y="5378824"/>
            <a:ext cx="1100013" cy="36019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4CA1CF30-D7E0-7E8E-A30E-EBFADEBD197B}"/>
              </a:ext>
            </a:extLst>
          </p:cNvPr>
          <p:cNvCxnSpPr>
            <a:cxnSpLocks/>
            <a:endCxn id="3" idx="3"/>
          </p:cNvCxnSpPr>
          <p:nvPr/>
        </p:nvCxnSpPr>
        <p:spPr>
          <a:xfrm flipH="1" flipV="1">
            <a:off x="3939987" y="5739017"/>
            <a:ext cx="1100013" cy="61733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4CB78648-8796-FDA3-8407-99429EFB1369}"/>
              </a:ext>
            </a:extLst>
          </p:cNvPr>
          <p:cNvCxnSpPr>
            <a:cxnSpLocks/>
            <a:endCxn id="2" idx="3"/>
          </p:cNvCxnSpPr>
          <p:nvPr/>
        </p:nvCxnSpPr>
        <p:spPr>
          <a:xfrm flipH="1">
            <a:off x="2796988" y="2541494"/>
            <a:ext cx="2243012" cy="8875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2A9786A4-2681-C9D0-7736-C1688F2A4A04}"/>
              </a:ext>
            </a:extLst>
          </p:cNvPr>
          <p:cNvCxnSpPr>
            <a:cxnSpLocks/>
            <a:endCxn id="2" idx="3"/>
          </p:cNvCxnSpPr>
          <p:nvPr/>
        </p:nvCxnSpPr>
        <p:spPr>
          <a:xfrm flipH="1" flipV="1">
            <a:off x="2796988" y="3429000"/>
            <a:ext cx="2243012" cy="9541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8FA70575-51C2-EB39-E4A5-8EAAD445E027}"/>
              </a:ext>
            </a:extLst>
          </p:cNvPr>
          <p:cNvCxnSpPr>
            <a:cxnSpLocks/>
            <a:endCxn id="2" idx="3"/>
          </p:cNvCxnSpPr>
          <p:nvPr/>
        </p:nvCxnSpPr>
        <p:spPr>
          <a:xfrm flipH="1" flipV="1">
            <a:off x="2796988" y="3429000"/>
            <a:ext cx="2243012" cy="12102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 name="Google Shape;95;p1">
                <a:extLst>
                  <a:ext uri="{FF2B5EF4-FFF2-40B4-BE49-F238E27FC236}">
                    <a16:creationId xmlns:a16="http://schemas.microsoft.com/office/drawing/2014/main" id="{123A9AFB-C780-94BA-5BE7-FEBF6E12C920}"/>
                  </a:ext>
                </a:extLst>
              </p:cNvPr>
              <p:cNvSpPr/>
              <p:nvPr/>
            </p:nvSpPr>
            <p:spPr>
              <a:xfrm>
                <a:off x="4068115" y="7722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12" name="Google Shape;95;p1">
                <a:extLst>
                  <a:ext uri="{FF2B5EF4-FFF2-40B4-BE49-F238E27FC236}">
                    <a16:creationId xmlns:a16="http://schemas.microsoft.com/office/drawing/2014/main" id="{123A9AFB-C780-94BA-5BE7-FEBF6E12C920}"/>
                  </a:ext>
                </a:extLst>
              </p:cNvPr>
              <p:cNvSpPr>
                <a:spLocks noRot="1" noChangeAspect="1" noMove="1" noResize="1" noEditPoints="1" noAdjustHandles="1" noChangeArrowheads="1" noChangeShapeType="1" noTextEdit="1"/>
              </p:cNvSpPr>
              <p:nvPr/>
            </p:nvSpPr>
            <p:spPr>
              <a:xfrm>
                <a:off x="4068115" y="77227"/>
                <a:ext cx="4055770" cy="523180"/>
              </a:xfrm>
              <a:prstGeom prst="rect">
                <a:avLst/>
              </a:prstGeom>
              <a:blipFill>
                <a:blip r:embed="rId4"/>
                <a:stretch>
                  <a:fillRect l="-3125" t="-14286" b="-30952"/>
                </a:stretch>
              </a:blipFill>
              <a:ln>
                <a:noFill/>
              </a:ln>
            </p:spPr>
            <p:txBody>
              <a:bodyPr/>
              <a:lstStyle/>
              <a:p>
                <a:r>
                  <a:rPr lang="ja-JP" altLang="en-US">
                    <a:noFill/>
                  </a:rPr>
                  <a:t> </a:t>
                </a:r>
              </a:p>
            </p:txBody>
          </p:sp>
        </mc:Fallback>
      </mc:AlternateContent>
      <p:sp>
        <p:nvSpPr>
          <p:cNvPr id="5" name="スライド番号プレースホルダー 4">
            <a:extLst>
              <a:ext uri="{FF2B5EF4-FFF2-40B4-BE49-F238E27FC236}">
                <a16:creationId xmlns:a16="http://schemas.microsoft.com/office/drawing/2014/main" id="{DC0C2443-A205-DE23-F219-6C0BAC334DF5}"/>
              </a:ext>
            </a:extLst>
          </p:cNvPr>
          <p:cNvSpPr>
            <a:spLocks noGrp="1"/>
          </p:cNvSpPr>
          <p:nvPr>
            <p:ph type="sldNum" sz="quarter" idx="12"/>
          </p:nvPr>
        </p:nvSpPr>
        <p:spPr/>
        <p:txBody>
          <a:bodyPr/>
          <a:lstStyle/>
          <a:p>
            <a:fld id="{21218AEF-8260-6F42-89D9-6D82E053F226}" type="slidenum">
              <a:rPr kumimoji="1" lang="ja-JP" altLang="en-US" smtClean="0"/>
              <a:t>30</a:t>
            </a:fld>
            <a:endParaRPr kumimoji="1" lang="ja-JP" altLang="en-US"/>
          </a:p>
        </p:txBody>
      </p:sp>
    </p:spTree>
    <p:extLst>
      <p:ext uri="{BB962C8B-B14F-4D97-AF65-F5344CB8AC3E}">
        <p14:creationId xmlns:p14="http://schemas.microsoft.com/office/powerpoint/2010/main" val="838396866"/>
      </p:ext>
    </p:extLst>
  </p:cSld>
  <p:clrMapOvr>
    <a:masterClrMapping/>
  </p:clrMapOvr>
  <mc:AlternateContent xmlns:mc="http://schemas.openxmlformats.org/markup-compatibility/2006">
    <mc:Choice xmlns:p14="http://schemas.microsoft.com/office/powerpoint/2010/main" Requires="p14">
      <p:transition spd="slow" p14:dur="2000" advTm="5356"/>
    </mc:Choice>
    <mc:Fallback>
      <p:transition spd="slow" advTm="5356"/>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3481749163"/>
              </p:ext>
            </p:extLst>
          </p:nvPr>
        </p:nvGraphicFramePr>
        <p:xfrm>
          <a:off x="5040000" y="720000"/>
          <a:ext cx="576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0.01075</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(0.10382)</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0.01037</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(0.10227)</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0.00908</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(0.09491)</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0.02528</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(0.14344)</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0.00708</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(0.08433)</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0.00703</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(0.08420)</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0.01701</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(0.10415)</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0.25776</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(0.23195)</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0.04572</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(0.11265)</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0.05032</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(0.18914)</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p:sp>
        <p:nvSpPr>
          <p:cNvPr id="3" name="スライド番号プレースホルダー 2">
            <a:extLst>
              <a:ext uri="{FF2B5EF4-FFF2-40B4-BE49-F238E27FC236}">
                <a16:creationId xmlns:a16="http://schemas.microsoft.com/office/drawing/2014/main" id="{FA045B8F-AD3F-4E40-5F7D-9D2CC6C51A32}"/>
              </a:ext>
            </a:extLst>
          </p:cNvPr>
          <p:cNvSpPr>
            <a:spLocks noGrp="1"/>
          </p:cNvSpPr>
          <p:nvPr>
            <p:ph type="sldNum" sz="quarter" idx="12"/>
          </p:nvPr>
        </p:nvSpPr>
        <p:spPr/>
        <p:txBody>
          <a:bodyPr/>
          <a:lstStyle/>
          <a:p>
            <a:fld id="{21218AEF-8260-6F42-89D9-6D82E053F226}" type="slidenum">
              <a:rPr kumimoji="1" lang="ja-JP" altLang="en-US" smtClean="0"/>
              <a:t>31</a:t>
            </a:fld>
            <a:endParaRPr kumimoji="1" lang="ja-JP" altLang="en-US"/>
          </a:p>
        </p:txBody>
      </p:sp>
      <p:sp>
        <p:nvSpPr>
          <p:cNvPr id="4" name="テキスト ボックス 3">
            <a:extLst>
              <a:ext uri="{FF2B5EF4-FFF2-40B4-BE49-F238E27FC236}">
                <a16:creationId xmlns:a16="http://schemas.microsoft.com/office/drawing/2014/main" id="{2FC83A9E-AD32-9A55-8B12-4951B2D26E8E}"/>
              </a:ext>
            </a:extLst>
          </p:cNvPr>
          <p:cNvSpPr txBox="1"/>
          <p:nvPr/>
        </p:nvSpPr>
        <p:spPr>
          <a:xfrm>
            <a:off x="95521" y="3273972"/>
            <a:ext cx="3858291" cy="1384995"/>
          </a:xfrm>
          <a:prstGeom prst="rect">
            <a:avLst/>
          </a:prstGeom>
          <a:noFill/>
          <a:ln w="28575">
            <a:solidFill>
              <a:schemeClr val="tx1"/>
            </a:solidFill>
          </a:ln>
        </p:spPr>
        <p:txBody>
          <a:bodyPr wrap="square" rtlCol="0">
            <a:spAutoFit/>
          </a:bodyPr>
          <a:lstStyle/>
          <a:p>
            <a:r>
              <a:rPr kumimoji="1" lang="ja-JP" altLang="en-US" sz="2800"/>
              <a:t>真の結果モデル</a:t>
            </a:r>
            <a:endParaRPr kumimoji="1" lang="en-US" altLang="ja-JP" sz="2800" dirty="0"/>
          </a:p>
          <a:p>
            <a:r>
              <a:rPr kumimoji="1" lang="ja-JP" altLang="en-US" sz="2800"/>
              <a:t>真の傾向スコアモデルともに線形</a:t>
            </a:r>
          </a:p>
        </p:txBody>
      </p:sp>
      <p:cxnSp>
        <p:nvCxnSpPr>
          <p:cNvPr id="7" name="直線コネクタ 6">
            <a:extLst>
              <a:ext uri="{FF2B5EF4-FFF2-40B4-BE49-F238E27FC236}">
                <a16:creationId xmlns:a16="http://schemas.microsoft.com/office/drawing/2014/main" id="{8889CD14-3E13-2E5E-3797-7310D49066EE}"/>
              </a:ext>
            </a:extLst>
          </p:cNvPr>
          <p:cNvCxnSpPr>
            <a:cxnSpLocks/>
            <a:endCxn id="4" idx="3"/>
          </p:cNvCxnSpPr>
          <p:nvPr/>
        </p:nvCxnSpPr>
        <p:spPr>
          <a:xfrm flipH="1">
            <a:off x="3953812" y="2836303"/>
            <a:ext cx="1135491" cy="113016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810EDDCA-4BB4-D302-2A0F-592537E8BF24}"/>
              </a:ext>
            </a:extLst>
          </p:cNvPr>
          <p:cNvCxnSpPr>
            <a:cxnSpLocks/>
            <a:endCxn id="4" idx="3"/>
          </p:cNvCxnSpPr>
          <p:nvPr/>
        </p:nvCxnSpPr>
        <p:spPr>
          <a:xfrm flipH="1" flipV="1">
            <a:off x="3953812" y="3966470"/>
            <a:ext cx="1135491" cy="5461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FD42B706-960C-31C5-C42B-6F862ACEB45E}"/>
              </a:ext>
            </a:extLst>
          </p:cNvPr>
          <p:cNvCxnSpPr>
            <a:cxnSpLocks/>
            <a:endCxn id="4" idx="3"/>
          </p:cNvCxnSpPr>
          <p:nvPr/>
        </p:nvCxnSpPr>
        <p:spPr>
          <a:xfrm flipH="1">
            <a:off x="3953812" y="3657600"/>
            <a:ext cx="1135491" cy="30887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4C5356CE-8B52-0384-30A3-D615F423A4BF}"/>
              </a:ext>
            </a:extLst>
          </p:cNvPr>
          <p:cNvCxnSpPr>
            <a:cxnSpLocks/>
            <a:endCxn id="4" idx="3"/>
          </p:cNvCxnSpPr>
          <p:nvPr/>
        </p:nvCxnSpPr>
        <p:spPr>
          <a:xfrm flipH="1" flipV="1">
            <a:off x="3953812" y="3966470"/>
            <a:ext cx="1227788" cy="15137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a16:creationId xmlns:a16="http://schemas.microsoft.com/office/drawing/2014/main" id="{F7B727CE-59D5-6EF7-AA7C-7145EB8991FF}"/>
              </a:ext>
            </a:extLst>
          </p:cNvPr>
          <p:cNvCxnSpPr>
            <a:cxnSpLocks/>
            <a:endCxn id="4" idx="3"/>
          </p:cNvCxnSpPr>
          <p:nvPr/>
        </p:nvCxnSpPr>
        <p:spPr>
          <a:xfrm flipH="1" flipV="1">
            <a:off x="3953812" y="3966470"/>
            <a:ext cx="1135491" cy="246908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 name="Google Shape;95;p1">
                <a:extLst>
                  <a:ext uri="{FF2B5EF4-FFF2-40B4-BE49-F238E27FC236}">
                    <a16:creationId xmlns:a16="http://schemas.microsoft.com/office/drawing/2014/main" id="{2E44A644-949D-C5A7-E8D7-6D267881DFCA}"/>
                  </a:ext>
                </a:extLst>
              </p:cNvPr>
              <p:cNvSpPr/>
              <p:nvPr/>
            </p:nvSpPr>
            <p:spPr>
              <a:xfrm>
                <a:off x="4068115" y="7722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oMath>
                </a14:m>
                <a:endParaRPr lang="en-US" altLang="ja-JP" sz="2800" dirty="0">
                  <a:solidFill>
                    <a:schemeClr val="dk1"/>
                  </a:solidFill>
                  <a:latin typeface="+mn-ea"/>
                  <a:ea typeface="+mn-ea"/>
                  <a:cs typeface="Arial" panose="020B0604020202020204" pitchFamily="34" charset="0"/>
                </a:endParaRPr>
              </a:p>
            </p:txBody>
          </p:sp>
        </mc:Choice>
        <mc:Fallback>
          <p:sp>
            <p:nvSpPr>
              <p:cNvPr id="17" name="Google Shape;95;p1">
                <a:extLst>
                  <a:ext uri="{FF2B5EF4-FFF2-40B4-BE49-F238E27FC236}">
                    <a16:creationId xmlns:a16="http://schemas.microsoft.com/office/drawing/2014/main" id="{2E44A644-949D-C5A7-E8D7-6D267881DFCA}"/>
                  </a:ext>
                </a:extLst>
              </p:cNvPr>
              <p:cNvSpPr>
                <a:spLocks noRot="1" noChangeAspect="1" noMove="1" noResize="1" noEditPoints="1" noAdjustHandles="1" noChangeArrowheads="1" noChangeShapeType="1" noTextEdit="1"/>
              </p:cNvSpPr>
              <p:nvPr/>
            </p:nvSpPr>
            <p:spPr>
              <a:xfrm>
                <a:off x="4068115" y="77227"/>
                <a:ext cx="4055770" cy="523180"/>
              </a:xfrm>
              <a:prstGeom prst="rect">
                <a:avLst/>
              </a:prstGeom>
              <a:blipFill>
                <a:blip r:embed="rId3"/>
                <a:stretch>
                  <a:fillRect l="-3125" t="-14286" b="-30952"/>
                </a:stretch>
              </a:blipFill>
              <a:ln>
                <a:noFill/>
              </a:ln>
            </p:spPr>
            <p:txBody>
              <a:bodyPr/>
              <a:lstStyle/>
              <a:p>
                <a:r>
                  <a:rPr lang="ja-JP" altLang="en-US">
                    <a:noFill/>
                  </a:rPr>
                  <a:t> </a:t>
                </a:r>
              </a:p>
            </p:txBody>
          </p:sp>
        </mc:Fallback>
      </mc:AlternateContent>
    </p:spTree>
    <p:extLst>
      <p:ext uri="{BB962C8B-B14F-4D97-AF65-F5344CB8AC3E}">
        <p14:creationId xmlns:p14="http://schemas.microsoft.com/office/powerpoint/2010/main" val="1375511027"/>
      </p:ext>
    </p:extLst>
  </p:cSld>
  <p:clrMapOvr>
    <a:masterClrMapping/>
  </p:clrMapOvr>
  <mc:AlternateContent xmlns:mc="http://schemas.openxmlformats.org/markup-compatibility/2006">
    <mc:Choice xmlns:p14="http://schemas.microsoft.com/office/powerpoint/2010/main" Requires="p14">
      <p:transition spd="slow" p14:dur="2000" advTm="9452"/>
    </mc:Choice>
    <mc:Fallback>
      <p:transition spd="slow" advTm="9452"/>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104098645"/>
              </p:ext>
            </p:extLst>
          </p:nvPr>
        </p:nvGraphicFramePr>
        <p:xfrm>
          <a:off x="5040000" y="720000"/>
          <a:ext cx="576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0.53471</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(0.73436)</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0.05886</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(0.24338)</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0.47251</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(0.68932)</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0.02552</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(0.15870)</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0.62878</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(0.78963)</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0.16198</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(0.40310)</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0.01434</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(0.11668)</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0.01453</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(0.11433)</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0.01153</a:t>
                      </a:r>
                    </a:p>
                    <a:p>
                      <a:pPr marL="0" marR="0" lvl="0" indent="0" algn="ctr" defTabSz="3027487" rtl="0" eaLnBrk="1" fontAlgn="ctr" latinLnBrk="0" hangingPunct="1">
                        <a:lnSpc>
                          <a:spcPct val="100000"/>
                        </a:lnSpc>
                        <a:spcBef>
                          <a:spcPts val="0"/>
                        </a:spcBef>
                        <a:spcAft>
                          <a:spcPts val="0"/>
                        </a:spcAft>
                        <a:buClrTx/>
                        <a:buSzTx/>
                        <a:buFontTx/>
                        <a:buNone/>
                        <a:tabLst/>
                        <a:defRPr/>
                      </a:pP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(0.10778)</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0.01142</a:t>
                      </a:r>
                    </a:p>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(0.10715)</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825497824"/>
                  </a:ext>
                </a:extLst>
              </a:tr>
            </a:tbl>
          </a:graphicData>
        </a:graphic>
      </p:graphicFrame>
      <p:sp>
        <p:nvSpPr>
          <p:cNvPr id="2" name="テキスト ボックス 1">
            <a:extLst>
              <a:ext uri="{FF2B5EF4-FFF2-40B4-BE49-F238E27FC236}">
                <a16:creationId xmlns:a16="http://schemas.microsoft.com/office/drawing/2014/main" id="{224D7986-F9FE-A23A-F7DB-22303537F01C}"/>
              </a:ext>
            </a:extLst>
          </p:cNvPr>
          <p:cNvSpPr txBox="1"/>
          <p:nvPr/>
        </p:nvSpPr>
        <p:spPr>
          <a:xfrm>
            <a:off x="200662" y="2951946"/>
            <a:ext cx="2717350" cy="954107"/>
          </a:xfrm>
          <a:prstGeom prst="rect">
            <a:avLst/>
          </a:prstGeom>
          <a:noFill/>
          <a:ln w="28575">
            <a:solidFill>
              <a:schemeClr val="accent1">
                <a:lumMod val="60000"/>
                <a:lumOff val="40000"/>
              </a:schemeClr>
            </a:solidFill>
          </a:ln>
        </p:spPr>
        <p:txBody>
          <a:bodyPr wrap="square" rtlCol="0">
            <a:spAutoFit/>
          </a:bodyPr>
          <a:lstStyle/>
          <a:p>
            <a:r>
              <a:rPr kumimoji="1" lang="ja-JP" altLang="en-US" sz="2800"/>
              <a:t>真の結果モデルが非線形</a:t>
            </a:r>
          </a:p>
        </p:txBody>
      </p:sp>
      <p:sp>
        <p:nvSpPr>
          <p:cNvPr id="3" name="テキスト ボックス 2">
            <a:extLst>
              <a:ext uri="{FF2B5EF4-FFF2-40B4-BE49-F238E27FC236}">
                <a16:creationId xmlns:a16="http://schemas.microsoft.com/office/drawing/2014/main" id="{8CAEED3F-DA8C-2EF1-F240-893D71B6E0E9}"/>
              </a:ext>
            </a:extLst>
          </p:cNvPr>
          <p:cNvSpPr txBox="1"/>
          <p:nvPr/>
        </p:nvSpPr>
        <p:spPr>
          <a:xfrm>
            <a:off x="85729" y="5261963"/>
            <a:ext cx="3787024" cy="954107"/>
          </a:xfrm>
          <a:prstGeom prst="rect">
            <a:avLst/>
          </a:prstGeom>
          <a:noFill/>
          <a:ln w="28575">
            <a:solidFill>
              <a:schemeClr val="accent2">
                <a:lumMod val="60000"/>
                <a:lumOff val="40000"/>
              </a:schemeClr>
            </a:solidFill>
          </a:ln>
        </p:spPr>
        <p:txBody>
          <a:bodyPr wrap="square" rtlCol="0">
            <a:spAutoFit/>
          </a:bodyPr>
          <a:lstStyle/>
          <a:p>
            <a:r>
              <a:rPr lang="ja-JP" altLang="en-US" sz="2800"/>
              <a:t>真の傾向スコア</a:t>
            </a:r>
            <a:r>
              <a:rPr kumimoji="1" lang="ja-JP" altLang="en-US" sz="2800"/>
              <a:t>モデルが非線形</a:t>
            </a:r>
          </a:p>
        </p:txBody>
      </p:sp>
      <p:cxnSp>
        <p:nvCxnSpPr>
          <p:cNvPr id="4" name="直線コネクタ 3">
            <a:extLst>
              <a:ext uri="{FF2B5EF4-FFF2-40B4-BE49-F238E27FC236}">
                <a16:creationId xmlns:a16="http://schemas.microsoft.com/office/drawing/2014/main" id="{23DD680F-DB5A-99B4-1BED-A9F4CA6442CF}"/>
              </a:ext>
            </a:extLst>
          </p:cNvPr>
          <p:cNvCxnSpPr>
            <a:cxnSpLocks/>
            <a:endCxn id="3" idx="3"/>
          </p:cNvCxnSpPr>
          <p:nvPr/>
        </p:nvCxnSpPr>
        <p:spPr>
          <a:xfrm flipH="1">
            <a:off x="3872753" y="5261963"/>
            <a:ext cx="1167247" cy="47705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4CA1CF30-D7E0-7E8E-A30E-EBFADEBD197B}"/>
              </a:ext>
            </a:extLst>
          </p:cNvPr>
          <p:cNvCxnSpPr>
            <a:cxnSpLocks/>
            <a:endCxn id="3" idx="3"/>
          </p:cNvCxnSpPr>
          <p:nvPr/>
        </p:nvCxnSpPr>
        <p:spPr>
          <a:xfrm flipH="1" flipV="1">
            <a:off x="3872753" y="5739017"/>
            <a:ext cx="1167247" cy="47705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4CB78648-8796-FDA3-8407-99429EFB1369}"/>
              </a:ext>
            </a:extLst>
          </p:cNvPr>
          <p:cNvCxnSpPr>
            <a:cxnSpLocks/>
            <a:endCxn id="2" idx="3"/>
          </p:cNvCxnSpPr>
          <p:nvPr/>
        </p:nvCxnSpPr>
        <p:spPr>
          <a:xfrm flipH="1">
            <a:off x="2918012" y="2651473"/>
            <a:ext cx="2121988" cy="7775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2A9786A4-2681-C9D0-7736-C1688F2A4A04}"/>
              </a:ext>
            </a:extLst>
          </p:cNvPr>
          <p:cNvCxnSpPr>
            <a:cxnSpLocks/>
            <a:endCxn id="2" idx="3"/>
          </p:cNvCxnSpPr>
          <p:nvPr/>
        </p:nvCxnSpPr>
        <p:spPr>
          <a:xfrm flipH="1" flipV="1">
            <a:off x="2918012" y="3429000"/>
            <a:ext cx="2121988" cy="9541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8FA70575-51C2-EB39-E4A5-8EAAD445E027}"/>
              </a:ext>
            </a:extLst>
          </p:cNvPr>
          <p:cNvCxnSpPr>
            <a:cxnSpLocks/>
            <a:stCxn id="6" idx="1"/>
            <a:endCxn id="2" idx="3"/>
          </p:cNvCxnSpPr>
          <p:nvPr/>
        </p:nvCxnSpPr>
        <p:spPr>
          <a:xfrm flipH="1" flipV="1">
            <a:off x="2918012" y="3429000"/>
            <a:ext cx="2121988" cy="261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スライド番号プレースホルダー 4">
            <a:extLst>
              <a:ext uri="{FF2B5EF4-FFF2-40B4-BE49-F238E27FC236}">
                <a16:creationId xmlns:a16="http://schemas.microsoft.com/office/drawing/2014/main" id="{277758E9-E09F-A656-54D5-91E861C34205}"/>
              </a:ext>
            </a:extLst>
          </p:cNvPr>
          <p:cNvSpPr>
            <a:spLocks noGrp="1"/>
          </p:cNvSpPr>
          <p:nvPr>
            <p:ph type="sldNum" sz="quarter" idx="12"/>
          </p:nvPr>
        </p:nvSpPr>
        <p:spPr/>
        <p:txBody>
          <a:bodyPr/>
          <a:lstStyle/>
          <a:p>
            <a:fld id="{21218AEF-8260-6F42-89D9-6D82E053F226}" type="slidenum">
              <a:rPr kumimoji="1" lang="ja-JP" altLang="en-US" smtClean="0"/>
              <a:t>32</a:t>
            </a:fld>
            <a:endParaRPr kumimoji="1" lang="ja-JP" altLang="en-US"/>
          </a:p>
        </p:txBody>
      </p:sp>
      <mc:AlternateContent xmlns:mc="http://schemas.openxmlformats.org/markup-compatibility/2006">
        <mc:Choice xmlns:a14="http://schemas.microsoft.com/office/drawing/2010/main" Requires="a14">
          <p:sp>
            <p:nvSpPr>
              <p:cNvPr id="22" name="Google Shape;95;p1">
                <a:extLst>
                  <a:ext uri="{FF2B5EF4-FFF2-40B4-BE49-F238E27FC236}">
                    <a16:creationId xmlns:a16="http://schemas.microsoft.com/office/drawing/2014/main" id="{BEA56511-E823-EBC8-4F79-A1BF8ED4444D}"/>
                  </a:ext>
                </a:extLst>
              </p:cNvPr>
              <p:cNvSpPr/>
              <p:nvPr/>
            </p:nvSpPr>
            <p:spPr>
              <a:xfrm>
                <a:off x="4068115" y="7722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oMath>
                </a14:m>
                <a:endParaRPr lang="en-US" altLang="ja-JP" sz="2800" dirty="0">
                  <a:solidFill>
                    <a:schemeClr val="dk1"/>
                  </a:solidFill>
                  <a:latin typeface="+mn-ea"/>
                  <a:ea typeface="+mn-ea"/>
                  <a:cs typeface="Arial" panose="020B0604020202020204" pitchFamily="34" charset="0"/>
                </a:endParaRPr>
              </a:p>
            </p:txBody>
          </p:sp>
        </mc:Choice>
        <mc:Fallback>
          <p:sp>
            <p:nvSpPr>
              <p:cNvPr id="22" name="Google Shape;95;p1">
                <a:extLst>
                  <a:ext uri="{FF2B5EF4-FFF2-40B4-BE49-F238E27FC236}">
                    <a16:creationId xmlns:a16="http://schemas.microsoft.com/office/drawing/2014/main" id="{BEA56511-E823-EBC8-4F79-A1BF8ED4444D}"/>
                  </a:ext>
                </a:extLst>
              </p:cNvPr>
              <p:cNvSpPr>
                <a:spLocks noRot="1" noChangeAspect="1" noMove="1" noResize="1" noEditPoints="1" noAdjustHandles="1" noChangeArrowheads="1" noChangeShapeType="1" noTextEdit="1"/>
              </p:cNvSpPr>
              <p:nvPr/>
            </p:nvSpPr>
            <p:spPr>
              <a:xfrm>
                <a:off x="4068115" y="77227"/>
                <a:ext cx="4055770" cy="523180"/>
              </a:xfrm>
              <a:prstGeom prst="rect">
                <a:avLst/>
              </a:prstGeom>
              <a:blipFill>
                <a:blip r:embed="rId3"/>
                <a:stretch>
                  <a:fillRect l="-3125" t="-14286" b="-30952"/>
                </a:stretch>
              </a:blipFill>
              <a:ln>
                <a:noFill/>
              </a:ln>
            </p:spPr>
            <p:txBody>
              <a:bodyPr/>
              <a:lstStyle/>
              <a:p>
                <a:r>
                  <a:rPr lang="ja-JP" altLang="en-US">
                    <a:noFill/>
                  </a:rPr>
                  <a:t> </a:t>
                </a:r>
              </a:p>
            </p:txBody>
          </p:sp>
        </mc:Fallback>
      </mc:AlternateContent>
    </p:spTree>
    <p:extLst>
      <p:ext uri="{BB962C8B-B14F-4D97-AF65-F5344CB8AC3E}">
        <p14:creationId xmlns:p14="http://schemas.microsoft.com/office/powerpoint/2010/main" val="3416461145"/>
      </p:ext>
    </p:extLst>
  </p:cSld>
  <p:clrMapOvr>
    <a:masterClrMapping/>
  </p:clrMapOvr>
  <mc:AlternateContent xmlns:mc="http://schemas.openxmlformats.org/markup-compatibility/2006">
    <mc:Choice xmlns:p14="http://schemas.microsoft.com/office/powerpoint/2010/main" Requires="p14">
      <p:transition spd="slow" p14:dur="2000" advTm="26495"/>
    </mc:Choice>
    <mc:Fallback>
      <p:transition spd="slow" advTm="26495"/>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1">
            <a:extLst>
              <a:ext uri="{FF2B5EF4-FFF2-40B4-BE49-F238E27FC236}">
                <a16:creationId xmlns:a16="http://schemas.microsoft.com/office/drawing/2014/main" id="{C4FBFB04-6D91-4C65-6C2A-8A31511A5CAC}"/>
              </a:ext>
            </a:extLst>
          </p:cNvPr>
          <p:cNvSpPr txBox="1">
            <a:spLocks/>
          </p:cNvSpPr>
          <p:nvPr/>
        </p:nvSpPr>
        <p:spPr>
          <a:xfrm>
            <a:off x="838200" y="0"/>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a:lstStyle>
          <a:p>
            <a:r>
              <a:rPr lang="ja-JP" altLang="en-US"/>
              <a:t>より高次の交互作用項を考えた場合</a:t>
            </a:r>
          </a:p>
        </p:txBody>
      </p:sp>
      <p:sp>
        <p:nvSpPr>
          <p:cNvPr id="8" name="下矢印 7">
            <a:extLst>
              <a:ext uri="{FF2B5EF4-FFF2-40B4-BE49-F238E27FC236}">
                <a16:creationId xmlns:a16="http://schemas.microsoft.com/office/drawing/2014/main" id="{3312C119-DE7B-5810-7F03-0600AA39E030}"/>
              </a:ext>
            </a:extLst>
          </p:cNvPr>
          <p:cNvSpPr/>
          <p:nvPr/>
        </p:nvSpPr>
        <p:spPr>
          <a:xfrm>
            <a:off x="5278611" y="2538714"/>
            <a:ext cx="1128713" cy="671512"/>
          </a:xfrm>
          <a:prstGeom prst="down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ysClr val="windowText" lastClr="000000"/>
              </a:solidFill>
            </a:endParaRPr>
          </a:p>
        </p:txBody>
      </p:sp>
      <mc:AlternateContent xmlns:mc="http://schemas.openxmlformats.org/markup-compatibility/2006">
        <mc:Choice xmlns:a14="http://schemas.microsoft.com/office/drawing/2010/main" Requires="a14">
          <p:sp>
            <p:nvSpPr>
              <p:cNvPr id="13" name="コンテンツ プレースホルダー 2">
                <a:extLst>
                  <a:ext uri="{FF2B5EF4-FFF2-40B4-BE49-F238E27FC236}">
                    <a16:creationId xmlns:a16="http://schemas.microsoft.com/office/drawing/2014/main" id="{53F7C7B6-A3D8-A213-1CF3-4D9E63749D13}"/>
                  </a:ext>
                </a:extLst>
              </p:cNvPr>
              <p:cNvSpPr txBox="1">
                <a:spLocks/>
              </p:cNvSpPr>
              <p:nvPr/>
            </p:nvSpPr>
            <p:spPr>
              <a:xfrm>
                <a:off x="0" y="3097296"/>
                <a:ext cx="11606212" cy="128809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lnSpc>
                    <a:spcPct val="100000"/>
                  </a:lnSpc>
                  <a:buNone/>
                </a:pPr>
                <a14:m>
                  <m:oMathPara xmlns:m="http://schemas.openxmlformats.org/officeDocument/2006/math">
                    <m:oMathParaPr>
                      <m:jc m:val="centerGroup"/>
                    </m:oMathParaPr>
                    <m:oMath xmlns:m="http://schemas.openxmlformats.org/officeDocument/2006/math">
                      <m:r>
                        <a:rPr lang="ja-JP" altLang="en-US" sz="2400" i="1">
                          <a:latin typeface="Cambria Math" panose="02040503050406030204" pitchFamily="18" charset="0"/>
                        </a:rPr>
                        <m:t>𝜓</m:t>
                      </m:r>
                      <m:d>
                        <m:dPr>
                          <m:ctrlPr>
                            <a:rPr lang="en-US" altLang="ja-JP" sz="2400" b="1" i="1">
                              <a:latin typeface="Cambria Math" panose="02040503050406030204" pitchFamily="18" charset="0"/>
                            </a:rPr>
                          </m:ctrlPr>
                        </m:dPr>
                        <m:e>
                          <m:r>
                            <a:rPr lang="en-US" altLang="ja-JP" sz="2400" b="1" i="1">
                              <a:latin typeface="Cambria Math" panose="02040503050406030204" pitchFamily="18" charset="0"/>
                            </a:rPr>
                            <m:t>𝑪</m:t>
                          </m:r>
                          <m:r>
                            <a:rPr lang="en-US" altLang="ja-JP" sz="2400" b="1" i="1">
                              <a:latin typeface="Cambria Math" panose="02040503050406030204" pitchFamily="18" charset="0"/>
                            </a:rPr>
                            <m:t>;</m:t>
                          </m:r>
                          <m:r>
                            <a:rPr lang="ja-JP" altLang="en-US" sz="2400" b="1" i="1">
                              <a:latin typeface="Cambria Math" panose="02040503050406030204" pitchFamily="18" charset="0"/>
                            </a:rPr>
                            <m:t>𝜶</m:t>
                          </m:r>
                        </m:e>
                      </m:d>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𝑝</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𝑝</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𝑝</m:t>
                          </m:r>
                          <m:r>
                            <a:rPr lang="en-US" altLang="ja-JP" sz="2400" i="1">
                              <a:latin typeface="Cambria Math" panose="02040503050406030204" pitchFamily="18" charset="0"/>
                              <a:ea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𝑝</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𝑝</m:t>
                          </m:r>
                        </m:sub>
                        <m:sup>
                          <m:r>
                            <a:rPr lang="en-US" altLang="ja-JP" sz="2400" i="1">
                              <a:latin typeface="Cambria Math" panose="02040503050406030204" pitchFamily="18" charset="0"/>
                              <a:ea typeface="Cambria Math" panose="02040503050406030204" pitchFamily="18" charset="0"/>
                            </a:rPr>
                            <m:t>2</m:t>
                          </m:r>
                        </m:sup>
                      </m:sSubSup>
                      <m:r>
                        <a:rPr lang="en-US" altLang="ja-JP" sz="2400" b="0" i="1" smtClean="0">
                          <a:latin typeface="Cambria Math" panose="02040503050406030204" pitchFamily="18" charset="0"/>
                          <a:ea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ea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3</m:t>
                          </m:r>
                        </m:sup>
                      </m:sSubSup>
                      <m:r>
                        <a:rPr lang="en-US" altLang="ja-JP" sz="2400" i="1">
                          <a:latin typeface="Cambria Math" panose="02040503050406030204" pitchFamily="18" charset="0"/>
                          <a:ea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1,2,3</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3</m:t>
                          </m:r>
                        </m:sub>
                      </m:sSub>
                      <m:r>
                        <a:rPr lang="en-US" altLang="ja-JP" sz="2400" i="1">
                          <a:latin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m:t>
                      </m:r>
                    </m:oMath>
                  </m:oMathPara>
                </a14:m>
                <a:endParaRPr lang="en-US" altLang="ja-JP" sz="2400" dirty="0"/>
              </a:p>
              <a:p>
                <a:pPr marL="0" indent="0">
                  <a:lnSpc>
                    <a:spcPct val="100000"/>
                  </a:lnSpc>
                  <a:buNone/>
                </a:pPr>
                <a14:m>
                  <m:oMathPara xmlns:m="http://schemas.openxmlformats.org/officeDocument/2006/math">
                    <m:oMathParaPr>
                      <m:jc m:val="centerGroup"/>
                    </m:oMathParaPr>
                    <m:oMath xmlns:m="http://schemas.openxmlformats.org/officeDocument/2006/math">
                      <m:r>
                        <a:rPr kumimoji="1" lang="ja-JP" altLang="en-US" sz="2400" b="0" i="1" smtClean="0">
                          <a:latin typeface="Cambria Math" panose="02040503050406030204" pitchFamily="18" charset="0"/>
                        </a:rPr>
                        <m:t>𝜑</m:t>
                      </m:r>
                      <m:d>
                        <m:dPr>
                          <m:ctrlPr>
                            <a:rPr kumimoji="1" lang="en-US" altLang="ja-JP" sz="2400" b="1" i="1">
                              <a:latin typeface="Cambria Math" panose="02040503050406030204" pitchFamily="18" charset="0"/>
                            </a:rPr>
                          </m:ctrlPr>
                        </m:dPr>
                        <m:e>
                          <m:sSub>
                            <m:sSubPr>
                              <m:ctrlPr>
                                <a:rPr kumimoji="1" lang="en-US" altLang="ja-JP" sz="2400" b="1" i="1">
                                  <a:latin typeface="Cambria Math" panose="02040503050406030204" pitchFamily="18" charset="0"/>
                                </a:rPr>
                              </m:ctrlPr>
                            </m:sSubPr>
                            <m:e>
                              <m:r>
                                <a:rPr kumimoji="1" lang="en-US" altLang="ja-JP" sz="2400" b="1" i="1">
                                  <a:latin typeface="Cambria Math" panose="02040503050406030204" pitchFamily="18" charset="0"/>
                                </a:rPr>
                                <m:t>𝑪</m:t>
                              </m:r>
                            </m:e>
                            <m:sub>
                              <m:r>
                                <a:rPr kumimoji="1" lang="en-US" altLang="ja-JP" sz="2400" b="0" i="1" smtClean="0">
                                  <a:latin typeface="Cambria Math" panose="02040503050406030204" pitchFamily="18" charset="0"/>
                                </a:rPr>
                                <m:t>𝑖</m:t>
                              </m:r>
                            </m:sub>
                          </m:sSub>
                          <m:r>
                            <a:rPr kumimoji="1" lang="en-US" altLang="ja-JP" sz="2400" b="1" i="1">
                              <a:latin typeface="Cambria Math" panose="02040503050406030204" pitchFamily="18" charset="0"/>
                            </a:rPr>
                            <m:t>;</m:t>
                          </m:r>
                          <m:r>
                            <a:rPr kumimoji="1" lang="ja-JP" altLang="en-US" sz="2400" b="1" i="1">
                              <a:latin typeface="Cambria Math" panose="02040503050406030204" pitchFamily="18" charset="0"/>
                            </a:rPr>
                            <m:t>𝜸</m:t>
                          </m:r>
                        </m:e>
                      </m:d>
                      <m:r>
                        <a:rPr kumimoji="1" lang="en-US" altLang="ja-JP" sz="2400" b="1" i="1" smtClean="0">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𝑝</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𝑝</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ea typeface="Cambria Math" panose="02040503050406030204" pitchFamily="18" charset="0"/>
                        </a:rPr>
                        <m:t> </m:t>
                      </m:r>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𝑝</m:t>
                          </m:r>
                          <m:r>
                            <a:rPr lang="en-US" altLang="ja-JP" sz="2400" i="1">
                              <a:latin typeface="Cambria Math" panose="02040503050406030204" pitchFamily="18" charset="0"/>
                              <a:ea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𝑝</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𝑝</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ea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3</m:t>
                          </m:r>
                        </m:sup>
                      </m:sSubSup>
                      <m:r>
                        <a:rPr lang="en-US" altLang="ja-JP" sz="2400" i="1">
                          <a:latin typeface="Cambria Math" panose="02040503050406030204" pitchFamily="18" charset="0"/>
                          <a:ea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1,2,3</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3</m:t>
                          </m:r>
                        </m:sub>
                      </m:sSub>
                      <m:r>
                        <a:rPr lang="en-US" altLang="ja-JP" sz="2400" i="1">
                          <a:latin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m:t>
                      </m:r>
                    </m:oMath>
                  </m:oMathPara>
                </a14:m>
                <a:endParaRPr lang="en-US" altLang="ja-JP" sz="2400" dirty="0"/>
              </a:p>
            </p:txBody>
          </p:sp>
        </mc:Choice>
        <mc:Fallback>
          <p:sp>
            <p:nvSpPr>
              <p:cNvPr id="13" name="コンテンツ プレースホルダー 2">
                <a:extLst>
                  <a:ext uri="{FF2B5EF4-FFF2-40B4-BE49-F238E27FC236}">
                    <a16:creationId xmlns:a16="http://schemas.microsoft.com/office/drawing/2014/main" id="{53F7C7B6-A3D8-A213-1CF3-4D9E63749D13}"/>
                  </a:ext>
                </a:extLst>
              </p:cNvPr>
              <p:cNvSpPr txBox="1">
                <a:spLocks noRot="1" noChangeAspect="1" noMove="1" noResize="1" noEditPoints="1" noAdjustHandles="1" noChangeArrowheads="1" noChangeShapeType="1" noTextEdit="1"/>
              </p:cNvSpPr>
              <p:nvPr/>
            </p:nvSpPr>
            <p:spPr>
              <a:xfrm>
                <a:off x="0" y="3097296"/>
                <a:ext cx="11606212" cy="1288095"/>
              </a:xfrm>
              <a:prstGeom prst="rect">
                <a:avLst/>
              </a:prstGeom>
              <a:blipFill>
                <a:blip r:embed="rId3"/>
                <a:stretch>
                  <a:fillRect b="-85437"/>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18" name="コンテンツ プレースホルダー 2">
                <a:extLst>
                  <a:ext uri="{FF2B5EF4-FFF2-40B4-BE49-F238E27FC236}">
                    <a16:creationId xmlns:a16="http://schemas.microsoft.com/office/drawing/2014/main" id="{DBDBC9BB-0C7B-D8DA-DE6F-D5092C466CCB}"/>
                  </a:ext>
                </a:extLst>
              </p:cNvPr>
              <p:cNvSpPr txBox="1">
                <a:spLocks/>
              </p:cNvSpPr>
              <p:nvPr/>
            </p:nvSpPr>
            <p:spPr>
              <a:xfrm>
                <a:off x="585788" y="1323726"/>
                <a:ext cx="11606212" cy="94876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buNone/>
                </a:pPr>
                <a14:m>
                  <m:oMathPara xmlns:m="http://schemas.openxmlformats.org/officeDocument/2006/math">
                    <m:oMathParaPr>
                      <m:jc m:val="centerGroup"/>
                    </m:oMathParaPr>
                    <m:oMath xmlns:m="http://schemas.openxmlformats.org/officeDocument/2006/math">
                      <m:r>
                        <a:rPr lang="ja-JP" altLang="en-US" sz="2400" i="1">
                          <a:latin typeface="Cambria Math" panose="02040503050406030204" pitchFamily="18" charset="0"/>
                        </a:rPr>
                        <m:t>𝜓</m:t>
                      </m:r>
                      <m:d>
                        <m:dPr>
                          <m:ctrlPr>
                            <a:rPr lang="en-US" altLang="ja-JP" sz="2400" b="1" i="1">
                              <a:latin typeface="Cambria Math" panose="02040503050406030204" pitchFamily="18" charset="0"/>
                            </a:rPr>
                          </m:ctrlPr>
                        </m:dPr>
                        <m:e>
                          <m:r>
                            <a:rPr lang="en-US" altLang="ja-JP" sz="2400" b="1" i="1">
                              <a:latin typeface="Cambria Math" panose="02040503050406030204" pitchFamily="18" charset="0"/>
                            </a:rPr>
                            <m:t>𝑪</m:t>
                          </m:r>
                          <m:r>
                            <a:rPr lang="en-US" altLang="ja-JP" sz="2400" b="1" i="1">
                              <a:latin typeface="Cambria Math" panose="02040503050406030204" pitchFamily="18" charset="0"/>
                            </a:rPr>
                            <m:t>;</m:t>
                          </m:r>
                          <m:r>
                            <a:rPr lang="ja-JP" altLang="en-US" sz="2400" b="1" i="1">
                              <a:latin typeface="Cambria Math" panose="02040503050406030204" pitchFamily="18" charset="0"/>
                            </a:rPr>
                            <m:t>𝜶</m:t>
                          </m:r>
                        </m:e>
                      </m:d>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𝑝</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𝑝</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1,2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𝛼</m:t>
                          </m:r>
                        </m:e>
                        <m:sub>
                          <m:r>
                            <a:rPr lang="en-US" altLang="ja-JP" sz="2400" i="1">
                              <a:latin typeface="Cambria Math" panose="02040503050406030204" pitchFamily="18" charset="0"/>
                              <a:ea typeface="Cambria Math" panose="02040503050406030204" pitchFamily="18" charset="0"/>
                            </a:rPr>
                            <m:t>𝑝</m:t>
                          </m:r>
                          <m:r>
                            <a:rPr lang="en-US" altLang="ja-JP" sz="2400" i="1">
                              <a:latin typeface="Cambria Math" panose="02040503050406030204" pitchFamily="18" charset="0"/>
                              <a:ea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𝑝</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𝑝</m:t>
                          </m:r>
                        </m:sub>
                        <m:sup>
                          <m:r>
                            <a:rPr lang="en-US" altLang="ja-JP" sz="2400" i="1">
                              <a:latin typeface="Cambria Math" panose="02040503050406030204" pitchFamily="18" charset="0"/>
                              <a:ea typeface="Cambria Math" panose="02040503050406030204" pitchFamily="18" charset="0"/>
                            </a:rPr>
                            <m:t>2</m:t>
                          </m:r>
                        </m:sup>
                      </m:sSubSup>
                    </m:oMath>
                  </m:oMathPara>
                </a14:m>
                <a:endParaRPr lang="en-US" altLang="ja-JP" sz="2400" dirty="0">
                  <a:latin typeface="Arial" panose="020B0604020202020204" pitchFamily="34" charset="0"/>
                  <a:cs typeface="Arial" panose="020B0604020202020204" pitchFamily="34" charset="0"/>
                </a:endParaRPr>
              </a:p>
              <a:p>
                <a:pPr marL="0" indent="0">
                  <a:buNone/>
                </a:pPr>
                <a14:m>
                  <m:oMathPara xmlns:m="http://schemas.openxmlformats.org/officeDocument/2006/math">
                    <m:oMathParaPr>
                      <m:jc m:val="centerGroup"/>
                    </m:oMathParaPr>
                    <m:oMath xmlns:m="http://schemas.openxmlformats.org/officeDocument/2006/math">
                      <m:r>
                        <a:rPr lang="ja-JP" altLang="en-US" sz="2400" i="1">
                          <a:latin typeface="Cambria Math" panose="02040503050406030204" pitchFamily="18" charset="0"/>
                        </a:rPr>
                        <m:t>𝜑</m:t>
                      </m:r>
                      <m:d>
                        <m:dPr>
                          <m:ctrlPr>
                            <a:rPr lang="en-US" altLang="ja-JP" sz="2400" b="1" i="1">
                              <a:latin typeface="Cambria Math" panose="02040503050406030204" pitchFamily="18" charset="0"/>
                            </a:rPr>
                          </m:ctrlPr>
                        </m:dPr>
                        <m:e>
                          <m:r>
                            <a:rPr lang="en-US" altLang="ja-JP" sz="2400" b="1" i="1">
                              <a:latin typeface="Cambria Math" panose="02040503050406030204" pitchFamily="18" charset="0"/>
                            </a:rPr>
                            <m:t>𝑪</m:t>
                          </m:r>
                          <m:r>
                            <a:rPr lang="en-US" altLang="ja-JP" sz="2400" b="1" i="1">
                              <a:latin typeface="Cambria Math" panose="02040503050406030204" pitchFamily="18" charset="0"/>
                            </a:rPr>
                            <m:t>;</m:t>
                          </m:r>
                          <m:r>
                            <a:rPr lang="ja-JP" altLang="en-US" sz="2400" b="1" i="1">
                              <a:latin typeface="Cambria Math" panose="02040503050406030204" pitchFamily="18" charset="0"/>
                            </a:rPr>
                            <m:t>𝜸</m:t>
                          </m:r>
                        </m:e>
                      </m:d>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𝑝</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𝑝</m:t>
                          </m:r>
                        </m:sub>
                      </m:sSub>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1,1</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1</m:t>
                          </m:r>
                        </m:sub>
                        <m:sup>
                          <m:r>
                            <a:rPr lang="en-US" altLang="ja-JP" sz="2400" i="1">
                              <a:latin typeface="Cambria Math" panose="02040503050406030204" pitchFamily="18" charset="0"/>
                              <a:ea typeface="Cambria Math" panose="02040503050406030204" pitchFamily="18" charset="0"/>
                            </a:rPr>
                            <m:t>2</m:t>
                          </m:r>
                        </m:sup>
                      </m:sSubSup>
                      <m:r>
                        <a:rPr lang="en-US" altLang="ja-JP" sz="2400" i="1">
                          <a:latin typeface="Cambria Math" panose="02040503050406030204" pitchFamily="18" charset="0"/>
                          <a:ea typeface="Cambria Math" panose="02040503050406030204" pitchFamily="18" charset="0"/>
                        </a:rPr>
                        <m:t> </m:t>
                      </m:r>
                      <m:r>
                        <a:rPr lang="en-US" altLang="ja-JP" sz="2400" i="1">
                          <a:latin typeface="Cambria Math" panose="02040503050406030204" pitchFamily="18" charset="0"/>
                        </a:rPr>
                        <m:t>+</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1,2</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1</m:t>
                          </m:r>
                        </m:sub>
                      </m:sSub>
                      <m:sSub>
                        <m:sSubPr>
                          <m:ctrlPr>
                            <a:rPr lang="en-US" altLang="ja-JP" sz="2400" i="1">
                              <a:latin typeface="Cambria Math" panose="02040503050406030204" pitchFamily="18" charset="0"/>
                            </a:rPr>
                          </m:ctrlPr>
                        </m:sSubPr>
                        <m:e>
                          <m:r>
                            <a:rPr lang="en-US" altLang="ja-JP" sz="2400" b="1" i="1">
                              <a:latin typeface="Cambria Math" panose="02040503050406030204" pitchFamily="18" charset="0"/>
                            </a:rPr>
                            <m:t>𝑪</m:t>
                          </m:r>
                        </m:e>
                        <m:sub>
                          <m:r>
                            <a:rPr lang="en-US" altLang="ja-JP" sz="2400" i="1">
                              <a:latin typeface="Cambria Math" panose="02040503050406030204" pitchFamily="18" charset="0"/>
                            </a:rPr>
                            <m:t>2</m:t>
                          </m:r>
                        </m:sub>
                      </m:sSub>
                      <m:r>
                        <a:rPr lang="en-US" altLang="ja-JP" sz="2400" i="1">
                          <a:latin typeface="Cambria Math" panose="02040503050406030204" pitchFamily="18" charset="0"/>
                        </a:rPr>
                        <m:t>+… +</m:t>
                      </m:r>
                      <m:sSub>
                        <m:sSubPr>
                          <m:ctrlPr>
                            <a:rPr lang="en-US" altLang="ja-JP" sz="2400" i="1">
                              <a:latin typeface="Cambria Math" panose="02040503050406030204" pitchFamily="18" charset="0"/>
                            </a:rPr>
                          </m:ctrlPr>
                        </m:sSubPr>
                        <m:e>
                          <m:r>
                            <a:rPr lang="en-US" altLang="ja-JP" sz="2400" i="1">
                              <a:latin typeface="Cambria Math" panose="02040503050406030204" pitchFamily="18" charset="0"/>
                              <a:ea typeface="Cambria Math" panose="02040503050406030204" pitchFamily="18" charset="0"/>
                            </a:rPr>
                            <m:t>𝛾</m:t>
                          </m:r>
                        </m:e>
                        <m:sub>
                          <m:r>
                            <a:rPr lang="en-US" altLang="ja-JP" sz="2400" i="1">
                              <a:latin typeface="Cambria Math" panose="02040503050406030204" pitchFamily="18" charset="0"/>
                              <a:ea typeface="Cambria Math" panose="02040503050406030204" pitchFamily="18" charset="0"/>
                            </a:rPr>
                            <m:t>𝑝</m:t>
                          </m:r>
                          <m:r>
                            <a:rPr lang="en-US" altLang="ja-JP" sz="2400" i="1">
                              <a:latin typeface="Cambria Math" panose="02040503050406030204" pitchFamily="18" charset="0"/>
                              <a:ea typeface="Cambria Math" panose="02040503050406030204" pitchFamily="18" charset="0"/>
                            </a:rPr>
                            <m:t>,</m:t>
                          </m:r>
                          <m:r>
                            <a:rPr lang="en-US" altLang="ja-JP" sz="2400" i="1">
                              <a:latin typeface="Cambria Math" panose="02040503050406030204" pitchFamily="18" charset="0"/>
                              <a:ea typeface="Cambria Math" panose="02040503050406030204" pitchFamily="18" charset="0"/>
                            </a:rPr>
                            <m:t>𝑝</m:t>
                          </m:r>
                        </m:sub>
                      </m:sSub>
                      <m:sSubSup>
                        <m:sSubSupPr>
                          <m:ctrlPr>
                            <a:rPr lang="en-US" altLang="ja-JP" sz="2400" i="1">
                              <a:latin typeface="Cambria Math" panose="02040503050406030204" pitchFamily="18" charset="0"/>
                              <a:ea typeface="Cambria Math" panose="02040503050406030204" pitchFamily="18" charset="0"/>
                            </a:rPr>
                          </m:ctrlPr>
                        </m:sSubSupPr>
                        <m:e>
                          <m:r>
                            <a:rPr lang="en-US" altLang="ja-JP" sz="2400" b="1" i="1">
                              <a:latin typeface="Cambria Math" panose="02040503050406030204" pitchFamily="18" charset="0"/>
                            </a:rPr>
                            <m:t>𝑪</m:t>
                          </m:r>
                        </m:e>
                        <m:sub>
                          <m:r>
                            <a:rPr lang="en-US" altLang="ja-JP" sz="2400" i="1">
                              <a:latin typeface="Cambria Math" panose="02040503050406030204" pitchFamily="18" charset="0"/>
                              <a:ea typeface="Cambria Math" panose="02040503050406030204" pitchFamily="18" charset="0"/>
                            </a:rPr>
                            <m:t>𝑝</m:t>
                          </m:r>
                        </m:sub>
                        <m:sup>
                          <m:r>
                            <a:rPr lang="en-US" altLang="ja-JP" sz="2400" i="1">
                              <a:latin typeface="Cambria Math" panose="02040503050406030204" pitchFamily="18" charset="0"/>
                              <a:ea typeface="Cambria Math" panose="02040503050406030204" pitchFamily="18" charset="0"/>
                            </a:rPr>
                            <m:t>2</m:t>
                          </m:r>
                        </m:sup>
                      </m:sSubSup>
                    </m:oMath>
                  </m:oMathPara>
                </a14:m>
                <a:endParaRPr lang="en-US" altLang="ja-JP" sz="2400" dirty="0"/>
              </a:p>
            </p:txBody>
          </p:sp>
        </mc:Choice>
        <mc:Fallback>
          <p:sp>
            <p:nvSpPr>
              <p:cNvPr id="18" name="コンテンツ プレースホルダー 2">
                <a:extLst>
                  <a:ext uri="{FF2B5EF4-FFF2-40B4-BE49-F238E27FC236}">
                    <a16:creationId xmlns:a16="http://schemas.microsoft.com/office/drawing/2014/main" id="{DBDBC9BB-0C7B-D8DA-DE6F-D5092C466CCB}"/>
                  </a:ext>
                </a:extLst>
              </p:cNvPr>
              <p:cNvSpPr txBox="1">
                <a:spLocks noRot="1" noChangeAspect="1" noMove="1" noResize="1" noEditPoints="1" noAdjustHandles="1" noChangeArrowheads="1" noChangeShapeType="1" noTextEdit="1"/>
              </p:cNvSpPr>
              <p:nvPr/>
            </p:nvSpPr>
            <p:spPr>
              <a:xfrm>
                <a:off x="585788" y="1323726"/>
                <a:ext cx="11606212" cy="948765"/>
              </a:xfrm>
              <a:prstGeom prst="rect">
                <a:avLst/>
              </a:prstGeom>
              <a:blipFill>
                <a:blip r:embed="rId4"/>
                <a:stretch>
                  <a:fillRect/>
                </a:stretch>
              </a:blipFill>
            </p:spPr>
            <p:txBody>
              <a:bodyPr/>
              <a:lstStyle/>
              <a:p>
                <a:r>
                  <a:rPr lang="ja-JP" altLang="en-US">
                    <a:noFill/>
                  </a:rPr>
                  <a:t> </a:t>
                </a:r>
              </a:p>
            </p:txBody>
          </p:sp>
        </mc:Fallback>
      </mc:AlternateContent>
      <p:sp>
        <p:nvSpPr>
          <p:cNvPr id="21" name="右中かっこ 20">
            <a:extLst>
              <a:ext uri="{FF2B5EF4-FFF2-40B4-BE49-F238E27FC236}">
                <a16:creationId xmlns:a16="http://schemas.microsoft.com/office/drawing/2014/main" id="{9F04E9E8-2ADF-AED6-834D-E6F8F9CEC499}"/>
              </a:ext>
            </a:extLst>
          </p:cNvPr>
          <p:cNvSpPr/>
          <p:nvPr/>
        </p:nvSpPr>
        <p:spPr>
          <a:xfrm rot="5400000">
            <a:off x="5864332" y="438739"/>
            <a:ext cx="325593" cy="10319977"/>
          </a:xfrm>
          <a:prstGeom prst="rightBrace">
            <a:avLst>
              <a:gd name="adj1" fmla="val 8333"/>
              <a:gd name="adj2" fmla="val 50538"/>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22" name="テキスト ボックス 21">
            <a:extLst>
              <a:ext uri="{FF2B5EF4-FFF2-40B4-BE49-F238E27FC236}">
                <a16:creationId xmlns:a16="http://schemas.microsoft.com/office/drawing/2014/main" id="{F9B15E4A-C2EF-7836-2256-18795CFBCB1E}"/>
              </a:ext>
            </a:extLst>
          </p:cNvPr>
          <p:cNvSpPr txBox="1"/>
          <p:nvPr/>
        </p:nvSpPr>
        <p:spPr>
          <a:xfrm>
            <a:off x="1539802" y="5783453"/>
            <a:ext cx="9496060" cy="523220"/>
          </a:xfrm>
          <a:prstGeom prst="rect">
            <a:avLst/>
          </a:prstGeom>
          <a:noFill/>
        </p:spPr>
        <p:txBody>
          <a:bodyPr wrap="square" rtlCol="0">
            <a:spAutoFit/>
          </a:bodyPr>
          <a:lstStyle/>
          <a:p>
            <a:r>
              <a:rPr kumimoji="1" lang="en-US" altLang="ja-JP" sz="2800" dirty="0"/>
              <a:t>1</a:t>
            </a:r>
            <a:r>
              <a:rPr kumimoji="1" lang="ja-JP" altLang="en-US" sz="2800"/>
              <a:t>次，</a:t>
            </a:r>
            <a:r>
              <a:rPr kumimoji="1" lang="en-US" altLang="ja-JP" sz="2800" dirty="0"/>
              <a:t>2</a:t>
            </a:r>
            <a:r>
              <a:rPr kumimoji="1" lang="ja-JP" altLang="en-US" sz="2800"/>
              <a:t>次の項だけではなく</a:t>
            </a:r>
            <a:r>
              <a:rPr lang="en-US" altLang="ja-JP" sz="2800" dirty="0"/>
              <a:t>3</a:t>
            </a:r>
            <a:r>
              <a:rPr kumimoji="1" lang="ja-JP" altLang="en-US" sz="2800"/>
              <a:t>次，</a:t>
            </a:r>
            <a:r>
              <a:rPr lang="en-US" altLang="ja-JP" sz="2800" dirty="0"/>
              <a:t>4</a:t>
            </a:r>
            <a:r>
              <a:rPr kumimoji="1" lang="ja-JP" altLang="en-US" sz="2800"/>
              <a:t>次</a:t>
            </a:r>
            <a:r>
              <a:rPr kumimoji="1" lang="en-US" altLang="ja-JP" sz="2800" dirty="0"/>
              <a:t>…</a:t>
            </a:r>
            <a:r>
              <a:rPr kumimoji="1" lang="ja-JP" altLang="en-US" sz="2800"/>
              <a:t>の項も含める</a:t>
            </a:r>
          </a:p>
        </p:txBody>
      </p:sp>
      <p:sp>
        <p:nvSpPr>
          <p:cNvPr id="2" name="スライド番号プレースホルダー 1">
            <a:extLst>
              <a:ext uri="{FF2B5EF4-FFF2-40B4-BE49-F238E27FC236}">
                <a16:creationId xmlns:a16="http://schemas.microsoft.com/office/drawing/2014/main" id="{2A0645D1-BF95-8A6F-9E91-48BBE89415A6}"/>
              </a:ext>
            </a:extLst>
          </p:cNvPr>
          <p:cNvSpPr>
            <a:spLocks noGrp="1"/>
          </p:cNvSpPr>
          <p:nvPr>
            <p:ph type="sldNum" sz="quarter" idx="12"/>
          </p:nvPr>
        </p:nvSpPr>
        <p:spPr/>
        <p:txBody>
          <a:bodyPr/>
          <a:lstStyle/>
          <a:p>
            <a:fld id="{21218AEF-8260-6F42-89D9-6D82E053F226}" type="slidenum">
              <a:rPr kumimoji="1" lang="ja-JP" altLang="en-US" smtClean="0"/>
              <a:t>33</a:t>
            </a:fld>
            <a:endParaRPr kumimoji="1" lang="ja-JP" altLang="en-US"/>
          </a:p>
        </p:txBody>
      </p:sp>
    </p:spTree>
    <p:extLst>
      <p:ext uri="{BB962C8B-B14F-4D97-AF65-F5344CB8AC3E}">
        <p14:creationId xmlns:p14="http://schemas.microsoft.com/office/powerpoint/2010/main" val="2581678929"/>
      </p:ext>
    </p:extLst>
  </p:cSld>
  <p:clrMapOvr>
    <a:masterClrMapping/>
  </p:clrMapOvr>
  <mc:AlternateContent xmlns:mc="http://schemas.openxmlformats.org/markup-compatibility/2006">
    <mc:Choice xmlns:p14="http://schemas.microsoft.com/office/powerpoint/2010/main" Requires="p14">
      <p:transition spd="slow" p14:dur="2000" advTm="17169"/>
    </mc:Choice>
    <mc:Fallback>
      <p:transition spd="slow" advTm="17169"/>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7" name="表 6">
                <a:extLst>
                  <a:ext uri="{FF2B5EF4-FFF2-40B4-BE49-F238E27FC236}">
                    <a16:creationId xmlns:a16="http://schemas.microsoft.com/office/drawing/2014/main" id="{66894FD2-31CA-9ED5-567D-5E5A87A0F91B}"/>
                  </a:ext>
                </a:extLst>
              </p:cNvPr>
              <p:cNvGraphicFramePr>
                <a:graphicFrameLocks noGrp="1"/>
              </p:cNvGraphicFramePr>
              <p:nvPr/>
            </p:nvGraphicFramePr>
            <p:xfrm>
              <a:off x="854838" y="5231240"/>
              <a:ext cx="10713551" cy="1104075"/>
            </p:xfrm>
            <a:graphic>
              <a:graphicData uri="http://schemas.openxmlformats.org/drawingml/2006/table">
                <a:tbl>
                  <a:tblPr firstRow="1" bandRow="1">
                    <a:tableStyleId>{5C22544A-7EE6-4342-B048-85BDC9FD1C3A}</a:tableStyleId>
                  </a:tblPr>
                  <a:tblGrid>
                    <a:gridCol w="1710567">
                      <a:extLst>
                        <a:ext uri="{9D8B030D-6E8A-4147-A177-3AD203B41FA5}">
                          <a16:colId xmlns:a16="http://schemas.microsoft.com/office/drawing/2014/main" val="3026482426"/>
                        </a:ext>
                      </a:extLst>
                    </a:gridCol>
                    <a:gridCol w="4501492">
                      <a:extLst>
                        <a:ext uri="{9D8B030D-6E8A-4147-A177-3AD203B41FA5}">
                          <a16:colId xmlns:a16="http://schemas.microsoft.com/office/drawing/2014/main" val="1078755556"/>
                        </a:ext>
                      </a:extLst>
                    </a:gridCol>
                    <a:gridCol w="4501492">
                      <a:extLst>
                        <a:ext uri="{9D8B030D-6E8A-4147-A177-3AD203B41FA5}">
                          <a16:colId xmlns:a16="http://schemas.microsoft.com/office/drawing/2014/main" val="4071430203"/>
                        </a:ext>
                      </a:extLst>
                    </a:gridCol>
                  </a:tblGrid>
                  <a:tr h="371037">
                    <a:tc>
                      <a:txBody>
                        <a:bodyPr/>
                        <a:lstStyle/>
                        <a:p>
                          <a:pPr algn="ctr"/>
                          <a:r>
                            <a:rPr kumimoji="1" lang="ja-JP" altLang="en-US" sz="2000" b="0">
                              <a:solidFill>
                                <a:schemeClr val="tx1"/>
                              </a:solidFill>
                              <a:latin typeface="Arial" panose="020B0604020202020204" pitchFamily="34" charset="0"/>
                              <a:cs typeface="Arial" panose="020B0604020202020204" pitchFamily="34" charset="0"/>
                            </a:rPr>
                            <a:t>設定番号</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𝑓</m:t>
                              </m:r>
                              <m:r>
                                <a:rPr kumimoji="1" lang="en-US" altLang="ja-JP" sz="2000" b="0" i="1" smtClean="0">
                                  <a:solidFill>
                                    <a:schemeClr val="tx1"/>
                                  </a:solidFill>
                                  <a:latin typeface="Cambria Math" panose="02040503050406030204" pitchFamily="18" charset="0"/>
                                  <a:cs typeface="Arial" panose="020B0604020202020204" pitchFamily="34" charset="0"/>
                                </a:rPr>
                                <m:t>(</m:t>
                              </m:r>
                              <m:r>
                                <a:rPr kumimoji="1" lang="en-US" altLang="ja-JP" sz="2000" b="1" i="1" smtClean="0">
                                  <a:solidFill>
                                    <a:schemeClr val="tx1"/>
                                  </a:solidFill>
                                  <a:latin typeface="Cambria Math" panose="02040503050406030204" pitchFamily="18" charset="0"/>
                                  <a:cs typeface="Arial" panose="020B0604020202020204" pitchFamily="34" charset="0"/>
                                </a:rPr>
                                <m:t>𝑪</m:t>
                              </m:r>
                              <m:r>
                                <a:rPr kumimoji="1" lang="en-US" altLang="ja-JP" sz="2000" b="0" i="1" smtClean="0">
                                  <a:solidFill>
                                    <a:schemeClr val="tx1"/>
                                  </a:solidFill>
                                  <a:latin typeface="Cambria Math" panose="02040503050406030204" pitchFamily="18" charset="0"/>
                                  <a:cs typeface="Arial" panose="020B0604020202020204" pitchFamily="34" charset="0"/>
                                </a:rPr>
                                <m:t>)</m:t>
                              </m:r>
                            </m:oMath>
                          </a14:m>
                          <a:r>
                            <a:rPr kumimoji="1" lang="ja-JP" altLang="en-US" sz="2000" b="0">
                              <a:solidFill>
                                <a:schemeClr val="tx1"/>
                              </a:solidFill>
                              <a:latin typeface="Arial" panose="020B0604020202020204" pitchFamily="34" charset="0"/>
                              <a:cs typeface="Arial" panose="020B0604020202020204" pitchFamily="34" charset="0"/>
                            </a:rPr>
                            <a:t>（傾向スコアモデル）</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𝑔</m:t>
                              </m:r>
                              <m:r>
                                <a:rPr kumimoji="1" lang="en-US" altLang="ja-JP" sz="2000" b="0" i="1" smtClean="0">
                                  <a:solidFill>
                                    <a:schemeClr val="tx1"/>
                                  </a:solidFill>
                                  <a:latin typeface="Cambria Math" panose="02040503050406030204" pitchFamily="18" charset="0"/>
                                  <a:cs typeface="Arial" panose="020B0604020202020204" pitchFamily="34" charset="0"/>
                                </a:rPr>
                                <m:t>(</m:t>
                              </m:r>
                              <m:r>
                                <a:rPr kumimoji="1" lang="en-US" altLang="ja-JP" sz="2000" b="1" i="1" smtClean="0">
                                  <a:solidFill>
                                    <a:schemeClr val="tx1"/>
                                  </a:solidFill>
                                  <a:latin typeface="Cambria Math" panose="02040503050406030204" pitchFamily="18" charset="0"/>
                                  <a:cs typeface="Arial" panose="020B0604020202020204" pitchFamily="34" charset="0"/>
                                </a:rPr>
                                <m:t>𝑪</m:t>
                              </m:r>
                              <m:r>
                                <a:rPr kumimoji="1" lang="en-US" altLang="ja-JP" sz="2000" b="0" i="1" smtClean="0">
                                  <a:solidFill>
                                    <a:schemeClr val="tx1"/>
                                  </a:solidFill>
                                  <a:latin typeface="Cambria Math" panose="02040503050406030204" pitchFamily="18" charset="0"/>
                                  <a:cs typeface="Arial" panose="020B0604020202020204" pitchFamily="34" charset="0"/>
                                </a:rPr>
                                <m:t>)</m:t>
                              </m:r>
                            </m:oMath>
                          </a14:m>
                          <a:r>
                            <a:rPr kumimoji="1" lang="ja-JP" altLang="en-US" sz="2000" b="0">
                              <a:solidFill>
                                <a:schemeClr val="tx1"/>
                              </a:solidFill>
                              <a:latin typeface="Arial" panose="020B0604020202020204" pitchFamily="34" charset="0"/>
                              <a:cs typeface="Arial" panose="020B0604020202020204" pitchFamily="34" charset="0"/>
                            </a:rPr>
                            <a:t>（結果モデル）</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1481619"/>
                      </a:ext>
                    </a:extLst>
                  </a:tr>
                  <a:tr h="432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8</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r>
                                  <a:rPr kumimoji="1" lang="en-US" altLang="ja-JP" sz="2000" b="0" i="1" smtClean="0">
                                    <a:solidFill>
                                      <a:schemeClr val="tx1"/>
                                    </a:solidFill>
                                    <a:latin typeface="Cambria Math" panose="02040503050406030204" pitchFamily="18" charset="0"/>
                                    <a:cs typeface="Arial" panose="020B0604020202020204" pitchFamily="34" charset="0"/>
                                  </a:rPr>
                                  <m:t>+0.2</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cs typeface="Arial" panose="020B0604020202020204" pitchFamily="34" charset="0"/>
                                  </a:rPr>
                                  <m:t>0.25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p>
                                  <m:sSupPr>
                                    <m:ctrlPr>
                                      <a:rPr kumimoji="1" lang="en-US" altLang="ja-JP" sz="2000" b="0" i="1" smtClean="0">
                                        <a:solidFill>
                                          <a:schemeClr val="tx1"/>
                                        </a:solidFill>
                                        <a:latin typeface="Cambria Math" panose="02040503050406030204" pitchFamily="18" charset="0"/>
                                        <a:cs typeface="Arial" panose="020B0604020202020204" pitchFamily="34" charset="0"/>
                                      </a:rPr>
                                    </m:ctrlPr>
                                  </m:sSupPr>
                                  <m:e>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Sub>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2</m:t>
                                            </m:r>
                                          </m:sub>
                                        </m:sSub>
                                      </m:e>
                                    </m:d>
                                  </m:e>
                                  <m:sup>
                                    <m:r>
                                      <a:rPr kumimoji="1" lang="en-US" altLang="ja-JP" sz="2000" b="0" i="1" smtClean="0">
                                        <a:solidFill>
                                          <a:schemeClr val="tx1"/>
                                        </a:solidFill>
                                        <a:latin typeface="Cambria Math" panose="02040503050406030204" pitchFamily="18" charset="0"/>
                                        <a:cs typeface="Arial" panose="020B0604020202020204" pitchFamily="34" charset="0"/>
                                      </a:rPr>
                                      <m:t>2</m:t>
                                    </m:r>
                                  </m:sup>
                                </m:sSup>
                                <m:r>
                                  <a:rPr kumimoji="1" lang="en-US" altLang="ja-JP" sz="2000" b="0" i="1" smtClean="0">
                                    <a:solidFill>
                                      <a:schemeClr val="tx1"/>
                                    </a:solidFill>
                                    <a:latin typeface="Cambria Math" panose="02040503050406030204" pitchFamily="18" charset="0"/>
                                    <a:cs typeface="Arial" panose="020B0604020202020204" pitchFamily="34" charset="0"/>
                                  </a:rPr>
                                  <m:t>−</m:t>
                                </m:r>
                                <m:sSup>
                                  <m:sSupPr>
                                    <m:ctrlPr>
                                      <a:rPr kumimoji="1" lang="en-US" altLang="ja-JP" sz="2000" b="0" i="1" smtClean="0">
                                        <a:solidFill>
                                          <a:schemeClr val="tx1"/>
                                        </a:solidFill>
                                        <a:latin typeface="Cambria Math" panose="02040503050406030204" pitchFamily="18" charset="0"/>
                                        <a:cs typeface="Arial" panose="020B0604020202020204" pitchFamily="34" charset="0"/>
                                      </a:rPr>
                                    </m:ctrlPr>
                                  </m:sSupPr>
                                  <m:e>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Sup>
                                          <m:sSubSupPr>
                                            <m:ctrlPr>
                                              <a:rPr kumimoji="1" lang="en-US" altLang="ja-JP" sz="2000" b="0" i="1" smtClean="0">
                                                <a:solidFill>
                                                  <a:schemeClr val="tx1"/>
                                                </a:solidFill>
                                                <a:latin typeface="Cambria Math" panose="02040503050406030204" pitchFamily="18" charset="0"/>
                                                <a:cs typeface="Arial" panose="020B0604020202020204" pitchFamily="34" charset="0"/>
                                              </a:rPr>
                                            </m:ctrlPr>
                                          </m:sSubSup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1</m:t>
                                            </m:r>
                                          </m:sub>
                                          <m:sup>
                                            <m:r>
                                              <a:rPr kumimoji="1" lang="en-US" altLang="ja-JP" sz="2000" b="0" i="1" smtClean="0">
                                                <a:solidFill>
                                                  <a:schemeClr val="tx1"/>
                                                </a:solidFill>
                                                <a:latin typeface="Cambria Math" panose="02040503050406030204" pitchFamily="18" charset="0"/>
                                                <a:cs typeface="Arial" panose="020B0604020202020204" pitchFamily="34" charset="0"/>
                                              </a:rPr>
                                              <m:t>2</m:t>
                                            </m:r>
                                          </m:sup>
                                        </m:sSubSup>
                                        <m:r>
                                          <a:rPr kumimoji="1" lang="en-US" altLang="ja-JP" sz="2000" b="0" i="1" smtClean="0">
                                            <a:solidFill>
                                              <a:schemeClr val="tx1"/>
                                            </a:solidFill>
                                            <a:latin typeface="Cambria Math" panose="02040503050406030204" pitchFamily="18" charset="0"/>
                                            <a:cs typeface="Arial" panose="020B0604020202020204" pitchFamily="34" charset="0"/>
                                          </a:rPr>
                                          <m:t>−</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e>
                                    </m:d>
                                  </m:e>
                                  <m:sup>
                                    <m:r>
                                      <a:rPr kumimoji="1" lang="en-US" altLang="ja-JP" sz="2000" b="0" i="1" smtClean="0">
                                        <a:solidFill>
                                          <a:schemeClr val="tx1"/>
                                        </a:solidFill>
                                        <a:latin typeface="Cambria Math" panose="02040503050406030204" pitchFamily="18" charset="0"/>
                                        <a:cs typeface="Arial" panose="020B0604020202020204" pitchFamily="34" charset="0"/>
                                      </a:rPr>
                                      <m:t>2</m:t>
                                    </m:r>
                                  </m:sup>
                                </m:sSup>
                                <m:r>
                                  <a:rPr kumimoji="1" lang="en-US" altLang="ja-JP" sz="2000" b="0" i="1" smtClean="0">
                                    <a:solidFill>
                                      <a:schemeClr val="tx1"/>
                                    </a:solidFill>
                                    <a:latin typeface="Cambria Math" panose="02040503050406030204" pitchFamily="18" charset="0"/>
                                    <a:cs typeface="Arial" panose="020B0604020202020204" pitchFamily="34" charset="0"/>
                                  </a:rPr>
                                  <m:t>+</m:t>
                                </m:r>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Sup>
                                      <m:sSubSupPr>
                                        <m:ctrlPr>
                                          <a:rPr kumimoji="1" lang="en-US" altLang="ja-JP" sz="2000" b="0" i="1" smtClean="0">
                                            <a:solidFill>
                                              <a:schemeClr val="tx1"/>
                                            </a:solidFill>
                                            <a:latin typeface="Cambria Math" panose="02040503050406030204" pitchFamily="18" charset="0"/>
                                            <a:cs typeface="Arial" panose="020B0604020202020204" pitchFamily="34" charset="0"/>
                                          </a:rPr>
                                        </m:ctrlPr>
                                      </m:sSubSup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up>
                                        <m:r>
                                          <a:rPr kumimoji="1" lang="en-US" altLang="ja-JP" sz="2000" b="0" i="1" smtClean="0">
                                            <a:solidFill>
                                              <a:schemeClr val="tx1"/>
                                            </a:solidFill>
                                            <a:latin typeface="Cambria Math" panose="02040503050406030204" pitchFamily="18" charset="0"/>
                                            <a:cs typeface="Arial" panose="020B0604020202020204" pitchFamily="34" charset="0"/>
                                          </a:rPr>
                                          <m:t>2</m:t>
                                        </m:r>
                                      </m:sup>
                                    </m:sSubSup>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5</m:t>
                                        </m:r>
                                      </m:sub>
                                    </m:sSub>
                                  </m:e>
                                </m:d>
                                <m:d>
                                  <m:dPr>
                                    <m:ctrlPr>
                                      <a:rPr kumimoji="1" lang="en-US" altLang="ja-JP" sz="2000" b="0" i="1" smtClean="0">
                                        <a:solidFill>
                                          <a:schemeClr val="tx1"/>
                                        </a:solidFill>
                                        <a:latin typeface="Cambria Math" panose="02040503050406030204" pitchFamily="18" charset="0"/>
                                        <a:cs typeface="Arial" panose="020B0604020202020204" pitchFamily="34" charset="0"/>
                                      </a:rPr>
                                    </m:ctrlPr>
                                  </m:dPr>
                                  <m:e>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3</m:t>
                                        </m:r>
                                      </m:sub>
                                    </m:sSub>
                                    <m:r>
                                      <a:rPr kumimoji="1" lang="en-US" altLang="ja-JP" sz="2000" b="0" i="1" smtClean="0">
                                        <a:solidFill>
                                          <a:schemeClr val="tx1"/>
                                        </a:solidFill>
                                        <a:latin typeface="Cambria Math" panose="02040503050406030204" pitchFamily="18" charset="0"/>
                                        <a:cs typeface="Arial" panose="020B0604020202020204" pitchFamily="34" charset="0"/>
                                      </a:rPr>
                                      <m:t>−0.5</m:t>
                                    </m:r>
                                    <m:sSub>
                                      <m:sSubPr>
                                        <m:ctrlPr>
                                          <a:rPr kumimoji="1" lang="en-US" altLang="ja-JP" sz="2000" b="0" i="1" smtClean="0">
                                            <a:solidFill>
                                              <a:schemeClr val="tx1"/>
                                            </a:solidFill>
                                            <a:latin typeface="Cambria Math" panose="02040503050406030204" pitchFamily="18" charset="0"/>
                                            <a:cs typeface="Arial" panose="020B0604020202020204" pitchFamily="34" charset="0"/>
                                          </a:rPr>
                                        </m:ctrlPr>
                                      </m:sSubPr>
                                      <m:e>
                                        <m:r>
                                          <a:rPr kumimoji="1" lang="en-US" altLang="ja-JP" sz="2000" b="0" i="1" smtClean="0">
                                            <a:solidFill>
                                              <a:schemeClr val="tx1"/>
                                            </a:solidFill>
                                            <a:latin typeface="Cambria Math" panose="02040503050406030204" pitchFamily="18" charset="0"/>
                                            <a:cs typeface="Arial" panose="020B0604020202020204" pitchFamily="34" charset="0"/>
                                          </a:rPr>
                                          <m:t>𝐶</m:t>
                                        </m:r>
                                      </m:e>
                                      <m:sub>
                                        <m:r>
                                          <a:rPr kumimoji="1" lang="en-US" altLang="ja-JP" sz="2000" b="0" i="1" smtClean="0">
                                            <a:solidFill>
                                              <a:schemeClr val="tx1"/>
                                            </a:solidFill>
                                            <a:latin typeface="Cambria Math" panose="02040503050406030204" pitchFamily="18" charset="0"/>
                                            <a:cs typeface="Arial" panose="020B0604020202020204" pitchFamily="34" charset="0"/>
                                          </a:rPr>
                                          <m:t>4</m:t>
                                        </m:r>
                                      </m:sub>
                                    </m:sSub>
                                  </m:e>
                                </m:d>
                              </m:oMath>
                            </m:oMathPara>
                          </a14:m>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07669672"/>
                      </a:ext>
                    </a:extLst>
                  </a:tr>
                </a:tbl>
              </a:graphicData>
            </a:graphic>
          </p:graphicFrame>
        </mc:Choice>
        <mc:Fallback xmlns="">
          <p:graphicFrame>
            <p:nvGraphicFramePr>
              <p:cNvPr id="7" name="表 6">
                <a:extLst>
                  <a:ext uri="{FF2B5EF4-FFF2-40B4-BE49-F238E27FC236}">
                    <a16:creationId xmlns:a16="http://schemas.microsoft.com/office/drawing/2014/main" id="{66894FD2-31CA-9ED5-567D-5E5A87A0F91B}"/>
                  </a:ext>
                </a:extLst>
              </p:cNvPr>
              <p:cNvGraphicFramePr>
                <a:graphicFrameLocks noGrp="1"/>
              </p:cNvGraphicFramePr>
              <p:nvPr>
                <p:extLst>
                  <p:ext uri="{D42A27DB-BD31-4B8C-83A1-F6EECF244321}">
                    <p14:modId xmlns:p14="http://schemas.microsoft.com/office/powerpoint/2010/main" val="3545784571"/>
                  </p:ext>
                </p:extLst>
              </p:nvPr>
            </p:nvGraphicFramePr>
            <p:xfrm>
              <a:off x="854838" y="5231240"/>
              <a:ext cx="10713551" cy="1104075"/>
            </p:xfrm>
            <a:graphic>
              <a:graphicData uri="http://schemas.openxmlformats.org/drawingml/2006/table">
                <a:tbl>
                  <a:tblPr firstRow="1" bandRow="1">
                    <a:tableStyleId>{5C22544A-7EE6-4342-B048-85BDC9FD1C3A}</a:tableStyleId>
                  </a:tblPr>
                  <a:tblGrid>
                    <a:gridCol w="1710567">
                      <a:extLst>
                        <a:ext uri="{9D8B030D-6E8A-4147-A177-3AD203B41FA5}">
                          <a16:colId xmlns:a16="http://schemas.microsoft.com/office/drawing/2014/main" val="3026482426"/>
                        </a:ext>
                      </a:extLst>
                    </a:gridCol>
                    <a:gridCol w="4501492">
                      <a:extLst>
                        <a:ext uri="{9D8B030D-6E8A-4147-A177-3AD203B41FA5}">
                          <a16:colId xmlns:a16="http://schemas.microsoft.com/office/drawing/2014/main" val="1078755556"/>
                        </a:ext>
                      </a:extLst>
                    </a:gridCol>
                    <a:gridCol w="4501492">
                      <a:extLst>
                        <a:ext uri="{9D8B030D-6E8A-4147-A177-3AD203B41FA5}">
                          <a16:colId xmlns:a16="http://schemas.microsoft.com/office/drawing/2014/main" val="4071430203"/>
                        </a:ext>
                      </a:extLst>
                    </a:gridCol>
                  </a:tblGrid>
                  <a:tr h="396240">
                    <a:tc>
                      <a:txBody>
                        <a:bodyPr/>
                        <a:lstStyle/>
                        <a:p>
                          <a:pPr algn="ctr"/>
                          <a:r>
                            <a:rPr kumimoji="1" lang="ja-JP" altLang="en-US" sz="2000" b="0">
                              <a:solidFill>
                                <a:schemeClr val="tx1"/>
                              </a:solidFill>
                              <a:latin typeface="Arial" panose="020B0604020202020204" pitchFamily="34" charset="0"/>
                              <a:cs typeface="Arial" panose="020B0604020202020204" pitchFamily="34" charset="0"/>
                            </a:rPr>
                            <a:t>設定番号</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38136" t="-3125" r="-100565" b="-181250"/>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37746" t="-3125" r="-282" b="-181250"/>
                          </a:stretch>
                        </a:blipFill>
                      </a:tcPr>
                    </a:tc>
                    <a:extLst>
                      <a:ext uri="{0D108BD9-81ED-4DB2-BD59-A6C34878D82A}">
                        <a16:rowId xmlns:a16="http://schemas.microsoft.com/office/drawing/2014/main" val="2351481619"/>
                      </a:ext>
                    </a:extLst>
                  </a:tr>
                  <a:tr h="707835">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8</a:t>
                          </a:r>
                          <a:endParaRPr kumimoji="1" lang="ja-JP" altLang="en-US" sz="2000" b="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8136" t="-58929" r="-100565" b="-3571"/>
                          </a:stretch>
                        </a:blipFill>
                      </a:tcPr>
                    </a:tc>
                    <a:tc>
                      <a:txBody>
                        <a:bodyPr/>
                        <a:lstStyle/>
                        <a:p>
                          <a:endParaRPr lang="ja-JP"/>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137746" t="-58929" r="-282" b="-3571"/>
                          </a:stretch>
                        </a:blipFill>
                      </a:tcPr>
                    </a:tc>
                    <a:extLst>
                      <a:ext uri="{0D108BD9-81ED-4DB2-BD59-A6C34878D82A}">
                        <a16:rowId xmlns:a16="http://schemas.microsoft.com/office/drawing/2014/main" val="1007669672"/>
                      </a:ext>
                    </a:extLst>
                  </a:tr>
                </a:tbl>
              </a:graphicData>
            </a:graphic>
          </p:graphicFrame>
        </mc:Fallback>
      </mc:AlternateContent>
      <p:graphicFrame>
        <p:nvGraphicFramePr>
          <p:cNvPr id="9" name="表 8">
            <a:extLst>
              <a:ext uri="{FF2B5EF4-FFF2-40B4-BE49-F238E27FC236}">
                <a16:creationId xmlns:a16="http://schemas.microsoft.com/office/drawing/2014/main" id="{A10114DB-6380-B4D7-90BE-67C83DECBF5C}"/>
              </a:ext>
            </a:extLst>
          </p:cNvPr>
          <p:cNvGraphicFramePr>
            <a:graphicFrameLocks noGrp="1"/>
          </p:cNvGraphicFramePr>
          <p:nvPr>
            <p:extLst>
              <p:ext uri="{D42A27DB-BD31-4B8C-83A1-F6EECF244321}">
                <p14:modId xmlns:p14="http://schemas.microsoft.com/office/powerpoint/2010/main" val="2473715258"/>
              </p:ext>
            </p:extLst>
          </p:nvPr>
        </p:nvGraphicFramePr>
        <p:xfrm>
          <a:off x="1072055" y="1809000"/>
          <a:ext cx="9232668" cy="1620000"/>
        </p:xfrm>
        <a:graphic>
          <a:graphicData uri="http://schemas.openxmlformats.org/drawingml/2006/table">
            <a:tbl>
              <a:tblPr firstRow="1" bandRow="1">
                <a:tableStyleId>{5940675A-B579-460E-94D1-54222C63F5DA}</a:tableStyleId>
              </a:tblPr>
              <a:tblGrid>
                <a:gridCol w="1538778">
                  <a:extLst>
                    <a:ext uri="{9D8B030D-6E8A-4147-A177-3AD203B41FA5}">
                      <a16:colId xmlns:a16="http://schemas.microsoft.com/office/drawing/2014/main" val="35517226"/>
                    </a:ext>
                  </a:extLst>
                </a:gridCol>
                <a:gridCol w="1538778">
                  <a:extLst>
                    <a:ext uri="{9D8B030D-6E8A-4147-A177-3AD203B41FA5}">
                      <a16:colId xmlns:a16="http://schemas.microsoft.com/office/drawing/2014/main" val="3086977965"/>
                    </a:ext>
                  </a:extLst>
                </a:gridCol>
                <a:gridCol w="1538778">
                  <a:extLst>
                    <a:ext uri="{9D8B030D-6E8A-4147-A177-3AD203B41FA5}">
                      <a16:colId xmlns:a16="http://schemas.microsoft.com/office/drawing/2014/main" val="544277446"/>
                    </a:ext>
                  </a:extLst>
                </a:gridCol>
                <a:gridCol w="1538778">
                  <a:extLst>
                    <a:ext uri="{9D8B030D-6E8A-4147-A177-3AD203B41FA5}">
                      <a16:colId xmlns:a16="http://schemas.microsoft.com/office/drawing/2014/main" val="2904439615"/>
                    </a:ext>
                  </a:extLst>
                </a:gridCol>
                <a:gridCol w="1538778">
                  <a:extLst>
                    <a:ext uri="{9D8B030D-6E8A-4147-A177-3AD203B41FA5}">
                      <a16:colId xmlns:a16="http://schemas.microsoft.com/office/drawing/2014/main" val="1698760484"/>
                    </a:ext>
                  </a:extLst>
                </a:gridCol>
                <a:gridCol w="1538778">
                  <a:extLst>
                    <a:ext uri="{9D8B030D-6E8A-4147-A177-3AD203B41FA5}">
                      <a16:colId xmlns:a16="http://schemas.microsoft.com/office/drawing/2014/main" val="2767750758"/>
                    </a:ext>
                  </a:extLst>
                </a:gridCol>
              </a:tblGrid>
              <a:tr h="720000">
                <a:tc>
                  <a:txBody>
                    <a:bodyPr/>
                    <a:lstStyle/>
                    <a:p>
                      <a:pPr algn="ctr"/>
                      <a:r>
                        <a:rPr kumimoji="1" lang="ja-JP" altLang="en-US" sz="2000" b="0">
                          <a:solidFill>
                            <a:schemeClr val="tx1"/>
                          </a:solidFill>
                          <a:latin typeface="Arial" panose="020B0604020202020204" pitchFamily="34" charset="0"/>
                          <a:cs typeface="Arial" panose="020B0604020202020204" pitchFamily="34" charset="0"/>
                        </a:rPr>
                        <a:t>交互作用項の最大次数</a:t>
                      </a:r>
                      <a:endParaRPr kumimoji="1" lang="en-US" altLang="ja-JP" sz="2000" b="0" dirty="0">
                        <a:solidFill>
                          <a:schemeClr val="tx1"/>
                        </a:solidFill>
                        <a:latin typeface="Arial" panose="020B0604020202020204" pitchFamily="34" charset="0"/>
                        <a:cs typeface="Arial" panose="020B0604020202020204" pitchFamily="34" charset="0"/>
                      </a:endParaRP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2</a:t>
                      </a:r>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3</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4</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5</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6</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10167926"/>
                  </a:ext>
                </a:extLst>
              </a:tr>
              <a:tr h="900000">
                <a:tc>
                  <a:txBody>
                    <a:bodyPr/>
                    <a:lstStyle/>
                    <a:p>
                      <a:pPr algn="ctr"/>
                      <a:r>
                        <a:rPr kumimoji="1" lang="en-US" altLang="ja-JP" sz="2000" b="0" dirty="0">
                          <a:solidFill>
                            <a:schemeClr val="tx1"/>
                          </a:solidFill>
                          <a:latin typeface="Arial" panose="020B0604020202020204" pitchFamily="34" charset="0"/>
                          <a:cs typeface="Arial" panose="020B0604020202020204" pitchFamily="34" charset="0"/>
                        </a:rPr>
                        <a:t>MSE</a:t>
                      </a:r>
                    </a:p>
                    <a:p>
                      <a:pPr algn="ctr"/>
                      <a:r>
                        <a:rPr kumimoji="1" lang="en-US" altLang="ja-JP" sz="2000" b="0" dirty="0">
                          <a:solidFill>
                            <a:schemeClr val="tx1"/>
                          </a:solidFill>
                          <a:latin typeface="Arial" panose="020B0604020202020204" pitchFamily="34" charset="0"/>
                          <a:cs typeface="Arial" panose="020B0604020202020204" pitchFamily="34" charset="0"/>
                        </a:rPr>
                        <a:t>(</a:t>
                      </a:r>
                      <a:r>
                        <a:rPr kumimoji="1" lang="en-US" altLang="ja-JP" sz="2000" b="0" dirty="0" err="1">
                          <a:solidFill>
                            <a:schemeClr val="tx1"/>
                          </a:solidFill>
                          <a:latin typeface="Arial" panose="020B0604020202020204" pitchFamily="34" charset="0"/>
                          <a:cs typeface="Arial" panose="020B0604020202020204" pitchFamily="34" charset="0"/>
                        </a:rPr>
                        <a:t>sd</a:t>
                      </a:r>
                      <a:r>
                        <a:rPr kumimoji="1" lang="en-US" altLang="ja-JP" sz="2000" b="0" dirty="0">
                          <a:solidFill>
                            <a:schemeClr val="tx1"/>
                          </a:solidFill>
                          <a:latin typeface="Arial" panose="020B0604020202020204" pitchFamily="34" charset="0"/>
                          <a:cs typeface="Arial" panose="020B0604020202020204" pitchFamily="34" charset="0"/>
                        </a:rPr>
                        <a:t>)</a:t>
                      </a:r>
                    </a:p>
                  </a:txBody>
                  <a:tcPr marL="9525" marR="9525" marT="9525" marB="0"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 0.25752</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(0.50873)</a:t>
                      </a:r>
                    </a:p>
                  </a:txBody>
                  <a:tcPr marL="9525" marR="9525" marT="9525" marB="0"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0.19821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(0.44693)</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0.07854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(0.27901)</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0.19058</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(0.43795)</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0.23639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(0.48672)</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23805263"/>
                  </a:ext>
                </a:extLst>
              </a:tr>
            </a:tbl>
          </a:graphicData>
        </a:graphic>
      </p:graphicFrame>
      <mc:AlternateContent xmlns:mc="http://schemas.openxmlformats.org/markup-compatibility/2006">
        <mc:Choice xmlns:a14="http://schemas.microsoft.com/office/drawing/2010/main" Requires="a14">
          <p:sp>
            <p:nvSpPr>
              <p:cNvPr id="11" name="テキスト ボックス 10">
                <a:extLst>
                  <a:ext uri="{FF2B5EF4-FFF2-40B4-BE49-F238E27FC236}">
                    <a16:creationId xmlns:a16="http://schemas.microsoft.com/office/drawing/2014/main" id="{6E0ECAA1-5BEF-2CB7-EAEF-6CB8CCCADB54}"/>
                  </a:ext>
                </a:extLst>
              </p:cNvPr>
              <p:cNvSpPr txBox="1"/>
              <p:nvPr/>
            </p:nvSpPr>
            <p:spPr>
              <a:xfrm>
                <a:off x="2789560" y="984953"/>
                <a:ext cx="8162220" cy="523220"/>
              </a:xfrm>
              <a:prstGeom prst="rect">
                <a:avLst/>
              </a:prstGeom>
              <a:noFill/>
            </p:spPr>
            <p:txBody>
              <a:bodyPr wrap="square">
                <a:spAutoFit/>
              </a:bodyPr>
              <a:lstStyle/>
              <a:p>
                <a:r>
                  <a:rPr lang="ja-JP" altLang="en-US" sz="2800">
                    <a:solidFill>
                      <a:schemeClr val="dk1"/>
                    </a:solidFill>
                    <a:cs typeface="Arial" panose="020B0604020202020204" pitchFamily="34" charset="0"/>
                  </a:rPr>
                  <a:t>実験結果　設定</a:t>
                </a:r>
                <a:r>
                  <a:rPr lang="en-US" altLang="ja-JP" sz="2800" dirty="0">
                    <a:solidFill>
                      <a:schemeClr val="dk1"/>
                    </a:solidFill>
                    <a:cs typeface="Arial" panose="020B0604020202020204" pitchFamily="34" charset="0"/>
                  </a:rPr>
                  <a:t>8</a:t>
                </a:r>
                <a14:m>
                  <m:oMath xmlns:m="http://schemas.openxmlformats.org/officeDocument/2006/math">
                    <m:r>
                      <a:rPr lang="en-US" altLang="ja-JP" sz="2800" i="1">
                        <a:solidFill>
                          <a:schemeClr val="dk1"/>
                        </a:solidFill>
                        <a:latin typeface="Cambria Math" panose="02040503050406030204" pitchFamily="18" charset="0"/>
                        <a:cs typeface="Arial" panose="020B0604020202020204" pitchFamily="34" charset="0"/>
                      </a:rPr>
                      <m:t>(</m:t>
                    </m:r>
                    <m:r>
                      <a:rPr lang="en-US" altLang="ja-JP" sz="2800" i="1">
                        <a:solidFill>
                          <a:schemeClr val="dk1"/>
                        </a:solidFill>
                        <a:latin typeface="Cambria Math" panose="02040503050406030204" pitchFamily="18" charset="0"/>
                        <a:cs typeface="Arial" panose="020B0604020202020204" pitchFamily="34" charset="0"/>
                      </a:rPr>
                      <m:t>𝑝</m:t>
                    </m:r>
                    <m:r>
                      <a:rPr lang="en-US" altLang="ja-JP" sz="2800" i="1">
                        <a:solidFill>
                          <a:schemeClr val="dk1"/>
                        </a:solidFill>
                        <a:latin typeface="Cambria Math" panose="02040503050406030204" pitchFamily="18" charset="0"/>
                        <a:cs typeface="Arial" panose="020B0604020202020204" pitchFamily="34" charset="0"/>
                      </a:rPr>
                      <m:t>=10)</m:t>
                    </m:r>
                  </m:oMath>
                </a14:m>
                <a:endParaRPr lang="ja-JP" altLang="en-US" sz="2800"/>
              </a:p>
            </p:txBody>
          </p:sp>
        </mc:Choice>
        <mc:Fallback>
          <p:sp>
            <p:nvSpPr>
              <p:cNvPr id="11" name="テキスト ボックス 10">
                <a:extLst>
                  <a:ext uri="{FF2B5EF4-FFF2-40B4-BE49-F238E27FC236}">
                    <a16:creationId xmlns:a16="http://schemas.microsoft.com/office/drawing/2014/main" id="{6E0ECAA1-5BEF-2CB7-EAEF-6CB8CCCADB54}"/>
                  </a:ext>
                </a:extLst>
              </p:cNvPr>
              <p:cNvSpPr txBox="1">
                <a:spLocks noRot="1" noChangeAspect="1" noMove="1" noResize="1" noEditPoints="1" noAdjustHandles="1" noChangeArrowheads="1" noChangeShapeType="1" noTextEdit="1"/>
              </p:cNvSpPr>
              <p:nvPr/>
            </p:nvSpPr>
            <p:spPr>
              <a:xfrm>
                <a:off x="2789560" y="984953"/>
                <a:ext cx="8162220" cy="523220"/>
              </a:xfrm>
              <a:prstGeom prst="rect">
                <a:avLst/>
              </a:prstGeom>
              <a:blipFill>
                <a:blip r:embed="rId4"/>
                <a:stretch>
                  <a:fillRect l="-1553" t="-11905" b="-33333"/>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693AFEC3-DD70-1802-C1C4-B13B497FDE0F}"/>
              </a:ext>
            </a:extLst>
          </p:cNvPr>
          <p:cNvSpPr>
            <a:spLocks noGrp="1"/>
          </p:cNvSpPr>
          <p:nvPr>
            <p:ph type="sldNum" sz="quarter" idx="12"/>
          </p:nvPr>
        </p:nvSpPr>
        <p:spPr/>
        <p:txBody>
          <a:bodyPr/>
          <a:lstStyle/>
          <a:p>
            <a:fld id="{21218AEF-8260-6F42-89D9-6D82E053F226}" type="slidenum">
              <a:rPr kumimoji="1" lang="ja-JP" altLang="en-US" smtClean="0"/>
              <a:t>34</a:t>
            </a:fld>
            <a:endParaRPr kumimoji="1" lang="ja-JP" altLang="en-US"/>
          </a:p>
        </p:txBody>
      </p:sp>
    </p:spTree>
    <p:extLst>
      <p:ext uri="{BB962C8B-B14F-4D97-AF65-F5344CB8AC3E}">
        <p14:creationId xmlns:p14="http://schemas.microsoft.com/office/powerpoint/2010/main" val="2454005136"/>
      </p:ext>
    </p:extLst>
  </p:cSld>
  <p:clrMapOvr>
    <a:masterClrMapping/>
  </p:clrMapOvr>
  <mc:AlternateContent xmlns:mc="http://schemas.openxmlformats.org/markup-compatibility/2006">
    <mc:Choice xmlns:p14="http://schemas.microsoft.com/office/powerpoint/2010/main" Requires="p14">
      <p:transition spd="slow" p14:dur="2000" advTm="28998"/>
    </mc:Choice>
    <mc:Fallback>
      <p:transition spd="slow" advTm="28998"/>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コンテンツ プレースホルダー 3">
            <a:extLst>
              <a:ext uri="{FF2B5EF4-FFF2-40B4-BE49-F238E27FC236}">
                <a16:creationId xmlns:a16="http://schemas.microsoft.com/office/drawing/2014/main" id="{8589F6AD-E78B-DAE0-C12E-89139CA12F67}"/>
              </a:ext>
            </a:extLst>
          </p:cNvPr>
          <p:cNvGraphicFramePr>
            <a:graphicFrameLocks noGrp="1"/>
          </p:cNvGraphicFramePr>
          <p:nvPr>
            <p:ph idx="1"/>
            <p:extLst>
              <p:ext uri="{D42A27DB-BD31-4B8C-83A1-F6EECF244321}">
                <p14:modId xmlns:p14="http://schemas.microsoft.com/office/powerpoint/2010/main" val="4030025841"/>
              </p:ext>
            </p:extLst>
          </p:nvPr>
        </p:nvGraphicFramePr>
        <p:xfrm>
          <a:off x="242047" y="336176"/>
          <a:ext cx="11909612" cy="627977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217937572"/>
      </p:ext>
    </p:extLst>
  </p:cSld>
  <p:clrMapOvr>
    <a:masterClrMapping/>
  </p:clrMapOvr>
  <mc:AlternateContent xmlns:mc="http://schemas.openxmlformats.org/markup-compatibility/2006">
    <mc:Choice xmlns:p14="http://schemas.microsoft.com/office/powerpoint/2010/main" Requires="p14">
      <p:transition spd="slow" p14:dur="2000" advTm="23659"/>
    </mc:Choice>
    <mc:Fallback>
      <p:transition spd="slow" advTm="23659"/>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5A13A22-0646-7D0D-5D97-F53351DCED1C}"/>
              </a:ext>
            </a:extLst>
          </p:cNvPr>
          <p:cNvSpPr>
            <a:spLocks noGrp="1"/>
          </p:cNvSpPr>
          <p:nvPr>
            <p:ph type="title"/>
          </p:nvPr>
        </p:nvSpPr>
        <p:spPr>
          <a:xfrm>
            <a:off x="418531" y="255493"/>
            <a:ext cx="10515600" cy="1325563"/>
          </a:xfrm>
        </p:spPr>
        <p:txBody>
          <a:bodyPr/>
          <a:lstStyle/>
          <a:p>
            <a:r>
              <a:rPr kumimoji="1" lang="ja-JP" altLang="en-US"/>
              <a:t>まとめ</a:t>
            </a:r>
            <a:endParaRPr kumimoji="1" lang="ja-JP" altLang="en-US" dirty="0"/>
          </a:p>
        </p:txBody>
      </p:sp>
      <p:sp>
        <p:nvSpPr>
          <p:cNvPr id="3" name="コンテンツ プレースホルダー 2">
            <a:extLst>
              <a:ext uri="{FF2B5EF4-FFF2-40B4-BE49-F238E27FC236}">
                <a16:creationId xmlns:a16="http://schemas.microsoft.com/office/drawing/2014/main" id="{59335D1E-37E5-F6B6-23CE-3C418663BE26}"/>
              </a:ext>
            </a:extLst>
          </p:cNvPr>
          <p:cNvSpPr>
            <a:spLocks noGrp="1"/>
          </p:cNvSpPr>
          <p:nvPr>
            <p:ph idx="1"/>
          </p:nvPr>
        </p:nvSpPr>
        <p:spPr>
          <a:xfrm>
            <a:off x="418531" y="1593275"/>
            <a:ext cx="11040611" cy="1580230"/>
          </a:xfrm>
        </p:spPr>
        <p:txBody>
          <a:bodyPr>
            <a:noAutofit/>
          </a:bodyPr>
          <a:lstStyle/>
          <a:p>
            <a:pPr>
              <a:buClr>
                <a:schemeClr val="accent1"/>
              </a:buClr>
              <a:buFont typeface="Wingdings" pitchFamily="2" charset="2"/>
              <a:buChar char="l"/>
            </a:pPr>
            <a:r>
              <a:rPr lang="ja-JP" altLang="en-US" sz="2800">
                <a:effectLst/>
                <a:latin typeface="HaranoAjiMincho-Regular-Identity-H"/>
              </a:rPr>
              <a:t>二重頑健推定法</a:t>
            </a:r>
            <a:r>
              <a:rPr lang="ja-JP" altLang="en-US" sz="2800">
                <a:latin typeface="HaranoAjiMincho-Regular-Identity-H"/>
              </a:rPr>
              <a:t>における球共分散に基づく共変量選択</a:t>
            </a:r>
            <a:r>
              <a:rPr lang="ja-JP" altLang="en-US">
                <a:solidFill>
                  <a:srgbClr val="1D1C1D"/>
                </a:solidFill>
                <a:latin typeface="NotoSansJP"/>
              </a:rPr>
              <a:t>を提案した</a:t>
            </a:r>
            <a:endParaRPr kumimoji="1" lang="en-US" altLang="ja-JP" dirty="0"/>
          </a:p>
          <a:p>
            <a:pPr>
              <a:buClr>
                <a:schemeClr val="accent1"/>
              </a:buClr>
              <a:buFont typeface="Wingdings" pitchFamily="2" charset="2"/>
              <a:buChar char="l"/>
            </a:pPr>
            <a:r>
              <a:rPr lang="ja-JP" altLang="en-US">
                <a:solidFill>
                  <a:srgbClr val="1D1C1D"/>
                </a:solidFill>
                <a:latin typeface="NotoSansJP"/>
              </a:rPr>
              <a:t>交互作用項による非線形モデルを提案し，既存手法と数値的な観点から比較検討した</a:t>
            </a:r>
            <a:endParaRPr lang="en-US" altLang="ja-JP" b="0" i="0" dirty="0">
              <a:solidFill>
                <a:srgbClr val="1D1C1D"/>
              </a:solidFill>
              <a:effectLst/>
              <a:latin typeface="NotoSansJP"/>
            </a:endParaRPr>
          </a:p>
        </p:txBody>
      </p:sp>
      <p:sp>
        <p:nvSpPr>
          <p:cNvPr id="7" name="コンテンツ プレースホルダー 2">
            <a:extLst>
              <a:ext uri="{FF2B5EF4-FFF2-40B4-BE49-F238E27FC236}">
                <a16:creationId xmlns:a16="http://schemas.microsoft.com/office/drawing/2014/main" id="{C2476E14-8F63-F4A3-9393-56C0D1500DFA}"/>
              </a:ext>
            </a:extLst>
          </p:cNvPr>
          <p:cNvSpPr txBox="1">
            <a:spLocks/>
          </p:cNvSpPr>
          <p:nvPr/>
        </p:nvSpPr>
        <p:spPr>
          <a:xfrm>
            <a:off x="418531" y="5230905"/>
            <a:ext cx="11467750" cy="112544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buClr>
                <a:schemeClr val="accent2"/>
              </a:buClr>
              <a:buFont typeface="Wingdings" pitchFamily="2" charset="2"/>
              <a:buChar char="u"/>
            </a:pPr>
            <a:r>
              <a:rPr lang="ja-JP" altLang="en-US"/>
              <a:t>結果変数が２値の場合における因果効果値の推定</a:t>
            </a:r>
            <a:endParaRPr lang="ja-JP" altLang="en-US" dirty="0"/>
          </a:p>
        </p:txBody>
      </p:sp>
      <p:sp>
        <p:nvSpPr>
          <p:cNvPr id="4" name="タイトル 1">
            <a:extLst>
              <a:ext uri="{FF2B5EF4-FFF2-40B4-BE49-F238E27FC236}">
                <a16:creationId xmlns:a16="http://schemas.microsoft.com/office/drawing/2014/main" id="{85FC4F1A-D0CB-632C-8910-69AF3DCB7FED}"/>
              </a:ext>
            </a:extLst>
          </p:cNvPr>
          <p:cNvSpPr txBox="1">
            <a:spLocks/>
          </p:cNvSpPr>
          <p:nvPr/>
        </p:nvSpPr>
        <p:spPr>
          <a:xfrm>
            <a:off x="234755" y="3429000"/>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a:lstStyle>
          <a:p>
            <a:r>
              <a:rPr lang="ja-JP" altLang="en-US"/>
              <a:t>今後の課題</a:t>
            </a:r>
            <a:endParaRPr lang="ja-JP" altLang="en-US" dirty="0"/>
          </a:p>
        </p:txBody>
      </p:sp>
      <p:sp>
        <p:nvSpPr>
          <p:cNvPr id="6" name="スライド番号プレースホルダー 5">
            <a:extLst>
              <a:ext uri="{FF2B5EF4-FFF2-40B4-BE49-F238E27FC236}">
                <a16:creationId xmlns:a16="http://schemas.microsoft.com/office/drawing/2014/main" id="{C0186DE2-19CE-3E36-1A2B-63BA6DCBD3D4}"/>
              </a:ext>
            </a:extLst>
          </p:cNvPr>
          <p:cNvSpPr>
            <a:spLocks noGrp="1"/>
          </p:cNvSpPr>
          <p:nvPr>
            <p:ph type="sldNum" sz="quarter" idx="12"/>
          </p:nvPr>
        </p:nvSpPr>
        <p:spPr/>
        <p:txBody>
          <a:bodyPr/>
          <a:lstStyle/>
          <a:p>
            <a:fld id="{21218AEF-8260-6F42-89D9-6D82E053F226}" type="slidenum">
              <a:rPr kumimoji="1" lang="ja-JP" altLang="en-US" smtClean="0"/>
              <a:t>36</a:t>
            </a:fld>
            <a:endParaRPr kumimoji="1" lang="ja-JP" altLang="en-US"/>
          </a:p>
        </p:txBody>
      </p:sp>
    </p:spTree>
    <p:extLst>
      <p:ext uri="{BB962C8B-B14F-4D97-AF65-F5344CB8AC3E}">
        <p14:creationId xmlns:p14="http://schemas.microsoft.com/office/powerpoint/2010/main" val="1451177071"/>
      </p:ext>
    </p:extLst>
  </p:cSld>
  <p:clrMapOvr>
    <a:masterClrMapping/>
  </p:clrMapOvr>
  <mc:AlternateContent xmlns:mc="http://schemas.openxmlformats.org/markup-compatibility/2006">
    <mc:Choice xmlns:p14="http://schemas.microsoft.com/office/powerpoint/2010/main" Requires="p14">
      <p:transition spd="slow" p14:dur="2000" advTm="29962"/>
    </mc:Choice>
    <mc:Fallback>
      <p:transition spd="slow" advTm="29962"/>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294F370-C7C7-AF65-1DB0-1EF76A44876C}"/>
              </a:ext>
            </a:extLst>
          </p:cNvPr>
          <p:cNvSpPr>
            <a:spLocks noGrp="1"/>
          </p:cNvSpPr>
          <p:nvPr>
            <p:ph type="title"/>
          </p:nvPr>
        </p:nvSpPr>
        <p:spPr/>
        <p:txBody>
          <a:bodyPr/>
          <a:lstStyle/>
          <a:p>
            <a:r>
              <a:rPr kumimoji="1" lang="ja-JP" altLang="en-US"/>
              <a:t>参考文献</a:t>
            </a:r>
          </a:p>
        </p:txBody>
      </p:sp>
      <p:sp>
        <p:nvSpPr>
          <p:cNvPr id="3" name="コンテンツ プレースホルダー 2">
            <a:extLst>
              <a:ext uri="{FF2B5EF4-FFF2-40B4-BE49-F238E27FC236}">
                <a16:creationId xmlns:a16="http://schemas.microsoft.com/office/drawing/2014/main" id="{D6C39983-5D36-AB2D-07E3-B0F4A193686B}"/>
              </a:ext>
            </a:extLst>
          </p:cNvPr>
          <p:cNvSpPr>
            <a:spLocks noGrp="1"/>
          </p:cNvSpPr>
          <p:nvPr>
            <p:ph idx="1"/>
          </p:nvPr>
        </p:nvSpPr>
        <p:spPr/>
        <p:txBody>
          <a:bodyPr>
            <a:normAutofit fontScale="85000" lnSpcReduction="20000"/>
          </a:bodyPr>
          <a:lstStyle/>
          <a:p>
            <a:pPr>
              <a:buFont typeface="Wingdings" panose="05000000000000000000" pitchFamily="2" charset="2"/>
              <a:buChar char="Ø"/>
            </a:pPr>
            <a:r>
              <a:rPr lang="en-US" altLang="ja-JP" dirty="0"/>
              <a:t>Bang, H. and Robins, J. M. (2005). Doubly robust estimation in missing data and causal inference models. </a:t>
            </a:r>
            <a:r>
              <a:rPr lang="en-US" altLang="ja-JP" i="1" dirty="0"/>
              <a:t>Biometrics</a:t>
            </a:r>
            <a:r>
              <a:rPr lang="en-US" altLang="ja-JP" dirty="0"/>
              <a:t>, </a:t>
            </a:r>
            <a:r>
              <a:rPr lang="en-US" altLang="ja-JP" b="1" dirty="0"/>
              <a:t>61</a:t>
            </a:r>
            <a:r>
              <a:rPr lang="en-US" altLang="ja-JP" dirty="0"/>
              <a:t>, 962–972.</a:t>
            </a:r>
          </a:p>
          <a:p>
            <a:pPr>
              <a:buFont typeface="Wingdings" panose="05000000000000000000" pitchFamily="2" charset="2"/>
              <a:buChar char="Ø"/>
            </a:pPr>
            <a:r>
              <a:rPr lang="en-US" altLang="ja-JP" dirty="0"/>
              <a:t>Hoshino, T. (2007). Doubly robust-type estimation for covariate adjustment in latent variable modeling. </a:t>
            </a:r>
            <a:r>
              <a:rPr lang="en-US" altLang="ja-JP" i="1" dirty="0"/>
              <a:t>Psychometrika</a:t>
            </a:r>
            <a:r>
              <a:rPr lang="en-US" altLang="ja-JP" dirty="0"/>
              <a:t>, </a:t>
            </a:r>
            <a:r>
              <a:rPr lang="en-US" altLang="ja-JP" b="1" dirty="0"/>
              <a:t>72</a:t>
            </a:r>
            <a:r>
              <a:rPr lang="en-US" altLang="ja-JP" dirty="0"/>
              <a:t>, 535– 549. </a:t>
            </a:r>
          </a:p>
          <a:p>
            <a:pPr>
              <a:buFont typeface="Wingdings" panose="05000000000000000000" pitchFamily="2" charset="2"/>
              <a:buChar char="Ø"/>
            </a:pPr>
            <a:r>
              <a:rPr lang="en-US" altLang="ja-JP" dirty="0"/>
              <a:t>Koch, B., </a:t>
            </a:r>
            <a:r>
              <a:rPr lang="en-US" altLang="ja-JP" dirty="0" err="1"/>
              <a:t>Vock</a:t>
            </a:r>
            <a:r>
              <a:rPr lang="en-US" altLang="ja-JP" dirty="0"/>
              <a:t>, D. M. and Wolfson, J. (2017). Covariate selection with group lasso and doubly robust estimation of causal effects. </a:t>
            </a:r>
            <a:r>
              <a:rPr lang="en-US" altLang="ja-JP" i="1" dirty="0"/>
              <a:t>Biometrics</a:t>
            </a:r>
            <a:r>
              <a:rPr lang="en-US" altLang="ja-JP" dirty="0"/>
              <a:t>, </a:t>
            </a:r>
            <a:r>
              <a:rPr lang="en-US" altLang="ja-JP" b="1" dirty="0"/>
              <a:t>74</a:t>
            </a:r>
            <a:r>
              <a:rPr lang="en-US" altLang="ja-JP" dirty="0"/>
              <a:t>, 8–17.</a:t>
            </a:r>
          </a:p>
          <a:p>
            <a:pPr>
              <a:buFont typeface="Wingdings" panose="05000000000000000000" pitchFamily="2" charset="2"/>
              <a:buChar char="Ø"/>
            </a:pPr>
            <a:r>
              <a:rPr lang="en" altLang="ja-JP" dirty="0">
                <a:effectLst/>
              </a:rPr>
              <a:t>Pan, W., Wang, X., Zhang, H., Zhu, H., and Zhu, J. (2020). Ball covariance: A generic measure of dependence in </a:t>
            </a:r>
            <a:r>
              <a:rPr lang="en" altLang="ja-JP" dirty="0" err="1">
                <a:effectLst/>
              </a:rPr>
              <a:t>banach</a:t>
            </a:r>
            <a:r>
              <a:rPr lang="en" altLang="ja-JP" dirty="0">
                <a:effectLst/>
              </a:rPr>
              <a:t> space. </a:t>
            </a:r>
            <a:r>
              <a:rPr lang="en" altLang="ja-JP" i="1" dirty="0">
                <a:effectLst/>
              </a:rPr>
              <a:t>Journal of the American Statistical Association</a:t>
            </a:r>
            <a:r>
              <a:rPr lang="en" altLang="ja-JP" dirty="0">
                <a:effectLst/>
              </a:rPr>
              <a:t>, </a:t>
            </a:r>
            <a:r>
              <a:rPr lang="en" altLang="ja-JP" b="1" dirty="0">
                <a:effectLst/>
              </a:rPr>
              <a:t>115</a:t>
            </a:r>
            <a:r>
              <a:rPr lang="en" altLang="ja-JP" dirty="0">
                <a:effectLst/>
              </a:rPr>
              <a:t>, 307–317.</a:t>
            </a:r>
          </a:p>
          <a:p>
            <a:pPr>
              <a:buFont typeface="Wingdings" panose="05000000000000000000" pitchFamily="2" charset="2"/>
              <a:buChar char="Ø"/>
            </a:pPr>
            <a:r>
              <a:rPr lang="en" altLang="ja-JP" b="0" i="0" u="none" strike="noStrike" dirty="0">
                <a:effectLst/>
              </a:rPr>
              <a:t>Tang, D., Kong, D., Pan, W. and Wang, L. (2023). Ultra–high dimensional variable selection for doubly robust causal inference. </a:t>
            </a:r>
            <a:r>
              <a:rPr lang="en" altLang="ja-JP" b="0" i="1" u="none" strike="noStrike" dirty="0">
                <a:effectLst/>
              </a:rPr>
              <a:t>Biometrics</a:t>
            </a:r>
            <a:r>
              <a:rPr lang="en" altLang="ja-JP" b="0" i="0" u="none" strike="noStrike" dirty="0">
                <a:effectLst/>
              </a:rPr>
              <a:t>, </a:t>
            </a:r>
            <a:r>
              <a:rPr lang="en" altLang="ja-JP" b="1" i="0" u="none" strike="noStrike" dirty="0">
                <a:effectLst/>
              </a:rPr>
              <a:t>79</a:t>
            </a:r>
            <a:r>
              <a:rPr lang="en" altLang="ja-JP" b="0" i="0" u="none" strike="noStrike" dirty="0">
                <a:effectLst/>
              </a:rPr>
              <a:t>, 903–914</a:t>
            </a:r>
            <a:r>
              <a:rPr lang="en" altLang="ja-JP" dirty="0">
                <a:effectLst/>
              </a:rPr>
              <a:t> </a:t>
            </a:r>
            <a:endParaRPr lang="en" altLang="ja-JP" sz="4000" dirty="0"/>
          </a:p>
        </p:txBody>
      </p:sp>
      <p:sp>
        <p:nvSpPr>
          <p:cNvPr id="5" name="スライド番号プレースホルダー 4">
            <a:extLst>
              <a:ext uri="{FF2B5EF4-FFF2-40B4-BE49-F238E27FC236}">
                <a16:creationId xmlns:a16="http://schemas.microsoft.com/office/drawing/2014/main" id="{F0519AAE-5735-3BC2-7102-21108CE50FF0}"/>
              </a:ext>
            </a:extLst>
          </p:cNvPr>
          <p:cNvSpPr>
            <a:spLocks noGrp="1"/>
          </p:cNvSpPr>
          <p:nvPr>
            <p:ph type="sldNum" sz="quarter" idx="12"/>
          </p:nvPr>
        </p:nvSpPr>
        <p:spPr/>
        <p:txBody>
          <a:bodyPr/>
          <a:lstStyle/>
          <a:p>
            <a:fld id="{21218AEF-8260-6F42-89D9-6D82E053F226}" type="slidenum">
              <a:rPr kumimoji="1" lang="ja-JP" altLang="en-US" smtClean="0"/>
              <a:t>37</a:t>
            </a:fld>
            <a:endParaRPr kumimoji="1" lang="ja-JP" altLang="en-US"/>
          </a:p>
        </p:txBody>
      </p:sp>
    </p:spTree>
    <p:extLst>
      <p:ext uri="{BB962C8B-B14F-4D97-AF65-F5344CB8AC3E}">
        <p14:creationId xmlns:p14="http://schemas.microsoft.com/office/powerpoint/2010/main" val="2603074293"/>
      </p:ext>
    </p:extLst>
  </p:cSld>
  <p:clrMapOvr>
    <a:masterClrMapping/>
  </p:clrMapOvr>
  <mc:AlternateContent xmlns:mc="http://schemas.openxmlformats.org/markup-compatibility/2006" xmlns:p14="http://schemas.microsoft.com/office/powerpoint/2010/main">
    <mc:Choice Requires="p14">
      <p:transition spd="slow" p14:dur="2000" advTm="2265"/>
    </mc:Choice>
    <mc:Fallback xmlns="">
      <p:transition spd="slow" advTm="2265"/>
    </mc:Fallback>
  </mc:AlternateContent>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コンテンツ プレースホルダー 2">
                <a:extLst>
                  <a:ext uri="{FF2B5EF4-FFF2-40B4-BE49-F238E27FC236}">
                    <a16:creationId xmlns:a16="http://schemas.microsoft.com/office/drawing/2014/main" id="{5AF8C956-96A9-9F9D-7B3F-8CFD7414FF8F}"/>
                  </a:ext>
                </a:extLst>
              </p:cNvPr>
              <p:cNvSpPr>
                <a:spLocks noGrp="1"/>
              </p:cNvSpPr>
              <p:nvPr>
                <p:ph idx="1"/>
              </p:nvPr>
            </p:nvSpPr>
            <p:spPr>
              <a:xfrm>
                <a:off x="838200" y="638333"/>
                <a:ext cx="10515600" cy="661988"/>
              </a:xfrm>
            </p:spPr>
            <p:txBody>
              <a:bodyPr/>
              <a:lstStyle/>
              <a:p>
                <a14:m>
                  <m:oMath xmlns:m="http://schemas.openxmlformats.org/officeDocument/2006/math">
                    <m:sSub>
                      <m:sSubPr>
                        <m:ctrlPr>
                          <a:rPr lang="en-US" altLang="ja-JP" i="1" smtClean="0">
                            <a:latin typeface="Cambria Math" panose="02040503050406030204" pitchFamily="18" charset="0"/>
                          </a:rPr>
                        </m:ctrlPr>
                      </m:sSubPr>
                      <m:e>
                        <m:r>
                          <a:rPr lang="en-US" altLang="ja-JP" b="1" i="1" smtClean="0">
                            <a:latin typeface="Cambria Math" panose="02040503050406030204" pitchFamily="18" charset="0"/>
                          </a:rPr>
                          <m:t>𝑪</m:t>
                        </m:r>
                      </m:e>
                      <m:sub>
                        <m:r>
                          <a:rPr lang="en-US" altLang="ja-JP" b="0" i="1" smtClean="0">
                            <a:latin typeface="Cambria Math" panose="02040503050406030204" pitchFamily="18" charset="0"/>
                            <a:ea typeface="Cambria Math" panose="02040503050406030204" pitchFamily="18" charset="0"/>
                          </a:rPr>
                          <m:t>𝛼</m:t>
                        </m:r>
                      </m:sub>
                    </m:sSub>
                    <m:r>
                      <a:rPr lang="en-US" altLang="ja-JP" b="0" i="1" smtClean="0">
                        <a:latin typeface="Cambria Math" panose="02040503050406030204" pitchFamily="18" charset="0"/>
                        <a:ea typeface="Cambria Math" panose="02040503050406030204" pitchFamily="18" charset="0"/>
                      </a:rPr>
                      <m:t>=</m:t>
                    </m:r>
                    <m:sSup>
                      <m:sSupPr>
                        <m:ctrlPr>
                          <a:rPr lang="en-US" altLang="ja-JP" b="0" i="1" smtClean="0">
                            <a:latin typeface="Cambria Math" panose="02040503050406030204" pitchFamily="18" charset="0"/>
                            <a:ea typeface="Cambria Math" panose="02040503050406030204" pitchFamily="18" charset="0"/>
                          </a:rPr>
                        </m:ctrlPr>
                      </m:sSupPr>
                      <m:e>
                        <m:d>
                          <m:dPr>
                            <m:ctrlPr>
                              <a:rPr lang="en-US" altLang="ja-JP" i="1">
                                <a:latin typeface="Cambria Math" panose="02040503050406030204" pitchFamily="18" charset="0"/>
                              </a:rPr>
                            </m:ctrlPr>
                          </m:dPr>
                          <m:e>
                            <m:sSub>
                              <m:sSubPr>
                                <m:ctrlPr>
                                  <a:rPr lang="en-US" altLang="ja-JP" i="1">
                                    <a:latin typeface="Cambria Math" panose="02040503050406030204" pitchFamily="18" charset="0"/>
                                  </a:rPr>
                                </m:ctrlPr>
                              </m:sSubPr>
                              <m:e>
                                <m:r>
                                  <a:rPr lang="en-US" altLang="ja-JP" i="1">
                                    <a:latin typeface="Cambria Math" panose="02040503050406030204" pitchFamily="18" charset="0"/>
                                  </a:rPr>
                                  <m:t>𝐶</m:t>
                                </m:r>
                              </m:e>
                              <m:sub>
                                <m:r>
                                  <a:rPr lang="en-US" altLang="ja-JP" i="1">
                                    <a:latin typeface="Cambria Math" panose="02040503050406030204" pitchFamily="18" charset="0"/>
                                  </a:rPr>
                                  <m:t>1</m:t>
                                </m:r>
                                <m:r>
                                  <a:rPr lang="en-US" altLang="ja-JP" i="1" smtClean="0">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rPr>
                                  <m:t>𝐶</m:t>
                                </m:r>
                              </m:e>
                              <m:sub>
                                <m:r>
                                  <a:rPr lang="en-US" altLang="ja-JP" i="1">
                                    <a:latin typeface="Cambria Math" panose="02040503050406030204" pitchFamily="18" charset="0"/>
                                  </a:rPr>
                                  <m:t>2</m:t>
                                </m:r>
                                <m:r>
                                  <a:rPr lang="en-US" altLang="ja-JP" i="1" smtClean="0">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r>
                              <a:rPr lang="en-US" altLang="ja-JP" i="1">
                                <a:latin typeface="Cambria Math" panose="02040503050406030204" pitchFamily="18" charset="0"/>
                                <a:ea typeface="Cambria Math" panose="02040503050406030204" pitchFamily="18" charset="0"/>
                              </a:rPr>
                              <m:t>⋯</m:t>
                            </m:r>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rPr>
                                  <m:t>𝐶</m:t>
                                </m:r>
                              </m:e>
                              <m:sub>
                                <m:r>
                                  <a:rPr lang="en-US" altLang="ja-JP" b="0" i="1" smtClean="0">
                                    <a:latin typeface="Cambria Math" panose="02040503050406030204" pitchFamily="18" charset="0"/>
                                  </a:rPr>
                                  <m:t>𝑛</m:t>
                                </m:r>
                                <m:r>
                                  <a:rPr lang="en-US" altLang="ja-JP" b="0" i="1" smtClean="0">
                                    <a:latin typeface="Cambria Math" panose="02040503050406030204" pitchFamily="18" charset="0"/>
                                    <a:ea typeface="Cambria Math" panose="02040503050406030204" pitchFamily="18" charset="0"/>
                                  </a:rPr>
                                  <m:t>𝛼</m:t>
                                </m:r>
                              </m:sub>
                            </m:sSub>
                          </m:e>
                        </m:d>
                      </m:e>
                      <m:sup>
                        <m:r>
                          <a:rPr lang="en-US" altLang="ja-JP" b="0" i="1" smtClean="0">
                            <a:latin typeface="Cambria Math" panose="02040503050406030204" pitchFamily="18" charset="0"/>
                            <a:ea typeface="Cambria Math" panose="02040503050406030204" pitchFamily="18" charset="0"/>
                          </a:rPr>
                          <m:t>𝑇</m:t>
                        </m:r>
                      </m:sup>
                    </m:sSup>
                  </m:oMath>
                </a14:m>
                <a:r>
                  <a:rPr kumimoji="1" lang="en-US" altLang="ja-JP" dirty="0">
                    <a:latin typeface="Cambria Math" panose="02040503050406030204" pitchFamily="18" charset="0"/>
                  </a:rPr>
                  <a:t>:</a:t>
                </a:r>
                <a14:m>
                  <m:oMath xmlns:m="http://schemas.openxmlformats.org/officeDocument/2006/math">
                    <m:r>
                      <a:rPr lang="en-US" altLang="ja-JP" b="0" i="1" smtClean="0">
                        <a:latin typeface="Cambria Math" panose="02040503050406030204" pitchFamily="18" charset="0"/>
                        <a:ea typeface="Cambria Math" panose="02040503050406030204" pitchFamily="18" charset="0"/>
                      </a:rPr>
                      <m:t>𝛼</m:t>
                    </m:r>
                  </m:oMath>
                </a14:m>
                <a:r>
                  <a:rPr kumimoji="1" lang="ja-JP" altLang="en-US" dirty="0">
                    <a:latin typeface="Cambria Math" panose="02040503050406030204" pitchFamily="18" charset="0"/>
                  </a:rPr>
                  <a:t>番目</a:t>
                </a:r>
                <a:r>
                  <a:rPr kumimoji="1" lang="ja-JP" altLang="en-US">
                    <a:latin typeface="Cambria Math" panose="02040503050406030204" pitchFamily="18" charset="0"/>
                  </a:rPr>
                  <a:t>の共変量に関するデータ</a:t>
                </a:r>
                <a:endParaRPr kumimoji="1" lang="en-US" altLang="ja-JP" i="1" dirty="0">
                  <a:latin typeface="Cambria Math" panose="02040503050406030204" pitchFamily="18" charset="0"/>
                </a:endParaRPr>
              </a:p>
            </p:txBody>
          </p:sp>
        </mc:Choice>
        <mc:Fallback xmlns="">
          <p:sp>
            <p:nvSpPr>
              <p:cNvPr id="3" name="コンテンツ プレースホルダー 2">
                <a:extLst>
                  <a:ext uri="{FF2B5EF4-FFF2-40B4-BE49-F238E27FC236}">
                    <a16:creationId xmlns:a16="http://schemas.microsoft.com/office/drawing/2014/main" id="{5AF8C956-96A9-9F9D-7B3F-8CFD7414FF8F}"/>
                  </a:ext>
                </a:extLst>
              </p:cNvPr>
              <p:cNvSpPr>
                <a:spLocks noGrp="1" noRot="1" noChangeAspect="1" noMove="1" noResize="1" noEditPoints="1" noAdjustHandles="1" noChangeArrowheads="1" noChangeShapeType="1" noTextEdit="1"/>
              </p:cNvSpPr>
              <p:nvPr>
                <p:ph idx="1"/>
              </p:nvPr>
            </p:nvSpPr>
            <p:spPr>
              <a:xfrm>
                <a:off x="838200" y="638333"/>
                <a:ext cx="10515600" cy="661988"/>
              </a:xfrm>
              <a:blipFill>
                <a:blip r:embed="rId3"/>
                <a:stretch>
                  <a:fillRect l="-1086" t="-15094"/>
                </a:stretch>
              </a:blipFill>
            </p:spPr>
            <p:txBody>
              <a:bodyPr/>
              <a:lstStyle/>
              <a:p>
                <a:r>
                  <a:rPr lang="ja-JP" altLang="en-US">
                    <a:noFill/>
                  </a:rPr>
                  <a:t> </a:t>
                </a:r>
              </a:p>
            </p:txBody>
          </p:sp>
        </mc:Fallback>
      </mc:AlternateContent>
      <mc:AlternateContent xmlns:mc="http://schemas.openxmlformats.org/markup-compatibility/2006">
        <mc:Choice xmlns:a14="http://schemas.microsoft.com/office/drawing/2010/main" Requires="a14">
          <p:sp>
            <p:nvSpPr>
              <p:cNvPr id="4" name="コンテンツ プレースホルダー 2">
                <a:extLst>
                  <a:ext uri="{FF2B5EF4-FFF2-40B4-BE49-F238E27FC236}">
                    <a16:creationId xmlns:a16="http://schemas.microsoft.com/office/drawing/2014/main" id="{D5929606-4659-DA5C-BC61-BD637CF7B02D}"/>
                  </a:ext>
                </a:extLst>
              </p:cNvPr>
              <p:cNvSpPr txBox="1">
                <a:spLocks/>
              </p:cNvSpPr>
              <p:nvPr/>
            </p:nvSpPr>
            <p:spPr>
              <a:xfrm>
                <a:off x="838200" y="1483442"/>
                <a:ext cx="10515600" cy="178593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buFont typeface="Arial" panose="020B0604020202020204" pitchFamily="34" charset="0"/>
                  <a:buNone/>
                </a:pPr>
                <a:r>
                  <a:rPr lang="ja-JP" altLang="en-US"/>
                  <a:t>命題</a:t>
                </a:r>
                <a:endParaRPr lang="en-US" altLang="ja-JP" dirty="0"/>
              </a:p>
              <a:p>
                <a:pPr marL="0" indent="0">
                  <a:buNone/>
                </a:pPr>
                <a14:m>
                  <m:oMath xmlns:m="http://schemas.openxmlformats.org/officeDocument/2006/math">
                    <m:d>
                      <m:dPr>
                        <m:ctrlPr>
                          <a:rPr lang="en-US" altLang="ja-JP" i="1">
                            <a:latin typeface="Cambria Math" panose="02040503050406030204" pitchFamily="18" charset="0"/>
                          </a:rPr>
                        </m:ctrlPr>
                      </m:dPr>
                      <m:e>
                        <m:sSub>
                          <m:sSubPr>
                            <m:ctrlPr>
                              <a:rPr lang="en-US" altLang="ja-JP" i="1">
                                <a:latin typeface="Cambria Math" panose="02040503050406030204" pitchFamily="18" charset="0"/>
                              </a:rPr>
                            </m:ctrlPr>
                          </m:sSubPr>
                          <m:e>
                            <m:r>
                              <a:rPr lang="en-US" altLang="ja-JP" i="1">
                                <a:latin typeface="Cambria Math" panose="02040503050406030204" pitchFamily="18" charset="0"/>
                              </a:rPr>
                              <m:t>𝐶</m:t>
                            </m:r>
                          </m:e>
                          <m:sub>
                            <m:r>
                              <a:rPr lang="en-US" altLang="ja-JP" i="1">
                                <a:latin typeface="Cambria Math" panose="02040503050406030204" pitchFamily="18" charset="0"/>
                                <a:ea typeface="Cambria Math" panose="02040503050406030204" pitchFamily="18" charset="0"/>
                              </a:rPr>
                              <m:t>𝛼</m:t>
                            </m:r>
                            <m:r>
                              <a:rPr lang="en-US" altLang="ja-JP" i="1">
                                <a:latin typeface="Cambria Math" panose="02040503050406030204" pitchFamily="18" charset="0"/>
                              </a:rPr>
                              <m:t>𝑖</m:t>
                            </m:r>
                          </m:sub>
                        </m:sSub>
                        <m:r>
                          <a:rPr lang="en-US" altLang="ja-JP" i="1">
                            <a:latin typeface="Cambria Math" panose="02040503050406030204" pitchFamily="18" charset="0"/>
                          </a:rPr>
                          <m:t>,</m:t>
                        </m:r>
                        <m:sSub>
                          <m:sSubPr>
                            <m:ctrlPr>
                              <a:rPr lang="en-US" altLang="ja-JP" i="1">
                                <a:latin typeface="Cambria Math" panose="02040503050406030204" pitchFamily="18" charset="0"/>
                              </a:rPr>
                            </m:ctrlPr>
                          </m:sSubPr>
                          <m:e>
                            <m:r>
                              <a:rPr lang="en-US" altLang="ja-JP" i="1">
                                <a:latin typeface="Cambria Math" panose="02040503050406030204" pitchFamily="18" charset="0"/>
                              </a:rPr>
                              <m:t>𝑌</m:t>
                            </m:r>
                          </m:e>
                          <m:sub>
                            <m:r>
                              <a:rPr lang="en-US" altLang="ja-JP" b="0" i="1" smtClean="0">
                                <a:latin typeface="Cambria Math" panose="02040503050406030204" pitchFamily="18" charset="0"/>
                              </a:rPr>
                              <m:t>𝑖</m:t>
                            </m:r>
                          </m:sub>
                        </m:sSub>
                      </m:e>
                    </m:d>
                    <m:r>
                      <a:rPr lang="en-US" altLang="ja-JP" i="1">
                        <a:latin typeface="Cambria Math" panose="02040503050406030204" pitchFamily="18" charset="0"/>
                      </a:rPr>
                      <m:t>, </m:t>
                    </m:r>
                    <m:r>
                      <a:rPr lang="en-US" altLang="ja-JP" i="1">
                        <a:latin typeface="Cambria Math" panose="02040503050406030204" pitchFamily="18" charset="0"/>
                      </a:rPr>
                      <m:t>𝑖</m:t>
                    </m:r>
                    <m:r>
                      <a:rPr lang="en-US" altLang="ja-JP" i="1">
                        <a:latin typeface="Cambria Math" panose="02040503050406030204" pitchFamily="18" charset="0"/>
                      </a:rPr>
                      <m:t>=1,2,…6</m:t>
                    </m:r>
                  </m:oMath>
                </a14:m>
                <a:r>
                  <a:rPr lang="ja-JP" altLang="en-US" dirty="0"/>
                  <a:t>が同時分布</a:t>
                </a:r>
                <a14:m>
                  <m:oMath xmlns:m="http://schemas.openxmlformats.org/officeDocument/2006/math">
                    <m:d>
                      <m:dPr>
                        <m:ctrlPr>
                          <a:rPr lang="en-US" altLang="ja-JP" i="1">
                            <a:latin typeface="Cambria Math" panose="02040503050406030204" pitchFamily="18" charset="0"/>
                          </a:rPr>
                        </m:ctrlPr>
                      </m:dPr>
                      <m:e>
                        <m:sSub>
                          <m:sSubPr>
                            <m:ctrlPr>
                              <a:rPr lang="en-US" altLang="ja-JP" i="1">
                                <a:latin typeface="Cambria Math" panose="02040503050406030204" pitchFamily="18" charset="0"/>
                              </a:rPr>
                            </m:ctrlPr>
                          </m:sSubPr>
                          <m:e>
                            <m:r>
                              <a:rPr lang="en-US" altLang="ja-JP" b="1" i="1">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r>
                          <a:rPr lang="en-US" altLang="ja-JP" b="1" i="1">
                            <a:latin typeface="Cambria Math" panose="02040503050406030204" pitchFamily="18" charset="0"/>
                          </a:rPr>
                          <m:t>𝒀</m:t>
                        </m:r>
                      </m:e>
                    </m:d>
                  </m:oMath>
                </a14:m>
                <a:r>
                  <a:rPr lang="ja-JP" altLang="en-US" dirty="0"/>
                  <a:t>から独立で得られたとする</a:t>
                </a:r>
                <a:endParaRPr lang="en-US" altLang="ja-JP" dirty="0"/>
              </a:p>
              <a:p>
                <a:pPr marL="0" indent="0">
                  <a:buNone/>
                </a:pPr>
                <a:r>
                  <a:rPr lang="ja-JP" altLang="en-US" dirty="0"/>
                  <a:t>このとき</a:t>
                </a:r>
                <a14:m>
                  <m:oMath xmlns:m="http://schemas.openxmlformats.org/officeDocument/2006/math">
                    <m:sSup>
                      <m:sSupPr>
                        <m:ctrlPr>
                          <a:rPr lang="en-US" altLang="ja-JP" i="1">
                            <a:latin typeface="Cambria Math" panose="02040503050406030204" pitchFamily="18" charset="0"/>
                          </a:rPr>
                        </m:ctrlPr>
                      </m:sSupPr>
                      <m:e>
                        <m:r>
                          <m:rPr>
                            <m:sty m:val="p"/>
                          </m:rPr>
                          <a:rPr lang="en-US" altLang="ja-JP" i="0">
                            <a:latin typeface="Cambria Math" panose="02040503050406030204" pitchFamily="18" charset="0"/>
                          </a:rPr>
                          <m:t>B</m:t>
                        </m:r>
                        <m:r>
                          <m:rPr>
                            <m:sty m:val="p"/>
                          </m:rPr>
                          <a:rPr lang="en-US" altLang="ja-JP" b="0" i="0" smtClean="0">
                            <a:latin typeface="Cambria Math" panose="02040503050406030204" pitchFamily="18" charset="0"/>
                          </a:rPr>
                          <m:t>C</m:t>
                        </m:r>
                        <m:r>
                          <m:rPr>
                            <m:sty m:val="p"/>
                          </m:rPr>
                          <a:rPr lang="en-US" altLang="ja-JP" i="0">
                            <a:latin typeface="Cambria Math" panose="02040503050406030204" pitchFamily="18" charset="0"/>
                          </a:rPr>
                          <m:t>ov</m:t>
                        </m:r>
                      </m:e>
                      <m:sup>
                        <m:r>
                          <a:rPr lang="en-US" altLang="ja-JP" i="1">
                            <a:latin typeface="Cambria Math" panose="02040503050406030204" pitchFamily="18" charset="0"/>
                          </a:rPr>
                          <m:t>2</m:t>
                        </m:r>
                      </m:sup>
                    </m:sSup>
                    <m:d>
                      <m:dPr>
                        <m:ctrlPr>
                          <a:rPr lang="en-US" altLang="ja-JP" i="1">
                            <a:latin typeface="Cambria Math" panose="02040503050406030204" pitchFamily="18" charset="0"/>
                          </a:rPr>
                        </m:ctrlPr>
                      </m:dPr>
                      <m:e>
                        <m:sSub>
                          <m:sSubPr>
                            <m:ctrlPr>
                              <a:rPr lang="en-US" altLang="ja-JP" i="1">
                                <a:latin typeface="Cambria Math" panose="02040503050406030204" pitchFamily="18" charset="0"/>
                              </a:rPr>
                            </m:ctrlPr>
                          </m:sSubPr>
                          <m:e>
                            <m:r>
                              <a:rPr lang="en-US" altLang="ja-JP" b="1" i="1">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𝛼</m:t>
                            </m:r>
                          </m:sub>
                        </m:sSub>
                        <m:r>
                          <a:rPr lang="en-US" altLang="ja-JP" i="1">
                            <a:latin typeface="Cambria Math" panose="02040503050406030204" pitchFamily="18" charset="0"/>
                          </a:rPr>
                          <m:t>,</m:t>
                        </m:r>
                        <m:r>
                          <a:rPr lang="en-US" altLang="ja-JP" b="1" i="1">
                            <a:latin typeface="Cambria Math" panose="02040503050406030204" pitchFamily="18" charset="0"/>
                          </a:rPr>
                          <m:t>𝒀</m:t>
                        </m:r>
                      </m:e>
                    </m:d>
                    <m:r>
                      <a:rPr lang="en-US" altLang="ja-JP" i="1">
                        <a:latin typeface="Cambria Math" panose="02040503050406030204" pitchFamily="18" charset="0"/>
                      </a:rPr>
                      <m:t>=</m:t>
                    </m:r>
                    <m:r>
                      <a:rPr lang="en-US" altLang="ja-JP" i="1">
                        <a:latin typeface="Cambria Math" panose="02040503050406030204" pitchFamily="18" charset="0"/>
                      </a:rPr>
                      <m:t>𝐸</m:t>
                    </m:r>
                    <m:r>
                      <a:rPr lang="en-US" altLang="ja-JP" i="1">
                        <a:latin typeface="Cambria Math" panose="02040503050406030204" pitchFamily="18" charset="0"/>
                      </a:rPr>
                      <m:t>(</m:t>
                    </m:r>
                    <m:sSubSup>
                      <m:sSubSupPr>
                        <m:ctrlPr>
                          <a:rPr lang="en-US" altLang="ja-JP" i="1">
                            <a:latin typeface="Cambria Math" panose="02040503050406030204" pitchFamily="18" charset="0"/>
                          </a:rPr>
                        </m:ctrlPr>
                      </m:sSubSupPr>
                      <m:e>
                        <m:r>
                          <a:rPr lang="ja-JP" altLang="en-US" i="1">
                            <a:latin typeface="Cambria Math" panose="02040503050406030204" pitchFamily="18" charset="0"/>
                          </a:rPr>
                          <m:t>𝜉</m:t>
                        </m:r>
                      </m:e>
                      <m:sub>
                        <m:r>
                          <a:rPr lang="en-US" altLang="ja-JP" i="1">
                            <a:latin typeface="Cambria Math" panose="02040503050406030204" pitchFamily="18" charset="0"/>
                          </a:rPr>
                          <m:t>12,3456</m:t>
                        </m:r>
                      </m:sub>
                      <m:sup>
                        <m:sSub>
                          <m:sSubPr>
                            <m:ctrlPr>
                              <a:rPr lang="en-US" altLang="ja-JP" i="1">
                                <a:latin typeface="Cambria Math" panose="02040503050406030204" pitchFamily="18" charset="0"/>
                              </a:rPr>
                            </m:ctrlPr>
                          </m:sSubPr>
                          <m:e>
                            <m:r>
                              <a:rPr lang="en-US" altLang="ja-JP" b="1" i="1">
                                <a:latin typeface="Cambria Math" panose="02040503050406030204" pitchFamily="18" charset="0"/>
                              </a:rPr>
                              <m:t>𝑪</m:t>
                            </m:r>
                          </m:e>
                          <m:sub>
                            <m:r>
                              <a:rPr lang="en-US" altLang="ja-JP" i="1">
                                <a:latin typeface="Cambria Math" panose="02040503050406030204" pitchFamily="18" charset="0"/>
                                <a:ea typeface="Cambria Math" panose="02040503050406030204" pitchFamily="18" charset="0"/>
                              </a:rPr>
                              <m:t>𝛼</m:t>
                            </m:r>
                          </m:sub>
                        </m:sSub>
                      </m:sup>
                    </m:sSubSup>
                    <m:sSubSup>
                      <m:sSubSupPr>
                        <m:ctrlPr>
                          <a:rPr lang="en-US" altLang="ja-JP" i="1">
                            <a:latin typeface="Cambria Math" panose="02040503050406030204" pitchFamily="18" charset="0"/>
                          </a:rPr>
                        </m:ctrlPr>
                      </m:sSubSupPr>
                      <m:e>
                        <m:r>
                          <a:rPr lang="ja-JP" altLang="en-US" i="1">
                            <a:latin typeface="Cambria Math" panose="02040503050406030204" pitchFamily="18" charset="0"/>
                          </a:rPr>
                          <m:t>𝜉</m:t>
                        </m:r>
                      </m:e>
                      <m:sub>
                        <m:r>
                          <a:rPr lang="en-US" altLang="ja-JP" i="1">
                            <a:latin typeface="Cambria Math" panose="02040503050406030204" pitchFamily="18" charset="0"/>
                          </a:rPr>
                          <m:t>12,3456</m:t>
                        </m:r>
                      </m:sub>
                      <m:sup>
                        <m:r>
                          <a:rPr lang="en-US" altLang="ja-JP" b="1" i="1" smtClean="0">
                            <a:latin typeface="Cambria Math" panose="02040503050406030204" pitchFamily="18" charset="0"/>
                          </a:rPr>
                          <m:t>𝒀</m:t>
                        </m:r>
                      </m:sup>
                    </m:sSubSup>
                    <m:r>
                      <a:rPr lang="en-US" altLang="ja-JP" i="1">
                        <a:latin typeface="Cambria Math" panose="02040503050406030204" pitchFamily="18" charset="0"/>
                      </a:rPr>
                      <m:t>)</m:t>
                    </m:r>
                  </m:oMath>
                </a14:m>
                <a:endParaRPr lang="en-US" altLang="ja-JP" dirty="0"/>
              </a:p>
              <a:p>
                <a:endParaRPr lang="ja-JP" altLang="en-US"/>
              </a:p>
            </p:txBody>
          </p:sp>
        </mc:Choice>
        <mc:Fallback>
          <p:sp>
            <p:nvSpPr>
              <p:cNvPr id="4" name="コンテンツ プレースホルダー 2">
                <a:extLst>
                  <a:ext uri="{FF2B5EF4-FFF2-40B4-BE49-F238E27FC236}">
                    <a16:creationId xmlns:a16="http://schemas.microsoft.com/office/drawing/2014/main" id="{D5929606-4659-DA5C-BC61-BD637CF7B02D}"/>
                  </a:ext>
                </a:extLst>
              </p:cNvPr>
              <p:cNvSpPr txBox="1">
                <a:spLocks noRot="1" noChangeAspect="1" noMove="1" noResize="1" noEditPoints="1" noAdjustHandles="1" noChangeArrowheads="1" noChangeShapeType="1" noTextEdit="1"/>
              </p:cNvSpPr>
              <p:nvPr/>
            </p:nvSpPr>
            <p:spPr>
              <a:xfrm>
                <a:off x="838200" y="1483442"/>
                <a:ext cx="10515600" cy="1785938"/>
              </a:xfrm>
              <a:prstGeom prst="rect">
                <a:avLst/>
              </a:prstGeom>
              <a:blipFill>
                <a:blip r:embed="rId4"/>
                <a:stretch>
                  <a:fillRect l="-1206" t="-5634"/>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sp>
            <p:nvSpPr>
              <p:cNvPr id="6" name="テキスト ボックス 5">
                <a:extLst>
                  <a:ext uri="{FF2B5EF4-FFF2-40B4-BE49-F238E27FC236}">
                    <a16:creationId xmlns:a16="http://schemas.microsoft.com/office/drawing/2014/main" id="{B456D203-6630-EE7D-6419-26FB3F711E7B}"/>
                  </a:ext>
                </a:extLst>
              </p:cNvPr>
              <p:cNvSpPr txBox="1"/>
              <p:nvPr/>
            </p:nvSpPr>
            <p:spPr>
              <a:xfrm>
                <a:off x="2948807" y="3564175"/>
                <a:ext cx="6736652" cy="2792175"/>
              </a:xfrm>
              <a:prstGeom prst="rect">
                <a:avLst/>
              </a:prstGeom>
              <a:noFill/>
            </p:spPr>
            <p:txBody>
              <a:bodyPr wrap="none" rtlCol="0">
                <a:spAutoFit/>
              </a:bodyPr>
              <a:lstStyle/>
              <a:p>
                <a14:m>
                  <m:oMath xmlns:m="http://schemas.openxmlformats.org/officeDocument/2006/math">
                    <m:sSubSup>
                      <m:sSubSupPr>
                        <m:ctrlPr>
                          <a:rPr kumimoji="1" lang="en-US" altLang="ja-JP" sz="2800" i="1" smtClean="0">
                            <a:latin typeface="Cambria Math" panose="02040503050406030204" pitchFamily="18" charset="0"/>
                          </a:rPr>
                        </m:ctrlPr>
                      </m:sSubSupPr>
                      <m:e>
                        <m:r>
                          <a:rPr kumimoji="1" lang="ja-JP" altLang="en-US" sz="2800" i="1" smtClean="0">
                            <a:latin typeface="Cambria Math" panose="02040503050406030204" pitchFamily="18" charset="0"/>
                          </a:rPr>
                          <m:t>𝛿</m:t>
                        </m:r>
                      </m:e>
                      <m:sub>
                        <m:r>
                          <a:rPr kumimoji="1" lang="en-US" altLang="ja-JP" sz="2800" b="0" i="1" smtClean="0">
                            <a:latin typeface="Cambria Math" panose="02040503050406030204" pitchFamily="18" charset="0"/>
                          </a:rPr>
                          <m:t>𝑖𝑗</m:t>
                        </m:r>
                        <m:r>
                          <a:rPr kumimoji="1" lang="en-US" altLang="ja-JP" sz="2800" b="0" i="1" smtClean="0">
                            <a:latin typeface="Cambria Math" panose="02040503050406030204" pitchFamily="18" charset="0"/>
                          </a:rPr>
                          <m:t>,</m:t>
                        </m:r>
                        <m:r>
                          <a:rPr kumimoji="1" lang="en-US" altLang="ja-JP" sz="2800" b="0" i="1" smtClean="0">
                            <a:latin typeface="Cambria Math" panose="02040503050406030204" pitchFamily="18" charset="0"/>
                          </a:rPr>
                          <m:t>𝑘</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r>
                      <a:rPr kumimoji="1" lang="en-US" altLang="ja-JP" sz="2800" b="0" i="1" smtClean="0">
                        <a:latin typeface="Cambria Math" panose="02040503050406030204" pitchFamily="18" charset="0"/>
                      </a:rPr>
                      <m:t>=</m:t>
                    </m:r>
                    <m:r>
                      <a:rPr kumimoji="1" lang="en-US" altLang="ja-JP" sz="2800" b="0" i="1" smtClean="0">
                        <a:latin typeface="Cambria Math" panose="02040503050406030204" pitchFamily="18" charset="0"/>
                      </a:rPr>
                      <m:t>𝐼</m:t>
                    </m:r>
                    <m:r>
                      <a:rPr kumimoji="1" lang="en-US" altLang="ja-JP" sz="2800" b="0" i="1" smtClean="0">
                        <a:latin typeface="Cambria Math" panose="02040503050406030204" pitchFamily="18" charset="0"/>
                      </a:rPr>
                      <m:t>{</m:t>
                    </m:r>
                    <m:sSub>
                      <m:sSubPr>
                        <m:ctrlPr>
                          <a:rPr kumimoji="1" lang="en-US" altLang="ja-JP" sz="2800" b="0" i="1" smtClean="0">
                            <a:latin typeface="Cambria Math" panose="02040503050406030204" pitchFamily="18" charset="0"/>
                          </a:rPr>
                        </m:ctrlPr>
                      </m:sSubPr>
                      <m:e>
                        <m:r>
                          <a:rPr kumimoji="1" lang="en-US" altLang="ja-JP" sz="2800" b="0" i="1" smtClean="0">
                            <a:latin typeface="Cambria Math" panose="02040503050406030204" pitchFamily="18" charset="0"/>
                          </a:rPr>
                          <m:t>𝐶</m:t>
                        </m:r>
                      </m:e>
                      <m:sub>
                        <m:r>
                          <a:rPr kumimoji="1" lang="en-US" altLang="ja-JP" sz="2800" b="0" i="1" smtClean="0">
                            <a:latin typeface="Cambria Math" panose="02040503050406030204" pitchFamily="18" charset="0"/>
                            <a:ea typeface="Cambria Math" panose="02040503050406030204" pitchFamily="18" charset="0"/>
                          </a:rPr>
                          <m:t>𝛼</m:t>
                        </m:r>
                        <m:r>
                          <a:rPr kumimoji="1" lang="en-US" altLang="ja-JP" sz="2800" b="0" i="1" smtClean="0">
                            <a:latin typeface="Cambria Math" panose="02040503050406030204" pitchFamily="18" charset="0"/>
                          </a:rPr>
                          <m:t>𝑘</m:t>
                        </m:r>
                      </m:sub>
                    </m:sSub>
                    <m:r>
                      <a:rPr kumimoji="1" lang="en-US" altLang="ja-JP" sz="2800" b="0" i="1" smtClean="0">
                        <a:latin typeface="Cambria Math" panose="02040503050406030204" pitchFamily="18" charset="0"/>
                        <a:ea typeface="Cambria Math" panose="02040503050406030204" pitchFamily="18" charset="0"/>
                      </a:rPr>
                      <m:t>∈</m:t>
                    </m:r>
                    <m:sSub>
                      <m:sSubPr>
                        <m:ctrlPr>
                          <a:rPr lang="en-US" altLang="ja-JP" sz="2800" i="1" smtClean="0">
                            <a:latin typeface="Cambria Math" panose="02040503050406030204" pitchFamily="18" charset="0"/>
                          </a:rPr>
                        </m:ctrlPr>
                      </m:sSubPr>
                      <m:e>
                        <m:acc>
                          <m:accPr>
                            <m:chr m:val="̅"/>
                            <m:ctrlPr>
                              <a:rPr lang="en-US" altLang="ja-JP" sz="2800" i="1">
                                <a:latin typeface="Cambria Math" panose="02040503050406030204" pitchFamily="18" charset="0"/>
                              </a:rPr>
                            </m:ctrlPr>
                          </m:accPr>
                          <m:e>
                            <m:r>
                              <a:rPr lang="en-US" altLang="ja-JP" sz="2800" i="1">
                                <a:latin typeface="Cambria Math" panose="02040503050406030204" pitchFamily="18" charset="0"/>
                              </a:rPr>
                              <m:t>𝐵</m:t>
                            </m:r>
                          </m:e>
                        </m:acc>
                      </m:e>
                      <m:sub>
                        <m:r>
                          <a:rPr lang="ja-JP" altLang="en-US" sz="2800" i="1">
                            <a:latin typeface="Cambria Math" panose="02040503050406030204" pitchFamily="18" charset="0"/>
                          </a:rPr>
                          <m:t>𝜌</m:t>
                        </m:r>
                      </m:sub>
                    </m:sSub>
                    <m:r>
                      <a:rPr lang="en-US" altLang="ja-JP" sz="2800" i="1">
                        <a:latin typeface="Cambria Math" panose="02040503050406030204" pitchFamily="18" charset="0"/>
                      </a:rPr>
                      <m:t>(</m:t>
                    </m:r>
                    <m:sSub>
                      <m:sSubPr>
                        <m:ctrlPr>
                          <a:rPr lang="en-US" altLang="ja-JP" sz="2800" i="1">
                            <a:latin typeface="Cambria Math" panose="02040503050406030204" pitchFamily="18" charset="0"/>
                          </a:rPr>
                        </m:ctrlPr>
                      </m:sSubPr>
                      <m:e>
                        <m:r>
                          <a:rPr lang="en-US" altLang="ja-JP" sz="2800" b="0" i="1" smtClean="0">
                            <a:latin typeface="Cambria Math" panose="02040503050406030204" pitchFamily="18" charset="0"/>
                          </a:rPr>
                          <m:t>𝐶</m:t>
                        </m:r>
                      </m:e>
                      <m:sub>
                        <m:r>
                          <a:rPr lang="en-US" altLang="ja-JP" sz="2800" b="0" i="1" smtClean="0">
                            <a:latin typeface="Cambria Math" panose="02040503050406030204" pitchFamily="18" charset="0"/>
                            <a:ea typeface="Cambria Math" panose="02040503050406030204" pitchFamily="18" charset="0"/>
                          </a:rPr>
                          <m:t>𝛼</m:t>
                        </m:r>
                        <m:r>
                          <a:rPr lang="en-US" altLang="ja-JP" sz="2800" b="0" i="1" smtClean="0">
                            <a:latin typeface="Cambria Math" panose="02040503050406030204" pitchFamily="18" charset="0"/>
                          </a:rPr>
                          <m:t>𝑖</m:t>
                        </m:r>
                      </m:sub>
                    </m:sSub>
                    <m:r>
                      <a:rPr lang="en-US" altLang="ja-JP" sz="2800" i="1">
                        <a:latin typeface="Cambria Math" panose="02040503050406030204" pitchFamily="18" charset="0"/>
                      </a:rPr>
                      <m:t>,</m:t>
                    </m:r>
                    <m:sSub>
                      <m:sSubPr>
                        <m:ctrlPr>
                          <a:rPr lang="en-US" altLang="ja-JP" sz="2800" i="1">
                            <a:latin typeface="Cambria Math" panose="02040503050406030204" pitchFamily="18" charset="0"/>
                          </a:rPr>
                        </m:ctrlPr>
                      </m:sSubPr>
                      <m:e>
                        <m:r>
                          <a:rPr lang="en-US" altLang="ja-JP" sz="2800" b="0" i="1" smtClean="0">
                            <a:latin typeface="Cambria Math" panose="02040503050406030204" pitchFamily="18" charset="0"/>
                          </a:rPr>
                          <m:t>𝐶</m:t>
                        </m:r>
                      </m:e>
                      <m:sub>
                        <m:r>
                          <a:rPr lang="en-US" altLang="ja-JP" sz="2800" b="0" i="1" smtClean="0">
                            <a:latin typeface="Cambria Math" panose="02040503050406030204" pitchFamily="18" charset="0"/>
                            <a:ea typeface="Cambria Math" panose="02040503050406030204" pitchFamily="18" charset="0"/>
                          </a:rPr>
                          <m:t>𝛼</m:t>
                        </m:r>
                        <m:r>
                          <a:rPr lang="en-US" altLang="ja-JP" sz="2800" b="0" i="1" smtClean="0">
                            <a:latin typeface="Cambria Math" panose="02040503050406030204" pitchFamily="18" charset="0"/>
                          </a:rPr>
                          <m:t>𝑗</m:t>
                        </m:r>
                      </m:sub>
                    </m:sSub>
                    <m:r>
                      <a:rPr lang="en-US" altLang="ja-JP" sz="2800" i="1">
                        <a:latin typeface="Cambria Math" panose="02040503050406030204" pitchFamily="18" charset="0"/>
                      </a:rPr>
                      <m:t>)</m:t>
                    </m:r>
                    <m:r>
                      <a:rPr kumimoji="1" lang="en-US" altLang="ja-JP" sz="2800" b="0" i="1" smtClean="0">
                        <a:latin typeface="Cambria Math" panose="02040503050406030204" pitchFamily="18" charset="0"/>
                      </a:rPr>
                      <m:t>}</m:t>
                    </m:r>
                  </m:oMath>
                </a14:m>
                <a:r>
                  <a:rPr kumimoji="1" lang="en-US" altLang="ja-JP" sz="2800" dirty="0"/>
                  <a:t> </a:t>
                </a:r>
              </a:p>
              <a:p>
                <a:pPr lvl="1"/>
                <a14:m>
                  <m:oMath xmlns:m="http://schemas.openxmlformats.org/officeDocument/2006/math">
                    <m:r>
                      <a:rPr kumimoji="1" lang="en-US" altLang="ja-JP" sz="2800" b="0" i="1" smtClean="0">
                        <a:latin typeface="Cambria Math" panose="02040503050406030204" pitchFamily="18" charset="0"/>
                      </a:rPr>
                      <m:t>𝐼</m:t>
                    </m:r>
                    <m:r>
                      <a:rPr kumimoji="1" lang="en-US" altLang="ja-JP" sz="2800" b="0" i="1" smtClean="0">
                        <a:latin typeface="Cambria Math" panose="02040503050406030204" pitchFamily="18" charset="0"/>
                      </a:rPr>
                      <m:t>()</m:t>
                    </m:r>
                  </m:oMath>
                </a14:m>
                <a:r>
                  <a:rPr lang="en-US" altLang="ja-JP" sz="2800" dirty="0"/>
                  <a:t>:</a:t>
                </a:r>
                <a:r>
                  <a:rPr lang="ja-JP" altLang="en-US" sz="2800" dirty="0"/>
                  <a:t>指示関数</a:t>
                </a:r>
                <a:endParaRPr lang="en-US" altLang="ja-JP" sz="2800" dirty="0"/>
              </a:p>
              <a:p>
                <a14:m>
                  <m:oMath xmlns:m="http://schemas.openxmlformats.org/officeDocument/2006/math">
                    <m:sSubSup>
                      <m:sSubSupPr>
                        <m:ctrlPr>
                          <a:rPr kumimoji="1" lang="en-US" altLang="ja-JP" sz="2800" i="1" smtClean="0">
                            <a:latin typeface="Cambria Math" panose="02040503050406030204" pitchFamily="18" charset="0"/>
                          </a:rPr>
                        </m:ctrlPr>
                      </m:sSubSupPr>
                      <m:e>
                        <m:r>
                          <a:rPr kumimoji="1" lang="ja-JP" altLang="en-US" sz="2800" i="1" smtClean="0">
                            <a:latin typeface="Cambria Math" panose="02040503050406030204" pitchFamily="18" charset="0"/>
                          </a:rPr>
                          <m:t>𝛿</m:t>
                        </m:r>
                      </m:e>
                      <m:sub>
                        <m:r>
                          <a:rPr kumimoji="1" lang="en-US" altLang="ja-JP" sz="2800" b="0" i="1" smtClean="0">
                            <a:latin typeface="Cambria Math" panose="02040503050406030204" pitchFamily="18" charset="0"/>
                          </a:rPr>
                          <m:t>𝑖𝑗</m:t>
                        </m:r>
                        <m:r>
                          <a:rPr kumimoji="1" lang="en-US" altLang="ja-JP" sz="2800" b="0" i="1" smtClean="0">
                            <a:latin typeface="Cambria Math" panose="02040503050406030204" pitchFamily="18" charset="0"/>
                          </a:rPr>
                          <m:t>,</m:t>
                        </m:r>
                        <m:r>
                          <a:rPr kumimoji="1" lang="en-US" altLang="ja-JP" sz="2800" b="0" i="1" smtClean="0">
                            <a:latin typeface="Cambria Math" panose="02040503050406030204" pitchFamily="18" charset="0"/>
                          </a:rPr>
                          <m:t>𝑘𝑙</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r>
                      <a:rPr kumimoji="1" lang="en-US" altLang="ja-JP" sz="2800" b="0" i="1" smtClean="0">
                        <a:latin typeface="Cambria Math" panose="02040503050406030204" pitchFamily="18" charset="0"/>
                      </a:rPr>
                      <m:t>=</m:t>
                    </m:r>
                    <m:sSubSup>
                      <m:sSubSupPr>
                        <m:ctrlPr>
                          <a:rPr lang="en-US" altLang="ja-JP" sz="2800" i="1">
                            <a:latin typeface="Cambria Math" panose="02040503050406030204" pitchFamily="18" charset="0"/>
                          </a:rPr>
                        </m:ctrlPr>
                      </m:sSubSupPr>
                      <m:e>
                        <m:r>
                          <a:rPr lang="ja-JP" altLang="en-US" sz="2800" i="1">
                            <a:latin typeface="Cambria Math" panose="02040503050406030204" pitchFamily="18" charset="0"/>
                          </a:rPr>
                          <m:t>𝛿</m:t>
                        </m:r>
                      </m:e>
                      <m:sub>
                        <m:r>
                          <a:rPr lang="en-US" altLang="ja-JP" sz="2800" i="1">
                            <a:latin typeface="Cambria Math" panose="02040503050406030204" pitchFamily="18" charset="0"/>
                          </a:rPr>
                          <m:t>𝑖𝑗</m:t>
                        </m:r>
                        <m:r>
                          <a:rPr lang="en-US" altLang="ja-JP" sz="2800" i="1">
                            <a:latin typeface="Cambria Math" panose="02040503050406030204" pitchFamily="18" charset="0"/>
                          </a:rPr>
                          <m:t>,</m:t>
                        </m:r>
                        <m:r>
                          <a:rPr lang="en-US" altLang="ja-JP" sz="2800" i="1">
                            <a:latin typeface="Cambria Math" panose="02040503050406030204" pitchFamily="18" charset="0"/>
                          </a:rPr>
                          <m:t>𝑘</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sSubSup>
                      <m:sSubSupPr>
                        <m:ctrlPr>
                          <a:rPr lang="en-US" altLang="ja-JP" sz="2800" i="1">
                            <a:latin typeface="Cambria Math" panose="02040503050406030204" pitchFamily="18" charset="0"/>
                          </a:rPr>
                        </m:ctrlPr>
                      </m:sSubSupPr>
                      <m:e>
                        <m:r>
                          <a:rPr lang="ja-JP" altLang="en-US" sz="2800" i="1">
                            <a:latin typeface="Cambria Math" panose="02040503050406030204" pitchFamily="18" charset="0"/>
                          </a:rPr>
                          <m:t>𝛿</m:t>
                        </m:r>
                      </m:e>
                      <m:sub>
                        <m:r>
                          <a:rPr lang="en-US" altLang="ja-JP" sz="2800" i="1">
                            <a:latin typeface="Cambria Math" panose="02040503050406030204" pitchFamily="18" charset="0"/>
                          </a:rPr>
                          <m:t>𝑖𝑗</m:t>
                        </m:r>
                        <m:r>
                          <a:rPr lang="en-US" altLang="ja-JP" sz="2800" i="1">
                            <a:latin typeface="Cambria Math" panose="02040503050406030204" pitchFamily="18" charset="0"/>
                          </a:rPr>
                          <m:t>,</m:t>
                        </m:r>
                        <m:r>
                          <a:rPr lang="en-US" altLang="ja-JP" sz="2800" b="0" i="1" smtClean="0">
                            <a:latin typeface="Cambria Math" panose="02040503050406030204" pitchFamily="18" charset="0"/>
                          </a:rPr>
                          <m:t>𝑙</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oMath>
                </a14:m>
                <a:r>
                  <a:rPr kumimoji="1" lang="en-US" altLang="ja-JP" sz="2800" dirty="0"/>
                  <a:t> </a:t>
                </a:r>
              </a:p>
              <a:p>
                <a14:m>
                  <m:oMath xmlns:m="http://schemas.openxmlformats.org/officeDocument/2006/math">
                    <m:sSubSup>
                      <m:sSubSupPr>
                        <m:ctrlPr>
                          <a:rPr kumimoji="1" lang="en-US" altLang="ja-JP" sz="2800" i="1" smtClean="0">
                            <a:latin typeface="Cambria Math" panose="02040503050406030204" pitchFamily="18" charset="0"/>
                          </a:rPr>
                        </m:ctrlPr>
                      </m:sSubSupPr>
                      <m:e>
                        <m:r>
                          <a:rPr kumimoji="1" lang="ja-JP" altLang="en-US" sz="2800" i="1" smtClean="0">
                            <a:latin typeface="Cambria Math" panose="02040503050406030204" pitchFamily="18" charset="0"/>
                          </a:rPr>
                          <m:t>𝜉</m:t>
                        </m:r>
                      </m:e>
                      <m:sub>
                        <m:r>
                          <a:rPr kumimoji="1" lang="en-US" altLang="ja-JP" sz="2800" b="0" i="1" smtClean="0">
                            <a:latin typeface="Cambria Math" panose="02040503050406030204" pitchFamily="18" charset="0"/>
                          </a:rPr>
                          <m:t>𝑖𝑗</m:t>
                        </m:r>
                        <m:r>
                          <a:rPr kumimoji="1" lang="en-US" altLang="ja-JP" sz="2800" b="0" i="1" smtClean="0">
                            <a:latin typeface="Cambria Math" panose="02040503050406030204" pitchFamily="18" charset="0"/>
                          </a:rPr>
                          <m:t>,</m:t>
                        </m:r>
                        <m:r>
                          <a:rPr kumimoji="1" lang="en-US" altLang="ja-JP" sz="2800" b="0" i="1" smtClean="0">
                            <a:latin typeface="Cambria Math" panose="02040503050406030204" pitchFamily="18" charset="0"/>
                          </a:rPr>
                          <m:t>𝑘𝑙𝑠𝑡</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r>
                      <a:rPr kumimoji="1" lang="en-US" altLang="ja-JP" sz="2800" b="0" i="1" smtClean="0">
                        <a:latin typeface="Cambria Math" panose="02040503050406030204" pitchFamily="18" charset="0"/>
                      </a:rPr>
                      <m:t>=(</m:t>
                    </m:r>
                    <m:sSubSup>
                      <m:sSubSupPr>
                        <m:ctrlPr>
                          <a:rPr lang="en-US" altLang="ja-JP" sz="2800" i="1">
                            <a:latin typeface="Cambria Math" panose="02040503050406030204" pitchFamily="18" charset="0"/>
                          </a:rPr>
                        </m:ctrlPr>
                      </m:sSubSupPr>
                      <m:e>
                        <m:r>
                          <a:rPr lang="ja-JP" altLang="en-US" sz="2800" i="1">
                            <a:latin typeface="Cambria Math" panose="02040503050406030204" pitchFamily="18" charset="0"/>
                          </a:rPr>
                          <m:t>𝛿</m:t>
                        </m:r>
                      </m:e>
                      <m:sub>
                        <m:r>
                          <a:rPr lang="en-US" altLang="ja-JP" sz="2800" i="1">
                            <a:latin typeface="Cambria Math" panose="02040503050406030204" pitchFamily="18" charset="0"/>
                          </a:rPr>
                          <m:t>𝑖𝑗</m:t>
                        </m:r>
                        <m:r>
                          <a:rPr lang="en-US" altLang="ja-JP" sz="2800" i="1">
                            <a:latin typeface="Cambria Math" panose="02040503050406030204" pitchFamily="18" charset="0"/>
                          </a:rPr>
                          <m:t>,</m:t>
                        </m:r>
                        <m:r>
                          <a:rPr lang="en-US" altLang="ja-JP" sz="2800" i="1">
                            <a:latin typeface="Cambria Math" panose="02040503050406030204" pitchFamily="18" charset="0"/>
                          </a:rPr>
                          <m:t>𝑘𝑙</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r>
                      <a:rPr lang="en-US" altLang="ja-JP" sz="2800" b="0" i="1" smtClean="0">
                        <a:latin typeface="Cambria Math" panose="02040503050406030204" pitchFamily="18" charset="0"/>
                      </a:rPr>
                      <m:t>+</m:t>
                    </m:r>
                    <m:sSubSup>
                      <m:sSubSupPr>
                        <m:ctrlPr>
                          <a:rPr lang="en-US" altLang="ja-JP" sz="2800" i="1">
                            <a:latin typeface="Cambria Math" panose="02040503050406030204" pitchFamily="18" charset="0"/>
                          </a:rPr>
                        </m:ctrlPr>
                      </m:sSubSupPr>
                      <m:e>
                        <m:r>
                          <a:rPr lang="ja-JP" altLang="en-US" sz="2800" i="1">
                            <a:latin typeface="Cambria Math" panose="02040503050406030204" pitchFamily="18" charset="0"/>
                          </a:rPr>
                          <m:t>𝛿</m:t>
                        </m:r>
                      </m:e>
                      <m:sub>
                        <m:r>
                          <a:rPr lang="en-US" altLang="ja-JP" sz="2800" i="1">
                            <a:latin typeface="Cambria Math" panose="02040503050406030204" pitchFamily="18" charset="0"/>
                          </a:rPr>
                          <m:t>𝑖𝑗</m:t>
                        </m:r>
                        <m:r>
                          <a:rPr lang="en-US" altLang="ja-JP" sz="2800" i="1">
                            <a:latin typeface="Cambria Math" panose="02040503050406030204" pitchFamily="18" charset="0"/>
                          </a:rPr>
                          <m:t>,</m:t>
                        </m:r>
                        <m:r>
                          <a:rPr lang="en-US" altLang="ja-JP" sz="2800" b="0" i="1" smtClean="0">
                            <a:latin typeface="Cambria Math" panose="02040503050406030204" pitchFamily="18" charset="0"/>
                          </a:rPr>
                          <m:t>𝑠𝑡</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r>
                      <a:rPr lang="en-US" altLang="ja-JP" sz="2800" b="0" i="1" smtClean="0">
                        <a:latin typeface="Cambria Math" panose="02040503050406030204" pitchFamily="18" charset="0"/>
                      </a:rPr>
                      <m:t>−</m:t>
                    </m:r>
                    <m:sSubSup>
                      <m:sSubSupPr>
                        <m:ctrlPr>
                          <a:rPr lang="en-US" altLang="ja-JP" sz="2800" i="1">
                            <a:latin typeface="Cambria Math" panose="02040503050406030204" pitchFamily="18" charset="0"/>
                          </a:rPr>
                        </m:ctrlPr>
                      </m:sSubSupPr>
                      <m:e>
                        <m:r>
                          <a:rPr lang="ja-JP" altLang="en-US" sz="2800" i="1">
                            <a:latin typeface="Cambria Math" panose="02040503050406030204" pitchFamily="18" charset="0"/>
                          </a:rPr>
                          <m:t>𝛿</m:t>
                        </m:r>
                      </m:e>
                      <m:sub>
                        <m:r>
                          <a:rPr lang="en-US" altLang="ja-JP" sz="2800" i="1">
                            <a:latin typeface="Cambria Math" panose="02040503050406030204" pitchFamily="18" charset="0"/>
                          </a:rPr>
                          <m:t>𝑖𝑗</m:t>
                        </m:r>
                        <m:r>
                          <a:rPr lang="en-US" altLang="ja-JP" sz="2800" i="1">
                            <a:latin typeface="Cambria Math" panose="02040503050406030204" pitchFamily="18" charset="0"/>
                          </a:rPr>
                          <m:t>,</m:t>
                        </m:r>
                        <m:r>
                          <a:rPr lang="en-US" altLang="ja-JP" sz="2800" i="1">
                            <a:latin typeface="Cambria Math" panose="02040503050406030204" pitchFamily="18" charset="0"/>
                          </a:rPr>
                          <m:t>𝑘𝑠</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r>
                      <a:rPr lang="en-US" altLang="ja-JP" sz="2800" b="0" i="1" smtClean="0">
                        <a:latin typeface="Cambria Math" panose="02040503050406030204" pitchFamily="18" charset="0"/>
                      </a:rPr>
                      <m:t>−</m:t>
                    </m:r>
                    <m:sSubSup>
                      <m:sSubSupPr>
                        <m:ctrlPr>
                          <a:rPr lang="en-US" altLang="ja-JP" sz="2800" i="1">
                            <a:latin typeface="Cambria Math" panose="02040503050406030204" pitchFamily="18" charset="0"/>
                          </a:rPr>
                        </m:ctrlPr>
                      </m:sSubSupPr>
                      <m:e>
                        <m:r>
                          <a:rPr lang="ja-JP" altLang="en-US" sz="2800" i="1">
                            <a:latin typeface="Cambria Math" panose="02040503050406030204" pitchFamily="18" charset="0"/>
                          </a:rPr>
                          <m:t>𝛿</m:t>
                        </m:r>
                      </m:e>
                      <m:sub>
                        <m:r>
                          <a:rPr lang="en-US" altLang="ja-JP" sz="2800" i="1">
                            <a:latin typeface="Cambria Math" panose="02040503050406030204" pitchFamily="18" charset="0"/>
                          </a:rPr>
                          <m:t>𝑖𝑗</m:t>
                        </m:r>
                        <m:r>
                          <a:rPr lang="en-US" altLang="ja-JP" sz="2800" i="1">
                            <a:latin typeface="Cambria Math" panose="02040503050406030204" pitchFamily="18" charset="0"/>
                          </a:rPr>
                          <m:t>,</m:t>
                        </m:r>
                        <m:r>
                          <a:rPr lang="en-US" altLang="ja-JP" sz="2800" i="1">
                            <a:latin typeface="Cambria Math" panose="02040503050406030204" pitchFamily="18" charset="0"/>
                          </a:rPr>
                          <m:t>𝑙𝑡</m:t>
                        </m:r>
                      </m:sub>
                      <m:sup>
                        <m:sSub>
                          <m:sSubPr>
                            <m:ctrlPr>
                              <a:rPr lang="en-US" altLang="ja-JP" sz="2800" i="1" smtClean="0">
                                <a:latin typeface="Cambria Math" panose="02040503050406030204" pitchFamily="18" charset="0"/>
                              </a:rPr>
                            </m:ctrlPr>
                          </m:sSubPr>
                          <m:e>
                            <m:r>
                              <a:rPr lang="en-US" altLang="ja-JP" sz="2800" b="1" i="1" smtClean="0">
                                <a:latin typeface="Cambria Math" panose="02040503050406030204" pitchFamily="18" charset="0"/>
                              </a:rPr>
                              <m:t>𝑪</m:t>
                            </m:r>
                          </m:e>
                          <m:sub>
                            <m:r>
                              <a:rPr lang="en-US" altLang="ja-JP" sz="2800" b="0" i="1" smtClean="0">
                                <a:latin typeface="Cambria Math" panose="02040503050406030204" pitchFamily="18" charset="0"/>
                                <a:ea typeface="Cambria Math" panose="02040503050406030204" pitchFamily="18" charset="0"/>
                              </a:rPr>
                              <m:t>𝛼</m:t>
                            </m:r>
                          </m:sub>
                        </m:sSub>
                      </m:sup>
                    </m:sSubSup>
                    <m:r>
                      <a:rPr kumimoji="1" lang="en-US" altLang="ja-JP" sz="2800" b="0" i="1" smtClean="0">
                        <a:latin typeface="Cambria Math" panose="02040503050406030204" pitchFamily="18" charset="0"/>
                      </a:rPr>
                      <m:t>)/2</m:t>
                    </m:r>
                  </m:oMath>
                </a14:m>
                <a:r>
                  <a:rPr kumimoji="1" lang="en-US" altLang="ja-JP" sz="2800" b="0" dirty="0"/>
                  <a:t> </a:t>
                </a:r>
              </a:p>
              <a:p>
                <a14:m>
                  <m:oMath xmlns:m="http://schemas.openxmlformats.org/officeDocument/2006/math">
                    <m:sSubSup>
                      <m:sSubSupPr>
                        <m:ctrlPr>
                          <a:rPr kumimoji="1" lang="en-US" altLang="ja-JP" sz="2800" i="1" smtClean="0">
                            <a:latin typeface="Cambria Math" panose="02040503050406030204" pitchFamily="18" charset="0"/>
                          </a:rPr>
                        </m:ctrlPr>
                      </m:sSubSupPr>
                      <m:e>
                        <m:sSubSup>
                          <m:sSubSupPr>
                            <m:ctrlPr>
                              <a:rPr lang="en-US" altLang="ja-JP" sz="2800" i="1">
                                <a:latin typeface="Cambria Math" panose="02040503050406030204" pitchFamily="18" charset="0"/>
                              </a:rPr>
                            </m:ctrlPr>
                          </m:sSubSupPr>
                          <m:e>
                            <m:r>
                              <a:rPr lang="ja-JP" altLang="en-US" sz="2800" i="1">
                                <a:latin typeface="Cambria Math" panose="02040503050406030204" pitchFamily="18" charset="0"/>
                              </a:rPr>
                              <m:t>𝛿</m:t>
                            </m:r>
                          </m:e>
                          <m:sub>
                            <m:r>
                              <a:rPr lang="en-US" altLang="ja-JP" sz="2800" i="1">
                                <a:latin typeface="Cambria Math" panose="02040503050406030204" pitchFamily="18" charset="0"/>
                              </a:rPr>
                              <m:t>𝑖𝑗</m:t>
                            </m:r>
                            <m:r>
                              <a:rPr lang="en-US" altLang="ja-JP" sz="2800" i="1">
                                <a:latin typeface="Cambria Math" panose="02040503050406030204" pitchFamily="18" charset="0"/>
                              </a:rPr>
                              <m:t>,</m:t>
                            </m:r>
                            <m:r>
                              <a:rPr lang="en-US" altLang="ja-JP" sz="2800" i="1">
                                <a:latin typeface="Cambria Math" panose="02040503050406030204" pitchFamily="18" charset="0"/>
                              </a:rPr>
                              <m:t>𝑘</m:t>
                            </m:r>
                          </m:sub>
                          <m:sup>
                            <m:r>
                              <a:rPr lang="en-US" altLang="ja-JP" sz="2800" b="1" i="1" smtClean="0">
                                <a:latin typeface="Cambria Math" panose="02040503050406030204" pitchFamily="18" charset="0"/>
                              </a:rPr>
                              <m:t>𝒀</m:t>
                            </m:r>
                          </m:sup>
                        </m:sSubSup>
                        <m:r>
                          <a:rPr kumimoji="1" lang="en-US" altLang="ja-JP" sz="2800" b="0" i="1" smtClean="0">
                            <a:latin typeface="Cambria Math" panose="02040503050406030204" pitchFamily="18" charset="0"/>
                          </a:rPr>
                          <m:t>,</m:t>
                        </m:r>
                        <m:r>
                          <a:rPr kumimoji="1" lang="ja-JP" altLang="en-US" sz="2800" i="1" smtClean="0">
                            <a:latin typeface="Cambria Math" panose="02040503050406030204" pitchFamily="18" charset="0"/>
                          </a:rPr>
                          <m:t>𝛿</m:t>
                        </m:r>
                      </m:e>
                      <m:sub>
                        <m:r>
                          <a:rPr kumimoji="1" lang="en-US" altLang="ja-JP" sz="2800" b="0" i="1" smtClean="0">
                            <a:latin typeface="Cambria Math" panose="02040503050406030204" pitchFamily="18" charset="0"/>
                          </a:rPr>
                          <m:t>𝑖𝑗</m:t>
                        </m:r>
                        <m:r>
                          <a:rPr kumimoji="1" lang="en-US" altLang="ja-JP" sz="2800" b="0" i="1" smtClean="0">
                            <a:latin typeface="Cambria Math" panose="02040503050406030204" pitchFamily="18" charset="0"/>
                          </a:rPr>
                          <m:t>,</m:t>
                        </m:r>
                        <m:r>
                          <a:rPr kumimoji="1" lang="en-US" altLang="ja-JP" sz="2800" b="0" i="1" smtClean="0">
                            <a:latin typeface="Cambria Math" panose="02040503050406030204" pitchFamily="18" charset="0"/>
                          </a:rPr>
                          <m:t>𝑘𝑙</m:t>
                        </m:r>
                      </m:sub>
                      <m:sup>
                        <m:r>
                          <a:rPr kumimoji="1" lang="en-US" altLang="ja-JP" sz="2800" b="1" i="1" smtClean="0">
                            <a:latin typeface="Cambria Math" panose="02040503050406030204" pitchFamily="18" charset="0"/>
                          </a:rPr>
                          <m:t>𝒀</m:t>
                        </m:r>
                      </m:sup>
                    </m:sSubSup>
                    <m:r>
                      <a:rPr kumimoji="1" lang="en-US" altLang="ja-JP" sz="2800" b="0" i="1" smtClean="0">
                        <a:latin typeface="Cambria Math" panose="02040503050406030204" pitchFamily="18" charset="0"/>
                      </a:rPr>
                      <m:t>,</m:t>
                    </m:r>
                    <m:sSubSup>
                      <m:sSubSupPr>
                        <m:ctrlPr>
                          <a:rPr lang="en-US" altLang="ja-JP" sz="2800" i="1">
                            <a:latin typeface="Cambria Math" panose="02040503050406030204" pitchFamily="18" charset="0"/>
                          </a:rPr>
                        </m:ctrlPr>
                      </m:sSubSupPr>
                      <m:e>
                        <m:r>
                          <a:rPr lang="ja-JP" altLang="en-US" sz="2800" i="1">
                            <a:latin typeface="Cambria Math" panose="02040503050406030204" pitchFamily="18" charset="0"/>
                          </a:rPr>
                          <m:t>𝜉</m:t>
                        </m:r>
                      </m:e>
                      <m:sub>
                        <m:r>
                          <a:rPr lang="en-US" altLang="ja-JP" sz="2800" i="1">
                            <a:latin typeface="Cambria Math" panose="02040503050406030204" pitchFamily="18" charset="0"/>
                          </a:rPr>
                          <m:t>𝑖𝑗</m:t>
                        </m:r>
                        <m:r>
                          <a:rPr lang="en-US" altLang="ja-JP" sz="2800" i="1">
                            <a:latin typeface="Cambria Math" panose="02040503050406030204" pitchFamily="18" charset="0"/>
                          </a:rPr>
                          <m:t>,</m:t>
                        </m:r>
                        <m:r>
                          <a:rPr lang="en-US" altLang="ja-JP" sz="2800" i="1">
                            <a:latin typeface="Cambria Math" panose="02040503050406030204" pitchFamily="18" charset="0"/>
                          </a:rPr>
                          <m:t>𝑘𝑙𝑠𝑡</m:t>
                        </m:r>
                      </m:sub>
                      <m:sup>
                        <m:r>
                          <a:rPr lang="en-US" altLang="ja-JP" sz="2800" b="1" i="1" smtClean="0">
                            <a:latin typeface="Cambria Math" panose="02040503050406030204" pitchFamily="18" charset="0"/>
                          </a:rPr>
                          <m:t>𝒀</m:t>
                        </m:r>
                      </m:sup>
                    </m:sSubSup>
                  </m:oMath>
                </a14:m>
                <a:r>
                  <a:rPr kumimoji="1" lang="ja-JP" altLang="en-US" sz="2800" b="0"/>
                  <a:t>も同様に定義</a:t>
                </a:r>
                <a:endParaRPr kumimoji="1" lang="en-US" altLang="ja-JP" sz="2800" b="0" dirty="0"/>
              </a:p>
            </p:txBody>
          </p:sp>
        </mc:Choice>
        <mc:Fallback xmlns="">
          <p:sp>
            <p:nvSpPr>
              <p:cNvPr id="6" name="テキスト ボックス 5">
                <a:extLst>
                  <a:ext uri="{FF2B5EF4-FFF2-40B4-BE49-F238E27FC236}">
                    <a16:creationId xmlns:a16="http://schemas.microsoft.com/office/drawing/2014/main" id="{B456D203-6630-EE7D-6419-26FB3F711E7B}"/>
                  </a:ext>
                </a:extLst>
              </p:cNvPr>
              <p:cNvSpPr txBox="1">
                <a:spLocks noRot="1" noChangeAspect="1" noMove="1" noResize="1" noEditPoints="1" noAdjustHandles="1" noChangeArrowheads="1" noChangeShapeType="1" noTextEdit="1"/>
              </p:cNvSpPr>
              <p:nvPr/>
            </p:nvSpPr>
            <p:spPr>
              <a:xfrm>
                <a:off x="2948807" y="3564175"/>
                <a:ext cx="6736652" cy="2792175"/>
              </a:xfrm>
              <a:prstGeom prst="rect">
                <a:avLst/>
              </a:prstGeom>
              <a:blipFill>
                <a:blip r:embed="rId5"/>
                <a:stretch>
                  <a:fillRect l="-1130" b="-4072"/>
                </a:stretch>
              </a:blipFill>
            </p:spPr>
            <p:txBody>
              <a:bodyPr/>
              <a:lstStyle/>
              <a:p>
                <a:r>
                  <a:rPr lang="ja-JP" altLang="en-US">
                    <a:noFill/>
                  </a:rPr>
                  <a:t> </a:t>
                </a:r>
              </a:p>
            </p:txBody>
          </p:sp>
        </mc:Fallback>
      </mc:AlternateContent>
      <p:sp>
        <p:nvSpPr>
          <p:cNvPr id="7" name="大かっこ 6">
            <a:extLst>
              <a:ext uri="{FF2B5EF4-FFF2-40B4-BE49-F238E27FC236}">
                <a16:creationId xmlns:a16="http://schemas.microsoft.com/office/drawing/2014/main" id="{136F7F35-13B1-8B6B-561A-A4E7061C9469}"/>
              </a:ext>
            </a:extLst>
          </p:cNvPr>
          <p:cNvSpPr/>
          <p:nvPr/>
        </p:nvSpPr>
        <p:spPr>
          <a:xfrm>
            <a:off x="2193370" y="3507822"/>
            <a:ext cx="7492089" cy="2975211"/>
          </a:xfrm>
          <a:prstGeom prst="bracketPair">
            <a:avLst/>
          </a:prstGeom>
          <a:ln w="38100"/>
        </p:spPr>
        <p:style>
          <a:lnRef idx="1">
            <a:schemeClr val="dk1"/>
          </a:lnRef>
          <a:fillRef idx="0">
            <a:schemeClr val="dk1"/>
          </a:fillRef>
          <a:effectRef idx="0">
            <a:schemeClr val="dk1"/>
          </a:effectRef>
          <a:fontRef idx="minor">
            <a:schemeClr val="tx1"/>
          </a:fontRef>
        </p:style>
        <p:txBody>
          <a:bodyPr rtlCol="0" anchor="ctr"/>
          <a:lstStyle/>
          <a:p>
            <a:pPr algn="ctr"/>
            <a:endParaRPr kumimoji="1" lang="ja-JP" altLang="en-US">
              <a:latin typeface="+mn-ea"/>
              <a:cs typeface="Arial" panose="020B0604020202020204" pitchFamily="34" charset="0"/>
            </a:endParaRPr>
          </a:p>
        </p:txBody>
      </p:sp>
      <p:sp>
        <p:nvSpPr>
          <p:cNvPr id="2" name="スライド番号プレースホルダー 1">
            <a:extLst>
              <a:ext uri="{FF2B5EF4-FFF2-40B4-BE49-F238E27FC236}">
                <a16:creationId xmlns:a16="http://schemas.microsoft.com/office/drawing/2014/main" id="{D7709E93-FE2E-0D9A-C2BB-EE519FA5A937}"/>
              </a:ext>
            </a:extLst>
          </p:cNvPr>
          <p:cNvSpPr>
            <a:spLocks noGrp="1"/>
          </p:cNvSpPr>
          <p:nvPr>
            <p:ph type="sldNum" sz="quarter" idx="12"/>
          </p:nvPr>
        </p:nvSpPr>
        <p:spPr/>
        <p:txBody>
          <a:bodyPr/>
          <a:lstStyle/>
          <a:p>
            <a:fld id="{21218AEF-8260-6F42-89D9-6D82E053F226}" type="slidenum">
              <a:rPr kumimoji="1" lang="ja-JP" altLang="en-US" smtClean="0"/>
              <a:t>38</a:t>
            </a:fld>
            <a:endParaRPr kumimoji="1" lang="ja-JP" altLang="en-US"/>
          </a:p>
        </p:txBody>
      </p:sp>
    </p:spTree>
    <p:extLst>
      <p:ext uri="{BB962C8B-B14F-4D97-AF65-F5344CB8AC3E}">
        <p14:creationId xmlns:p14="http://schemas.microsoft.com/office/powerpoint/2010/main" val="1441078087"/>
      </p:ext>
    </p:extLst>
  </p:cSld>
  <p:clrMapOvr>
    <a:masterClrMapping/>
  </p:clrMapOvr>
  <mc:AlternateContent xmlns:mc="http://schemas.openxmlformats.org/markup-compatibility/2006">
    <mc:Choice xmlns:p14="http://schemas.microsoft.com/office/powerpoint/2010/main" Requires="p14">
      <p:transition spd="slow" p14:dur="2000" advTm="32227"/>
    </mc:Choice>
    <mc:Fallback>
      <p:transition spd="slow" advTm="32227"/>
    </mc:Fallback>
  </mc:AlternateContent>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DA43095-70ED-846B-8B7B-91456BDD5B3C}"/>
              </a:ext>
            </a:extLst>
          </p:cNvPr>
          <p:cNvSpPr>
            <a:spLocks noGrp="1"/>
          </p:cNvSpPr>
          <p:nvPr>
            <p:ph type="title"/>
          </p:nvPr>
        </p:nvSpPr>
        <p:spPr/>
        <p:txBody>
          <a:bodyPr/>
          <a:lstStyle/>
          <a:p>
            <a:r>
              <a:rPr kumimoji="1" lang="ja-JP" altLang="en-US"/>
              <a:t>目次</a:t>
            </a:r>
          </a:p>
        </p:txBody>
      </p:sp>
      <p:sp>
        <p:nvSpPr>
          <p:cNvPr id="3" name="コンテンツ プレースホルダー 2">
            <a:extLst>
              <a:ext uri="{FF2B5EF4-FFF2-40B4-BE49-F238E27FC236}">
                <a16:creationId xmlns:a16="http://schemas.microsoft.com/office/drawing/2014/main" id="{4D236575-BD0C-D65E-60D8-C2092661C56A}"/>
              </a:ext>
            </a:extLst>
          </p:cNvPr>
          <p:cNvSpPr>
            <a:spLocks noGrp="1"/>
          </p:cNvSpPr>
          <p:nvPr>
            <p:ph idx="1"/>
          </p:nvPr>
        </p:nvSpPr>
        <p:spPr/>
        <p:txBody>
          <a:bodyPr/>
          <a:lstStyle/>
          <a:p>
            <a:r>
              <a:rPr lang="ja-JP" altLang="en-US"/>
              <a:t>はじめ</a:t>
            </a:r>
            <a:r>
              <a:rPr kumimoji="1" lang="ja-JP" altLang="en-US"/>
              <a:t>に</a:t>
            </a:r>
            <a:endParaRPr kumimoji="1" lang="en-US" altLang="ja-JP" dirty="0"/>
          </a:p>
          <a:p>
            <a:r>
              <a:rPr lang="ja-JP" altLang="en-US"/>
              <a:t>準備</a:t>
            </a:r>
            <a:endParaRPr lang="en-US" altLang="ja-JP" dirty="0"/>
          </a:p>
          <a:p>
            <a:pPr lvl="1"/>
            <a:r>
              <a:rPr kumimoji="1" lang="en-US" altLang="ja-JP" sz="2400" dirty="0"/>
              <a:t>Group Lasso and Doubly Robust Estimation (</a:t>
            </a:r>
            <a:r>
              <a:rPr kumimoji="1" lang="en-US" altLang="ja-JP" dirty="0" err="1"/>
              <a:t>GLiDeR</a:t>
            </a:r>
            <a:r>
              <a:rPr kumimoji="1" lang="en-US" altLang="ja-JP" dirty="0"/>
              <a:t>)</a:t>
            </a:r>
          </a:p>
          <a:p>
            <a:pPr lvl="1"/>
            <a:r>
              <a:rPr kumimoji="1" lang="ja-JP" altLang="en-US"/>
              <a:t>球共分散</a:t>
            </a:r>
            <a:endParaRPr kumimoji="1" lang="en-US" altLang="ja-JP" dirty="0"/>
          </a:p>
          <a:p>
            <a:r>
              <a:rPr lang="ja-JP" altLang="en-US"/>
              <a:t>提案手法</a:t>
            </a:r>
            <a:endParaRPr lang="en-US" altLang="ja-JP" dirty="0"/>
          </a:p>
          <a:p>
            <a:r>
              <a:rPr lang="ja-JP" altLang="en-US"/>
              <a:t>数値実験</a:t>
            </a:r>
            <a:endParaRPr lang="en-US" altLang="ja-JP" dirty="0"/>
          </a:p>
          <a:p>
            <a:r>
              <a:rPr kumimoji="1" lang="ja-JP" altLang="en-US"/>
              <a:t>まとめと今後の課題</a:t>
            </a:r>
          </a:p>
        </p:txBody>
      </p:sp>
      <p:sp>
        <p:nvSpPr>
          <p:cNvPr id="4" name="スライド番号プレースホルダー 3">
            <a:extLst>
              <a:ext uri="{FF2B5EF4-FFF2-40B4-BE49-F238E27FC236}">
                <a16:creationId xmlns:a16="http://schemas.microsoft.com/office/drawing/2014/main" id="{0E6DF696-D791-833F-F19C-B310E06C1A6D}"/>
              </a:ext>
            </a:extLst>
          </p:cNvPr>
          <p:cNvSpPr>
            <a:spLocks noGrp="1"/>
          </p:cNvSpPr>
          <p:nvPr>
            <p:ph type="sldNum" sz="quarter" idx="12"/>
          </p:nvPr>
        </p:nvSpPr>
        <p:spPr/>
        <p:txBody>
          <a:bodyPr/>
          <a:lstStyle/>
          <a:p>
            <a:fld id="{21218AEF-8260-6F42-89D9-6D82E053F226}" type="slidenum">
              <a:rPr kumimoji="1" lang="ja-JP" altLang="en-US" smtClean="0"/>
              <a:t>39</a:t>
            </a:fld>
            <a:endParaRPr kumimoji="1" lang="ja-JP" altLang="en-US"/>
          </a:p>
        </p:txBody>
      </p:sp>
    </p:spTree>
    <p:extLst>
      <p:ext uri="{BB962C8B-B14F-4D97-AF65-F5344CB8AC3E}">
        <p14:creationId xmlns:p14="http://schemas.microsoft.com/office/powerpoint/2010/main" val="3153043850"/>
      </p:ext>
    </p:extLst>
  </p:cSld>
  <p:clrMapOvr>
    <a:masterClrMapping/>
  </p:clrMapOvr>
  <mc:AlternateContent xmlns:mc="http://schemas.openxmlformats.org/markup-compatibility/2006">
    <mc:Choice xmlns:p14="http://schemas.microsoft.com/office/powerpoint/2010/main" Requires="p14">
      <p:transition spd="slow" p14:dur="2000" advTm="1400"/>
    </mc:Choice>
    <mc:Fallback>
      <p:transition spd="slow" advTm="1400"/>
    </mc:Fallback>
  </mc:AlternateContent>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DA43095-70ED-846B-8B7B-91456BDD5B3C}"/>
              </a:ext>
            </a:extLst>
          </p:cNvPr>
          <p:cNvSpPr>
            <a:spLocks noGrp="1"/>
          </p:cNvSpPr>
          <p:nvPr>
            <p:ph type="title"/>
          </p:nvPr>
        </p:nvSpPr>
        <p:spPr/>
        <p:txBody>
          <a:bodyPr/>
          <a:lstStyle/>
          <a:p>
            <a:r>
              <a:rPr kumimoji="1" lang="ja-JP" altLang="en-US"/>
              <a:t>目次</a:t>
            </a:r>
          </a:p>
        </p:txBody>
      </p:sp>
      <p:sp>
        <p:nvSpPr>
          <p:cNvPr id="3" name="コンテンツ プレースホルダー 2">
            <a:extLst>
              <a:ext uri="{FF2B5EF4-FFF2-40B4-BE49-F238E27FC236}">
                <a16:creationId xmlns:a16="http://schemas.microsoft.com/office/drawing/2014/main" id="{4D236575-BD0C-D65E-60D8-C2092661C56A}"/>
              </a:ext>
            </a:extLst>
          </p:cNvPr>
          <p:cNvSpPr>
            <a:spLocks noGrp="1"/>
          </p:cNvSpPr>
          <p:nvPr>
            <p:ph idx="1"/>
          </p:nvPr>
        </p:nvSpPr>
        <p:spPr/>
        <p:txBody>
          <a:bodyPr/>
          <a:lstStyle/>
          <a:p>
            <a:r>
              <a:rPr lang="ja-JP" altLang="en-US">
                <a:solidFill>
                  <a:schemeClr val="bg1">
                    <a:lumMod val="75000"/>
                  </a:schemeClr>
                </a:solidFill>
              </a:rPr>
              <a:t>はじめ</a:t>
            </a:r>
            <a:r>
              <a:rPr kumimoji="1" lang="ja-JP" altLang="en-US">
                <a:solidFill>
                  <a:schemeClr val="bg1">
                    <a:lumMod val="75000"/>
                  </a:schemeClr>
                </a:solidFill>
              </a:rPr>
              <a:t>に</a:t>
            </a:r>
            <a:endParaRPr kumimoji="1" lang="en-US" altLang="ja-JP" dirty="0">
              <a:solidFill>
                <a:schemeClr val="bg1">
                  <a:lumMod val="75000"/>
                </a:schemeClr>
              </a:solidFill>
            </a:endParaRPr>
          </a:p>
          <a:p>
            <a:r>
              <a:rPr lang="ja-JP" altLang="en-US"/>
              <a:t>準備</a:t>
            </a:r>
            <a:endParaRPr lang="en-US" altLang="ja-JP" dirty="0"/>
          </a:p>
          <a:p>
            <a:pPr lvl="1"/>
            <a:r>
              <a:rPr kumimoji="1" lang="en-US" altLang="ja-JP" sz="2400" dirty="0"/>
              <a:t>Group Lasso and Doubly Robust Estimation (</a:t>
            </a:r>
            <a:r>
              <a:rPr kumimoji="1" lang="en-US" altLang="ja-JP" dirty="0" err="1"/>
              <a:t>GLiDeR</a:t>
            </a:r>
            <a:r>
              <a:rPr kumimoji="1" lang="en-US" altLang="ja-JP" dirty="0"/>
              <a:t>)</a:t>
            </a:r>
          </a:p>
          <a:p>
            <a:pPr lvl="1"/>
            <a:r>
              <a:rPr kumimoji="1" lang="ja-JP" altLang="en-US">
                <a:solidFill>
                  <a:schemeClr val="bg1">
                    <a:lumMod val="75000"/>
                  </a:schemeClr>
                </a:solidFill>
              </a:rPr>
              <a:t>球共分散</a:t>
            </a:r>
            <a:endParaRPr kumimoji="1" lang="en-US" altLang="ja-JP" dirty="0">
              <a:solidFill>
                <a:schemeClr val="bg1">
                  <a:lumMod val="75000"/>
                </a:schemeClr>
              </a:solidFill>
            </a:endParaRPr>
          </a:p>
          <a:p>
            <a:r>
              <a:rPr lang="ja-JP" altLang="en-US">
                <a:solidFill>
                  <a:schemeClr val="bg1">
                    <a:lumMod val="75000"/>
                  </a:schemeClr>
                </a:solidFill>
              </a:rPr>
              <a:t>提案手法</a:t>
            </a:r>
            <a:endParaRPr lang="en-US" altLang="ja-JP" dirty="0">
              <a:solidFill>
                <a:schemeClr val="bg1">
                  <a:lumMod val="75000"/>
                </a:schemeClr>
              </a:solidFill>
            </a:endParaRPr>
          </a:p>
          <a:p>
            <a:r>
              <a:rPr lang="ja-JP" altLang="en-US">
                <a:solidFill>
                  <a:schemeClr val="bg1">
                    <a:lumMod val="75000"/>
                  </a:schemeClr>
                </a:solidFill>
              </a:rPr>
              <a:t>数値実験</a:t>
            </a:r>
            <a:endParaRPr lang="en-US" altLang="ja-JP" dirty="0">
              <a:solidFill>
                <a:schemeClr val="bg1">
                  <a:lumMod val="75000"/>
                </a:schemeClr>
              </a:solidFill>
            </a:endParaRPr>
          </a:p>
          <a:p>
            <a:r>
              <a:rPr kumimoji="1" lang="ja-JP" altLang="en-US">
                <a:solidFill>
                  <a:schemeClr val="bg1">
                    <a:lumMod val="75000"/>
                  </a:schemeClr>
                </a:solidFill>
              </a:rPr>
              <a:t>まとめと今後の課題</a:t>
            </a:r>
          </a:p>
        </p:txBody>
      </p:sp>
      <p:sp>
        <p:nvSpPr>
          <p:cNvPr id="4" name="スライド番号プレースホルダー 3">
            <a:extLst>
              <a:ext uri="{FF2B5EF4-FFF2-40B4-BE49-F238E27FC236}">
                <a16:creationId xmlns:a16="http://schemas.microsoft.com/office/drawing/2014/main" id="{87930B18-4300-9AAB-1099-4C250D0AB39D}"/>
              </a:ext>
            </a:extLst>
          </p:cNvPr>
          <p:cNvSpPr>
            <a:spLocks noGrp="1"/>
          </p:cNvSpPr>
          <p:nvPr>
            <p:ph type="sldNum" sz="quarter" idx="12"/>
          </p:nvPr>
        </p:nvSpPr>
        <p:spPr/>
        <p:txBody>
          <a:bodyPr/>
          <a:lstStyle/>
          <a:p>
            <a:fld id="{21218AEF-8260-6F42-89D9-6D82E053F226}" type="slidenum">
              <a:rPr kumimoji="1" lang="ja-JP" altLang="en-US" smtClean="0"/>
              <a:t>40</a:t>
            </a:fld>
            <a:endParaRPr kumimoji="1" lang="ja-JP" altLang="en-US"/>
          </a:p>
        </p:txBody>
      </p:sp>
    </p:spTree>
    <p:extLst>
      <p:ext uri="{BB962C8B-B14F-4D97-AF65-F5344CB8AC3E}">
        <p14:creationId xmlns:p14="http://schemas.microsoft.com/office/powerpoint/2010/main" val="925732565"/>
      </p:ext>
    </p:extLst>
  </p:cSld>
  <p:clrMapOvr>
    <a:masterClrMapping/>
  </p:clrMapOvr>
  <mc:AlternateContent xmlns:mc="http://schemas.openxmlformats.org/markup-compatibility/2006">
    <mc:Choice xmlns:p14="http://schemas.microsoft.com/office/powerpoint/2010/main" Requires="p14">
      <p:transition spd="slow" p14:dur="2000" advTm="1364"/>
    </mc:Choice>
    <mc:Fallback>
      <p:transition spd="slow" advTm="1364"/>
    </mc:Fallback>
  </mc:AlternateContent>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DA43095-70ED-846B-8B7B-91456BDD5B3C}"/>
              </a:ext>
            </a:extLst>
          </p:cNvPr>
          <p:cNvSpPr>
            <a:spLocks noGrp="1"/>
          </p:cNvSpPr>
          <p:nvPr>
            <p:ph type="title"/>
          </p:nvPr>
        </p:nvSpPr>
        <p:spPr/>
        <p:txBody>
          <a:bodyPr/>
          <a:lstStyle/>
          <a:p>
            <a:r>
              <a:rPr kumimoji="1" lang="ja-JP" altLang="en-US"/>
              <a:t>目次</a:t>
            </a:r>
          </a:p>
        </p:txBody>
      </p:sp>
      <p:sp>
        <p:nvSpPr>
          <p:cNvPr id="3" name="コンテンツ プレースホルダー 2">
            <a:extLst>
              <a:ext uri="{FF2B5EF4-FFF2-40B4-BE49-F238E27FC236}">
                <a16:creationId xmlns:a16="http://schemas.microsoft.com/office/drawing/2014/main" id="{4D236575-BD0C-D65E-60D8-C2092661C56A}"/>
              </a:ext>
            </a:extLst>
          </p:cNvPr>
          <p:cNvSpPr>
            <a:spLocks noGrp="1"/>
          </p:cNvSpPr>
          <p:nvPr>
            <p:ph idx="1"/>
          </p:nvPr>
        </p:nvSpPr>
        <p:spPr/>
        <p:txBody>
          <a:bodyPr/>
          <a:lstStyle/>
          <a:p>
            <a:r>
              <a:rPr lang="ja-JP" altLang="en-US">
                <a:solidFill>
                  <a:schemeClr val="bg1">
                    <a:lumMod val="75000"/>
                  </a:schemeClr>
                </a:solidFill>
              </a:rPr>
              <a:t>はじめ</a:t>
            </a:r>
            <a:r>
              <a:rPr kumimoji="1" lang="ja-JP" altLang="en-US">
                <a:solidFill>
                  <a:schemeClr val="bg1">
                    <a:lumMod val="75000"/>
                  </a:schemeClr>
                </a:solidFill>
              </a:rPr>
              <a:t>に</a:t>
            </a:r>
            <a:endParaRPr kumimoji="1" lang="en-US" altLang="ja-JP" dirty="0">
              <a:solidFill>
                <a:schemeClr val="bg1">
                  <a:lumMod val="75000"/>
                </a:schemeClr>
              </a:solidFill>
            </a:endParaRPr>
          </a:p>
          <a:p>
            <a:r>
              <a:rPr lang="ja-JP" altLang="en-US">
                <a:solidFill>
                  <a:schemeClr val="bg1">
                    <a:lumMod val="75000"/>
                  </a:schemeClr>
                </a:solidFill>
              </a:rPr>
              <a:t>準備</a:t>
            </a:r>
            <a:endParaRPr lang="en-US" altLang="ja-JP" dirty="0">
              <a:solidFill>
                <a:schemeClr val="bg1">
                  <a:lumMod val="75000"/>
                </a:schemeClr>
              </a:solidFill>
            </a:endParaRPr>
          </a:p>
          <a:p>
            <a:pPr lvl="1"/>
            <a:r>
              <a:rPr kumimoji="1" lang="en-US" altLang="ja-JP" sz="2400" dirty="0">
                <a:solidFill>
                  <a:schemeClr val="bg1">
                    <a:lumMod val="75000"/>
                  </a:schemeClr>
                </a:solidFill>
              </a:rPr>
              <a:t>Group Lasso and Doubly Robust Estimation (</a:t>
            </a:r>
            <a:r>
              <a:rPr kumimoji="1" lang="en-US" altLang="ja-JP" dirty="0" err="1">
                <a:solidFill>
                  <a:schemeClr val="bg1">
                    <a:lumMod val="75000"/>
                  </a:schemeClr>
                </a:solidFill>
              </a:rPr>
              <a:t>GLiDeR</a:t>
            </a:r>
            <a:r>
              <a:rPr kumimoji="1" lang="en-US" altLang="ja-JP" dirty="0">
                <a:solidFill>
                  <a:schemeClr val="bg1">
                    <a:lumMod val="75000"/>
                  </a:schemeClr>
                </a:solidFill>
              </a:rPr>
              <a:t>)</a:t>
            </a:r>
          </a:p>
          <a:p>
            <a:pPr lvl="1"/>
            <a:r>
              <a:rPr kumimoji="1" lang="ja-JP" altLang="en-US"/>
              <a:t>球共分散</a:t>
            </a:r>
            <a:endParaRPr kumimoji="1" lang="en-US" altLang="ja-JP" dirty="0"/>
          </a:p>
          <a:p>
            <a:r>
              <a:rPr lang="ja-JP" altLang="en-US">
                <a:solidFill>
                  <a:schemeClr val="bg1">
                    <a:lumMod val="75000"/>
                  </a:schemeClr>
                </a:solidFill>
              </a:rPr>
              <a:t>数値実験</a:t>
            </a:r>
            <a:endParaRPr lang="en-US" altLang="ja-JP" dirty="0">
              <a:solidFill>
                <a:schemeClr val="bg1">
                  <a:lumMod val="75000"/>
                </a:schemeClr>
              </a:solidFill>
            </a:endParaRPr>
          </a:p>
          <a:p>
            <a:r>
              <a:rPr kumimoji="1" lang="ja-JP" altLang="en-US">
                <a:solidFill>
                  <a:schemeClr val="bg1">
                    <a:lumMod val="75000"/>
                  </a:schemeClr>
                </a:solidFill>
              </a:rPr>
              <a:t>まとめと今後の課題</a:t>
            </a:r>
          </a:p>
        </p:txBody>
      </p:sp>
      <p:sp>
        <p:nvSpPr>
          <p:cNvPr id="4" name="スライド番号プレースホルダー 3">
            <a:extLst>
              <a:ext uri="{FF2B5EF4-FFF2-40B4-BE49-F238E27FC236}">
                <a16:creationId xmlns:a16="http://schemas.microsoft.com/office/drawing/2014/main" id="{0F77C8FB-C964-E59F-1D8C-B9D2348E3E02}"/>
              </a:ext>
            </a:extLst>
          </p:cNvPr>
          <p:cNvSpPr>
            <a:spLocks noGrp="1"/>
          </p:cNvSpPr>
          <p:nvPr>
            <p:ph type="sldNum" sz="quarter" idx="12"/>
          </p:nvPr>
        </p:nvSpPr>
        <p:spPr/>
        <p:txBody>
          <a:bodyPr/>
          <a:lstStyle/>
          <a:p>
            <a:fld id="{21218AEF-8260-6F42-89D9-6D82E053F226}" type="slidenum">
              <a:rPr kumimoji="1" lang="ja-JP" altLang="en-US" smtClean="0"/>
              <a:t>41</a:t>
            </a:fld>
            <a:endParaRPr kumimoji="1" lang="ja-JP" altLang="en-US"/>
          </a:p>
        </p:txBody>
      </p:sp>
    </p:spTree>
    <p:extLst>
      <p:ext uri="{BB962C8B-B14F-4D97-AF65-F5344CB8AC3E}">
        <p14:creationId xmlns:p14="http://schemas.microsoft.com/office/powerpoint/2010/main" val="2897819271"/>
      </p:ext>
    </p:extLst>
  </p:cSld>
  <p:clrMapOvr>
    <a:masterClrMapping/>
  </p:clrMapOvr>
  <mc:AlternateContent xmlns:mc="http://schemas.openxmlformats.org/markup-compatibility/2006">
    <mc:Choice xmlns:p14="http://schemas.microsoft.com/office/powerpoint/2010/main" Requires="p14">
      <p:transition spd="slow" p14:dur="2000" advTm="977"/>
    </mc:Choice>
    <mc:Fallback>
      <p:transition spd="slow" advTm="977"/>
    </mc:Fallback>
  </mc:AlternateContent>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DA43095-70ED-846B-8B7B-91456BDD5B3C}"/>
              </a:ext>
            </a:extLst>
          </p:cNvPr>
          <p:cNvSpPr>
            <a:spLocks noGrp="1"/>
          </p:cNvSpPr>
          <p:nvPr>
            <p:ph type="title"/>
          </p:nvPr>
        </p:nvSpPr>
        <p:spPr/>
        <p:txBody>
          <a:bodyPr/>
          <a:lstStyle/>
          <a:p>
            <a:r>
              <a:rPr kumimoji="1" lang="ja-JP" altLang="en-US"/>
              <a:t>目次</a:t>
            </a:r>
          </a:p>
        </p:txBody>
      </p:sp>
      <p:sp>
        <p:nvSpPr>
          <p:cNvPr id="3" name="コンテンツ プレースホルダー 2">
            <a:extLst>
              <a:ext uri="{FF2B5EF4-FFF2-40B4-BE49-F238E27FC236}">
                <a16:creationId xmlns:a16="http://schemas.microsoft.com/office/drawing/2014/main" id="{4D236575-BD0C-D65E-60D8-C2092661C56A}"/>
              </a:ext>
            </a:extLst>
          </p:cNvPr>
          <p:cNvSpPr>
            <a:spLocks noGrp="1"/>
          </p:cNvSpPr>
          <p:nvPr>
            <p:ph idx="1"/>
          </p:nvPr>
        </p:nvSpPr>
        <p:spPr/>
        <p:txBody>
          <a:bodyPr/>
          <a:lstStyle/>
          <a:p>
            <a:r>
              <a:rPr lang="ja-JP" altLang="en-US">
                <a:solidFill>
                  <a:schemeClr val="bg1">
                    <a:lumMod val="75000"/>
                  </a:schemeClr>
                </a:solidFill>
              </a:rPr>
              <a:t>はじめ</a:t>
            </a:r>
            <a:r>
              <a:rPr kumimoji="1" lang="ja-JP" altLang="en-US">
                <a:solidFill>
                  <a:schemeClr val="bg1">
                    <a:lumMod val="75000"/>
                  </a:schemeClr>
                </a:solidFill>
              </a:rPr>
              <a:t>に</a:t>
            </a:r>
            <a:endParaRPr kumimoji="1" lang="en-US" altLang="ja-JP" dirty="0">
              <a:solidFill>
                <a:schemeClr val="bg1">
                  <a:lumMod val="75000"/>
                </a:schemeClr>
              </a:solidFill>
            </a:endParaRPr>
          </a:p>
          <a:p>
            <a:r>
              <a:rPr lang="ja-JP" altLang="en-US">
                <a:solidFill>
                  <a:schemeClr val="bg1">
                    <a:lumMod val="75000"/>
                  </a:schemeClr>
                </a:solidFill>
              </a:rPr>
              <a:t>準備</a:t>
            </a:r>
            <a:endParaRPr lang="en-US" altLang="ja-JP" dirty="0">
              <a:solidFill>
                <a:schemeClr val="bg1">
                  <a:lumMod val="75000"/>
                </a:schemeClr>
              </a:solidFill>
            </a:endParaRPr>
          </a:p>
          <a:p>
            <a:pPr lvl="1"/>
            <a:r>
              <a:rPr kumimoji="1" lang="en-US" altLang="ja-JP" sz="2400" dirty="0">
                <a:solidFill>
                  <a:schemeClr val="bg1">
                    <a:lumMod val="75000"/>
                  </a:schemeClr>
                </a:solidFill>
              </a:rPr>
              <a:t>Group Lasso and Doubly Robust Estimation (</a:t>
            </a:r>
            <a:r>
              <a:rPr kumimoji="1" lang="en-US" altLang="ja-JP" dirty="0" err="1">
                <a:solidFill>
                  <a:schemeClr val="bg1">
                    <a:lumMod val="75000"/>
                  </a:schemeClr>
                </a:solidFill>
              </a:rPr>
              <a:t>GLiDeR</a:t>
            </a:r>
            <a:r>
              <a:rPr kumimoji="1" lang="en-US" altLang="ja-JP" dirty="0">
                <a:solidFill>
                  <a:schemeClr val="bg1">
                    <a:lumMod val="75000"/>
                  </a:schemeClr>
                </a:solidFill>
              </a:rPr>
              <a:t>)</a:t>
            </a:r>
          </a:p>
          <a:p>
            <a:pPr lvl="1"/>
            <a:r>
              <a:rPr kumimoji="1" lang="ja-JP" altLang="en-US">
                <a:solidFill>
                  <a:schemeClr val="bg1">
                    <a:lumMod val="75000"/>
                  </a:schemeClr>
                </a:solidFill>
              </a:rPr>
              <a:t>球共分散</a:t>
            </a:r>
            <a:endParaRPr kumimoji="1" lang="en-US" altLang="ja-JP" dirty="0">
              <a:solidFill>
                <a:schemeClr val="bg1">
                  <a:lumMod val="75000"/>
                </a:schemeClr>
              </a:solidFill>
            </a:endParaRPr>
          </a:p>
          <a:p>
            <a:r>
              <a:rPr lang="ja-JP" altLang="en-US"/>
              <a:t>提案手法</a:t>
            </a:r>
            <a:endParaRPr lang="en-US" altLang="ja-JP" dirty="0"/>
          </a:p>
          <a:p>
            <a:r>
              <a:rPr lang="ja-JP" altLang="en-US">
                <a:solidFill>
                  <a:schemeClr val="bg1">
                    <a:lumMod val="75000"/>
                  </a:schemeClr>
                </a:solidFill>
              </a:rPr>
              <a:t>数値実験</a:t>
            </a:r>
            <a:endParaRPr lang="en-US" altLang="ja-JP" dirty="0">
              <a:solidFill>
                <a:schemeClr val="bg1">
                  <a:lumMod val="75000"/>
                </a:schemeClr>
              </a:solidFill>
            </a:endParaRPr>
          </a:p>
          <a:p>
            <a:r>
              <a:rPr kumimoji="1" lang="ja-JP" altLang="en-US">
                <a:solidFill>
                  <a:schemeClr val="bg1">
                    <a:lumMod val="75000"/>
                  </a:schemeClr>
                </a:solidFill>
              </a:rPr>
              <a:t>まとめと今後の課題</a:t>
            </a:r>
          </a:p>
        </p:txBody>
      </p:sp>
      <p:sp>
        <p:nvSpPr>
          <p:cNvPr id="4" name="スライド番号プレースホルダー 3">
            <a:extLst>
              <a:ext uri="{FF2B5EF4-FFF2-40B4-BE49-F238E27FC236}">
                <a16:creationId xmlns:a16="http://schemas.microsoft.com/office/drawing/2014/main" id="{B43BA2DE-BA3D-9AD2-1A15-C54A3384FB5E}"/>
              </a:ext>
            </a:extLst>
          </p:cNvPr>
          <p:cNvSpPr>
            <a:spLocks noGrp="1"/>
          </p:cNvSpPr>
          <p:nvPr>
            <p:ph type="sldNum" sz="quarter" idx="12"/>
          </p:nvPr>
        </p:nvSpPr>
        <p:spPr/>
        <p:txBody>
          <a:bodyPr/>
          <a:lstStyle/>
          <a:p>
            <a:fld id="{21218AEF-8260-6F42-89D9-6D82E053F226}" type="slidenum">
              <a:rPr kumimoji="1" lang="ja-JP" altLang="en-US" smtClean="0"/>
              <a:t>42</a:t>
            </a:fld>
            <a:endParaRPr kumimoji="1" lang="ja-JP" altLang="en-US"/>
          </a:p>
        </p:txBody>
      </p:sp>
    </p:spTree>
    <p:extLst>
      <p:ext uri="{BB962C8B-B14F-4D97-AF65-F5344CB8AC3E}">
        <p14:creationId xmlns:p14="http://schemas.microsoft.com/office/powerpoint/2010/main" val="3846071163"/>
      </p:ext>
    </p:extLst>
  </p:cSld>
  <p:clrMapOvr>
    <a:masterClrMapping/>
  </p:clrMapOvr>
  <mc:AlternateContent xmlns:mc="http://schemas.openxmlformats.org/markup-compatibility/2006">
    <mc:Choice xmlns:p14="http://schemas.microsoft.com/office/powerpoint/2010/main" Requires="p14">
      <p:transition spd="slow" p14:dur="2000" advTm="2648"/>
    </mc:Choice>
    <mc:Fallback>
      <p:transition spd="slow" advTm="2648"/>
    </mc:Fallback>
  </mc:AlternateContent>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DA43095-70ED-846B-8B7B-91456BDD5B3C}"/>
              </a:ext>
            </a:extLst>
          </p:cNvPr>
          <p:cNvSpPr>
            <a:spLocks noGrp="1"/>
          </p:cNvSpPr>
          <p:nvPr>
            <p:ph type="title"/>
          </p:nvPr>
        </p:nvSpPr>
        <p:spPr/>
        <p:txBody>
          <a:bodyPr/>
          <a:lstStyle/>
          <a:p>
            <a:r>
              <a:rPr kumimoji="1" lang="ja-JP" altLang="en-US"/>
              <a:t>目次</a:t>
            </a:r>
          </a:p>
        </p:txBody>
      </p:sp>
      <p:sp>
        <p:nvSpPr>
          <p:cNvPr id="3" name="コンテンツ プレースホルダー 2">
            <a:extLst>
              <a:ext uri="{FF2B5EF4-FFF2-40B4-BE49-F238E27FC236}">
                <a16:creationId xmlns:a16="http://schemas.microsoft.com/office/drawing/2014/main" id="{4D236575-BD0C-D65E-60D8-C2092661C56A}"/>
              </a:ext>
            </a:extLst>
          </p:cNvPr>
          <p:cNvSpPr>
            <a:spLocks noGrp="1"/>
          </p:cNvSpPr>
          <p:nvPr>
            <p:ph idx="1"/>
          </p:nvPr>
        </p:nvSpPr>
        <p:spPr/>
        <p:txBody>
          <a:bodyPr/>
          <a:lstStyle/>
          <a:p>
            <a:r>
              <a:rPr lang="ja-JP" altLang="en-US">
                <a:solidFill>
                  <a:schemeClr val="bg1">
                    <a:lumMod val="75000"/>
                  </a:schemeClr>
                </a:solidFill>
              </a:rPr>
              <a:t>はじめ</a:t>
            </a:r>
            <a:r>
              <a:rPr kumimoji="1" lang="ja-JP" altLang="en-US">
                <a:solidFill>
                  <a:schemeClr val="bg1">
                    <a:lumMod val="75000"/>
                  </a:schemeClr>
                </a:solidFill>
              </a:rPr>
              <a:t>に</a:t>
            </a:r>
            <a:endParaRPr kumimoji="1" lang="en-US" altLang="ja-JP" dirty="0">
              <a:solidFill>
                <a:schemeClr val="bg1">
                  <a:lumMod val="75000"/>
                </a:schemeClr>
              </a:solidFill>
            </a:endParaRPr>
          </a:p>
          <a:p>
            <a:r>
              <a:rPr lang="ja-JP" altLang="en-US">
                <a:solidFill>
                  <a:schemeClr val="bg1">
                    <a:lumMod val="75000"/>
                  </a:schemeClr>
                </a:solidFill>
              </a:rPr>
              <a:t>準備</a:t>
            </a:r>
            <a:endParaRPr lang="en-US" altLang="ja-JP" dirty="0">
              <a:solidFill>
                <a:schemeClr val="bg1">
                  <a:lumMod val="75000"/>
                </a:schemeClr>
              </a:solidFill>
            </a:endParaRPr>
          </a:p>
          <a:p>
            <a:pPr lvl="1"/>
            <a:r>
              <a:rPr kumimoji="1" lang="en-US" altLang="ja-JP" sz="2400" dirty="0">
                <a:solidFill>
                  <a:schemeClr val="bg1">
                    <a:lumMod val="75000"/>
                  </a:schemeClr>
                </a:solidFill>
              </a:rPr>
              <a:t>Group Lasso and Doubly Robust Estimation (</a:t>
            </a:r>
            <a:r>
              <a:rPr kumimoji="1" lang="en-US" altLang="ja-JP" dirty="0" err="1">
                <a:solidFill>
                  <a:schemeClr val="bg1">
                    <a:lumMod val="75000"/>
                  </a:schemeClr>
                </a:solidFill>
              </a:rPr>
              <a:t>GLiDeR</a:t>
            </a:r>
            <a:r>
              <a:rPr kumimoji="1" lang="en-US" altLang="ja-JP" dirty="0">
                <a:solidFill>
                  <a:schemeClr val="bg1">
                    <a:lumMod val="75000"/>
                  </a:schemeClr>
                </a:solidFill>
              </a:rPr>
              <a:t>)</a:t>
            </a:r>
          </a:p>
          <a:p>
            <a:pPr lvl="1"/>
            <a:r>
              <a:rPr kumimoji="1" lang="ja-JP" altLang="en-US">
                <a:solidFill>
                  <a:schemeClr val="bg1">
                    <a:lumMod val="75000"/>
                  </a:schemeClr>
                </a:solidFill>
              </a:rPr>
              <a:t>球共分散</a:t>
            </a:r>
            <a:endParaRPr kumimoji="1" lang="en-US" altLang="ja-JP" dirty="0">
              <a:solidFill>
                <a:schemeClr val="bg1">
                  <a:lumMod val="75000"/>
                </a:schemeClr>
              </a:solidFill>
            </a:endParaRPr>
          </a:p>
          <a:p>
            <a:r>
              <a:rPr lang="ja-JP" altLang="en-US">
                <a:solidFill>
                  <a:schemeClr val="bg1">
                    <a:lumMod val="75000"/>
                  </a:schemeClr>
                </a:solidFill>
              </a:rPr>
              <a:t>提案手法</a:t>
            </a:r>
            <a:endParaRPr lang="en-US" altLang="ja-JP" dirty="0">
              <a:solidFill>
                <a:schemeClr val="bg1">
                  <a:lumMod val="75000"/>
                </a:schemeClr>
              </a:solidFill>
            </a:endParaRPr>
          </a:p>
          <a:p>
            <a:r>
              <a:rPr lang="ja-JP" altLang="en-US"/>
              <a:t>数値実験</a:t>
            </a:r>
            <a:endParaRPr lang="en-US" altLang="ja-JP" dirty="0"/>
          </a:p>
          <a:p>
            <a:r>
              <a:rPr kumimoji="1" lang="ja-JP" altLang="en-US">
                <a:solidFill>
                  <a:schemeClr val="bg1">
                    <a:lumMod val="75000"/>
                  </a:schemeClr>
                </a:solidFill>
              </a:rPr>
              <a:t>まとめと今後の課題</a:t>
            </a:r>
          </a:p>
        </p:txBody>
      </p:sp>
      <p:sp>
        <p:nvSpPr>
          <p:cNvPr id="4" name="スライド番号プレースホルダー 3">
            <a:extLst>
              <a:ext uri="{FF2B5EF4-FFF2-40B4-BE49-F238E27FC236}">
                <a16:creationId xmlns:a16="http://schemas.microsoft.com/office/drawing/2014/main" id="{B3BF1032-A208-619C-D8CB-3710E4F170D9}"/>
              </a:ext>
            </a:extLst>
          </p:cNvPr>
          <p:cNvSpPr>
            <a:spLocks noGrp="1"/>
          </p:cNvSpPr>
          <p:nvPr>
            <p:ph type="sldNum" sz="quarter" idx="12"/>
          </p:nvPr>
        </p:nvSpPr>
        <p:spPr/>
        <p:txBody>
          <a:bodyPr/>
          <a:lstStyle/>
          <a:p>
            <a:fld id="{21218AEF-8260-6F42-89D9-6D82E053F226}" type="slidenum">
              <a:rPr kumimoji="1" lang="ja-JP" altLang="en-US" smtClean="0"/>
              <a:t>43</a:t>
            </a:fld>
            <a:endParaRPr kumimoji="1" lang="ja-JP" altLang="en-US"/>
          </a:p>
        </p:txBody>
      </p:sp>
    </p:spTree>
    <p:extLst>
      <p:ext uri="{BB962C8B-B14F-4D97-AF65-F5344CB8AC3E}">
        <p14:creationId xmlns:p14="http://schemas.microsoft.com/office/powerpoint/2010/main" val="4019576311"/>
      </p:ext>
    </p:extLst>
  </p:cSld>
  <p:clrMapOvr>
    <a:masterClrMapping/>
  </p:clrMapOvr>
  <mc:AlternateContent xmlns:mc="http://schemas.openxmlformats.org/markup-compatibility/2006">
    <mc:Choice xmlns:p14="http://schemas.microsoft.com/office/powerpoint/2010/main" Requires="p14">
      <p:transition spd="slow" p14:dur="2000" advTm="1978"/>
    </mc:Choice>
    <mc:Fallback>
      <p:transition spd="slow" advTm="1978"/>
    </mc:Fallback>
  </mc:AlternateContent>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DA43095-70ED-846B-8B7B-91456BDD5B3C}"/>
              </a:ext>
            </a:extLst>
          </p:cNvPr>
          <p:cNvSpPr>
            <a:spLocks noGrp="1"/>
          </p:cNvSpPr>
          <p:nvPr>
            <p:ph type="title"/>
          </p:nvPr>
        </p:nvSpPr>
        <p:spPr/>
        <p:txBody>
          <a:bodyPr/>
          <a:lstStyle/>
          <a:p>
            <a:r>
              <a:rPr kumimoji="1" lang="ja-JP" altLang="en-US"/>
              <a:t>目次</a:t>
            </a:r>
          </a:p>
        </p:txBody>
      </p:sp>
      <p:sp>
        <p:nvSpPr>
          <p:cNvPr id="3" name="コンテンツ プレースホルダー 2">
            <a:extLst>
              <a:ext uri="{FF2B5EF4-FFF2-40B4-BE49-F238E27FC236}">
                <a16:creationId xmlns:a16="http://schemas.microsoft.com/office/drawing/2014/main" id="{4D236575-BD0C-D65E-60D8-C2092661C56A}"/>
              </a:ext>
            </a:extLst>
          </p:cNvPr>
          <p:cNvSpPr>
            <a:spLocks noGrp="1"/>
          </p:cNvSpPr>
          <p:nvPr>
            <p:ph idx="1"/>
          </p:nvPr>
        </p:nvSpPr>
        <p:spPr/>
        <p:txBody>
          <a:bodyPr/>
          <a:lstStyle/>
          <a:p>
            <a:r>
              <a:rPr lang="ja-JP" altLang="en-US">
                <a:solidFill>
                  <a:schemeClr val="bg1">
                    <a:lumMod val="75000"/>
                  </a:schemeClr>
                </a:solidFill>
              </a:rPr>
              <a:t>はじめ</a:t>
            </a:r>
            <a:r>
              <a:rPr kumimoji="1" lang="ja-JP" altLang="en-US">
                <a:solidFill>
                  <a:schemeClr val="bg1">
                    <a:lumMod val="75000"/>
                  </a:schemeClr>
                </a:solidFill>
              </a:rPr>
              <a:t>に</a:t>
            </a:r>
            <a:endParaRPr kumimoji="1" lang="en-US" altLang="ja-JP" dirty="0">
              <a:solidFill>
                <a:schemeClr val="bg1">
                  <a:lumMod val="75000"/>
                </a:schemeClr>
              </a:solidFill>
            </a:endParaRPr>
          </a:p>
          <a:p>
            <a:r>
              <a:rPr lang="ja-JP" altLang="en-US">
                <a:solidFill>
                  <a:schemeClr val="bg1">
                    <a:lumMod val="75000"/>
                  </a:schemeClr>
                </a:solidFill>
              </a:rPr>
              <a:t>準備</a:t>
            </a:r>
            <a:endParaRPr lang="en-US" altLang="ja-JP" dirty="0">
              <a:solidFill>
                <a:schemeClr val="bg1">
                  <a:lumMod val="75000"/>
                </a:schemeClr>
              </a:solidFill>
            </a:endParaRPr>
          </a:p>
          <a:p>
            <a:pPr lvl="1"/>
            <a:r>
              <a:rPr kumimoji="1" lang="en-US" altLang="ja-JP" sz="2400" dirty="0">
                <a:solidFill>
                  <a:schemeClr val="bg1">
                    <a:lumMod val="75000"/>
                  </a:schemeClr>
                </a:solidFill>
              </a:rPr>
              <a:t>Group Lasso and Doubly Robust Estimation (</a:t>
            </a:r>
            <a:r>
              <a:rPr kumimoji="1" lang="en-US" altLang="ja-JP" dirty="0" err="1">
                <a:solidFill>
                  <a:schemeClr val="bg1">
                    <a:lumMod val="75000"/>
                  </a:schemeClr>
                </a:solidFill>
              </a:rPr>
              <a:t>GLiDeR</a:t>
            </a:r>
            <a:r>
              <a:rPr kumimoji="1" lang="en-US" altLang="ja-JP" dirty="0">
                <a:solidFill>
                  <a:schemeClr val="bg1">
                    <a:lumMod val="75000"/>
                  </a:schemeClr>
                </a:solidFill>
              </a:rPr>
              <a:t>)</a:t>
            </a:r>
          </a:p>
          <a:p>
            <a:pPr lvl="1"/>
            <a:r>
              <a:rPr kumimoji="1" lang="ja-JP" altLang="en-US">
                <a:solidFill>
                  <a:schemeClr val="bg1">
                    <a:lumMod val="75000"/>
                  </a:schemeClr>
                </a:solidFill>
              </a:rPr>
              <a:t>球共分散</a:t>
            </a:r>
            <a:endParaRPr kumimoji="1" lang="en-US" altLang="ja-JP" dirty="0">
              <a:solidFill>
                <a:schemeClr val="bg1">
                  <a:lumMod val="75000"/>
                </a:schemeClr>
              </a:solidFill>
            </a:endParaRPr>
          </a:p>
          <a:p>
            <a:r>
              <a:rPr lang="ja-JP" altLang="en-US">
                <a:solidFill>
                  <a:schemeClr val="bg1">
                    <a:lumMod val="75000"/>
                  </a:schemeClr>
                </a:solidFill>
              </a:rPr>
              <a:t>提案手法</a:t>
            </a:r>
            <a:endParaRPr lang="en-US" altLang="ja-JP" dirty="0">
              <a:solidFill>
                <a:schemeClr val="bg1">
                  <a:lumMod val="75000"/>
                </a:schemeClr>
              </a:solidFill>
            </a:endParaRPr>
          </a:p>
          <a:p>
            <a:r>
              <a:rPr lang="ja-JP" altLang="en-US">
                <a:solidFill>
                  <a:schemeClr val="bg1">
                    <a:lumMod val="75000"/>
                  </a:schemeClr>
                </a:solidFill>
              </a:rPr>
              <a:t>数値実験</a:t>
            </a:r>
            <a:endParaRPr lang="en-US" altLang="ja-JP" dirty="0">
              <a:solidFill>
                <a:schemeClr val="bg1">
                  <a:lumMod val="75000"/>
                </a:schemeClr>
              </a:solidFill>
            </a:endParaRPr>
          </a:p>
          <a:p>
            <a:r>
              <a:rPr kumimoji="1" lang="ja-JP" altLang="en-US"/>
              <a:t>まとめと今後の課題</a:t>
            </a:r>
          </a:p>
        </p:txBody>
      </p:sp>
      <p:sp>
        <p:nvSpPr>
          <p:cNvPr id="4" name="スライド番号プレースホルダー 3">
            <a:extLst>
              <a:ext uri="{FF2B5EF4-FFF2-40B4-BE49-F238E27FC236}">
                <a16:creationId xmlns:a16="http://schemas.microsoft.com/office/drawing/2014/main" id="{8F5ED9D7-6FD4-6CDC-9029-875F4CFBA2BA}"/>
              </a:ext>
            </a:extLst>
          </p:cNvPr>
          <p:cNvSpPr>
            <a:spLocks noGrp="1"/>
          </p:cNvSpPr>
          <p:nvPr>
            <p:ph type="sldNum" sz="quarter" idx="12"/>
          </p:nvPr>
        </p:nvSpPr>
        <p:spPr/>
        <p:txBody>
          <a:bodyPr/>
          <a:lstStyle/>
          <a:p>
            <a:fld id="{21218AEF-8260-6F42-89D9-6D82E053F226}" type="slidenum">
              <a:rPr kumimoji="1" lang="ja-JP" altLang="en-US" smtClean="0"/>
              <a:t>44</a:t>
            </a:fld>
            <a:endParaRPr kumimoji="1" lang="ja-JP" altLang="en-US"/>
          </a:p>
        </p:txBody>
      </p:sp>
    </p:spTree>
    <p:extLst>
      <p:ext uri="{BB962C8B-B14F-4D97-AF65-F5344CB8AC3E}">
        <p14:creationId xmlns:p14="http://schemas.microsoft.com/office/powerpoint/2010/main" val="1089313296"/>
      </p:ext>
    </p:extLst>
  </p:cSld>
  <p:clrMapOvr>
    <a:masterClrMapping/>
  </p:clrMapOvr>
  <mc:AlternateContent xmlns:mc="http://schemas.openxmlformats.org/markup-compatibility/2006">
    <mc:Choice xmlns:p14="http://schemas.microsoft.com/office/powerpoint/2010/main" Requires="p14">
      <p:transition spd="slow" p14:dur="2000" advTm="612"/>
    </mc:Choice>
    <mc:Fallback>
      <p:transition spd="slow" advTm="612"/>
    </mc:Fallback>
  </mc:AlternateContent>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5" name="Google Shape;95;p1">
                <a:extLst>
                  <a:ext uri="{FF2B5EF4-FFF2-40B4-BE49-F238E27FC236}">
                    <a16:creationId xmlns:a16="http://schemas.microsoft.com/office/drawing/2014/main" id="{D71CD2D6-0C56-F489-24E7-ACD27AFEB139}"/>
                  </a:ext>
                </a:extLst>
              </p:cNvPr>
              <p:cNvSpPr/>
              <p:nvPr/>
            </p:nvSpPr>
            <p:spPr>
              <a:xfrm>
                <a:off x="4068115" y="24538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5" name="Google Shape;95;p1">
                <a:extLst>
                  <a:ext uri="{FF2B5EF4-FFF2-40B4-BE49-F238E27FC236}">
                    <a16:creationId xmlns:a16="http://schemas.microsoft.com/office/drawing/2014/main" id="{D71CD2D6-0C56-F489-24E7-ACD27AFEB139}"/>
                  </a:ext>
                </a:extLst>
              </p:cNvPr>
              <p:cNvSpPr>
                <a:spLocks noRot="1" noChangeAspect="1" noMove="1" noResize="1" noEditPoints="1" noAdjustHandles="1" noChangeArrowheads="1" noChangeShapeType="1" noTextEdit="1"/>
              </p:cNvSpPr>
              <p:nvPr/>
            </p:nvSpPr>
            <p:spPr>
              <a:xfrm>
                <a:off x="4068115" y="245387"/>
                <a:ext cx="4055770" cy="523180"/>
              </a:xfrm>
              <a:prstGeom prst="rect">
                <a:avLst/>
              </a:prstGeom>
              <a:blipFill>
                <a:blip r:embed="rId3"/>
                <a:stretch>
                  <a:fillRect l="-3125" t="-11905" b="-30952"/>
                </a:stretch>
              </a:blipFill>
              <a:ln>
                <a:no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nvGraphicFramePr>
            <p:xfrm>
              <a:off x="2241750" y="918000"/>
              <a:ext cx="8279999"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3450969828"/>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20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30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0.00749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0.08514</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0.00727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(0.08430)</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0.00712</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(0.08339)</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0.00997</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0.09987</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0.01401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0.10283</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0.01492</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(0.10080)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0.00729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0.08576</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0.00752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0.08677</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0.00862</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(0.09310)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0.01235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0.09778</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0.12092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0.19975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0.05735</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(0.15087)</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0.04594</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(0.09572)</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0.04282</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(0.15441)</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0.04833</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(0.11058)</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mc:Choice>
        <mc:Fallback xmlns="">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2081008944"/>
                  </p:ext>
                </p:extLst>
              </p:nvPr>
            </p:nvGraphicFramePr>
            <p:xfrm>
              <a:off x="2241750" y="918000"/>
              <a:ext cx="8279999"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3450969828"/>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129293" t="-3509" r="-101010" b="-722807"/>
                          </a:stretch>
                        </a:blipFill>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228141" t="-3509" r="-503" b="-722807"/>
                          </a:stretch>
                        </a:blipFill>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0.00749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0.08514</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0.00727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(0.08430)</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0.00712</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(0.08339)</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0.00997</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0.09987</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0.01401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0.10283</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0.01492</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(0.10080)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0.00729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0.08576</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0.00752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0.08677</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0.00862</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(0.09310)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0.01235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0.09778</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0.12092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0.19975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0.05735</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(0.15087)</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0.04594</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(0.09572)</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0.04282</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(0.15441)</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0.04833</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(0.11058)</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mc:Fallback>
      </mc:AlternateContent>
      <p:sp>
        <p:nvSpPr>
          <p:cNvPr id="3" name="スライド番号プレースホルダー 2">
            <a:extLst>
              <a:ext uri="{FF2B5EF4-FFF2-40B4-BE49-F238E27FC236}">
                <a16:creationId xmlns:a16="http://schemas.microsoft.com/office/drawing/2014/main" id="{85870024-E431-5C9E-9330-684646A801FB}"/>
              </a:ext>
            </a:extLst>
          </p:cNvPr>
          <p:cNvSpPr>
            <a:spLocks noGrp="1"/>
          </p:cNvSpPr>
          <p:nvPr>
            <p:ph type="sldNum" sz="quarter" idx="12"/>
          </p:nvPr>
        </p:nvSpPr>
        <p:spPr/>
        <p:txBody>
          <a:bodyPr/>
          <a:lstStyle/>
          <a:p>
            <a:fld id="{21218AEF-8260-6F42-89D9-6D82E053F226}" type="slidenum">
              <a:rPr kumimoji="1" lang="ja-JP" altLang="en-US" smtClean="0"/>
              <a:t>45</a:t>
            </a:fld>
            <a:endParaRPr kumimoji="1" lang="ja-JP" altLang="en-US"/>
          </a:p>
        </p:txBody>
      </p:sp>
    </p:spTree>
    <p:extLst>
      <p:ext uri="{BB962C8B-B14F-4D97-AF65-F5344CB8AC3E}">
        <p14:creationId xmlns:p14="http://schemas.microsoft.com/office/powerpoint/2010/main" val="2239140909"/>
      </p:ext>
    </p:extLst>
  </p:cSld>
  <p:clrMapOvr>
    <a:masterClrMapping/>
  </p:clrMapOvr>
  <mc:AlternateContent xmlns:mc="http://schemas.openxmlformats.org/markup-compatibility/2006">
    <mc:Choice xmlns:p14="http://schemas.microsoft.com/office/powerpoint/2010/main" Requires="p14">
      <p:transition spd="slow" p14:dur="2000" advTm="38277"/>
    </mc:Choice>
    <mc:Fallback>
      <p:transition spd="slow" advTm="38277"/>
    </mc:Fallback>
  </mc:AlternateContent>
</p:sld>
</file>

<file path=ppt/slides/slide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nvGraphicFramePr>
            <p:xfrm>
              <a:off x="3757612" y="728730"/>
              <a:ext cx="828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3450969828"/>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20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30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0.00760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0.08644</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0.07380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0.27071</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0.02887</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(0.16749)</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0.00935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0.09685</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0.02683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0.16463</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0.02107</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(0.14565)</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0.28370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0.53441</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0.26592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(0.51687)</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0.25752</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(0.50873)</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0.01528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0.12305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0.01422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(0.11899)</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0.01711</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(0.12650)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0.01229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0.11135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0.01195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(0.10971)</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0.01288</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(0.11395)</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825497824"/>
                      </a:ext>
                    </a:extLst>
                  </a:tr>
                </a:tbl>
              </a:graphicData>
            </a:graphic>
          </p:graphicFrame>
        </mc:Choice>
        <mc:Fallback xmlns="">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8814538"/>
                  </p:ext>
                </p:extLst>
              </p:nvPr>
            </p:nvGraphicFramePr>
            <p:xfrm>
              <a:off x="3757612" y="728730"/>
              <a:ext cx="828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3450969828"/>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9293" t="-3509" r="-101010" b="-724561"/>
                          </a:stretch>
                        </a:blipFill>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28141" t="-3509" r="-503" b="-724561"/>
                          </a:stretch>
                        </a:blipFill>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0.00760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0.08644</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0.07380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0.27071</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0.02887</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(0.16749)</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0.00935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r>
                            <a:rPr kumimoji="1" lang="en-US" altLang="ja-JP" sz="2000" b="0" kern="1200" dirty="0">
                              <a:solidFill>
                                <a:srgbClr val="FF0000"/>
                              </a:solidFill>
                              <a:effectLst/>
                              <a:latin typeface="Arial" panose="020B0604020202020204" pitchFamily="34" charset="0"/>
                              <a:ea typeface="+mn-ea"/>
                              <a:cs typeface="Arial" panose="020B0604020202020204" pitchFamily="34" charset="0"/>
                            </a:rPr>
                            <a:t>0.09685</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0.02683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0.16463</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0.02107</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(0.14565)</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0.28370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0.53441</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0.26592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(0.51687)</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0.25752</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(0.50873)</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0.01528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0.12305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0.01422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(0.11899)</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0.01711</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(0.12650)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0.01229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r>
                            <a:rPr kumimoji="1" lang="en-US" altLang="ja-JP" sz="2000" b="0" kern="1200" dirty="0">
                              <a:solidFill>
                                <a:schemeClr val="tx1"/>
                              </a:solidFill>
                              <a:effectLst/>
                              <a:latin typeface="Arial" panose="020B0604020202020204" pitchFamily="34" charset="0"/>
                              <a:ea typeface="+mn-ea"/>
                              <a:cs typeface="Arial" panose="020B0604020202020204" pitchFamily="34" charset="0"/>
                            </a:rPr>
                            <a:t>0.11135</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0.01195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(0.10971)</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0.01288</a:t>
                          </a:r>
                        </a:p>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(0.11395)</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825497824"/>
                      </a:ext>
                    </a:extLst>
                  </a:tr>
                </a:tbl>
              </a:graphicData>
            </a:graphic>
          </p:graphicFrame>
        </mc:Fallback>
      </mc:AlternateContent>
      <p:sp>
        <p:nvSpPr>
          <p:cNvPr id="2" name="テキスト ボックス 1">
            <a:extLst>
              <a:ext uri="{FF2B5EF4-FFF2-40B4-BE49-F238E27FC236}">
                <a16:creationId xmlns:a16="http://schemas.microsoft.com/office/drawing/2014/main" id="{224D7986-F9FE-A23A-F7DB-22303537F01C}"/>
              </a:ext>
            </a:extLst>
          </p:cNvPr>
          <p:cNvSpPr txBox="1"/>
          <p:nvPr/>
        </p:nvSpPr>
        <p:spPr>
          <a:xfrm>
            <a:off x="200662" y="2951946"/>
            <a:ext cx="2214563" cy="954107"/>
          </a:xfrm>
          <a:prstGeom prst="rect">
            <a:avLst/>
          </a:prstGeom>
          <a:noFill/>
          <a:ln w="28575">
            <a:solidFill>
              <a:schemeClr val="accent1">
                <a:lumMod val="60000"/>
                <a:lumOff val="40000"/>
              </a:schemeClr>
            </a:solidFill>
          </a:ln>
        </p:spPr>
        <p:txBody>
          <a:bodyPr wrap="square" rtlCol="0">
            <a:spAutoFit/>
          </a:bodyPr>
          <a:lstStyle/>
          <a:p>
            <a:r>
              <a:rPr kumimoji="1" lang="ja-JP" altLang="en-US" sz="2800"/>
              <a:t>結果モデルが非線形</a:t>
            </a:r>
          </a:p>
        </p:txBody>
      </p:sp>
      <p:sp>
        <p:nvSpPr>
          <p:cNvPr id="3" name="テキスト ボックス 2">
            <a:extLst>
              <a:ext uri="{FF2B5EF4-FFF2-40B4-BE49-F238E27FC236}">
                <a16:creationId xmlns:a16="http://schemas.microsoft.com/office/drawing/2014/main" id="{8CAEED3F-DA8C-2EF1-F240-893D71B6E0E9}"/>
              </a:ext>
            </a:extLst>
          </p:cNvPr>
          <p:cNvSpPr txBox="1"/>
          <p:nvPr/>
        </p:nvSpPr>
        <p:spPr>
          <a:xfrm>
            <a:off x="85729" y="5261963"/>
            <a:ext cx="3085462" cy="954107"/>
          </a:xfrm>
          <a:prstGeom prst="rect">
            <a:avLst/>
          </a:prstGeom>
          <a:noFill/>
          <a:ln w="28575">
            <a:solidFill>
              <a:schemeClr val="accent2">
                <a:lumMod val="60000"/>
                <a:lumOff val="40000"/>
              </a:schemeClr>
            </a:solidFill>
          </a:ln>
        </p:spPr>
        <p:txBody>
          <a:bodyPr wrap="square" rtlCol="0">
            <a:spAutoFit/>
          </a:bodyPr>
          <a:lstStyle/>
          <a:p>
            <a:r>
              <a:rPr lang="ja-JP" altLang="en-US" sz="2800"/>
              <a:t>傾向スコア</a:t>
            </a:r>
            <a:r>
              <a:rPr kumimoji="1" lang="ja-JP" altLang="en-US" sz="2800"/>
              <a:t>モデルが非線形</a:t>
            </a:r>
          </a:p>
        </p:txBody>
      </p:sp>
      <p:cxnSp>
        <p:nvCxnSpPr>
          <p:cNvPr id="4" name="直線コネクタ 3">
            <a:extLst>
              <a:ext uri="{FF2B5EF4-FFF2-40B4-BE49-F238E27FC236}">
                <a16:creationId xmlns:a16="http://schemas.microsoft.com/office/drawing/2014/main" id="{23DD680F-DB5A-99B4-1BED-A9F4CA6442CF}"/>
              </a:ext>
            </a:extLst>
          </p:cNvPr>
          <p:cNvCxnSpPr>
            <a:cxnSpLocks/>
            <a:endCxn id="3" idx="3"/>
          </p:cNvCxnSpPr>
          <p:nvPr/>
        </p:nvCxnSpPr>
        <p:spPr>
          <a:xfrm flipH="1">
            <a:off x="3171191" y="5294378"/>
            <a:ext cx="586421" cy="44463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4CA1CF30-D7E0-7E8E-A30E-EBFADEBD197B}"/>
              </a:ext>
            </a:extLst>
          </p:cNvPr>
          <p:cNvCxnSpPr>
            <a:cxnSpLocks/>
            <a:endCxn id="3" idx="3"/>
          </p:cNvCxnSpPr>
          <p:nvPr/>
        </p:nvCxnSpPr>
        <p:spPr>
          <a:xfrm flipH="1" flipV="1">
            <a:off x="3171191" y="5739017"/>
            <a:ext cx="586421" cy="47705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4CB78648-8796-FDA3-8407-99429EFB1369}"/>
              </a:ext>
            </a:extLst>
          </p:cNvPr>
          <p:cNvCxnSpPr>
            <a:cxnSpLocks/>
            <a:endCxn id="2" idx="3"/>
          </p:cNvCxnSpPr>
          <p:nvPr/>
        </p:nvCxnSpPr>
        <p:spPr>
          <a:xfrm flipH="1">
            <a:off x="2415225" y="2619058"/>
            <a:ext cx="1342387" cy="80994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2A9786A4-2681-C9D0-7736-C1688F2A4A04}"/>
              </a:ext>
            </a:extLst>
          </p:cNvPr>
          <p:cNvCxnSpPr>
            <a:cxnSpLocks/>
            <a:endCxn id="2" idx="3"/>
          </p:cNvCxnSpPr>
          <p:nvPr/>
        </p:nvCxnSpPr>
        <p:spPr>
          <a:xfrm flipH="1" flipV="1">
            <a:off x="2415225" y="3429000"/>
            <a:ext cx="1342387" cy="10287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8FA70575-51C2-EB39-E4A5-8EAAD445E027}"/>
              </a:ext>
            </a:extLst>
          </p:cNvPr>
          <p:cNvCxnSpPr>
            <a:cxnSpLocks/>
            <a:endCxn id="2" idx="3"/>
          </p:cNvCxnSpPr>
          <p:nvPr/>
        </p:nvCxnSpPr>
        <p:spPr>
          <a:xfrm flipH="1" flipV="1">
            <a:off x="2415225" y="3429000"/>
            <a:ext cx="1342387" cy="3241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 name="Google Shape;95;p1">
                <a:extLst>
                  <a:ext uri="{FF2B5EF4-FFF2-40B4-BE49-F238E27FC236}">
                    <a16:creationId xmlns:a16="http://schemas.microsoft.com/office/drawing/2014/main" id="{123A9AFB-C780-94BA-5BE7-FEBF6E12C920}"/>
                  </a:ext>
                </a:extLst>
              </p:cNvPr>
              <p:cNvSpPr/>
              <p:nvPr/>
            </p:nvSpPr>
            <p:spPr>
              <a:xfrm>
                <a:off x="4068115" y="7722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12" name="Google Shape;95;p1">
                <a:extLst>
                  <a:ext uri="{FF2B5EF4-FFF2-40B4-BE49-F238E27FC236}">
                    <a16:creationId xmlns:a16="http://schemas.microsoft.com/office/drawing/2014/main" id="{123A9AFB-C780-94BA-5BE7-FEBF6E12C920}"/>
                  </a:ext>
                </a:extLst>
              </p:cNvPr>
              <p:cNvSpPr>
                <a:spLocks noRot="1" noChangeAspect="1" noMove="1" noResize="1" noEditPoints="1" noAdjustHandles="1" noChangeArrowheads="1" noChangeShapeType="1" noTextEdit="1"/>
              </p:cNvSpPr>
              <p:nvPr/>
            </p:nvSpPr>
            <p:spPr>
              <a:xfrm>
                <a:off x="4068115" y="77227"/>
                <a:ext cx="4055770" cy="523180"/>
              </a:xfrm>
              <a:prstGeom prst="rect">
                <a:avLst/>
              </a:prstGeom>
              <a:blipFill>
                <a:blip r:embed="rId4"/>
                <a:stretch>
                  <a:fillRect l="-3125" t="-14286" b="-30952"/>
                </a:stretch>
              </a:blipFill>
              <a:ln>
                <a:noFill/>
              </a:ln>
            </p:spPr>
            <p:txBody>
              <a:bodyPr/>
              <a:lstStyle/>
              <a:p>
                <a:r>
                  <a:rPr lang="ja-JP" altLang="en-US">
                    <a:noFill/>
                  </a:rPr>
                  <a:t> </a:t>
                </a:r>
              </a:p>
            </p:txBody>
          </p:sp>
        </mc:Fallback>
      </mc:AlternateContent>
      <p:sp>
        <p:nvSpPr>
          <p:cNvPr id="5" name="スライド番号プレースホルダー 4">
            <a:extLst>
              <a:ext uri="{FF2B5EF4-FFF2-40B4-BE49-F238E27FC236}">
                <a16:creationId xmlns:a16="http://schemas.microsoft.com/office/drawing/2014/main" id="{DC0C2443-A205-DE23-F219-6C0BAC334DF5}"/>
              </a:ext>
            </a:extLst>
          </p:cNvPr>
          <p:cNvSpPr>
            <a:spLocks noGrp="1"/>
          </p:cNvSpPr>
          <p:nvPr>
            <p:ph type="sldNum" sz="quarter" idx="12"/>
          </p:nvPr>
        </p:nvSpPr>
        <p:spPr/>
        <p:txBody>
          <a:bodyPr/>
          <a:lstStyle/>
          <a:p>
            <a:fld id="{21218AEF-8260-6F42-89D9-6D82E053F226}" type="slidenum">
              <a:rPr kumimoji="1" lang="ja-JP" altLang="en-US" smtClean="0"/>
              <a:t>46</a:t>
            </a:fld>
            <a:endParaRPr kumimoji="1" lang="ja-JP" altLang="en-US"/>
          </a:p>
        </p:txBody>
      </p:sp>
    </p:spTree>
    <p:extLst>
      <p:ext uri="{BB962C8B-B14F-4D97-AF65-F5344CB8AC3E}">
        <p14:creationId xmlns:p14="http://schemas.microsoft.com/office/powerpoint/2010/main" val="1449014260"/>
      </p:ext>
    </p:extLst>
  </p:cSld>
  <p:clrMapOvr>
    <a:masterClrMapping/>
  </p:clrMapOvr>
  <mc:AlternateContent xmlns:mc="http://schemas.openxmlformats.org/markup-compatibility/2006">
    <mc:Choice xmlns:p14="http://schemas.microsoft.com/office/powerpoint/2010/main" Requires="p14">
      <p:transition spd="slow" p14:dur="2000" advTm="8891"/>
    </mc:Choice>
    <mc:Fallback>
      <p:transition spd="slow" advTm="8891"/>
    </mc:Fallback>
  </mc:AlternateContent>
</p:sld>
</file>

<file path=ppt/slides/slide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5" name="Google Shape;95;p1">
                <a:extLst>
                  <a:ext uri="{FF2B5EF4-FFF2-40B4-BE49-F238E27FC236}">
                    <a16:creationId xmlns:a16="http://schemas.microsoft.com/office/drawing/2014/main" id="{D71CD2D6-0C56-F489-24E7-ACD27AFEB139}"/>
                  </a:ext>
                </a:extLst>
              </p:cNvPr>
              <p:cNvSpPr/>
              <p:nvPr/>
            </p:nvSpPr>
            <p:spPr>
              <a:xfrm>
                <a:off x="4068115" y="24538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=20)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5" name="Google Shape;95;p1">
                <a:extLst>
                  <a:ext uri="{FF2B5EF4-FFF2-40B4-BE49-F238E27FC236}">
                    <a16:creationId xmlns:a16="http://schemas.microsoft.com/office/drawing/2014/main" id="{D71CD2D6-0C56-F489-24E7-ACD27AFEB139}"/>
                  </a:ext>
                </a:extLst>
              </p:cNvPr>
              <p:cNvSpPr>
                <a:spLocks noRot="1" noChangeAspect="1" noMove="1" noResize="1" noEditPoints="1" noAdjustHandles="1" noChangeArrowheads="1" noChangeShapeType="1" noTextEdit="1"/>
              </p:cNvSpPr>
              <p:nvPr/>
            </p:nvSpPr>
            <p:spPr>
              <a:xfrm>
                <a:off x="4068115" y="245387"/>
                <a:ext cx="4055770" cy="523180"/>
              </a:xfrm>
              <a:prstGeom prst="rect">
                <a:avLst/>
              </a:prstGeom>
              <a:blipFill>
                <a:blip r:embed="rId3"/>
                <a:stretch>
                  <a:fillRect l="-3125" t="-11905" b="-30952"/>
                </a:stretch>
              </a:blipFill>
              <a:ln>
                <a:no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nvGraphicFramePr>
            <p:xfrm>
              <a:off x="2241750" y="918000"/>
              <a:ext cx="8279999"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2742538879"/>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20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30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0.01871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(0.13561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0.00794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0.08875</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0.00810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(0.08945</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0.01462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0.12128</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0.03828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0.15104</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0.01879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0.10018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0.01007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(0.10088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0.00699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0.08405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0.00673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(0.08241</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0.01467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(0.11567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0.28168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0.22291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0.18412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(0.21153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0.03614</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(0.17409)</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0.04609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0.19343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0.04766</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(0.16462)</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mc:Choice>
        <mc:Fallback xmlns="">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442424493"/>
                  </p:ext>
                </p:extLst>
              </p:nvPr>
            </p:nvGraphicFramePr>
            <p:xfrm>
              <a:off x="2241750" y="918000"/>
              <a:ext cx="8279999"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2742538879"/>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129293" t="-3509" r="-101010" b="-722807"/>
                          </a:stretch>
                        </a:blipFill>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228141" t="-3509" r="-503" b="-722807"/>
                          </a:stretch>
                        </a:blipFill>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0.01871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(0.13561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0.00794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0.08875</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0.00810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(0.08945</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0.01462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0.12128</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0.03828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0.15104</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0.01879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0.10018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0.01007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(0.10088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0.00699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0.08405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0.00673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(0.08241</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0.01467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(0.11567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0.28168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0.22291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0.18412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(0.21153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0.03614</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(0.17409)</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0.04609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0.19343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0.04766</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(0.16462)</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mc:Fallback>
      </mc:AlternateContent>
      <p:sp>
        <p:nvSpPr>
          <p:cNvPr id="3" name="スライド番号プレースホルダー 2">
            <a:extLst>
              <a:ext uri="{FF2B5EF4-FFF2-40B4-BE49-F238E27FC236}">
                <a16:creationId xmlns:a16="http://schemas.microsoft.com/office/drawing/2014/main" id="{3277E148-1C6F-3E87-D31A-C984304148E2}"/>
              </a:ext>
            </a:extLst>
          </p:cNvPr>
          <p:cNvSpPr>
            <a:spLocks noGrp="1"/>
          </p:cNvSpPr>
          <p:nvPr>
            <p:ph type="sldNum" sz="quarter" idx="12"/>
          </p:nvPr>
        </p:nvSpPr>
        <p:spPr/>
        <p:txBody>
          <a:bodyPr/>
          <a:lstStyle/>
          <a:p>
            <a:fld id="{21218AEF-8260-6F42-89D9-6D82E053F226}" type="slidenum">
              <a:rPr kumimoji="1" lang="ja-JP" altLang="en-US" smtClean="0"/>
              <a:t>47</a:t>
            </a:fld>
            <a:endParaRPr kumimoji="1" lang="ja-JP" altLang="en-US"/>
          </a:p>
        </p:txBody>
      </p:sp>
    </p:spTree>
    <p:extLst>
      <p:ext uri="{BB962C8B-B14F-4D97-AF65-F5344CB8AC3E}">
        <p14:creationId xmlns:p14="http://schemas.microsoft.com/office/powerpoint/2010/main" val="34859692"/>
      </p:ext>
    </p:extLst>
  </p:cSld>
  <p:clrMapOvr>
    <a:masterClrMapping/>
  </p:clrMapOvr>
  <mc:AlternateContent xmlns:mc="http://schemas.openxmlformats.org/markup-compatibility/2006" xmlns:p14="http://schemas.microsoft.com/office/powerpoint/2010/main">
    <mc:Choice Requires="p14">
      <p:transition spd="slow" p14:dur="2000" advTm="36020"/>
    </mc:Choice>
    <mc:Fallback xmlns="">
      <p:transition spd="slow" advTm="36020"/>
    </mc:Fallback>
  </mc:AlternateContent>
</p:sld>
</file>

<file path=ppt/slides/slide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nvGraphicFramePr>
            <p:xfrm>
              <a:off x="3757612" y="728730"/>
              <a:ext cx="8280001" cy="5940000"/>
            </p:xfrm>
            <a:graphic>
              <a:graphicData uri="http://schemas.openxmlformats.org/drawingml/2006/table">
                <a:tbl>
                  <a:tblPr firstRow="1" bandRow="1">
                    <a:tableStyleId>{5940675A-B579-460E-94D1-54222C63F5DA}</a:tableStyleId>
                  </a:tblPr>
                  <a:tblGrid>
                    <a:gridCol w="720001">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3806945413"/>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20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30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0.01251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(0.11137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0.12680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0.35298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0.05356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(0.22983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0.01164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(0.10782</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0.03392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0.17801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0.02348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(0.14851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0.31845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(0.56714</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0.27845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0.52801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0.23659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(0.48738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0.03495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(0.18537</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0.01567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0.12576</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0.01618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(0.12720</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0.01961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(0.13998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0.01199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0.10911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0.01175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(0.10804</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extLst>
                      <a:ext uri="{0D108BD9-81ED-4DB2-BD59-A6C34878D82A}">
                        <a16:rowId xmlns:a16="http://schemas.microsoft.com/office/drawing/2014/main" val="825497824"/>
                      </a:ext>
                    </a:extLst>
                  </a:tr>
                </a:tbl>
              </a:graphicData>
            </a:graphic>
          </p:graphicFrame>
        </mc:Choice>
        <mc:Fallback xmlns="">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3693462987"/>
                  </p:ext>
                </p:extLst>
              </p:nvPr>
            </p:nvGraphicFramePr>
            <p:xfrm>
              <a:off x="3757612" y="728730"/>
              <a:ext cx="8280001" cy="5940000"/>
            </p:xfrm>
            <a:graphic>
              <a:graphicData uri="http://schemas.openxmlformats.org/drawingml/2006/table">
                <a:tbl>
                  <a:tblPr firstRow="1" bandRow="1">
                    <a:tableStyleId>{5940675A-B579-460E-94D1-54222C63F5DA}</a:tableStyleId>
                  </a:tblPr>
                  <a:tblGrid>
                    <a:gridCol w="720001">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3806945413"/>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9293" t="-3509" r="-101010" b="-724561"/>
                          </a:stretch>
                        </a:blipFill>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28141" t="-3509" r="-503" b="-724561"/>
                          </a:stretch>
                        </a:blipFill>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0.01251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(0.11137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0.12680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0.35298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0.05356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(0.22983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0.01164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(0.10782</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0.03392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0.17801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0.02348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(0.14851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0.31845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(0.56714</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0.27845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0.52801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0.23659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(0.48738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0.03495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(0.18537</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0.01567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0.12576</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0.01618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(0.12720</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0.01961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(0.13998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0.01199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0.10911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0.01175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(0.10804</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extLst>
                      <a:ext uri="{0D108BD9-81ED-4DB2-BD59-A6C34878D82A}">
                        <a16:rowId xmlns:a16="http://schemas.microsoft.com/office/drawing/2014/main" val="825497824"/>
                      </a:ext>
                    </a:extLst>
                  </a:tr>
                </a:tbl>
              </a:graphicData>
            </a:graphic>
          </p:graphicFrame>
        </mc:Fallback>
      </mc:AlternateContent>
      <p:sp>
        <p:nvSpPr>
          <p:cNvPr id="2" name="テキスト ボックス 1">
            <a:extLst>
              <a:ext uri="{FF2B5EF4-FFF2-40B4-BE49-F238E27FC236}">
                <a16:creationId xmlns:a16="http://schemas.microsoft.com/office/drawing/2014/main" id="{224D7986-F9FE-A23A-F7DB-22303537F01C}"/>
              </a:ext>
            </a:extLst>
          </p:cNvPr>
          <p:cNvSpPr txBox="1"/>
          <p:nvPr/>
        </p:nvSpPr>
        <p:spPr>
          <a:xfrm>
            <a:off x="200662" y="2951946"/>
            <a:ext cx="2214563" cy="954107"/>
          </a:xfrm>
          <a:prstGeom prst="rect">
            <a:avLst/>
          </a:prstGeom>
          <a:noFill/>
          <a:ln w="28575">
            <a:solidFill>
              <a:schemeClr val="accent1">
                <a:lumMod val="60000"/>
                <a:lumOff val="40000"/>
              </a:schemeClr>
            </a:solidFill>
          </a:ln>
        </p:spPr>
        <p:txBody>
          <a:bodyPr wrap="square" rtlCol="0">
            <a:spAutoFit/>
          </a:bodyPr>
          <a:lstStyle/>
          <a:p>
            <a:r>
              <a:rPr kumimoji="1" lang="ja-JP" altLang="en-US" sz="2800"/>
              <a:t>結果モデルが非線形</a:t>
            </a:r>
          </a:p>
        </p:txBody>
      </p:sp>
      <p:sp>
        <p:nvSpPr>
          <p:cNvPr id="3" name="テキスト ボックス 2">
            <a:extLst>
              <a:ext uri="{FF2B5EF4-FFF2-40B4-BE49-F238E27FC236}">
                <a16:creationId xmlns:a16="http://schemas.microsoft.com/office/drawing/2014/main" id="{8CAEED3F-DA8C-2EF1-F240-893D71B6E0E9}"/>
              </a:ext>
            </a:extLst>
          </p:cNvPr>
          <p:cNvSpPr txBox="1"/>
          <p:nvPr/>
        </p:nvSpPr>
        <p:spPr>
          <a:xfrm>
            <a:off x="85729" y="5261963"/>
            <a:ext cx="3085462" cy="954107"/>
          </a:xfrm>
          <a:prstGeom prst="rect">
            <a:avLst/>
          </a:prstGeom>
          <a:noFill/>
          <a:ln w="28575">
            <a:solidFill>
              <a:schemeClr val="accent2">
                <a:lumMod val="60000"/>
                <a:lumOff val="40000"/>
              </a:schemeClr>
            </a:solidFill>
          </a:ln>
        </p:spPr>
        <p:txBody>
          <a:bodyPr wrap="square" rtlCol="0">
            <a:spAutoFit/>
          </a:bodyPr>
          <a:lstStyle/>
          <a:p>
            <a:r>
              <a:rPr lang="ja-JP" altLang="en-US" sz="2800"/>
              <a:t>傾向スコア</a:t>
            </a:r>
            <a:r>
              <a:rPr kumimoji="1" lang="ja-JP" altLang="en-US" sz="2800"/>
              <a:t>モデルが非線形</a:t>
            </a:r>
          </a:p>
        </p:txBody>
      </p:sp>
      <p:cxnSp>
        <p:nvCxnSpPr>
          <p:cNvPr id="4" name="直線コネクタ 3">
            <a:extLst>
              <a:ext uri="{FF2B5EF4-FFF2-40B4-BE49-F238E27FC236}">
                <a16:creationId xmlns:a16="http://schemas.microsoft.com/office/drawing/2014/main" id="{23DD680F-DB5A-99B4-1BED-A9F4CA6442CF}"/>
              </a:ext>
            </a:extLst>
          </p:cNvPr>
          <p:cNvCxnSpPr>
            <a:cxnSpLocks/>
            <a:endCxn id="3" idx="3"/>
          </p:cNvCxnSpPr>
          <p:nvPr/>
        </p:nvCxnSpPr>
        <p:spPr>
          <a:xfrm flipH="1">
            <a:off x="3171191" y="5294378"/>
            <a:ext cx="586421" cy="44463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4CA1CF30-D7E0-7E8E-A30E-EBFADEBD197B}"/>
              </a:ext>
            </a:extLst>
          </p:cNvPr>
          <p:cNvCxnSpPr>
            <a:cxnSpLocks/>
            <a:endCxn id="3" idx="3"/>
          </p:cNvCxnSpPr>
          <p:nvPr/>
        </p:nvCxnSpPr>
        <p:spPr>
          <a:xfrm flipH="1" flipV="1">
            <a:off x="3171191" y="5739017"/>
            <a:ext cx="586421" cy="47705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4CB78648-8796-FDA3-8407-99429EFB1369}"/>
              </a:ext>
            </a:extLst>
          </p:cNvPr>
          <p:cNvCxnSpPr>
            <a:cxnSpLocks/>
            <a:endCxn id="2" idx="3"/>
          </p:cNvCxnSpPr>
          <p:nvPr/>
        </p:nvCxnSpPr>
        <p:spPr>
          <a:xfrm flipH="1">
            <a:off x="2415225" y="2619058"/>
            <a:ext cx="1342387" cy="80994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2A9786A4-2681-C9D0-7736-C1688F2A4A04}"/>
              </a:ext>
            </a:extLst>
          </p:cNvPr>
          <p:cNvCxnSpPr>
            <a:cxnSpLocks/>
            <a:endCxn id="2" idx="3"/>
          </p:cNvCxnSpPr>
          <p:nvPr/>
        </p:nvCxnSpPr>
        <p:spPr>
          <a:xfrm flipH="1" flipV="1">
            <a:off x="2415225" y="3429000"/>
            <a:ext cx="1342387" cy="10287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8FA70575-51C2-EB39-E4A5-8EAAD445E027}"/>
              </a:ext>
            </a:extLst>
          </p:cNvPr>
          <p:cNvCxnSpPr>
            <a:cxnSpLocks/>
            <a:endCxn id="2" idx="3"/>
          </p:cNvCxnSpPr>
          <p:nvPr/>
        </p:nvCxnSpPr>
        <p:spPr>
          <a:xfrm flipH="1" flipV="1">
            <a:off x="2415225" y="3429000"/>
            <a:ext cx="1342387" cy="3241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 name="Google Shape;95;p1">
                <a:extLst>
                  <a:ext uri="{FF2B5EF4-FFF2-40B4-BE49-F238E27FC236}">
                    <a16:creationId xmlns:a16="http://schemas.microsoft.com/office/drawing/2014/main" id="{123A9AFB-C780-94BA-5BE7-FEBF6E12C920}"/>
                  </a:ext>
                </a:extLst>
              </p:cNvPr>
              <p:cNvSpPr/>
              <p:nvPr/>
            </p:nvSpPr>
            <p:spPr>
              <a:xfrm>
                <a:off x="4068115" y="7722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=20)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12" name="Google Shape;95;p1">
                <a:extLst>
                  <a:ext uri="{FF2B5EF4-FFF2-40B4-BE49-F238E27FC236}">
                    <a16:creationId xmlns:a16="http://schemas.microsoft.com/office/drawing/2014/main" id="{123A9AFB-C780-94BA-5BE7-FEBF6E12C920}"/>
                  </a:ext>
                </a:extLst>
              </p:cNvPr>
              <p:cNvSpPr>
                <a:spLocks noRot="1" noChangeAspect="1" noMove="1" noResize="1" noEditPoints="1" noAdjustHandles="1" noChangeArrowheads="1" noChangeShapeType="1" noTextEdit="1"/>
              </p:cNvSpPr>
              <p:nvPr/>
            </p:nvSpPr>
            <p:spPr>
              <a:xfrm>
                <a:off x="4068115" y="77227"/>
                <a:ext cx="4055770" cy="523180"/>
              </a:xfrm>
              <a:prstGeom prst="rect">
                <a:avLst/>
              </a:prstGeom>
              <a:blipFill>
                <a:blip r:embed="rId4"/>
                <a:stretch>
                  <a:fillRect l="-3125" t="-14286" b="-30952"/>
                </a:stretch>
              </a:blipFill>
              <a:ln>
                <a:noFill/>
              </a:ln>
            </p:spPr>
            <p:txBody>
              <a:bodyPr/>
              <a:lstStyle/>
              <a:p>
                <a:r>
                  <a:rPr lang="ja-JP" altLang="en-US">
                    <a:noFill/>
                  </a:rPr>
                  <a:t> </a:t>
                </a:r>
              </a:p>
            </p:txBody>
          </p:sp>
        </mc:Fallback>
      </mc:AlternateContent>
      <p:sp>
        <p:nvSpPr>
          <p:cNvPr id="5" name="スライド番号プレースホルダー 4">
            <a:extLst>
              <a:ext uri="{FF2B5EF4-FFF2-40B4-BE49-F238E27FC236}">
                <a16:creationId xmlns:a16="http://schemas.microsoft.com/office/drawing/2014/main" id="{C9D73A7D-2C21-7DD9-67B1-DB3AB1FB826A}"/>
              </a:ext>
            </a:extLst>
          </p:cNvPr>
          <p:cNvSpPr>
            <a:spLocks noGrp="1"/>
          </p:cNvSpPr>
          <p:nvPr>
            <p:ph type="sldNum" sz="quarter" idx="12"/>
          </p:nvPr>
        </p:nvSpPr>
        <p:spPr/>
        <p:txBody>
          <a:bodyPr/>
          <a:lstStyle/>
          <a:p>
            <a:fld id="{21218AEF-8260-6F42-89D9-6D82E053F226}" type="slidenum">
              <a:rPr kumimoji="1" lang="ja-JP" altLang="en-US" smtClean="0"/>
              <a:t>48</a:t>
            </a:fld>
            <a:endParaRPr kumimoji="1" lang="ja-JP" altLang="en-US"/>
          </a:p>
        </p:txBody>
      </p:sp>
    </p:spTree>
    <p:extLst>
      <p:ext uri="{BB962C8B-B14F-4D97-AF65-F5344CB8AC3E}">
        <p14:creationId xmlns:p14="http://schemas.microsoft.com/office/powerpoint/2010/main" val="1694546005"/>
      </p:ext>
    </p:extLst>
  </p:cSld>
  <p:clrMapOvr>
    <a:masterClrMapping/>
  </p:clrMapOvr>
  <mc:AlternateContent xmlns:mc="http://schemas.openxmlformats.org/markup-compatibility/2006" xmlns:p14="http://schemas.microsoft.com/office/powerpoint/2010/main">
    <mc:Choice Requires="p14">
      <p:transition spd="slow" p14:dur="2000" advTm="50586"/>
    </mc:Choice>
    <mc:Fallback xmlns="">
      <p:transition spd="slow" advTm="50586"/>
    </mc:Fallback>
  </mc:AlternateContent>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5" name="Google Shape;95;p1">
                <a:extLst>
                  <a:ext uri="{FF2B5EF4-FFF2-40B4-BE49-F238E27FC236}">
                    <a16:creationId xmlns:a16="http://schemas.microsoft.com/office/drawing/2014/main" id="{D71CD2D6-0C56-F489-24E7-ACD27AFEB139}"/>
                  </a:ext>
                </a:extLst>
              </p:cNvPr>
              <p:cNvSpPr/>
              <p:nvPr/>
            </p:nvSpPr>
            <p:spPr>
              <a:xfrm>
                <a:off x="4068115" y="24538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=30)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5" name="Google Shape;95;p1">
                <a:extLst>
                  <a:ext uri="{FF2B5EF4-FFF2-40B4-BE49-F238E27FC236}">
                    <a16:creationId xmlns:a16="http://schemas.microsoft.com/office/drawing/2014/main" id="{D71CD2D6-0C56-F489-24E7-ACD27AFEB139}"/>
                  </a:ext>
                </a:extLst>
              </p:cNvPr>
              <p:cNvSpPr>
                <a:spLocks noRot="1" noChangeAspect="1" noMove="1" noResize="1" noEditPoints="1" noAdjustHandles="1" noChangeArrowheads="1" noChangeShapeType="1" noTextEdit="1"/>
              </p:cNvSpPr>
              <p:nvPr/>
            </p:nvSpPr>
            <p:spPr>
              <a:xfrm>
                <a:off x="4068115" y="245387"/>
                <a:ext cx="4055770" cy="523180"/>
              </a:xfrm>
              <a:prstGeom prst="rect">
                <a:avLst/>
              </a:prstGeom>
              <a:blipFill>
                <a:blip r:embed="rId3"/>
                <a:stretch>
                  <a:fillRect l="-3125" t="-11905" b="-30952"/>
                </a:stretch>
              </a:blipFill>
              <a:ln>
                <a:no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nvGraphicFramePr>
            <p:xfrm>
              <a:off x="2241750" y="918000"/>
              <a:ext cx="8279999"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3450969828"/>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20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30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0.03598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(0.18259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0.00804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0.08997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0.00806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(0.09013</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0.03914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0.19848</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0.06553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0.19015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0.04234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0.16732</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0.03845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(0.19707</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0.00840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0.09197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0.00898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(0.09487</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0.03531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(0.18871</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0.30456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0.20379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0.24748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(0.20348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0.06303</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(0.25208)</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0.03862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0.18599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0.04191</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(0.18060)</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mc:Choice>
        <mc:Fallback xmlns="">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4167565759"/>
                  </p:ext>
                </p:extLst>
              </p:nvPr>
            </p:nvGraphicFramePr>
            <p:xfrm>
              <a:off x="2241750" y="918000"/>
              <a:ext cx="8279999"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3450969828"/>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129293" t="-3509" r="-101010" b="-722807"/>
                          </a:stretch>
                        </a:blipFill>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228141" t="-3509" r="-503" b="-722807"/>
                          </a:stretch>
                        </a:blipFill>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0.03598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(0.18259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0.00804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0.08997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0.00806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(0.09013</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0.03914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0.19848</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0.06553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0.19015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0.04234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0.16732</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0.03845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(0.19707</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0.00840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0.09197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0.00898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(0.09487</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0.03531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(0.18871</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0.30456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0.20379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0.24748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(0.20348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0.06303</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(0.25208)</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0.03862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0.18599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0.04191</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(0.18060)</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mc:Fallback>
      </mc:AlternateContent>
      <p:sp>
        <p:nvSpPr>
          <p:cNvPr id="3" name="スライド番号プレースホルダー 2">
            <a:extLst>
              <a:ext uri="{FF2B5EF4-FFF2-40B4-BE49-F238E27FC236}">
                <a16:creationId xmlns:a16="http://schemas.microsoft.com/office/drawing/2014/main" id="{19C1A7BA-1316-B696-8678-BFC4E19DEE28}"/>
              </a:ext>
            </a:extLst>
          </p:cNvPr>
          <p:cNvSpPr>
            <a:spLocks noGrp="1"/>
          </p:cNvSpPr>
          <p:nvPr>
            <p:ph type="sldNum" sz="quarter" idx="12"/>
          </p:nvPr>
        </p:nvSpPr>
        <p:spPr/>
        <p:txBody>
          <a:bodyPr/>
          <a:lstStyle/>
          <a:p>
            <a:fld id="{21218AEF-8260-6F42-89D9-6D82E053F226}" type="slidenum">
              <a:rPr kumimoji="1" lang="ja-JP" altLang="en-US" smtClean="0"/>
              <a:t>49</a:t>
            </a:fld>
            <a:endParaRPr kumimoji="1" lang="ja-JP" altLang="en-US"/>
          </a:p>
        </p:txBody>
      </p:sp>
    </p:spTree>
    <p:extLst>
      <p:ext uri="{BB962C8B-B14F-4D97-AF65-F5344CB8AC3E}">
        <p14:creationId xmlns:p14="http://schemas.microsoft.com/office/powerpoint/2010/main" val="2161823645"/>
      </p:ext>
    </p:extLst>
  </p:cSld>
  <p:clrMapOvr>
    <a:masterClrMapping/>
  </p:clrMapOvr>
  <mc:AlternateContent xmlns:mc="http://schemas.openxmlformats.org/markup-compatibility/2006" xmlns:p14="http://schemas.microsoft.com/office/powerpoint/2010/main">
    <mc:Choice Requires="p14">
      <p:transition spd="slow" p14:dur="2000" advTm="36020"/>
    </mc:Choice>
    <mc:Fallback xmlns="">
      <p:transition spd="slow" advTm="36020"/>
    </mc:Fallback>
  </mc:AlternateContent>
</p:sld>
</file>

<file path=ppt/slides/slide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nvGraphicFramePr>
            <p:xfrm>
              <a:off x="3757612" y="728730"/>
              <a:ext cx="828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3450969828"/>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20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30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0.03124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0.17688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0.11131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0.33530</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0.05174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(0.22845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0.05926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0.24411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0.03072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0.17589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0.02714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(0.16556</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0.92609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0.96718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0.25939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0.50146</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0.24296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(0.48731</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0.04180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0.20523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0.01095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0.10517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0.01149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(0.10701</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0.04653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0.21006</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0.01155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0.10790</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0.01201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(0.11008</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extLst>
                      <a:ext uri="{0D108BD9-81ED-4DB2-BD59-A6C34878D82A}">
                        <a16:rowId xmlns:a16="http://schemas.microsoft.com/office/drawing/2014/main" val="825497824"/>
                      </a:ext>
                    </a:extLst>
                  </a:tr>
                </a:tbl>
              </a:graphicData>
            </a:graphic>
          </p:graphicFrame>
        </mc:Choice>
        <mc:Fallback xmlns="">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2610716597"/>
                  </p:ext>
                </p:extLst>
              </p:nvPr>
            </p:nvGraphicFramePr>
            <p:xfrm>
              <a:off x="3757612" y="728730"/>
              <a:ext cx="828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3450969828"/>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9293" t="-3509" r="-101010" b="-724561"/>
                          </a:stretch>
                        </a:blipFill>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28141" t="-3509" r="-503" b="-724561"/>
                          </a:stretch>
                        </a:blipFill>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0.03124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0.17688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0.11131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0.33530</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0.05174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(0.22845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0.05926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0.24411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0.03072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0.17589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0.02714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(0.16556</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0.92609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0.96718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0.25939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0.50146</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0.24296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(0.48731</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0.04180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0.20523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0.01095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0.10517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0.01149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(0.10701</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60000"/>
                            <a:lumOff val="4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0.04653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0.21006</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0.01155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0.10790</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0.01201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(0.11008</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extLst>
                      <a:ext uri="{0D108BD9-81ED-4DB2-BD59-A6C34878D82A}">
                        <a16:rowId xmlns:a16="http://schemas.microsoft.com/office/drawing/2014/main" val="825497824"/>
                      </a:ext>
                    </a:extLst>
                  </a:tr>
                </a:tbl>
              </a:graphicData>
            </a:graphic>
          </p:graphicFrame>
        </mc:Fallback>
      </mc:AlternateContent>
      <p:sp>
        <p:nvSpPr>
          <p:cNvPr id="2" name="テキスト ボックス 1">
            <a:extLst>
              <a:ext uri="{FF2B5EF4-FFF2-40B4-BE49-F238E27FC236}">
                <a16:creationId xmlns:a16="http://schemas.microsoft.com/office/drawing/2014/main" id="{224D7986-F9FE-A23A-F7DB-22303537F01C}"/>
              </a:ext>
            </a:extLst>
          </p:cNvPr>
          <p:cNvSpPr txBox="1"/>
          <p:nvPr/>
        </p:nvSpPr>
        <p:spPr>
          <a:xfrm>
            <a:off x="200662" y="2951946"/>
            <a:ext cx="2214563" cy="954107"/>
          </a:xfrm>
          <a:prstGeom prst="rect">
            <a:avLst/>
          </a:prstGeom>
          <a:noFill/>
          <a:ln w="28575">
            <a:solidFill>
              <a:schemeClr val="accent1">
                <a:lumMod val="60000"/>
                <a:lumOff val="40000"/>
              </a:schemeClr>
            </a:solidFill>
          </a:ln>
        </p:spPr>
        <p:txBody>
          <a:bodyPr wrap="square" rtlCol="0">
            <a:spAutoFit/>
          </a:bodyPr>
          <a:lstStyle/>
          <a:p>
            <a:r>
              <a:rPr kumimoji="1" lang="ja-JP" altLang="en-US" sz="2800"/>
              <a:t>結果モデルが非線形</a:t>
            </a:r>
          </a:p>
        </p:txBody>
      </p:sp>
      <p:sp>
        <p:nvSpPr>
          <p:cNvPr id="3" name="テキスト ボックス 2">
            <a:extLst>
              <a:ext uri="{FF2B5EF4-FFF2-40B4-BE49-F238E27FC236}">
                <a16:creationId xmlns:a16="http://schemas.microsoft.com/office/drawing/2014/main" id="{8CAEED3F-DA8C-2EF1-F240-893D71B6E0E9}"/>
              </a:ext>
            </a:extLst>
          </p:cNvPr>
          <p:cNvSpPr txBox="1"/>
          <p:nvPr/>
        </p:nvSpPr>
        <p:spPr>
          <a:xfrm>
            <a:off x="85729" y="5261963"/>
            <a:ext cx="3085462" cy="954107"/>
          </a:xfrm>
          <a:prstGeom prst="rect">
            <a:avLst/>
          </a:prstGeom>
          <a:noFill/>
          <a:ln w="28575">
            <a:solidFill>
              <a:schemeClr val="accent2">
                <a:lumMod val="60000"/>
                <a:lumOff val="40000"/>
              </a:schemeClr>
            </a:solidFill>
          </a:ln>
        </p:spPr>
        <p:txBody>
          <a:bodyPr wrap="square" rtlCol="0">
            <a:spAutoFit/>
          </a:bodyPr>
          <a:lstStyle/>
          <a:p>
            <a:r>
              <a:rPr lang="ja-JP" altLang="en-US" sz="2800"/>
              <a:t>傾向スコア</a:t>
            </a:r>
            <a:r>
              <a:rPr kumimoji="1" lang="ja-JP" altLang="en-US" sz="2800"/>
              <a:t>モデルが非線形</a:t>
            </a:r>
          </a:p>
        </p:txBody>
      </p:sp>
      <p:cxnSp>
        <p:nvCxnSpPr>
          <p:cNvPr id="4" name="直線コネクタ 3">
            <a:extLst>
              <a:ext uri="{FF2B5EF4-FFF2-40B4-BE49-F238E27FC236}">
                <a16:creationId xmlns:a16="http://schemas.microsoft.com/office/drawing/2014/main" id="{23DD680F-DB5A-99B4-1BED-A9F4CA6442CF}"/>
              </a:ext>
            </a:extLst>
          </p:cNvPr>
          <p:cNvCxnSpPr>
            <a:cxnSpLocks/>
            <a:endCxn id="3" idx="3"/>
          </p:cNvCxnSpPr>
          <p:nvPr/>
        </p:nvCxnSpPr>
        <p:spPr>
          <a:xfrm flipH="1">
            <a:off x="3171191" y="5294378"/>
            <a:ext cx="586421" cy="44463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4CA1CF30-D7E0-7E8E-A30E-EBFADEBD197B}"/>
              </a:ext>
            </a:extLst>
          </p:cNvPr>
          <p:cNvCxnSpPr>
            <a:cxnSpLocks/>
            <a:endCxn id="3" idx="3"/>
          </p:cNvCxnSpPr>
          <p:nvPr/>
        </p:nvCxnSpPr>
        <p:spPr>
          <a:xfrm flipH="1" flipV="1">
            <a:off x="3171191" y="5739017"/>
            <a:ext cx="586421" cy="47705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4CB78648-8796-FDA3-8407-99429EFB1369}"/>
              </a:ext>
            </a:extLst>
          </p:cNvPr>
          <p:cNvCxnSpPr>
            <a:cxnSpLocks/>
            <a:endCxn id="2" idx="3"/>
          </p:cNvCxnSpPr>
          <p:nvPr/>
        </p:nvCxnSpPr>
        <p:spPr>
          <a:xfrm flipH="1">
            <a:off x="2415225" y="2619058"/>
            <a:ext cx="1342387" cy="80994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2A9786A4-2681-C9D0-7736-C1688F2A4A04}"/>
              </a:ext>
            </a:extLst>
          </p:cNvPr>
          <p:cNvCxnSpPr>
            <a:cxnSpLocks/>
            <a:endCxn id="2" idx="3"/>
          </p:cNvCxnSpPr>
          <p:nvPr/>
        </p:nvCxnSpPr>
        <p:spPr>
          <a:xfrm flipH="1" flipV="1">
            <a:off x="2415225" y="3429000"/>
            <a:ext cx="1342387" cy="10287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8FA70575-51C2-EB39-E4A5-8EAAD445E027}"/>
              </a:ext>
            </a:extLst>
          </p:cNvPr>
          <p:cNvCxnSpPr>
            <a:cxnSpLocks/>
            <a:endCxn id="2" idx="3"/>
          </p:cNvCxnSpPr>
          <p:nvPr/>
        </p:nvCxnSpPr>
        <p:spPr>
          <a:xfrm flipH="1" flipV="1">
            <a:off x="2415225" y="3429000"/>
            <a:ext cx="1342387" cy="3241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 name="Google Shape;95;p1">
                <a:extLst>
                  <a:ext uri="{FF2B5EF4-FFF2-40B4-BE49-F238E27FC236}">
                    <a16:creationId xmlns:a16="http://schemas.microsoft.com/office/drawing/2014/main" id="{123A9AFB-C780-94BA-5BE7-FEBF6E12C920}"/>
                  </a:ext>
                </a:extLst>
              </p:cNvPr>
              <p:cNvSpPr/>
              <p:nvPr/>
            </p:nvSpPr>
            <p:spPr>
              <a:xfrm>
                <a:off x="4068115" y="7722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=30)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12" name="Google Shape;95;p1">
                <a:extLst>
                  <a:ext uri="{FF2B5EF4-FFF2-40B4-BE49-F238E27FC236}">
                    <a16:creationId xmlns:a16="http://schemas.microsoft.com/office/drawing/2014/main" id="{123A9AFB-C780-94BA-5BE7-FEBF6E12C920}"/>
                  </a:ext>
                </a:extLst>
              </p:cNvPr>
              <p:cNvSpPr>
                <a:spLocks noRot="1" noChangeAspect="1" noMove="1" noResize="1" noEditPoints="1" noAdjustHandles="1" noChangeArrowheads="1" noChangeShapeType="1" noTextEdit="1"/>
              </p:cNvSpPr>
              <p:nvPr/>
            </p:nvSpPr>
            <p:spPr>
              <a:xfrm>
                <a:off x="4068115" y="77227"/>
                <a:ext cx="4055770" cy="523180"/>
              </a:xfrm>
              <a:prstGeom prst="rect">
                <a:avLst/>
              </a:prstGeom>
              <a:blipFill>
                <a:blip r:embed="rId4"/>
                <a:stretch>
                  <a:fillRect l="-3125" t="-14286" b="-30952"/>
                </a:stretch>
              </a:blipFill>
              <a:ln>
                <a:noFill/>
              </a:ln>
            </p:spPr>
            <p:txBody>
              <a:bodyPr/>
              <a:lstStyle/>
              <a:p>
                <a:r>
                  <a:rPr lang="ja-JP" altLang="en-US">
                    <a:noFill/>
                  </a:rPr>
                  <a:t> </a:t>
                </a:r>
              </a:p>
            </p:txBody>
          </p:sp>
        </mc:Fallback>
      </mc:AlternateContent>
      <p:sp>
        <p:nvSpPr>
          <p:cNvPr id="5" name="スライド番号プレースホルダー 4">
            <a:extLst>
              <a:ext uri="{FF2B5EF4-FFF2-40B4-BE49-F238E27FC236}">
                <a16:creationId xmlns:a16="http://schemas.microsoft.com/office/drawing/2014/main" id="{AD36CB9A-7CC0-6087-B4E6-04D4A485D0A6}"/>
              </a:ext>
            </a:extLst>
          </p:cNvPr>
          <p:cNvSpPr>
            <a:spLocks noGrp="1"/>
          </p:cNvSpPr>
          <p:nvPr>
            <p:ph type="sldNum" sz="quarter" idx="12"/>
          </p:nvPr>
        </p:nvSpPr>
        <p:spPr/>
        <p:txBody>
          <a:bodyPr/>
          <a:lstStyle/>
          <a:p>
            <a:fld id="{21218AEF-8260-6F42-89D9-6D82E053F226}" type="slidenum">
              <a:rPr kumimoji="1" lang="ja-JP" altLang="en-US" smtClean="0"/>
              <a:t>50</a:t>
            </a:fld>
            <a:endParaRPr kumimoji="1" lang="ja-JP" altLang="en-US"/>
          </a:p>
        </p:txBody>
      </p:sp>
    </p:spTree>
    <p:extLst>
      <p:ext uri="{BB962C8B-B14F-4D97-AF65-F5344CB8AC3E}">
        <p14:creationId xmlns:p14="http://schemas.microsoft.com/office/powerpoint/2010/main" val="1442981126"/>
      </p:ext>
    </p:extLst>
  </p:cSld>
  <p:clrMapOvr>
    <a:masterClrMapping/>
  </p:clrMapOvr>
  <mc:AlternateContent xmlns:mc="http://schemas.openxmlformats.org/markup-compatibility/2006" xmlns:p14="http://schemas.microsoft.com/office/powerpoint/2010/main">
    <mc:Choice Requires="p14">
      <p:transition spd="slow" p14:dur="2000" advTm="50586"/>
    </mc:Choice>
    <mc:Fallback xmlns="">
      <p:transition spd="slow" advTm="50586"/>
    </mc:Fallback>
  </mc:AlternateContent>
</p:sld>
</file>

<file path=ppt/slides/slide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5" name="Google Shape;95;p1">
                <a:extLst>
                  <a:ext uri="{FF2B5EF4-FFF2-40B4-BE49-F238E27FC236}">
                    <a16:creationId xmlns:a16="http://schemas.microsoft.com/office/drawing/2014/main" id="{D71CD2D6-0C56-F489-24E7-ACD27AFEB139}"/>
                  </a:ext>
                </a:extLst>
              </p:cNvPr>
              <p:cNvSpPr/>
              <p:nvPr/>
            </p:nvSpPr>
            <p:spPr>
              <a:xfrm>
                <a:off x="4068115" y="24538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=40)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5" name="Google Shape;95;p1">
                <a:extLst>
                  <a:ext uri="{FF2B5EF4-FFF2-40B4-BE49-F238E27FC236}">
                    <a16:creationId xmlns:a16="http://schemas.microsoft.com/office/drawing/2014/main" id="{D71CD2D6-0C56-F489-24E7-ACD27AFEB139}"/>
                  </a:ext>
                </a:extLst>
              </p:cNvPr>
              <p:cNvSpPr>
                <a:spLocks noRot="1" noChangeAspect="1" noMove="1" noResize="1" noEditPoints="1" noAdjustHandles="1" noChangeArrowheads="1" noChangeShapeType="1" noTextEdit="1"/>
              </p:cNvSpPr>
              <p:nvPr/>
            </p:nvSpPr>
            <p:spPr>
              <a:xfrm>
                <a:off x="4068115" y="245387"/>
                <a:ext cx="4055770" cy="523180"/>
              </a:xfrm>
              <a:prstGeom prst="rect">
                <a:avLst/>
              </a:prstGeom>
              <a:blipFill>
                <a:blip r:embed="rId3"/>
                <a:stretch>
                  <a:fillRect l="-3125" t="-11905" b="-30952"/>
                </a:stretch>
              </a:blipFill>
              <a:ln>
                <a:noFill/>
              </a:ln>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nvGraphicFramePr>
            <p:xfrm>
              <a:off x="2241750" y="918000"/>
              <a:ext cx="8279999"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3450969828"/>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algn="ct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20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30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0.07848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(0.13618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0.00787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0.08851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0.00781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(0.08820</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0.01327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(0.11567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0.07376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0.18834</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0.06091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(0.17583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0.01484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(0.11892</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0.00829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0.08859</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0.00858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(0.09022</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0.01958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(0.12168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0.29770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0.22499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0.24960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(0.23208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0.02676</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(0.12122)</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0.03618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0.19099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0.03876</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(0.19374)</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mc:Choice>
        <mc:Fallback xmlns="">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444967895"/>
                  </p:ext>
                </p:extLst>
              </p:nvPr>
            </p:nvGraphicFramePr>
            <p:xfrm>
              <a:off x="2241750" y="918000"/>
              <a:ext cx="8279999" cy="5940000"/>
            </p:xfrm>
            <a:graphic>
              <a:graphicData uri="http://schemas.openxmlformats.org/drawingml/2006/table">
                <a:tbl>
                  <a:tblPr firstRow="1" bandRow="1">
                    <a:tableStyleId>{5940675A-B579-460E-94D1-54222C63F5DA}</a:tableStyleId>
                  </a:tblPr>
                  <a:tblGrid>
                    <a:gridCol w="720002">
                      <a:extLst>
                        <a:ext uri="{9D8B030D-6E8A-4147-A177-3AD203B41FA5}">
                          <a16:colId xmlns:a16="http://schemas.microsoft.com/office/drawing/2014/main" val="647413292"/>
                        </a:ext>
                      </a:extLst>
                    </a:gridCol>
                    <a:gridCol w="2519999">
                      <a:extLst>
                        <a:ext uri="{9D8B030D-6E8A-4147-A177-3AD203B41FA5}">
                          <a16:colId xmlns:a16="http://schemas.microsoft.com/office/drawing/2014/main" val="423463333"/>
                        </a:ext>
                      </a:extLst>
                    </a:gridCol>
                    <a:gridCol w="2519999">
                      <a:extLst>
                        <a:ext uri="{9D8B030D-6E8A-4147-A177-3AD203B41FA5}">
                          <a16:colId xmlns:a16="http://schemas.microsoft.com/office/drawing/2014/main" val="3450969828"/>
                        </a:ext>
                      </a:extLst>
                    </a:gridCol>
                    <a:gridCol w="2519999">
                      <a:extLst>
                        <a:ext uri="{9D8B030D-6E8A-4147-A177-3AD203B41FA5}">
                          <a16:colId xmlns:a16="http://schemas.microsoft.com/office/drawing/2014/main" val="4070839330"/>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algn="ct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129293" t="-3509" r="-101010" b="-722807"/>
                          </a:stretch>
                        </a:blipFill>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228141" t="-3509" r="-503" b="-722807"/>
                          </a:stretch>
                        </a:blipFill>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1</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0.07848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(0.13618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0.00787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0.08851</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0.00781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(0.08820</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0665093"/>
                      </a:ext>
                    </a:extLst>
                  </a:tr>
                  <a:tr h="900000">
                    <a:tc>
                      <a:txBody>
                        <a:bodyPr/>
                        <a:lstStyle/>
                        <a:p>
                          <a:pPr algn="ctr"/>
                          <a:r>
                            <a:rPr kumimoji="1" lang="en-US" altLang="ja-JP" sz="2000" b="0" dirty="0">
                              <a:solidFill>
                                <a:schemeClr val="tx1"/>
                              </a:solidFill>
                            </a:rPr>
                            <a:t>2</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0.01327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(0.11567</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0.07376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0.18834</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0.06091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(0.17583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29932321"/>
                      </a:ext>
                    </a:extLst>
                  </a:tr>
                  <a:tr h="900000">
                    <a:tc>
                      <a:txBody>
                        <a:bodyPr/>
                        <a:lstStyle/>
                        <a:p>
                          <a:pPr algn="ctr"/>
                          <a:r>
                            <a:rPr kumimoji="1" lang="en-US" altLang="ja-JP" sz="2000" b="0" dirty="0">
                              <a:solidFill>
                                <a:schemeClr val="tx1"/>
                              </a:solidFill>
                            </a:rPr>
                            <a:t>3</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0.01484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(0.11892</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0.00829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0.08859</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0.00858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(0.09022</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36242813"/>
                      </a:ext>
                    </a:extLst>
                  </a:tr>
                  <a:tr h="900000">
                    <a:tc>
                      <a:txBody>
                        <a:bodyPr/>
                        <a:lstStyle/>
                        <a:p>
                          <a:pPr algn="ctr"/>
                          <a:r>
                            <a:rPr kumimoji="1" lang="en-US" altLang="ja-JP" sz="2000" b="0" dirty="0">
                              <a:solidFill>
                                <a:schemeClr val="tx1"/>
                              </a:solidFill>
                            </a:rPr>
                            <a:t>4</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0.01958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(0.12168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0.29770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0.22499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0.24960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(0.23208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45523731"/>
                      </a:ext>
                    </a:extLst>
                  </a:tr>
                  <a:tr h="900000">
                    <a:tc>
                      <a:txBody>
                        <a:bodyPr/>
                        <a:lstStyle/>
                        <a:p>
                          <a:pPr algn="ctr"/>
                          <a:r>
                            <a:rPr kumimoji="1" lang="en-US" altLang="ja-JP" sz="2000" b="0" dirty="0">
                              <a:solidFill>
                                <a:schemeClr val="tx1"/>
                              </a:solidFill>
                            </a:rPr>
                            <a:t>5</a:t>
                          </a: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0.02676</a:t>
                          </a:r>
                        </a:p>
                        <a:p>
                          <a:pPr algn="ctr" fontAlgn="ct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(0.12122)</a:t>
                          </a:r>
                          <a:endPar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0.03618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0.19099</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0.03876</a:t>
                          </a:r>
                        </a:p>
                        <a:p>
                          <a:pPr algn="ctr" fontAlgn="ct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(0.19374)</a:t>
                          </a:r>
                          <a:endPar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215919"/>
                      </a:ext>
                    </a:extLst>
                  </a:tr>
                </a:tbl>
              </a:graphicData>
            </a:graphic>
          </p:graphicFrame>
        </mc:Fallback>
      </mc:AlternateContent>
      <p:sp>
        <p:nvSpPr>
          <p:cNvPr id="3" name="スライド番号プレースホルダー 2">
            <a:extLst>
              <a:ext uri="{FF2B5EF4-FFF2-40B4-BE49-F238E27FC236}">
                <a16:creationId xmlns:a16="http://schemas.microsoft.com/office/drawing/2014/main" id="{9E0A0D6E-8767-52E5-DDD5-48ED9FD6EA72}"/>
              </a:ext>
            </a:extLst>
          </p:cNvPr>
          <p:cNvSpPr>
            <a:spLocks noGrp="1"/>
          </p:cNvSpPr>
          <p:nvPr>
            <p:ph type="sldNum" sz="quarter" idx="12"/>
          </p:nvPr>
        </p:nvSpPr>
        <p:spPr/>
        <p:txBody>
          <a:bodyPr/>
          <a:lstStyle/>
          <a:p>
            <a:fld id="{21218AEF-8260-6F42-89D9-6D82E053F226}" type="slidenum">
              <a:rPr kumimoji="1" lang="ja-JP" altLang="en-US" smtClean="0"/>
              <a:t>51</a:t>
            </a:fld>
            <a:endParaRPr kumimoji="1" lang="ja-JP" altLang="en-US"/>
          </a:p>
        </p:txBody>
      </p:sp>
    </p:spTree>
    <p:extLst>
      <p:ext uri="{BB962C8B-B14F-4D97-AF65-F5344CB8AC3E}">
        <p14:creationId xmlns:p14="http://schemas.microsoft.com/office/powerpoint/2010/main" val="1910200005"/>
      </p:ext>
    </p:extLst>
  </p:cSld>
  <p:clrMapOvr>
    <a:masterClrMapping/>
  </p:clrMapOvr>
  <mc:AlternateContent xmlns:mc="http://schemas.openxmlformats.org/markup-compatibility/2006">
    <mc:Choice xmlns:p14="http://schemas.microsoft.com/office/powerpoint/2010/main" Requires="p14">
      <p:transition spd="slow" p14:dur="2000" advTm="4468"/>
    </mc:Choice>
    <mc:Fallback>
      <p:transition spd="slow" advTm="4468"/>
    </mc:Fallback>
  </mc:AlternateContent>
</p:sld>
</file>

<file path=ppt/slides/slide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nvGraphicFramePr>
            <p:xfrm>
              <a:off x="3757612" y="728730"/>
              <a:ext cx="828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3450969828"/>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20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提案手法</a:t>
                          </a:r>
                          <a:endParaRPr kumimoji="1" lang="en-US" altLang="ja-JP" sz="2000" b="0" dirty="0">
                            <a:solidFill>
                              <a:schemeClr val="tx1"/>
                            </a:solidFill>
                          </a:endParaRPr>
                        </a:p>
                        <a:p>
                          <a:pPr algn="ctr"/>
                          <a:r>
                            <a:rPr kumimoji="1" lang="ja-JP" altLang="en-US" sz="2000" b="0">
                              <a:solidFill>
                                <a:schemeClr val="tx1"/>
                              </a:solidFill>
                            </a:rPr>
                            <a:t>閾値</a:t>
                          </a:r>
                          <a14:m>
                            <m:oMath xmlns:m="http://schemas.openxmlformats.org/officeDocument/2006/math">
                              <m:r>
                                <a:rPr lang="en-US" altLang="ja-JP" sz="2000" b="0" i="1" smtClean="0">
                                  <a:solidFill>
                                    <a:schemeClr val="tx1"/>
                                  </a:solidFill>
                                  <a:latin typeface="Cambria Math" panose="02040503050406030204" pitchFamily="18" charset="0"/>
                                </a:rPr>
                                <m:t>𝑞</m:t>
                              </m:r>
                            </m:oMath>
                          </a14:m>
                          <a:r>
                            <a:rPr kumimoji="1" lang="ja-JP" altLang="en-US" sz="2000" b="0">
                              <a:solidFill>
                                <a:schemeClr val="tx1"/>
                              </a:solidFill>
                            </a:rPr>
                            <a:t>：</a:t>
                          </a:r>
                          <a:r>
                            <a:rPr kumimoji="1" lang="en-US" altLang="ja-JP" sz="2000" b="0" dirty="0">
                              <a:solidFill>
                                <a:schemeClr val="tx1"/>
                              </a:solidFill>
                            </a:rPr>
                            <a:t>30</a:t>
                          </a: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0.01801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(0.13420</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0.13570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0.35677</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0.09418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(0.30448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0.01676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(0.12948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0.04527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0.21383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0.03775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(0.19528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0.35678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(0.60022</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0.25533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0.50783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0.23504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(0.48624</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0.04684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(0.13355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0.01476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0.12144</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0.01513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(0.12161</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0.03099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(0.12755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0.00972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0.09894</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0.00972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(0.09901</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825497824"/>
                      </a:ext>
                    </a:extLst>
                  </a:tr>
                </a:tbl>
              </a:graphicData>
            </a:graphic>
          </p:graphicFrame>
        </mc:Choice>
        <mc:Fallback xmlns="">
          <p:graphicFrame>
            <p:nvGraphicFramePr>
              <p:cNvPr id="6" name="表 8">
                <a:extLst>
                  <a:ext uri="{FF2B5EF4-FFF2-40B4-BE49-F238E27FC236}">
                    <a16:creationId xmlns:a16="http://schemas.microsoft.com/office/drawing/2014/main" id="{8A2B7A6F-444C-0DCA-F483-E719E49FF452}"/>
                  </a:ext>
                </a:extLst>
              </p:cNvPr>
              <p:cNvGraphicFramePr>
                <a:graphicFrameLocks noGrp="1"/>
              </p:cNvGraphicFramePr>
              <p:nvPr>
                <p:extLst>
                  <p:ext uri="{D42A27DB-BD31-4B8C-83A1-F6EECF244321}">
                    <p14:modId xmlns:p14="http://schemas.microsoft.com/office/powerpoint/2010/main" val="1707534188"/>
                  </p:ext>
                </p:extLst>
              </p:nvPr>
            </p:nvGraphicFramePr>
            <p:xfrm>
              <a:off x="3757612" y="728730"/>
              <a:ext cx="8280000" cy="5940000"/>
            </p:xfrm>
            <a:graphic>
              <a:graphicData uri="http://schemas.openxmlformats.org/drawingml/2006/table">
                <a:tbl>
                  <a:tblPr firstRow="1" bandRow="1">
                    <a:tableStyleId>{5940675A-B579-460E-94D1-54222C63F5DA}</a:tableStyleId>
                  </a:tblPr>
                  <a:tblGrid>
                    <a:gridCol w="720000">
                      <a:extLst>
                        <a:ext uri="{9D8B030D-6E8A-4147-A177-3AD203B41FA5}">
                          <a16:colId xmlns:a16="http://schemas.microsoft.com/office/drawing/2014/main" val="647413292"/>
                        </a:ext>
                      </a:extLst>
                    </a:gridCol>
                    <a:gridCol w="2520000">
                      <a:extLst>
                        <a:ext uri="{9D8B030D-6E8A-4147-A177-3AD203B41FA5}">
                          <a16:colId xmlns:a16="http://schemas.microsoft.com/office/drawing/2014/main" val="423463333"/>
                        </a:ext>
                      </a:extLst>
                    </a:gridCol>
                    <a:gridCol w="2520000">
                      <a:extLst>
                        <a:ext uri="{9D8B030D-6E8A-4147-A177-3AD203B41FA5}">
                          <a16:colId xmlns:a16="http://schemas.microsoft.com/office/drawing/2014/main" val="3450969828"/>
                        </a:ext>
                      </a:extLst>
                    </a:gridCol>
                    <a:gridCol w="2520000">
                      <a:extLst>
                        <a:ext uri="{9D8B030D-6E8A-4147-A177-3AD203B41FA5}">
                          <a16:colId xmlns:a16="http://schemas.microsoft.com/office/drawing/2014/main" val="403851841"/>
                        </a:ext>
                      </a:extLst>
                    </a:gridCol>
                  </a:tblGrid>
                  <a:tr h="720000">
                    <a:tc rowSpan="2">
                      <a:txBody>
                        <a:bodyPr/>
                        <a:lstStyle/>
                        <a:p>
                          <a:pPr algn="ctr"/>
                          <a:r>
                            <a:rPr kumimoji="1" lang="ja-JP" altLang="en-US" sz="2000" b="0">
                              <a:solidFill>
                                <a:schemeClr val="tx1"/>
                              </a:solidFill>
                            </a:rPr>
                            <a:t>設定番号</a:t>
                          </a:r>
                        </a:p>
                      </a:txBody>
                      <a:tcPr anchor="ct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ja-JP" altLang="en-US" sz="2000" b="0">
                              <a:solidFill>
                                <a:schemeClr val="tx1"/>
                              </a:solidFill>
                            </a:rPr>
                            <a:t>既存手法</a:t>
                          </a:r>
                          <a:endParaRPr kumimoji="1" lang="en-US" altLang="ja-JP" sz="2000" b="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a:solidFill>
                                <a:schemeClr val="tx1"/>
                              </a:solidFill>
                            </a:rPr>
                            <a:t>（非線形）</a:t>
                          </a:r>
                          <a:endParaRPr kumimoji="1" lang="en-US" altLang="ja-JP" sz="2000" b="0" dirty="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9293" t="-3509" r="-101010" b="-724561"/>
                          </a:stretch>
                        </a:blipFill>
                      </a:tcPr>
                    </a:tc>
                    <a:tc>
                      <a:txBody>
                        <a:bodyPr/>
                        <a:lstStyle/>
                        <a:p>
                          <a:endParaRPr lang="ja-JP"/>
                        </a:p>
                      </a:txBody>
                      <a:tcPr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28141" t="-3509" r="-503" b="-724561"/>
                          </a:stretch>
                        </a:blipFill>
                      </a:tcPr>
                    </a:tc>
                    <a:extLst>
                      <a:ext uri="{0D108BD9-81ED-4DB2-BD59-A6C34878D82A}">
                        <a16:rowId xmlns:a16="http://schemas.microsoft.com/office/drawing/2014/main" val="309523370"/>
                      </a:ext>
                    </a:extLst>
                  </a:tr>
                  <a:tr h="720000">
                    <a:tc vMerge="1">
                      <a:txBody>
                        <a:bodyPr/>
                        <a:lstStyle/>
                        <a:p>
                          <a:pPr algn="ctr"/>
                          <a:endParaRPr kumimoji="1" lang="ja-JP" altLang="en-US" sz="3200" b="0" dirty="0">
                            <a:solidFill>
                              <a:schemeClr val="tx1"/>
                            </a:solidFill>
                          </a:endParaRPr>
                        </a:p>
                      </a:txBody>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kumimoji="1" lang="en-US" altLang="ja-JP" sz="2000" b="0" dirty="0">
                              <a:solidFill>
                                <a:schemeClr val="tx1"/>
                              </a:solidFill>
                            </a:rPr>
                            <a:t>MSE</a:t>
                          </a:r>
                        </a:p>
                        <a:p>
                          <a:pPr algn="ctr"/>
                          <a:r>
                            <a:rPr kumimoji="1" lang="en-US" altLang="ja-JP" sz="2000" b="0" dirty="0">
                              <a:solidFill>
                                <a:schemeClr val="tx1"/>
                              </a:solidFill>
                            </a:rPr>
                            <a:t>(</a:t>
                          </a:r>
                          <a:r>
                            <a:rPr kumimoji="1" lang="en-US" altLang="ja-JP" sz="2000" b="0" dirty="0" err="1">
                              <a:solidFill>
                                <a:schemeClr val="tx1"/>
                              </a:solidFill>
                            </a:rPr>
                            <a:t>sd</a:t>
                          </a:r>
                          <a:r>
                            <a:rPr kumimoji="1" lang="en-US" altLang="ja-JP" sz="2000" b="0" dirty="0">
                              <a:solidFill>
                                <a:schemeClr val="tx1"/>
                              </a:solidFill>
                            </a:rPr>
                            <a:t>)</a:t>
                          </a:r>
                        </a:p>
                      </a:txBody>
                      <a:tcP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09240396"/>
                      </a:ext>
                    </a:extLst>
                  </a:tr>
                  <a:tr h="900000">
                    <a:tc>
                      <a:txBody>
                        <a:bodyPr/>
                        <a:lstStyle/>
                        <a:p>
                          <a:pPr algn="ctr"/>
                          <a:r>
                            <a:rPr kumimoji="1" lang="en-US" altLang="ja-JP" sz="2000" b="0" dirty="0">
                              <a:solidFill>
                                <a:schemeClr val="tx1"/>
                              </a:solidFill>
                            </a:rPr>
                            <a:t>6</a:t>
                          </a:r>
                          <a:endParaRPr kumimoji="1" lang="ja-JP" altLang="en-US" sz="2000" b="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0.01801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(0.13420</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0.13570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0.35677</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0.09418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(0.30448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614906256"/>
                      </a:ext>
                    </a:extLst>
                  </a:tr>
                  <a:tr h="900000">
                    <a:tc>
                      <a:txBody>
                        <a:bodyPr/>
                        <a:lstStyle/>
                        <a:p>
                          <a:pPr algn="ctr"/>
                          <a:r>
                            <a:rPr kumimoji="1" lang="en-US" altLang="ja-JP" sz="2000" b="0" dirty="0">
                              <a:solidFill>
                                <a:schemeClr val="tx1"/>
                              </a:solidFill>
                            </a:rPr>
                            <a:t>7</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0.01676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(0.12948</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0.04527</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0.21383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0.03775</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(0.19528</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425402479"/>
                      </a:ext>
                    </a:extLst>
                  </a:tr>
                  <a:tr h="900000">
                    <a:tc>
                      <a:txBody>
                        <a:bodyPr/>
                        <a:lstStyle/>
                        <a:p>
                          <a:pPr algn="ctr"/>
                          <a:r>
                            <a:rPr kumimoji="1" lang="en-US" altLang="ja-JP" sz="2000" b="0" dirty="0">
                              <a:solidFill>
                                <a:schemeClr val="tx1"/>
                              </a:solidFill>
                            </a:rPr>
                            <a:t>8</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0.35678</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(0.60022</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0.25533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chemeClr val="tx1"/>
                              </a:solidFill>
                              <a:effectLst/>
                              <a:latin typeface="Arial" panose="020B0604020202020204" pitchFamily="34" charset="0"/>
                              <a:ea typeface="+mn-ea"/>
                              <a:cs typeface="Arial" panose="020B0604020202020204" pitchFamily="34" charset="0"/>
                            </a:rPr>
                            <a:t>0.50783</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0.23504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mn-ea"/>
                              <a:cs typeface="Arial" panose="020B0604020202020204" pitchFamily="34" charset="0"/>
                            </a:rPr>
                            <a:t>(0.48624</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487563923"/>
                      </a:ext>
                    </a:extLst>
                  </a:tr>
                  <a:tr h="900000">
                    <a:tc>
                      <a:txBody>
                        <a:bodyPr/>
                        <a:lstStyle/>
                        <a:p>
                          <a:pPr algn="ctr"/>
                          <a:r>
                            <a:rPr kumimoji="1" lang="en-US" altLang="ja-JP" sz="2000" b="0" dirty="0">
                              <a:solidFill>
                                <a:schemeClr val="tx1"/>
                              </a:solidFill>
                            </a:rPr>
                            <a:t>9</a:t>
                          </a:r>
                          <a:endParaRPr kumimoji="1" lang="ja-JP" altLang="en-US" sz="2000" b="0">
                            <a:solidFill>
                              <a:schemeClr val="tx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0.04684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(0.13355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0.01476</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0.12144</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0.01513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(0.12161</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03533527"/>
                      </a:ext>
                    </a:extLst>
                  </a:tr>
                  <a:tr h="900000">
                    <a:tc>
                      <a:txBody>
                        <a:bodyPr/>
                        <a:lstStyle/>
                        <a:p>
                          <a:pPr algn="ctr"/>
                          <a:r>
                            <a:rPr kumimoji="1" lang="en-US" altLang="ja-JP" sz="2000" b="0" dirty="0">
                              <a:solidFill>
                                <a:schemeClr val="tx1"/>
                              </a:solidFill>
                            </a:rPr>
                            <a:t>10</a:t>
                          </a:r>
                          <a:endParaRPr kumimoji="1" lang="ja-JP" altLang="en-US" sz="2000" b="0">
                            <a:solidFill>
                              <a:schemeClr val="tx1"/>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0.03099</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(0.12755</a:t>
                          </a: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0.00972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r>
                            <a:rPr kumimoji="1" lang="en-US" altLang="ja-JP" sz="2000" kern="1200" dirty="0">
                              <a:solidFill>
                                <a:srgbClr val="FF0000"/>
                              </a:solidFill>
                              <a:effectLst/>
                              <a:latin typeface="Arial" panose="020B0604020202020204" pitchFamily="34" charset="0"/>
                              <a:ea typeface="+mn-ea"/>
                              <a:cs typeface="Arial" panose="020B0604020202020204" pitchFamily="34" charset="0"/>
                            </a:rPr>
                            <a:t>0.09894</a:t>
                          </a:r>
                          <a:r>
                            <a:rPr lang="en-US" altLang="ja-JP" sz="2000" b="0" i="0" u="none" strike="noStrike" dirty="0">
                              <a:solidFill>
                                <a:srgbClr val="FF0000"/>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0.00972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chemeClr val="tx1"/>
                              </a:solidFill>
                              <a:effectLst/>
                              <a:latin typeface="Arial" panose="020B0604020202020204" pitchFamily="34" charset="0"/>
                              <a:ea typeface="+mn-ea"/>
                              <a:cs typeface="Arial" panose="020B0604020202020204" pitchFamily="34" charset="0"/>
                            </a:rPr>
                            <a:t>(0.09901</a:t>
                          </a:r>
                          <a:r>
                            <a:rPr lang="en-US" altLang="ja-JP" sz="2000" b="0" i="0" u="none" strike="noStrike" dirty="0">
                              <a:solidFill>
                                <a:schemeClr val="tx1"/>
                              </a:solidFill>
                              <a:effectLst/>
                              <a:latin typeface="Arial" panose="020B0604020202020204" pitchFamily="34" charset="0"/>
                              <a:ea typeface="游ゴシック" panose="020B0400000000000000" pitchFamily="34" charset="-128"/>
                              <a:cs typeface="Arial" panose="020B0604020202020204" pitchFamily="34" charset="0"/>
                            </a:rPr>
                            <a:t>)</a:t>
                          </a:r>
                        </a:p>
                      </a:txBody>
                      <a:tcPr marL="9525" marR="9525" marT="9525"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825497824"/>
                      </a:ext>
                    </a:extLst>
                  </a:tr>
                </a:tbl>
              </a:graphicData>
            </a:graphic>
          </p:graphicFrame>
        </mc:Fallback>
      </mc:AlternateContent>
      <p:sp>
        <p:nvSpPr>
          <p:cNvPr id="2" name="テキスト ボックス 1">
            <a:extLst>
              <a:ext uri="{FF2B5EF4-FFF2-40B4-BE49-F238E27FC236}">
                <a16:creationId xmlns:a16="http://schemas.microsoft.com/office/drawing/2014/main" id="{224D7986-F9FE-A23A-F7DB-22303537F01C}"/>
              </a:ext>
            </a:extLst>
          </p:cNvPr>
          <p:cNvSpPr txBox="1"/>
          <p:nvPr/>
        </p:nvSpPr>
        <p:spPr>
          <a:xfrm>
            <a:off x="200662" y="2951946"/>
            <a:ext cx="2214563" cy="954107"/>
          </a:xfrm>
          <a:prstGeom prst="rect">
            <a:avLst/>
          </a:prstGeom>
          <a:noFill/>
          <a:ln w="28575">
            <a:solidFill>
              <a:schemeClr val="accent1">
                <a:lumMod val="60000"/>
                <a:lumOff val="40000"/>
              </a:schemeClr>
            </a:solidFill>
          </a:ln>
        </p:spPr>
        <p:txBody>
          <a:bodyPr wrap="square" rtlCol="0">
            <a:spAutoFit/>
          </a:bodyPr>
          <a:lstStyle/>
          <a:p>
            <a:r>
              <a:rPr kumimoji="1" lang="ja-JP" altLang="en-US" sz="2800"/>
              <a:t>結果モデルが非線形</a:t>
            </a:r>
          </a:p>
        </p:txBody>
      </p:sp>
      <p:sp>
        <p:nvSpPr>
          <p:cNvPr id="3" name="テキスト ボックス 2">
            <a:extLst>
              <a:ext uri="{FF2B5EF4-FFF2-40B4-BE49-F238E27FC236}">
                <a16:creationId xmlns:a16="http://schemas.microsoft.com/office/drawing/2014/main" id="{8CAEED3F-DA8C-2EF1-F240-893D71B6E0E9}"/>
              </a:ext>
            </a:extLst>
          </p:cNvPr>
          <p:cNvSpPr txBox="1"/>
          <p:nvPr/>
        </p:nvSpPr>
        <p:spPr>
          <a:xfrm>
            <a:off x="85729" y="5261963"/>
            <a:ext cx="3085462" cy="954107"/>
          </a:xfrm>
          <a:prstGeom prst="rect">
            <a:avLst/>
          </a:prstGeom>
          <a:noFill/>
          <a:ln w="28575">
            <a:solidFill>
              <a:schemeClr val="accent2">
                <a:lumMod val="60000"/>
                <a:lumOff val="40000"/>
              </a:schemeClr>
            </a:solidFill>
          </a:ln>
        </p:spPr>
        <p:txBody>
          <a:bodyPr wrap="square" rtlCol="0">
            <a:spAutoFit/>
          </a:bodyPr>
          <a:lstStyle/>
          <a:p>
            <a:r>
              <a:rPr lang="ja-JP" altLang="en-US" sz="2800"/>
              <a:t>傾向スコア</a:t>
            </a:r>
            <a:r>
              <a:rPr kumimoji="1" lang="ja-JP" altLang="en-US" sz="2800"/>
              <a:t>モデルが非線形</a:t>
            </a:r>
          </a:p>
        </p:txBody>
      </p:sp>
      <p:cxnSp>
        <p:nvCxnSpPr>
          <p:cNvPr id="4" name="直線コネクタ 3">
            <a:extLst>
              <a:ext uri="{FF2B5EF4-FFF2-40B4-BE49-F238E27FC236}">
                <a16:creationId xmlns:a16="http://schemas.microsoft.com/office/drawing/2014/main" id="{23DD680F-DB5A-99B4-1BED-A9F4CA6442CF}"/>
              </a:ext>
            </a:extLst>
          </p:cNvPr>
          <p:cNvCxnSpPr>
            <a:cxnSpLocks/>
            <a:endCxn id="3" idx="3"/>
          </p:cNvCxnSpPr>
          <p:nvPr/>
        </p:nvCxnSpPr>
        <p:spPr>
          <a:xfrm flipH="1">
            <a:off x="3171191" y="5294378"/>
            <a:ext cx="586421" cy="44463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4CA1CF30-D7E0-7E8E-A30E-EBFADEBD197B}"/>
              </a:ext>
            </a:extLst>
          </p:cNvPr>
          <p:cNvCxnSpPr>
            <a:cxnSpLocks/>
            <a:endCxn id="3" idx="3"/>
          </p:cNvCxnSpPr>
          <p:nvPr/>
        </p:nvCxnSpPr>
        <p:spPr>
          <a:xfrm flipH="1" flipV="1">
            <a:off x="3171191" y="5739017"/>
            <a:ext cx="586421" cy="47705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4CB78648-8796-FDA3-8407-99429EFB1369}"/>
              </a:ext>
            </a:extLst>
          </p:cNvPr>
          <p:cNvCxnSpPr>
            <a:cxnSpLocks/>
            <a:endCxn id="2" idx="3"/>
          </p:cNvCxnSpPr>
          <p:nvPr/>
        </p:nvCxnSpPr>
        <p:spPr>
          <a:xfrm flipH="1">
            <a:off x="2415225" y="2619058"/>
            <a:ext cx="1342387" cy="80994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2A9786A4-2681-C9D0-7736-C1688F2A4A04}"/>
              </a:ext>
            </a:extLst>
          </p:cNvPr>
          <p:cNvCxnSpPr>
            <a:cxnSpLocks/>
            <a:endCxn id="2" idx="3"/>
          </p:cNvCxnSpPr>
          <p:nvPr/>
        </p:nvCxnSpPr>
        <p:spPr>
          <a:xfrm flipH="1" flipV="1">
            <a:off x="2415225" y="3429000"/>
            <a:ext cx="1342387" cy="10287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8FA70575-51C2-EB39-E4A5-8EAAD445E027}"/>
              </a:ext>
            </a:extLst>
          </p:cNvPr>
          <p:cNvCxnSpPr>
            <a:cxnSpLocks/>
            <a:endCxn id="2" idx="3"/>
          </p:cNvCxnSpPr>
          <p:nvPr/>
        </p:nvCxnSpPr>
        <p:spPr>
          <a:xfrm flipH="1" flipV="1">
            <a:off x="2415225" y="3429000"/>
            <a:ext cx="1342387" cy="3241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 name="Google Shape;95;p1">
                <a:extLst>
                  <a:ext uri="{FF2B5EF4-FFF2-40B4-BE49-F238E27FC236}">
                    <a16:creationId xmlns:a16="http://schemas.microsoft.com/office/drawing/2014/main" id="{123A9AFB-C780-94BA-5BE7-FEBF6E12C920}"/>
                  </a:ext>
                </a:extLst>
              </p:cNvPr>
              <p:cNvSpPr/>
              <p:nvPr/>
            </p:nvSpPr>
            <p:spPr>
              <a:xfrm>
                <a:off x="4068115" y="77227"/>
                <a:ext cx="4055770" cy="523180"/>
              </a:xfrm>
              <a:prstGeom prst="rect">
                <a:avLst/>
              </a:prstGeom>
              <a:noFill/>
              <a:ln>
                <a:noFill/>
              </a:ln>
            </p:spPr>
            <p:txBody>
              <a:bodyPr spcFirstLastPara="1" wrap="square" lIns="91425" tIns="45700" rIns="91425" bIns="4570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rtl="0">
                  <a:spcBef>
                    <a:spcPts val="0"/>
                  </a:spcBef>
                  <a:spcAft>
                    <a:spcPts val="0"/>
                  </a:spcAft>
                  <a:buNone/>
                </a:pPr>
                <a:r>
                  <a:rPr lang="ja-JP" altLang="en-US" sz="2800">
                    <a:solidFill>
                      <a:schemeClr val="dk1"/>
                    </a:solidFill>
                    <a:latin typeface="+mn-ea"/>
                    <a:ea typeface="+mn-ea"/>
                    <a:cs typeface="Arial" panose="020B0604020202020204" pitchFamily="34" charset="0"/>
                  </a:rPr>
                  <a:t>実験結果</a:t>
                </a:r>
                <a:r>
                  <a:rPr lang="en-US" altLang="ja-JP" sz="2800" dirty="0">
                    <a:solidFill>
                      <a:schemeClr val="dk1"/>
                    </a:solidFill>
                    <a:latin typeface="+mn-ea"/>
                    <a:ea typeface="+mn-ea"/>
                    <a:cs typeface="Arial" panose="020B0604020202020204" pitchFamily="34" charset="0"/>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=40)</m:t>
                    </m:r>
                  </m:oMath>
                </a14:m>
                <a:endParaRPr lang="en-US" altLang="ja-JP" sz="2800" dirty="0">
                  <a:solidFill>
                    <a:schemeClr val="dk1"/>
                  </a:solidFill>
                  <a:latin typeface="+mn-ea"/>
                  <a:ea typeface="+mn-ea"/>
                  <a:cs typeface="Arial" panose="020B0604020202020204" pitchFamily="34" charset="0"/>
                </a:endParaRPr>
              </a:p>
            </p:txBody>
          </p:sp>
        </mc:Choice>
        <mc:Fallback xmlns="">
          <p:sp>
            <p:nvSpPr>
              <p:cNvPr id="12" name="Google Shape;95;p1">
                <a:extLst>
                  <a:ext uri="{FF2B5EF4-FFF2-40B4-BE49-F238E27FC236}">
                    <a16:creationId xmlns:a16="http://schemas.microsoft.com/office/drawing/2014/main" id="{123A9AFB-C780-94BA-5BE7-FEBF6E12C920}"/>
                  </a:ext>
                </a:extLst>
              </p:cNvPr>
              <p:cNvSpPr>
                <a:spLocks noRot="1" noChangeAspect="1" noMove="1" noResize="1" noEditPoints="1" noAdjustHandles="1" noChangeArrowheads="1" noChangeShapeType="1" noTextEdit="1"/>
              </p:cNvSpPr>
              <p:nvPr/>
            </p:nvSpPr>
            <p:spPr>
              <a:xfrm>
                <a:off x="4068115" y="77227"/>
                <a:ext cx="4055770" cy="523180"/>
              </a:xfrm>
              <a:prstGeom prst="rect">
                <a:avLst/>
              </a:prstGeom>
              <a:blipFill>
                <a:blip r:embed="rId4"/>
                <a:stretch>
                  <a:fillRect l="-3125" t="-14286" b="-30952"/>
                </a:stretch>
              </a:blipFill>
              <a:ln>
                <a:noFill/>
              </a:ln>
            </p:spPr>
            <p:txBody>
              <a:bodyPr/>
              <a:lstStyle/>
              <a:p>
                <a:r>
                  <a:rPr lang="ja-JP" altLang="en-US">
                    <a:noFill/>
                  </a:rPr>
                  <a:t> </a:t>
                </a:r>
              </a:p>
            </p:txBody>
          </p:sp>
        </mc:Fallback>
      </mc:AlternateContent>
      <p:sp>
        <p:nvSpPr>
          <p:cNvPr id="5" name="スライド番号プレースホルダー 4">
            <a:extLst>
              <a:ext uri="{FF2B5EF4-FFF2-40B4-BE49-F238E27FC236}">
                <a16:creationId xmlns:a16="http://schemas.microsoft.com/office/drawing/2014/main" id="{2C7C59AA-FD8C-6C5A-A86D-3FE785DCBCD8}"/>
              </a:ext>
            </a:extLst>
          </p:cNvPr>
          <p:cNvSpPr>
            <a:spLocks noGrp="1"/>
          </p:cNvSpPr>
          <p:nvPr>
            <p:ph type="sldNum" sz="quarter" idx="12"/>
          </p:nvPr>
        </p:nvSpPr>
        <p:spPr/>
        <p:txBody>
          <a:bodyPr/>
          <a:lstStyle/>
          <a:p>
            <a:fld id="{21218AEF-8260-6F42-89D9-6D82E053F226}" type="slidenum">
              <a:rPr kumimoji="1" lang="ja-JP" altLang="en-US" smtClean="0"/>
              <a:t>52</a:t>
            </a:fld>
            <a:endParaRPr kumimoji="1" lang="ja-JP" altLang="en-US"/>
          </a:p>
        </p:txBody>
      </p:sp>
    </p:spTree>
    <p:extLst>
      <p:ext uri="{BB962C8B-B14F-4D97-AF65-F5344CB8AC3E}">
        <p14:creationId xmlns:p14="http://schemas.microsoft.com/office/powerpoint/2010/main" val="2590050264"/>
      </p:ext>
    </p:extLst>
  </p:cSld>
  <p:clrMapOvr>
    <a:masterClrMapping/>
  </p:clrMapOvr>
  <mc:AlternateContent xmlns:mc="http://schemas.openxmlformats.org/markup-compatibility/2006">
    <mc:Choice xmlns:p14="http://schemas.microsoft.com/office/powerpoint/2010/main" Requires="p14">
      <p:transition spd="slow" p14:dur="2000" advTm="18859"/>
    </mc:Choice>
    <mc:Fallback>
      <p:transition spd="slow" advTm="18859"/>
    </mc:Fallback>
  </mc:AlternateContent>
</p:sld>
</file>

<file path=ppt/slides/slide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タイトル 1">
                <a:extLst>
                  <a:ext uri="{FF2B5EF4-FFF2-40B4-BE49-F238E27FC236}">
                    <a16:creationId xmlns:a16="http://schemas.microsoft.com/office/drawing/2014/main" id="{FDA04F52-2663-E99B-59D3-05E2FBAB7D2D}"/>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1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2" name="タイトル 1">
                <a:extLst>
                  <a:ext uri="{FF2B5EF4-FFF2-40B4-BE49-F238E27FC236}">
                    <a16:creationId xmlns:a16="http://schemas.microsoft.com/office/drawing/2014/main" id="{FDA04F52-2663-E99B-59D3-05E2FBAB7D2D}"/>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2"/>
                <a:stretch>
                  <a:fillRect/>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912088751"/>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p:sp>
        <p:nvSpPr>
          <p:cNvPr id="3" name="スライド番号プレースホルダー 2">
            <a:extLst>
              <a:ext uri="{FF2B5EF4-FFF2-40B4-BE49-F238E27FC236}">
                <a16:creationId xmlns:a16="http://schemas.microsoft.com/office/drawing/2014/main" id="{E18AF1FE-5100-7B1B-AD10-35F04C5CB710}"/>
              </a:ext>
            </a:extLst>
          </p:cNvPr>
          <p:cNvSpPr>
            <a:spLocks noGrp="1"/>
          </p:cNvSpPr>
          <p:nvPr>
            <p:ph type="sldNum" sz="quarter" idx="12"/>
          </p:nvPr>
        </p:nvSpPr>
        <p:spPr/>
        <p:txBody>
          <a:bodyPr/>
          <a:lstStyle/>
          <a:p>
            <a:fld id="{21218AEF-8260-6F42-89D9-6D82E053F226}" type="slidenum">
              <a:rPr kumimoji="1" lang="ja-JP" altLang="en-US" smtClean="0"/>
              <a:t>53</a:t>
            </a:fld>
            <a:endParaRPr kumimoji="1" lang="ja-JP" altLang="en-US"/>
          </a:p>
        </p:txBody>
      </p:sp>
    </p:spTree>
    <p:extLst>
      <p:ext uri="{BB962C8B-B14F-4D97-AF65-F5344CB8AC3E}">
        <p14:creationId xmlns:p14="http://schemas.microsoft.com/office/powerpoint/2010/main" val="195005949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066289629"/>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B3863A9-3FD6-F936-5332-3DA2B590A8BA}"/>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2</a:t>
                </a:r>
                <a:r>
                  <a:rPr lang="ja-JP" altLang="en-US" sz="2800" dirty="0">
                    <a:latin typeface="+mn-lt"/>
                  </a:rPr>
                  <a:t>：</a:t>
                </a:r>
                <a14:m>
                  <m:oMath xmlns:m="http://schemas.openxmlformats.org/officeDocument/2006/math">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1</m:t>
                        </m:r>
                      </m:sub>
                    </m:sSub>
                    <m:r>
                      <a:rPr lang="en-US" altLang="ja-JP" sz="2800" i="1">
                        <a:latin typeface="Cambria Math" panose="02040503050406030204" pitchFamily="18" charset="0"/>
                        <a:cs typeface="Arial" panose="020B0604020202020204" pitchFamily="34" charset="0"/>
                      </a:rPr>
                      <m:t>+</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3</m:t>
                        </m:r>
                      </m:sub>
                    </m:sSub>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4</m:t>
                        </m:r>
                      </m:sub>
                    </m:sSub>
                  </m:oMath>
                </a14:m>
                <a:r>
                  <a:rPr lang="en-US" altLang="ja-JP" sz="2800" dirty="0">
                    <a:latin typeface="+mn-lt"/>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AB3863A9-3FD6-F936-5332-3DA2B590A8BA}"/>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4"/>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18C00642-E8B5-6916-220F-82468C1B8AF9}"/>
              </a:ext>
            </a:extLst>
          </p:cNvPr>
          <p:cNvSpPr>
            <a:spLocks noGrp="1"/>
          </p:cNvSpPr>
          <p:nvPr>
            <p:ph type="sldNum" sz="quarter" idx="12"/>
          </p:nvPr>
        </p:nvSpPr>
        <p:spPr/>
        <p:txBody>
          <a:bodyPr/>
          <a:lstStyle/>
          <a:p>
            <a:fld id="{21218AEF-8260-6F42-89D9-6D82E053F226}" type="slidenum">
              <a:rPr kumimoji="1" lang="ja-JP" altLang="en-US" smtClean="0"/>
              <a:t>54</a:t>
            </a:fld>
            <a:endParaRPr kumimoji="1" lang="ja-JP" altLang="en-US"/>
          </a:p>
        </p:txBody>
      </p:sp>
    </p:spTree>
    <p:extLst>
      <p:ext uri="{BB962C8B-B14F-4D97-AF65-F5344CB8AC3E}">
        <p14:creationId xmlns:p14="http://schemas.microsoft.com/office/powerpoint/2010/main" val="3765462387"/>
      </p:ext>
    </p:extLst>
  </p:cSld>
  <p:clrMapOvr>
    <a:masterClrMapping/>
  </p:clrMapOvr>
  <mc:AlternateContent xmlns:mc="http://schemas.openxmlformats.org/markup-compatibility/2006">
    <mc:Choice xmlns:p14="http://schemas.microsoft.com/office/powerpoint/2010/main" Requires="p14">
      <p:transition spd="slow" p14:dur="2000" advTm="74487"/>
    </mc:Choice>
    <mc:Fallback>
      <p:transition spd="slow" advTm="74487"/>
    </mc:Fallback>
  </mc:AlternateContent>
</p:sld>
</file>

<file path=ppt/slides/slide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215570786"/>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D22F0C70-50FF-5A1B-FF08-D26E58C6A4B9}"/>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3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D22F0C70-50FF-5A1B-FF08-D26E58C6A4B9}"/>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1C8930C6-6567-0D52-6E6D-B0AC224B08F1}"/>
              </a:ext>
            </a:extLst>
          </p:cNvPr>
          <p:cNvSpPr>
            <a:spLocks noGrp="1"/>
          </p:cNvSpPr>
          <p:nvPr>
            <p:ph type="sldNum" sz="quarter" idx="12"/>
          </p:nvPr>
        </p:nvSpPr>
        <p:spPr/>
        <p:txBody>
          <a:bodyPr/>
          <a:lstStyle/>
          <a:p>
            <a:fld id="{21218AEF-8260-6F42-89D9-6D82E053F226}" type="slidenum">
              <a:rPr kumimoji="1" lang="ja-JP" altLang="en-US" smtClean="0"/>
              <a:t>55</a:t>
            </a:fld>
            <a:endParaRPr kumimoji="1" lang="ja-JP" altLang="en-US"/>
          </a:p>
        </p:txBody>
      </p:sp>
    </p:spTree>
    <p:extLst>
      <p:ext uri="{BB962C8B-B14F-4D97-AF65-F5344CB8AC3E}">
        <p14:creationId xmlns:p14="http://schemas.microsoft.com/office/powerpoint/2010/main" val="373223971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964725307"/>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74F8257F-7E9D-FA17-45FF-09B6BAA04EB4}"/>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4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74F8257F-7E9D-FA17-45FF-09B6BAA04EB4}"/>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DBE6FC62-12C3-288D-F936-D70278C88B71}"/>
              </a:ext>
            </a:extLst>
          </p:cNvPr>
          <p:cNvSpPr>
            <a:spLocks noGrp="1"/>
          </p:cNvSpPr>
          <p:nvPr>
            <p:ph type="sldNum" sz="quarter" idx="12"/>
          </p:nvPr>
        </p:nvSpPr>
        <p:spPr/>
        <p:txBody>
          <a:bodyPr/>
          <a:lstStyle/>
          <a:p>
            <a:fld id="{21218AEF-8260-6F42-89D9-6D82E053F226}" type="slidenum">
              <a:rPr kumimoji="1" lang="ja-JP" altLang="en-US" smtClean="0"/>
              <a:t>56</a:t>
            </a:fld>
            <a:endParaRPr kumimoji="1" lang="ja-JP" altLang="en-US"/>
          </a:p>
        </p:txBody>
      </p:sp>
    </p:spTree>
    <p:extLst>
      <p:ext uri="{BB962C8B-B14F-4D97-AF65-F5344CB8AC3E}">
        <p14:creationId xmlns:p14="http://schemas.microsoft.com/office/powerpoint/2010/main" val="171605147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74F8257F-7E9D-FA17-45FF-09B6BAA04EB4}"/>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5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74F8257F-7E9D-FA17-45FF-09B6BAA04EB4}"/>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2"/>
                <a:stretch>
                  <a:fillRect/>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2" name="表 4">
                <a:extLst>
                  <a:ext uri="{FF2B5EF4-FFF2-40B4-BE49-F238E27FC236}">
                    <a16:creationId xmlns:a16="http://schemas.microsoft.com/office/drawing/2014/main" id="{DF4C4766-B33F-18EC-AB3F-D865D03ED205}"/>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2" name="表 4">
                <a:extLst>
                  <a:ext uri="{FF2B5EF4-FFF2-40B4-BE49-F238E27FC236}">
                    <a16:creationId xmlns:a16="http://schemas.microsoft.com/office/drawing/2014/main" id="{DF4C4766-B33F-18EC-AB3F-D865D03ED205}"/>
                  </a:ext>
                </a:extLst>
              </p:cNvPr>
              <p:cNvGraphicFramePr>
                <a:graphicFrameLocks/>
              </p:cNvGraphicFramePr>
              <p:nvPr>
                <p:extLst>
                  <p:ext uri="{D42A27DB-BD31-4B8C-83A1-F6EECF244321}">
                    <p14:modId xmlns:p14="http://schemas.microsoft.com/office/powerpoint/2010/main" val="2878997133"/>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p:sp>
        <p:nvSpPr>
          <p:cNvPr id="3" name="スライド番号プレースホルダー 2">
            <a:extLst>
              <a:ext uri="{FF2B5EF4-FFF2-40B4-BE49-F238E27FC236}">
                <a16:creationId xmlns:a16="http://schemas.microsoft.com/office/drawing/2014/main" id="{BE7A7B78-DF3B-9440-7EC7-57AB2371B68D}"/>
              </a:ext>
            </a:extLst>
          </p:cNvPr>
          <p:cNvSpPr>
            <a:spLocks noGrp="1"/>
          </p:cNvSpPr>
          <p:nvPr>
            <p:ph type="sldNum" sz="quarter" idx="12"/>
          </p:nvPr>
        </p:nvSpPr>
        <p:spPr/>
        <p:txBody>
          <a:bodyPr/>
          <a:lstStyle/>
          <a:p>
            <a:fld id="{21218AEF-8260-6F42-89D9-6D82E053F226}" type="slidenum">
              <a:rPr kumimoji="1" lang="ja-JP" altLang="en-US" smtClean="0"/>
              <a:t>57</a:t>
            </a:fld>
            <a:endParaRPr kumimoji="1" lang="ja-JP" altLang="en-US"/>
          </a:p>
        </p:txBody>
      </p:sp>
    </p:spTree>
    <p:extLst>
      <p:ext uri="{BB962C8B-B14F-4D97-AF65-F5344CB8AC3E}">
        <p14:creationId xmlns:p14="http://schemas.microsoft.com/office/powerpoint/2010/main" val="100224932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758676786"/>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C86BA2F-F19F-C413-A614-239E90766399}"/>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6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AC86BA2F-F19F-C413-A614-239E90766399}"/>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789C4498-2379-DB82-25D2-C2D92E891638}"/>
              </a:ext>
            </a:extLst>
          </p:cNvPr>
          <p:cNvSpPr>
            <a:spLocks noGrp="1"/>
          </p:cNvSpPr>
          <p:nvPr>
            <p:ph type="sldNum" sz="quarter" idx="12"/>
          </p:nvPr>
        </p:nvSpPr>
        <p:spPr/>
        <p:txBody>
          <a:bodyPr/>
          <a:lstStyle/>
          <a:p>
            <a:fld id="{21218AEF-8260-6F42-89D9-6D82E053F226}" type="slidenum">
              <a:rPr kumimoji="1" lang="ja-JP" altLang="en-US" smtClean="0"/>
              <a:t>58</a:t>
            </a:fld>
            <a:endParaRPr kumimoji="1" lang="ja-JP" altLang="en-US"/>
          </a:p>
        </p:txBody>
      </p:sp>
    </p:spTree>
    <p:extLst>
      <p:ext uri="{BB962C8B-B14F-4D97-AF65-F5344CB8AC3E}">
        <p14:creationId xmlns:p14="http://schemas.microsoft.com/office/powerpoint/2010/main" val="184719107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724068331"/>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2E2C4A96-410D-10A7-6BBD-951420DC7E88}"/>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7</a:t>
                </a:r>
                <a:r>
                  <a:rPr lang="ja-JP" altLang="en-US" sz="2800">
                    <a:latin typeface="+mn-lt"/>
                  </a:rPr>
                  <a:t>：</a:t>
                </a:r>
                <a14:m>
                  <m:oMath xmlns:m="http://schemas.openxmlformats.org/officeDocument/2006/math">
                    <m:nary>
                      <m:naryPr>
                        <m:chr m:val="∑"/>
                        <m:limLoc m:val="subSup"/>
                        <m:ctrlPr>
                          <a:rPr lang="en-US" altLang="ja-JP" sz="2800" i="1">
                            <a:latin typeface="Cambria Math" panose="02040503050406030204" pitchFamily="18" charset="0"/>
                            <a:cs typeface="Arial" panose="020B0604020202020204" pitchFamily="34" charset="0"/>
                          </a:rPr>
                        </m:ctrlPr>
                      </m:naryPr>
                      <m:sub>
                        <m:r>
                          <m:rPr>
                            <m:brk m:alnAt="25"/>
                          </m:rPr>
                          <a:rPr lang="en-US" altLang="ja-JP" sz="2800" i="1">
                            <a:latin typeface="Cambria Math" panose="02040503050406030204" pitchFamily="18" charset="0"/>
                            <a:cs typeface="Arial" panose="020B0604020202020204" pitchFamily="34" charset="0"/>
                          </a:rPr>
                          <m:t>𝑖</m:t>
                        </m:r>
                        <m:r>
                          <a:rPr lang="en-US" altLang="ja-JP" sz="2800" i="1">
                            <a:latin typeface="Cambria Math" panose="02040503050406030204" pitchFamily="18" charset="0"/>
                            <a:cs typeface="Arial" panose="020B0604020202020204" pitchFamily="34" charset="0"/>
                          </a:rPr>
                          <m:t>=1</m:t>
                        </m:r>
                      </m:sub>
                      <m:sup>
                        <m:r>
                          <a:rPr lang="en-US" altLang="ja-JP" sz="2800" i="1">
                            <a:latin typeface="Cambria Math" panose="02040503050406030204" pitchFamily="18" charset="0"/>
                            <a:cs typeface="Arial" panose="020B0604020202020204" pitchFamily="34" charset="0"/>
                          </a:rPr>
                          <m:t>5</m:t>
                        </m:r>
                      </m:sup>
                      <m:e>
                        <m:nary>
                          <m:naryPr>
                            <m:chr m:val="∑"/>
                            <m:limLoc m:val="subSup"/>
                            <m:ctrlPr>
                              <a:rPr lang="en-US" altLang="ja-JP" sz="2800" i="1">
                                <a:latin typeface="Cambria Math" panose="02040503050406030204" pitchFamily="18" charset="0"/>
                                <a:cs typeface="Arial" panose="020B0604020202020204" pitchFamily="34" charset="0"/>
                              </a:rPr>
                            </m:ctrlPr>
                          </m:naryPr>
                          <m:sub>
                            <m:r>
                              <m:rPr>
                                <m:brk m:alnAt="25"/>
                              </m:rPr>
                              <a:rPr lang="en-US" altLang="ja-JP" sz="2800" i="1">
                                <a:latin typeface="Cambria Math" panose="02040503050406030204" pitchFamily="18" charset="0"/>
                                <a:cs typeface="Arial" panose="020B0604020202020204" pitchFamily="34" charset="0"/>
                              </a:rPr>
                              <m:t>𝑗</m:t>
                            </m:r>
                            <m:r>
                              <a:rPr lang="en-US" altLang="ja-JP" sz="2800" i="1">
                                <a:latin typeface="Cambria Math" panose="02040503050406030204" pitchFamily="18" charset="0"/>
                                <a:cs typeface="Arial" panose="020B0604020202020204" pitchFamily="34" charset="0"/>
                              </a:rPr>
                              <m:t>=1</m:t>
                            </m:r>
                          </m:sub>
                          <m:sup>
                            <m:r>
                              <a:rPr lang="en-US" altLang="ja-JP" sz="2800" i="1">
                                <a:latin typeface="Cambria Math" panose="02040503050406030204" pitchFamily="18" charset="0"/>
                                <a:cs typeface="Arial" panose="020B0604020202020204" pitchFamily="34" charset="0"/>
                              </a:rPr>
                              <m:t>5</m:t>
                            </m:r>
                          </m:sup>
                          <m:e>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𝑖</m:t>
                                </m:r>
                              </m:sub>
                            </m:sSub>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𝑗</m:t>
                                </m:r>
                              </m:sub>
                            </m:sSub>
                          </m:e>
                        </m:nary>
                      </m:e>
                    </m:nary>
                  </m:oMath>
                </a14:m>
                <a:r>
                  <a:rPr lang="en-US" altLang="ja-JP" sz="2800" dirty="0">
                    <a:latin typeface="+mn-lt"/>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2E2C4A96-410D-10A7-6BBD-951420DC7E88}"/>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t="-57746" b="-90141"/>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3C728EB3-EC42-F5C3-8B56-2C726A169D8C}"/>
              </a:ext>
            </a:extLst>
          </p:cNvPr>
          <p:cNvSpPr>
            <a:spLocks noGrp="1"/>
          </p:cNvSpPr>
          <p:nvPr>
            <p:ph type="sldNum" sz="quarter" idx="12"/>
          </p:nvPr>
        </p:nvSpPr>
        <p:spPr/>
        <p:txBody>
          <a:bodyPr/>
          <a:lstStyle/>
          <a:p>
            <a:fld id="{21218AEF-8260-6F42-89D9-6D82E053F226}" type="slidenum">
              <a:rPr kumimoji="1" lang="ja-JP" altLang="en-US" smtClean="0"/>
              <a:t>59</a:t>
            </a:fld>
            <a:endParaRPr kumimoji="1" lang="ja-JP" altLang="en-US"/>
          </a:p>
        </p:txBody>
      </p:sp>
    </p:spTree>
    <p:extLst>
      <p:ext uri="{BB962C8B-B14F-4D97-AF65-F5344CB8AC3E}">
        <p14:creationId xmlns:p14="http://schemas.microsoft.com/office/powerpoint/2010/main" val="2650614520"/>
      </p:ext>
    </p:extLst>
  </p:cSld>
  <p:clrMapOvr>
    <a:masterClrMapping/>
  </p:clrMapOvr>
  <mc:AlternateContent xmlns:mc="http://schemas.openxmlformats.org/markup-compatibility/2006">
    <mc:Choice xmlns:p14="http://schemas.microsoft.com/office/powerpoint/2010/main" Requires="p14">
      <p:transition spd="slow" p14:dur="2000" advTm="18978"/>
    </mc:Choice>
    <mc:Fallback>
      <p:transition spd="slow" advTm="18978"/>
    </mc:Fallback>
  </mc:AlternateContent>
</p:sld>
</file>

<file path=ppt/slides/slide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237222629"/>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8629C72-B4A3-6D7C-5D66-4298151C2740}"/>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8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A8629C72-B4A3-6D7C-5D66-4298151C2740}"/>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CB05EA7A-3BA9-5026-C46E-C4D35D97EA37}"/>
              </a:ext>
            </a:extLst>
          </p:cNvPr>
          <p:cNvSpPr>
            <a:spLocks noGrp="1"/>
          </p:cNvSpPr>
          <p:nvPr>
            <p:ph type="sldNum" sz="quarter" idx="12"/>
          </p:nvPr>
        </p:nvSpPr>
        <p:spPr/>
        <p:txBody>
          <a:bodyPr/>
          <a:lstStyle/>
          <a:p>
            <a:fld id="{21218AEF-8260-6F42-89D9-6D82E053F226}" type="slidenum">
              <a:rPr kumimoji="1" lang="ja-JP" altLang="en-US" smtClean="0"/>
              <a:t>60</a:t>
            </a:fld>
            <a:endParaRPr kumimoji="1" lang="ja-JP" altLang="en-US"/>
          </a:p>
        </p:txBody>
      </p:sp>
    </p:spTree>
    <p:extLst>
      <p:ext uri="{BB962C8B-B14F-4D97-AF65-F5344CB8AC3E}">
        <p14:creationId xmlns:p14="http://schemas.microsoft.com/office/powerpoint/2010/main" val="210381594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551923718"/>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DD496809-3136-0065-056A-1EBCAF4EA4B6}"/>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9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DD496809-3136-0065-056A-1EBCAF4EA4B6}"/>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99D9435D-FBD6-8600-B36E-7F7984DD21E6}"/>
              </a:ext>
            </a:extLst>
          </p:cNvPr>
          <p:cNvSpPr>
            <a:spLocks noGrp="1"/>
          </p:cNvSpPr>
          <p:nvPr>
            <p:ph type="sldNum" sz="quarter" idx="12"/>
          </p:nvPr>
        </p:nvSpPr>
        <p:spPr/>
        <p:txBody>
          <a:bodyPr/>
          <a:lstStyle/>
          <a:p>
            <a:fld id="{21218AEF-8260-6F42-89D9-6D82E053F226}" type="slidenum">
              <a:rPr kumimoji="1" lang="ja-JP" altLang="en-US" smtClean="0"/>
              <a:t>61</a:t>
            </a:fld>
            <a:endParaRPr kumimoji="1" lang="ja-JP" altLang="en-US"/>
          </a:p>
        </p:txBody>
      </p:sp>
    </p:spTree>
    <p:extLst>
      <p:ext uri="{BB962C8B-B14F-4D97-AF65-F5344CB8AC3E}">
        <p14:creationId xmlns:p14="http://schemas.microsoft.com/office/powerpoint/2010/main" val="105412510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1957022015"/>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281B82C1-AD09-73C6-50BA-BB41ABCF4CAD}"/>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既存手法　選択割合　設定</a:t>
                </a:r>
                <a:r>
                  <a:rPr lang="en-US" altLang="ja-JP" sz="2800" dirty="0">
                    <a:latin typeface="+mn-lt"/>
                  </a:rPr>
                  <a:t>10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oMath>
                </a14:m>
                <a:endParaRPr kumimoji="1" lang="ja-JP" altLang="en-US" sz="2800"/>
              </a:p>
            </p:txBody>
          </p:sp>
        </mc:Choice>
        <mc:Fallback xmlns="">
          <p:sp>
            <p:nvSpPr>
              <p:cNvPr id="6" name="タイトル 1">
                <a:extLst>
                  <a:ext uri="{FF2B5EF4-FFF2-40B4-BE49-F238E27FC236}">
                    <a16:creationId xmlns:a16="http://schemas.microsoft.com/office/drawing/2014/main" id="{281B82C1-AD09-73C6-50BA-BB41ABCF4CAD}"/>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61E3AD54-9465-B2CC-C7DA-2F88B4916B31}"/>
              </a:ext>
            </a:extLst>
          </p:cNvPr>
          <p:cNvSpPr>
            <a:spLocks noGrp="1"/>
          </p:cNvSpPr>
          <p:nvPr>
            <p:ph type="sldNum" sz="quarter" idx="12"/>
          </p:nvPr>
        </p:nvSpPr>
        <p:spPr/>
        <p:txBody>
          <a:bodyPr/>
          <a:lstStyle/>
          <a:p>
            <a:fld id="{21218AEF-8260-6F42-89D9-6D82E053F226}" type="slidenum">
              <a:rPr kumimoji="1" lang="ja-JP" altLang="en-US" smtClean="0"/>
              <a:t>62</a:t>
            </a:fld>
            <a:endParaRPr kumimoji="1" lang="ja-JP" altLang="en-US"/>
          </a:p>
        </p:txBody>
      </p:sp>
    </p:spTree>
    <p:extLst>
      <p:ext uri="{BB962C8B-B14F-4D97-AF65-F5344CB8AC3E}">
        <p14:creationId xmlns:p14="http://schemas.microsoft.com/office/powerpoint/2010/main" val="377904520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タイトル 1">
                <a:extLst>
                  <a:ext uri="{FF2B5EF4-FFF2-40B4-BE49-F238E27FC236}">
                    <a16:creationId xmlns:a16="http://schemas.microsoft.com/office/drawing/2014/main" id="{FDA04F52-2663-E99B-59D3-05E2FBAB7D2D}"/>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1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ea typeface="+mn-ea"/>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2" name="タイトル 1">
                <a:extLst>
                  <a:ext uri="{FF2B5EF4-FFF2-40B4-BE49-F238E27FC236}">
                    <a16:creationId xmlns:a16="http://schemas.microsoft.com/office/drawing/2014/main" id="{FDA04F52-2663-E99B-59D3-05E2FBAB7D2D}"/>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2"/>
                <a:stretch>
                  <a:fillRect/>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4139735578"/>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p:sp>
        <p:nvSpPr>
          <p:cNvPr id="3" name="スライド番号プレースホルダー 2">
            <a:extLst>
              <a:ext uri="{FF2B5EF4-FFF2-40B4-BE49-F238E27FC236}">
                <a16:creationId xmlns:a16="http://schemas.microsoft.com/office/drawing/2014/main" id="{A1A21CE6-F03C-085C-FC81-102CFF989DAE}"/>
              </a:ext>
            </a:extLst>
          </p:cNvPr>
          <p:cNvSpPr>
            <a:spLocks noGrp="1"/>
          </p:cNvSpPr>
          <p:nvPr>
            <p:ph type="sldNum" sz="quarter" idx="12"/>
          </p:nvPr>
        </p:nvSpPr>
        <p:spPr/>
        <p:txBody>
          <a:bodyPr/>
          <a:lstStyle/>
          <a:p>
            <a:fld id="{21218AEF-8260-6F42-89D9-6D82E053F226}" type="slidenum">
              <a:rPr kumimoji="1" lang="ja-JP" altLang="en-US" smtClean="0"/>
              <a:t>63</a:t>
            </a:fld>
            <a:endParaRPr kumimoji="1" lang="ja-JP" altLang="en-US"/>
          </a:p>
        </p:txBody>
      </p:sp>
    </p:spTree>
    <p:extLst>
      <p:ext uri="{BB962C8B-B14F-4D97-AF65-F5344CB8AC3E}">
        <p14:creationId xmlns:p14="http://schemas.microsoft.com/office/powerpoint/2010/main" val="72513709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169709705"/>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B3863A9-3FD6-F936-5332-3DA2B590A8BA}"/>
                  </a:ext>
                </a:extLst>
              </p:cNvPr>
              <p:cNvSpPr>
                <a:spLocks noGrp="1"/>
              </p:cNvSpPr>
              <p:nvPr>
                <p:ph type="title"/>
              </p:nvPr>
            </p:nvSpPr>
            <p:spPr>
              <a:xfrm>
                <a:off x="0" y="30145"/>
                <a:ext cx="12192000" cy="893379"/>
              </a:xfrm>
            </p:spPr>
            <p:txBody>
              <a:bodyPr>
                <a:normAutofit/>
              </a:bodyPr>
              <a:lstStyle/>
              <a:p>
                <a:pPr algn="ctr"/>
                <a:r>
                  <a:rPr lang="ja-JP" altLang="en-US" sz="2800">
                    <a:latin typeface="+mn-lt"/>
                  </a:rPr>
                  <a:t>提案手法　選択割合　設定</a:t>
                </a:r>
                <a:r>
                  <a:rPr lang="en-US" altLang="ja-JP" sz="2800" dirty="0">
                    <a:latin typeface="+mn-lt"/>
                  </a:rPr>
                  <a:t>2</a:t>
                </a:r>
                <a:r>
                  <a:rPr lang="ja-JP" altLang="en-US" sz="2800">
                    <a:latin typeface="+mn-lt"/>
                  </a:rPr>
                  <a:t>：</a:t>
                </a:r>
                <a14:m>
                  <m:oMath xmlns:m="http://schemas.openxmlformats.org/officeDocument/2006/math">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1</m:t>
                        </m:r>
                      </m:sub>
                    </m:sSub>
                    <m:r>
                      <a:rPr lang="en-US" altLang="ja-JP" sz="2800" i="1">
                        <a:latin typeface="Cambria Math" panose="02040503050406030204" pitchFamily="18" charset="0"/>
                        <a:cs typeface="Arial" panose="020B0604020202020204" pitchFamily="34" charset="0"/>
                      </a:rPr>
                      <m:t>+</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3</m:t>
                        </m:r>
                      </m:sub>
                    </m:sSub>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4</m:t>
                        </m:r>
                      </m:sub>
                    </m:sSub>
                  </m:oMath>
                </a14:m>
                <a:r>
                  <a:rPr lang="en-US" altLang="ja-JP" sz="2800" dirty="0">
                    <a:latin typeface="+mn-lt"/>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AB3863A9-3FD6-F936-5332-3DA2B590A8BA}"/>
                  </a:ext>
                </a:extLst>
              </p:cNvPr>
              <p:cNvSpPr>
                <a:spLocks noGrp="1" noRot="1" noChangeAspect="1" noMove="1" noResize="1" noEditPoints="1" noAdjustHandles="1" noChangeArrowheads="1" noChangeShapeType="1" noTextEdit="1"/>
              </p:cNvSpPr>
              <p:nvPr>
                <p:ph type="title"/>
              </p:nvPr>
            </p:nvSpPr>
            <p:spPr>
              <a:xfrm>
                <a:off x="0" y="30145"/>
                <a:ext cx="121920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891A4923-99FA-F15B-3303-8F0DC9770F72}"/>
              </a:ext>
            </a:extLst>
          </p:cNvPr>
          <p:cNvSpPr>
            <a:spLocks noGrp="1"/>
          </p:cNvSpPr>
          <p:nvPr>
            <p:ph type="sldNum" sz="quarter" idx="12"/>
          </p:nvPr>
        </p:nvSpPr>
        <p:spPr/>
        <p:txBody>
          <a:bodyPr/>
          <a:lstStyle/>
          <a:p>
            <a:fld id="{21218AEF-8260-6F42-89D9-6D82E053F226}" type="slidenum">
              <a:rPr kumimoji="1" lang="ja-JP" altLang="en-US" smtClean="0"/>
              <a:t>64</a:t>
            </a:fld>
            <a:endParaRPr kumimoji="1" lang="ja-JP" altLang="en-US"/>
          </a:p>
        </p:txBody>
      </p:sp>
    </p:spTree>
    <p:extLst>
      <p:ext uri="{BB962C8B-B14F-4D97-AF65-F5344CB8AC3E}">
        <p14:creationId xmlns:p14="http://schemas.microsoft.com/office/powerpoint/2010/main" val="3654387685"/>
      </p:ext>
    </p:extLst>
  </p:cSld>
  <p:clrMapOvr>
    <a:masterClrMapping/>
  </p:clrMapOvr>
  <mc:AlternateContent xmlns:mc="http://schemas.openxmlformats.org/markup-compatibility/2006">
    <mc:Choice xmlns:p14="http://schemas.microsoft.com/office/powerpoint/2010/main" Requires="p14">
      <p:transition spd="slow" p14:dur="2000" advTm="18819"/>
    </mc:Choice>
    <mc:Fallback>
      <p:transition spd="slow" advTm="18819"/>
    </mc:Fallback>
  </mc:AlternateContent>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243397134"/>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D22F0C70-50FF-5A1B-FF08-D26E58C6A4B9}"/>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3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D22F0C70-50FF-5A1B-FF08-D26E58C6A4B9}"/>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DC26DC63-D900-BFD0-77DC-13A9AB9F8695}"/>
              </a:ext>
            </a:extLst>
          </p:cNvPr>
          <p:cNvSpPr>
            <a:spLocks noGrp="1"/>
          </p:cNvSpPr>
          <p:nvPr>
            <p:ph type="sldNum" sz="quarter" idx="12"/>
          </p:nvPr>
        </p:nvSpPr>
        <p:spPr/>
        <p:txBody>
          <a:bodyPr/>
          <a:lstStyle/>
          <a:p>
            <a:fld id="{21218AEF-8260-6F42-89D9-6D82E053F226}" type="slidenum">
              <a:rPr kumimoji="1" lang="ja-JP" altLang="en-US" smtClean="0"/>
              <a:t>65</a:t>
            </a:fld>
            <a:endParaRPr kumimoji="1" lang="ja-JP" altLang="en-US"/>
          </a:p>
        </p:txBody>
      </p:sp>
    </p:spTree>
    <p:extLst>
      <p:ext uri="{BB962C8B-B14F-4D97-AF65-F5344CB8AC3E}">
        <p14:creationId xmlns:p14="http://schemas.microsoft.com/office/powerpoint/2010/main" val="301978096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411446476"/>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74F8257F-7E9D-FA17-45FF-09B6BAA04EB4}"/>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4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74F8257F-7E9D-FA17-45FF-09B6BAA04EB4}"/>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73EB1D6B-A058-6367-0235-D02EDA7C2E09}"/>
              </a:ext>
            </a:extLst>
          </p:cNvPr>
          <p:cNvSpPr>
            <a:spLocks noGrp="1"/>
          </p:cNvSpPr>
          <p:nvPr>
            <p:ph type="sldNum" sz="quarter" idx="12"/>
          </p:nvPr>
        </p:nvSpPr>
        <p:spPr/>
        <p:txBody>
          <a:bodyPr/>
          <a:lstStyle/>
          <a:p>
            <a:fld id="{21218AEF-8260-6F42-89D9-6D82E053F226}" type="slidenum">
              <a:rPr kumimoji="1" lang="ja-JP" altLang="en-US" smtClean="0"/>
              <a:t>66</a:t>
            </a:fld>
            <a:endParaRPr kumimoji="1" lang="ja-JP" altLang="en-US"/>
          </a:p>
        </p:txBody>
      </p:sp>
    </p:spTree>
    <p:extLst>
      <p:ext uri="{BB962C8B-B14F-4D97-AF65-F5344CB8AC3E}">
        <p14:creationId xmlns:p14="http://schemas.microsoft.com/office/powerpoint/2010/main" val="306999279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74F8257F-7E9D-FA17-45FF-09B6BAA04EB4}"/>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5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74F8257F-7E9D-FA17-45FF-09B6BAA04EB4}"/>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2"/>
                <a:stretch>
                  <a:fillRect/>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2" name="表 4">
                <a:extLst>
                  <a:ext uri="{FF2B5EF4-FFF2-40B4-BE49-F238E27FC236}">
                    <a16:creationId xmlns:a16="http://schemas.microsoft.com/office/drawing/2014/main" id="{DF4C4766-B33F-18EC-AB3F-D865D03ED205}"/>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2" name="表 4">
                <a:extLst>
                  <a:ext uri="{FF2B5EF4-FFF2-40B4-BE49-F238E27FC236}">
                    <a16:creationId xmlns:a16="http://schemas.microsoft.com/office/drawing/2014/main" id="{DF4C4766-B33F-18EC-AB3F-D865D03ED205}"/>
                  </a:ext>
                </a:extLst>
              </p:cNvPr>
              <p:cNvGraphicFramePr>
                <a:graphicFrameLocks/>
              </p:cNvGraphicFramePr>
              <p:nvPr>
                <p:extLst>
                  <p:ext uri="{D42A27DB-BD31-4B8C-83A1-F6EECF244321}">
                    <p14:modId xmlns:p14="http://schemas.microsoft.com/office/powerpoint/2010/main" val="2696139374"/>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p:sp>
        <p:nvSpPr>
          <p:cNvPr id="3" name="スライド番号プレースホルダー 2">
            <a:extLst>
              <a:ext uri="{FF2B5EF4-FFF2-40B4-BE49-F238E27FC236}">
                <a16:creationId xmlns:a16="http://schemas.microsoft.com/office/drawing/2014/main" id="{367FE97B-3DED-9B81-B5E0-D8C76BEAE925}"/>
              </a:ext>
            </a:extLst>
          </p:cNvPr>
          <p:cNvSpPr>
            <a:spLocks noGrp="1"/>
          </p:cNvSpPr>
          <p:nvPr>
            <p:ph type="sldNum" sz="quarter" idx="12"/>
          </p:nvPr>
        </p:nvSpPr>
        <p:spPr/>
        <p:txBody>
          <a:bodyPr/>
          <a:lstStyle/>
          <a:p>
            <a:fld id="{21218AEF-8260-6F42-89D9-6D82E053F226}" type="slidenum">
              <a:rPr kumimoji="1" lang="ja-JP" altLang="en-US" smtClean="0"/>
              <a:t>67</a:t>
            </a:fld>
            <a:endParaRPr kumimoji="1" lang="ja-JP" altLang="en-US"/>
          </a:p>
        </p:txBody>
      </p:sp>
    </p:spTree>
    <p:extLst>
      <p:ext uri="{BB962C8B-B14F-4D97-AF65-F5344CB8AC3E}">
        <p14:creationId xmlns:p14="http://schemas.microsoft.com/office/powerpoint/2010/main" val="94121124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710901626"/>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C86BA2F-F19F-C413-A614-239E90766399}"/>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6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AC86BA2F-F19F-C413-A614-239E90766399}"/>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9CB38588-0D48-CBC0-9CDD-71B022A1D3DB}"/>
              </a:ext>
            </a:extLst>
          </p:cNvPr>
          <p:cNvSpPr>
            <a:spLocks noGrp="1"/>
          </p:cNvSpPr>
          <p:nvPr>
            <p:ph type="sldNum" sz="quarter" idx="12"/>
          </p:nvPr>
        </p:nvSpPr>
        <p:spPr/>
        <p:txBody>
          <a:bodyPr/>
          <a:lstStyle/>
          <a:p>
            <a:fld id="{21218AEF-8260-6F42-89D9-6D82E053F226}" type="slidenum">
              <a:rPr kumimoji="1" lang="ja-JP" altLang="en-US" smtClean="0"/>
              <a:t>68</a:t>
            </a:fld>
            <a:endParaRPr kumimoji="1" lang="ja-JP" altLang="en-US"/>
          </a:p>
        </p:txBody>
      </p:sp>
    </p:spTree>
    <p:extLst>
      <p:ext uri="{BB962C8B-B14F-4D97-AF65-F5344CB8AC3E}">
        <p14:creationId xmlns:p14="http://schemas.microsoft.com/office/powerpoint/2010/main" val="398708262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933300645"/>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2E2C4A96-410D-10A7-6BBD-951420DC7E88}"/>
                  </a:ext>
                </a:extLst>
              </p:cNvPr>
              <p:cNvSpPr>
                <a:spLocks noGrp="1"/>
              </p:cNvSpPr>
              <p:nvPr>
                <p:ph type="title"/>
              </p:nvPr>
            </p:nvSpPr>
            <p:spPr>
              <a:xfrm>
                <a:off x="0" y="141895"/>
                <a:ext cx="12192000" cy="893379"/>
              </a:xfrm>
            </p:spPr>
            <p:txBody>
              <a:bodyPr>
                <a:normAutofit/>
              </a:bodyPr>
              <a:lstStyle/>
              <a:p>
                <a:pPr algn="ctr"/>
                <a:r>
                  <a:rPr lang="ja-JP" altLang="en-US" sz="2800">
                    <a:latin typeface="+mn-lt"/>
                  </a:rPr>
                  <a:t>提案手法　選択割合　設定</a:t>
                </a:r>
                <a:r>
                  <a:rPr lang="en-US" altLang="ja-JP" sz="2800" dirty="0">
                    <a:latin typeface="+mn-lt"/>
                  </a:rPr>
                  <a:t>7</a:t>
                </a:r>
                <a:r>
                  <a:rPr lang="ja-JP" altLang="en-US" sz="2800">
                    <a:latin typeface="+mn-lt"/>
                  </a:rPr>
                  <a:t>：</a:t>
                </a:r>
                <a14:m>
                  <m:oMath xmlns:m="http://schemas.openxmlformats.org/officeDocument/2006/math">
                    <m:nary>
                      <m:naryPr>
                        <m:chr m:val="∑"/>
                        <m:limLoc m:val="subSup"/>
                        <m:ctrlPr>
                          <a:rPr lang="en-US" altLang="ja-JP" sz="2800" i="1">
                            <a:latin typeface="Cambria Math" panose="02040503050406030204" pitchFamily="18" charset="0"/>
                            <a:cs typeface="Arial" panose="020B0604020202020204" pitchFamily="34" charset="0"/>
                          </a:rPr>
                        </m:ctrlPr>
                      </m:naryPr>
                      <m:sub>
                        <m:r>
                          <m:rPr>
                            <m:brk m:alnAt="25"/>
                          </m:rPr>
                          <a:rPr lang="en-US" altLang="ja-JP" sz="2800" i="1">
                            <a:latin typeface="Cambria Math" panose="02040503050406030204" pitchFamily="18" charset="0"/>
                            <a:cs typeface="Arial" panose="020B0604020202020204" pitchFamily="34" charset="0"/>
                          </a:rPr>
                          <m:t>𝑖</m:t>
                        </m:r>
                        <m:r>
                          <a:rPr lang="en-US" altLang="ja-JP" sz="2800" i="1">
                            <a:latin typeface="Cambria Math" panose="02040503050406030204" pitchFamily="18" charset="0"/>
                            <a:cs typeface="Arial" panose="020B0604020202020204" pitchFamily="34" charset="0"/>
                          </a:rPr>
                          <m:t>=1</m:t>
                        </m:r>
                      </m:sub>
                      <m:sup>
                        <m:r>
                          <a:rPr lang="en-US" altLang="ja-JP" sz="2800" i="1">
                            <a:latin typeface="Cambria Math" panose="02040503050406030204" pitchFamily="18" charset="0"/>
                            <a:cs typeface="Arial" panose="020B0604020202020204" pitchFamily="34" charset="0"/>
                          </a:rPr>
                          <m:t>5</m:t>
                        </m:r>
                      </m:sup>
                      <m:e>
                        <m:nary>
                          <m:naryPr>
                            <m:chr m:val="∑"/>
                            <m:limLoc m:val="subSup"/>
                            <m:ctrlPr>
                              <a:rPr lang="en-US" altLang="ja-JP" sz="2800" i="1">
                                <a:latin typeface="Cambria Math" panose="02040503050406030204" pitchFamily="18" charset="0"/>
                                <a:cs typeface="Arial" panose="020B0604020202020204" pitchFamily="34" charset="0"/>
                              </a:rPr>
                            </m:ctrlPr>
                          </m:naryPr>
                          <m:sub>
                            <m:r>
                              <m:rPr>
                                <m:brk m:alnAt="25"/>
                              </m:rPr>
                              <a:rPr lang="en-US" altLang="ja-JP" sz="2800" i="1">
                                <a:latin typeface="Cambria Math" panose="02040503050406030204" pitchFamily="18" charset="0"/>
                                <a:cs typeface="Arial" panose="020B0604020202020204" pitchFamily="34" charset="0"/>
                              </a:rPr>
                              <m:t>𝑗</m:t>
                            </m:r>
                            <m:r>
                              <a:rPr lang="en-US" altLang="ja-JP" sz="2800" i="1">
                                <a:latin typeface="Cambria Math" panose="02040503050406030204" pitchFamily="18" charset="0"/>
                                <a:cs typeface="Arial" panose="020B0604020202020204" pitchFamily="34" charset="0"/>
                              </a:rPr>
                              <m:t>=1</m:t>
                            </m:r>
                          </m:sub>
                          <m:sup>
                            <m:r>
                              <a:rPr lang="en-US" altLang="ja-JP" sz="2800" i="1">
                                <a:latin typeface="Cambria Math" panose="02040503050406030204" pitchFamily="18" charset="0"/>
                                <a:cs typeface="Arial" panose="020B0604020202020204" pitchFamily="34" charset="0"/>
                              </a:rPr>
                              <m:t>5</m:t>
                            </m:r>
                          </m:sup>
                          <m:e>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𝑖</m:t>
                                </m:r>
                              </m:sub>
                            </m:sSub>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𝑗</m:t>
                                </m:r>
                              </m:sub>
                            </m:sSub>
                          </m:e>
                        </m:nary>
                      </m:e>
                    </m:nary>
                  </m:oMath>
                </a14:m>
                <a:r>
                  <a:rPr lang="en-US" altLang="ja-JP" sz="2800" dirty="0">
                    <a:latin typeface="+mn-lt"/>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2E2C4A96-410D-10A7-6BBD-951420DC7E88}"/>
                  </a:ext>
                </a:extLst>
              </p:cNvPr>
              <p:cNvSpPr>
                <a:spLocks noGrp="1" noRot="1" noChangeAspect="1" noMove="1" noResize="1" noEditPoints="1" noAdjustHandles="1" noChangeArrowheads="1" noChangeShapeType="1" noTextEdit="1"/>
              </p:cNvSpPr>
              <p:nvPr>
                <p:ph type="title"/>
              </p:nvPr>
            </p:nvSpPr>
            <p:spPr>
              <a:xfrm>
                <a:off x="0" y="141895"/>
                <a:ext cx="12192000" cy="893379"/>
              </a:xfrm>
              <a:blipFill>
                <a:blip r:embed="rId3"/>
                <a:stretch>
                  <a:fillRect t="-57746" b="-90141"/>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0C4D4D4A-5181-CFA8-266E-C77F540A0C63}"/>
              </a:ext>
            </a:extLst>
          </p:cNvPr>
          <p:cNvSpPr>
            <a:spLocks noGrp="1"/>
          </p:cNvSpPr>
          <p:nvPr>
            <p:ph type="sldNum" sz="quarter" idx="12"/>
          </p:nvPr>
        </p:nvSpPr>
        <p:spPr/>
        <p:txBody>
          <a:bodyPr/>
          <a:lstStyle/>
          <a:p>
            <a:fld id="{21218AEF-8260-6F42-89D9-6D82E053F226}" type="slidenum">
              <a:rPr kumimoji="1" lang="ja-JP" altLang="en-US" smtClean="0"/>
              <a:t>69</a:t>
            </a:fld>
            <a:endParaRPr kumimoji="1" lang="ja-JP" altLang="en-US"/>
          </a:p>
        </p:txBody>
      </p:sp>
    </p:spTree>
    <p:extLst>
      <p:ext uri="{BB962C8B-B14F-4D97-AF65-F5344CB8AC3E}">
        <p14:creationId xmlns:p14="http://schemas.microsoft.com/office/powerpoint/2010/main" val="999005337"/>
      </p:ext>
    </p:extLst>
  </p:cSld>
  <p:clrMapOvr>
    <a:masterClrMapping/>
  </p:clrMapOvr>
  <mc:AlternateContent xmlns:mc="http://schemas.openxmlformats.org/markup-compatibility/2006">
    <mc:Choice xmlns:p14="http://schemas.microsoft.com/office/powerpoint/2010/main" Requires="p14">
      <p:transition spd="slow" p14:dur="2000" advTm="17753"/>
    </mc:Choice>
    <mc:Fallback>
      <p:transition spd="slow" advTm="17753"/>
    </mc:Fallback>
  </mc:AlternateContent>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4288615040"/>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0.77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8629C72-B4A3-6D7C-5D66-4298151C2740}"/>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8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A8629C72-B4A3-6D7C-5D66-4298151C2740}"/>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C28E9C40-C599-9EA5-DD00-5E8795068057}"/>
              </a:ext>
            </a:extLst>
          </p:cNvPr>
          <p:cNvSpPr>
            <a:spLocks noGrp="1"/>
          </p:cNvSpPr>
          <p:nvPr>
            <p:ph type="sldNum" sz="quarter" idx="12"/>
          </p:nvPr>
        </p:nvSpPr>
        <p:spPr/>
        <p:txBody>
          <a:bodyPr/>
          <a:lstStyle/>
          <a:p>
            <a:fld id="{21218AEF-8260-6F42-89D9-6D82E053F226}" type="slidenum">
              <a:rPr kumimoji="1" lang="ja-JP" altLang="en-US" smtClean="0"/>
              <a:t>70</a:t>
            </a:fld>
            <a:endParaRPr kumimoji="1" lang="ja-JP" altLang="en-US"/>
          </a:p>
        </p:txBody>
      </p:sp>
    </p:spTree>
    <p:extLst>
      <p:ext uri="{BB962C8B-B14F-4D97-AF65-F5344CB8AC3E}">
        <p14:creationId xmlns:p14="http://schemas.microsoft.com/office/powerpoint/2010/main" val="22715281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482829299"/>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DD496809-3136-0065-056A-1EBCAF4EA4B6}"/>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9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DD496809-3136-0065-056A-1EBCAF4EA4B6}"/>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68C40615-4E68-DE09-67B7-399C06325E76}"/>
              </a:ext>
            </a:extLst>
          </p:cNvPr>
          <p:cNvSpPr>
            <a:spLocks noGrp="1"/>
          </p:cNvSpPr>
          <p:nvPr>
            <p:ph type="sldNum" sz="quarter" idx="12"/>
          </p:nvPr>
        </p:nvSpPr>
        <p:spPr/>
        <p:txBody>
          <a:bodyPr/>
          <a:lstStyle/>
          <a:p>
            <a:fld id="{21218AEF-8260-6F42-89D9-6D82E053F226}" type="slidenum">
              <a:rPr kumimoji="1" lang="ja-JP" altLang="en-US" smtClean="0"/>
              <a:t>71</a:t>
            </a:fld>
            <a:endParaRPr kumimoji="1" lang="ja-JP" altLang="en-US"/>
          </a:p>
        </p:txBody>
      </p:sp>
    </p:spTree>
    <p:extLst>
      <p:ext uri="{BB962C8B-B14F-4D97-AF65-F5344CB8AC3E}">
        <p14:creationId xmlns:p14="http://schemas.microsoft.com/office/powerpoint/2010/main" val="418988466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814762485"/>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281B82C1-AD09-73C6-50BA-BB41ABCF4CAD}"/>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10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=30)</m:t>
                    </m:r>
                  </m:oMath>
                </a14:m>
                <a:endParaRPr kumimoji="1" lang="ja-JP" altLang="en-US" sz="2800"/>
              </a:p>
            </p:txBody>
          </p:sp>
        </mc:Choice>
        <mc:Fallback xmlns="">
          <p:sp>
            <p:nvSpPr>
              <p:cNvPr id="6" name="タイトル 1">
                <a:extLst>
                  <a:ext uri="{FF2B5EF4-FFF2-40B4-BE49-F238E27FC236}">
                    <a16:creationId xmlns:a16="http://schemas.microsoft.com/office/drawing/2014/main" id="{281B82C1-AD09-73C6-50BA-BB41ABCF4CAD}"/>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573523F8-D4A5-656E-57A9-A048263DA8A6}"/>
              </a:ext>
            </a:extLst>
          </p:cNvPr>
          <p:cNvSpPr>
            <a:spLocks noGrp="1"/>
          </p:cNvSpPr>
          <p:nvPr>
            <p:ph type="sldNum" sz="quarter" idx="12"/>
          </p:nvPr>
        </p:nvSpPr>
        <p:spPr/>
        <p:txBody>
          <a:bodyPr/>
          <a:lstStyle/>
          <a:p>
            <a:fld id="{21218AEF-8260-6F42-89D9-6D82E053F226}" type="slidenum">
              <a:rPr kumimoji="1" lang="ja-JP" altLang="en-US" smtClean="0"/>
              <a:t>72</a:t>
            </a:fld>
            <a:endParaRPr kumimoji="1" lang="ja-JP" altLang="en-US"/>
          </a:p>
        </p:txBody>
      </p:sp>
    </p:spTree>
    <p:extLst>
      <p:ext uri="{BB962C8B-B14F-4D97-AF65-F5344CB8AC3E}">
        <p14:creationId xmlns:p14="http://schemas.microsoft.com/office/powerpoint/2010/main" val="115324044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タイトル 1">
                <a:extLst>
                  <a:ext uri="{FF2B5EF4-FFF2-40B4-BE49-F238E27FC236}">
                    <a16:creationId xmlns:a16="http://schemas.microsoft.com/office/drawing/2014/main" id="{FDA04F52-2663-E99B-59D3-05E2FBAB7D2D}"/>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1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ea typeface="+mn-ea"/>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2" name="タイトル 1">
                <a:extLst>
                  <a:ext uri="{FF2B5EF4-FFF2-40B4-BE49-F238E27FC236}">
                    <a16:creationId xmlns:a16="http://schemas.microsoft.com/office/drawing/2014/main" id="{FDA04F52-2663-E99B-59D3-05E2FBAB7D2D}"/>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2"/>
                <a:stretch>
                  <a:fillRect/>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407516726"/>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p:sp>
        <p:nvSpPr>
          <p:cNvPr id="3" name="スライド番号プレースホルダー 2">
            <a:extLst>
              <a:ext uri="{FF2B5EF4-FFF2-40B4-BE49-F238E27FC236}">
                <a16:creationId xmlns:a16="http://schemas.microsoft.com/office/drawing/2014/main" id="{83F54D46-FBC8-40DF-7197-5C00CE065E7C}"/>
              </a:ext>
            </a:extLst>
          </p:cNvPr>
          <p:cNvSpPr>
            <a:spLocks noGrp="1"/>
          </p:cNvSpPr>
          <p:nvPr>
            <p:ph type="sldNum" sz="quarter" idx="12"/>
          </p:nvPr>
        </p:nvSpPr>
        <p:spPr/>
        <p:txBody>
          <a:bodyPr/>
          <a:lstStyle/>
          <a:p>
            <a:fld id="{21218AEF-8260-6F42-89D9-6D82E053F226}" type="slidenum">
              <a:rPr kumimoji="1" lang="ja-JP" altLang="en-US" smtClean="0"/>
              <a:t>73</a:t>
            </a:fld>
            <a:endParaRPr kumimoji="1" lang="ja-JP" altLang="en-US"/>
          </a:p>
        </p:txBody>
      </p:sp>
    </p:spTree>
    <p:extLst>
      <p:ext uri="{BB962C8B-B14F-4D97-AF65-F5344CB8AC3E}">
        <p14:creationId xmlns:p14="http://schemas.microsoft.com/office/powerpoint/2010/main" val="96295533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136419047"/>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0.89</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1.00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0.86</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136419047"/>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0.89</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1.00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0.86</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mc:Choice xmlns:a14="http://schemas.microsoft.com/office/drawing/2010/main" Requires="a14">
          <p:sp>
            <p:nvSpPr>
              <p:cNvPr id="6" name="タイトル 1">
                <a:extLst>
                  <a:ext uri="{FF2B5EF4-FFF2-40B4-BE49-F238E27FC236}">
                    <a16:creationId xmlns:a16="http://schemas.microsoft.com/office/drawing/2014/main" id="{AB3863A9-3FD6-F936-5332-3DA2B590A8BA}"/>
                  </a:ext>
                </a:extLst>
              </p:cNvPr>
              <p:cNvSpPr>
                <a:spLocks noGrp="1"/>
              </p:cNvSpPr>
              <p:nvPr>
                <p:ph type="title"/>
              </p:nvPr>
            </p:nvSpPr>
            <p:spPr>
              <a:xfrm>
                <a:off x="0" y="61213"/>
                <a:ext cx="12192000" cy="893379"/>
              </a:xfrm>
            </p:spPr>
            <p:txBody>
              <a:bodyPr>
                <a:normAutofit/>
              </a:bodyPr>
              <a:lstStyle/>
              <a:p>
                <a:pPr algn="ctr"/>
                <a:r>
                  <a:rPr lang="ja-JP" altLang="en-US" sz="2800">
                    <a:latin typeface="+mn-lt"/>
                  </a:rPr>
                  <a:t>提案手法　選択割合　設定</a:t>
                </a:r>
                <a:r>
                  <a:rPr lang="en-US" altLang="ja-JP" sz="2800" dirty="0">
                    <a:latin typeface="+mn-lt"/>
                  </a:rPr>
                  <a:t>2</a:t>
                </a:r>
                <a:r>
                  <a:rPr lang="ja-JP" altLang="en-US" sz="2800">
                    <a:latin typeface="+mn-lt"/>
                  </a:rPr>
                  <a:t>：</a:t>
                </a:r>
                <a14:m>
                  <m:oMath xmlns:m="http://schemas.openxmlformats.org/officeDocument/2006/math">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1</m:t>
                        </m:r>
                      </m:sub>
                    </m:sSub>
                    <m:r>
                      <a:rPr lang="en-US" altLang="ja-JP" sz="2800" i="1">
                        <a:latin typeface="Cambria Math" panose="02040503050406030204" pitchFamily="18" charset="0"/>
                        <a:cs typeface="Arial" panose="020B0604020202020204" pitchFamily="34" charset="0"/>
                      </a:rPr>
                      <m:t>+</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3</m:t>
                        </m:r>
                      </m:sub>
                    </m:sSub>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4</m:t>
                        </m:r>
                      </m:sub>
                    </m:sSub>
                  </m:oMath>
                </a14:m>
                <a:endParaRPr kumimoji="1" lang="ja-JP" altLang="en-US" sz="2800"/>
              </a:p>
            </p:txBody>
          </p:sp>
        </mc:Choice>
        <mc:Fallback>
          <p:sp>
            <p:nvSpPr>
              <p:cNvPr id="6" name="タイトル 1">
                <a:extLst>
                  <a:ext uri="{FF2B5EF4-FFF2-40B4-BE49-F238E27FC236}">
                    <a16:creationId xmlns:a16="http://schemas.microsoft.com/office/drawing/2014/main" id="{AB3863A9-3FD6-F936-5332-3DA2B590A8BA}"/>
                  </a:ext>
                </a:extLst>
              </p:cNvPr>
              <p:cNvSpPr>
                <a:spLocks noGrp="1" noRot="1" noChangeAspect="1" noMove="1" noResize="1" noEditPoints="1" noAdjustHandles="1" noChangeArrowheads="1" noChangeShapeType="1" noTextEdit="1"/>
              </p:cNvSpPr>
              <p:nvPr>
                <p:ph type="title"/>
              </p:nvPr>
            </p:nvSpPr>
            <p:spPr>
              <a:xfrm>
                <a:off x="0" y="61213"/>
                <a:ext cx="121920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89DAF981-89D0-82D2-785A-EFC233B213FF}"/>
              </a:ext>
            </a:extLst>
          </p:cNvPr>
          <p:cNvSpPr>
            <a:spLocks noGrp="1"/>
          </p:cNvSpPr>
          <p:nvPr>
            <p:ph type="sldNum" sz="quarter" idx="12"/>
          </p:nvPr>
        </p:nvSpPr>
        <p:spPr/>
        <p:txBody>
          <a:bodyPr/>
          <a:lstStyle/>
          <a:p>
            <a:fld id="{21218AEF-8260-6F42-89D9-6D82E053F226}" type="slidenum">
              <a:rPr kumimoji="1" lang="ja-JP" altLang="en-US" smtClean="0"/>
              <a:t>74</a:t>
            </a:fld>
            <a:endParaRPr kumimoji="1" lang="ja-JP" altLang="en-US"/>
          </a:p>
        </p:txBody>
      </p:sp>
    </p:spTree>
    <p:extLst>
      <p:ext uri="{BB962C8B-B14F-4D97-AF65-F5344CB8AC3E}">
        <p14:creationId xmlns:p14="http://schemas.microsoft.com/office/powerpoint/2010/main" val="3212900356"/>
      </p:ext>
    </p:extLst>
  </p:cSld>
  <p:clrMapOvr>
    <a:masterClrMapping/>
  </p:clrMapOvr>
  <mc:AlternateContent xmlns:mc="http://schemas.openxmlformats.org/markup-compatibility/2006">
    <mc:Choice xmlns:p14="http://schemas.microsoft.com/office/powerpoint/2010/main" Requires="p14">
      <p:transition spd="slow" p14:dur="2000" advTm="19630"/>
    </mc:Choice>
    <mc:Fallback>
      <p:transition spd="slow" advTm="19630"/>
    </mc:Fallback>
  </mc:AlternateContent>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rPr>
                            <a:t>0.89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0.86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436837482"/>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rPr>
                            <a:t>0.89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0.86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游ゴシック" panose="020B0400000000000000" pitchFamily="34" charset="-128"/>
                              <a:ea typeface="游ゴシック" panose="020B0400000000000000" pitchFamily="34" charset="-128"/>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游ゴシック" panose="020B0400000000000000" pitchFamily="34" charset="-128"/>
                              <a:ea typeface="游ゴシック" panose="020B0400000000000000" pitchFamily="34" charset="-128"/>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B3863A9-3FD6-F936-5332-3DA2B590A8BA}"/>
                  </a:ext>
                </a:extLst>
              </p:cNvPr>
              <p:cNvSpPr>
                <a:spLocks noGrp="1"/>
              </p:cNvSpPr>
              <p:nvPr>
                <p:ph type="title"/>
              </p:nvPr>
            </p:nvSpPr>
            <p:spPr>
              <a:xfrm>
                <a:off x="0" y="61213"/>
                <a:ext cx="12192000" cy="893379"/>
              </a:xfrm>
            </p:spPr>
            <p:txBody>
              <a:bodyPr>
                <a:normAutofit/>
              </a:bodyPr>
              <a:lstStyle/>
              <a:p>
                <a:pPr algn="ctr"/>
                <a:r>
                  <a:rPr lang="ja-JP" altLang="en-US" sz="2800">
                    <a:latin typeface="+mn-lt"/>
                  </a:rPr>
                  <a:t>提案手法　選択割合　設定</a:t>
                </a:r>
                <a:r>
                  <a:rPr lang="en-US" altLang="ja-JP" sz="2800" dirty="0">
                    <a:latin typeface="+mn-lt"/>
                  </a:rPr>
                  <a:t>2</a:t>
                </a:r>
                <a:r>
                  <a:rPr lang="ja-JP" altLang="en-US" sz="2800">
                    <a:latin typeface="+mn-lt"/>
                  </a:rPr>
                  <a:t>：</a:t>
                </a:r>
                <a14:m>
                  <m:oMath xmlns:m="http://schemas.openxmlformats.org/officeDocument/2006/math">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1</m:t>
                        </m:r>
                      </m:sub>
                    </m:sSub>
                    <m:r>
                      <a:rPr lang="en-US" altLang="ja-JP" sz="2800" i="1">
                        <a:latin typeface="Cambria Math" panose="02040503050406030204" pitchFamily="18" charset="0"/>
                        <a:cs typeface="Arial" panose="020B0604020202020204" pitchFamily="34" charset="0"/>
                      </a:rPr>
                      <m:t>+</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3</m:t>
                        </m:r>
                      </m:sub>
                    </m:sSub>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4</m:t>
                        </m:r>
                      </m:sub>
                    </m:sSub>
                  </m:oMath>
                </a14:m>
                <a:r>
                  <a:rPr lang="en-US" altLang="ja-JP" sz="2800" dirty="0">
                    <a:latin typeface="+mn-lt"/>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AB3863A9-3FD6-F936-5332-3DA2B590A8BA}"/>
                  </a:ext>
                </a:extLst>
              </p:cNvPr>
              <p:cNvSpPr>
                <a:spLocks noGrp="1" noRot="1" noChangeAspect="1" noMove="1" noResize="1" noEditPoints="1" noAdjustHandles="1" noChangeArrowheads="1" noChangeShapeType="1" noTextEdit="1"/>
              </p:cNvSpPr>
              <p:nvPr>
                <p:ph type="title"/>
              </p:nvPr>
            </p:nvSpPr>
            <p:spPr>
              <a:xfrm>
                <a:off x="0" y="61213"/>
                <a:ext cx="12192000" cy="893379"/>
              </a:xfrm>
              <a:blipFill>
                <a:blip r:embed="rId3"/>
                <a:stretch>
                  <a:fillRect l="-208"/>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89DAF981-89D0-82D2-785A-EFC233B213FF}"/>
              </a:ext>
            </a:extLst>
          </p:cNvPr>
          <p:cNvSpPr>
            <a:spLocks noGrp="1"/>
          </p:cNvSpPr>
          <p:nvPr>
            <p:ph type="sldNum" sz="quarter" idx="12"/>
          </p:nvPr>
        </p:nvSpPr>
        <p:spPr/>
        <p:txBody>
          <a:bodyPr/>
          <a:lstStyle/>
          <a:p>
            <a:fld id="{21218AEF-8260-6F42-89D9-6D82E053F226}" type="slidenum">
              <a:rPr kumimoji="1" lang="ja-JP" altLang="en-US" smtClean="0"/>
              <a:t>75</a:t>
            </a:fld>
            <a:endParaRPr kumimoji="1" lang="ja-JP" altLang="en-US"/>
          </a:p>
        </p:txBody>
      </p:sp>
    </p:spTree>
    <p:extLst>
      <p:ext uri="{BB962C8B-B14F-4D97-AF65-F5344CB8AC3E}">
        <p14:creationId xmlns:p14="http://schemas.microsoft.com/office/powerpoint/2010/main" val="4215539447"/>
      </p:ext>
    </p:extLst>
  </p:cSld>
  <p:clrMapOvr>
    <a:masterClrMapping/>
  </p:clrMapOvr>
  <mc:AlternateContent xmlns:mc="http://schemas.openxmlformats.org/markup-compatibility/2006">
    <mc:Choice xmlns:p14="http://schemas.microsoft.com/office/powerpoint/2010/main" Requires="p14">
      <p:transition spd="slow" p14:dur="2000" advTm="31885"/>
    </mc:Choice>
    <mc:Fallback>
      <p:transition spd="slow" advTm="31885"/>
    </mc:Fallback>
  </mc:AlternateContent>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948929092"/>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D22F0C70-50FF-5A1B-FF08-D26E58C6A4B9}"/>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3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D22F0C70-50FF-5A1B-FF08-D26E58C6A4B9}"/>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B563D850-6178-789E-E29B-BD4975662B64}"/>
              </a:ext>
            </a:extLst>
          </p:cNvPr>
          <p:cNvSpPr>
            <a:spLocks noGrp="1"/>
          </p:cNvSpPr>
          <p:nvPr>
            <p:ph type="sldNum" sz="quarter" idx="12"/>
          </p:nvPr>
        </p:nvSpPr>
        <p:spPr/>
        <p:txBody>
          <a:bodyPr/>
          <a:lstStyle/>
          <a:p>
            <a:fld id="{21218AEF-8260-6F42-89D9-6D82E053F226}" type="slidenum">
              <a:rPr kumimoji="1" lang="ja-JP" altLang="en-US" smtClean="0"/>
              <a:t>76</a:t>
            </a:fld>
            <a:endParaRPr kumimoji="1" lang="ja-JP" altLang="en-US"/>
          </a:p>
        </p:txBody>
      </p:sp>
    </p:spTree>
    <p:extLst>
      <p:ext uri="{BB962C8B-B14F-4D97-AF65-F5344CB8AC3E}">
        <p14:creationId xmlns:p14="http://schemas.microsoft.com/office/powerpoint/2010/main" val="123599475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09660380"/>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74F8257F-7E9D-FA17-45FF-09B6BAA04EB4}"/>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4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74F8257F-7E9D-FA17-45FF-09B6BAA04EB4}"/>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339B3E54-4ECB-DA93-3A92-6331982B8FE7}"/>
              </a:ext>
            </a:extLst>
          </p:cNvPr>
          <p:cNvSpPr>
            <a:spLocks noGrp="1"/>
          </p:cNvSpPr>
          <p:nvPr>
            <p:ph type="sldNum" sz="quarter" idx="12"/>
          </p:nvPr>
        </p:nvSpPr>
        <p:spPr/>
        <p:txBody>
          <a:bodyPr/>
          <a:lstStyle/>
          <a:p>
            <a:fld id="{21218AEF-8260-6F42-89D9-6D82E053F226}" type="slidenum">
              <a:rPr kumimoji="1" lang="ja-JP" altLang="en-US" smtClean="0"/>
              <a:t>77</a:t>
            </a:fld>
            <a:endParaRPr kumimoji="1" lang="ja-JP" altLang="en-US"/>
          </a:p>
        </p:txBody>
      </p:sp>
    </p:spTree>
    <p:extLst>
      <p:ext uri="{BB962C8B-B14F-4D97-AF65-F5344CB8AC3E}">
        <p14:creationId xmlns:p14="http://schemas.microsoft.com/office/powerpoint/2010/main" val="379803003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74F8257F-7E9D-FA17-45FF-09B6BAA04EB4}"/>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5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74F8257F-7E9D-FA17-45FF-09B6BAA04EB4}"/>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2"/>
                <a:stretch>
                  <a:fillRect/>
                </a:stretch>
              </a:blipFill>
            </p:spPr>
            <p:txBody>
              <a:bodyPr/>
              <a:lstStyle/>
              <a:p>
                <a:r>
                  <a:rPr lang="ja-JP" altLang="en-US">
                    <a:noFill/>
                  </a:rPr>
                  <a:t> </a:t>
                </a:r>
              </a:p>
            </p:txBody>
          </p:sp>
        </mc:Fallback>
      </mc:AlternateContent>
      <mc:AlternateContent xmlns:mc="http://schemas.openxmlformats.org/markup-compatibility/2006" xmlns:a14="http://schemas.microsoft.com/office/drawing/2010/main">
        <mc:Choice Requires="a14">
          <p:graphicFrame>
            <p:nvGraphicFramePr>
              <p:cNvPr id="2" name="表 4">
                <a:extLst>
                  <a:ext uri="{FF2B5EF4-FFF2-40B4-BE49-F238E27FC236}">
                    <a16:creationId xmlns:a16="http://schemas.microsoft.com/office/drawing/2014/main" id="{DF4C4766-B33F-18EC-AB3F-D865D03ED205}"/>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2" name="表 4">
                <a:extLst>
                  <a:ext uri="{FF2B5EF4-FFF2-40B4-BE49-F238E27FC236}">
                    <a16:creationId xmlns:a16="http://schemas.microsoft.com/office/drawing/2014/main" id="{DF4C4766-B33F-18EC-AB3F-D865D03ED205}"/>
                  </a:ext>
                </a:extLst>
              </p:cNvPr>
              <p:cNvGraphicFramePr>
                <a:graphicFrameLocks/>
              </p:cNvGraphicFramePr>
              <p:nvPr>
                <p:extLst>
                  <p:ext uri="{D42A27DB-BD31-4B8C-83A1-F6EECF244321}">
                    <p14:modId xmlns:p14="http://schemas.microsoft.com/office/powerpoint/2010/main" val="4273246361"/>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p:sp>
        <p:nvSpPr>
          <p:cNvPr id="3" name="スライド番号プレースホルダー 2">
            <a:extLst>
              <a:ext uri="{FF2B5EF4-FFF2-40B4-BE49-F238E27FC236}">
                <a16:creationId xmlns:a16="http://schemas.microsoft.com/office/drawing/2014/main" id="{015C8FF6-C408-7DEE-4C34-1D4AFFA1B082}"/>
              </a:ext>
            </a:extLst>
          </p:cNvPr>
          <p:cNvSpPr>
            <a:spLocks noGrp="1"/>
          </p:cNvSpPr>
          <p:nvPr>
            <p:ph type="sldNum" sz="quarter" idx="12"/>
          </p:nvPr>
        </p:nvSpPr>
        <p:spPr/>
        <p:txBody>
          <a:bodyPr/>
          <a:lstStyle/>
          <a:p>
            <a:fld id="{21218AEF-8260-6F42-89D9-6D82E053F226}" type="slidenum">
              <a:rPr kumimoji="1" lang="ja-JP" altLang="en-US" smtClean="0"/>
              <a:t>78</a:t>
            </a:fld>
            <a:endParaRPr kumimoji="1" lang="ja-JP" altLang="en-US"/>
          </a:p>
        </p:txBody>
      </p:sp>
    </p:spTree>
    <p:extLst>
      <p:ext uri="{BB962C8B-B14F-4D97-AF65-F5344CB8AC3E}">
        <p14:creationId xmlns:p14="http://schemas.microsoft.com/office/powerpoint/2010/main" val="34327903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390771859"/>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C86BA2F-F19F-C413-A614-239E90766399}"/>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6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AC86BA2F-F19F-C413-A614-239E90766399}"/>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D416F8AB-A510-7528-5586-9930510B136D}"/>
              </a:ext>
            </a:extLst>
          </p:cNvPr>
          <p:cNvSpPr>
            <a:spLocks noGrp="1"/>
          </p:cNvSpPr>
          <p:nvPr>
            <p:ph type="sldNum" sz="quarter" idx="12"/>
          </p:nvPr>
        </p:nvSpPr>
        <p:spPr/>
        <p:txBody>
          <a:bodyPr/>
          <a:lstStyle/>
          <a:p>
            <a:fld id="{21218AEF-8260-6F42-89D9-6D82E053F226}" type="slidenum">
              <a:rPr kumimoji="1" lang="ja-JP" altLang="en-US" smtClean="0"/>
              <a:t>79</a:t>
            </a:fld>
            <a:endParaRPr kumimoji="1" lang="ja-JP" altLang="en-US"/>
          </a:p>
        </p:txBody>
      </p:sp>
    </p:spTree>
    <p:extLst>
      <p:ext uri="{BB962C8B-B14F-4D97-AF65-F5344CB8AC3E}">
        <p14:creationId xmlns:p14="http://schemas.microsoft.com/office/powerpoint/2010/main" val="42499780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304668254"/>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2E2C4A96-410D-10A7-6BBD-951420DC7E88}"/>
                  </a:ext>
                </a:extLst>
              </p:cNvPr>
              <p:cNvSpPr>
                <a:spLocks noGrp="1"/>
              </p:cNvSpPr>
              <p:nvPr>
                <p:ph type="title"/>
              </p:nvPr>
            </p:nvSpPr>
            <p:spPr>
              <a:xfrm>
                <a:off x="0" y="141895"/>
                <a:ext cx="12192000" cy="893379"/>
              </a:xfrm>
            </p:spPr>
            <p:txBody>
              <a:bodyPr>
                <a:normAutofit/>
              </a:bodyPr>
              <a:lstStyle/>
              <a:p>
                <a:pPr algn="ctr"/>
                <a:r>
                  <a:rPr lang="ja-JP" altLang="en-US" sz="2800">
                    <a:latin typeface="+mn-lt"/>
                  </a:rPr>
                  <a:t>提案手法　選択割合　設定</a:t>
                </a:r>
                <a:r>
                  <a:rPr lang="en-US" altLang="ja-JP" sz="2800" dirty="0">
                    <a:latin typeface="+mn-lt"/>
                  </a:rPr>
                  <a:t>7</a:t>
                </a:r>
                <a:r>
                  <a:rPr lang="ja-JP" altLang="en-US" sz="2800">
                    <a:latin typeface="+mn-lt"/>
                  </a:rPr>
                  <a:t>：</a:t>
                </a:r>
                <a14:m>
                  <m:oMath xmlns:m="http://schemas.openxmlformats.org/officeDocument/2006/math">
                    <m:nary>
                      <m:naryPr>
                        <m:chr m:val="∑"/>
                        <m:limLoc m:val="subSup"/>
                        <m:ctrlPr>
                          <a:rPr lang="en-US" altLang="ja-JP" sz="2800" i="1">
                            <a:latin typeface="Cambria Math" panose="02040503050406030204" pitchFamily="18" charset="0"/>
                            <a:cs typeface="Arial" panose="020B0604020202020204" pitchFamily="34" charset="0"/>
                          </a:rPr>
                        </m:ctrlPr>
                      </m:naryPr>
                      <m:sub>
                        <m:r>
                          <m:rPr>
                            <m:brk m:alnAt="25"/>
                          </m:rPr>
                          <a:rPr lang="en-US" altLang="ja-JP" sz="2800" i="1">
                            <a:latin typeface="Cambria Math" panose="02040503050406030204" pitchFamily="18" charset="0"/>
                            <a:cs typeface="Arial" panose="020B0604020202020204" pitchFamily="34" charset="0"/>
                          </a:rPr>
                          <m:t>𝑖</m:t>
                        </m:r>
                        <m:r>
                          <a:rPr lang="en-US" altLang="ja-JP" sz="2800" i="1">
                            <a:latin typeface="Cambria Math" panose="02040503050406030204" pitchFamily="18" charset="0"/>
                            <a:cs typeface="Arial" panose="020B0604020202020204" pitchFamily="34" charset="0"/>
                          </a:rPr>
                          <m:t>=1</m:t>
                        </m:r>
                      </m:sub>
                      <m:sup>
                        <m:r>
                          <a:rPr lang="en-US" altLang="ja-JP" sz="2800" i="1">
                            <a:latin typeface="Cambria Math" panose="02040503050406030204" pitchFamily="18" charset="0"/>
                            <a:cs typeface="Arial" panose="020B0604020202020204" pitchFamily="34" charset="0"/>
                          </a:rPr>
                          <m:t>5</m:t>
                        </m:r>
                      </m:sup>
                      <m:e>
                        <m:nary>
                          <m:naryPr>
                            <m:chr m:val="∑"/>
                            <m:limLoc m:val="subSup"/>
                            <m:ctrlPr>
                              <a:rPr lang="en-US" altLang="ja-JP" sz="2800" i="1">
                                <a:latin typeface="Cambria Math" panose="02040503050406030204" pitchFamily="18" charset="0"/>
                                <a:cs typeface="Arial" panose="020B0604020202020204" pitchFamily="34" charset="0"/>
                              </a:rPr>
                            </m:ctrlPr>
                          </m:naryPr>
                          <m:sub>
                            <m:r>
                              <m:rPr>
                                <m:brk m:alnAt="25"/>
                              </m:rPr>
                              <a:rPr lang="en-US" altLang="ja-JP" sz="2800" i="1">
                                <a:latin typeface="Cambria Math" panose="02040503050406030204" pitchFamily="18" charset="0"/>
                                <a:cs typeface="Arial" panose="020B0604020202020204" pitchFamily="34" charset="0"/>
                              </a:rPr>
                              <m:t>𝑗</m:t>
                            </m:r>
                            <m:r>
                              <a:rPr lang="en-US" altLang="ja-JP" sz="2800" i="1">
                                <a:latin typeface="Cambria Math" panose="02040503050406030204" pitchFamily="18" charset="0"/>
                                <a:cs typeface="Arial" panose="020B0604020202020204" pitchFamily="34" charset="0"/>
                              </a:rPr>
                              <m:t>=1</m:t>
                            </m:r>
                          </m:sub>
                          <m:sup>
                            <m:r>
                              <a:rPr lang="en-US" altLang="ja-JP" sz="2800" i="1">
                                <a:latin typeface="Cambria Math" panose="02040503050406030204" pitchFamily="18" charset="0"/>
                                <a:cs typeface="Arial" panose="020B0604020202020204" pitchFamily="34" charset="0"/>
                              </a:rPr>
                              <m:t>5</m:t>
                            </m:r>
                          </m:sup>
                          <m:e>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𝑖</m:t>
                                </m:r>
                              </m:sub>
                            </m:sSub>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𝑗</m:t>
                                </m:r>
                              </m:sub>
                            </m:sSub>
                          </m:e>
                        </m:nary>
                      </m:e>
                    </m:nary>
                  </m:oMath>
                </a14:m>
                <a:r>
                  <a:rPr lang="en-US" altLang="ja-JP" sz="2800" dirty="0">
                    <a:latin typeface="+mn-lt"/>
                  </a:rPr>
                  <a:t>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2E2C4A96-410D-10A7-6BBD-951420DC7E88}"/>
                  </a:ext>
                </a:extLst>
              </p:cNvPr>
              <p:cNvSpPr>
                <a:spLocks noGrp="1" noRot="1" noChangeAspect="1" noMove="1" noResize="1" noEditPoints="1" noAdjustHandles="1" noChangeArrowheads="1" noChangeShapeType="1" noTextEdit="1"/>
              </p:cNvSpPr>
              <p:nvPr>
                <p:ph type="title"/>
              </p:nvPr>
            </p:nvSpPr>
            <p:spPr>
              <a:xfrm>
                <a:off x="0" y="141895"/>
                <a:ext cx="12192000" cy="893379"/>
              </a:xfrm>
              <a:blipFill>
                <a:blip r:embed="rId4"/>
                <a:stretch>
                  <a:fillRect t="-57746" b="-90141"/>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AD9B7E55-D0F0-4F48-99C9-3544F7FFD82E}"/>
              </a:ext>
            </a:extLst>
          </p:cNvPr>
          <p:cNvSpPr>
            <a:spLocks noGrp="1"/>
          </p:cNvSpPr>
          <p:nvPr>
            <p:ph type="sldNum" sz="quarter" idx="12"/>
          </p:nvPr>
        </p:nvSpPr>
        <p:spPr/>
        <p:txBody>
          <a:bodyPr/>
          <a:lstStyle/>
          <a:p>
            <a:fld id="{21218AEF-8260-6F42-89D9-6D82E053F226}" type="slidenum">
              <a:rPr kumimoji="1" lang="ja-JP" altLang="en-US" smtClean="0"/>
              <a:t>80</a:t>
            </a:fld>
            <a:endParaRPr kumimoji="1" lang="ja-JP" altLang="en-US"/>
          </a:p>
        </p:txBody>
      </p:sp>
    </p:spTree>
    <p:extLst>
      <p:ext uri="{BB962C8B-B14F-4D97-AF65-F5344CB8AC3E}">
        <p14:creationId xmlns:p14="http://schemas.microsoft.com/office/powerpoint/2010/main" val="1762728380"/>
      </p:ext>
    </p:extLst>
  </p:cSld>
  <p:clrMapOvr>
    <a:masterClrMapping/>
  </p:clrMapOvr>
  <mc:AlternateContent xmlns:mc="http://schemas.openxmlformats.org/markup-compatibility/2006">
    <mc:Choice xmlns:p14="http://schemas.microsoft.com/office/powerpoint/2010/main" Requires="p14">
      <p:transition spd="slow" p14:dur="2000" advTm="22748"/>
    </mc:Choice>
    <mc:Fallback>
      <p:transition spd="slow" advTm="22748"/>
    </mc:Fallback>
  </mc:AlternateContent>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392101650"/>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2392101650"/>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202632" r="-1008974" b="-9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endPar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srgbClr val="000000"/>
                              </a:solidFill>
                              <a:effectLst/>
                              <a:uLnTx/>
                              <a:uFillTx/>
                              <a:latin typeface="Arial" panose="020B0604020202020204" pitchFamily="34" charset="0"/>
                              <a:ea typeface="游ゴシック" panose="020B0400000000000000" pitchFamily="34" charset="-128"/>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3"/>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ja-JP" sz="2000" b="0" i="0" u="none" strike="noStrike" dirty="0">
                              <a:solidFill>
                                <a:srgbClr val="000000"/>
                              </a:solidFill>
                              <a:effectLst/>
                              <a:latin typeface="Arial" panose="020B0604020202020204" pitchFamily="34" charset="0"/>
                              <a:ea typeface="+mn-ea"/>
                              <a:cs typeface="Arial" panose="020B0604020202020204" pitchFamily="34" charset="0"/>
                            </a:rPr>
                            <a:t>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mc:Choice xmlns:a14="http://schemas.microsoft.com/office/drawing/2010/main" Requires="a14">
          <p:sp>
            <p:nvSpPr>
              <p:cNvPr id="6" name="タイトル 1">
                <a:extLst>
                  <a:ext uri="{FF2B5EF4-FFF2-40B4-BE49-F238E27FC236}">
                    <a16:creationId xmlns:a16="http://schemas.microsoft.com/office/drawing/2014/main" id="{2E2C4A96-410D-10A7-6BBD-951420DC7E88}"/>
                  </a:ext>
                </a:extLst>
              </p:cNvPr>
              <p:cNvSpPr>
                <a:spLocks noGrp="1"/>
              </p:cNvSpPr>
              <p:nvPr>
                <p:ph type="title"/>
              </p:nvPr>
            </p:nvSpPr>
            <p:spPr>
              <a:xfrm>
                <a:off x="0" y="141895"/>
                <a:ext cx="12192000" cy="893379"/>
              </a:xfrm>
            </p:spPr>
            <p:txBody>
              <a:bodyPr>
                <a:normAutofit/>
              </a:bodyPr>
              <a:lstStyle/>
              <a:p>
                <a:pPr algn="ctr"/>
                <a:r>
                  <a:rPr lang="ja-JP" altLang="en-US" sz="2800">
                    <a:latin typeface="+mn-lt"/>
                  </a:rPr>
                  <a:t>提案手法　選択割合　設定</a:t>
                </a:r>
                <a:r>
                  <a:rPr lang="en-US" altLang="ja-JP" sz="2800" dirty="0">
                    <a:latin typeface="+mn-lt"/>
                  </a:rPr>
                  <a:t>7</a:t>
                </a:r>
                <a:r>
                  <a:rPr lang="ja-JP" altLang="en-US" sz="2800">
                    <a:latin typeface="+mn-lt"/>
                  </a:rPr>
                  <a:t>：</a:t>
                </a:r>
                <a14:m>
                  <m:oMath xmlns:m="http://schemas.openxmlformats.org/officeDocument/2006/math">
                    <m:nary>
                      <m:naryPr>
                        <m:chr m:val="∑"/>
                        <m:limLoc m:val="subSup"/>
                        <m:ctrlPr>
                          <a:rPr lang="en-US" altLang="ja-JP" sz="2800" i="1">
                            <a:latin typeface="Cambria Math" panose="02040503050406030204" pitchFamily="18" charset="0"/>
                            <a:cs typeface="Arial" panose="020B0604020202020204" pitchFamily="34" charset="0"/>
                          </a:rPr>
                        </m:ctrlPr>
                      </m:naryPr>
                      <m:sub>
                        <m:r>
                          <m:rPr>
                            <m:brk m:alnAt="25"/>
                          </m:rPr>
                          <a:rPr lang="en-US" altLang="ja-JP" sz="2800" i="1">
                            <a:latin typeface="Cambria Math" panose="02040503050406030204" pitchFamily="18" charset="0"/>
                            <a:cs typeface="Arial" panose="020B0604020202020204" pitchFamily="34" charset="0"/>
                          </a:rPr>
                          <m:t>𝑖</m:t>
                        </m:r>
                        <m:r>
                          <a:rPr lang="en-US" altLang="ja-JP" sz="2800" i="1">
                            <a:latin typeface="Cambria Math" panose="02040503050406030204" pitchFamily="18" charset="0"/>
                            <a:cs typeface="Arial" panose="020B0604020202020204" pitchFamily="34" charset="0"/>
                          </a:rPr>
                          <m:t>=1</m:t>
                        </m:r>
                      </m:sub>
                      <m:sup>
                        <m:r>
                          <a:rPr lang="en-US" altLang="ja-JP" sz="2800" i="1">
                            <a:latin typeface="Cambria Math" panose="02040503050406030204" pitchFamily="18" charset="0"/>
                            <a:cs typeface="Arial" panose="020B0604020202020204" pitchFamily="34" charset="0"/>
                          </a:rPr>
                          <m:t>5</m:t>
                        </m:r>
                      </m:sup>
                      <m:e>
                        <m:nary>
                          <m:naryPr>
                            <m:chr m:val="∑"/>
                            <m:limLoc m:val="subSup"/>
                            <m:ctrlPr>
                              <a:rPr lang="en-US" altLang="ja-JP" sz="2800" i="1">
                                <a:latin typeface="Cambria Math" panose="02040503050406030204" pitchFamily="18" charset="0"/>
                                <a:cs typeface="Arial" panose="020B0604020202020204" pitchFamily="34" charset="0"/>
                              </a:rPr>
                            </m:ctrlPr>
                          </m:naryPr>
                          <m:sub>
                            <m:r>
                              <m:rPr>
                                <m:brk m:alnAt="25"/>
                              </m:rPr>
                              <a:rPr lang="en-US" altLang="ja-JP" sz="2800" i="1">
                                <a:latin typeface="Cambria Math" panose="02040503050406030204" pitchFamily="18" charset="0"/>
                                <a:cs typeface="Arial" panose="020B0604020202020204" pitchFamily="34" charset="0"/>
                              </a:rPr>
                              <m:t>𝑗</m:t>
                            </m:r>
                            <m:r>
                              <a:rPr lang="en-US" altLang="ja-JP" sz="2800" i="1">
                                <a:latin typeface="Cambria Math" panose="02040503050406030204" pitchFamily="18" charset="0"/>
                                <a:cs typeface="Arial" panose="020B0604020202020204" pitchFamily="34" charset="0"/>
                              </a:rPr>
                              <m:t>=1</m:t>
                            </m:r>
                          </m:sub>
                          <m:sup>
                            <m:r>
                              <a:rPr lang="en-US" altLang="ja-JP" sz="2800" i="1">
                                <a:latin typeface="Cambria Math" panose="02040503050406030204" pitchFamily="18" charset="0"/>
                                <a:cs typeface="Arial" panose="020B0604020202020204" pitchFamily="34" charset="0"/>
                              </a:rPr>
                              <m:t>5</m:t>
                            </m:r>
                          </m:sup>
                          <m:e>
                            <m:r>
                              <a:rPr lang="en-US" altLang="ja-JP" sz="2800" i="1">
                                <a:latin typeface="Cambria Math" panose="02040503050406030204" pitchFamily="18" charset="0"/>
                                <a:cs typeface="Arial" panose="020B0604020202020204" pitchFamily="34" charset="0"/>
                              </a:rPr>
                              <m:t>0.5</m:t>
                            </m:r>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𝑖</m:t>
                                </m:r>
                              </m:sub>
                            </m:sSub>
                            <m:sSub>
                              <m:sSubPr>
                                <m:ctrlPr>
                                  <a:rPr lang="en-US" altLang="ja-JP" sz="2800" i="1">
                                    <a:latin typeface="Cambria Math" panose="02040503050406030204" pitchFamily="18" charset="0"/>
                                    <a:cs typeface="Arial" panose="020B0604020202020204" pitchFamily="34" charset="0"/>
                                  </a:rPr>
                                </m:ctrlPr>
                              </m:sSubPr>
                              <m:e>
                                <m:r>
                                  <a:rPr lang="en-US" altLang="ja-JP" sz="2800" i="1">
                                    <a:latin typeface="Cambria Math" panose="02040503050406030204" pitchFamily="18" charset="0"/>
                                    <a:cs typeface="Arial" panose="020B0604020202020204" pitchFamily="34" charset="0"/>
                                  </a:rPr>
                                  <m:t>𝐶</m:t>
                                </m:r>
                              </m:e>
                              <m:sub>
                                <m:r>
                                  <a:rPr lang="en-US" altLang="ja-JP" sz="2800" i="1">
                                    <a:latin typeface="Cambria Math" panose="02040503050406030204" pitchFamily="18" charset="0"/>
                                    <a:cs typeface="Arial" panose="020B0604020202020204" pitchFamily="34" charset="0"/>
                                  </a:rPr>
                                  <m:t>𝑗</m:t>
                                </m:r>
                              </m:sub>
                            </m:sSub>
                          </m:e>
                        </m:nary>
                      </m:e>
                    </m:nary>
                  </m:oMath>
                </a14:m>
                <a:endParaRPr kumimoji="1" lang="ja-JP" altLang="en-US" sz="2800"/>
              </a:p>
            </p:txBody>
          </p:sp>
        </mc:Choice>
        <mc:Fallback>
          <p:sp>
            <p:nvSpPr>
              <p:cNvPr id="6" name="タイトル 1">
                <a:extLst>
                  <a:ext uri="{FF2B5EF4-FFF2-40B4-BE49-F238E27FC236}">
                    <a16:creationId xmlns:a16="http://schemas.microsoft.com/office/drawing/2014/main" id="{2E2C4A96-410D-10A7-6BBD-951420DC7E88}"/>
                  </a:ext>
                </a:extLst>
              </p:cNvPr>
              <p:cNvSpPr>
                <a:spLocks noGrp="1" noRot="1" noChangeAspect="1" noMove="1" noResize="1" noEditPoints="1" noAdjustHandles="1" noChangeArrowheads="1" noChangeShapeType="1" noTextEdit="1"/>
              </p:cNvSpPr>
              <p:nvPr>
                <p:ph type="title"/>
              </p:nvPr>
            </p:nvSpPr>
            <p:spPr>
              <a:xfrm>
                <a:off x="0" y="141895"/>
                <a:ext cx="12192000" cy="893379"/>
              </a:xfrm>
              <a:blipFill>
                <a:blip r:embed="rId4"/>
                <a:stretch>
                  <a:fillRect t="-57746" b="-90141"/>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AD9B7E55-D0F0-4F48-99C9-3544F7FFD82E}"/>
              </a:ext>
            </a:extLst>
          </p:cNvPr>
          <p:cNvSpPr>
            <a:spLocks noGrp="1"/>
          </p:cNvSpPr>
          <p:nvPr>
            <p:ph type="sldNum" sz="quarter" idx="12"/>
          </p:nvPr>
        </p:nvSpPr>
        <p:spPr/>
        <p:txBody>
          <a:bodyPr/>
          <a:lstStyle/>
          <a:p>
            <a:fld id="{21218AEF-8260-6F42-89D9-6D82E053F226}" type="slidenum">
              <a:rPr kumimoji="1" lang="ja-JP" altLang="en-US" smtClean="0"/>
              <a:t>81</a:t>
            </a:fld>
            <a:endParaRPr kumimoji="1" lang="ja-JP" altLang="en-US"/>
          </a:p>
        </p:txBody>
      </p:sp>
    </p:spTree>
    <p:extLst>
      <p:ext uri="{BB962C8B-B14F-4D97-AF65-F5344CB8AC3E}">
        <p14:creationId xmlns:p14="http://schemas.microsoft.com/office/powerpoint/2010/main" val="1616318506"/>
      </p:ext>
    </p:extLst>
  </p:cSld>
  <p:clrMapOvr>
    <a:masterClrMapping/>
  </p:clrMapOvr>
  <mc:AlternateContent xmlns:mc="http://schemas.openxmlformats.org/markup-compatibility/2006">
    <mc:Choice xmlns:p14="http://schemas.microsoft.com/office/powerpoint/2010/main" Requires="p14">
      <p:transition spd="slow" p14:dur="2000" advTm="18525"/>
    </mc:Choice>
    <mc:Fallback>
      <p:transition spd="slow" advTm="18525"/>
    </mc:Fallback>
  </mc:AlternateContent>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846535207"/>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A8629C72-B4A3-6D7C-5D66-4298151C2740}"/>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8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A8629C72-B4A3-6D7C-5D66-4298151C2740}"/>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AF9736EB-2710-121F-EA3B-BFDD1D1884EE}"/>
              </a:ext>
            </a:extLst>
          </p:cNvPr>
          <p:cNvSpPr>
            <a:spLocks noGrp="1"/>
          </p:cNvSpPr>
          <p:nvPr>
            <p:ph type="sldNum" sz="quarter" idx="12"/>
          </p:nvPr>
        </p:nvSpPr>
        <p:spPr/>
        <p:txBody>
          <a:bodyPr/>
          <a:lstStyle/>
          <a:p>
            <a:fld id="{21218AEF-8260-6F42-89D9-6D82E053F226}" type="slidenum">
              <a:rPr kumimoji="1" lang="ja-JP" altLang="en-US" smtClean="0"/>
              <a:t>82</a:t>
            </a:fld>
            <a:endParaRPr kumimoji="1" lang="ja-JP" altLang="en-US"/>
          </a:p>
        </p:txBody>
      </p:sp>
    </p:spTree>
    <p:extLst>
      <p:ext uri="{BB962C8B-B14F-4D97-AF65-F5344CB8AC3E}">
        <p14:creationId xmlns:p14="http://schemas.microsoft.com/office/powerpoint/2010/main" val="239726505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4097550058"/>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DD496809-3136-0065-056A-1EBCAF4EA4B6}"/>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9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DD496809-3136-0065-056A-1EBCAF4EA4B6}"/>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06B8E514-9AB1-0ED8-CE74-FF1A67427819}"/>
              </a:ext>
            </a:extLst>
          </p:cNvPr>
          <p:cNvSpPr>
            <a:spLocks noGrp="1"/>
          </p:cNvSpPr>
          <p:nvPr>
            <p:ph type="sldNum" sz="quarter" idx="12"/>
          </p:nvPr>
        </p:nvSpPr>
        <p:spPr/>
        <p:txBody>
          <a:bodyPr/>
          <a:lstStyle/>
          <a:p>
            <a:fld id="{21218AEF-8260-6F42-89D9-6D82E053F226}" type="slidenum">
              <a:rPr kumimoji="1" lang="ja-JP" altLang="en-US" smtClean="0"/>
              <a:t>83</a:t>
            </a:fld>
            <a:endParaRPr kumimoji="1" lang="ja-JP" altLang="en-US"/>
          </a:p>
        </p:txBody>
      </p:sp>
    </p:spTree>
    <p:extLst>
      <p:ext uri="{BB962C8B-B14F-4D97-AF65-F5344CB8AC3E}">
        <p14:creationId xmlns:p14="http://schemas.microsoft.com/office/powerpoint/2010/main" val="129830098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6959827"/>
                      </a:ext>
                    </a:extLst>
                  </a:tr>
                  <a:tr h="479972">
                    <a:tc>
                      <a:txBody>
                        <a:bodyPr/>
                        <a:lstStyle/>
                        <a:p>
                          <a:pPr algn="ctr"/>
                          <a14:m>
                            <m:oMathPara xmlns:m="http://schemas.openxmlformats.org/officeDocument/2006/math">
                              <m:oMathParaPr>
                                <m:jc m:val="centerGroup"/>
                              </m:oMathParaPr>
                              <m:oMath xmlns:m="http://schemas.openxmlformats.org/officeDocument/2006/math">
                                <m:r>
                                  <a:rPr kumimoji="1" lang="en-US" altLang="ja-JP" sz="2000" b="0" i="1" smtClean="0">
                                    <a:solidFill>
                                      <a:schemeClr val="tx1"/>
                                    </a:solidFill>
                                    <a:latin typeface="Cambria Math" panose="02040503050406030204" pitchFamily="18" charset="0"/>
                                  </a:rPr>
                                  <m:t>1</m:t>
                                </m:r>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2</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3</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4</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5</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6</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7</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8</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9</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pPr algn="ctr"/>
                          <a14:m>
                            <m:oMathPara xmlns:m="http://schemas.openxmlformats.org/officeDocument/2006/math">
                              <m:oMathParaPr>
                                <m:jc m:val="centerGroup"/>
                              </m:oMathParaPr>
                              <m:oMath xmlns:m="http://schemas.openxmlformats.org/officeDocument/2006/math">
                                <m:sSub>
                                  <m:sSubPr>
                                    <m:ctrlPr>
                                      <a:rPr kumimoji="1" lang="en-US" altLang="ja-JP" sz="2000" i="1" smtClean="0">
                                        <a:solidFill>
                                          <a:schemeClr val="tx1"/>
                                        </a:solidFill>
                                        <a:latin typeface="Cambria Math" panose="02040503050406030204" pitchFamily="18" charset="0"/>
                                      </a:rPr>
                                    </m:ctrlPr>
                                  </m:sSubPr>
                                  <m:e>
                                    <m:r>
                                      <a:rPr kumimoji="1" lang="en-US" altLang="ja-JP" sz="2000" b="1" i="1" smtClean="0">
                                        <a:solidFill>
                                          <a:schemeClr val="tx1"/>
                                        </a:solidFill>
                                        <a:latin typeface="Cambria Math" panose="02040503050406030204" pitchFamily="18" charset="0"/>
                                      </a:rPr>
                                      <m:t>𝑪</m:t>
                                    </m:r>
                                  </m:e>
                                  <m:sub>
                                    <m:r>
                                      <a:rPr kumimoji="1" lang="en-US" altLang="ja-JP" sz="2000" b="0" i="1" smtClean="0">
                                        <a:solidFill>
                                          <a:schemeClr val="tx1"/>
                                        </a:solidFill>
                                        <a:latin typeface="Cambria Math" panose="02040503050406030204" pitchFamily="18" charset="0"/>
                                      </a:rPr>
                                      <m:t>10</m:t>
                                    </m:r>
                                  </m:sub>
                                </m:sSub>
                              </m:oMath>
                            </m:oMathPara>
                          </a14:m>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Choice>
        <mc:Fallback xmlns="">
          <p:graphicFrame>
            <p:nvGraphicFramePr>
              <p:cNvPr id="4" name="表 4">
                <a:extLst>
                  <a:ext uri="{FF2B5EF4-FFF2-40B4-BE49-F238E27FC236}">
                    <a16:creationId xmlns:a16="http://schemas.microsoft.com/office/drawing/2014/main" id="{9DA8B88E-1BAB-E2E7-B446-28B3FCF9EAD2}"/>
                  </a:ext>
                </a:extLst>
              </p:cNvPr>
              <p:cNvGraphicFramePr>
                <a:graphicFrameLocks/>
              </p:cNvGraphicFramePr>
              <p:nvPr>
                <p:extLst>
                  <p:ext uri="{D42A27DB-BD31-4B8C-83A1-F6EECF244321}">
                    <p14:modId xmlns:p14="http://schemas.microsoft.com/office/powerpoint/2010/main" val="3564015769"/>
                  </p:ext>
                </p:extLst>
              </p:nvPr>
            </p:nvGraphicFramePr>
            <p:xfrm>
              <a:off x="399393" y="893379"/>
              <a:ext cx="10954405" cy="5759664"/>
            </p:xfrm>
            <a:graphic>
              <a:graphicData uri="http://schemas.openxmlformats.org/drawingml/2006/table">
                <a:tbl>
                  <a:tblPr firstRow="1" bandRow="1">
                    <a:tableStyleId>{5C22544A-7EE6-4342-B048-85BDC9FD1C3A}</a:tableStyleId>
                  </a:tblPr>
                  <a:tblGrid>
                    <a:gridCol w="995855">
                      <a:extLst>
                        <a:ext uri="{9D8B030D-6E8A-4147-A177-3AD203B41FA5}">
                          <a16:colId xmlns:a16="http://schemas.microsoft.com/office/drawing/2014/main" val="1121976720"/>
                        </a:ext>
                      </a:extLst>
                    </a:gridCol>
                    <a:gridCol w="995855">
                      <a:extLst>
                        <a:ext uri="{9D8B030D-6E8A-4147-A177-3AD203B41FA5}">
                          <a16:colId xmlns:a16="http://schemas.microsoft.com/office/drawing/2014/main" val="13883309"/>
                        </a:ext>
                      </a:extLst>
                    </a:gridCol>
                    <a:gridCol w="995855">
                      <a:extLst>
                        <a:ext uri="{9D8B030D-6E8A-4147-A177-3AD203B41FA5}">
                          <a16:colId xmlns:a16="http://schemas.microsoft.com/office/drawing/2014/main" val="2913096200"/>
                        </a:ext>
                      </a:extLst>
                    </a:gridCol>
                    <a:gridCol w="995855">
                      <a:extLst>
                        <a:ext uri="{9D8B030D-6E8A-4147-A177-3AD203B41FA5}">
                          <a16:colId xmlns:a16="http://schemas.microsoft.com/office/drawing/2014/main" val="73946902"/>
                        </a:ext>
                      </a:extLst>
                    </a:gridCol>
                    <a:gridCol w="995855">
                      <a:extLst>
                        <a:ext uri="{9D8B030D-6E8A-4147-A177-3AD203B41FA5}">
                          <a16:colId xmlns:a16="http://schemas.microsoft.com/office/drawing/2014/main" val="2375799799"/>
                        </a:ext>
                      </a:extLst>
                    </a:gridCol>
                    <a:gridCol w="995855">
                      <a:extLst>
                        <a:ext uri="{9D8B030D-6E8A-4147-A177-3AD203B41FA5}">
                          <a16:colId xmlns:a16="http://schemas.microsoft.com/office/drawing/2014/main" val="4167661418"/>
                        </a:ext>
                      </a:extLst>
                    </a:gridCol>
                    <a:gridCol w="995855">
                      <a:extLst>
                        <a:ext uri="{9D8B030D-6E8A-4147-A177-3AD203B41FA5}">
                          <a16:colId xmlns:a16="http://schemas.microsoft.com/office/drawing/2014/main" val="1456680356"/>
                        </a:ext>
                      </a:extLst>
                    </a:gridCol>
                    <a:gridCol w="995855">
                      <a:extLst>
                        <a:ext uri="{9D8B030D-6E8A-4147-A177-3AD203B41FA5}">
                          <a16:colId xmlns:a16="http://schemas.microsoft.com/office/drawing/2014/main" val="3738313239"/>
                        </a:ext>
                      </a:extLst>
                    </a:gridCol>
                    <a:gridCol w="995855">
                      <a:extLst>
                        <a:ext uri="{9D8B030D-6E8A-4147-A177-3AD203B41FA5}">
                          <a16:colId xmlns:a16="http://schemas.microsoft.com/office/drawing/2014/main" val="1098218462"/>
                        </a:ext>
                      </a:extLst>
                    </a:gridCol>
                    <a:gridCol w="995855">
                      <a:extLst>
                        <a:ext uri="{9D8B030D-6E8A-4147-A177-3AD203B41FA5}">
                          <a16:colId xmlns:a16="http://schemas.microsoft.com/office/drawing/2014/main" val="3860599328"/>
                        </a:ext>
                      </a:extLst>
                    </a:gridCol>
                    <a:gridCol w="995855">
                      <a:extLst>
                        <a:ext uri="{9D8B030D-6E8A-4147-A177-3AD203B41FA5}">
                          <a16:colId xmlns:a16="http://schemas.microsoft.com/office/drawing/2014/main" val="4091206335"/>
                        </a:ext>
                      </a:extLst>
                    </a:gridCol>
                  </a:tblGrid>
                  <a:tr h="479972">
                    <a:tc>
                      <a:txBody>
                        <a:bodyPr/>
                        <a:lstStyle/>
                        <a:p>
                          <a:pPr algn="ctr"/>
                          <a:endParaRPr kumimoji="1" lang="ja-JP" altLang="en-US" sz="2000" b="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000" t="-2632" r="-896203"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02564" t="-2632" r="-807692"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298734" t="-2632" r="-69746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03846" t="-2632" r="-60641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497468" t="-2632" r="-498734"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05128" t="-2632" r="-405128"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696203" t="-2632" r="-300000"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06410" t="-2632" r="-20384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894937" t="-2632" r="-101266" b="-1110526"/>
                          </a:stretch>
                        </a:blipFill>
                      </a:tcPr>
                    </a:tc>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007692" t="-2632" r="-2564" b="-1110526"/>
                          </a:stretch>
                        </a:blipFill>
                      </a:tcPr>
                    </a:tc>
                    <a:extLst>
                      <a:ext uri="{0D108BD9-81ED-4DB2-BD59-A6C34878D82A}">
                        <a16:rowId xmlns:a16="http://schemas.microsoft.com/office/drawing/2014/main" val="374695982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2632" r="-1008974" b="-1010526"/>
                          </a:stretch>
                        </a:blip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9167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202632" r="-1008974" b="-910526"/>
                          </a:stretch>
                        </a:blip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891765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310811" r="-1008974" b="-835135"/>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295326"/>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400000" r="-1008974" b="-7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2230075"/>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500000" r="-1008974" b="-6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954220"/>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600000" r="-1008974" b="-5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0535967"/>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700000" r="-1008974" b="-4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5564019"/>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800000" r="-1008974" b="-313158"/>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2747873"/>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24324" r="-1008974" b="-221622"/>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7906088"/>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997368" r="-1008974" b="-1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85781"/>
                      </a:ext>
                    </a:extLst>
                  </a:tr>
                  <a:tr h="479972">
                    <a:tc>
                      <a:txBody>
                        <a:bodyPr/>
                        <a:lstStyle/>
                        <a:p>
                          <a:endParaRPr lang="ja-JP"/>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2"/>
                          <a:stretch>
                            <a:fillRect l="-1282" t="-1097368" r="-1008974" b="-15789"/>
                          </a:stretch>
                        </a:blip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2000" b="0" i="0" u="none" strike="noStrike" dirty="0">
                              <a:solidFill>
                                <a:srgbClr val="000000"/>
                              </a:solidFill>
                              <a:effectLst/>
                              <a:latin typeface="Arial" panose="020B0604020202020204" pitchFamily="34" charset="0"/>
                              <a:ea typeface="游ゴシック" panose="020B0400000000000000" pitchFamily="34" charset="-128"/>
                              <a:cs typeface="Arial" panose="020B0604020202020204" pitchFamily="34" charset="0"/>
                            </a:rPr>
                            <a:t>0.02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1000336"/>
                      </a:ext>
                    </a:extLst>
                  </a:tr>
                </a:tbl>
              </a:graphicData>
            </a:graphic>
          </p:graphicFrame>
        </mc:Fallback>
      </mc:AlternateContent>
      <mc:AlternateContent xmlns:mc="http://schemas.openxmlformats.org/markup-compatibility/2006" xmlns:a14="http://schemas.microsoft.com/office/drawing/2010/main">
        <mc:Choice Requires="a14">
          <p:sp>
            <p:nvSpPr>
              <p:cNvPr id="6" name="タイトル 1">
                <a:extLst>
                  <a:ext uri="{FF2B5EF4-FFF2-40B4-BE49-F238E27FC236}">
                    <a16:creationId xmlns:a16="http://schemas.microsoft.com/office/drawing/2014/main" id="{281B82C1-AD09-73C6-50BA-BB41ABCF4CAD}"/>
                  </a:ext>
                </a:extLst>
              </p:cNvPr>
              <p:cNvSpPr>
                <a:spLocks noGrp="1"/>
              </p:cNvSpPr>
              <p:nvPr>
                <p:ph type="title"/>
              </p:nvPr>
            </p:nvSpPr>
            <p:spPr>
              <a:xfrm>
                <a:off x="838200" y="141895"/>
                <a:ext cx="10515600" cy="893379"/>
              </a:xfrm>
            </p:spPr>
            <p:txBody>
              <a:bodyPr>
                <a:normAutofit/>
              </a:bodyPr>
              <a:lstStyle/>
              <a:p>
                <a:pPr algn="ctr"/>
                <a:r>
                  <a:rPr lang="ja-JP" altLang="en-US" sz="2800">
                    <a:latin typeface="+mn-lt"/>
                  </a:rPr>
                  <a:t>提案手法　選択割合　設定</a:t>
                </a:r>
                <a:r>
                  <a:rPr lang="en-US" altLang="ja-JP" sz="2800" dirty="0">
                    <a:latin typeface="+mn-lt"/>
                  </a:rPr>
                  <a:t>10 </a:t>
                </a:r>
                <a14:m>
                  <m:oMath xmlns:m="http://schemas.openxmlformats.org/officeDocument/2006/math">
                    <m:r>
                      <a:rPr lang="en-US" altLang="ja-JP" sz="2800" b="0" i="1" smtClean="0">
                        <a:solidFill>
                          <a:schemeClr val="dk1"/>
                        </a:solidFill>
                        <a:latin typeface="Cambria Math" panose="02040503050406030204" pitchFamily="18" charset="0"/>
                        <a:ea typeface="+mn-ea"/>
                        <a:cs typeface="Arial" panose="020B0604020202020204" pitchFamily="34" charset="0"/>
                      </a:rPr>
                      <m:t>(</m:t>
                    </m:r>
                    <m:r>
                      <a:rPr lang="en-US" altLang="ja-JP" sz="2800" b="0" i="1" smtClean="0">
                        <a:solidFill>
                          <a:schemeClr val="dk1"/>
                        </a:solidFill>
                        <a:latin typeface="Cambria Math" panose="02040503050406030204" pitchFamily="18" charset="0"/>
                        <a:ea typeface="+mn-ea"/>
                        <a:cs typeface="Arial" panose="020B0604020202020204" pitchFamily="34" charset="0"/>
                      </a:rPr>
                      <m:t>𝑝</m:t>
                    </m:r>
                    <m:r>
                      <a:rPr lang="en-US" altLang="ja-JP" sz="2800" b="0" i="1" smtClean="0">
                        <a:solidFill>
                          <a:schemeClr val="dk1"/>
                        </a:solidFill>
                        <a:latin typeface="Cambria Math" panose="02040503050406030204" pitchFamily="18" charset="0"/>
                        <a:ea typeface="+mn-ea"/>
                        <a:cs typeface="Arial" panose="020B0604020202020204" pitchFamily="34" charset="0"/>
                      </a:rPr>
                      <m:t>=100</m:t>
                    </m:r>
                    <m:r>
                      <a:rPr lang="ja-JP" altLang="en-US" sz="2800" i="1">
                        <a:solidFill>
                          <a:schemeClr val="dk1"/>
                        </a:solidFill>
                        <a:latin typeface="Cambria Math" panose="02040503050406030204" pitchFamily="18" charset="0"/>
                        <a:cs typeface="Arial" panose="020B0604020202020204" pitchFamily="34" charset="0"/>
                      </a:rPr>
                      <m:t>，</m:t>
                    </m:r>
                    <m:r>
                      <m:rPr>
                        <m:nor/>
                      </m:rPr>
                      <a:rPr lang="ja-JP" altLang="en-US" sz="2800" smtClean="0"/>
                      <m:t>閾値</m:t>
                    </m:r>
                    <m:r>
                      <a:rPr lang="en-US" altLang="ja-JP" sz="2800" b="0" i="1" smtClean="0">
                        <a:latin typeface="Cambria Math" panose="02040503050406030204" pitchFamily="18" charset="0"/>
                      </a:rPr>
                      <m:t>:</m:t>
                    </m:r>
                    <m:r>
                      <a:rPr lang="en-US" altLang="ja-JP" sz="2800" b="0" i="1" smtClean="0">
                        <a:latin typeface="Cambria Math" panose="02040503050406030204" pitchFamily="18" charset="0"/>
                      </a:rPr>
                      <m:t>𝑞</m:t>
                    </m:r>
                    <m:r>
                      <a:rPr lang="en-US" altLang="ja-JP" sz="2800" b="0" i="1" smtClean="0">
                        <a:latin typeface="Cambria Math" panose="02040503050406030204" pitchFamily="18" charset="0"/>
                      </a:rPr>
                      <m:t>=100)</m:t>
                    </m:r>
                  </m:oMath>
                </a14:m>
                <a:endParaRPr kumimoji="1" lang="ja-JP" altLang="en-US" sz="2800"/>
              </a:p>
            </p:txBody>
          </p:sp>
        </mc:Choice>
        <mc:Fallback xmlns="">
          <p:sp>
            <p:nvSpPr>
              <p:cNvPr id="6" name="タイトル 1">
                <a:extLst>
                  <a:ext uri="{FF2B5EF4-FFF2-40B4-BE49-F238E27FC236}">
                    <a16:creationId xmlns:a16="http://schemas.microsoft.com/office/drawing/2014/main" id="{281B82C1-AD09-73C6-50BA-BB41ABCF4CAD}"/>
                  </a:ext>
                </a:extLst>
              </p:cNvPr>
              <p:cNvSpPr>
                <a:spLocks noGrp="1" noRot="1" noChangeAspect="1" noMove="1" noResize="1" noEditPoints="1" noAdjustHandles="1" noChangeArrowheads="1" noChangeShapeType="1" noTextEdit="1"/>
              </p:cNvSpPr>
              <p:nvPr>
                <p:ph type="title"/>
              </p:nvPr>
            </p:nvSpPr>
            <p:spPr>
              <a:xfrm>
                <a:off x="838200" y="141895"/>
                <a:ext cx="10515600" cy="893379"/>
              </a:xfrm>
              <a:blipFill>
                <a:blip r:embed="rId3"/>
                <a:stretch>
                  <a:fillRect/>
                </a:stretch>
              </a:blipFill>
            </p:spPr>
            <p:txBody>
              <a:bodyPr/>
              <a:lstStyle/>
              <a:p>
                <a:r>
                  <a:rPr lang="ja-JP" altLang="en-US">
                    <a:noFill/>
                  </a:rPr>
                  <a:t> </a:t>
                </a:r>
              </a:p>
            </p:txBody>
          </p:sp>
        </mc:Fallback>
      </mc:AlternateContent>
      <p:sp>
        <p:nvSpPr>
          <p:cNvPr id="2" name="スライド番号プレースホルダー 1">
            <a:extLst>
              <a:ext uri="{FF2B5EF4-FFF2-40B4-BE49-F238E27FC236}">
                <a16:creationId xmlns:a16="http://schemas.microsoft.com/office/drawing/2014/main" id="{F8D44923-9487-52CE-0A4A-54823F997B8D}"/>
              </a:ext>
            </a:extLst>
          </p:cNvPr>
          <p:cNvSpPr>
            <a:spLocks noGrp="1"/>
          </p:cNvSpPr>
          <p:nvPr>
            <p:ph type="sldNum" sz="quarter" idx="12"/>
          </p:nvPr>
        </p:nvSpPr>
        <p:spPr/>
        <p:txBody>
          <a:bodyPr/>
          <a:lstStyle/>
          <a:p>
            <a:fld id="{21218AEF-8260-6F42-89D9-6D82E053F226}" type="slidenum">
              <a:rPr kumimoji="1" lang="ja-JP" altLang="en-US" smtClean="0"/>
              <a:t>84</a:t>
            </a:fld>
            <a:endParaRPr kumimoji="1" lang="ja-JP" altLang="en-US"/>
          </a:p>
        </p:txBody>
      </p:sp>
    </p:spTree>
    <p:extLst>
      <p:ext uri="{BB962C8B-B14F-4D97-AF65-F5344CB8AC3E}">
        <p14:creationId xmlns:p14="http://schemas.microsoft.com/office/powerpoint/2010/main" val="1620575637"/>
      </p:ext>
    </p:extLst>
  </p:cSld>
  <p:clrMapOvr>
    <a:masterClrMapping/>
  </p:clrMapOvr>
</p:sld>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ドキュメント" ma:contentTypeID="0x010100FB710641A12B3042A735AFD931E51881" ma:contentTypeVersion="7" ma:contentTypeDescription="新しいドキュメントを作成します。" ma:contentTypeScope="" ma:versionID="1d27a3dfbaaabdafaf71e438367b6d9e">
  <xsd:schema xmlns:xsd="http://www.w3.org/2001/XMLSchema" xmlns:xs="http://www.w3.org/2001/XMLSchema" xmlns:p="http://schemas.microsoft.com/office/2006/metadata/properties" xmlns:ns2="0a2ffc0a-822b-4b45-9d95-90bc656b2023" xmlns:ns3="cd8a97a1-ef2c-4018-9666-98507e72cd08" targetNamespace="http://schemas.microsoft.com/office/2006/metadata/properties" ma:root="true" ma:fieldsID="1f5d1338f768d670920c5519d4bd81dd" ns2:_="" ns3:_="">
    <xsd:import namespace="0a2ffc0a-822b-4b45-9d95-90bc656b2023"/>
    <xsd:import namespace="cd8a97a1-ef2c-4018-9666-98507e72cd08"/>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lcf76f155ced4ddcb4097134ff3c332f" minOccurs="0"/>
                <xsd:element ref="ns3: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a2ffc0a-822b-4b45-9d95-90bc656b202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lcf76f155ced4ddcb4097134ff3c332f" ma:index="13" nillable="true" ma:displayName="画像タグ_0" ma:hidden="true" ma:internalName="lcf76f155ced4ddcb4097134ff3c332f">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cd8a97a1-ef2c-4018-9666-98507e72cd08" elementFormDefault="qualified">
    <xsd:import namespace="http://schemas.microsoft.com/office/2006/documentManagement/types"/>
    <xsd:import namespace="http://schemas.microsoft.com/office/infopath/2007/PartnerControls"/>
    <xsd:element name="TaxCatchAll" ma:index="14" nillable="true" ma:displayName="分類の集約列" ma:hidden="true" ma:list="{ed01630e-c95c-4d55-bdd8-a2160bc6c0eb}" ma:internalName="TaxCatchAll" ma:showField="CatchAllData" ma:web="cd8a97a1-ef2c-4018-9666-98507e72cd08">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コンテンツ タイプ"/>
        <xsd:element ref="dc:title" minOccurs="0" maxOccurs="1" ma:index="4" ma:displayName="タイトル"/>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0a2ffc0a-822b-4b45-9d95-90bc656b2023" xsi:nil="true"/>
    <TaxCatchAll xmlns="cd8a97a1-ef2c-4018-9666-98507e72cd08" xsi:nil="true"/>
  </documentManagement>
</p:properties>
</file>

<file path=customXml/itemProps1.xml><?xml version="1.0" encoding="utf-8"?>
<ds:datastoreItem xmlns:ds="http://schemas.openxmlformats.org/officeDocument/2006/customXml" ds:itemID="{A1D3BDD4-F6C5-48C5-ABE7-E6C9D044904B}"/>
</file>

<file path=customXml/itemProps2.xml><?xml version="1.0" encoding="utf-8"?>
<ds:datastoreItem xmlns:ds="http://schemas.openxmlformats.org/officeDocument/2006/customXml" ds:itemID="{FF668FAB-2F93-42EA-847C-2164541EEA94}"/>
</file>

<file path=customXml/itemProps3.xml><?xml version="1.0" encoding="utf-8"?>
<ds:datastoreItem xmlns:ds="http://schemas.openxmlformats.org/officeDocument/2006/customXml" ds:itemID="{E582AB53-4E2C-4D4A-B881-FE369DFCE795}"/>
</file>

<file path=docProps/app.xml><?xml version="1.0" encoding="utf-8"?>
<Properties xmlns="http://schemas.openxmlformats.org/officeDocument/2006/extended-properties" xmlns:vt="http://schemas.openxmlformats.org/officeDocument/2006/docPropsVTypes">
  <TotalTime>16813</TotalTime>
  <Words>10769</Words>
  <Application>Microsoft Macintosh PowerPoint</Application>
  <PresentationFormat>ワイド画面</PresentationFormat>
  <Paragraphs>4142</Paragraphs>
  <Slides>84</Slides>
  <Notes>51</Notes>
  <HiddenSlides>47</HiddenSlides>
  <MMClips>0</MMClips>
  <ScaleCrop>false</ScaleCrop>
  <HeadingPairs>
    <vt:vector size="6" baseType="variant">
      <vt:variant>
        <vt:lpstr>使用されているフォント</vt:lpstr>
      </vt:variant>
      <vt:variant>
        <vt:i4>8</vt:i4>
      </vt:variant>
      <vt:variant>
        <vt:lpstr>テーマ</vt:lpstr>
      </vt:variant>
      <vt:variant>
        <vt:i4>1</vt:i4>
      </vt:variant>
      <vt:variant>
        <vt:lpstr>スライド タイトル</vt:lpstr>
      </vt:variant>
      <vt:variant>
        <vt:i4>84</vt:i4>
      </vt:variant>
    </vt:vector>
  </HeadingPairs>
  <TitlesOfParts>
    <vt:vector size="93" baseType="lpstr">
      <vt:lpstr>HaranoAjiMincho-Regular-Identity-H</vt:lpstr>
      <vt:lpstr>NotoSansJP</vt:lpstr>
      <vt:lpstr>游ゴシック</vt:lpstr>
      <vt:lpstr>游ゴシック Light</vt:lpstr>
      <vt:lpstr>游明朝</vt:lpstr>
      <vt:lpstr>Arial</vt:lpstr>
      <vt:lpstr>Cambria Math</vt:lpstr>
      <vt:lpstr>Wingdings</vt:lpstr>
      <vt:lpstr>Office テーマ</vt:lpstr>
      <vt:lpstr>二重頑健推定法における球共分散に基づく共変量選択</vt:lpstr>
      <vt:lpstr>統計的因果推論</vt:lpstr>
      <vt:lpstr>二重頑健推定法 (Bang and Robins, 2005; Hoshino, 2007)</vt:lpstr>
      <vt:lpstr>二重頑健推定法 (Bang and Robins, 2005; Hoshino, 2007)</vt:lpstr>
      <vt:lpstr>本研究の目的</vt:lpstr>
      <vt:lpstr>PowerPoint プレゼンテーション</vt:lpstr>
      <vt:lpstr>Group Lasso and Doubly Robust Estimation (GLiDeR) (Koch et al., 2017)</vt:lpstr>
      <vt:lpstr>GLiDeR（損失関数）</vt:lpstr>
      <vt:lpstr>PowerPoint プレゼンテーション</vt:lpstr>
      <vt:lpstr>重み W_k の決定方法</vt:lpstr>
      <vt:lpstr>重みW_kと共変量との関係性</vt:lpstr>
      <vt:lpstr>重みW_kと共変量との関係性</vt:lpstr>
      <vt:lpstr>重みW_kと共変量との関係性</vt:lpstr>
      <vt:lpstr>重みW_kと共変量との関係性</vt:lpstr>
      <vt:lpstr>共変量選択</vt:lpstr>
      <vt:lpstr>球共分散(Pan et al., 2020)</vt:lpstr>
      <vt:lpstr>条件付き球共分散(Tang et al., 2023)</vt:lpstr>
      <vt:lpstr>PowerPoint プレゼンテーション</vt:lpstr>
      <vt:lpstr>PowerPoint プレゼンテーション</vt:lpstr>
      <vt:lpstr>PowerPoint プレゼンテーション</vt:lpstr>
      <vt:lpstr>経験的条件付き球共分散</vt:lpstr>
      <vt:lpstr>提案手法</vt:lpstr>
      <vt:lpstr>提案手法</vt:lpstr>
      <vt:lpstr>モデル設定</vt:lpstr>
      <vt:lpstr>提案手法</vt:lpstr>
      <vt:lpstr>実験設定</vt:lpstr>
      <vt:lpstr>モデル設定</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まとめ</vt:lpstr>
      <vt:lpstr>参考文献</vt:lpstr>
      <vt:lpstr>PowerPoint プレゼンテーション</vt:lpstr>
      <vt:lpstr>目次</vt:lpstr>
      <vt:lpstr>目次</vt:lpstr>
      <vt:lpstr>目次</vt:lpstr>
      <vt:lpstr>目次</vt:lpstr>
      <vt:lpstr>目次</vt:lpstr>
      <vt:lpstr>目次</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既存手法　選択割合　設定1 (p=10)</vt:lpstr>
      <vt:lpstr>既存手法　選択割合　設定2：0.5C_1+C_3+0.5C_4 (p=10)</vt:lpstr>
      <vt:lpstr>既存手法　選択割合　設定3 (p=10)</vt:lpstr>
      <vt:lpstr>既存手法　選択割合　設定4 (p=10)</vt:lpstr>
      <vt:lpstr>既存手法　選択割合　設定5 (p=10)</vt:lpstr>
      <vt:lpstr>既存手法　選択割合　設定6 (p=10)</vt:lpstr>
      <vt:lpstr>既存手法　選択割合　設定7：∑2_(i=1)^5▒∑2_(j=1)^5▒〖0.5C_i C_j 〗 (p=10)</vt:lpstr>
      <vt:lpstr>既存手法　選択割合　設定8 (p=10)</vt:lpstr>
      <vt:lpstr>既存手法　選択割合　設定9 (p=10)</vt:lpstr>
      <vt:lpstr>既存手法　選択割合　設定10 (p=10)</vt:lpstr>
      <vt:lpstr>提案手法　選択割合　設定1 (p=10，"閾値":q=30)</vt:lpstr>
      <vt:lpstr>提案手法　選択割合　設定2：0.5C_1+C_3+0.5C_4 (p=10，"閾値":q=30)</vt:lpstr>
      <vt:lpstr>提案手法　選択割合　設定3 (p=10，"閾値":q=30)</vt:lpstr>
      <vt:lpstr>提案手法　選択割合　設定4 (p=10，"閾値":q=30)</vt:lpstr>
      <vt:lpstr>提案手法　選択割合　設定5 (p=10，"閾値":q=30)</vt:lpstr>
      <vt:lpstr>提案手法　選択割合　設定6 (p=10，"閾値":q=30)</vt:lpstr>
      <vt:lpstr>提案手法　選択割合　設定7：∑2_(i=1)^5▒∑2_(j=1)^5▒〖0.5C_i C_j 〗 (p=10，"閾値":q=30)</vt:lpstr>
      <vt:lpstr>提案手法　選択割合　設定8 (p=10，"閾値":q=30)</vt:lpstr>
      <vt:lpstr>提案手法　選択割合　設定9 (p=10，"閾値":q=30)</vt:lpstr>
      <vt:lpstr>提案手法　選択割合　設定10 (p=10，"閾値":q=30)</vt:lpstr>
      <vt:lpstr>提案手法　選択割合　設定1 (p=100，"閾値":q=100)</vt:lpstr>
      <vt:lpstr>提案手法　選択割合　設定2：0.5C_1+C_3+0.5C_4</vt:lpstr>
      <vt:lpstr>提案手法　選択割合　設定2：0.5C_1+C_3+0.5C_4 (p=100，"閾値":q=100)</vt:lpstr>
      <vt:lpstr>提案手法　選択割合　設定3 (p=100，"閾値":q=100)</vt:lpstr>
      <vt:lpstr>提案手法　選択割合　設定4 (p=100，"閾値":q=100)</vt:lpstr>
      <vt:lpstr>提案手法　選択割合　設定5 (p=100，"閾値":q=100)</vt:lpstr>
      <vt:lpstr>提案手法　選択割合　設定6 (p=100，"閾値":q=100)</vt:lpstr>
      <vt:lpstr>提案手法　選択割合　設定7：∑2_(i=1)^5▒∑2_(j=1)^5▒〖0.5C_i C_j 〗 (p=100，"閾値":q=100)</vt:lpstr>
      <vt:lpstr>提案手法　選択割合　設定7：∑2_(i=1)^5▒∑2_(j=1)^5▒〖0.5C_i C_j 〗</vt:lpstr>
      <vt:lpstr>提案手法　選択割合　設定8 (p=100，"閾値":q=100)</vt:lpstr>
      <vt:lpstr>提案手法　選択割合　設定9 (p=100，"閾値":q=100)</vt:lpstr>
      <vt:lpstr>提案手法　選択割合　設定10 (p=100，"閾値":q=100)</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プレゼンテーション</dc:title>
  <dc:creator>m2231150</dc:creator>
  <cp:lastModifiedBy>m2231150</cp:lastModifiedBy>
  <cp:revision>6</cp:revision>
  <dcterms:created xsi:type="dcterms:W3CDTF">2024-01-24T04:27:53Z</dcterms:created>
  <dcterms:modified xsi:type="dcterms:W3CDTF">2024-02-04T20:41:45Z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0x010100FB710641A12B3042A735AFD931E51881</vt:lpwstr>
  </property>
</Properties>
</file>